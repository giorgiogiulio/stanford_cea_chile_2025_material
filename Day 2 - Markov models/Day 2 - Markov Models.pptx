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9"/>
  </p:notesMasterIdLst>
  <p:sldIdLst>
    <p:sldId id="256" r:id="rId2"/>
    <p:sldId id="498" r:id="rId3"/>
    <p:sldId id="719" r:id="rId4"/>
    <p:sldId id="709" r:id="rId5"/>
    <p:sldId id="710" r:id="rId6"/>
    <p:sldId id="711" r:id="rId7"/>
    <p:sldId id="764" r:id="rId8"/>
    <p:sldId id="766" r:id="rId9"/>
    <p:sldId id="712" r:id="rId10"/>
    <p:sldId id="767" r:id="rId11"/>
    <p:sldId id="713" r:id="rId12"/>
    <p:sldId id="714" r:id="rId13"/>
    <p:sldId id="716" r:id="rId14"/>
    <p:sldId id="715" r:id="rId15"/>
    <p:sldId id="717" r:id="rId16"/>
    <p:sldId id="718" r:id="rId17"/>
    <p:sldId id="721" r:id="rId18"/>
    <p:sldId id="722" r:id="rId19"/>
    <p:sldId id="723" r:id="rId20"/>
    <p:sldId id="720" r:id="rId21"/>
    <p:sldId id="724" r:id="rId22"/>
    <p:sldId id="725" r:id="rId23"/>
    <p:sldId id="726" r:id="rId24"/>
    <p:sldId id="727" r:id="rId25"/>
    <p:sldId id="784" r:id="rId26"/>
    <p:sldId id="780" r:id="rId27"/>
    <p:sldId id="785" r:id="rId28"/>
    <p:sldId id="782" r:id="rId29"/>
    <p:sldId id="781" r:id="rId30"/>
    <p:sldId id="783" r:id="rId31"/>
    <p:sldId id="531" r:id="rId32"/>
    <p:sldId id="729" r:id="rId33"/>
    <p:sldId id="730" r:id="rId34"/>
    <p:sldId id="639" r:id="rId35"/>
    <p:sldId id="732" r:id="rId36"/>
    <p:sldId id="733" r:id="rId37"/>
    <p:sldId id="734" r:id="rId38"/>
    <p:sldId id="735" r:id="rId39"/>
    <p:sldId id="736" r:id="rId40"/>
    <p:sldId id="737" r:id="rId41"/>
    <p:sldId id="738" r:id="rId42"/>
    <p:sldId id="739" r:id="rId43"/>
    <p:sldId id="740" r:id="rId44"/>
    <p:sldId id="741" r:id="rId45"/>
    <p:sldId id="742" r:id="rId46"/>
    <p:sldId id="743" r:id="rId47"/>
    <p:sldId id="744" r:id="rId48"/>
    <p:sldId id="745" r:id="rId49"/>
    <p:sldId id="652" r:id="rId50"/>
    <p:sldId id="655" r:id="rId51"/>
    <p:sldId id="657" r:id="rId52"/>
    <p:sldId id="656" r:id="rId53"/>
    <p:sldId id="658" r:id="rId54"/>
    <p:sldId id="746" r:id="rId55"/>
    <p:sldId id="747" r:id="rId56"/>
    <p:sldId id="748" r:id="rId57"/>
    <p:sldId id="749" r:id="rId58"/>
    <p:sldId id="750" r:id="rId59"/>
    <p:sldId id="424" r:id="rId60"/>
    <p:sldId id="751" r:id="rId61"/>
    <p:sldId id="752" r:id="rId62"/>
    <p:sldId id="753" r:id="rId63"/>
    <p:sldId id="754" r:id="rId64"/>
    <p:sldId id="755" r:id="rId65"/>
    <p:sldId id="267" r:id="rId66"/>
    <p:sldId id="756" r:id="rId67"/>
    <p:sldId id="777" r:id="rId68"/>
    <p:sldId id="272" r:id="rId69"/>
    <p:sldId id="273" r:id="rId70"/>
    <p:sldId id="326" r:id="rId71"/>
    <p:sldId id="762" r:id="rId72"/>
    <p:sldId id="666" r:id="rId73"/>
    <p:sldId id="763" r:id="rId74"/>
    <p:sldId id="757" r:id="rId75"/>
    <p:sldId id="758" r:id="rId76"/>
    <p:sldId id="759" r:id="rId77"/>
    <p:sldId id="760" r:id="rId78"/>
    <p:sldId id="761" r:id="rId79"/>
    <p:sldId id="645" r:id="rId80"/>
    <p:sldId id="662" r:id="rId81"/>
    <p:sldId id="663" r:id="rId82"/>
    <p:sldId id="664" r:id="rId83"/>
    <p:sldId id="786" r:id="rId84"/>
    <p:sldId id="765" r:id="rId85"/>
    <p:sldId id="768" r:id="rId86"/>
    <p:sldId id="769" r:id="rId87"/>
    <p:sldId id="774" r:id="rId88"/>
    <p:sldId id="770" r:id="rId89"/>
    <p:sldId id="778" r:id="rId90"/>
    <p:sldId id="771" r:id="rId91"/>
    <p:sldId id="772" r:id="rId92"/>
    <p:sldId id="773" r:id="rId93"/>
    <p:sldId id="351" r:id="rId94"/>
    <p:sldId id="775" r:id="rId95"/>
    <p:sldId id="776" r:id="rId96"/>
    <p:sldId id="779" r:id="rId97"/>
    <p:sldId id="787" r:id="rId98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67733AF-8011-9640-B043-8E7BFB0EF611}">
          <p14:sldIdLst>
            <p14:sldId id="256"/>
          </p14:sldIdLst>
        </p14:section>
        <p14:section name="AM 1 - Time-homogenoeus cSTMs (JGF)" id="{E7404D0D-2D52-3445-95FA-A40F8DDCED2F}">
          <p14:sldIdLst>
            <p14:sldId id="498"/>
            <p14:sldId id="719"/>
            <p14:sldId id="709"/>
            <p14:sldId id="710"/>
            <p14:sldId id="711"/>
          </p14:sldIdLst>
        </p14:section>
        <p14:section name="Time-homogeneous cSTMs" id="{892D5CAE-923A-B247-8F6D-68EDC07142EC}">
          <p14:sldIdLst>
            <p14:sldId id="764"/>
            <p14:sldId id="766"/>
            <p14:sldId id="712"/>
            <p14:sldId id="767"/>
            <p14:sldId id="713"/>
            <p14:sldId id="714"/>
            <p14:sldId id="716"/>
            <p14:sldId id="715"/>
            <p14:sldId id="717"/>
            <p14:sldId id="718"/>
            <p14:sldId id="721"/>
            <p14:sldId id="722"/>
            <p14:sldId id="723"/>
            <p14:sldId id="720"/>
            <p14:sldId id="724"/>
            <p14:sldId id="725"/>
            <p14:sldId id="726"/>
            <p14:sldId id="727"/>
            <p14:sldId id="784"/>
            <p14:sldId id="780"/>
            <p14:sldId id="785"/>
            <p14:sldId id="782"/>
            <p14:sldId id="781"/>
            <p14:sldId id="783"/>
            <p14:sldId id="531"/>
            <p14:sldId id="729"/>
            <p14:sldId id="730"/>
            <p14:sldId id="639"/>
            <p14:sldId id="732"/>
            <p14:sldId id="733"/>
            <p14:sldId id="734"/>
            <p14:sldId id="735"/>
            <p14:sldId id="736"/>
            <p14:sldId id="737"/>
            <p14:sldId id="738"/>
            <p14:sldId id="739"/>
            <p14:sldId id="740"/>
            <p14:sldId id="741"/>
            <p14:sldId id="742"/>
            <p14:sldId id="743"/>
            <p14:sldId id="744"/>
            <p14:sldId id="745"/>
            <p14:sldId id="652"/>
            <p14:sldId id="655"/>
            <p14:sldId id="657"/>
            <p14:sldId id="656"/>
            <p14:sldId id="658"/>
            <p14:sldId id="746"/>
            <p14:sldId id="747"/>
            <p14:sldId id="748"/>
            <p14:sldId id="749"/>
            <p14:sldId id="750"/>
            <p14:sldId id="424"/>
            <p14:sldId id="751"/>
            <p14:sldId id="752"/>
            <p14:sldId id="753"/>
            <p14:sldId id="754"/>
            <p14:sldId id="755"/>
            <p14:sldId id="267"/>
            <p14:sldId id="756"/>
            <p14:sldId id="777"/>
            <p14:sldId id="272"/>
            <p14:sldId id="273"/>
            <p14:sldId id="326"/>
            <p14:sldId id="762"/>
            <p14:sldId id="666"/>
            <p14:sldId id="763"/>
            <p14:sldId id="757"/>
            <p14:sldId id="758"/>
            <p14:sldId id="759"/>
            <p14:sldId id="760"/>
            <p14:sldId id="761"/>
            <p14:sldId id="645"/>
            <p14:sldId id="662"/>
            <p14:sldId id="663"/>
            <p14:sldId id="664"/>
          </p14:sldIdLst>
        </p14:section>
        <p14:section name="AM 2 - R session time-homogeneous cSTMs" id="{F195EACA-E73B-0749-90D8-0DEDF9E45AD2}">
          <p14:sldIdLst>
            <p14:sldId id="786"/>
          </p14:sldIdLst>
        </p14:section>
        <p14:section name="PM - Time-dependent cSTMs (FAE)" id="{48057F3C-6F3C-5B4D-AF9E-E906D8F3A019}">
          <p14:sldIdLst>
            <p14:sldId id="765"/>
            <p14:sldId id="768"/>
            <p14:sldId id="769"/>
            <p14:sldId id="774"/>
            <p14:sldId id="770"/>
            <p14:sldId id="778"/>
            <p14:sldId id="771"/>
            <p14:sldId id="772"/>
            <p14:sldId id="773"/>
            <p14:sldId id="351"/>
            <p14:sldId id="775"/>
            <p14:sldId id="776"/>
            <p14:sldId id="779"/>
          </p14:sldIdLst>
        </p14:section>
        <p14:section name="PM 2 - R session time-dependent cSTMs" id="{328EAD43-2757-014F-93A9-C2F60D1E8475}">
          <p14:sldIdLst>
            <p14:sldId id="7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5CBE9-3E19-1748-B819-1953A30C3587}" v="695" dt="2025-11-06T18:06:33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8"/>
    <p:restoredTop sz="89963"/>
  </p:normalViewPr>
  <p:slideViewPr>
    <p:cSldViewPr snapToGrid="0" snapToObjects="1">
      <p:cViewPr varScale="1">
        <p:scale>
          <a:sx n="122" d="100"/>
          <a:sy n="122" d="100"/>
        </p:scale>
        <p:origin x="22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0454B-382A-AC41-B656-5ED882E8F851}" type="datetimeFigureOut">
              <a:rPr lang="en-MX" smtClean="0"/>
              <a:t>11/4/25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935DD-18E8-5449-B116-23ED0994C4E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9036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2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42464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3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807034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4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538711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5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949794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6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289845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8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818105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9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421368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10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736484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11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636315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12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714798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13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4151866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14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258376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15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3458326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16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0702099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17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7409949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18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503511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19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077360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20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416135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21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4783185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22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326344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23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5085787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24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0752227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24FC6-EB67-C286-54A1-268B0325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E03ABCFA-654E-49CD-EA35-5070545CC2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25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A8C3E5CE-2EF9-377A-2522-BA01F33D6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98000C5B-D759-3793-DDE2-BE18D4CD7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A983C2DA-15AF-5049-DDF1-7D60986B5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9264F70C-2270-AA34-D038-9B68C5094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2E567127-C44B-671F-474E-29AE187DF2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F7324B79-2E71-AFF5-BC65-39771047E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8376143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7AF6-4BC5-57EB-3744-0BD6F4813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57214F8C-34BD-67F4-8DEF-A371D81F77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26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6221C7C-3109-9AB9-FCA3-1B3939411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D518ABAC-90B2-153B-EB4C-A308EA9D2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325D3996-DECF-508B-707B-C070F1F18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8ABD8CDC-90B0-A12A-8527-613EF23E3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291E4C3A-E5A6-8C0A-C3B9-77A3966BE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AA08FE5-C7F2-F731-10DE-CFF04A28E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68616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4E45A-F11D-8C02-B8E3-377AE701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FAC6D983-E3FE-A8F3-EF90-43A686C7BC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27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11F8B815-AC6E-DA22-7384-42263C832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073691A-4545-649C-6C3B-E502973C2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B33CDC22-59B1-D517-7B28-20DBEB7DB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1E302ECC-3985-D0FE-F017-A7676A485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C3471382-C63C-A51F-7044-852191F31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C7C6163-5798-EF1E-4BAD-BD8A71868C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9123618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69AF-AD78-7E30-7069-9BD87CF49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C501F9AD-5044-69DB-64B1-070BA9A1D0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28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954CF9E4-ADBC-64CF-A54C-F4A0028CE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BE3EC8B6-06A9-2EEC-DBED-83BC7755D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AF275CFC-2853-D173-3B5C-AC5376CE0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A947BE92-DF33-CDC5-C792-86C5E7880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72994E97-0DFB-FE1F-0A83-F54129A6B2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44ADB2D4-A6D6-9FC5-AE6F-CBFEC8F763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4574788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21BE-F7A9-ACE3-18CC-F6282A9EB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F0B9A522-424C-3D20-BACA-AA8F460F6B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29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706985C-A424-EA71-5785-B5B976614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945145F3-B0AE-CF6B-82B0-E34B05991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27E47574-35F3-C169-23EC-5432078DB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2599747C-7709-157F-C4F4-758C185A1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4FD494D0-7D13-3DF9-0168-A38050F71F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85BCA143-3F1F-72FC-FE2E-A78FE5EF4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9023193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FD05B-2370-9CA4-99D4-822D406E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CF08DA98-D30E-E1DA-285A-FF401DCAAA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30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856AA423-EA24-174F-537B-808BF05E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3C33F1A7-6A95-716E-20ED-177064452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41248E35-530D-7984-0A09-CC4E2917A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91F06E3E-F094-1285-6AB9-39596FC44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0876AF49-F3D4-1022-F856-221A676B5B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FD8758C8-99C0-8C54-4293-9835E4986A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4350437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32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1291951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33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9865511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36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298718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37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4636808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38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9745108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39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9241334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40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6570642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41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41383659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42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4780610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43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0671179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44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7119880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45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9225771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46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0173691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47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2936222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48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5442907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54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0647276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55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8358816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56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877633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57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3676622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58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0482702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ABD6EC94-B8E6-9046-B632-733E58E7DF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C56033-AC76-AD40-8BE0-B748E1037C0A}" type="slidenum">
              <a:rPr lang="en-US" altLang="en-MX" sz="1200" b="0">
                <a:latin typeface="Times New Roman" panose="02020603050405020304" pitchFamily="18" charset="0"/>
              </a:rPr>
              <a:pPr/>
              <a:t>59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26E284CE-FFCB-4A43-BF32-DD1485CA3B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8CC415D8-5FB5-7444-993F-DF1174E965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X" altLang="en-MX"/>
          </a:p>
        </p:txBody>
      </p:sp>
    </p:spTree>
    <p:extLst>
      <p:ext uri="{BB962C8B-B14F-4D97-AF65-F5344CB8AC3E}">
        <p14:creationId xmlns:p14="http://schemas.microsoft.com/office/powerpoint/2010/main" val="21562434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60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3169748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61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0474989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62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0043495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63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61632163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64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409423116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599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Shape 600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4213"/>
            <a:ext cx="6094412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287002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599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Shape 600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4213"/>
            <a:ext cx="6094412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663118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599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Shape 600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4213"/>
            <a:ext cx="6094412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7475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798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Shape 799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4213"/>
            <a:ext cx="6094412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191975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Shape 821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Shape 822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4213"/>
            <a:ext cx="6094412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302963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71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407315641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73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32868947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74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4160032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75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24429865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76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80297566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77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60136130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78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07599185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85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386546499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86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47273041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87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65608705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88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9724389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599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Shape 600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4213"/>
            <a:ext cx="6094412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355100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90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177829095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91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77689921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92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401911242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94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31651211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95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2208176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B6835DF-D90E-1C4A-B762-5A697733C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53EBD7-DB03-1B42-B02C-892547F67E2F}" type="slidenum">
              <a:rPr lang="en-US" altLang="en-MX" sz="1200" b="0">
                <a:latin typeface="Times New Roman" panose="02020603050405020304" pitchFamily="18" charset="0"/>
              </a:rPr>
              <a:pPr/>
              <a:t>96</a:t>
            </a:fld>
            <a:endParaRPr lang="en-US" altLang="en-MX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195EED2-8336-1346-819C-F8A28B41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617A638-8F31-7A4D-BDA1-8DC5B6FF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 anchor="b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MX" sz="1200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F24456C3-0914-4544-85B5-B8EB057B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F076D51-3413-AA46-9124-A51AAB1E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EB6F3756-E8FA-1B4B-8719-1BDAFD98B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79450"/>
            <a:ext cx="6046788" cy="3402013"/>
          </a:xfrm>
          <a:ln w="12700" cap="flat"/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26D28B72-7704-7A43-B91E-D6B553F9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60198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6" tIns="46034" rIns="92066" bIns="46034"/>
          <a:lstStyle/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  <a:p>
            <a:pPr defTabSz="966788">
              <a:spcBef>
                <a:spcPts val="525"/>
              </a:spcBef>
              <a:spcAft>
                <a:spcPts val="525"/>
              </a:spcAft>
            </a:pPr>
            <a:endParaRPr lang="en-US" altLang="en-MX" sz="2500"/>
          </a:p>
        </p:txBody>
      </p:sp>
    </p:spTree>
    <p:extLst>
      <p:ext uri="{BB962C8B-B14F-4D97-AF65-F5344CB8AC3E}">
        <p14:creationId xmlns:p14="http://schemas.microsoft.com/office/powerpoint/2010/main" val="2580962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00704-9FC7-8A49-A4A5-7A9788254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BB113-AF21-0E47-A8EB-E3095D15F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0FA13-70C2-2340-95F9-1927DC7CE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A59D7-6978-7A43-85AA-A0DB03962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39578-B193-8D4A-ADD8-D9500022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41484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3CAA6-6EDC-1D40-90F6-1298DBDB9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862F3-0266-D74B-9918-63CD8DBC0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X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55E76-9DD8-EB43-9395-B26657BED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031D8-DE70-C642-8E0B-8D0FA18E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9E0BF-4E07-4C4F-A30C-D3D1BE78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41358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C2935-C814-3A40-BDC1-B8A0DF4B5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A629E-E2AC-A243-8FE9-649BAAFF4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2BC89-149D-CD40-8BCA-AF6FD03C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E1822-A3D7-EE44-BCE9-1AF09C97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D22CB-35BD-504C-B289-2264FCEF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015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F1126-89C6-E948-A11E-CC58B6C6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D7829-7B88-D94D-8756-0D99EC457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X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B8A41-8464-C64E-8A80-72DCB48FA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68970-AF1A-C146-914A-79BB7AEB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A375F-497E-544F-9712-34CBA29E8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DF402-01DB-8540-ADC4-CE41A78D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85175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5F91-5CAD-BB40-9F49-8FAAE8403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81C39-7F67-714B-83C7-657954049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5AE61-6876-B34D-B2A9-EFED39915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6B547D-73D6-314C-9E91-F4B23FFFC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8892BD-DB4A-8B44-9C75-935681D18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AC922-7AAB-2047-8A25-7481CABFA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C5A75-55FD-4548-9E96-FB413DF6E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3A9CC-42D4-7B4B-9C1A-6215BC22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8315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6589B-CE9D-3E40-B869-2DED7BCB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6CAABF-75D9-7943-8B52-69D2038A3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BE464-D0AE-DD4D-9599-C586AA6B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DF8548-7F32-EC49-8A57-EB0BD8B0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6041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5B9FC8-8B26-4D46-B974-E361691C1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31FA8-9E30-2144-837D-419976A3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2FA53-43F0-D14A-8377-62AFE7DF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11752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D15A-9DC1-3C43-8467-F9E6F6574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93A97-A697-4044-82D7-748722E85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0546A-B557-724A-B4E6-DC6BA9A6A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161C5-F688-6B40-8B6E-71E10C7AD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F9B87-9612-BD4B-8005-F3316561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CA0C8-898F-0D42-8281-4B67AAA6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99685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257E-56C7-244D-9671-5DE62C1DF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362F37-42DD-C042-B1A0-7A5650F9C6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B50CC-CD53-C949-9735-E0AA29531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171F2-B635-354E-83C5-FFE1DB5F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12CC3-DA6D-6A47-A74C-6C9C3B63D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6A04A-FFA5-424E-AF43-C7C71448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5114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9D19-4FB4-B840-B3EA-CCF24CC5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6C37F-B9B0-0642-A2AA-950D46D83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6870C-9D28-7E4E-A561-087B0054C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098A9-86FF-334B-A5F7-AD173397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3FB7C-5EE2-BE49-964E-51F1C4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1015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57AF4-EC69-6B4F-8DA5-7BD6D3D85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C8B2B-968B-1047-90EA-E167D2A94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AA360-BFC2-D14D-8B62-1669020E1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11AB9-E2EF-CD4B-8753-86FF534E0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25C54-60D4-654F-B374-09763682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086106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BE589C1-077D-254A-AAD8-8567377E3A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0D918E3-7917-8E48-A655-1FE2824488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FAB75D0-AFD5-8547-BC45-5669A360EF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7EACE8-536F-FF46-A979-6D969C7D869C}" type="slidenum">
              <a:rPr lang="en-US" altLang="en-MX"/>
              <a:pPr/>
              <a:t>‹#›</a:t>
            </a:fld>
            <a:endParaRPr lang="en-US" altLang="en-MX"/>
          </a:p>
        </p:txBody>
      </p:sp>
    </p:spTree>
    <p:extLst>
      <p:ext uri="{BB962C8B-B14F-4D97-AF65-F5344CB8AC3E}">
        <p14:creationId xmlns:p14="http://schemas.microsoft.com/office/powerpoint/2010/main" val="287347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3E144-9558-D849-8846-8FF265D4C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C61CD-56EE-FC41-9601-F3255F9B5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X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F4ECB-0FF9-D34D-9B4B-374D514E0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E7B01-5249-2444-84F6-876844C50715}" type="datetimeFigureOut">
              <a:rPr lang="en-MX" smtClean="0"/>
              <a:t>11/4/25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0FC73-6EF6-EC4F-818F-1AF00402F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CBBC2-147D-0341-9E26-CAF158C2C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84426-94D3-F942-9F7D-C35C0C29089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963614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lang="en-MX" sz="4400" b="1" kern="1200" dirty="0">
          <a:solidFill>
            <a:srgbClr val="990033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5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9.e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57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56.emf"/><Relationship Id="rId4" Type="http://schemas.openxmlformats.org/officeDocument/2006/relationships/oleObject" Target="../embeddings/oleObject12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ED31D-938F-A448-B46B-8468FB03C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035" y="1122363"/>
            <a:ext cx="9517930" cy="2387600"/>
          </a:xfrm>
        </p:spPr>
        <p:txBody>
          <a:bodyPr>
            <a:normAutofit/>
          </a:bodyPr>
          <a:lstStyle/>
          <a:p>
            <a:r>
              <a:rPr lang="en-US" dirty="0"/>
              <a:t>Cohort State-Transition Models (cSTMs)</a:t>
            </a:r>
            <a:endParaRPr lang="en-MX" dirty="0"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E0499-B02D-F946-8B2C-523C0C400B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Day 2</a:t>
            </a:r>
            <a:endParaRPr lang="en-MX" sz="3200" dirty="0"/>
          </a:p>
        </p:txBody>
      </p:sp>
    </p:spTree>
    <p:extLst>
      <p:ext uri="{BB962C8B-B14F-4D97-AF65-F5344CB8AC3E}">
        <p14:creationId xmlns:p14="http://schemas.microsoft.com/office/powerpoint/2010/main" val="884684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A Challenge for Public Policy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/>
          <a:lstStyle/>
          <a:p>
            <a:pPr>
              <a:spcBef>
                <a:spcPct val="5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en-US" altLang="en-MX" dirty="0">
                <a:ea typeface="ＭＳ Ｐゴシック" panose="020B0600070205080204" pitchFamily="34" charset="-128"/>
              </a:rPr>
              <a:t>Complete course of public policies might never be directly observed.</a:t>
            </a:r>
          </a:p>
          <a:p>
            <a:pPr>
              <a:spcBef>
                <a:spcPct val="5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en-US" altLang="en-MX" dirty="0">
                <a:ea typeface="ＭＳ Ｐゴシック" panose="020B0600070205080204" pitchFamily="34" charset="-128"/>
              </a:rPr>
              <a:t>Randomized controlled trials of </a:t>
            </a:r>
            <a:r>
              <a:rPr lang="en-US" altLang="en-MX" i="1" dirty="0">
                <a:ea typeface="ＭＳ Ｐゴシック" panose="020B0600070205080204" pitchFamily="34" charset="-128"/>
              </a:rPr>
              <a:t>every</a:t>
            </a:r>
            <a:r>
              <a:rPr lang="en-US" altLang="en-MX" dirty="0">
                <a:ea typeface="ＭＳ Ｐゴシック" panose="020B0600070205080204" pitchFamily="34" charset="-128"/>
              </a:rPr>
              <a:t> potential preventive and treatment policy is not feasible.</a:t>
            </a:r>
          </a:p>
          <a:p>
            <a:pPr>
              <a:spcBef>
                <a:spcPct val="5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en-US" altLang="en-MX" dirty="0">
                <a:ea typeface="ＭＳ Ｐゴシック" panose="020B0600070205080204" pitchFamily="34" charset="-128"/>
              </a:rPr>
              <a:t>Even the best available data will rely on surrogate markers and intermediate endpoints.</a:t>
            </a:r>
          </a:p>
          <a:p>
            <a:pPr>
              <a:spcBef>
                <a:spcPct val="5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en-US" altLang="en-MX" dirty="0">
                <a:ea typeface="ＭＳ Ｐゴシック" panose="020B0600070205080204" pitchFamily="34" charset="-128"/>
              </a:rPr>
              <a:t>The information required to develop policies will require synthesis of data from many sources.</a:t>
            </a:r>
          </a:p>
        </p:txBody>
      </p:sp>
    </p:spTree>
    <p:extLst>
      <p:ext uri="{BB962C8B-B14F-4D97-AF65-F5344CB8AC3E}">
        <p14:creationId xmlns:p14="http://schemas.microsoft.com/office/powerpoint/2010/main" val="115850544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A Challenge for Public Health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/>
          <a:lstStyle/>
          <a:p>
            <a:pPr>
              <a:spcBef>
                <a:spcPct val="5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en-US" altLang="en-MX" dirty="0">
                <a:ea typeface="ＭＳ Ｐゴシック" panose="020B0600070205080204" pitchFamily="34" charset="-128"/>
              </a:rPr>
              <a:t>Complete course of disease will never be directly observed.</a:t>
            </a:r>
          </a:p>
          <a:p>
            <a:pPr>
              <a:spcBef>
                <a:spcPct val="5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en-US" altLang="en-MX" dirty="0">
                <a:ea typeface="ＭＳ Ｐゴシック" panose="020B0600070205080204" pitchFamily="34" charset="-128"/>
              </a:rPr>
              <a:t>Randomized controlled trials of </a:t>
            </a:r>
            <a:r>
              <a:rPr lang="en-US" altLang="en-MX" i="1" dirty="0">
                <a:ea typeface="ＭＳ Ｐゴシック" panose="020B0600070205080204" pitchFamily="34" charset="-128"/>
              </a:rPr>
              <a:t>every</a:t>
            </a:r>
            <a:r>
              <a:rPr lang="en-US" altLang="en-MX" dirty="0">
                <a:ea typeface="ＭＳ Ｐゴシック" panose="020B0600070205080204" pitchFamily="34" charset="-128"/>
              </a:rPr>
              <a:t> potential preventive and treatment approach is not feasible.</a:t>
            </a:r>
          </a:p>
          <a:p>
            <a:pPr>
              <a:spcBef>
                <a:spcPct val="5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en-US" altLang="en-MX" dirty="0">
                <a:ea typeface="ＭＳ Ｐゴシック" panose="020B0600070205080204" pitchFamily="34" charset="-128"/>
              </a:rPr>
              <a:t>Even the best available data will rely on surrogate markers and intermediate endpoints.</a:t>
            </a:r>
          </a:p>
          <a:p>
            <a:pPr>
              <a:spcBef>
                <a:spcPct val="5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en-US" altLang="en-MX" dirty="0">
                <a:ea typeface="ＭＳ Ｐゴシック" panose="020B0600070205080204" pitchFamily="34" charset="-128"/>
              </a:rPr>
              <a:t>The information required to develop policies will require synthesis of data from many sources.</a:t>
            </a:r>
          </a:p>
        </p:txBody>
      </p:sp>
    </p:spTree>
    <p:extLst>
      <p:ext uri="{BB962C8B-B14F-4D97-AF65-F5344CB8AC3E}">
        <p14:creationId xmlns:p14="http://schemas.microsoft.com/office/powerpoint/2010/main" val="363463465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Elements of a Decision Analysis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/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Identify and bound the decision problem</a:t>
            </a:r>
          </a:p>
          <a:p>
            <a:r>
              <a:rPr lang="en-US" altLang="en-MX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Structure the elements of the problem into a logical framework over time (i.e., build a model)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Identify, retrieve, and characterize the information needed 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Conduct a base case analysis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Evaluate uncertainty</a:t>
            </a:r>
          </a:p>
        </p:txBody>
      </p:sp>
    </p:spTree>
    <p:extLst>
      <p:ext uri="{BB962C8B-B14F-4D97-AF65-F5344CB8AC3E}">
        <p14:creationId xmlns:p14="http://schemas.microsoft.com/office/powerpoint/2010/main" val="179099145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Problems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Critical details make the decision problem complex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Events occur at different times and repeatedly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Risk of infection decreases with time, risk of negative consequences increase with time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Fixed time horizon does not consider long term consequences, such as life expectancy and quality-adjusted life expectancy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Limited ability to evaluate a broader set of questions or to consider alternative strategies</a:t>
            </a:r>
          </a:p>
        </p:txBody>
      </p:sp>
    </p:spTree>
    <p:extLst>
      <p:ext uri="{BB962C8B-B14F-4D97-AF65-F5344CB8AC3E}">
        <p14:creationId xmlns:p14="http://schemas.microsoft.com/office/powerpoint/2010/main" val="136827708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Markov models are most useful when….</a:t>
            </a:r>
            <a:endParaRPr lang="en-US" dirty="0">
              <a:ea typeface="ＭＳ Ｐゴシック" panose="020B0600070205080204" pitchFamily="34" charset="-128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decision problem involves </a:t>
            </a:r>
            <a:r>
              <a:rPr lang="en-US" altLang="en-MX" u="sng" dirty="0">
                <a:ea typeface="ＭＳ Ｐゴシック" panose="020B0600070205080204" pitchFamily="34" charset="-128"/>
              </a:rPr>
              <a:t>risk over time</a:t>
            </a:r>
            <a:endParaRPr lang="en-US" altLang="en-MX" dirty="0">
              <a:ea typeface="ＭＳ Ｐゴシック" panose="020B0600070205080204" pitchFamily="34" charset="-128"/>
            </a:endParaRPr>
          </a:p>
          <a:p>
            <a:r>
              <a:rPr lang="en-US" altLang="en-MX" u="sng" dirty="0">
                <a:ea typeface="ＭＳ Ｐゴシック" panose="020B0600070205080204" pitchFamily="34" charset="-128"/>
              </a:rPr>
              <a:t>timing of events</a:t>
            </a:r>
            <a:r>
              <a:rPr lang="en-US" altLang="en-MX" dirty="0">
                <a:ea typeface="ＭＳ Ｐゴシック" panose="020B0600070205080204" pitchFamily="34" charset="-128"/>
              </a:rPr>
              <a:t> is important</a:t>
            </a:r>
          </a:p>
          <a:p>
            <a:pPr lvl="1"/>
            <a:r>
              <a:rPr lang="en-US" altLang="en-MX" dirty="0">
                <a:ea typeface="ＭＳ Ｐゴシック" panose="020B0600070205080204" pitchFamily="34" charset="-128"/>
              </a:rPr>
              <a:t>early risk, late benefit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events may happen </a:t>
            </a:r>
            <a:r>
              <a:rPr lang="en-US" altLang="en-MX" u="sng" dirty="0">
                <a:ea typeface="ＭＳ Ｐゴシック" panose="020B0600070205080204" pitchFamily="34" charset="-128"/>
              </a:rPr>
              <a:t>more than once</a:t>
            </a:r>
          </a:p>
          <a:p>
            <a:r>
              <a:rPr lang="en-US" altLang="en-MX" u="sng" dirty="0">
                <a:ea typeface="ＭＳ Ｐゴシック" panose="020B0600070205080204" pitchFamily="34" charset="-128"/>
              </a:rPr>
              <a:t>states change</a:t>
            </a:r>
            <a:r>
              <a:rPr lang="en-US" altLang="en-MX" dirty="0">
                <a:ea typeface="ＭＳ Ｐゴシック" panose="020B0600070205080204" pitchFamily="34" charset="-128"/>
              </a:rPr>
              <a:t> over time</a:t>
            </a:r>
          </a:p>
          <a:p>
            <a:pPr lvl="1"/>
            <a:r>
              <a:rPr lang="en-US" altLang="en-MX" dirty="0">
                <a:ea typeface="ＭＳ Ｐゴシック" panose="020B0600070205080204" pitchFamily="34" charset="-128"/>
              </a:rPr>
              <a:t>progression from mild to severe status</a:t>
            </a:r>
          </a:p>
          <a:p>
            <a:pPr lvl="1"/>
            <a:endParaRPr lang="en-US" altLang="en-MX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602689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EB97-63EA-F54D-B528-828A630754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Time-homogeneous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71719-70C9-AF46-9F3B-35598FADE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966190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Markov Property: Markovian Assumption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Specifies that the behavior of the process subsequent to any cycle depends only on its description in that cycle. The process has no memory for earlier cycles.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A separate state must be created for each subset of the cohort that has a prognosis (or utility or cost).</a:t>
            </a:r>
          </a:p>
          <a:p>
            <a:endParaRPr lang="en-US" altLang="en-MX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60158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Markov Process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Modeling technique, derived from matrix algebra, that helps get around some of the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limitations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of a simple decision tree with a fixed time horizon</a:t>
            </a:r>
          </a:p>
          <a:p>
            <a:pPr marL="0" indent="0">
              <a:buNone/>
            </a:pPr>
            <a:endParaRPr lang="en-US" altLang="en-MX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125674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Implicit Assumptions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States are mutually exclusive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States are collectively exhaustive</a:t>
            </a:r>
          </a:p>
          <a:p>
            <a:r>
              <a:rPr lang="en-US" altLang="en-MX" dirty="0" err="1">
                <a:ea typeface="ＭＳ Ｐゴシック" panose="020B0600070205080204" pitchFamily="34" charset="-128"/>
              </a:rPr>
              <a:t>Memorylessness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255633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Building a Markov Model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i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Determine health states</a:t>
            </a:r>
            <a:endParaRPr lang="en-US" altLang="en-MX" u="sng" dirty="0">
              <a:ea typeface="ＭＳ Ｐゴシック" panose="020B0600070205080204" pitchFamily="34" charset="-128"/>
            </a:endParaRPr>
          </a:p>
          <a:p>
            <a:r>
              <a:rPr lang="en-US" altLang="en-MX" dirty="0">
                <a:ea typeface="ＭＳ Ｐゴシック" panose="020B0600070205080204" pitchFamily="34" charset="-128"/>
              </a:rPr>
              <a:t>Determine transitions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Choose cycle length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Estimate transition probabilities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Estimate state utilities and costs per cycle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Calculate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(Sensitivity analysis)</a:t>
            </a:r>
            <a:endParaRPr lang="en-US" altLang="en-MX" sz="36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874776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Markov Health States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DB70F5A-3332-3047-9E87-5AC9080A7B25}"/>
              </a:ext>
            </a:extLst>
          </p:cNvPr>
          <p:cNvGrpSpPr/>
          <p:nvPr/>
        </p:nvGrpSpPr>
        <p:grpSpPr>
          <a:xfrm>
            <a:off x="3655633" y="2475894"/>
            <a:ext cx="5015880" cy="3498325"/>
            <a:chOff x="2335461" y="2798535"/>
            <a:chExt cx="5015880" cy="3498325"/>
          </a:xfrm>
        </p:grpSpPr>
        <p:sp>
          <p:nvSpPr>
            <p:cNvPr id="9" name="Shape 646">
              <a:extLst>
                <a:ext uri="{FF2B5EF4-FFF2-40B4-BE49-F238E27FC236}">
                  <a16:creationId xmlns:a16="http://schemas.microsoft.com/office/drawing/2014/main" id="{049B8E6B-1BD3-9F48-9B18-EF5BF5B3ACE1}"/>
                </a:ext>
              </a:extLst>
            </p:cNvPr>
            <p:cNvSpPr/>
            <p:nvPr/>
          </p:nvSpPr>
          <p:spPr>
            <a:xfrm>
              <a:off x="2335461" y="2798535"/>
              <a:ext cx="1828800" cy="1371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b="1" dirty="0" err="1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Healthy</a:t>
              </a:r>
              <a:r>
                <a:rPr lang="nl-NL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 (H)</a:t>
              </a:r>
              <a:endParaRPr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Shape 646">
              <a:extLst>
                <a:ext uri="{FF2B5EF4-FFF2-40B4-BE49-F238E27FC236}">
                  <a16:creationId xmlns:a16="http://schemas.microsoft.com/office/drawing/2014/main" id="{C99E9BCC-5F73-ED4F-BA16-1D646F55A52C}"/>
                </a:ext>
              </a:extLst>
            </p:cNvPr>
            <p:cNvSpPr/>
            <p:nvPr/>
          </p:nvSpPr>
          <p:spPr>
            <a:xfrm>
              <a:off x="5522541" y="2798535"/>
              <a:ext cx="1828800" cy="1371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Sick (S)</a:t>
              </a:r>
              <a:endParaRPr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Shape 646">
              <a:extLst>
                <a:ext uri="{FF2B5EF4-FFF2-40B4-BE49-F238E27FC236}">
                  <a16:creationId xmlns:a16="http://schemas.microsoft.com/office/drawing/2014/main" id="{45A90246-65E0-A14E-A6A6-7BF9360C9EDF}"/>
                </a:ext>
              </a:extLst>
            </p:cNvPr>
            <p:cNvSpPr/>
            <p:nvPr/>
          </p:nvSpPr>
          <p:spPr>
            <a:xfrm>
              <a:off x="3929001" y="4925260"/>
              <a:ext cx="1828800" cy="1371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Dead</a:t>
              </a:r>
              <a:r>
                <a:rPr lang="nl-NL" sz="16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 (D)</a:t>
              </a:r>
              <a:endParaRPr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505691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Building a Markov Model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Determine health states</a:t>
            </a:r>
          </a:p>
          <a:p>
            <a:r>
              <a:rPr lang="en-US" altLang="en-MX" i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Determine transitions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Choose cycle length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Estimate transition probabilities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Estimate state utilities and costs per cycle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Calculate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(Sensitivity analysis)</a:t>
            </a:r>
            <a:endParaRPr lang="en-US" altLang="en-MX" sz="36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512518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State Transition Diagram (STD)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DB70F5A-3332-3047-9E87-5AC9080A7B25}"/>
              </a:ext>
            </a:extLst>
          </p:cNvPr>
          <p:cNvGrpSpPr/>
          <p:nvPr/>
        </p:nvGrpSpPr>
        <p:grpSpPr>
          <a:xfrm>
            <a:off x="3655633" y="2340148"/>
            <a:ext cx="5015880" cy="3504675"/>
            <a:chOff x="2335461" y="2792185"/>
            <a:chExt cx="5015880" cy="3504675"/>
          </a:xfrm>
        </p:grpSpPr>
        <p:sp>
          <p:nvSpPr>
            <p:cNvPr id="9" name="Shape 646">
              <a:extLst>
                <a:ext uri="{FF2B5EF4-FFF2-40B4-BE49-F238E27FC236}">
                  <a16:creationId xmlns:a16="http://schemas.microsoft.com/office/drawing/2014/main" id="{049B8E6B-1BD3-9F48-9B18-EF5BF5B3ACE1}"/>
                </a:ext>
              </a:extLst>
            </p:cNvPr>
            <p:cNvSpPr/>
            <p:nvPr/>
          </p:nvSpPr>
          <p:spPr>
            <a:xfrm>
              <a:off x="2335461" y="2798535"/>
              <a:ext cx="1828800" cy="1371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b="1" dirty="0" err="1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Healthy</a:t>
              </a:r>
              <a:r>
                <a:rPr lang="nl-NL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 (H)</a:t>
              </a:r>
              <a:endParaRPr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Shape 646">
              <a:extLst>
                <a:ext uri="{FF2B5EF4-FFF2-40B4-BE49-F238E27FC236}">
                  <a16:creationId xmlns:a16="http://schemas.microsoft.com/office/drawing/2014/main" id="{C99E9BCC-5F73-ED4F-BA16-1D646F55A52C}"/>
                </a:ext>
              </a:extLst>
            </p:cNvPr>
            <p:cNvSpPr/>
            <p:nvPr/>
          </p:nvSpPr>
          <p:spPr>
            <a:xfrm>
              <a:off x="5522541" y="2798535"/>
              <a:ext cx="1828800" cy="1371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Sick (S)</a:t>
              </a:r>
              <a:endParaRPr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Shape 646">
              <a:extLst>
                <a:ext uri="{FF2B5EF4-FFF2-40B4-BE49-F238E27FC236}">
                  <a16:creationId xmlns:a16="http://schemas.microsoft.com/office/drawing/2014/main" id="{45A90246-65E0-A14E-A6A6-7BF9360C9EDF}"/>
                </a:ext>
              </a:extLst>
            </p:cNvPr>
            <p:cNvSpPr/>
            <p:nvPr/>
          </p:nvSpPr>
          <p:spPr>
            <a:xfrm>
              <a:off x="3929001" y="4925260"/>
              <a:ext cx="1828800" cy="1371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Dead</a:t>
              </a:r>
              <a:r>
                <a:rPr lang="nl-NL" sz="16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 (D)</a:t>
              </a:r>
              <a:endParaRPr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" name="Shape 651">
              <a:extLst>
                <a:ext uri="{FF2B5EF4-FFF2-40B4-BE49-F238E27FC236}">
                  <a16:creationId xmlns:a16="http://schemas.microsoft.com/office/drawing/2014/main" id="{CF6B473D-C55E-F24B-B7BE-65BF924084E8}"/>
                </a:ext>
              </a:extLst>
            </p:cNvPr>
            <p:cNvCxnSpPr>
              <a:stCxn id="9" idx="0"/>
              <a:endCxn id="10" idx="0"/>
            </p:cNvCxnSpPr>
            <p:nvPr/>
          </p:nvCxnSpPr>
          <p:spPr>
            <a:xfrm rot="5400000" flipH="1" flipV="1">
              <a:off x="4843401" y="1204995"/>
              <a:ext cx="12700" cy="3187080"/>
            </a:xfrm>
            <a:prstGeom prst="curvedConnector3">
              <a:avLst>
                <a:gd name="adj1" fmla="val 4090906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3" name="Shape 651">
              <a:extLst>
                <a:ext uri="{FF2B5EF4-FFF2-40B4-BE49-F238E27FC236}">
                  <a16:creationId xmlns:a16="http://schemas.microsoft.com/office/drawing/2014/main" id="{781134B6-5A33-ED47-ACCE-EC7D0E7A42C7}"/>
                </a:ext>
              </a:extLst>
            </p:cNvPr>
            <p:cNvCxnSpPr>
              <a:stCxn id="9" idx="2"/>
              <a:endCxn id="9" idx="1"/>
            </p:cNvCxnSpPr>
            <p:nvPr/>
          </p:nvCxnSpPr>
          <p:spPr>
            <a:xfrm rot="10800000" flipH="1">
              <a:off x="2335461" y="2999401"/>
              <a:ext cx="267822" cy="484934"/>
            </a:xfrm>
            <a:prstGeom prst="curvedConnector4">
              <a:avLst>
                <a:gd name="adj1" fmla="val -85355"/>
                <a:gd name="adj2" fmla="val 188562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4" name="Shape 651">
              <a:extLst>
                <a:ext uri="{FF2B5EF4-FFF2-40B4-BE49-F238E27FC236}">
                  <a16:creationId xmlns:a16="http://schemas.microsoft.com/office/drawing/2014/main" id="{0E450CDF-BA57-C641-B6AC-1543B74B74CC}"/>
                </a:ext>
              </a:extLst>
            </p:cNvPr>
            <p:cNvCxnSpPr>
              <a:stCxn id="10" idx="6"/>
              <a:endCxn id="10" idx="7"/>
            </p:cNvCxnSpPr>
            <p:nvPr/>
          </p:nvCxnSpPr>
          <p:spPr>
            <a:xfrm flipH="1" flipV="1">
              <a:off x="7083519" y="2999401"/>
              <a:ext cx="267822" cy="484934"/>
            </a:xfrm>
            <a:prstGeom prst="curvedConnector4">
              <a:avLst>
                <a:gd name="adj1" fmla="val -85355"/>
                <a:gd name="adj2" fmla="val 188562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5" name="Shape 651">
              <a:extLst>
                <a:ext uri="{FF2B5EF4-FFF2-40B4-BE49-F238E27FC236}">
                  <a16:creationId xmlns:a16="http://schemas.microsoft.com/office/drawing/2014/main" id="{775219EC-B043-3442-AF4D-42DB8809BD8C}"/>
                </a:ext>
              </a:extLst>
            </p:cNvPr>
            <p:cNvCxnSpPr>
              <a:stCxn id="11" idx="2"/>
              <a:endCxn id="11" idx="3"/>
            </p:cNvCxnSpPr>
            <p:nvPr/>
          </p:nvCxnSpPr>
          <p:spPr>
            <a:xfrm rot="10800000" flipH="1" flipV="1">
              <a:off x="3929001" y="5611060"/>
              <a:ext cx="267822" cy="484934"/>
            </a:xfrm>
            <a:prstGeom prst="curvedConnector4">
              <a:avLst>
                <a:gd name="adj1" fmla="val -85355"/>
                <a:gd name="adj2" fmla="val 188562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6" name="Shape 651">
              <a:extLst>
                <a:ext uri="{FF2B5EF4-FFF2-40B4-BE49-F238E27FC236}">
                  <a16:creationId xmlns:a16="http://schemas.microsoft.com/office/drawing/2014/main" id="{631ACD30-D18B-0346-B39A-050B6ED65596}"/>
                </a:ext>
              </a:extLst>
            </p:cNvPr>
            <p:cNvCxnSpPr>
              <a:stCxn id="9" idx="4"/>
              <a:endCxn id="11" idx="1"/>
            </p:cNvCxnSpPr>
            <p:nvPr/>
          </p:nvCxnSpPr>
          <p:spPr>
            <a:xfrm>
              <a:off x="3249861" y="4170135"/>
              <a:ext cx="946962" cy="955991"/>
            </a:xfrm>
            <a:prstGeom prst="straightConnector1">
              <a:avLst/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7" name="Shape 651">
              <a:extLst>
                <a:ext uri="{FF2B5EF4-FFF2-40B4-BE49-F238E27FC236}">
                  <a16:creationId xmlns:a16="http://schemas.microsoft.com/office/drawing/2014/main" id="{ECD888DF-9E5B-CC45-9EDA-BC8F6F03600D}"/>
                </a:ext>
              </a:extLst>
            </p:cNvPr>
            <p:cNvCxnSpPr>
              <a:stCxn id="10" idx="4"/>
              <a:endCxn id="11" idx="7"/>
            </p:cNvCxnSpPr>
            <p:nvPr/>
          </p:nvCxnSpPr>
          <p:spPr>
            <a:xfrm flipH="1">
              <a:off x="5489979" y="4170135"/>
              <a:ext cx="946962" cy="955991"/>
            </a:xfrm>
            <a:prstGeom prst="straightConnector1">
              <a:avLst/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424690540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Building a Markov Model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Determine health states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Determine transitions</a:t>
            </a:r>
          </a:p>
          <a:p>
            <a:r>
              <a:rPr lang="en-US" altLang="en-MX" i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Choose cycle length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Estimate transition probabilities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Estimate state utilities and costs per cycle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Calculate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(Sensitivity analysis)</a:t>
            </a:r>
            <a:endParaRPr lang="en-US" altLang="en-MX" sz="36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070057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Cycle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MX" dirty="0">
                <a:ea typeface="ＭＳ Ｐゴシック" panose="020B0600070205080204" pitchFamily="34" charset="-128"/>
              </a:rPr>
              <a:t>	A brief time interval during which individuals within a cohort may make a transition into another health state or remain in the current health state.</a:t>
            </a:r>
          </a:p>
        </p:txBody>
      </p:sp>
    </p:spTree>
    <p:extLst>
      <p:ext uri="{BB962C8B-B14F-4D97-AF65-F5344CB8AC3E}">
        <p14:creationId xmlns:p14="http://schemas.microsoft.com/office/powerpoint/2010/main" val="281724809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Building a Markov Model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Determine health states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Determine transitions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Choose cycle length</a:t>
            </a:r>
          </a:p>
          <a:p>
            <a:r>
              <a:rPr lang="en-US" altLang="en-MX" i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Estimate transition probabilities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Estimate state utilities and costs per cycle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Calculate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(Sensitivity analysis)</a:t>
            </a:r>
            <a:endParaRPr lang="en-US" altLang="en-MX" sz="36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786375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Transition Probability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MX" dirty="0">
                <a:ea typeface="ＭＳ Ｐゴシック" panose="020B0600070205080204" pitchFamily="34" charset="-128"/>
              </a:rPr>
              <a:t>	The chance that patients in a particular state will transition to another state </a:t>
            </a:r>
            <a:r>
              <a:rPr lang="en-US" altLang="en-MX" i="1" dirty="0">
                <a:ea typeface="ＭＳ Ｐゴシック" panose="020B0600070205080204" pitchFamily="34" charset="-128"/>
              </a:rPr>
              <a:t>during</a:t>
            </a:r>
            <a:r>
              <a:rPr lang="en-US" altLang="en-MX" dirty="0">
                <a:ea typeface="ＭＳ Ｐゴシック" panose="020B0600070205080204" pitchFamily="34" charset="-128"/>
              </a:rPr>
              <a:t> the course of a cycle. </a:t>
            </a:r>
          </a:p>
        </p:txBody>
      </p:sp>
    </p:spTree>
    <p:extLst>
      <p:ext uri="{BB962C8B-B14F-4D97-AF65-F5344CB8AC3E}">
        <p14:creationId xmlns:p14="http://schemas.microsoft.com/office/powerpoint/2010/main" val="279218378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Transition Probability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MX" dirty="0">
                <a:ea typeface="ＭＳ Ｐゴシック" panose="020B0600070205080204" pitchFamily="34" charset="-128"/>
              </a:rPr>
              <a:t>	The chance that patients in a particular health state will transition to another health state during the course of a cycle. </a:t>
            </a:r>
          </a:p>
        </p:txBody>
      </p:sp>
    </p:spTree>
    <p:extLst>
      <p:ext uri="{BB962C8B-B14F-4D97-AF65-F5344CB8AC3E}">
        <p14:creationId xmlns:p14="http://schemas.microsoft.com/office/powerpoint/2010/main" val="149567188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MX" sz="4800" dirty="0">
                <a:ea typeface="ＭＳ Ｐゴシック" panose="020B0600070205080204" pitchFamily="34" charset="-128"/>
              </a:rPr>
              <a:t>State Transition Diagram (STD)</a:t>
            </a:r>
            <a:br>
              <a:rPr lang="en-US" altLang="en-MX" sz="4800" dirty="0">
                <a:ea typeface="ＭＳ Ｐゴシック" panose="020B0600070205080204" pitchFamily="34" charset="-128"/>
              </a:rPr>
            </a:br>
            <a:r>
              <a:rPr lang="en-US" altLang="en-MX" sz="4800" dirty="0">
                <a:ea typeface="ＭＳ Ｐゴシック" panose="020B0600070205080204" pitchFamily="34" charset="-128"/>
              </a:rPr>
              <a:t> </a:t>
            </a:r>
            <a:r>
              <a:rPr lang="en-US" altLang="en-MX" sz="4800" i="1" dirty="0" err="1">
                <a:ea typeface="ＭＳ Ｐゴシック" panose="020B0600070205080204" pitchFamily="34" charset="-128"/>
              </a:rPr>
              <a:t>p_ij</a:t>
            </a:r>
            <a:r>
              <a:rPr lang="en-US" altLang="en-MX" dirty="0">
                <a:ea typeface="ＭＳ Ｐゴシック" panose="020B0600070205080204" pitchFamily="34" charset="-128"/>
              </a:rPr>
              <a:t>= transition probability from state </a:t>
            </a:r>
            <a:r>
              <a:rPr lang="en-US" altLang="en-MX" i="1" dirty="0" err="1">
                <a:ea typeface="ＭＳ Ｐゴシック" panose="020B0600070205080204" pitchFamily="34" charset="-128"/>
              </a:rPr>
              <a:t>i</a:t>
            </a:r>
            <a:r>
              <a:rPr lang="en-US" altLang="en-MX" dirty="0">
                <a:ea typeface="ＭＳ Ｐゴシック" panose="020B0600070205080204" pitchFamily="34" charset="-128"/>
              </a:rPr>
              <a:t> to state </a:t>
            </a:r>
            <a:r>
              <a:rPr lang="en-US" altLang="en-MX" i="1" dirty="0">
                <a:ea typeface="ＭＳ Ｐゴシック" panose="020B0600070205080204" pitchFamily="34" charset="-128"/>
              </a:rPr>
              <a:t>j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DB70F5A-3332-3047-9E87-5AC9080A7B25}"/>
              </a:ext>
            </a:extLst>
          </p:cNvPr>
          <p:cNvGrpSpPr/>
          <p:nvPr/>
        </p:nvGrpSpPr>
        <p:grpSpPr>
          <a:xfrm>
            <a:off x="3655633" y="1524000"/>
            <a:ext cx="5015880" cy="4450219"/>
            <a:chOff x="2335461" y="1846641"/>
            <a:chExt cx="5015880" cy="4450219"/>
          </a:xfrm>
        </p:grpSpPr>
        <p:sp>
          <p:nvSpPr>
            <p:cNvPr id="9" name="Shape 646">
              <a:extLst>
                <a:ext uri="{FF2B5EF4-FFF2-40B4-BE49-F238E27FC236}">
                  <a16:creationId xmlns:a16="http://schemas.microsoft.com/office/drawing/2014/main" id="{049B8E6B-1BD3-9F48-9B18-EF5BF5B3ACE1}"/>
                </a:ext>
              </a:extLst>
            </p:cNvPr>
            <p:cNvSpPr/>
            <p:nvPr/>
          </p:nvSpPr>
          <p:spPr>
            <a:xfrm>
              <a:off x="2335461" y="2798535"/>
              <a:ext cx="1828800" cy="1371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b="1" dirty="0" err="1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Healthy</a:t>
              </a:r>
              <a:r>
                <a:rPr lang="nl-NL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 (H)</a:t>
              </a:r>
              <a:endParaRPr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Shape 646">
              <a:extLst>
                <a:ext uri="{FF2B5EF4-FFF2-40B4-BE49-F238E27FC236}">
                  <a16:creationId xmlns:a16="http://schemas.microsoft.com/office/drawing/2014/main" id="{C99E9BCC-5F73-ED4F-BA16-1D646F55A52C}"/>
                </a:ext>
              </a:extLst>
            </p:cNvPr>
            <p:cNvSpPr/>
            <p:nvPr/>
          </p:nvSpPr>
          <p:spPr>
            <a:xfrm>
              <a:off x="5522541" y="2798535"/>
              <a:ext cx="1828800" cy="1371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Sick (S)</a:t>
              </a:r>
              <a:endParaRPr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Shape 646">
              <a:extLst>
                <a:ext uri="{FF2B5EF4-FFF2-40B4-BE49-F238E27FC236}">
                  <a16:creationId xmlns:a16="http://schemas.microsoft.com/office/drawing/2014/main" id="{45A90246-65E0-A14E-A6A6-7BF9360C9EDF}"/>
                </a:ext>
              </a:extLst>
            </p:cNvPr>
            <p:cNvSpPr/>
            <p:nvPr/>
          </p:nvSpPr>
          <p:spPr>
            <a:xfrm>
              <a:off x="3929001" y="4925260"/>
              <a:ext cx="1828800" cy="1371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Dead</a:t>
              </a:r>
              <a:r>
                <a:rPr lang="nl-NL" sz="16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 (D)</a:t>
              </a:r>
              <a:endParaRPr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" name="Shape 651">
              <a:extLst>
                <a:ext uri="{FF2B5EF4-FFF2-40B4-BE49-F238E27FC236}">
                  <a16:creationId xmlns:a16="http://schemas.microsoft.com/office/drawing/2014/main" id="{CF6B473D-C55E-F24B-B7BE-65BF924084E8}"/>
                </a:ext>
              </a:extLst>
            </p:cNvPr>
            <p:cNvCxnSpPr>
              <a:stCxn id="9" idx="0"/>
              <a:endCxn id="10" idx="0"/>
            </p:cNvCxnSpPr>
            <p:nvPr/>
          </p:nvCxnSpPr>
          <p:spPr>
            <a:xfrm rot="5400000" flipH="1" flipV="1">
              <a:off x="4843401" y="1204995"/>
              <a:ext cx="12700" cy="3187080"/>
            </a:xfrm>
            <a:prstGeom prst="curvedConnector3">
              <a:avLst>
                <a:gd name="adj1" fmla="val 4090906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3" name="Shape 651">
              <a:extLst>
                <a:ext uri="{FF2B5EF4-FFF2-40B4-BE49-F238E27FC236}">
                  <a16:creationId xmlns:a16="http://schemas.microsoft.com/office/drawing/2014/main" id="{781134B6-5A33-ED47-ACCE-EC7D0E7A42C7}"/>
                </a:ext>
              </a:extLst>
            </p:cNvPr>
            <p:cNvCxnSpPr>
              <a:stCxn id="9" idx="2"/>
              <a:endCxn id="9" idx="1"/>
            </p:cNvCxnSpPr>
            <p:nvPr/>
          </p:nvCxnSpPr>
          <p:spPr>
            <a:xfrm rot="10800000" flipH="1">
              <a:off x="2335461" y="2999401"/>
              <a:ext cx="267822" cy="484934"/>
            </a:xfrm>
            <a:prstGeom prst="curvedConnector4">
              <a:avLst>
                <a:gd name="adj1" fmla="val -85355"/>
                <a:gd name="adj2" fmla="val 188562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4" name="Shape 651">
              <a:extLst>
                <a:ext uri="{FF2B5EF4-FFF2-40B4-BE49-F238E27FC236}">
                  <a16:creationId xmlns:a16="http://schemas.microsoft.com/office/drawing/2014/main" id="{0E450CDF-BA57-C641-B6AC-1543B74B74CC}"/>
                </a:ext>
              </a:extLst>
            </p:cNvPr>
            <p:cNvCxnSpPr>
              <a:stCxn id="10" idx="6"/>
              <a:endCxn id="10" idx="7"/>
            </p:cNvCxnSpPr>
            <p:nvPr/>
          </p:nvCxnSpPr>
          <p:spPr>
            <a:xfrm flipH="1" flipV="1">
              <a:off x="7083519" y="2999401"/>
              <a:ext cx="267822" cy="484934"/>
            </a:xfrm>
            <a:prstGeom prst="curvedConnector4">
              <a:avLst>
                <a:gd name="adj1" fmla="val -85355"/>
                <a:gd name="adj2" fmla="val 188562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5" name="Shape 651">
              <a:extLst>
                <a:ext uri="{FF2B5EF4-FFF2-40B4-BE49-F238E27FC236}">
                  <a16:creationId xmlns:a16="http://schemas.microsoft.com/office/drawing/2014/main" id="{775219EC-B043-3442-AF4D-42DB8809BD8C}"/>
                </a:ext>
              </a:extLst>
            </p:cNvPr>
            <p:cNvCxnSpPr>
              <a:stCxn id="11" idx="2"/>
              <a:endCxn id="11" idx="3"/>
            </p:cNvCxnSpPr>
            <p:nvPr/>
          </p:nvCxnSpPr>
          <p:spPr>
            <a:xfrm rot="10800000" flipH="1" flipV="1">
              <a:off x="3929001" y="5611060"/>
              <a:ext cx="267822" cy="484934"/>
            </a:xfrm>
            <a:prstGeom prst="curvedConnector4">
              <a:avLst>
                <a:gd name="adj1" fmla="val -85355"/>
                <a:gd name="adj2" fmla="val 188562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6" name="Shape 651">
              <a:extLst>
                <a:ext uri="{FF2B5EF4-FFF2-40B4-BE49-F238E27FC236}">
                  <a16:creationId xmlns:a16="http://schemas.microsoft.com/office/drawing/2014/main" id="{631ACD30-D18B-0346-B39A-050B6ED65596}"/>
                </a:ext>
              </a:extLst>
            </p:cNvPr>
            <p:cNvCxnSpPr>
              <a:stCxn id="9" idx="4"/>
              <a:endCxn id="11" idx="1"/>
            </p:cNvCxnSpPr>
            <p:nvPr/>
          </p:nvCxnSpPr>
          <p:spPr>
            <a:xfrm>
              <a:off x="3249861" y="4170135"/>
              <a:ext cx="946962" cy="955991"/>
            </a:xfrm>
            <a:prstGeom prst="straightConnector1">
              <a:avLst/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7" name="Shape 651">
              <a:extLst>
                <a:ext uri="{FF2B5EF4-FFF2-40B4-BE49-F238E27FC236}">
                  <a16:creationId xmlns:a16="http://schemas.microsoft.com/office/drawing/2014/main" id="{ECD888DF-9E5B-CC45-9EDA-BC8F6F03600D}"/>
                </a:ext>
              </a:extLst>
            </p:cNvPr>
            <p:cNvCxnSpPr>
              <a:stCxn id="10" idx="4"/>
              <a:endCxn id="11" idx="7"/>
            </p:cNvCxnSpPr>
            <p:nvPr/>
          </p:nvCxnSpPr>
          <p:spPr>
            <a:xfrm flipH="1">
              <a:off x="5489979" y="4170135"/>
              <a:ext cx="946962" cy="955991"/>
            </a:xfrm>
            <a:prstGeom prst="straightConnector1">
              <a:avLst/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sp>
          <p:nvSpPr>
            <p:cNvPr id="18" name="Shape 671">
              <a:extLst>
                <a:ext uri="{FF2B5EF4-FFF2-40B4-BE49-F238E27FC236}">
                  <a16:creationId xmlns:a16="http://schemas.microsoft.com/office/drawing/2014/main" id="{E51181C5-834A-D542-A9EF-891A0B615B37}"/>
                </a:ext>
              </a:extLst>
            </p:cNvPr>
            <p:cNvSpPr txBox="1"/>
            <p:nvPr/>
          </p:nvSpPr>
          <p:spPr>
            <a:xfrm>
              <a:off x="4425574" y="1846641"/>
              <a:ext cx="835654" cy="306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22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p_HS</a:t>
              </a:r>
              <a:endParaRPr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Shape 671">
              <a:extLst>
                <a:ext uri="{FF2B5EF4-FFF2-40B4-BE49-F238E27FC236}">
                  <a16:creationId xmlns:a16="http://schemas.microsoft.com/office/drawing/2014/main" id="{B2EA6C21-CE09-0247-9C6D-584FDFE0F3F8}"/>
                </a:ext>
              </a:extLst>
            </p:cNvPr>
            <p:cNvSpPr txBox="1"/>
            <p:nvPr/>
          </p:nvSpPr>
          <p:spPr>
            <a:xfrm>
              <a:off x="2925011" y="4601602"/>
              <a:ext cx="835654" cy="306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22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p_HD</a:t>
              </a:r>
              <a:endParaRPr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Shape 671">
              <a:extLst>
                <a:ext uri="{FF2B5EF4-FFF2-40B4-BE49-F238E27FC236}">
                  <a16:creationId xmlns:a16="http://schemas.microsoft.com/office/drawing/2014/main" id="{E23AA362-9972-684E-BA49-25D6BAB23677}"/>
                </a:ext>
              </a:extLst>
            </p:cNvPr>
            <p:cNvSpPr txBox="1"/>
            <p:nvPr/>
          </p:nvSpPr>
          <p:spPr>
            <a:xfrm>
              <a:off x="5807556" y="4619151"/>
              <a:ext cx="835654" cy="306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NL" sz="22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p_SD</a:t>
              </a:r>
              <a:endParaRPr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303677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Building a Markov Model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Determine health states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Determine transitions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Choose cycle length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Estimate transition probabilities</a:t>
            </a:r>
          </a:p>
          <a:p>
            <a:r>
              <a:rPr lang="en-US" altLang="en-MX" i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Estimate state utilities and costs per cycle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Calculate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(Sensitivity analysis)</a:t>
            </a:r>
            <a:endParaRPr lang="en-US" altLang="en-MX" sz="36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200976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Quality-of-Life Adjustment</a:t>
            </a:r>
            <a:endParaRPr lang="en-US" dirty="0"/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C1044902-0871-DE41-A8F9-1681374EF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 dirty="0">
                <a:latin typeface="Arial Unicode MS" panose="020B0604020202020204" pitchFamily="34" charset="-128"/>
              </a:rPr>
              <a:t>Healthy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A691B7F-69C9-2646-BA8A-CB0D1B86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 dirty="0">
                <a:latin typeface="Arial Unicode MS" panose="020B0604020202020204" pitchFamily="34" charset="-128"/>
              </a:rPr>
              <a:t>Dead</a:t>
            </a: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431702CD-3598-8F42-BA2B-815B7F141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 dirty="0">
                <a:latin typeface="Arial Unicode MS" panose="020B0604020202020204" pitchFamily="34" charset="-128"/>
              </a:rPr>
              <a:t>Sick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F84F33-C2B4-EB42-8737-12D750060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1" y="2133600"/>
            <a:ext cx="823945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3600">
                <a:latin typeface="Arial Unicode MS" panose="020B0604020202020204" pitchFamily="34" charset="-128"/>
              </a:rPr>
              <a:t>1.0</a:t>
            </a:r>
            <a:endParaRPr lang="en-US" altLang="en-MX" sz="3200">
              <a:latin typeface="Arial Unicode MS" panose="020B0604020202020204" pitchFamily="34" charset="-128"/>
            </a:endParaRP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33DA5CD3-9129-A840-92DC-BB94CDCA8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2362200"/>
            <a:ext cx="1422400" cy="762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MX" altLang="en-MX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74FE2156-05FB-5B45-A792-3133E91FD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1" y="2133601"/>
            <a:ext cx="9175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0.0</a:t>
            </a:r>
            <a:endParaRPr lang="en-US" altLang="en-MX" sz="3200">
              <a:latin typeface="Arial Unicode MS" panose="020B0604020202020204" pitchFamily="34" charset="-128"/>
            </a:endParaRPr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26F8773D-ADD6-7E47-B1E6-5B2A27436C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2741613"/>
            <a:ext cx="0" cy="1371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B7C9945F-633C-394A-8578-5939E113F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2538" y="2741613"/>
            <a:ext cx="0" cy="1295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129925AA-3FD6-9C4C-B1AC-1E5F90273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2743200"/>
            <a:ext cx="0" cy="1371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6CC0CA96-E69A-CA42-9808-F01323FA9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138363"/>
            <a:ext cx="819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3600">
                <a:latin typeface="Arial Unicode MS" panose="020B0604020202020204" pitchFamily="34" charset="-128"/>
              </a:rPr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20450418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Building a Markov Model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Determine health states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Determine transitions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Choose cycle length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Estimate transition probabilities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Estimate state utilities and costs per cycle</a:t>
            </a:r>
          </a:p>
          <a:p>
            <a:r>
              <a:rPr lang="en-US" altLang="en-MX" i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Calculate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(Sensitivity analysis)</a:t>
            </a:r>
            <a:endParaRPr lang="en-US" altLang="en-MX" sz="36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10526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Methods of Evaluation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Closed-form fundamental matrix solution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Cohort simulation</a:t>
            </a:r>
          </a:p>
          <a:p>
            <a:pPr lvl="1">
              <a:spcBef>
                <a:spcPct val="20000"/>
              </a:spcBef>
              <a:buClr>
                <a:srgbClr val="A50021"/>
              </a:buClr>
              <a:buFont typeface="Times New Roman" panose="02020603050405020304" pitchFamily="18" charset="0"/>
              <a:buChar char="»"/>
            </a:pPr>
            <a:r>
              <a:rPr lang="en-US" altLang="en-MX" dirty="0">
                <a:latin typeface="Arial Unicode MS" panose="020B0604020202020204" pitchFamily="34" charset="-128"/>
              </a:rPr>
              <a:t>hypothetical cohort of patients transition through the model simultaneously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Monte Carlo simulation</a:t>
            </a:r>
          </a:p>
          <a:p>
            <a:pPr lvl="1">
              <a:spcBef>
                <a:spcPct val="20000"/>
              </a:spcBef>
              <a:buClr>
                <a:srgbClr val="A50021"/>
              </a:buClr>
              <a:buFontTx/>
              <a:buChar char="»"/>
            </a:pPr>
            <a:r>
              <a:rPr lang="en-US" altLang="en-MX" dirty="0">
                <a:latin typeface="Arial Unicode MS" panose="020B0604020202020204" pitchFamily="34" charset="-128"/>
              </a:rPr>
              <a:t>first order simulation randomly selects an individual from the hypothetical cohort and they transition through the model one at a time</a:t>
            </a:r>
          </a:p>
        </p:txBody>
      </p:sp>
    </p:spTree>
    <p:extLst>
      <p:ext uri="{BB962C8B-B14F-4D97-AF65-F5344CB8AC3E}">
        <p14:creationId xmlns:p14="http://schemas.microsoft.com/office/powerpoint/2010/main" val="280268185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DE82-4841-B012-6195-C8A77FB0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657567F-30DC-A9E6-BA84-FF68FBE93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A9DE02D-44AA-65C2-DF3B-7CCA1ED9F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B2D45319-2BBD-8A68-1836-28E8687CCD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Methods of Evaluation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9414197-80AC-407F-629F-0257555C7B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Closed-form fundamental matrix solution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b="1" dirty="0">
                <a:latin typeface="Arial Unicode MS" panose="020B0604020202020204" pitchFamily="34" charset="-128"/>
              </a:rPr>
              <a:t>Cohort simulation</a:t>
            </a:r>
          </a:p>
          <a:p>
            <a:pPr lvl="1">
              <a:spcBef>
                <a:spcPct val="20000"/>
              </a:spcBef>
              <a:buClr>
                <a:srgbClr val="A50021"/>
              </a:buClr>
              <a:buFont typeface="Times New Roman" panose="02020603050405020304" pitchFamily="18" charset="0"/>
              <a:buChar char="»"/>
            </a:pPr>
            <a:r>
              <a:rPr lang="en-US" altLang="en-MX" b="1" dirty="0">
                <a:latin typeface="Arial Unicode MS" panose="020B0604020202020204" pitchFamily="34" charset="-128"/>
              </a:rPr>
              <a:t>hypothetical cohort of patients transition through the model simultaneously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Monte Carlo simulation</a:t>
            </a:r>
          </a:p>
          <a:p>
            <a:pPr lvl="1">
              <a:spcBef>
                <a:spcPct val="20000"/>
              </a:spcBef>
              <a:buClr>
                <a:srgbClr val="A50021"/>
              </a:buClr>
              <a:buFontTx/>
              <a:buChar char="»"/>
            </a:pPr>
            <a:r>
              <a:rPr lang="en-US" altLang="en-MX" dirty="0">
                <a:latin typeface="Arial Unicode MS" panose="020B0604020202020204" pitchFamily="34" charset="-128"/>
              </a:rPr>
              <a:t>first order simulation randomly selects an individual from the hypothetical cohort and they transition through the model one at a time</a:t>
            </a:r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FB4DFD6-814D-3AED-C6D0-16576AD70E65}"/>
              </a:ext>
            </a:extLst>
          </p:cNvPr>
          <p:cNvSpPr/>
          <p:nvPr/>
        </p:nvSpPr>
        <p:spPr>
          <a:xfrm>
            <a:off x="767751" y="2490954"/>
            <a:ext cx="10791645" cy="1492469"/>
          </a:xfrm>
          <a:prstGeom prst="frame">
            <a:avLst>
              <a:gd name="adj1" fmla="val 4049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91252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C46D-BA84-009F-75FE-AA4CC0E01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43A3F4B-7B9E-649D-317A-E7DCFC6C4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7713342-0C10-4873-9E05-9068664E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38C015FE-5070-3457-7D7E-BBA81FABD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ES" altLang="en-MX" dirty="0" err="1">
                <a:ea typeface="ＭＳ Ｐゴシック" panose="020B0600070205080204" pitchFamily="34" charset="-128"/>
              </a:rPr>
              <a:t>Cohort</a:t>
            </a:r>
            <a:r>
              <a:rPr lang="es-ES" altLang="en-MX" dirty="0">
                <a:ea typeface="ＭＳ Ｐゴシック" panose="020B0600070205080204" pitchFamily="34" charset="-128"/>
              </a:rPr>
              <a:t> </a:t>
            </a:r>
            <a:r>
              <a:rPr lang="es-ES" altLang="en-MX" dirty="0" err="1">
                <a:ea typeface="ＭＳ Ｐゴシック" panose="020B0600070205080204" pitchFamily="34" charset="-128"/>
              </a:rPr>
              <a:t>Simulation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79154A05-339C-35AE-42B6-8C797E84C152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7751" y="1981200"/>
                <a:ext cx="10791645" cy="44958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:r>
                  <a:rPr lang="es-ES" dirty="0"/>
                  <a:t>A cSTM </a:t>
                </a:r>
                <a:r>
                  <a:rPr lang="es-ES" dirty="0" err="1"/>
                  <a:t>consists</a:t>
                </a:r>
                <a:r>
                  <a:rPr lang="es-ES" dirty="0"/>
                  <a:t> 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three</a:t>
                </a:r>
                <a:r>
                  <a:rPr lang="es-ES" dirty="0"/>
                  <a:t> </a:t>
                </a:r>
                <a:r>
                  <a:rPr lang="es-ES" dirty="0" err="1"/>
                  <a:t>core</a:t>
                </a:r>
                <a:r>
                  <a:rPr lang="es-ES" dirty="0"/>
                  <a:t> </a:t>
                </a:r>
                <a:r>
                  <a:rPr lang="es-ES" dirty="0" err="1"/>
                  <a:t>components</a:t>
                </a:r>
                <a:r>
                  <a:rPr lang="es-ES" dirty="0"/>
                  <a:t>:</a:t>
                </a:r>
              </a:p>
              <a:p>
                <a:pPr marL="514350" indent="-514350">
                  <a:spcBef>
                    <a:spcPct val="20000"/>
                  </a:spcBef>
                  <a:buClr>
                    <a:srgbClr val="A50021"/>
                  </a:buClr>
                  <a:buFont typeface="+mj-lt"/>
                  <a:buAutoNum type="arabicPeriod"/>
                </a:pPr>
                <a:r>
                  <a:rPr lang="es-ES" altLang="en-MX" dirty="0">
                    <a:latin typeface="Arial Unicode MS" panose="020B0604020202020204" pitchFamily="34" charset="-128"/>
                  </a:rPr>
                  <a:t>A </a:t>
                </a:r>
                <a:r>
                  <a:rPr lang="es-ES" altLang="en-MX" dirty="0" err="1">
                    <a:latin typeface="Arial Unicode MS" panose="020B0604020202020204" pitchFamily="34" charset="-128"/>
                  </a:rPr>
                  <a:t>state</a:t>
                </a:r>
                <a:r>
                  <a:rPr lang="es-ES" altLang="en-MX" dirty="0">
                    <a:latin typeface="Arial Unicode MS" panose="020B0604020202020204" pitchFamily="34" charset="-128"/>
                  </a:rPr>
                  <a:t>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that stores the distribution of the cohort across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health states in cycle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0, 1, …,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altLang="en-MX" dirty="0">
                  <a:latin typeface="Arial Unicode MS" panose="020B0604020202020204" pitchFamily="34" charset="-128"/>
                </a:endParaRPr>
              </a:p>
              <a:p>
                <a:pPr marL="514350" indent="-514350">
                  <a:spcBef>
                    <a:spcPct val="20000"/>
                  </a:spcBef>
                  <a:buClr>
                    <a:srgbClr val="A50021"/>
                  </a:buClr>
                  <a:buFont typeface="+mj-lt"/>
                  <a:buAutoNum type="arabicPeriod"/>
                </a:pPr>
                <a:r>
                  <a:rPr lang="en-US" altLang="en-MX" dirty="0">
                    <a:latin typeface="Arial Unicode MS" panose="020B0604020202020204" pitchFamily="34" charset="-128"/>
                  </a:rPr>
                  <a:t>A cohort trace matrix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" dirty="0">
                    <a:latin typeface="Arial Unicode MS" panose="020B0604020202020204" pitchFamily="34" charset="-128"/>
                  </a:rPr>
                  <a:t> that stacks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dirty="0">
                    <a:latin typeface="Arial Unicode MS" panose="020B0604020202020204" pitchFamily="34" charset="-128"/>
                  </a:rPr>
                  <a:t> for all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dirty="0">
                    <a:latin typeface="Arial Unicode MS" panose="020B0604020202020204" pitchFamily="34" charset="-128"/>
                  </a:rPr>
                  <a:t> and represents the distribution of the cohort in the various states </a:t>
                </a:r>
                <a:r>
                  <a:rPr lang="es-ES" dirty="0" err="1">
                    <a:latin typeface="Arial Unicode MS" panose="020B0604020202020204" pitchFamily="34" charset="-128"/>
                  </a:rPr>
                  <a:t>over</a:t>
                </a:r>
                <a:r>
                  <a:rPr lang="es-ES" dirty="0">
                    <a:latin typeface="Arial Unicode MS" panose="020B0604020202020204" pitchFamily="34" charset="-128"/>
                  </a:rPr>
                  <a:t> time</a:t>
                </a:r>
              </a:p>
              <a:p>
                <a:pPr marL="514350" indent="-514350">
                  <a:spcBef>
                    <a:spcPct val="20000"/>
                  </a:spcBef>
                  <a:buClr>
                    <a:srgbClr val="A50021"/>
                  </a:buClr>
                  <a:buFont typeface="+mj-lt"/>
                  <a:buAutoNum type="arabicPeriod"/>
                </a:pPr>
                <a:r>
                  <a:rPr lang="en-US" altLang="en-MX" dirty="0">
                    <a:latin typeface="Arial Unicode MS" panose="020B0604020202020204" pitchFamily="34" charset="-128"/>
                  </a:rPr>
                  <a:t>A transition probability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en-MX" dirty="0">
                  <a:latin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79154A05-339C-35AE-42B6-8C797E84C1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7751" y="1981200"/>
                <a:ext cx="10791645" cy="4495800"/>
              </a:xfrm>
              <a:blipFill>
                <a:blip r:embed="rId3"/>
                <a:stretch>
                  <a:fillRect l="-1645" t="-3099" r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76439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E9A3-CC37-2ADF-F142-7A54C6A8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01600EC-FCD1-272D-48CF-85613C129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3E3756A-98D6-29D8-E7BE-DBF3F2B9E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2260" name="Rectangle 4">
                <a:extLst>
                  <a:ext uri="{FF2B5EF4-FFF2-40B4-BE49-F238E27FC236}">
                    <a16:creationId xmlns:a16="http://schemas.microsoft.com/office/drawing/2014/main" id="{D1689124-C2C0-3619-80F6-338D66AFFEC9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767751" y="381000"/>
                <a:ext cx="10791645" cy="1143000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en-MX" dirty="0">
                    <a:ea typeface="ＭＳ Ｐゴシック" panose="020B0600070205080204" pitchFamily="34" charset="-128"/>
                  </a:rPr>
                  <a:t>State vector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ES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MX" dirty="0">
                    <a:ea typeface="ＭＳ Ｐゴシック" panose="020B0600070205080204" pitchFamily="34" charset="-128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b="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en-MX" dirty="0">
                    <a:ea typeface="ＭＳ Ｐゴシック" panose="020B0600070205080204" pitchFamily="34" charset="-128"/>
                  </a:rPr>
                  <a:t> health states):</a:t>
                </a:r>
                <a:endParaRPr lang="en-US" dirty="0"/>
              </a:p>
            </p:txBody>
          </p:sp>
        </mc:Choice>
        <mc:Fallback>
          <p:sp>
            <p:nvSpPr>
              <p:cNvPr id="992260" name="Rectangle 4">
                <a:extLst>
                  <a:ext uri="{FF2B5EF4-FFF2-40B4-BE49-F238E27FC236}">
                    <a16:creationId xmlns:a16="http://schemas.microsoft.com/office/drawing/2014/main" id="{D1689124-C2C0-3619-80F6-338D66AFF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67751" y="381000"/>
                <a:ext cx="10791645" cy="1143000"/>
              </a:xfrm>
              <a:blipFill>
                <a:blip r:embed="rId3"/>
                <a:stretch>
                  <a:fillRect l="-2350" b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FBDA9005-D65B-7295-F061-8CDEA9F98DC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7751" y="1981200"/>
                <a:ext cx="10791645" cy="44958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represents the distribution of the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health state in cycle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referred to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</m:oMath>
                </a14:m>
                <a:endParaRPr lang="en-US" altLang="en-MX" dirty="0">
                  <a:latin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FBDA9005-D65B-7295-F061-8CDEA9F98D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7751" y="1981200"/>
                <a:ext cx="10791645" cy="4495800"/>
              </a:xfrm>
              <a:blipFill>
                <a:blip r:embed="rId4"/>
                <a:stretch>
                  <a:fillRect l="-1410" t="-3099" r="-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E5BEDF-164B-16C1-6240-FA39B5503D05}"/>
                  </a:ext>
                </a:extLst>
              </p:cNvPr>
              <p:cNvSpPr txBox="1"/>
              <p:nvPr/>
            </p:nvSpPr>
            <p:spPr>
              <a:xfrm>
                <a:off x="3300555" y="3906640"/>
                <a:ext cx="5893857" cy="644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6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s-ES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6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</m:sub>
                          </m:sSub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600" i="1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e>
                              </m:d>
                            </m:sub>
                          </m:sSub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 ⋯ </m:t>
                          </m:r>
                          <m:sSub>
                            <m:sSubPr>
                              <m:ctrlPr>
                                <a:rPr lang="es-E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s-E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36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sz="36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E5BEDF-164B-16C1-6240-FA39B5503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555" y="3906640"/>
                <a:ext cx="5893857" cy="644920"/>
              </a:xfrm>
              <a:prstGeom prst="rect">
                <a:avLst/>
              </a:prstGeom>
              <a:blipFill>
                <a:blip r:embed="rId5"/>
                <a:stretch>
                  <a:fillRect l="-64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9710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62D2-2D12-8CB1-E271-FADC3B50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2712FD-E1A8-B274-3BA3-9BE7A7236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5090E96-CB8A-5DEC-59FA-04C6D7AA6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2260" name="Rectangle 4">
                <a:extLst>
                  <a:ext uri="{FF2B5EF4-FFF2-40B4-BE49-F238E27FC236}">
                    <a16:creationId xmlns:a16="http://schemas.microsoft.com/office/drawing/2014/main" id="{B84F2E8C-BA1B-C1DE-82CF-9B493D561518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767751" y="381000"/>
                <a:ext cx="10791645" cy="1143000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en-MX" dirty="0">
                    <a:ea typeface="ＭＳ Ｐゴシック" panose="020B0600070205080204" pitchFamily="34" charset="-128"/>
                  </a:rPr>
                  <a:t>Transition Matrix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b="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en-MX" dirty="0">
                    <a:ea typeface="ＭＳ Ｐゴシック" panose="020B0600070205080204" pitchFamily="34" charset="-128"/>
                  </a:rPr>
                  <a:t> health states):</a:t>
                </a:r>
                <a:endParaRPr lang="en-US" dirty="0"/>
              </a:p>
            </p:txBody>
          </p:sp>
        </mc:Choice>
        <mc:Fallback>
          <p:sp>
            <p:nvSpPr>
              <p:cNvPr id="992260" name="Rectangle 4">
                <a:extLst>
                  <a:ext uri="{FF2B5EF4-FFF2-40B4-BE49-F238E27FC236}">
                    <a16:creationId xmlns:a16="http://schemas.microsoft.com/office/drawing/2014/main" id="{B84F2E8C-BA1B-C1DE-82CF-9B493D5615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67751" y="381000"/>
                <a:ext cx="10791645" cy="1143000"/>
              </a:xfrm>
              <a:blipFill>
                <a:blip r:embed="rId3"/>
                <a:stretch>
                  <a:fillRect l="-2350" b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F0C49220-A151-056C-E1CA-E35A7C4A574F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7751" y="1981200"/>
                <a:ext cx="10791645" cy="44958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:endParaRPr lang="en-US" altLang="en-MX" dirty="0">
                  <a:latin typeface="Arial Unicode MS" panose="020B0604020202020204" pitchFamily="34" charset="-128"/>
                </a:endParaRPr>
              </a:p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:endParaRPr lang="en-US" altLang="en-MX" dirty="0">
                  <a:latin typeface="Arial Unicode MS" panose="020B0604020202020204" pitchFamily="34" charset="-128"/>
                </a:endParaRPr>
              </a:p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:endParaRPr lang="en-US" altLang="en-MX" dirty="0">
                  <a:latin typeface="Arial Unicode MS" panose="020B0604020202020204" pitchFamily="34" charset="-128"/>
                </a:endParaRPr>
              </a:p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:endParaRPr lang="en-US" altLang="en-MX" dirty="0">
                  <a:latin typeface="Arial Unicode MS" panose="020B0604020202020204" pitchFamily="34" charset="-128"/>
                </a:endParaRPr>
              </a:p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:endParaRPr lang="en-US" altLang="en-MX" dirty="0">
                  <a:latin typeface="Arial Unicode MS" panose="020B0604020202020204" pitchFamily="34" charset="-128"/>
                </a:endParaRPr>
              </a:p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:r>
                  <a:rPr lang="en-US" altLang="en-MX" dirty="0">
                    <a:latin typeface="Arial Unicode MS" panose="020B0604020202020204" pitchFamily="34" charset="-128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en-MX" dirty="0">
                    <a:latin typeface="Arial Unicode MS" panose="020B0604020202020204" pitchFamily="34" charset="-128"/>
                  </a:rPr>
                  <a:t> represents the transition probability of transitioning </a:t>
                </a:r>
                <a:r>
                  <a:rPr lang="en-US" altLang="en-MX" u="sng" dirty="0">
                    <a:latin typeface="Arial Unicode MS" panose="020B0604020202020204" pitchFamily="34" charset="-128"/>
                  </a:rPr>
                  <a:t>from</a:t>
                </a:r>
                <a:r>
                  <a:rPr lang="en-US" altLang="en-MX" dirty="0">
                    <a:latin typeface="Arial Unicode MS" panose="020B0604020202020204" pitchFamily="34" charset="-128"/>
                  </a:rPr>
                  <a:t> state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MX" dirty="0">
                    <a:latin typeface="Arial Unicode MS" panose="020B0604020202020204" pitchFamily="34" charset="-128"/>
                  </a:rPr>
                  <a:t> </a:t>
                </a:r>
                <a:r>
                  <a:rPr lang="en-US" altLang="en-MX" u="sng" dirty="0">
                    <a:latin typeface="Arial Unicode MS" panose="020B0604020202020204" pitchFamily="34" charset="-128"/>
                  </a:rPr>
                  <a:t>to</a:t>
                </a:r>
                <a:r>
                  <a:rPr lang="en-US" altLang="en-MX" dirty="0">
                    <a:latin typeface="Arial Unicode MS" panose="020B0604020202020204" pitchFamily="34" charset="-128"/>
                  </a:rPr>
                  <a:t> state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MX" dirty="0">
                    <a:latin typeface="Arial Unicode MS" panose="020B0604020202020204" pitchFamily="34" charset="-128"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E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=1,…,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en-MX" i="1" dirty="0">
                    <a:latin typeface="Arial Unicode MS" panose="020B0604020202020204" pitchFamily="34" charset="-128"/>
                  </a:rPr>
                  <a:t>.</a:t>
                </a:r>
              </a:p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en-MX" b="1" dirty="0">
                    <a:latin typeface="Arial Unicode MS" panose="020B0604020202020204" pitchFamily="34" charset="-128"/>
                  </a:rPr>
                  <a:t> </a:t>
                </a:r>
                <a:r>
                  <a:rPr lang="en-US" altLang="en-MX" dirty="0">
                    <a:latin typeface="Arial Unicode MS" panose="020B0604020202020204" pitchFamily="34" charset="-128"/>
                  </a:rPr>
                  <a:t>and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</m:e>
                    </m:nary>
                    <m:r>
                      <a:rPr lang="es-E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en-MX" dirty="0">
                    <a:latin typeface="Arial Unicode MS" panose="020B0604020202020204" pitchFamily="34" charset="-128"/>
                  </a:rPr>
                  <a:t> for all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=1,…,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altLang="en-MX" dirty="0">
                  <a:latin typeface="Arial Unicode MS" panose="020B0604020202020204" pitchFamily="34" charset="-128"/>
                </a:endParaRPr>
              </a:p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:endParaRPr lang="en-US" altLang="en-MX" dirty="0">
                  <a:latin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F0C49220-A151-056C-E1CA-E35A7C4A5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7751" y="1981200"/>
                <a:ext cx="10791645" cy="4495800"/>
              </a:xfrm>
              <a:blipFill>
                <a:blip r:embed="rId4"/>
                <a:stretch>
                  <a:fillRect l="-1645" b="-22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4C9291-A1A4-29A9-3590-C86E91EFFF15}"/>
                  </a:ext>
                </a:extLst>
              </p:cNvPr>
              <p:cNvSpPr txBox="1"/>
              <p:nvPr/>
            </p:nvSpPr>
            <p:spPr>
              <a:xfrm>
                <a:off x="2630211" y="1981200"/>
                <a:ext cx="6931578" cy="21441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3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  <m:t>1,1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r>
                                  <a:rPr lang="es-ES" sz="36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sSub>
                                          <m:sSubPr>
                                            <m:ctrlP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r>
                                  <a:rPr lang="es-ES" sz="36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s-ES" sz="36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s-ES" sz="36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s-ES" sz="36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s-ES" sz="36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sub>
                                        </m:sSub>
                                        <m: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sub>
                                        </m:sSub>
                                        <m: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r>
                                  <a:rPr lang="es-ES" sz="36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s-ES" sz="3600" i="1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sub>
                                        </m:sSub>
                                        <m:r>
                                          <a:rPr lang="es-ES" sz="3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s-ES" sz="3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3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s-ES" sz="3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4C9291-A1A4-29A9-3590-C86E91EFF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211" y="1981200"/>
                <a:ext cx="6931578" cy="2144113"/>
              </a:xfrm>
              <a:prstGeom prst="rect">
                <a:avLst/>
              </a:prstGeom>
              <a:blipFill>
                <a:blip r:embed="rId5"/>
                <a:stretch>
                  <a:fillRect l="-912" t="-592" b="-4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390307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2BEC-687B-B216-D6F7-6AF4CEC47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6B284DAE-5FBC-EB43-29B3-6F7E457AA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/>
              <a:t>Cohort at next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matrix </a:t>
            </a:r>
            <a:r>
              <a:rPr lang="nl-NL" dirty="0" err="1"/>
              <a:t>multiplication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585C9C1-206C-E8BB-C44C-CF815B76E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 marL="342900" indent="-317500">
              <a:spcBef>
                <a:spcPts val="560"/>
              </a:spcBef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Cohort </a:t>
            </a:r>
            <a:r>
              <a:rPr lang="nl-NL" dirty="0" err="1">
                <a:solidFill>
                  <a:schemeClr val="dk1"/>
                </a:solidFill>
              </a:rPr>
              <a:t>distribution</a:t>
            </a:r>
            <a:r>
              <a:rPr lang="nl-NL" dirty="0">
                <a:solidFill>
                  <a:schemeClr val="dk1"/>
                </a:solidFill>
              </a:rPr>
              <a:t> at next time step </a:t>
            </a:r>
            <a:r>
              <a:rPr lang="nl-NL" dirty="0" err="1">
                <a:solidFill>
                  <a:schemeClr val="dk1"/>
                </a:solidFill>
              </a:rPr>
              <a:t>calculated</a:t>
            </a:r>
            <a:r>
              <a:rPr lang="nl-NL" dirty="0">
                <a:solidFill>
                  <a:schemeClr val="dk1"/>
                </a:solidFill>
              </a:rPr>
              <a:t> </a:t>
            </a:r>
            <a:r>
              <a:rPr lang="nl-NL" dirty="0" err="1">
                <a:solidFill>
                  <a:schemeClr val="dk1"/>
                </a:solidFill>
              </a:rPr>
              <a:t>through</a:t>
            </a:r>
            <a:r>
              <a:rPr lang="nl-NL" dirty="0">
                <a:solidFill>
                  <a:schemeClr val="dk1"/>
                </a:solidFill>
              </a:rPr>
              <a:t> matrix </a:t>
            </a:r>
            <a:r>
              <a:rPr lang="nl-NL" dirty="0" err="1">
                <a:solidFill>
                  <a:schemeClr val="dk1"/>
                </a:solidFill>
              </a:rPr>
              <a:t>multiplication</a:t>
            </a:r>
            <a:endParaRPr lang="nl-NL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132A923-F461-C40B-C795-DF48CAD3EFCC}"/>
                  </a:ext>
                </a:extLst>
              </p:cNvPr>
              <p:cNvSpPr/>
              <p:nvPr/>
            </p:nvSpPr>
            <p:spPr>
              <a:xfrm>
                <a:off x="2601668" y="3392596"/>
                <a:ext cx="712381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s-E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3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sz="3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s-ES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ES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3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ES" sz="3600" dirty="0"/>
                  <a:t> for </a:t>
                </a:r>
                <a14:m>
                  <m:oMath xmlns:m="http://schemas.openxmlformats.org/officeDocument/2006/math">
                    <m:r>
                      <a:rPr lang="es-ES" sz="3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sz="3600" i="1">
                        <a:latin typeface="Cambria Math" panose="02040503050406030204" pitchFamily="18" charset="0"/>
                      </a:rPr>
                      <m:t>=0, …,</m:t>
                    </m:r>
                    <m:d>
                      <m:dPr>
                        <m:ctrlPr>
                          <a:rPr lang="es-ES" sz="36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ES" sz="3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ES" sz="36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s-ES" sz="3600" dirty="0"/>
                  <a:t> </a:t>
                </a:r>
                <a:endParaRPr lang="en-MX" sz="3600" dirty="0"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132A923-F461-C40B-C795-DF48CAD3E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668" y="3392596"/>
                <a:ext cx="7123810" cy="646331"/>
              </a:xfrm>
              <a:prstGeom prst="rect">
                <a:avLst/>
              </a:prstGeom>
              <a:blipFill>
                <a:blip r:embed="rId3"/>
                <a:stretch>
                  <a:fillRect l="-178" t="-15385" b="-3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F07819B-DA7D-3E6B-ACAF-625C6A77C520}"/>
                  </a:ext>
                </a:extLst>
              </p:cNvPr>
              <p:cNvSpPr/>
              <p:nvPr/>
            </p:nvSpPr>
            <p:spPr>
              <a:xfrm>
                <a:off x="-373893" y="4267527"/>
                <a:ext cx="12959702" cy="15176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3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3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3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3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300" b="0" i="1" smtClean="0">
                                      <a:latin typeface="Cambria Math" panose="02040503050406030204" pitchFamily="18" charset="0"/>
                                    </a:rPr>
                                    <m:t>+1,1</m:t>
                                  </m:r>
                                </m:e>
                              </m:d>
                            </m:sub>
                          </m:sSub>
                          <m:r>
                            <a:rPr lang="es-ES" sz="33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3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3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3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300" b="0" i="1" smtClean="0">
                                      <a:latin typeface="Cambria Math" panose="02040503050406030204" pitchFamily="18" charset="0"/>
                                    </a:rPr>
                                    <m:t>+1,2</m:t>
                                  </m:r>
                                </m:e>
                              </m:d>
                            </m:sub>
                          </m:sSub>
                          <m:r>
                            <a:rPr lang="es-ES" sz="33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s-ES" sz="3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3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3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300" b="0" i="1" smtClean="0">
                                      <a:latin typeface="Cambria Math" panose="02040503050406030204" pitchFamily="18" charset="0"/>
                                    </a:rPr>
                                    <m:t>+1,</m:t>
                                  </m:r>
                                  <m:sSub>
                                    <m:sSubPr>
                                      <m:ctrlPr>
                                        <a:rPr lang="es-ES" sz="3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33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sz="33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d>
                      <m:r>
                        <a:rPr lang="es-ES" sz="3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3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3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3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3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</m:sub>
                          </m:sSub>
                          <m:r>
                            <a:rPr lang="es-ES" sz="33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3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3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3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300" i="1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e>
                              </m:d>
                            </m:sub>
                          </m:sSub>
                          <m:r>
                            <a:rPr lang="es-ES" sz="33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s-ES" sz="3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3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3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3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s-ES" sz="3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33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sz="33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3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es-ES" sz="33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MX" sz="3300" dirty="0"/>
              </a:p>
            </p:txBody>
          </p:sp>
        </mc:Choice>
        <mc:Fallback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F07819B-DA7D-3E6B-ACAF-625C6A77C5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3893" y="4267527"/>
                <a:ext cx="12959702" cy="1517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558894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63B8E-8CFC-4D77-07A8-A0C843F1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6B46AFD-839C-2F80-B519-908FAD0D4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CB4DC75-6798-4319-4352-7643438AE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2260" name="Rectangle 4">
                <a:extLst>
                  <a:ext uri="{FF2B5EF4-FFF2-40B4-BE49-F238E27FC236}">
                    <a16:creationId xmlns:a16="http://schemas.microsoft.com/office/drawing/2014/main" id="{57AD0953-8339-EB9F-1A52-BD4BC3392AF0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767751" y="381000"/>
                <a:ext cx="10791645" cy="1143000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en-MX" dirty="0">
                    <a:ea typeface="ＭＳ Ｐゴシック" panose="020B0600070205080204" pitchFamily="34" charset="-128"/>
                  </a:rPr>
                  <a:t>Cohort trace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92260" name="Rectangle 4">
                <a:extLst>
                  <a:ext uri="{FF2B5EF4-FFF2-40B4-BE49-F238E27FC236}">
                    <a16:creationId xmlns:a16="http://schemas.microsoft.com/office/drawing/2014/main" id="{57AD0953-8339-EB9F-1A52-BD4BC3392A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67751" y="381000"/>
                <a:ext cx="10791645" cy="1143000"/>
              </a:xfrm>
              <a:blipFill>
                <a:blip r:embed="rId3"/>
                <a:stretch>
                  <a:fillRect l="-2350" b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06B0E5FC-1C3E-8FB4-F806-A7C7E312EE51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7751" y="1981200"/>
                <a:ext cx="10791645" cy="44958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:r>
                  <a:rPr lang="en-US" dirty="0"/>
                  <a:t>The cohort trace matrix,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is a matrix of dimensions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, where each row is a state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spcBef>
                    <a:spcPct val="20000"/>
                  </a:spcBef>
                  <a:buClr>
                    <a:srgbClr val="A50021"/>
                  </a:buClr>
                  <a:buFontTx/>
                  <a:buChar char="•"/>
                </a:pPr>
                <a:endParaRPr lang="en-US" altLang="en-MX" dirty="0">
                  <a:latin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06B0E5FC-1C3E-8FB4-F806-A7C7E312EE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7751" y="1981200"/>
                <a:ext cx="10791645" cy="4495800"/>
              </a:xfrm>
              <a:blipFill>
                <a:blip r:embed="rId4"/>
                <a:stretch>
                  <a:fillRect l="-1410" t="-3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E5DC29-FA6D-3B1C-6463-A4DA6D81F482}"/>
                  </a:ext>
                </a:extLst>
              </p:cNvPr>
              <p:cNvSpPr txBox="1"/>
              <p:nvPr/>
            </p:nvSpPr>
            <p:spPr>
              <a:xfrm>
                <a:off x="4515888" y="3429000"/>
                <a:ext cx="3160224" cy="2081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60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600" b="1" i="1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s-ES" sz="3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3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600" b="1" i="1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s-ES" sz="3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sz="3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6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600" b="1" i="1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s-ES" sz="36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s-ES" sz="3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E5DC29-FA6D-3B1C-6463-A4DA6D81F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888" y="3429000"/>
                <a:ext cx="3160224" cy="2081595"/>
              </a:xfrm>
              <a:prstGeom prst="rect">
                <a:avLst/>
              </a:prstGeom>
              <a:blipFill>
                <a:blip r:embed="rId5"/>
                <a:stretch>
                  <a:fillRect l="-2800" b="-4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05592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Oval 2">
            <a:extLst>
              <a:ext uri="{FF2B5EF4-FFF2-40B4-BE49-F238E27FC236}">
                <a16:creationId xmlns:a16="http://schemas.microsoft.com/office/drawing/2014/main" id="{07293E83-5381-1143-8E1A-B0A6D384E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0" y="2673350"/>
            <a:ext cx="1816100" cy="901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200" dirty="0">
                <a:latin typeface="Arial Unicode MS" panose="020B0604020202020204" pitchFamily="34" charset="-128"/>
              </a:rPr>
              <a:t>Healthy</a:t>
            </a:r>
          </a:p>
        </p:txBody>
      </p:sp>
      <p:sp>
        <p:nvSpPr>
          <p:cNvPr id="36866" name="Oval 3">
            <a:extLst>
              <a:ext uri="{FF2B5EF4-FFF2-40B4-BE49-F238E27FC236}">
                <a16:creationId xmlns:a16="http://schemas.microsoft.com/office/drawing/2014/main" id="{B0D67ECE-CDE3-9747-993C-F72B7023B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150" y="2673350"/>
            <a:ext cx="1816100" cy="901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200">
                <a:latin typeface="Arial Unicode MS" panose="020B0604020202020204" pitchFamily="34" charset="-128"/>
              </a:rPr>
              <a:t>Dead</a:t>
            </a:r>
          </a:p>
        </p:txBody>
      </p:sp>
      <p:sp>
        <p:nvSpPr>
          <p:cNvPr id="36867" name="Oval 4">
            <a:extLst>
              <a:ext uri="{FF2B5EF4-FFF2-40B4-BE49-F238E27FC236}">
                <a16:creationId xmlns:a16="http://schemas.microsoft.com/office/drawing/2014/main" id="{08039293-F7C1-9942-B4A1-4CE55B2CE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150" y="4654550"/>
            <a:ext cx="1816100" cy="901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200">
                <a:latin typeface="Arial Unicode MS" panose="020B0604020202020204" pitchFamily="34" charset="-128"/>
              </a:rPr>
              <a:t>Dead</a:t>
            </a:r>
          </a:p>
        </p:txBody>
      </p:sp>
      <p:sp>
        <p:nvSpPr>
          <p:cNvPr id="36868" name="Oval 5">
            <a:extLst>
              <a:ext uri="{FF2B5EF4-FFF2-40B4-BE49-F238E27FC236}">
                <a16:creationId xmlns:a16="http://schemas.microsoft.com/office/drawing/2014/main" id="{31F26300-F0D4-6D47-AD28-26EE2E496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8350" y="4654550"/>
            <a:ext cx="1816100" cy="901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200">
                <a:latin typeface="Arial Unicode MS" panose="020B0604020202020204" pitchFamily="34" charset="-128"/>
              </a:rPr>
              <a:t>Sick</a:t>
            </a:r>
          </a:p>
        </p:txBody>
      </p:sp>
      <p:sp>
        <p:nvSpPr>
          <p:cNvPr id="36869" name="Oval 6">
            <a:extLst>
              <a:ext uri="{FF2B5EF4-FFF2-40B4-BE49-F238E27FC236}">
                <a16:creationId xmlns:a16="http://schemas.microsoft.com/office/drawing/2014/main" id="{4DC10F7D-D3D8-6942-85CA-6725C3D8D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0" y="4654550"/>
            <a:ext cx="1816100" cy="901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200" dirty="0">
                <a:latin typeface="Arial Unicode MS" panose="020B0604020202020204" pitchFamily="34" charset="-128"/>
              </a:rPr>
              <a:t>Healthy</a:t>
            </a:r>
          </a:p>
        </p:txBody>
      </p:sp>
      <p:sp>
        <p:nvSpPr>
          <p:cNvPr id="36870" name="Oval 7">
            <a:extLst>
              <a:ext uri="{FF2B5EF4-FFF2-40B4-BE49-F238E27FC236}">
                <a16:creationId xmlns:a16="http://schemas.microsoft.com/office/drawing/2014/main" id="{2A5B684F-27F1-9A4A-8EB6-36CFE666D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8350" y="2673350"/>
            <a:ext cx="1816100" cy="901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200">
                <a:latin typeface="Arial Unicode MS" panose="020B0604020202020204" pitchFamily="34" charset="-128"/>
              </a:rPr>
              <a:t>Sick</a:t>
            </a:r>
          </a:p>
        </p:txBody>
      </p:sp>
      <p:sp>
        <p:nvSpPr>
          <p:cNvPr id="36871" name="Rectangle 8">
            <a:extLst>
              <a:ext uri="{FF2B5EF4-FFF2-40B4-BE49-F238E27FC236}">
                <a16:creationId xmlns:a16="http://schemas.microsoft.com/office/drawing/2014/main" id="{61D8E9F5-7B2D-BE46-BAA1-690858F22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114" y="2790826"/>
            <a:ext cx="29655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3200">
                <a:latin typeface="Arial Unicode MS" panose="020B0604020202020204" pitchFamily="34" charset="-128"/>
              </a:rPr>
              <a:t>t</a:t>
            </a:r>
            <a:endParaRPr lang="en-US" altLang="en-MX" sz="3200">
              <a:solidFill>
                <a:schemeClr val="tx2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36872" name="Rectangle 9">
            <a:extLst>
              <a:ext uri="{FF2B5EF4-FFF2-40B4-BE49-F238E27FC236}">
                <a16:creationId xmlns:a16="http://schemas.microsoft.com/office/drawing/2014/main" id="{A7E2220A-5DA4-A54A-BF0C-F35AB9232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588" y="4924426"/>
            <a:ext cx="764634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3200">
                <a:latin typeface="Arial Unicode MS" panose="020B0604020202020204" pitchFamily="34" charset="-128"/>
              </a:rPr>
              <a:t>t+1</a:t>
            </a:r>
            <a:endParaRPr lang="en-US" altLang="en-MX" sz="3200">
              <a:solidFill>
                <a:schemeClr val="tx2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36873" name="Line 16">
            <a:extLst>
              <a:ext uri="{FF2B5EF4-FFF2-40B4-BE49-F238E27FC236}">
                <a16:creationId xmlns:a16="http://schemas.microsoft.com/office/drawing/2014/main" id="{6D2961FE-B907-5C47-88B8-C89FFBD3A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9400" y="3589338"/>
            <a:ext cx="0" cy="1052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36874" name="Line 17">
            <a:extLst>
              <a:ext uri="{FF2B5EF4-FFF2-40B4-BE49-F238E27FC236}">
                <a16:creationId xmlns:a16="http://schemas.microsoft.com/office/drawing/2014/main" id="{35387AB1-0011-794E-BC81-0326617507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6400" y="3589338"/>
            <a:ext cx="0" cy="1052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36875" name="Line 18">
            <a:extLst>
              <a:ext uri="{FF2B5EF4-FFF2-40B4-BE49-F238E27FC236}">
                <a16:creationId xmlns:a16="http://schemas.microsoft.com/office/drawing/2014/main" id="{906EFA20-DD52-194C-83E7-815E677EF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347200" y="3589338"/>
            <a:ext cx="0" cy="1052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36876" name="Line 19">
            <a:extLst>
              <a:ext uri="{FF2B5EF4-FFF2-40B4-BE49-F238E27FC236}">
                <a16:creationId xmlns:a16="http://schemas.microsoft.com/office/drawing/2014/main" id="{2315A36D-DCD6-5847-967E-429882880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5750" y="3589338"/>
            <a:ext cx="2425700" cy="1052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36877" name="Line 20">
            <a:extLst>
              <a:ext uri="{FF2B5EF4-FFF2-40B4-BE49-F238E27FC236}">
                <a16:creationId xmlns:a16="http://schemas.microsoft.com/office/drawing/2014/main" id="{50105F1D-FCC4-8048-A0E4-BF3360C67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1950" y="3589338"/>
            <a:ext cx="4711700" cy="1052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36878" name="Line 21">
            <a:extLst>
              <a:ext uri="{FF2B5EF4-FFF2-40B4-BE49-F238E27FC236}">
                <a16:creationId xmlns:a16="http://schemas.microsoft.com/office/drawing/2014/main" id="{59C305AD-8555-7947-A786-29C79D554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2750" y="3589338"/>
            <a:ext cx="2349500" cy="1052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36879" name="Rectangle 22">
            <a:extLst>
              <a:ext uri="{FF2B5EF4-FFF2-40B4-BE49-F238E27FC236}">
                <a16:creationId xmlns:a16="http://schemas.microsoft.com/office/drawing/2014/main" id="{A61492BF-8376-8445-9ECF-3777331E9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064" y="1876426"/>
            <a:ext cx="1093249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200" u="sng">
                <a:latin typeface="Arial Unicode MS" panose="020B0604020202020204" pitchFamily="34" charset="-128"/>
              </a:rPr>
              <a:t>Time</a:t>
            </a:r>
            <a:endParaRPr lang="en-US" altLang="en-MX" sz="3200" u="sng">
              <a:solidFill>
                <a:schemeClr val="tx2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36882" name="Text Box 25">
            <a:extLst>
              <a:ext uri="{FF2B5EF4-FFF2-40B4-BE49-F238E27FC236}">
                <a16:creationId xmlns:a16="http://schemas.microsoft.com/office/drawing/2014/main" id="{9DF0D42E-8537-4649-87F0-3569ED4D0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5923" y="3913562"/>
            <a:ext cx="9557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dirty="0" err="1">
                <a:latin typeface="Arial Unicode MS" panose="020B0604020202020204" pitchFamily="34" charset="-128"/>
              </a:rPr>
              <a:t>p_HH</a:t>
            </a:r>
            <a:endParaRPr lang="en-US" altLang="en-MX" baseline="-25000" dirty="0">
              <a:latin typeface="Arial Unicode MS" panose="020B0604020202020204" pitchFamily="34" charset="-128"/>
            </a:endParaRPr>
          </a:p>
        </p:txBody>
      </p:sp>
      <p:sp>
        <p:nvSpPr>
          <p:cNvPr id="36884" name="Text Box 27">
            <a:extLst>
              <a:ext uri="{FF2B5EF4-FFF2-40B4-BE49-F238E27FC236}">
                <a16:creationId xmlns:a16="http://schemas.microsoft.com/office/drawing/2014/main" id="{88226585-D87B-3E4E-99A1-B2EFD745FF81}"/>
              </a:ext>
            </a:extLst>
          </p:cNvPr>
          <p:cNvSpPr txBox="1">
            <a:spLocks noChangeArrowheads="1"/>
          </p:cNvSpPr>
          <p:nvPr/>
        </p:nvSpPr>
        <p:spPr bwMode="auto">
          <a:xfrm rot="780669">
            <a:off x="4789449" y="3396646"/>
            <a:ext cx="9557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dirty="0" err="1">
                <a:latin typeface="Arial Unicode MS" panose="020B0604020202020204" pitchFamily="34" charset="-128"/>
              </a:rPr>
              <a:t>p_HD</a:t>
            </a:r>
            <a:endParaRPr lang="en-US" altLang="en-MX" baseline="-25000" dirty="0">
              <a:latin typeface="Arial Unicode MS" panose="020B0604020202020204" pitchFamily="34" charset="-128"/>
            </a:endParaRPr>
          </a:p>
        </p:txBody>
      </p:sp>
      <p:sp>
        <p:nvSpPr>
          <p:cNvPr id="36885" name="Text Box 28">
            <a:extLst>
              <a:ext uri="{FF2B5EF4-FFF2-40B4-BE49-F238E27FC236}">
                <a16:creationId xmlns:a16="http://schemas.microsoft.com/office/drawing/2014/main" id="{97C4E048-BBED-BC45-9602-29E201B58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902" y="3582828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dirty="0">
                <a:latin typeface="Arial Unicode MS" panose="020B0604020202020204" pitchFamily="34" charset="-128"/>
              </a:rPr>
              <a:t>1</a:t>
            </a:r>
            <a:endParaRPr lang="en-US" altLang="en-MX" baseline="-25000" dirty="0">
              <a:latin typeface="Arial Unicode MS" panose="020B0604020202020204" pitchFamily="34" charset="-128"/>
            </a:endParaRPr>
          </a:p>
        </p:txBody>
      </p:sp>
      <p:sp>
        <p:nvSpPr>
          <p:cNvPr id="36886" name="Text Box 29">
            <a:extLst>
              <a:ext uri="{FF2B5EF4-FFF2-40B4-BE49-F238E27FC236}">
                <a16:creationId xmlns:a16="http://schemas.microsoft.com/office/drawing/2014/main" id="{9C7C12FA-B138-9544-9421-2AE8AD52D7A1}"/>
              </a:ext>
            </a:extLst>
          </p:cNvPr>
          <p:cNvSpPr txBox="1">
            <a:spLocks noChangeArrowheads="1"/>
          </p:cNvSpPr>
          <p:nvPr/>
        </p:nvSpPr>
        <p:spPr bwMode="auto">
          <a:xfrm rot="1450252">
            <a:off x="7156990" y="3510915"/>
            <a:ext cx="9380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dirty="0" err="1">
                <a:latin typeface="Arial Unicode MS" panose="020B0604020202020204" pitchFamily="34" charset="-128"/>
              </a:rPr>
              <a:t>p_SD</a:t>
            </a:r>
            <a:endParaRPr lang="en-US" altLang="en-MX" baseline="-25000" dirty="0">
              <a:latin typeface="Arial Unicode MS" panose="020B0604020202020204" pitchFamily="34" charset="-128"/>
            </a:endParaRPr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25CBD7CF-EE11-304D-B0A3-F6CE2C28DB2B}"/>
              </a:ext>
            </a:extLst>
          </p:cNvPr>
          <p:cNvSpPr txBox="1">
            <a:spLocks noChangeArrowheads="1"/>
          </p:cNvSpPr>
          <p:nvPr/>
        </p:nvSpPr>
        <p:spPr>
          <a:xfrm>
            <a:off x="767751" y="381000"/>
            <a:ext cx="10791645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MX" sz="4400" b="1" kern="1200" dirty="0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Three-State Markov Model</a:t>
            </a:r>
            <a:endParaRPr lang="en-US" dirty="0"/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28EA3251-AA41-4A47-A7B8-8EB009DFB1B8}"/>
              </a:ext>
            </a:extLst>
          </p:cNvPr>
          <p:cNvSpPr txBox="1">
            <a:spLocks noChangeArrowheads="1"/>
          </p:cNvSpPr>
          <p:nvPr/>
        </p:nvSpPr>
        <p:spPr bwMode="auto">
          <a:xfrm rot="1373887">
            <a:off x="4242913" y="3802085"/>
            <a:ext cx="9380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dirty="0" err="1">
                <a:latin typeface="Arial Unicode MS" panose="020B0604020202020204" pitchFamily="34" charset="-128"/>
              </a:rPr>
              <a:t>p_HS</a:t>
            </a:r>
            <a:endParaRPr lang="en-US" altLang="en-MX" baseline="-25000" dirty="0">
              <a:latin typeface="Arial Unicode MS" panose="020B0604020202020204" pitchFamily="34" charset="-128"/>
            </a:endParaRPr>
          </a:p>
        </p:txBody>
      </p:sp>
      <p:sp>
        <p:nvSpPr>
          <p:cNvPr id="31" name="Text Box 27">
            <a:extLst>
              <a:ext uri="{FF2B5EF4-FFF2-40B4-BE49-F238E27FC236}">
                <a16:creationId xmlns:a16="http://schemas.microsoft.com/office/drawing/2014/main" id="{D644F7E1-553E-924B-8619-6BB3B629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4829" y="4228470"/>
            <a:ext cx="9204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dirty="0" err="1">
                <a:latin typeface="Arial Unicode MS" panose="020B0604020202020204" pitchFamily="34" charset="-128"/>
              </a:rPr>
              <a:t>p_SS</a:t>
            </a:r>
            <a:endParaRPr lang="en-US" altLang="en-MX" baseline="-25000" dirty="0">
              <a:latin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145574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Types of Markov Models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u="sng" dirty="0">
                <a:ea typeface="ＭＳ Ｐゴシック" panose="020B0600070205080204" pitchFamily="34" charset="-128"/>
              </a:rPr>
              <a:t>Absorbing models</a:t>
            </a:r>
            <a:r>
              <a:rPr lang="en-US" altLang="en-MX" dirty="0">
                <a:ea typeface="ＭＳ Ｐゴシック" panose="020B0600070205080204" pitchFamily="34" charset="-128"/>
              </a:rPr>
              <a:t> (e.g., includes death)</a:t>
            </a:r>
          </a:p>
          <a:p>
            <a:pPr lvl="1">
              <a:buFontTx/>
              <a:buNone/>
            </a:pPr>
            <a:r>
              <a:rPr lang="en-US" altLang="en-MX" dirty="0">
                <a:ea typeface="ＭＳ Ｐゴシック" panose="020B0600070205080204" pitchFamily="34" charset="-128"/>
              </a:rPr>
              <a:t>Goal: Calculate </a:t>
            </a:r>
            <a:r>
              <a:rPr lang="en-US" altLang="en-MX" i="1" dirty="0">
                <a:ea typeface="ＭＳ Ｐゴシック" panose="020B0600070205080204" pitchFamily="34" charset="-128"/>
              </a:rPr>
              <a:t>residence times</a:t>
            </a:r>
            <a:r>
              <a:rPr lang="en-US" altLang="en-MX" dirty="0">
                <a:ea typeface="ＭＳ Ｐゴシック" panose="020B0600070205080204" pitchFamily="34" charset="-128"/>
              </a:rPr>
              <a:t> in transient states</a:t>
            </a:r>
          </a:p>
          <a:p>
            <a:pPr lvl="1">
              <a:buFont typeface="Times New Roman" panose="02020603050405020304" pitchFamily="18" charset="0"/>
              <a:buChar char="»"/>
            </a:pPr>
            <a:r>
              <a:rPr lang="en-US" altLang="en-MX" dirty="0">
                <a:ea typeface="ＭＳ Ｐゴシック" panose="020B0600070205080204" pitchFamily="34" charset="-128"/>
              </a:rPr>
              <a:t>means (e.g., life expectancy)</a:t>
            </a:r>
          </a:p>
          <a:p>
            <a:pPr lvl="1">
              <a:buFont typeface="Times New Roman" panose="02020603050405020304" pitchFamily="18" charset="0"/>
              <a:buChar char="»"/>
            </a:pPr>
            <a:r>
              <a:rPr lang="en-US" altLang="en-MX" dirty="0">
                <a:ea typeface="ＭＳ Ｐゴシック" panose="020B0600070205080204" pitchFamily="34" charset="-128"/>
              </a:rPr>
              <a:t>weighted means (e.g., QALE, discounted LE)</a:t>
            </a:r>
          </a:p>
          <a:p>
            <a:r>
              <a:rPr lang="en-US" altLang="en-MX" u="sng" dirty="0">
                <a:ea typeface="ＭＳ Ｐゴシック" panose="020B0600070205080204" pitchFamily="34" charset="-128"/>
              </a:rPr>
              <a:t>Non-absorbing models</a:t>
            </a:r>
            <a:r>
              <a:rPr lang="en-US" altLang="en-MX" dirty="0">
                <a:ea typeface="ＭＳ Ｐゴシック" panose="020B0600070205080204" pitchFamily="34" charset="-128"/>
              </a:rPr>
              <a:t> (e.g., nonfatal states)</a:t>
            </a:r>
          </a:p>
          <a:p>
            <a:pPr lvl="1">
              <a:buFontTx/>
              <a:buNone/>
            </a:pPr>
            <a:r>
              <a:rPr lang="en-US" altLang="en-MX" dirty="0">
                <a:ea typeface="ＭＳ Ｐゴシック" panose="020B0600070205080204" pitchFamily="34" charset="-128"/>
              </a:rPr>
              <a:t>Goal: Calculate long-run proportions of time spent in each state</a:t>
            </a:r>
          </a:p>
          <a:p>
            <a:pPr lvl="1">
              <a:buFont typeface="Times New Roman" panose="02020603050405020304" pitchFamily="18" charset="0"/>
              <a:buChar char="»"/>
            </a:pPr>
            <a:r>
              <a:rPr lang="en-US" altLang="en-MX" dirty="0">
                <a:ea typeface="ＭＳ Ｐゴシック" panose="020B0600070205080204" pitchFamily="34" charset="-128"/>
              </a:rPr>
              <a:t>equilibrium distribution across states</a:t>
            </a:r>
          </a:p>
        </p:txBody>
      </p:sp>
    </p:spTree>
    <p:extLst>
      <p:ext uri="{BB962C8B-B14F-4D97-AF65-F5344CB8AC3E}">
        <p14:creationId xmlns:p14="http://schemas.microsoft.com/office/powerpoint/2010/main" val="32892003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Outputs of Absorbing Models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Life expectancy: average number of cycles in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live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states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Weighted life expectancy: average number of cycles in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live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states, each weighted by a state utility or cost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Discounted life expectancy: average number of cycles in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live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states, each cycle weighted by (1</a:t>
            </a:r>
            <a:r>
              <a:rPr lang="en-US" altLang="ja-JP" dirty="0">
                <a:latin typeface="Symbol" pitchFamily="2" charset="2"/>
                <a:ea typeface="ＭＳ Ｐゴシック" panose="020B0600070205080204" pitchFamily="34" charset="-128"/>
              </a:rPr>
              <a:t>+</a:t>
            </a:r>
            <a:r>
              <a:rPr lang="en-US" altLang="ja-JP" i="1" dirty="0">
                <a:ea typeface="ＭＳ Ｐゴシック" panose="020B0600070205080204" pitchFamily="34" charset="-128"/>
              </a:rPr>
              <a:t>r</a:t>
            </a:r>
            <a:r>
              <a:rPr lang="en-US" altLang="ja-JP" dirty="0">
                <a:ea typeface="ＭＳ Ｐゴシック" panose="020B0600070205080204" pitchFamily="34" charset="-128"/>
              </a:rPr>
              <a:t>)</a:t>
            </a:r>
            <a:r>
              <a:rPr lang="en-US" altLang="ja-JP" i="1" baseline="30000" dirty="0">
                <a:ea typeface="ＭＳ Ｐゴシック" panose="020B0600070205080204" pitchFamily="34" charset="-128"/>
              </a:rPr>
              <a:t>-t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0621075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Text Box 7">
            <a:extLst>
              <a:ext uri="{FF2B5EF4-FFF2-40B4-BE49-F238E27FC236}">
                <a16:creationId xmlns:a16="http://schemas.microsoft.com/office/drawing/2014/main" id="{630C682D-4222-5D4E-BEF1-B11F4BCDD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51" y="1233487"/>
            <a:ext cx="2817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2800" u="sng" dirty="0">
                <a:latin typeface="Arial Unicode MS" panose="020B0604020202020204" pitchFamily="34" charset="-128"/>
              </a:rPr>
              <a:t>Transition Matrix</a:t>
            </a:r>
          </a:p>
        </p:txBody>
      </p:sp>
      <p:sp>
        <p:nvSpPr>
          <p:cNvPr id="39941" name="Text Box 8">
            <a:extLst>
              <a:ext uri="{FF2B5EF4-FFF2-40B4-BE49-F238E27FC236}">
                <a16:creationId xmlns:a16="http://schemas.microsoft.com/office/drawing/2014/main" id="{92B1D6BB-0396-9449-813B-FF7730CBC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626" y="4291012"/>
            <a:ext cx="3071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2800" u="sng" dirty="0">
                <a:latin typeface="Arial Unicode MS" panose="020B0604020202020204" pitchFamily="34" charset="-128"/>
              </a:rPr>
              <a:t>Initial State Vector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8693B42-2E77-D143-8D42-B85C28AB4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Back to the Simple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1BF1759-0E58-F344-87C0-4CF5AE036BAD}"/>
                  </a:ext>
                </a:extLst>
              </p:cNvPr>
              <p:cNvSpPr/>
              <p:nvPr/>
            </p:nvSpPr>
            <p:spPr>
              <a:xfrm>
                <a:off x="3855439" y="5054723"/>
                <a:ext cx="4754315" cy="10661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</m:e>
                                <m:e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</m:e>
                                <m:e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0,1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0,2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0,3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1BF1759-0E58-F344-87C0-4CF5AE036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439" y="5054723"/>
                <a:ext cx="4754315" cy="1066189"/>
              </a:xfrm>
              <a:prstGeom prst="rect">
                <a:avLst/>
              </a:prstGeom>
              <a:blipFill>
                <a:blip r:embed="rId2"/>
                <a:stretch>
                  <a:fillRect t="-3529" b="-9412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976681-5ECC-1842-9220-7601B550C0D8}"/>
                  </a:ext>
                </a:extLst>
              </p:cNvPr>
              <p:cNvSpPr/>
              <p:nvPr/>
            </p:nvSpPr>
            <p:spPr>
              <a:xfrm>
                <a:off x="2648892" y="1997198"/>
                <a:ext cx="6460808" cy="2296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𝑀</m:t>
                      </m:r>
                      <m:r>
                        <a:rPr lang="es-ES" sz="32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s-ES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s-E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Calibri"/>
                                <a:sym typeface="Calibri"/>
                              </a:rPr>
                              <m:t> </m:t>
                            </m:r>
                            <m:r>
                              <a:rPr lang="es-E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Calibri"/>
                                <a:sym typeface="Calibri"/>
                              </a:rPr>
                              <m:t>       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ES" sz="32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ES" sz="32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 </m:t>
                                  </m:r>
                                  <m:r>
                                    <a:rPr lang="es-ES" sz="32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     </m:t>
                                  </m:r>
                                  <m:r>
                                    <m:rPr>
                                      <m:nor/>
                                      <m:brk m:alnAt="7"/>
                                    </m:rPr>
                                    <a:rPr lang="es-ES" sz="3200" b="0" i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s-ES" sz="3200" b="0" i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     </m:t>
                                  </m:r>
                                  <m:r>
                                    <m:rPr>
                                      <m:nor/>
                                    </m:rPr>
                                    <a:rPr lang="es-ES" sz="3200" b="0" i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To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ES" sz="32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        </m:t>
                                  </m:r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ES" sz="32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Calibri"/>
                                          <a:sym typeface="Calibri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 </m:t>
                                        </m:r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     </m:t>
                                        </m:r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𝐻</m:t>
                                        </m:r>
                                      </m:e>
                                      <m:e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     </m:t>
                                        </m:r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𝑆</m:t>
                                        </m:r>
                                      </m:e>
                                      <m:e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     </m:t>
                                        </m:r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𝐷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ES" sz="32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ES" sz="32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Calibri"/>
                                          <a:sym typeface="Calibri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nor/>
                                            <m:brk m:alnAt="7"/>
                                          </m:rPr>
                                          <a:rPr lang="es-ES" sz="3200" b="0" i="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F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3200" b="0" i="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rom</m:t>
                                        </m:r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s-ES" sz="32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Calibri"/>
                                                  <a:sym typeface="Calibri"/>
                                                </a:rPr>
                                                <m:t>𝐻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s-ES" sz="32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Calibri"/>
                                                  <a:sym typeface="Calibri"/>
                                                </a:rPr>
                                                <m:t>𝑆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s-ES" sz="32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Calibri"/>
                                                  <a:sym typeface="Calibri"/>
                                                </a:rPr>
                                                <m:t>𝐷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ES" sz="32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Calibri"/>
                                          <a:sym typeface="Calibri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32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Calibri"/>
                                              <a:sym typeface="Calibri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  <m:t>𝐻</m:t>
                                                </m:r>
                                                <m: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  <m:t>𝐻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  <m:t>𝐻𝑆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  <m:t>𝐻𝐷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  <m:t>𝑆𝑆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32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/>
                                                    <a:sym typeface="Calibri"/>
                                                  </a:rPr>
                                                  <m:t>𝑆𝐷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976681-5ECC-1842-9220-7601B550C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892" y="1997198"/>
                <a:ext cx="6460808" cy="2296591"/>
              </a:xfrm>
              <a:prstGeom prst="rect">
                <a:avLst/>
              </a:prstGeom>
              <a:blipFill>
                <a:blip r:embed="rId3"/>
                <a:stretch>
                  <a:fillRect t="-2210" b="-3315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240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Text Box 7">
            <a:extLst>
              <a:ext uri="{FF2B5EF4-FFF2-40B4-BE49-F238E27FC236}">
                <a16:creationId xmlns:a16="http://schemas.microsoft.com/office/drawing/2014/main" id="{630C682D-4222-5D4E-BEF1-B11F4BCDD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51" y="1233487"/>
            <a:ext cx="2817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2800" u="sng" dirty="0">
                <a:latin typeface="Arial Unicode MS" panose="020B0604020202020204" pitchFamily="34" charset="-128"/>
              </a:rPr>
              <a:t>Transition Matrix</a:t>
            </a:r>
          </a:p>
        </p:txBody>
      </p:sp>
      <p:sp>
        <p:nvSpPr>
          <p:cNvPr id="39941" name="Text Box 8">
            <a:extLst>
              <a:ext uri="{FF2B5EF4-FFF2-40B4-BE49-F238E27FC236}">
                <a16:creationId xmlns:a16="http://schemas.microsoft.com/office/drawing/2014/main" id="{92B1D6BB-0396-9449-813B-FF7730CBC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626" y="4291012"/>
            <a:ext cx="3071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2800" u="sng" dirty="0">
                <a:latin typeface="Arial Unicode MS" panose="020B0604020202020204" pitchFamily="34" charset="-128"/>
              </a:rPr>
              <a:t>Initial State Vector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8693B42-2E77-D143-8D42-B85C28AB4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Back to the Simple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1BF1759-0E58-F344-87C0-4CF5AE036BAD}"/>
                  </a:ext>
                </a:extLst>
              </p:cNvPr>
              <p:cNvSpPr/>
              <p:nvPr/>
            </p:nvSpPr>
            <p:spPr>
              <a:xfrm>
                <a:off x="3855439" y="5054723"/>
                <a:ext cx="4291816" cy="9646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</m:e>
                                <m:e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</m:e>
                                <m:e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1 </m:t>
                                </m:r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        0</m:t>
                                </m:r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           0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1BF1759-0E58-F344-87C0-4CF5AE036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439" y="5054723"/>
                <a:ext cx="4291816" cy="964688"/>
              </a:xfrm>
              <a:prstGeom prst="rect">
                <a:avLst/>
              </a:prstGeom>
              <a:blipFill>
                <a:blip r:embed="rId2"/>
                <a:stretch>
                  <a:fillRect t="-3896" b="-16883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976681-5ECC-1842-9220-7601B550C0D8}"/>
                  </a:ext>
                </a:extLst>
              </p:cNvPr>
              <p:cNvSpPr/>
              <p:nvPr/>
            </p:nvSpPr>
            <p:spPr>
              <a:xfrm>
                <a:off x="2648892" y="1997198"/>
                <a:ext cx="6778202" cy="23130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𝑀</m:t>
                      </m:r>
                      <m:r>
                        <a:rPr lang="es-ES" sz="32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s-ES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s-E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Calibri"/>
                                <a:sym typeface="Calibri"/>
                              </a:rPr>
                              <m:t> </m:t>
                            </m:r>
                            <m:r>
                              <a:rPr lang="es-E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Calibri"/>
                                <a:sym typeface="Calibri"/>
                              </a:rPr>
                              <m:t>       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ES" sz="32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ES" sz="32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 </m:t>
                                  </m:r>
                                  <m:r>
                                    <a:rPr lang="es-ES" sz="32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     </m:t>
                                  </m:r>
                                  <m:r>
                                    <m:rPr>
                                      <m:nor/>
                                      <m:brk m:alnAt="7"/>
                                    </m:rPr>
                                    <a:rPr lang="es-ES" sz="3200" b="0" i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s-ES" sz="3200" b="0" i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     </m:t>
                                  </m:r>
                                  <m:r>
                                    <m:rPr>
                                      <m:nor/>
                                    </m:rPr>
                                    <a:rPr lang="es-ES" sz="3200" b="0" i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To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ES" sz="32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  <a:sym typeface="Calibri"/>
                                    </a:rPr>
                                    <m:t>        </m:t>
                                  </m:r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ES" sz="32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Calibri"/>
                                          <a:sym typeface="Calibri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 </m:t>
                                        </m:r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     </m:t>
                                        </m:r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𝐻</m:t>
                                        </m:r>
                                      </m:e>
                                      <m:e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     </m:t>
                                        </m:r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𝑆</m:t>
                                        </m:r>
                                      </m:e>
                                      <m:e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     </m:t>
                                        </m:r>
                                        <m:r>
                                          <a:rPr lang="es-ES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𝐷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ES" sz="32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ES" sz="32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Calibri"/>
                                          <a:sym typeface="Calibri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nor/>
                                            <m:brk m:alnAt="7"/>
                                          </m:rPr>
                                          <a:rPr lang="es-ES" sz="3200" b="0" i="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F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3200" b="0" i="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Calibri"/>
                                            <a:sym typeface="Calibri"/>
                                          </a:rPr>
                                          <m:t>rom</m:t>
                                        </m:r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s-ES" sz="32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Calibri"/>
                                                  <a:sym typeface="Calibri"/>
                                                </a:rPr>
                                                <m:t>𝐻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s-ES" sz="32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Calibri"/>
                                                  <a:sym typeface="Calibri"/>
                                                </a:rPr>
                                                <m:t>𝑆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s-ES" sz="32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Calibri"/>
                                                  <a:sym typeface="Calibri"/>
                                                </a:rPr>
                                                <m:t>𝐷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ES" sz="32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Calibri"/>
                                          <a:sym typeface="Calibri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32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Calibri"/>
                                              <a:sym typeface="Calibri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0.75</m:t>
                                            </m:r>
                                          </m:e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0.20</m:t>
                                            </m:r>
                                          </m:e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0.85</m:t>
                                            </m:r>
                                          </m:e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0.15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s-ES" sz="32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Calibri"/>
                                                <a:sym typeface="Calibri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976681-5ECC-1842-9220-7601B550C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892" y="1997198"/>
                <a:ext cx="6778202" cy="2313005"/>
              </a:xfrm>
              <a:prstGeom prst="rect">
                <a:avLst/>
              </a:prstGeom>
              <a:blipFill>
                <a:blip r:embed="rId3"/>
                <a:stretch>
                  <a:fillRect t="-2186" b="-2732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4225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/>
              <a:t>Cohort at next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matrix </a:t>
            </a:r>
            <a:r>
              <a:rPr lang="nl-NL" dirty="0" err="1"/>
              <a:t>multiplication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 marL="342900" indent="-317500">
              <a:spcBef>
                <a:spcPts val="560"/>
              </a:spcBef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Cohort </a:t>
            </a:r>
            <a:r>
              <a:rPr lang="nl-NL" dirty="0" err="1">
                <a:solidFill>
                  <a:schemeClr val="dk1"/>
                </a:solidFill>
              </a:rPr>
              <a:t>distribution</a:t>
            </a:r>
            <a:r>
              <a:rPr lang="nl-NL" dirty="0">
                <a:solidFill>
                  <a:schemeClr val="dk1"/>
                </a:solidFill>
              </a:rPr>
              <a:t> at next time step </a:t>
            </a:r>
            <a:r>
              <a:rPr lang="nl-NL" dirty="0" err="1">
                <a:solidFill>
                  <a:schemeClr val="dk1"/>
                </a:solidFill>
              </a:rPr>
              <a:t>calculated</a:t>
            </a:r>
            <a:r>
              <a:rPr lang="nl-NL" dirty="0">
                <a:solidFill>
                  <a:schemeClr val="dk1"/>
                </a:solidFill>
              </a:rPr>
              <a:t> </a:t>
            </a:r>
            <a:r>
              <a:rPr lang="nl-NL" dirty="0" err="1">
                <a:solidFill>
                  <a:schemeClr val="dk1"/>
                </a:solidFill>
              </a:rPr>
              <a:t>through</a:t>
            </a:r>
            <a:r>
              <a:rPr lang="nl-NL" dirty="0">
                <a:solidFill>
                  <a:schemeClr val="dk1"/>
                </a:solidFill>
              </a:rPr>
              <a:t> matrix </a:t>
            </a:r>
            <a:r>
              <a:rPr lang="nl-NL" dirty="0" err="1">
                <a:solidFill>
                  <a:schemeClr val="dk1"/>
                </a:solidFill>
              </a:rPr>
              <a:t>multiplication</a:t>
            </a:r>
            <a:endParaRPr lang="nl-NL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EC09866-14F7-784F-9CE9-08009DB1F0FE}"/>
                  </a:ext>
                </a:extLst>
              </p:cNvPr>
              <p:cNvSpPr/>
              <p:nvPr/>
            </p:nvSpPr>
            <p:spPr>
              <a:xfrm>
                <a:off x="3751681" y="3644325"/>
                <a:ext cx="255993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EC09866-14F7-784F-9CE9-08009DB1F0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681" y="3644325"/>
                <a:ext cx="255993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/>
              <p:nvPr/>
            </p:nvSpPr>
            <p:spPr>
              <a:xfrm>
                <a:off x="104253" y="4267527"/>
                <a:ext cx="12118639" cy="1433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+1,1</m:t>
                                  </m:r>
                                </m:e>
                              </m:d>
                            </m:sub>
                          </m:sSub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+1,2</m:t>
                                  </m:r>
                                </m:e>
                              </m:d>
                            </m:sub>
                          </m:sSub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  <m:t>+1,3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  <m:t>+1,1</m:t>
                                  </m:r>
                                </m:e>
                              </m:d>
                            </m:sub>
                          </m:sSub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  <m:t>+1,2</m:t>
                                  </m:r>
                                </m:e>
                              </m:d>
                            </m:sub>
                          </m:sSub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  <m:t>+1,3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53" y="4267527"/>
                <a:ext cx="12118639" cy="14338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3800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/>
              <a:t>Cohort at next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matrix </a:t>
            </a:r>
            <a:r>
              <a:rPr lang="nl-NL" dirty="0" err="1"/>
              <a:t>multiplication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 marL="342900" indent="-317500">
              <a:spcBef>
                <a:spcPts val="560"/>
              </a:spcBef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Cohort </a:t>
            </a:r>
            <a:r>
              <a:rPr lang="nl-NL" dirty="0" err="1">
                <a:solidFill>
                  <a:schemeClr val="dk1"/>
                </a:solidFill>
              </a:rPr>
              <a:t>distribution</a:t>
            </a:r>
            <a:r>
              <a:rPr lang="nl-NL" dirty="0">
                <a:solidFill>
                  <a:schemeClr val="dk1"/>
                </a:solidFill>
              </a:rPr>
              <a:t> at next time step </a:t>
            </a:r>
            <a:r>
              <a:rPr lang="nl-NL" dirty="0" err="1">
                <a:solidFill>
                  <a:schemeClr val="dk1"/>
                </a:solidFill>
              </a:rPr>
              <a:t>calculated</a:t>
            </a:r>
            <a:r>
              <a:rPr lang="nl-NL" dirty="0">
                <a:solidFill>
                  <a:schemeClr val="dk1"/>
                </a:solidFill>
              </a:rPr>
              <a:t> </a:t>
            </a:r>
            <a:r>
              <a:rPr lang="nl-NL" dirty="0" err="1">
                <a:solidFill>
                  <a:schemeClr val="dk1"/>
                </a:solidFill>
              </a:rPr>
              <a:t>through</a:t>
            </a:r>
            <a:r>
              <a:rPr lang="nl-NL" dirty="0">
                <a:solidFill>
                  <a:schemeClr val="dk1"/>
                </a:solidFill>
              </a:rPr>
              <a:t> matrix </a:t>
            </a:r>
            <a:r>
              <a:rPr lang="nl-NL" dirty="0" err="1">
                <a:solidFill>
                  <a:schemeClr val="dk1"/>
                </a:solidFill>
              </a:rPr>
              <a:t>multiplication</a:t>
            </a:r>
            <a:endParaRPr lang="nl-NL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/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.75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.20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.05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0.85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0.15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  <a:blipFill>
                <a:blip r:embed="rId3"/>
                <a:stretch>
                  <a:fillRect b="-630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74508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/>
              <a:t>Cohort at next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matrix </a:t>
            </a:r>
            <a:r>
              <a:rPr lang="nl-NL" dirty="0" err="1"/>
              <a:t>multiplication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 marL="342900" indent="-317500">
              <a:spcBef>
                <a:spcPts val="560"/>
              </a:spcBef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Cohort </a:t>
            </a:r>
            <a:r>
              <a:rPr lang="nl-NL" dirty="0" err="1">
                <a:solidFill>
                  <a:schemeClr val="dk1"/>
                </a:solidFill>
              </a:rPr>
              <a:t>distribution</a:t>
            </a:r>
            <a:r>
              <a:rPr lang="nl-NL" dirty="0">
                <a:solidFill>
                  <a:schemeClr val="dk1"/>
                </a:solidFill>
              </a:rPr>
              <a:t> at next time step </a:t>
            </a:r>
            <a:r>
              <a:rPr lang="nl-NL" dirty="0" err="1">
                <a:solidFill>
                  <a:schemeClr val="dk1"/>
                </a:solidFill>
              </a:rPr>
              <a:t>calculated</a:t>
            </a:r>
            <a:r>
              <a:rPr lang="nl-NL" dirty="0">
                <a:solidFill>
                  <a:schemeClr val="dk1"/>
                </a:solidFill>
              </a:rPr>
              <a:t> </a:t>
            </a:r>
            <a:r>
              <a:rPr lang="nl-NL" dirty="0" err="1">
                <a:solidFill>
                  <a:schemeClr val="dk1"/>
                </a:solidFill>
              </a:rPr>
              <a:t>through</a:t>
            </a:r>
            <a:r>
              <a:rPr lang="nl-NL" dirty="0">
                <a:solidFill>
                  <a:schemeClr val="dk1"/>
                </a:solidFill>
              </a:rPr>
              <a:t> matrix </a:t>
            </a:r>
            <a:r>
              <a:rPr lang="nl-NL" dirty="0" err="1">
                <a:solidFill>
                  <a:schemeClr val="dk1"/>
                </a:solidFill>
              </a:rPr>
              <a:t>multiplication</a:t>
            </a:r>
            <a:endParaRPr lang="nl-NL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/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.75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.20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.05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0.85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0.15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  <a:blipFill>
                <a:blip r:embed="rId3"/>
                <a:stretch>
                  <a:fillRect b="-630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792">
            <a:extLst>
              <a:ext uri="{FF2B5EF4-FFF2-40B4-BE49-F238E27FC236}">
                <a16:creationId xmlns:a16="http://schemas.microsoft.com/office/drawing/2014/main" id="{F32CF922-954F-A144-91A6-D35934F03F39}"/>
              </a:ext>
            </a:extLst>
          </p:cNvPr>
          <p:cNvSpPr/>
          <p:nvPr/>
        </p:nvSpPr>
        <p:spPr>
          <a:xfrm rot="-5400000">
            <a:off x="5737800" y="2896779"/>
            <a:ext cx="525935" cy="1365337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hape 793">
            <a:extLst>
              <a:ext uri="{FF2B5EF4-FFF2-40B4-BE49-F238E27FC236}">
                <a16:creationId xmlns:a16="http://schemas.microsoft.com/office/drawing/2014/main" id="{EFB5FE09-2F81-3541-9EE3-B502B6C46DDC}"/>
              </a:ext>
            </a:extLst>
          </p:cNvPr>
          <p:cNvSpPr/>
          <p:nvPr/>
        </p:nvSpPr>
        <p:spPr>
          <a:xfrm>
            <a:off x="6951944" y="2541297"/>
            <a:ext cx="841347" cy="18240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125F2A1-471C-2A4C-A0BD-B06131A4732F}"/>
                  </a:ext>
                </a:extLst>
              </p:cNvPr>
              <p:cNvSpPr/>
              <p:nvPr/>
            </p:nvSpPr>
            <p:spPr>
              <a:xfrm>
                <a:off x="1807789" y="4617600"/>
                <a:ext cx="869898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32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)=(1)(0.75)+(0)(0)+(0)(0) = 0.75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125F2A1-471C-2A4C-A0BD-B06131A47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4617600"/>
                <a:ext cx="8698984" cy="584775"/>
              </a:xfrm>
              <a:prstGeom prst="rect">
                <a:avLst/>
              </a:prstGeom>
              <a:blipFill>
                <a:blip r:embed="rId4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6782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/>
              <a:t>Cohort at next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matrix </a:t>
            </a:r>
            <a:r>
              <a:rPr lang="nl-NL" dirty="0" err="1"/>
              <a:t>multiplication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 marL="342900" indent="-317500">
              <a:spcBef>
                <a:spcPts val="560"/>
              </a:spcBef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Cohort </a:t>
            </a:r>
            <a:r>
              <a:rPr lang="nl-NL" dirty="0" err="1">
                <a:solidFill>
                  <a:schemeClr val="dk1"/>
                </a:solidFill>
              </a:rPr>
              <a:t>distribution</a:t>
            </a:r>
            <a:r>
              <a:rPr lang="nl-NL" dirty="0">
                <a:solidFill>
                  <a:schemeClr val="dk1"/>
                </a:solidFill>
              </a:rPr>
              <a:t> at next time step </a:t>
            </a:r>
            <a:r>
              <a:rPr lang="nl-NL" dirty="0" err="1">
                <a:solidFill>
                  <a:schemeClr val="dk1"/>
                </a:solidFill>
              </a:rPr>
              <a:t>calculated</a:t>
            </a:r>
            <a:r>
              <a:rPr lang="nl-NL" dirty="0">
                <a:solidFill>
                  <a:schemeClr val="dk1"/>
                </a:solidFill>
              </a:rPr>
              <a:t> </a:t>
            </a:r>
            <a:r>
              <a:rPr lang="nl-NL" dirty="0" err="1">
                <a:solidFill>
                  <a:schemeClr val="dk1"/>
                </a:solidFill>
              </a:rPr>
              <a:t>through</a:t>
            </a:r>
            <a:r>
              <a:rPr lang="nl-NL" dirty="0">
                <a:solidFill>
                  <a:schemeClr val="dk1"/>
                </a:solidFill>
              </a:rPr>
              <a:t> matrix </a:t>
            </a:r>
            <a:r>
              <a:rPr lang="nl-NL" dirty="0" err="1">
                <a:solidFill>
                  <a:schemeClr val="dk1"/>
                </a:solidFill>
              </a:rPr>
              <a:t>multiplication</a:t>
            </a:r>
            <a:endParaRPr lang="nl-NL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/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.75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.20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.05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0.85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0.15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  <a:blipFill>
                <a:blip r:embed="rId3"/>
                <a:stretch>
                  <a:fillRect b="-630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793">
            <a:extLst>
              <a:ext uri="{FF2B5EF4-FFF2-40B4-BE49-F238E27FC236}">
                <a16:creationId xmlns:a16="http://schemas.microsoft.com/office/drawing/2014/main" id="{EFB5FE09-2F81-3541-9EE3-B502B6C46DDC}"/>
              </a:ext>
            </a:extLst>
          </p:cNvPr>
          <p:cNvSpPr/>
          <p:nvPr/>
        </p:nvSpPr>
        <p:spPr>
          <a:xfrm>
            <a:off x="6951944" y="2541297"/>
            <a:ext cx="841347" cy="18240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792">
            <a:extLst>
              <a:ext uri="{FF2B5EF4-FFF2-40B4-BE49-F238E27FC236}">
                <a16:creationId xmlns:a16="http://schemas.microsoft.com/office/drawing/2014/main" id="{6E2A8920-D9DD-6445-9F0F-E5ED6E30895F}"/>
              </a:ext>
            </a:extLst>
          </p:cNvPr>
          <p:cNvSpPr/>
          <p:nvPr/>
        </p:nvSpPr>
        <p:spPr>
          <a:xfrm rot="-5400000">
            <a:off x="5737800" y="2896779"/>
            <a:ext cx="525935" cy="1365337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B63EC3-4237-6D41-BCF8-3447CF4DE587}"/>
                  </a:ext>
                </a:extLst>
              </p:cNvPr>
              <p:cNvSpPr/>
              <p:nvPr/>
            </p:nvSpPr>
            <p:spPr>
              <a:xfrm>
                <a:off x="1807789" y="4617600"/>
                <a:ext cx="869898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32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)=(1)(0.75)+(0)(0)+(0)(0) = 0.75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B63EC3-4237-6D41-BCF8-3447CF4DE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4617600"/>
                <a:ext cx="8698984" cy="584775"/>
              </a:xfrm>
              <a:prstGeom prst="rect">
                <a:avLst/>
              </a:prstGeom>
              <a:blipFill>
                <a:blip r:embed="rId4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7850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/>
              <a:t>Cohort at next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matrix </a:t>
            </a:r>
            <a:r>
              <a:rPr lang="nl-NL" dirty="0" err="1"/>
              <a:t>multiplication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 marL="342900" indent="-317500">
              <a:spcBef>
                <a:spcPts val="560"/>
              </a:spcBef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Cohort </a:t>
            </a:r>
            <a:r>
              <a:rPr lang="nl-NL" dirty="0" err="1">
                <a:solidFill>
                  <a:schemeClr val="dk1"/>
                </a:solidFill>
              </a:rPr>
              <a:t>distribution</a:t>
            </a:r>
            <a:r>
              <a:rPr lang="nl-NL" dirty="0">
                <a:solidFill>
                  <a:schemeClr val="dk1"/>
                </a:solidFill>
              </a:rPr>
              <a:t> at next time step </a:t>
            </a:r>
            <a:r>
              <a:rPr lang="nl-NL" dirty="0" err="1">
                <a:solidFill>
                  <a:schemeClr val="dk1"/>
                </a:solidFill>
              </a:rPr>
              <a:t>calculated</a:t>
            </a:r>
            <a:r>
              <a:rPr lang="nl-NL" dirty="0">
                <a:solidFill>
                  <a:schemeClr val="dk1"/>
                </a:solidFill>
              </a:rPr>
              <a:t> </a:t>
            </a:r>
            <a:r>
              <a:rPr lang="nl-NL" dirty="0" err="1">
                <a:solidFill>
                  <a:schemeClr val="dk1"/>
                </a:solidFill>
              </a:rPr>
              <a:t>through</a:t>
            </a:r>
            <a:r>
              <a:rPr lang="nl-NL" dirty="0">
                <a:solidFill>
                  <a:schemeClr val="dk1"/>
                </a:solidFill>
              </a:rPr>
              <a:t> matrix </a:t>
            </a:r>
            <a:r>
              <a:rPr lang="nl-NL" dirty="0" err="1">
                <a:solidFill>
                  <a:schemeClr val="dk1"/>
                </a:solidFill>
              </a:rPr>
              <a:t>multiplication</a:t>
            </a:r>
            <a:endParaRPr lang="nl-NL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/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.75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.20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.05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0.85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0.15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  <a:blipFill>
                <a:blip r:embed="rId3"/>
                <a:stretch>
                  <a:fillRect b="-630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792">
            <a:extLst>
              <a:ext uri="{FF2B5EF4-FFF2-40B4-BE49-F238E27FC236}">
                <a16:creationId xmlns:a16="http://schemas.microsoft.com/office/drawing/2014/main" id="{6E2A8920-D9DD-6445-9F0F-E5ED6E30895F}"/>
              </a:ext>
            </a:extLst>
          </p:cNvPr>
          <p:cNvSpPr/>
          <p:nvPr/>
        </p:nvSpPr>
        <p:spPr>
          <a:xfrm rot="-5400000">
            <a:off x="5737800" y="2896779"/>
            <a:ext cx="525935" cy="1365337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Shape 793">
            <a:extLst>
              <a:ext uri="{FF2B5EF4-FFF2-40B4-BE49-F238E27FC236}">
                <a16:creationId xmlns:a16="http://schemas.microsoft.com/office/drawing/2014/main" id="{EBEE1C5D-69DC-CB4F-B68B-A95D1D9A336D}"/>
              </a:ext>
            </a:extLst>
          </p:cNvPr>
          <p:cNvSpPr/>
          <p:nvPr/>
        </p:nvSpPr>
        <p:spPr>
          <a:xfrm>
            <a:off x="8111903" y="2541297"/>
            <a:ext cx="841347" cy="18240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76529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/>
              <a:t>Cohort at next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matrix </a:t>
            </a:r>
            <a:r>
              <a:rPr lang="nl-NL" dirty="0" err="1"/>
              <a:t>multiplication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 marL="342900" indent="-317500">
              <a:spcBef>
                <a:spcPts val="560"/>
              </a:spcBef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Cohort </a:t>
            </a:r>
            <a:r>
              <a:rPr lang="nl-NL" dirty="0" err="1">
                <a:solidFill>
                  <a:schemeClr val="dk1"/>
                </a:solidFill>
              </a:rPr>
              <a:t>distribution</a:t>
            </a:r>
            <a:r>
              <a:rPr lang="nl-NL" dirty="0">
                <a:solidFill>
                  <a:schemeClr val="dk1"/>
                </a:solidFill>
              </a:rPr>
              <a:t> at next time step </a:t>
            </a:r>
            <a:r>
              <a:rPr lang="nl-NL" dirty="0" err="1">
                <a:solidFill>
                  <a:schemeClr val="dk1"/>
                </a:solidFill>
              </a:rPr>
              <a:t>calculated</a:t>
            </a:r>
            <a:r>
              <a:rPr lang="nl-NL" dirty="0">
                <a:solidFill>
                  <a:schemeClr val="dk1"/>
                </a:solidFill>
              </a:rPr>
              <a:t> </a:t>
            </a:r>
            <a:r>
              <a:rPr lang="nl-NL" dirty="0" err="1">
                <a:solidFill>
                  <a:schemeClr val="dk1"/>
                </a:solidFill>
              </a:rPr>
              <a:t>through</a:t>
            </a:r>
            <a:r>
              <a:rPr lang="nl-NL" dirty="0">
                <a:solidFill>
                  <a:schemeClr val="dk1"/>
                </a:solidFill>
              </a:rPr>
              <a:t> matrix </a:t>
            </a:r>
            <a:r>
              <a:rPr lang="nl-NL" dirty="0" err="1">
                <a:solidFill>
                  <a:schemeClr val="dk1"/>
                </a:solidFill>
              </a:rPr>
              <a:t>multiplication</a:t>
            </a:r>
            <a:endParaRPr lang="nl-NL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/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.75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.20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.05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0.85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0.15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  <a:blipFill>
                <a:blip r:embed="rId3"/>
                <a:stretch>
                  <a:fillRect b="-630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792">
            <a:extLst>
              <a:ext uri="{FF2B5EF4-FFF2-40B4-BE49-F238E27FC236}">
                <a16:creationId xmlns:a16="http://schemas.microsoft.com/office/drawing/2014/main" id="{6E2A8920-D9DD-6445-9F0F-E5ED6E30895F}"/>
              </a:ext>
            </a:extLst>
          </p:cNvPr>
          <p:cNvSpPr/>
          <p:nvPr/>
        </p:nvSpPr>
        <p:spPr>
          <a:xfrm rot="-5400000">
            <a:off x="5737800" y="2896779"/>
            <a:ext cx="525935" cy="1365337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B63EC3-4237-6D41-BCF8-3447CF4DE587}"/>
                  </a:ext>
                </a:extLst>
              </p:cNvPr>
              <p:cNvSpPr/>
              <p:nvPr/>
            </p:nvSpPr>
            <p:spPr>
              <a:xfrm>
                <a:off x="1807789" y="4617600"/>
                <a:ext cx="91606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32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)=(1)(0.20)+(0)(0</m:t>
                      </m:r>
                      <m:r>
                        <m:rPr>
                          <m:nor/>
                        </m:rPr>
                        <a:rPr lang="es-ES" sz="3200">
                          <a:latin typeface="Cambria Math" panose="02040503050406030204" pitchFamily="18" charset="0"/>
                        </a:rPr>
                        <m:t>.85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)+(0)(0) = 0.20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B63EC3-4237-6D41-BCF8-3447CF4DE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4617600"/>
                <a:ext cx="9160649" cy="584775"/>
              </a:xfrm>
              <a:prstGeom prst="rect">
                <a:avLst/>
              </a:prstGeom>
              <a:blipFill>
                <a:blip r:embed="rId4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93">
            <a:extLst>
              <a:ext uri="{FF2B5EF4-FFF2-40B4-BE49-F238E27FC236}">
                <a16:creationId xmlns:a16="http://schemas.microsoft.com/office/drawing/2014/main" id="{28C5A40D-9DB5-734B-9926-88F6001BDC10}"/>
              </a:ext>
            </a:extLst>
          </p:cNvPr>
          <p:cNvSpPr/>
          <p:nvPr/>
        </p:nvSpPr>
        <p:spPr>
          <a:xfrm>
            <a:off x="8111903" y="2541297"/>
            <a:ext cx="841347" cy="18240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2034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/>
              <a:t>Cohort at next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matrix </a:t>
            </a:r>
            <a:r>
              <a:rPr lang="nl-NL" dirty="0" err="1"/>
              <a:t>multiplication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 marL="342900" indent="-317500">
              <a:spcBef>
                <a:spcPts val="560"/>
              </a:spcBef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Cohort </a:t>
            </a:r>
            <a:r>
              <a:rPr lang="nl-NL" dirty="0" err="1">
                <a:solidFill>
                  <a:schemeClr val="dk1"/>
                </a:solidFill>
              </a:rPr>
              <a:t>distribution</a:t>
            </a:r>
            <a:r>
              <a:rPr lang="nl-NL" dirty="0">
                <a:solidFill>
                  <a:schemeClr val="dk1"/>
                </a:solidFill>
              </a:rPr>
              <a:t> at next time step </a:t>
            </a:r>
            <a:r>
              <a:rPr lang="nl-NL" dirty="0" err="1">
                <a:solidFill>
                  <a:schemeClr val="dk1"/>
                </a:solidFill>
              </a:rPr>
              <a:t>calculated</a:t>
            </a:r>
            <a:r>
              <a:rPr lang="nl-NL" dirty="0">
                <a:solidFill>
                  <a:schemeClr val="dk1"/>
                </a:solidFill>
              </a:rPr>
              <a:t> </a:t>
            </a:r>
            <a:r>
              <a:rPr lang="nl-NL" dirty="0" err="1">
                <a:solidFill>
                  <a:schemeClr val="dk1"/>
                </a:solidFill>
              </a:rPr>
              <a:t>through</a:t>
            </a:r>
            <a:r>
              <a:rPr lang="nl-NL" dirty="0">
                <a:solidFill>
                  <a:schemeClr val="dk1"/>
                </a:solidFill>
              </a:rPr>
              <a:t> matrix </a:t>
            </a:r>
            <a:r>
              <a:rPr lang="nl-NL" dirty="0" err="1">
                <a:solidFill>
                  <a:schemeClr val="dk1"/>
                </a:solidFill>
              </a:rPr>
              <a:t>multiplication</a:t>
            </a:r>
            <a:endParaRPr lang="nl-NL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/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.75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.20</m:t>
                          </m:r>
                          <m:r>
                            <a:rPr lang="es-E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.05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0.85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0.15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  <a:blipFill>
                <a:blip r:embed="rId3"/>
                <a:stretch>
                  <a:fillRect b="-630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792">
            <a:extLst>
              <a:ext uri="{FF2B5EF4-FFF2-40B4-BE49-F238E27FC236}">
                <a16:creationId xmlns:a16="http://schemas.microsoft.com/office/drawing/2014/main" id="{6E2A8920-D9DD-6445-9F0F-E5ED6E30895F}"/>
              </a:ext>
            </a:extLst>
          </p:cNvPr>
          <p:cNvSpPr/>
          <p:nvPr/>
        </p:nvSpPr>
        <p:spPr>
          <a:xfrm rot="-5400000">
            <a:off x="5737800" y="2896779"/>
            <a:ext cx="525935" cy="1365337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B63EC3-4237-6D41-BCF8-3447CF4DE587}"/>
                  </a:ext>
                </a:extLst>
              </p:cNvPr>
              <p:cNvSpPr/>
              <p:nvPr/>
            </p:nvSpPr>
            <p:spPr>
              <a:xfrm>
                <a:off x="1807789" y="4617600"/>
                <a:ext cx="91606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32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)=(1)(0.20)+(0)(0</m:t>
                      </m:r>
                      <m:r>
                        <m:rPr>
                          <m:nor/>
                        </m:rPr>
                        <a:rPr lang="es-ES" sz="3200">
                          <a:latin typeface="Cambria Math" panose="02040503050406030204" pitchFamily="18" charset="0"/>
                        </a:rPr>
                        <m:t>.85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)+(0)(0) = 0.20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B63EC3-4237-6D41-BCF8-3447CF4DE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4617600"/>
                <a:ext cx="9160649" cy="584775"/>
              </a:xfrm>
              <a:prstGeom prst="rect">
                <a:avLst/>
              </a:prstGeom>
              <a:blipFill>
                <a:blip r:embed="rId4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93">
            <a:extLst>
              <a:ext uri="{FF2B5EF4-FFF2-40B4-BE49-F238E27FC236}">
                <a16:creationId xmlns:a16="http://schemas.microsoft.com/office/drawing/2014/main" id="{28C5A40D-9DB5-734B-9926-88F6001BDC10}"/>
              </a:ext>
            </a:extLst>
          </p:cNvPr>
          <p:cNvSpPr/>
          <p:nvPr/>
        </p:nvSpPr>
        <p:spPr>
          <a:xfrm>
            <a:off x="8111903" y="2541297"/>
            <a:ext cx="841347" cy="18240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438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/>
              <a:t>Cohort at next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matrix </a:t>
            </a:r>
            <a:r>
              <a:rPr lang="nl-NL" dirty="0" err="1"/>
              <a:t>multiplication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 marL="342900" indent="-317500">
              <a:spcBef>
                <a:spcPts val="560"/>
              </a:spcBef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Cohort </a:t>
            </a:r>
            <a:r>
              <a:rPr lang="nl-NL" dirty="0" err="1">
                <a:solidFill>
                  <a:schemeClr val="dk1"/>
                </a:solidFill>
              </a:rPr>
              <a:t>distribution</a:t>
            </a:r>
            <a:r>
              <a:rPr lang="nl-NL" dirty="0">
                <a:solidFill>
                  <a:schemeClr val="dk1"/>
                </a:solidFill>
              </a:rPr>
              <a:t> at next time step </a:t>
            </a:r>
            <a:r>
              <a:rPr lang="nl-NL" dirty="0" err="1">
                <a:solidFill>
                  <a:schemeClr val="dk1"/>
                </a:solidFill>
              </a:rPr>
              <a:t>calculated</a:t>
            </a:r>
            <a:r>
              <a:rPr lang="nl-NL" dirty="0">
                <a:solidFill>
                  <a:schemeClr val="dk1"/>
                </a:solidFill>
              </a:rPr>
              <a:t> </a:t>
            </a:r>
            <a:r>
              <a:rPr lang="nl-NL" dirty="0" err="1">
                <a:solidFill>
                  <a:schemeClr val="dk1"/>
                </a:solidFill>
              </a:rPr>
              <a:t>through</a:t>
            </a:r>
            <a:r>
              <a:rPr lang="nl-NL" dirty="0">
                <a:solidFill>
                  <a:schemeClr val="dk1"/>
                </a:solidFill>
              </a:rPr>
              <a:t> matrix </a:t>
            </a:r>
            <a:r>
              <a:rPr lang="nl-NL" dirty="0" err="1">
                <a:solidFill>
                  <a:schemeClr val="dk1"/>
                </a:solidFill>
              </a:rPr>
              <a:t>multiplication</a:t>
            </a:r>
            <a:endParaRPr lang="nl-NL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/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.75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.20</m:t>
                          </m:r>
                          <m:r>
                            <a:rPr lang="es-E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.05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0.85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0.15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  <a:blipFill>
                <a:blip r:embed="rId3"/>
                <a:stretch>
                  <a:fillRect b="-630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792">
            <a:extLst>
              <a:ext uri="{FF2B5EF4-FFF2-40B4-BE49-F238E27FC236}">
                <a16:creationId xmlns:a16="http://schemas.microsoft.com/office/drawing/2014/main" id="{6E2A8920-D9DD-6445-9F0F-E5ED6E30895F}"/>
              </a:ext>
            </a:extLst>
          </p:cNvPr>
          <p:cNvSpPr/>
          <p:nvPr/>
        </p:nvSpPr>
        <p:spPr>
          <a:xfrm rot="-5400000">
            <a:off x="5737800" y="2896779"/>
            <a:ext cx="525935" cy="1365337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Shape 793">
            <a:extLst>
              <a:ext uri="{FF2B5EF4-FFF2-40B4-BE49-F238E27FC236}">
                <a16:creationId xmlns:a16="http://schemas.microsoft.com/office/drawing/2014/main" id="{89CDCB6D-C6E8-6C44-BDE0-32A5E56953DD}"/>
              </a:ext>
            </a:extLst>
          </p:cNvPr>
          <p:cNvSpPr/>
          <p:nvPr/>
        </p:nvSpPr>
        <p:spPr>
          <a:xfrm>
            <a:off x="9277973" y="2541297"/>
            <a:ext cx="841347" cy="18240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27883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/>
              <a:t>Cohort at next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matrix </a:t>
            </a:r>
            <a:r>
              <a:rPr lang="nl-NL" dirty="0" err="1"/>
              <a:t>multiplication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 marL="342900" indent="-317500">
              <a:spcBef>
                <a:spcPts val="560"/>
              </a:spcBef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Cohort </a:t>
            </a:r>
            <a:r>
              <a:rPr lang="nl-NL" dirty="0" err="1">
                <a:solidFill>
                  <a:schemeClr val="dk1"/>
                </a:solidFill>
              </a:rPr>
              <a:t>distribution</a:t>
            </a:r>
            <a:r>
              <a:rPr lang="nl-NL" dirty="0">
                <a:solidFill>
                  <a:schemeClr val="dk1"/>
                </a:solidFill>
              </a:rPr>
              <a:t> at next time step </a:t>
            </a:r>
            <a:r>
              <a:rPr lang="nl-NL" dirty="0" err="1">
                <a:solidFill>
                  <a:schemeClr val="dk1"/>
                </a:solidFill>
              </a:rPr>
              <a:t>calculated</a:t>
            </a:r>
            <a:r>
              <a:rPr lang="nl-NL" dirty="0">
                <a:solidFill>
                  <a:schemeClr val="dk1"/>
                </a:solidFill>
              </a:rPr>
              <a:t> </a:t>
            </a:r>
            <a:r>
              <a:rPr lang="nl-NL" dirty="0" err="1">
                <a:solidFill>
                  <a:schemeClr val="dk1"/>
                </a:solidFill>
              </a:rPr>
              <a:t>through</a:t>
            </a:r>
            <a:r>
              <a:rPr lang="nl-NL" dirty="0">
                <a:solidFill>
                  <a:schemeClr val="dk1"/>
                </a:solidFill>
              </a:rPr>
              <a:t> matrix </a:t>
            </a:r>
            <a:r>
              <a:rPr lang="nl-NL" dirty="0" err="1">
                <a:solidFill>
                  <a:schemeClr val="dk1"/>
                </a:solidFill>
              </a:rPr>
              <a:t>multiplication</a:t>
            </a:r>
            <a:endParaRPr lang="nl-NL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/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.75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.20</m:t>
                          </m:r>
                          <m:r>
                            <a:rPr lang="es-E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.05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0.85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0.15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  <a:blipFill>
                <a:blip r:embed="rId3"/>
                <a:stretch>
                  <a:fillRect b="-630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792">
            <a:extLst>
              <a:ext uri="{FF2B5EF4-FFF2-40B4-BE49-F238E27FC236}">
                <a16:creationId xmlns:a16="http://schemas.microsoft.com/office/drawing/2014/main" id="{6E2A8920-D9DD-6445-9F0F-E5ED6E30895F}"/>
              </a:ext>
            </a:extLst>
          </p:cNvPr>
          <p:cNvSpPr/>
          <p:nvPr/>
        </p:nvSpPr>
        <p:spPr>
          <a:xfrm rot="-5400000">
            <a:off x="5737800" y="2896779"/>
            <a:ext cx="525935" cy="1365337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B63EC3-4237-6D41-BCF8-3447CF4DE587}"/>
                  </a:ext>
                </a:extLst>
              </p:cNvPr>
              <p:cNvSpPr/>
              <p:nvPr/>
            </p:nvSpPr>
            <p:spPr>
              <a:xfrm>
                <a:off x="1807789" y="4617600"/>
                <a:ext cx="922797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32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)=(1)(0.05)+(0)(0.15)+(0)(1) = 0.05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B63EC3-4237-6D41-BCF8-3447CF4DE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4617600"/>
                <a:ext cx="9227975" cy="584775"/>
              </a:xfrm>
              <a:prstGeom prst="rect">
                <a:avLst/>
              </a:prstGeom>
              <a:blipFill>
                <a:blip r:embed="rId4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793">
            <a:extLst>
              <a:ext uri="{FF2B5EF4-FFF2-40B4-BE49-F238E27FC236}">
                <a16:creationId xmlns:a16="http://schemas.microsoft.com/office/drawing/2014/main" id="{986D4688-F827-2344-ABBA-4D6724DC2DD5}"/>
              </a:ext>
            </a:extLst>
          </p:cNvPr>
          <p:cNvSpPr/>
          <p:nvPr/>
        </p:nvSpPr>
        <p:spPr>
          <a:xfrm>
            <a:off x="9277973" y="2541297"/>
            <a:ext cx="841347" cy="18240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58280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/>
              <a:t>Cohort at next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matrix </a:t>
            </a:r>
            <a:r>
              <a:rPr lang="nl-NL" dirty="0" err="1"/>
              <a:t>multiplication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 marL="342900" indent="-317500">
              <a:spcBef>
                <a:spcPts val="560"/>
              </a:spcBef>
              <a:buClr>
                <a:srgbClr val="009999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Cohort </a:t>
            </a:r>
            <a:r>
              <a:rPr lang="nl-NL" dirty="0" err="1">
                <a:solidFill>
                  <a:schemeClr val="dk1"/>
                </a:solidFill>
              </a:rPr>
              <a:t>distribution</a:t>
            </a:r>
            <a:r>
              <a:rPr lang="nl-NL" dirty="0">
                <a:solidFill>
                  <a:schemeClr val="dk1"/>
                </a:solidFill>
              </a:rPr>
              <a:t> at next time step </a:t>
            </a:r>
            <a:r>
              <a:rPr lang="nl-NL" dirty="0" err="1">
                <a:solidFill>
                  <a:schemeClr val="dk1"/>
                </a:solidFill>
              </a:rPr>
              <a:t>calculated</a:t>
            </a:r>
            <a:r>
              <a:rPr lang="nl-NL" dirty="0">
                <a:solidFill>
                  <a:schemeClr val="dk1"/>
                </a:solidFill>
              </a:rPr>
              <a:t> </a:t>
            </a:r>
            <a:r>
              <a:rPr lang="nl-NL" dirty="0" err="1">
                <a:solidFill>
                  <a:schemeClr val="dk1"/>
                </a:solidFill>
              </a:rPr>
              <a:t>through</a:t>
            </a:r>
            <a:r>
              <a:rPr lang="nl-NL" dirty="0">
                <a:solidFill>
                  <a:schemeClr val="dk1"/>
                </a:solidFill>
              </a:rPr>
              <a:t> matrix </a:t>
            </a:r>
            <a:r>
              <a:rPr lang="nl-NL" dirty="0" err="1">
                <a:solidFill>
                  <a:schemeClr val="dk1"/>
                </a:solidFill>
              </a:rPr>
              <a:t>multiplication</a:t>
            </a:r>
            <a:endParaRPr lang="nl-NL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/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.75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.20</m:t>
                          </m:r>
                          <m:r>
                            <a:rPr lang="es-E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.05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 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0.85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0.15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EA1A45-E84B-104E-A97D-3A3B7C126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2877141"/>
                <a:ext cx="8611203" cy="1404615"/>
              </a:xfrm>
              <a:prstGeom prst="rect">
                <a:avLst/>
              </a:prstGeom>
              <a:blipFill>
                <a:blip r:embed="rId3"/>
                <a:stretch>
                  <a:fillRect b="-630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792">
            <a:extLst>
              <a:ext uri="{FF2B5EF4-FFF2-40B4-BE49-F238E27FC236}">
                <a16:creationId xmlns:a16="http://schemas.microsoft.com/office/drawing/2014/main" id="{6E2A8920-D9DD-6445-9F0F-E5ED6E30895F}"/>
              </a:ext>
            </a:extLst>
          </p:cNvPr>
          <p:cNvSpPr/>
          <p:nvPr/>
        </p:nvSpPr>
        <p:spPr>
          <a:xfrm rot="-5400000">
            <a:off x="5737800" y="2896779"/>
            <a:ext cx="525935" cy="1365337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B63EC3-4237-6D41-BCF8-3447CF4DE587}"/>
                  </a:ext>
                </a:extLst>
              </p:cNvPr>
              <p:cNvSpPr/>
              <p:nvPr/>
            </p:nvSpPr>
            <p:spPr>
              <a:xfrm>
                <a:off x="1807789" y="4617600"/>
                <a:ext cx="922797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32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)=(1)(0.05)+(0)(0.15)+(0)(1) = 0.05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B63EC3-4237-6D41-BCF8-3447CF4DE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789" y="4617600"/>
                <a:ext cx="9227975" cy="584775"/>
              </a:xfrm>
              <a:prstGeom prst="rect">
                <a:avLst/>
              </a:prstGeom>
              <a:blipFill>
                <a:blip r:embed="rId4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793">
            <a:extLst>
              <a:ext uri="{FF2B5EF4-FFF2-40B4-BE49-F238E27FC236}">
                <a16:creationId xmlns:a16="http://schemas.microsoft.com/office/drawing/2014/main" id="{986D4688-F827-2344-ABBA-4D6724DC2DD5}"/>
              </a:ext>
            </a:extLst>
          </p:cNvPr>
          <p:cNvSpPr/>
          <p:nvPr/>
        </p:nvSpPr>
        <p:spPr>
          <a:xfrm>
            <a:off x="9277973" y="2541297"/>
            <a:ext cx="841347" cy="1824000"/>
          </a:xfrm>
          <a:prstGeom prst="ellipse">
            <a:avLst/>
          </a:prstGeom>
          <a:noFill/>
          <a:ln w="25400" cap="flat" cmpd="sng">
            <a:solidFill>
              <a:srgbClr val="004D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2363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NL" dirty="0" err="1"/>
              <a:t>Two-cycle</a:t>
            </a:r>
            <a:r>
              <a:rPr lang="nl-NL" dirty="0"/>
              <a:t> state vector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51903C8-18DC-6441-AF42-C7808452107A}"/>
                  </a:ext>
                </a:extLst>
              </p:cNvPr>
              <p:cNvSpPr/>
              <p:nvPr/>
            </p:nvSpPr>
            <p:spPr>
              <a:xfrm>
                <a:off x="767751" y="2622015"/>
                <a:ext cx="1084700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32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2)=(0.75)(0.05)+(0.20)(0.15)+(0.05)(1) = 0.05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51903C8-18DC-6441-AF42-C780845210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51" y="2622015"/>
                <a:ext cx="10847008" cy="584775"/>
              </a:xfrm>
              <a:prstGeom prst="rect">
                <a:avLst/>
              </a:prstGeom>
              <a:blipFill>
                <a:blip r:embed="rId3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05BD7E3-A011-934F-A926-11A5631DAB54}"/>
                  </a:ext>
                </a:extLst>
              </p:cNvPr>
              <p:cNvSpPr/>
              <p:nvPr/>
            </p:nvSpPr>
            <p:spPr>
              <a:xfrm>
                <a:off x="767751" y="2037240"/>
                <a:ext cx="1077968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32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2)=(0.75)(0.20)+(0.20)(0</m:t>
                      </m:r>
                      <m:r>
                        <m:rPr>
                          <m:nor/>
                        </m:rPr>
                        <a:rPr lang="es-ES" sz="3200">
                          <a:latin typeface="Cambria Math" panose="02040503050406030204" pitchFamily="18" charset="0"/>
                        </a:rPr>
                        <m:t>.85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)+(0.05)(0) = 0.32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05BD7E3-A011-934F-A926-11A5631DAB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51" y="2037240"/>
                <a:ext cx="10779682" cy="584775"/>
              </a:xfrm>
              <a:prstGeom prst="rect">
                <a:avLst/>
              </a:prstGeom>
              <a:blipFill>
                <a:blip r:embed="rId4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6F898A-D5FF-D94E-B12E-EDAC21FF6877}"/>
                  </a:ext>
                </a:extLst>
              </p:cNvPr>
              <p:cNvSpPr/>
              <p:nvPr/>
            </p:nvSpPr>
            <p:spPr>
              <a:xfrm>
                <a:off x="767751" y="1396502"/>
                <a:ext cx="1031801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32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ES" sz="3200" b="0" i="0" smtClean="0">
                          <a:latin typeface="Cambria Math" panose="02040503050406030204" pitchFamily="18" charset="0"/>
                        </a:rPr>
                        <m:t>2)=(0.75)(0.75)+(0.20)(0)+(0.05)(0) = 0.56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6F898A-D5FF-D94E-B12E-EDAC21FF68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51" y="1396502"/>
                <a:ext cx="10318017" cy="584775"/>
              </a:xfrm>
              <a:prstGeom prst="rect">
                <a:avLst/>
              </a:prstGeom>
              <a:blipFill>
                <a:blip r:embed="rId5"/>
                <a:stretch>
                  <a:fillRect b="-25532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A3DC636-25D9-994D-A198-C7119F0830B5}"/>
                  </a:ext>
                </a:extLst>
              </p:cNvPr>
              <p:cNvSpPr/>
              <p:nvPr/>
            </p:nvSpPr>
            <p:spPr>
              <a:xfrm>
                <a:off x="667999" y="3336486"/>
                <a:ext cx="9872767" cy="1404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56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 0.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  <m:r>
                        <a:rPr lang="es-E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0.75</m:t>
                          </m:r>
                          <m:r>
                            <a:rPr lang="es-E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0.20 0.05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0.85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0.15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A3DC636-25D9-994D-A198-C7119F0830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99" y="3336486"/>
                <a:ext cx="9872767" cy="1404615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D144DD1-9831-394B-A9DF-C45772045284}"/>
                  </a:ext>
                </a:extLst>
              </p:cNvPr>
              <p:cNvSpPr/>
              <p:nvPr/>
            </p:nvSpPr>
            <p:spPr>
              <a:xfrm>
                <a:off x="2522171" y="5252980"/>
                <a:ext cx="569008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D144DD1-9831-394B-A9DF-C457720452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171" y="5252980"/>
                <a:ext cx="5690084" cy="584775"/>
              </a:xfrm>
              <a:prstGeom prst="rect">
                <a:avLst/>
              </a:prstGeom>
              <a:blipFill>
                <a:blip r:embed="rId7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2">
            <a:extLst>
              <a:ext uri="{FF2B5EF4-FFF2-40B4-BE49-F238E27FC236}">
                <a16:creationId xmlns:a16="http://schemas.microsoft.com/office/drawing/2014/main" id="{BE2C26AE-9F47-E048-A245-2BE7D95F9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371" y="6308526"/>
            <a:ext cx="213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MX">
                <a:latin typeface="Arial" panose="020B0604020202020204" pitchFamily="34" charset="0"/>
                <a:cs typeface="Arial" panose="020B0604020202020204" pitchFamily="34" charset="0"/>
              </a:rPr>
              <a:t>Year 2 vector</a:t>
            </a:r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854DA0C7-A51C-D640-9E8B-5598377E79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5971" y="5851325"/>
            <a:ext cx="2286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DDC8F1D5-AFA1-9E47-B77E-6340AAC9E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274" y="6308525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MX">
                <a:latin typeface="Arial" panose="020B0604020202020204" pitchFamily="34" charset="0"/>
                <a:cs typeface="Arial" panose="020B0604020202020204" pitchFamily="34" charset="0"/>
              </a:rPr>
              <a:t>Matrix squared</a:t>
            </a:r>
          </a:p>
        </p:txBody>
      </p:sp>
      <p:sp>
        <p:nvSpPr>
          <p:cNvPr id="17" name="Line 11">
            <a:extLst>
              <a:ext uri="{FF2B5EF4-FFF2-40B4-BE49-F238E27FC236}">
                <a16:creationId xmlns:a16="http://schemas.microsoft.com/office/drawing/2014/main" id="{EE857928-EB26-004D-A104-01F2F8065C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59874" y="5775124"/>
            <a:ext cx="304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872775896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87511"/>
            <a:ext cx="10791645" cy="14364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Estimating Mean Residence Times in States from the Transition Matrix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DFBC652-6C92-4F43-B9DD-5A56585AFE1D}"/>
                  </a:ext>
                </a:extLst>
              </p:cNvPr>
              <p:cNvSpPr/>
              <p:nvPr/>
            </p:nvSpPr>
            <p:spPr>
              <a:xfrm>
                <a:off x="128925" y="1933874"/>
                <a:ext cx="4528356" cy="1404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0.85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0.15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DFBC652-6C92-4F43-B9DD-5A56585AF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25" y="1933874"/>
                <a:ext cx="4528356" cy="1404615"/>
              </a:xfrm>
              <a:prstGeom prst="rect">
                <a:avLst/>
              </a:prstGeom>
              <a:blipFill>
                <a:blip r:embed="rId3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ine 15">
            <a:extLst>
              <a:ext uri="{FF2B5EF4-FFF2-40B4-BE49-F238E27FC236}">
                <a16:creationId xmlns:a16="http://schemas.microsoft.com/office/drawing/2014/main" id="{C54102B0-312C-7945-B0C7-3BC51DF2D2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29836" y="2035878"/>
            <a:ext cx="2088" cy="12887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D4418A7D-DE6F-7F48-B417-4C3BD67E01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52403" y="2903293"/>
            <a:ext cx="326928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A861753-3CC7-9149-92AA-6F0C586B8E6D}"/>
                  </a:ext>
                </a:extLst>
              </p:cNvPr>
              <p:cNvSpPr/>
              <p:nvPr/>
            </p:nvSpPr>
            <p:spPr>
              <a:xfrm>
                <a:off x="4490038" y="2213953"/>
                <a:ext cx="3347070" cy="9203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.75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0.20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0.85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A861753-3CC7-9149-92AA-6F0C586B8E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038" y="2213953"/>
                <a:ext cx="3347070" cy="920317"/>
              </a:xfrm>
              <a:prstGeom prst="rect">
                <a:avLst/>
              </a:prstGeom>
              <a:blipFill>
                <a:blip r:embed="rId4"/>
                <a:stretch>
                  <a:fillRect l="-755" b="-12329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9ECACB-0F35-C748-8DCE-0407FA5E62AE}"/>
                  </a:ext>
                </a:extLst>
              </p:cNvPr>
              <p:cNvSpPr/>
              <p:nvPr/>
            </p:nvSpPr>
            <p:spPr>
              <a:xfrm>
                <a:off x="7622600" y="2226262"/>
                <a:ext cx="2152833" cy="9203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.05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9ECACB-0F35-C748-8DCE-0407FA5E62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600" y="2226262"/>
                <a:ext cx="2152833" cy="920317"/>
              </a:xfrm>
              <a:prstGeom prst="rect">
                <a:avLst/>
              </a:prstGeom>
              <a:blipFill>
                <a:blip r:embed="rId5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16F4A39-1B22-834E-92EE-D54ADB2181F4}"/>
                  </a:ext>
                </a:extLst>
              </p:cNvPr>
              <p:cNvSpPr/>
              <p:nvPr/>
            </p:nvSpPr>
            <p:spPr>
              <a:xfrm>
                <a:off x="9717794" y="2394032"/>
                <a:ext cx="149534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16F4A39-1B22-834E-92EE-D54ADB2181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7794" y="2394032"/>
                <a:ext cx="149534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F0A0C1D-94AE-884D-A171-B8D72BC3E23B}"/>
                  </a:ext>
                </a:extLst>
              </p:cNvPr>
              <p:cNvSpPr/>
              <p:nvPr/>
            </p:nvSpPr>
            <p:spPr>
              <a:xfrm>
                <a:off x="767751" y="3429219"/>
                <a:ext cx="962135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ES" sz="3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MX" sz="3200" dirty="0"/>
                  <a:t> Identity </a:t>
                </a:r>
                <a:r>
                  <a:rPr lang="en-US" altLang="en-MX" sz="3200" dirty="0">
                    <a:latin typeface="Arial Unicode MS" panose="020B0604020202020204" pitchFamily="34" charset="-128"/>
                  </a:rPr>
                  <a:t>matrix (1</a:t>
                </a:r>
                <a:r>
                  <a:rPr lang="ja-JP" altLang="en-US" sz="3200">
                    <a:latin typeface="Arial Unicode MS" panose="020B0604020202020204" pitchFamily="34" charset="-128"/>
                  </a:rPr>
                  <a:t>’</a:t>
                </a:r>
                <a:r>
                  <a:rPr lang="en-US" altLang="ja-JP" sz="3200" dirty="0">
                    <a:latin typeface="Arial Unicode MS" panose="020B0604020202020204" pitchFamily="34" charset="-128"/>
                  </a:rPr>
                  <a:t>s in right diagonal, 0 otherwise)</a:t>
                </a:r>
                <a:endParaRPr lang="en-US" altLang="en-MX" sz="3200" dirty="0">
                  <a:latin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F0A0C1D-94AE-884D-A171-B8D72BC3E2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51" y="3429219"/>
                <a:ext cx="9621352" cy="584775"/>
              </a:xfrm>
              <a:prstGeom prst="rect">
                <a:avLst/>
              </a:prstGeom>
              <a:blipFill>
                <a:blip r:embed="rId7"/>
                <a:stretch>
                  <a:fillRect l="-396" t="-15217" r="-660" b="-34783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CC1B65-216C-E140-8397-823D4942F5EB}"/>
                  </a:ext>
                </a:extLst>
              </p:cNvPr>
              <p:cNvSpPr/>
              <p:nvPr/>
            </p:nvSpPr>
            <p:spPr>
              <a:xfrm>
                <a:off x="442587" y="4205904"/>
                <a:ext cx="11116809" cy="11167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en-MX" sz="3200" dirty="0">
                    <a:latin typeface="Arial Unicode MS" panose="020B0604020202020204" pitchFamily="34" charset="-128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en-MX" sz="3200" dirty="0">
                    <a:latin typeface="Arial Unicode MS" panose="020B0604020202020204" pitchFamily="34" charset="-128"/>
                  </a:rPr>
                  <a:t> expected residence time in state </a:t>
                </a:r>
                <a14:m>
                  <m:oMath xmlns:m="http://schemas.openxmlformats.org/officeDocument/2006/math">
                    <m:r>
                      <a:rPr lang="es-ES" altLang="en-MX" sz="3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MX" sz="3200" dirty="0">
                    <a:latin typeface="Arial Unicode MS" panose="020B0604020202020204" pitchFamily="34" charset="-128"/>
                  </a:rPr>
                  <a:t>, given start in state </a:t>
                </a:r>
                <a14:m>
                  <m:oMath xmlns:m="http://schemas.openxmlformats.org/officeDocument/2006/math">
                    <m:r>
                      <a:rPr lang="es-ES" altLang="en-MX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MX" sz="3200" dirty="0">
                    <a:latin typeface="Arial Unicode MS" panose="020B0604020202020204" pitchFamily="34" charset="-128"/>
                  </a:rPr>
                  <a:t> at time 0 and define </a:t>
                </a:r>
                <a14:m>
                  <m:oMath xmlns:m="http://schemas.openxmlformats.org/officeDocument/2006/math"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MX" sz="3200" dirty="0">
                    <a:latin typeface="Arial Unicode MS" panose="020B0604020202020204" pitchFamily="34" charset="-128"/>
                  </a:rPr>
                  <a:t> as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CC1B65-216C-E140-8397-823D4942F5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87" y="4205904"/>
                <a:ext cx="11116809" cy="1116781"/>
              </a:xfrm>
              <a:prstGeom prst="rect">
                <a:avLst/>
              </a:prstGeom>
              <a:blipFill>
                <a:blip r:embed="rId8"/>
                <a:stretch>
                  <a:fillRect l="-1370" t="-7865" b="-15730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096B78A-7D8E-4045-A90A-0A746C117C70}"/>
                  </a:ext>
                </a:extLst>
              </p:cNvPr>
              <p:cNvSpPr/>
              <p:nvPr/>
            </p:nvSpPr>
            <p:spPr>
              <a:xfrm>
                <a:off x="3904892" y="5505212"/>
                <a:ext cx="3031278" cy="9123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096B78A-7D8E-4045-A90A-0A746C117C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892" y="5505212"/>
                <a:ext cx="3031278" cy="912301"/>
              </a:xfrm>
              <a:prstGeom prst="rect">
                <a:avLst/>
              </a:prstGeom>
              <a:blipFill>
                <a:blip r:embed="rId9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10">
            <a:extLst>
              <a:ext uri="{FF2B5EF4-FFF2-40B4-BE49-F238E27FC236}">
                <a16:creationId xmlns:a16="http://schemas.microsoft.com/office/drawing/2014/main" id="{D12778B9-2C1A-7D4C-962D-B37F67D68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2600" y="5699424"/>
            <a:ext cx="2962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2800" dirty="0">
                <a:latin typeface="Arial" panose="020B0604020202020204" pitchFamily="34" charset="0"/>
                <a:cs typeface="Arial" panose="020B0604020202020204" pitchFamily="34" charset="0"/>
              </a:rPr>
              <a:t>Key model result</a:t>
            </a:r>
          </a:p>
        </p:txBody>
      </p:sp>
    </p:spTree>
    <p:extLst>
      <p:ext uri="{BB962C8B-B14F-4D97-AF65-F5344CB8AC3E}">
        <p14:creationId xmlns:p14="http://schemas.microsoft.com/office/powerpoint/2010/main" val="6979171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87511"/>
            <a:ext cx="10791645" cy="14364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Simple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281B4E0-CF74-EB46-B17B-02F1B1C00641}"/>
                  </a:ext>
                </a:extLst>
              </p:cNvPr>
              <p:cNvSpPr/>
              <p:nvPr/>
            </p:nvSpPr>
            <p:spPr>
              <a:xfrm>
                <a:off x="2924587" y="2610570"/>
                <a:ext cx="2971519" cy="9261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281B4E0-CF74-EB46-B17B-02F1B1C006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587" y="2610570"/>
                <a:ext cx="2971519" cy="926151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D0AFFDE-DDCF-4245-AF0B-B632979138C8}"/>
                  </a:ext>
                </a:extLst>
              </p:cNvPr>
              <p:cNvSpPr/>
              <p:nvPr/>
            </p:nvSpPr>
            <p:spPr>
              <a:xfrm>
                <a:off x="6948292" y="2781257"/>
                <a:ext cx="205158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D0AFFDE-DDCF-4245-AF0B-B6329791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292" y="2781257"/>
                <a:ext cx="2051587" cy="584775"/>
              </a:xfrm>
              <a:prstGeom prst="rect">
                <a:avLst/>
              </a:prstGeom>
              <a:blipFill>
                <a:blip r:embed="rId4"/>
                <a:stretch>
                  <a:fillRect l="-1852" b="-17021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7">
            <a:extLst>
              <a:ext uri="{FF2B5EF4-FFF2-40B4-BE49-F238E27FC236}">
                <a16:creationId xmlns:a16="http://schemas.microsoft.com/office/drawing/2014/main" id="{771FF267-D353-B948-AA83-9D59507FB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51" y="4727575"/>
            <a:ext cx="1079164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3200" dirty="0">
                <a:latin typeface="Arial Unicode MS" panose="020B0604020202020204" pitchFamily="34" charset="-128"/>
              </a:rPr>
              <a:t>Given an initial state of alive, what is the expected duration in that state?</a:t>
            </a:r>
          </a:p>
        </p:txBody>
      </p:sp>
    </p:spTree>
    <p:extLst>
      <p:ext uri="{BB962C8B-B14F-4D97-AF65-F5344CB8AC3E}">
        <p14:creationId xmlns:p14="http://schemas.microsoft.com/office/powerpoint/2010/main" val="3751276802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105" name="Text Box 4">
                <a:extLst>
                  <a:ext uri="{FF2B5EF4-FFF2-40B4-BE49-F238E27FC236}">
                    <a16:creationId xmlns:a16="http://schemas.microsoft.com/office/drawing/2014/main" id="{5E8C450F-88DF-604F-96EC-61F2035363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8401" y="460375"/>
                <a:ext cx="4288931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MX" sz="3200" dirty="0">
                    <a:latin typeface="Arial Unicode MS" panose="020B0604020202020204" pitchFamily="34" charset="-128"/>
                  </a:rPr>
                  <a:t>Let </a:t>
                </a:r>
                <a14:m>
                  <m:oMath xmlns:m="http://schemas.openxmlformats.org/officeDocument/2006/math"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MX" sz="3200" dirty="0">
                    <a:latin typeface="Arial Unicode MS" panose="020B0604020202020204" pitchFamily="34" charset="-128"/>
                  </a:rPr>
                  <a:t> = life expectancy</a:t>
                </a:r>
              </a:p>
            </p:txBody>
          </p:sp>
        </mc:Choice>
        <mc:Fallback xmlns="">
          <p:sp>
            <p:nvSpPr>
              <p:cNvPr id="47105" name="Text Box 4">
                <a:extLst>
                  <a:ext uri="{FF2B5EF4-FFF2-40B4-BE49-F238E27FC236}">
                    <a16:creationId xmlns:a16="http://schemas.microsoft.com/office/drawing/2014/main" id="{5E8C450F-88DF-604F-96EC-61F203536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1" y="460375"/>
                <a:ext cx="4288931" cy="584775"/>
              </a:xfrm>
              <a:prstGeom prst="rect">
                <a:avLst/>
              </a:prstGeom>
              <a:blipFill>
                <a:blip r:embed="rId2"/>
                <a:stretch>
                  <a:fillRect l="-3550" t="-12766" r="-2663" b="-319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06" name="Text Box 5">
                <a:extLst>
                  <a:ext uri="{FF2B5EF4-FFF2-40B4-BE49-F238E27FC236}">
                    <a16:creationId xmlns:a16="http://schemas.microsoft.com/office/drawing/2014/main" id="{82BCA3E7-09BC-DE47-8DFB-E448B2AF0C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6789" y="618451"/>
                <a:ext cx="2438400" cy="2893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MX" sz="2800" u="sng" dirty="0">
                    <a:latin typeface="Arial Unicode MS" panose="020B0604020202020204" pitchFamily="34" charset="-128"/>
                  </a:rPr>
                  <a:t>Remaining LE</a:t>
                </a:r>
              </a:p>
              <a:p>
                <a:pPr algn="ctr">
                  <a:spcBef>
                    <a:spcPct val="50000"/>
                  </a:spcBef>
                </a:pPr>
                <a:endParaRPr lang="es-ES" sz="2800" i="1" dirty="0">
                  <a:latin typeface="Cambria Math" panose="02040503050406030204" pitchFamily="18" charset="0"/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2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en-MX" sz="2800" i="1" dirty="0">
                  <a:latin typeface="Arial Unicode MS" panose="020B0604020202020204" pitchFamily="34" charset="-128"/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altLang="en-MX" sz="2800" dirty="0">
                  <a:latin typeface="Arial Unicode MS" panose="020B0604020202020204" pitchFamily="34" charset="-128"/>
                </a:endParaRPr>
              </a:p>
              <a:p>
                <a:pPr algn="ctr">
                  <a:spcBef>
                    <a:spcPct val="50000"/>
                  </a:spcBef>
                </a:pPr>
                <a:r>
                  <a:rPr lang="en-US" altLang="en-MX" sz="2800" dirty="0">
                    <a:latin typeface="Arial Unicode MS" panose="020B0604020202020204" pitchFamily="34" charset="-128"/>
                  </a:rPr>
                  <a:t>0</a:t>
                </a:r>
              </a:p>
            </p:txBody>
          </p:sp>
        </mc:Choice>
        <mc:Fallback xmlns="">
          <p:sp>
            <p:nvSpPr>
              <p:cNvPr id="47106" name="Text Box 5">
                <a:extLst>
                  <a:ext uri="{FF2B5EF4-FFF2-40B4-BE49-F238E27FC236}">
                    <a16:creationId xmlns:a16="http://schemas.microsoft.com/office/drawing/2014/main" id="{82BCA3E7-09BC-DE47-8DFB-E448B2AF0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16789" y="618451"/>
                <a:ext cx="2438400" cy="2893100"/>
              </a:xfrm>
              <a:prstGeom prst="rect">
                <a:avLst/>
              </a:prstGeom>
              <a:blipFill>
                <a:blip r:embed="rId3"/>
                <a:stretch>
                  <a:fillRect l="-5208" t="-2183" r="-5208" b="-52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7" name="Text Box 7">
            <a:extLst>
              <a:ext uri="{FF2B5EF4-FFF2-40B4-BE49-F238E27FC236}">
                <a16:creationId xmlns:a16="http://schemas.microsoft.com/office/drawing/2014/main" id="{EF790005-110F-D24F-9AF9-313919EEE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4195763"/>
            <a:ext cx="4779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2800">
                <a:latin typeface="Arial Unicode MS" panose="020B0604020202020204" pitchFamily="34" charset="-128"/>
              </a:rPr>
              <a:t>The fundamental equation is:</a:t>
            </a:r>
          </a:p>
        </p:txBody>
      </p:sp>
      <p:grpSp>
        <p:nvGrpSpPr>
          <p:cNvPr id="47109" name="Group 24">
            <a:extLst>
              <a:ext uri="{FF2B5EF4-FFF2-40B4-BE49-F238E27FC236}">
                <a16:creationId xmlns:a16="http://schemas.microsoft.com/office/drawing/2014/main" id="{5385AC59-87AA-B44F-92F5-2AC0A14DE5CD}"/>
              </a:ext>
            </a:extLst>
          </p:cNvPr>
          <p:cNvGrpSpPr>
            <a:grpSpLocks/>
          </p:cNvGrpSpPr>
          <p:nvPr/>
        </p:nvGrpSpPr>
        <p:grpSpPr bwMode="auto">
          <a:xfrm>
            <a:off x="2803526" y="1458914"/>
            <a:ext cx="4513263" cy="2052637"/>
            <a:chOff x="690" y="909"/>
            <a:chExt cx="2843" cy="1293"/>
          </a:xfrm>
        </p:grpSpPr>
        <p:sp>
          <p:nvSpPr>
            <p:cNvPr id="47110" name="Oval 9">
              <a:extLst>
                <a:ext uri="{FF2B5EF4-FFF2-40B4-BE49-F238E27FC236}">
                  <a16:creationId xmlns:a16="http://schemas.microsoft.com/office/drawing/2014/main" id="{A90C0773-037E-E54A-A11A-7B9A75F8E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2" y="1554"/>
              <a:ext cx="173" cy="17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47111" name="Line 10">
              <a:extLst>
                <a:ext uri="{FF2B5EF4-FFF2-40B4-BE49-F238E27FC236}">
                  <a16:creationId xmlns:a16="http://schemas.microsoft.com/office/drawing/2014/main" id="{7D043072-EF66-564F-9E03-285C85CB3F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8" y="1209"/>
              <a:ext cx="0" cy="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7112" name="Line 11">
              <a:extLst>
                <a:ext uri="{FF2B5EF4-FFF2-40B4-BE49-F238E27FC236}">
                  <a16:creationId xmlns:a16="http://schemas.microsoft.com/office/drawing/2014/main" id="{61F60FEB-E72D-DD4B-A5FB-2BFDF68A79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8" y="1727"/>
              <a:ext cx="0" cy="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7113" name="Line 12">
              <a:extLst>
                <a:ext uri="{FF2B5EF4-FFF2-40B4-BE49-F238E27FC236}">
                  <a16:creationId xmlns:a16="http://schemas.microsoft.com/office/drawing/2014/main" id="{52C2C2A0-0C44-1B4E-B165-533570E30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8" y="1209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7114" name="Line 13">
              <a:extLst>
                <a:ext uri="{FF2B5EF4-FFF2-40B4-BE49-F238E27FC236}">
                  <a16:creationId xmlns:a16="http://schemas.microsoft.com/office/drawing/2014/main" id="{8FA66DAF-A152-3A46-ACC3-E71AC596B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8" y="207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7115" name="Line 14">
              <a:extLst>
                <a:ext uri="{FF2B5EF4-FFF2-40B4-BE49-F238E27FC236}">
                  <a16:creationId xmlns:a16="http://schemas.microsoft.com/office/drawing/2014/main" id="{9530442E-33D5-144F-B6BA-62BC695A7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1641"/>
              <a:ext cx="92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7116" name="Text Box 15">
              <a:extLst>
                <a:ext uri="{FF2B5EF4-FFF2-40B4-BE49-F238E27FC236}">
                  <a16:creationId xmlns:a16="http://schemas.microsoft.com/office/drawing/2014/main" id="{AA879DFA-4F62-0945-A9D9-47B07952F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" y="1341"/>
              <a:ext cx="6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MX" sz="2800">
                  <a:latin typeface="Arial Unicode MS" panose="020B0604020202020204" pitchFamily="34" charset="-128"/>
                </a:rPr>
                <a:t>Alive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17" name="Text Box 20">
                  <a:extLst>
                    <a:ext uri="{FF2B5EF4-FFF2-40B4-BE49-F238E27FC236}">
                      <a16:creationId xmlns:a16="http://schemas.microsoft.com/office/drawing/2014/main" id="{93553283-9F52-0048-ADC7-B62768BBF2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1" y="909"/>
                  <a:ext cx="572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r>
                    <a:rPr lang="en-US" altLang="en-MX" sz="2800" dirty="0">
                      <a:latin typeface="Arial Unicode MS" panose="020B0604020202020204" pitchFamily="34" charset="-128"/>
                    </a:rPr>
                    <a:t>1 - </a:t>
                  </a:r>
                  <a14:m>
                    <m:oMath xmlns:m="http://schemas.openxmlformats.org/officeDocument/2006/math"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endParaRPr lang="en-US" altLang="en-MX" sz="2800" i="1" dirty="0">
                    <a:latin typeface="Arial Unicode MS" panose="020B0604020202020204" pitchFamily="34" charset="-128"/>
                  </a:endParaRPr>
                </a:p>
              </p:txBody>
            </p:sp>
          </mc:Choice>
          <mc:Fallback xmlns="">
            <p:sp>
              <p:nvSpPr>
                <p:cNvPr id="47117" name="Text Box 20">
                  <a:extLst>
                    <a:ext uri="{FF2B5EF4-FFF2-40B4-BE49-F238E27FC236}">
                      <a16:creationId xmlns:a16="http://schemas.microsoft.com/office/drawing/2014/main" id="{93553283-9F52-0048-ADC7-B62768BBF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1" y="909"/>
                  <a:ext cx="572" cy="330"/>
                </a:xfrm>
                <a:prstGeom prst="rect">
                  <a:avLst/>
                </a:prstGeom>
                <a:blipFill>
                  <a:blip r:embed="rId4"/>
                  <a:stretch>
                    <a:fillRect l="-13889" t="-11905" r="-2778" b="-33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MX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18" name="Text Box 21">
                  <a:extLst>
                    <a:ext uri="{FF2B5EF4-FFF2-40B4-BE49-F238E27FC236}">
                      <a16:creationId xmlns:a16="http://schemas.microsoft.com/office/drawing/2014/main" id="{A29329AF-A415-FE48-AE7D-AD598DD761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2" y="1756"/>
                  <a:ext cx="308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altLang="en-MX" sz="2800" i="1" dirty="0">
                    <a:latin typeface="Arial Unicode MS" panose="020B0604020202020204" pitchFamily="34" charset="-128"/>
                  </a:endParaRPr>
                </a:p>
              </p:txBody>
            </p:sp>
          </mc:Choice>
          <mc:Fallback xmlns="">
            <p:sp>
              <p:nvSpPr>
                <p:cNvPr id="47118" name="Text Box 21">
                  <a:extLst>
                    <a:ext uri="{FF2B5EF4-FFF2-40B4-BE49-F238E27FC236}">
                      <a16:creationId xmlns:a16="http://schemas.microsoft.com/office/drawing/2014/main" id="{A29329AF-A415-FE48-AE7D-AD598DD76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02" y="1756"/>
                  <a:ext cx="308" cy="330"/>
                </a:xfrm>
                <a:prstGeom prst="rect">
                  <a:avLst/>
                </a:prstGeom>
                <a:blipFill>
                  <a:blip r:embed="rId5"/>
                  <a:stretch>
                    <a:fillRect l="-5128" b="-930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MX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119" name="Text Box 22">
              <a:extLst>
                <a:ext uri="{FF2B5EF4-FFF2-40B4-BE49-F238E27FC236}">
                  <a16:creationId xmlns:a16="http://schemas.microsoft.com/office/drawing/2014/main" id="{A3E703F5-D7BB-AC46-A21A-7941B6B4A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011"/>
              <a:ext cx="6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MX" sz="2800">
                  <a:latin typeface="Arial Unicode MS" panose="020B0604020202020204" pitchFamily="34" charset="-128"/>
                </a:rPr>
                <a:t>Alive</a:t>
              </a:r>
            </a:p>
          </p:txBody>
        </p:sp>
        <p:sp>
          <p:nvSpPr>
            <p:cNvPr id="47120" name="Text Box 23">
              <a:extLst>
                <a:ext uri="{FF2B5EF4-FFF2-40B4-BE49-F238E27FC236}">
                  <a16:creationId xmlns:a16="http://schemas.microsoft.com/office/drawing/2014/main" id="{AD5A778A-8E1B-7149-B6E8-CF56362D3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875"/>
              <a:ext cx="6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MX" sz="2800">
                  <a:latin typeface="Arial Unicode MS" panose="020B0604020202020204" pitchFamily="34" charset="-128"/>
                </a:rPr>
                <a:t>Dead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C48107-39AA-8747-9DA3-28E2BD540EC7}"/>
                  </a:ext>
                </a:extLst>
              </p:cNvPr>
              <p:cNvSpPr/>
              <p:nvPr/>
            </p:nvSpPr>
            <p:spPr>
              <a:xfrm>
                <a:off x="3479899" y="4902199"/>
                <a:ext cx="5232202" cy="16246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s-ES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ES" sz="3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d>
                              <m:dPr>
                                <m:ctrlPr>
                                  <a:rPr lang="es-E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s-E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s-ES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E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E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mr>
                        <m:mr>
                          <m:e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   =</m:t>
                            </m:r>
                          </m:e>
                          <m:e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C48107-39AA-8747-9DA3-28E2BD540E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899" y="4902199"/>
                <a:ext cx="5232202" cy="1624676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ame 2">
            <a:extLst>
              <a:ext uri="{FF2B5EF4-FFF2-40B4-BE49-F238E27FC236}">
                <a16:creationId xmlns:a16="http://schemas.microsoft.com/office/drawing/2014/main" id="{0849185E-8666-9D4B-8F08-3343CA490281}"/>
              </a:ext>
            </a:extLst>
          </p:cNvPr>
          <p:cNvSpPr/>
          <p:nvPr/>
        </p:nvSpPr>
        <p:spPr>
          <a:xfrm>
            <a:off x="7753611" y="5448822"/>
            <a:ext cx="588723" cy="1065527"/>
          </a:xfrm>
          <a:prstGeom prst="frame">
            <a:avLst>
              <a:gd name="adj1" fmla="val 398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9600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2">
            <a:extLst>
              <a:ext uri="{FF2B5EF4-FFF2-40B4-BE49-F238E27FC236}">
                <a16:creationId xmlns:a16="http://schemas.microsoft.com/office/drawing/2014/main" id="{FF73B1BE-7A8E-6443-A2E1-DFE964594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803275"/>
            <a:ext cx="2438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u="sng" dirty="0">
                <a:latin typeface="Arial" panose="020B0604020202020204" pitchFamily="34" charset="0"/>
                <a:cs typeface="Arial" panose="020B0604020202020204" pitchFamily="34" charset="0"/>
              </a:rPr>
              <a:t>E(Healthy)</a:t>
            </a:r>
          </a:p>
          <a:p>
            <a:pPr algn="ctr"/>
            <a:r>
              <a:rPr lang="en-US" altLang="en-MX" sz="28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MX" sz="2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  <a:p>
            <a:pPr algn="ctr"/>
            <a:endParaRPr lang="en-US" altLang="en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MX" sz="28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MX" sz="2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  <a:p>
            <a:pPr algn="ctr"/>
            <a:endParaRPr lang="en-US" altLang="en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MX" sz="28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grpSp>
        <p:nvGrpSpPr>
          <p:cNvPr id="48131" name="Group 26">
            <a:extLst>
              <a:ext uri="{FF2B5EF4-FFF2-40B4-BE49-F238E27FC236}">
                <a16:creationId xmlns:a16="http://schemas.microsoft.com/office/drawing/2014/main" id="{381F4420-3147-4041-84CB-AD3FAA01D052}"/>
              </a:ext>
            </a:extLst>
          </p:cNvPr>
          <p:cNvGrpSpPr>
            <a:grpSpLocks/>
          </p:cNvGrpSpPr>
          <p:nvPr/>
        </p:nvGrpSpPr>
        <p:grpSpPr bwMode="auto">
          <a:xfrm>
            <a:off x="2620963" y="1066801"/>
            <a:ext cx="2584451" cy="2582863"/>
            <a:chOff x="961" y="748"/>
            <a:chExt cx="1628" cy="1627"/>
          </a:xfrm>
        </p:grpSpPr>
        <p:sp>
          <p:nvSpPr>
            <p:cNvPr id="48133" name="Oval 8">
              <a:extLst>
                <a:ext uri="{FF2B5EF4-FFF2-40B4-BE49-F238E27FC236}">
                  <a16:creationId xmlns:a16="http://schemas.microsoft.com/office/drawing/2014/main" id="{A50A886F-C58C-9A42-95C8-13B8750BB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1468"/>
              <a:ext cx="173" cy="17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48134" name="Line 9">
              <a:extLst>
                <a:ext uri="{FF2B5EF4-FFF2-40B4-BE49-F238E27FC236}">
                  <a16:creationId xmlns:a16="http://schemas.microsoft.com/office/drawing/2014/main" id="{59334790-A0E8-764E-AC2C-5E855E7465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007"/>
              <a:ext cx="0" cy="4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8135" name="Line 10">
              <a:extLst>
                <a:ext uri="{FF2B5EF4-FFF2-40B4-BE49-F238E27FC236}">
                  <a16:creationId xmlns:a16="http://schemas.microsoft.com/office/drawing/2014/main" id="{69F147E0-F6D4-CC40-A6BC-50B2A7E7D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641"/>
              <a:ext cx="0" cy="4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8136" name="Line 11">
              <a:extLst>
                <a:ext uri="{FF2B5EF4-FFF2-40B4-BE49-F238E27FC236}">
                  <a16:creationId xmlns:a16="http://schemas.microsoft.com/office/drawing/2014/main" id="{A8292662-4F11-244F-9546-BC839540A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007"/>
              <a:ext cx="7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8137" name="Line 12">
              <a:extLst>
                <a:ext uri="{FF2B5EF4-FFF2-40B4-BE49-F238E27FC236}">
                  <a16:creationId xmlns:a16="http://schemas.microsoft.com/office/drawing/2014/main" id="{5FD4C28D-E9E3-184C-8EDE-13B9B832F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101"/>
              <a:ext cx="7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8138" name="Line 13">
              <a:extLst>
                <a:ext uri="{FF2B5EF4-FFF2-40B4-BE49-F238E27FC236}">
                  <a16:creationId xmlns:a16="http://schemas.microsoft.com/office/drawing/2014/main" id="{288699DE-53CB-714A-938D-D77314E816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" y="1555"/>
              <a:ext cx="7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8139" name="Text Box 14">
              <a:extLst>
                <a:ext uri="{FF2B5EF4-FFF2-40B4-BE49-F238E27FC236}">
                  <a16:creationId xmlns:a16="http://schemas.microsoft.com/office/drawing/2014/main" id="{67B0205F-380E-1D4F-9987-1ACCA72A4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1" y="1082"/>
              <a:ext cx="775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 dirty="0">
                  <a:latin typeface="Arial" panose="020B0604020202020204" pitchFamily="34" charset="0"/>
                  <a:cs typeface="Arial" panose="020B0604020202020204" pitchFamily="34" charset="0"/>
                </a:rPr>
                <a:t>Start</a:t>
              </a:r>
            </a:p>
            <a:p>
              <a:pPr algn="ctr"/>
              <a:r>
                <a:rPr lang="en-US" altLang="en-MX" dirty="0">
                  <a:latin typeface="Arial" panose="020B0604020202020204" pitchFamily="34" charset="0"/>
                  <a:cs typeface="Arial" panose="020B0604020202020204" pitchFamily="34" charset="0"/>
                </a:rPr>
                <a:t>Healthy</a:t>
              </a:r>
            </a:p>
          </p:txBody>
        </p:sp>
        <p:sp>
          <p:nvSpPr>
            <p:cNvPr id="48140" name="Text Box 15">
              <a:extLst>
                <a:ext uri="{FF2B5EF4-FFF2-40B4-BE49-F238E27FC236}">
                  <a16:creationId xmlns:a16="http://schemas.microsoft.com/office/drawing/2014/main" id="{40FEF606-B480-3E4D-8164-54CD95104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748"/>
              <a:ext cx="77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 dirty="0">
                  <a:latin typeface="Arial" panose="020B0604020202020204" pitchFamily="34" charset="0"/>
                  <a:cs typeface="Arial" panose="020B0604020202020204" pitchFamily="34" charset="0"/>
                </a:rPr>
                <a:t>Healthy</a:t>
              </a:r>
              <a:endParaRPr lang="en-US" altLang="en-MX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41" name="Text Box 16">
              <a:extLst>
                <a:ext uri="{FF2B5EF4-FFF2-40B4-BE49-F238E27FC236}">
                  <a16:creationId xmlns:a16="http://schemas.microsoft.com/office/drawing/2014/main" id="{E6BE0B06-3399-3A44-986D-6E04C0835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" y="1842"/>
              <a:ext cx="58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>
                  <a:latin typeface="Arial" panose="020B0604020202020204" pitchFamily="34" charset="0"/>
                  <a:cs typeface="Arial" panose="020B0604020202020204" pitchFamily="34" charset="0"/>
                </a:rPr>
                <a:t>Dead</a:t>
              </a:r>
            </a:p>
          </p:txBody>
        </p:sp>
        <p:sp>
          <p:nvSpPr>
            <p:cNvPr id="48142" name="Line 19">
              <a:extLst>
                <a:ext uri="{FF2B5EF4-FFF2-40B4-BE49-F238E27FC236}">
                  <a16:creationId xmlns:a16="http://schemas.microsoft.com/office/drawing/2014/main" id="{32B0EE22-442E-5146-A3D0-E10873007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554"/>
              <a:ext cx="6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8143" name="Text Box 21">
              <a:extLst>
                <a:ext uri="{FF2B5EF4-FFF2-40B4-BE49-F238E27FC236}">
                  <a16:creationId xmlns:a16="http://schemas.microsoft.com/office/drawing/2014/main" id="{DBA4A03F-0F86-F742-8FAA-8B18FB90D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" y="1295"/>
              <a:ext cx="48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>
                  <a:latin typeface="Arial" panose="020B0604020202020204" pitchFamily="34" charset="0"/>
                  <a:cs typeface="Arial" panose="020B0604020202020204" pitchFamily="34" charset="0"/>
                </a:rPr>
                <a:t>Sick</a:t>
              </a:r>
            </a:p>
          </p:txBody>
        </p:sp>
        <p:sp>
          <p:nvSpPr>
            <p:cNvPr id="48144" name="Text Box 23">
              <a:extLst>
                <a:ext uri="{FF2B5EF4-FFF2-40B4-BE49-F238E27FC236}">
                  <a16:creationId xmlns:a16="http://schemas.microsoft.com/office/drawing/2014/main" id="{6156DC08-ECA8-874C-8D06-82F56638E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" y="967"/>
              <a:ext cx="4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 dirty="0">
                  <a:latin typeface="Arial" panose="020B0604020202020204" pitchFamily="34" charset="0"/>
                  <a:cs typeface="Arial" panose="020B0604020202020204" pitchFamily="34" charset="0"/>
                </a:rPr>
                <a:t>0.75</a:t>
              </a:r>
            </a:p>
          </p:txBody>
        </p:sp>
        <p:sp>
          <p:nvSpPr>
            <p:cNvPr id="48145" name="Text Box 24">
              <a:extLst>
                <a:ext uri="{FF2B5EF4-FFF2-40B4-BE49-F238E27FC236}">
                  <a16:creationId xmlns:a16="http://schemas.microsoft.com/office/drawing/2014/main" id="{5B4F7F26-F733-1440-9ECF-45D348188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" y="1536"/>
              <a:ext cx="4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 dirty="0">
                  <a:latin typeface="Arial" panose="020B0604020202020204" pitchFamily="34" charset="0"/>
                  <a:cs typeface="Arial" panose="020B0604020202020204" pitchFamily="34" charset="0"/>
                </a:rPr>
                <a:t>0.20</a:t>
              </a:r>
            </a:p>
          </p:txBody>
        </p:sp>
        <p:sp>
          <p:nvSpPr>
            <p:cNvPr id="48146" name="Text Box 25">
              <a:extLst>
                <a:ext uri="{FF2B5EF4-FFF2-40B4-BE49-F238E27FC236}">
                  <a16:creationId xmlns:a16="http://schemas.microsoft.com/office/drawing/2014/main" id="{630C6E57-2E58-1C43-BD90-8BB80FB63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7" y="2084"/>
              <a:ext cx="4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 dirty="0">
                  <a:latin typeface="Arial" panose="020B0604020202020204" pitchFamily="34" charset="0"/>
                  <a:cs typeface="Arial" panose="020B0604020202020204" pitchFamily="34" charset="0"/>
                </a:rPr>
                <a:t>0.05</a:t>
              </a:r>
            </a:p>
          </p:txBody>
        </p:sp>
      </p:grpSp>
      <p:sp>
        <p:nvSpPr>
          <p:cNvPr id="48132" name="Text Box 28">
            <a:extLst>
              <a:ext uri="{FF2B5EF4-FFF2-40B4-BE49-F238E27FC236}">
                <a16:creationId xmlns:a16="http://schemas.microsoft.com/office/drawing/2014/main" id="{DF5C542E-7BDD-394F-A7DA-4228449C6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803275"/>
            <a:ext cx="2438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u="sng">
                <a:latin typeface="Arial" panose="020B0604020202020204" pitchFamily="34" charset="0"/>
                <a:cs typeface="Arial" panose="020B0604020202020204" pitchFamily="34" charset="0"/>
              </a:rPr>
              <a:t>E(Sick)</a:t>
            </a:r>
          </a:p>
          <a:p>
            <a:pPr algn="ctr"/>
            <a:r>
              <a:rPr lang="en-US" altLang="en-MX" sz="2800" i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MX" sz="2800" i="1" baseline="-250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endParaRPr lang="en-US" altLang="en-MX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MX" sz="2800" i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MX" sz="2800" i="1" baseline="-2500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</a:p>
          <a:p>
            <a:pPr algn="ctr"/>
            <a:endParaRPr lang="en-US" altLang="en-MX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MX" sz="28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DA9D16A-E95A-FB48-B85A-1A5C9095C0C7}"/>
                  </a:ext>
                </a:extLst>
              </p:cNvPr>
              <p:cNvSpPr/>
              <p:nvPr/>
            </p:nvSpPr>
            <p:spPr>
              <a:xfrm>
                <a:off x="1859655" y="4067110"/>
                <a:ext cx="9770431" cy="10448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lang="es-ES" sz="3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0.75</m:t>
                            </m:r>
                            <m:d>
                              <m:dPr>
                                <m:ctrlPr>
                                  <a:rPr lang="es-E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s-ES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0.20</m:t>
                            </m:r>
                            <m:d>
                              <m:dPr>
                                <m:ctrlPr>
                                  <a:rPr lang="es-E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b>
                                  <m:sSubPr>
                                    <m:ctrlP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+0.05</m:t>
                            </m:r>
                            <m:d>
                              <m:dPr>
                                <m:ctrl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1+0</m:t>
                                </m:r>
                              </m:e>
                            </m:d>
                          </m:e>
                        </m:mr>
                        <m:mr>
                          <m:e>
                            <m:r>
                              <a:rPr lang="es-ES" sz="3200" i="1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s-ES" sz="3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s-ES" sz="3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0.75</m:t>
                            </m:r>
                            <m:sSub>
                              <m:sSubPr>
                                <m:ctrl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+0.20</m:t>
                            </m:r>
                            <m:sSub>
                              <m:sSubPr>
                                <m:ctrl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    </m:t>
                            </m:r>
                          </m:e>
                        </m:mr>
                      </m:m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DA9D16A-E95A-FB48-B85A-1A5C9095C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655" y="4067110"/>
                <a:ext cx="9770431" cy="1044838"/>
              </a:xfrm>
              <a:prstGeom prst="rect">
                <a:avLst/>
              </a:prstGeom>
              <a:blipFill>
                <a:blip r:embed="rId2"/>
                <a:stretch>
                  <a:fillRect b="-15663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8C8E886-C025-9045-8FD3-63E642A9C9CE}"/>
                  </a:ext>
                </a:extLst>
              </p:cNvPr>
              <p:cNvSpPr/>
              <p:nvPr/>
            </p:nvSpPr>
            <p:spPr>
              <a:xfrm>
                <a:off x="1859655" y="5351704"/>
                <a:ext cx="65875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sz="32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0.75</m:t>
                      </m:r>
                      <m:sSub>
                        <m:sSub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+0.20</m:t>
                      </m:r>
                      <m:sSub>
                        <m:sSub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+0.05</m:t>
                      </m:r>
                      <m:d>
                        <m:d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8C8E886-C025-9045-8FD3-63E642A9C9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655" y="5351704"/>
                <a:ext cx="6587573" cy="584775"/>
              </a:xfrm>
              <a:prstGeom prst="rect">
                <a:avLst/>
              </a:prstGeom>
              <a:blipFill>
                <a:blip r:embed="rId3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8692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4">
            <a:extLst>
              <a:ext uri="{FF2B5EF4-FFF2-40B4-BE49-F238E27FC236}">
                <a16:creationId xmlns:a16="http://schemas.microsoft.com/office/drawing/2014/main" id="{F7C451EB-66AB-E743-934B-E55F6EB9F6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016376"/>
          <a:ext cx="6324600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071500" imgH="16967200" progId="Equation.DSMT4">
                  <p:embed/>
                </p:oleObj>
              </mc:Choice>
              <mc:Fallback>
                <p:oleObj name="Equation" r:id="rId2" imgW="64071500" imgH="16967200" progId="Equation.DSMT4">
                  <p:embed/>
                  <p:pic>
                    <p:nvPicPr>
                      <p:cNvPr id="49153" name="Object 4">
                        <a:extLst>
                          <a:ext uri="{FF2B5EF4-FFF2-40B4-BE49-F238E27FC236}">
                            <a16:creationId xmlns:a16="http://schemas.microsoft.com/office/drawing/2014/main" id="{F7C451EB-66AB-E743-934B-E55F6EB9F6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016376"/>
                        <a:ext cx="6324600" cy="177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4" name="Text Box 5">
            <a:extLst>
              <a:ext uri="{FF2B5EF4-FFF2-40B4-BE49-F238E27FC236}">
                <a16:creationId xmlns:a16="http://schemas.microsoft.com/office/drawing/2014/main" id="{28736E27-7B22-784B-9D99-BFC97AB7D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803275"/>
            <a:ext cx="2438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u="sng" dirty="0">
                <a:latin typeface="Arial" panose="020B0604020202020204" pitchFamily="34" charset="0"/>
                <a:cs typeface="Arial" panose="020B0604020202020204" pitchFamily="34" charset="0"/>
              </a:rPr>
              <a:t>E(Healthy)</a:t>
            </a:r>
          </a:p>
          <a:p>
            <a:pPr algn="ctr"/>
            <a:r>
              <a:rPr lang="en-US" altLang="en-MX" sz="28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MX" sz="2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  <a:p>
            <a:pPr algn="ctr"/>
            <a:endParaRPr lang="en-US" altLang="en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MX" sz="28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MX" sz="2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  <a:p>
            <a:pPr algn="ctr"/>
            <a:endParaRPr lang="en-US" altLang="en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MX" sz="28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grpSp>
        <p:nvGrpSpPr>
          <p:cNvPr id="49155" name="Group 6">
            <a:extLst>
              <a:ext uri="{FF2B5EF4-FFF2-40B4-BE49-F238E27FC236}">
                <a16:creationId xmlns:a16="http://schemas.microsoft.com/office/drawing/2014/main" id="{EAA2F97B-8610-9D49-83BF-75F05782DB39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066801"/>
            <a:ext cx="2538413" cy="2582863"/>
            <a:chOff x="990" y="748"/>
            <a:chExt cx="1599" cy="1627"/>
          </a:xfrm>
        </p:grpSpPr>
        <p:sp>
          <p:nvSpPr>
            <p:cNvPr id="49157" name="Oval 7">
              <a:extLst>
                <a:ext uri="{FF2B5EF4-FFF2-40B4-BE49-F238E27FC236}">
                  <a16:creationId xmlns:a16="http://schemas.microsoft.com/office/drawing/2014/main" id="{B423AF76-F0D8-8F47-BBB9-A5875274C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1468"/>
              <a:ext cx="173" cy="17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49158" name="Line 8">
              <a:extLst>
                <a:ext uri="{FF2B5EF4-FFF2-40B4-BE49-F238E27FC236}">
                  <a16:creationId xmlns:a16="http://schemas.microsoft.com/office/drawing/2014/main" id="{920E09A7-DE1F-BE42-BE0C-2E4175EBB7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007"/>
              <a:ext cx="0" cy="4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9159" name="Line 9">
              <a:extLst>
                <a:ext uri="{FF2B5EF4-FFF2-40B4-BE49-F238E27FC236}">
                  <a16:creationId xmlns:a16="http://schemas.microsoft.com/office/drawing/2014/main" id="{88A8FE1B-D4FC-3B41-9023-EF738219D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641"/>
              <a:ext cx="0" cy="4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9160" name="Line 10">
              <a:extLst>
                <a:ext uri="{FF2B5EF4-FFF2-40B4-BE49-F238E27FC236}">
                  <a16:creationId xmlns:a16="http://schemas.microsoft.com/office/drawing/2014/main" id="{25D13137-5F33-C24C-9566-E178B0624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007"/>
              <a:ext cx="7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9161" name="Line 11">
              <a:extLst>
                <a:ext uri="{FF2B5EF4-FFF2-40B4-BE49-F238E27FC236}">
                  <a16:creationId xmlns:a16="http://schemas.microsoft.com/office/drawing/2014/main" id="{B8E88E08-AD6E-DA4E-90D7-E6DA21213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101"/>
              <a:ext cx="7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9162" name="Line 12">
              <a:extLst>
                <a:ext uri="{FF2B5EF4-FFF2-40B4-BE49-F238E27FC236}">
                  <a16:creationId xmlns:a16="http://schemas.microsoft.com/office/drawing/2014/main" id="{78D2A441-9AB8-0349-B283-958499209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" y="1555"/>
              <a:ext cx="7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9163" name="Text Box 13">
              <a:extLst>
                <a:ext uri="{FF2B5EF4-FFF2-40B4-BE49-F238E27FC236}">
                  <a16:creationId xmlns:a16="http://schemas.microsoft.com/office/drawing/2014/main" id="{CD80A51B-1141-DB40-B09B-AFBF91A53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5" y="1082"/>
              <a:ext cx="525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 dirty="0">
                  <a:latin typeface="Arial" panose="020B0604020202020204" pitchFamily="34" charset="0"/>
                  <a:cs typeface="Arial" panose="020B0604020202020204" pitchFamily="34" charset="0"/>
                </a:rPr>
                <a:t>Start</a:t>
              </a:r>
            </a:p>
            <a:p>
              <a:pPr algn="ctr"/>
              <a:r>
                <a:rPr lang="en-US" altLang="en-MX" dirty="0">
                  <a:latin typeface="Arial" panose="020B0604020202020204" pitchFamily="34" charset="0"/>
                  <a:cs typeface="Arial" panose="020B0604020202020204" pitchFamily="34" charset="0"/>
                </a:rPr>
                <a:t>Sick</a:t>
              </a:r>
            </a:p>
          </p:txBody>
        </p:sp>
        <p:sp>
          <p:nvSpPr>
            <p:cNvPr id="49164" name="Text Box 14">
              <a:extLst>
                <a:ext uri="{FF2B5EF4-FFF2-40B4-BE49-F238E27FC236}">
                  <a16:creationId xmlns:a16="http://schemas.microsoft.com/office/drawing/2014/main" id="{D0EC0EE2-05F7-5D49-B0D0-9F80D80CA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748"/>
              <a:ext cx="77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 dirty="0">
                  <a:latin typeface="Arial" panose="020B0604020202020204" pitchFamily="34" charset="0"/>
                  <a:cs typeface="Arial" panose="020B0604020202020204" pitchFamily="34" charset="0"/>
                </a:rPr>
                <a:t>Healthy</a:t>
              </a:r>
              <a:endParaRPr lang="en-US" altLang="en-MX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165" name="Text Box 15">
              <a:extLst>
                <a:ext uri="{FF2B5EF4-FFF2-40B4-BE49-F238E27FC236}">
                  <a16:creationId xmlns:a16="http://schemas.microsoft.com/office/drawing/2014/main" id="{0592CC1E-50EE-CB44-9FEB-44D04B004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" y="1842"/>
              <a:ext cx="58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>
                  <a:latin typeface="Arial" panose="020B0604020202020204" pitchFamily="34" charset="0"/>
                  <a:cs typeface="Arial" panose="020B0604020202020204" pitchFamily="34" charset="0"/>
                </a:rPr>
                <a:t>Dead</a:t>
              </a:r>
            </a:p>
          </p:txBody>
        </p:sp>
        <p:sp>
          <p:nvSpPr>
            <p:cNvPr id="49166" name="Line 16">
              <a:extLst>
                <a:ext uri="{FF2B5EF4-FFF2-40B4-BE49-F238E27FC236}">
                  <a16:creationId xmlns:a16="http://schemas.microsoft.com/office/drawing/2014/main" id="{0F7C8A44-2AD4-F742-B00E-2539AA8A2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554"/>
              <a:ext cx="6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49167" name="Text Box 17">
              <a:extLst>
                <a:ext uri="{FF2B5EF4-FFF2-40B4-BE49-F238E27FC236}">
                  <a16:creationId xmlns:a16="http://schemas.microsoft.com/office/drawing/2014/main" id="{049883C0-AC19-694C-A209-8976A3BD4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" y="1295"/>
              <a:ext cx="48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>
                  <a:latin typeface="Arial" panose="020B0604020202020204" pitchFamily="34" charset="0"/>
                  <a:cs typeface="Arial" panose="020B0604020202020204" pitchFamily="34" charset="0"/>
                </a:rPr>
                <a:t>Sick</a:t>
              </a:r>
            </a:p>
          </p:txBody>
        </p:sp>
        <p:sp>
          <p:nvSpPr>
            <p:cNvPr id="49168" name="Text Box 18">
              <a:extLst>
                <a:ext uri="{FF2B5EF4-FFF2-40B4-BE49-F238E27FC236}">
                  <a16:creationId xmlns:a16="http://schemas.microsoft.com/office/drawing/2014/main" id="{EB0D38DC-4E63-A147-B7DF-596DF4BDA6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0" y="967"/>
              <a:ext cx="3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>
                  <a:latin typeface="Arial" panose="020B0604020202020204" pitchFamily="34" charset="0"/>
                  <a:cs typeface="Arial" panose="020B0604020202020204" pitchFamily="34" charset="0"/>
                </a:rPr>
                <a:t>0.4</a:t>
              </a:r>
            </a:p>
          </p:txBody>
        </p:sp>
        <p:sp>
          <p:nvSpPr>
            <p:cNvPr id="49169" name="Text Box 19">
              <a:extLst>
                <a:ext uri="{FF2B5EF4-FFF2-40B4-BE49-F238E27FC236}">
                  <a16:creationId xmlns:a16="http://schemas.microsoft.com/office/drawing/2014/main" id="{8000AD3A-3D6F-CD45-9177-948C7C519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0" y="1536"/>
              <a:ext cx="3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>
                  <a:latin typeface="Arial" panose="020B0604020202020204" pitchFamily="34" charset="0"/>
                  <a:cs typeface="Arial" panose="020B0604020202020204" pitchFamily="34" charset="0"/>
                </a:rPr>
                <a:t>0.2</a:t>
              </a:r>
            </a:p>
          </p:txBody>
        </p:sp>
        <p:sp>
          <p:nvSpPr>
            <p:cNvPr id="49170" name="Text Box 20">
              <a:extLst>
                <a:ext uri="{FF2B5EF4-FFF2-40B4-BE49-F238E27FC236}">
                  <a16:creationId xmlns:a16="http://schemas.microsoft.com/office/drawing/2014/main" id="{CC9EA627-F0B1-AB45-BF27-B5F19A490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1" y="2084"/>
              <a:ext cx="3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MX">
                  <a:latin typeface="Arial" panose="020B0604020202020204" pitchFamily="34" charset="0"/>
                  <a:cs typeface="Arial" panose="020B0604020202020204" pitchFamily="34" charset="0"/>
                </a:rPr>
                <a:t>0.4</a:t>
              </a:r>
            </a:p>
          </p:txBody>
        </p:sp>
      </p:grpSp>
      <p:sp>
        <p:nvSpPr>
          <p:cNvPr id="49156" name="Text Box 21">
            <a:extLst>
              <a:ext uri="{FF2B5EF4-FFF2-40B4-BE49-F238E27FC236}">
                <a16:creationId xmlns:a16="http://schemas.microsoft.com/office/drawing/2014/main" id="{CDEE7288-DE79-024A-9BCC-3D88B3467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803275"/>
            <a:ext cx="2438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u="sng">
                <a:latin typeface="Arial" panose="020B0604020202020204" pitchFamily="34" charset="0"/>
                <a:cs typeface="Arial" panose="020B0604020202020204" pitchFamily="34" charset="0"/>
              </a:rPr>
              <a:t>E(Sick)</a:t>
            </a:r>
          </a:p>
          <a:p>
            <a:pPr algn="ctr"/>
            <a:r>
              <a:rPr lang="en-US" altLang="en-MX" sz="2800" i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MX" sz="2800" i="1" baseline="-250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endParaRPr lang="en-US" altLang="en-MX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MX" sz="2800" i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MX" sz="2800" i="1" baseline="-2500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</a:p>
          <a:p>
            <a:pPr algn="ctr"/>
            <a:endParaRPr lang="en-US" altLang="en-MX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MX" sz="28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9496642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7" name="Object 4">
            <a:extLst>
              <a:ext uri="{FF2B5EF4-FFF2-40B4-BE49-F238E27FC236}">
                <a16:creationId xmlns:a16="http://schemas.microsoft.com/office/drawing/2014/main" id="{4714C9A3-D0E8-ED4C-BDA5-5D15A0D3D5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0414" y="1905000"/>
          <a:ext cx="5538787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394900" imgH="10528300" progId="Equation.DSMT4">
                  <p:embed/>
                </p:oleObj>
              </mc:Choice>
              <mc:Fallback>
                <p:oleObj name="Equation" r:id="rId2" imgW="35394900" imgH="10528300" progId="Equation.DSMT4">
                  <p:embed/>
                  <p:pic>
                    <p:nvPicPr>
                      <p:cNvPr id="50177" name="Object 4">
                        <a:extLst>
                          <a:ext uri="{FF2B5EF4-FFF2-40B4-BE49-F238E27FC236}">
                            <a16:creationId xmlns:a16="http://schemas.microsoft.com/office/drawing/2014/main" id="{4714C9A3-D0E8-ED4C-BDA5-5D15A0D3D5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414" y="1905000"/>
                        <a:ext cx="5538787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8" name="Object 6">
            <a:extLst>
              <a:ext uri="{FF2B5EF4-FFF2-40B4-BE49-F238E27FC236}">
                <a16:creationId xmlns:a16="http://schemas.microsoft.com/office/drawing/2014/main" id="{440B8026-212C-534C-B386-B71E3737F1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8576" y="3402013"/>
          <a:ext cx="7313613" cy="302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005200" imgH="32181800" progId="Equation.DSMT4">
                  <p:embed/>
                </p:oleObj>
              </mc:Choice>
              <mc:Fallback>
                <p:oleObj name="Equation" r:id="rId4" imgW="67005200" imgH="32181800" progId="Equation.DSMT4">
                  <p:embed/>
                  <p:pic>
                    <p:nvPicPr>
                      <p:cNvPr id="50178" name="Object 6">
                        <a:extLst>
                          <a:ext uri="{FF2B5EF4-FFF2-40B4-BE49-F238E27FC236}">
                            <a16:creationId xmlns:a16="http://schemas.microsoft.com/office/drawing/2014/main" id="{440B8026-212C-534C-B386-B71E3737F1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6" y="3402013"/>
                        <a:ext cx="7313613" cy="302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Text Box 7">
            <a:extLst>
              <a:ext uri="{FF2B5EF4-FFF2-40B4-BE49-F238E27FC236}">
                <a16:creationId xmlns:a16="http://schemas.microsoft.com/office/drawing/2014/main" id="{BFE75548-DC96-1B42-852F-4906D4EFD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57200"/>
            <a:ext cx="7239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3200">
                <a:latin typeface="Arial Unicode MS" panose="020B0604020202020204" pitchFamily="34" charset="-128"/>
              </a:rPr>
              <a:t>Solve for </a:t>
            </a:r>
            <a:r>
              <a:rPr lang="en-US" altLang="en-MX" sz="3200" i="1">
                <a:latin typeface="Arial Unicode MS" panose="020B0604020202020204" pitchFamily="34" charset="-128"/>
              </a:rPr>
              <a:t>n</a:t>
            </a:r>
            <a:r>
              <a:rPr lang="en-US" altLang="en-MX" sz="3200" i="1" baseline="-25000">
                <a:latin typeface="Arial Unicode MS" panose="020B0604020202020204" pitchFamily="34" charset="-128"/>
              </a:rPr>
              <a:t>11</a:t>
            </a:r>
            <a:r>
              <a:rPr lang="en-US" altLang="en-MX" sz="3200">
                <a:latin typeface="Arial Unicode MS" panose="020B0604020202020204" pitchFamily="34" charset="-128"/>
              </a:rPr>
              <a:t> and </a:t>
            </a:r>
            <a:r>
              <a:rPr lang="en-US" altLang="en-MX" sz="3200" i="1">
                <a:latin typeface="Arial Unicode MS" panose="020B0604020202020204" pitchFamily="34" charset="-128"/>
              </a:rPr>
              <a:t>n</a:t>
            </a:r>
            <a:r>
              <a:rPr lang="en-US" altLang="en-MX" sz="3200" i="1" baseline="-25000">
                <a:latin typeface="Arial Unicode MS" panose="020B0604020202020204" pitchFamily="34" charset="-128"/>
              </a:rPr>
              <a:t>21</a:t>
            </a:r>
            <a:r>
              <a:rPr lang="en-US" altLang="en-MX" sz="3200">
                <a:latin typeface="Arial Unicode MS" panose="020B0604020202020204" pitchFamily="34" charset="-128"/>
              </a:rPr>
              <a:t> using two equations from previous slides:</a:t>
            </a:r>
          </a:p>
        </p:txBody>
      </p:sp>
    </p:spTree>
    <p:extLst>
      <p:ext uri="{BB962C8B-B14F-4D97-AF65-F5344CB8AC3E}">
        <p14:creationId xmlns:p14="http://schemas.microsoft.com/office/powerpoint/2010/main" val="22972069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1" name="Object 2">
            <a:extLst>
              <a:ext uri="{FF2B5EF4-FFF2-40B4-BE49-F238E27FC236}">
                <a16:creationId xmlns:a16="http://schemas.microsoft.com/office/drawing/2014/main" id="{594050ED-5FD8-BD4A-8382-5540998666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9939" y="1828800"/>
          <a:ext cx="55721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991800" imgH="10528300" progId="Equation.DSMT4">
                  <p:embed/>
                </p:oleObj>
              </mc:Choice>
              <mc:Fallback>
                <p:oleObj name="Equation" r:id="rId2" imgW="35991800" imgH="10528300" progId="Equation.DSMT4">
                  <p:embed/>
                  <p:pic>
                    <p:nvPicPr>
                      <p:cNvPr id="51201" name="Object 2">
                        <a:extLst>
                          <a:ext uri="{FF2B5EF4-FFF2-40B4-BE49-F238E27FC236}">
                            <a16:creationId xmlns:a16="http://schemas.microsoft.com/office/drawing/2014/main" id="{594050ED-5FD8-BD4A-8382-5540998666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9" y="1828800"/>
                        <a:ext cx="55721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2" name="Object 3">
            <a:extLst>
              <a:ext uri="{FF2B5EF4-FFF2-40B4-BE49-F238E27FC236}">
                <a16:creationId xmlns:a16="http://schemas.microsoft.com/office/drawing/2014/main" id="{FC4747E5-FD9F-3D4D-8A96-0420FB4560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3325" y="3325814"/>
          <a:ext cx="7602538" cy="294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5488800" imgH="32181800" progId="Equation.DSMT4">
                  <p:embed/>
                </p:oleObj>
              </mc:Choice>
              <mc:Fallback>
                <p:oleObj name="Equation" r:id="rId4" imgW="75488800" imgH="32181800" progId="Equation.DSMT4">
                  <p:embed/>
                  <p:pic>
                    <p:nvPicPr>
                      <p:cNvPr id="51202" name="Object 3">
                        <a:extLst>
                          <a:ext uri="{FF2B5EF4-FFF2-40B4-BE49-F238E27FC236}">
                            <a16:creationId xmlns:a16="http://schemas.microsoft.com/office/drawing/2014/main" id="{FC4747E5-FD9F-3D4D-8A96-0420FB4560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325" y="3325814"/>
                        <a:ext cx="7602538" cy="294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Text Box 4">
            <a:extLst>
              <a:ext uri="{FF2B5EF4-FFF2-40B4-BE49-F238E27FC236}">
                <a16:creationId xmlns:a16="http://schemas.microsoft.com/office/drawing/2014/main" id="{8528DE19-BB81-FC44-93A1-A80121A23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57200"/>
            <a:ext cx="7239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3200">
                <a:latin typeface="Arial Unicode MS" panose="020B0604020202020204" pitchFamily="34" charset="-128"/>
              </a:rPr>
              <a:t>Solve for </a:t>
            </a:r>
            <a:r>
              <a:rPr lang="en-US" altLang="en-MX" sz="3200" i="1">
                <a:latin typeface="Arial Unicode MS" panose="020B0604020202020204" pitchFamily="34" charset="-128"/>
              </a:rPr>
              <a:t>n</a:t>
            </a:r>
            <a:r>
              <a:rPr lang="en-US" altLang="en-MX" sz="3200" i="1" baseline="-25000">
                <a:latin typeface="Arial Unicode MS" panose="020B0604020202020204" pitchFamily="34" charset="-128"/>
              </a:rPr>
              <a:t>12</a:t>
            </a:r>
            <a:r>
              <a:rPr lang="en-US" altLang="en-MX" sz="3200">
                <a:latin typeface="Arial Unicode MS" panose="020B0604020202020204" pitchFamily="34" charset="-128"/>
              </a:rPr>
              <a:t> and </a:t>
            </a:r>
            <a:r>
              <a:rPr lang="en-US" altLang="en-MX" sz="3200" i="1">
                <a:latin typeface="Arial Unicode MS" panose="020B0604020202020204" pitchFamily="34" charset="-128"/>
              </a:rPr>
              <a:t>n</a:t>
            </a:r>
            <a:r>
              <a:rPr lang="en-US" altLang="en-MX" sz="3200" i="1" baseline="-25000">
                <a:latin typeface="Arial Unicode MS" panose="020B0604020202020204" pitchFamily="34" charset="-128"/>
              </a:rPr>
              <a:t>22</a:t>
            </a:r>
            <a:r>
              <a:rPr lang="en-US" altLang="en-MX" sz="3200">
                <a:latin typeface="Arial Unicode MS" panose="020B0604020202020204" pitchFamily="34" charset="-128"/>
              </a:rPr>
              <a:t> using two equations from previous slides:</a:t>
            </a:r>
          </a:p>
        </p:txBody>
      </p:sp>
    </p:spTree>
    <p:extLst>
      <p:ext uri="{BB962C8B-B14F-4D97-AF65-F5344CB8AC3E}">
        <p14:creationId xmlns:p14="http://schemas.microsoft.com/office/powerpoint/2010/main" val="16395195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 Closed-Form Solution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E768E2-CCF0-C548-B0BA-940F52FA3E00}"/>
                  </a:ext>
                </a:extLst>
              </p:cNvPr>
              <p:cNvSpPr/>
              <p:nvPr/>
            </p:nvSpPr>
            <p:spPr>
              <a:xfrm>
                <a:off x="2225458" y="2388138"/>
                <a:ext cx="8596264" cy="9235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.75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0.20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0.85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E768E2-CCF0-C548-B0BA-940F52FA3E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458" y="2388138"/>
                <a:ext cx="8596264" cy="923523"/>
              </a:xfrm>
              <a:prstGeom prst="rect">
                <a:avLst/>
              </a:prstGeom>
              <a:blipFill>
                <a:blip r:embed="rId3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E6CEFF3-A2DB-D141-B449-9D0C573C7BD1}"/>
                  </a:ext>
                </a:extLst>
              </p:cNvPr>
              <p:cNvSpPr/>
              <p:nvPr/>
            </p:nvSpPr>
            <p:spPr>
              <a:xfrm>
                <a:off x="3794656" y="3546340"/>
                <a:ext cx="236891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𝑄𝑁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E6CEFF3-A2DB-D141-B449-9D0C573C7B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656" y="3546340"/>
                <a:ext cx="2368917" cy="584775"/>
              </a:xfrm>
              <a:prstGeom prst="rect">
                <a:avLst/>
              </a:prstGeom>
              <a:blipFill>
                <a:blip r:embed="rId4"/>
                <a:stretch>
                  <a:fillRect r="-1064" b="-17021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136B79F-BFD7-9D45-BAAE-F5BA59C489D2}"/>
                  </a:ext>
                </a:extLst>
              </p:cNvPr>
              <p:cNvSpPr/>
              <p:nvPr/>
            </p:nvSpPr>
            <p:spPr>
              <a:xfrm>
                <a:off x="3794656" y="4073406"/>
                <a:ext cx="236891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𝑄𝑁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136B79F-BFD7-9D45-BAAE-F5BA59C48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656" y="4073406"/>
                <a:ext cx="2368918" cy="584775"/>
              </a:xfrm>
              <a:prstGeom prst="rect">
                <a:avLst/>
              </a:prstGeom>
              <a:blipFill>
                <a:blip r:embed="rId5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D67B569-1A5E-AB4C-B59B-E19B2CBD6E03}"/>
                  </a:ext>
                </a:extLst>
              </p:cNvPr>
              <p:cNvSpPr/>
              <p:nvPr/>
            </p:nvSpPr>
            <p:spPr>
              <a:xfrm>
                <a:off x="3585623" y="4633837"/>
                <a:ext cx="257795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D67B569-1A5E-AB4C-B59B-E19B2CBD6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623" y="4633837"/>
                <a:ext cx="2577950" cy="584775"/>
              </a:xfrm>
              <a:prstGeom prst="rect">
                <a:avLst/>
              </a:prstGeom>
              <a:blipFill>
                <a:blip r:embed="rId6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7E15E46-A4C6-2D4D-A107-E019F683CA85}"/>
                  </a:ext>
                </a:extLst>
              </p:cNvPr>
              <p:cNvSpPr/>
              <p:nvPr/>
            </p:nvSpPr>
            <p:spPr>
              <a:xfrm>
                <a:off x="3794655" y="5218612"/>
                <a:ext cx="281839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  <m:sup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7E15E46-A4C6-2D4D-A107-E019F683CA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655" y="5218612"/>
                <a:ext cx="2818399" cy="584775"/>
              </a:xfrm>
              <a:prstGeom prst="rect">
                <a:avLst/>
              </a:prstGeom>
              <a:blipFill>
                <a:blip r:embed="rId7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C7AA2715-6780-084F-BB45-1798FBAB49E8}"/>
              </a:ext>
            </a:extLst>
          </p:cNvPr>
          <p:cNvSpPr/>
          <p:nvPr/>
        </p:nvSpPr>
        <p:spPr>
          <a:xfrm>
            <a:off x="6822086" y="5218612"/>
            <a:ext cx="50035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3200" dirty="0" err="1">
                <a:solidFill>
                  <a:schemeClr val="dk1"/>
                </a:solidFill>
              </a:rPr>
              <a:t>Fundamental</a:t>
            </a:r>
            <a:r>
              <a:rPr lang="nl-NL" sz="3200" dirty="0">
                <a:solidFill>
                  <a:schemeClr val="dk1"/>
                </a:solidFill>
              </a:rPr>
              <a:t> matrix solution</a:t>
            </a:r>
            <a:endParaRPr lang="en-MX" sz="3200" dirty="0"/>
          </a:p>
        </p:txBody>
      </p:sp>
    </p:spTree>
    <p:extLst>
      <p:ext uri="{BB962C8B-B14F-4D97-AF65-F5344CB8AC3E}">
        <p14:creationId xmlns:p14="http://schemas.microsoft.com/office/powerpoint/2010/main" val="192170477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In the example…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E768E2-CCF0-C548-B0BA-940F52FA3E00}"/>
                  </a:ext>
                </a:extLst>
              </p:cNvPr>
              <p:cNvSpPr/>
              <p:nvPr/>
            </p:nvSpPr>
            <p:spPr>
              <a:xfrm>
                <a:off x="2303477" y="1809876"/>
                <a:ext cx="9084923" cy="9235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.75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0.20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0.85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−0.80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   0.15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E768E2-CCF0-C548-B0BA-940F52FA3E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77" y="1809876"/>
                <a:ext cx="9084923" cy="923523"/>
              </a:xfrm>
              <a:prstGeom prst="rect">
                <a:avLst/>
              </a:prstGeom>
              <a:blipFill>
                <a:blip r:embed="rId3"/>
                <a:stretch>
                  <a:fillRect b="-2567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C7AA2715-6780-084F-BB45-1798FBAB49E8}"/>
              </a:ext>
            </a:extLst>
          </p:cNvPr>
          <p:cNvSpPr/>
          <p:nvPr/>
        </p:nvSpPr>
        <p:spPr>
          <a:xfrm>
            <a:off x="6467855" y="2946174"/>
            <a:ext cx="416530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3200" dirty="0">
                <a:solidFill>
                  <a:schemeClr val="dk1"/>
                </a:solidFill>
              </a:rPr>
              <a:t>LE = 25.3 (start </a:t>
            </a:r>
            <a:r>
              <a:rPr lang="nl-NL" sz="3200" dirty="0" err="1">
                <a:solidFill>
                  <a:schemeClr val="dk1"/>
                </a:solidFill>
              </a:rPr>
              <a:t>Healthy</a:t>
            </a:r>
            <a:r>
              <a:rPr lang="nl-NL" sz="3200" dirty="0">
                <a:solidFill>
                  <a:schemeClr val="dk1"/>
                </a:solidFill>
              </a:rPr>
              <a:t>)</a:t>
            </a:r>
          </a:p>
          <a:p>
            <a:r>
              <a:rPr lang="nl-NL" sz="3200" dirty="0">
                <a:solidFill>
                  <a:schemeClr val="dk1"/>
                </a:solidFill>
              </a:rPr>
              <a:t>LE = 6.70 (start Sick)</a:t>
            </a:r>
            <a:endParaRPr lang="en-MX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A791180-04E0-DE42-9E67-8DB9CA8975FA}"/>
                  </a:ext>
                </a:extLst>
              </p:cNvPr>
              <p:cNvSpPr/>
              <p:nvPr/>
            </p:nvSpPr>
            <p:spPr>
              <a:xfrm>
                <a:off x="1942578" y="3028023"/>
                <a:ext cx="4525277" cy="9135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  <m:sup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.0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21.3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6.7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A791180-04E0-DE42-9E67-8DB9CA8975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578" y="3028023"/>
                <a:ext cx="4525277" cy="913520"/>
              </a:xfrm>
              <a:prstGeom prst="rect">
                <a:avLst/>
              </a:prstGeom>
              <a:blipFill>
                <a:blip r:embed="rId4"/>
                <a:stretch>
                  <a:fillRect b="-9589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7FE534E-879F-284E-991C-CB379EEE9532}"/>
              </a:ext>
            </a:extLst>
          </p:cNvPr>
          <p:cNvSpPr/>
          <p:nvPr/>
        </p:nvSpPr>
        <p:spPr>
          <a:xfrm>
            <a:off x="1942578" y="463524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l-NL" sz="3200" dirty="0" err="1">
                <a:solidFill>
                  <a:schemeClr val="dk1"/>
                </a:solidFill>
              </a:rPr>
              <a:t>With</a:t>
            </a:r>
            <a:r>
              <a:rPr lang="nl-NL" sz="3200" dirty="0">
                <a:solidFill>
                  <a:schemeClr val="dk1"/>
                </a:solidFill>
              </a:rPr>
              <a:t> </a:t>
            </a:r>
            <a:r>
              <a:rPr lang="nl-NL" sz="3200" dirty="0" err="1">
                <a:solidFill>
                  <a:schemeClr val="dk1"/>
                </a:solidFill>
              </a:rPr>
              <a:t>discounting</a:t>
            </a:r>
            <a:r>
              <a:rPr lang="nl-NL" sz="3200" dirty="0">
                <a:solidFill>
                  <a:schemeClr val="dk1"/>
                </a:solidFill>
              </a:rPr>
              <a:t>:</a:t>
            </a:r>
            <a:endParaRPr lang="en-MX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C67D87B-153F-F54D-AF03-B1CB5206E8FC}"/>
                  </a:ext>
                </a:extLst>
              </p:cNvPr>
              <p:cNvSpPr/>
              <p:nvPr/>
            </p:nvSpPr>
            <p:spPr>
              <a:xfrm>
                <a:off x="3794655" y="5218612"/>
                <a:ext cx="3511602" cy="1020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s-ES" sz="3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MX" sz="32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C67D87B-153F-F54D-AF03-B1CB5206E8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655" y="5218612"/>
                <a:ext cx="3511602" cy="1020921"/>
              </a:xfrm>
              <a:prstGeom prst="rect">
                <a:avLst/>
              </a:prstGeom>
              <a:blipFill>
                <a:blip r:embed="rId5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675691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Matrix Form in a Tree Form</a:t>
            </a:r>
            <a:endParaRPr lang="en-US" dirty="0"/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46ECEA6A-2896-2C49-8F8A-C2F1C2B06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670" y="1524000"/>
            <a:ext cx="7560660" cy="510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00503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A more common structure…</a:t>
            </a:r>
            <a:endParaRPr lang="en-US" dirty="0"/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2FE0BC7C-1B6E-3243-B346-FE792316C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093" y="1524000"/>
            <a:ext cx="8659813" cy="517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30636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Markov Cycle Trees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Markov models can be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grafted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onto decision trees at terminal nodes (i.e., Markov nodes)</a:t>
            </a:r>
          </a:p>
          <a:p>
            <a:r>
              <a:rPr lang="en-US" altLang="en-MX">
                <a:ea typeface="ＭＳ Ｐゴシック" panose="020B0600070205080204" pitchFamily="34" charset="-128"/>
              </a:rPr>
              <a:t>The averaged-out </a:t>
            </a:r>
            <a:r>
              <a:rPr lang="en-US" altLang="en-MX" dirty="0">
                <a:ea typeface="ＭＳ Ｐゴシック" panose="020B0600070205080204" pitchFamily="34" charset="-128"/>
              </a:rPr>
              <a:t>value at a Markov node is the desired summary value of the Markov process (e.g., QALE)</a:t>
            </a:r>
          </a:p>
        </p:txBody>
      </p:sp>
    </p:spTree>
    <p:extLst>
      <p:ext uri="{BB962C8B-B14F-4D97-AF65-F5344CB8AC3E}">
        <p14:creationId xmlns:p14="http://schemas.microsoft.com/office/powerpoint/2010/main" val="4265934583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2">
            <a:extLst>
              <a:ext uri="{FF2B5EF4-FFF2-40B4-BE49-F238E27FC236}">
                <a16:creationId xmlns:a16="http://schemas.microsoft.com/office/drawing/2014/main" id="{ED20FAC1-E9B3-9F4A-BE81-E36E717F5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1749425"/>
            <a:ext cx="408463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771" name="Freeform 3">
            <a:extLst>
              <a:ext uri="{FF2B5EF4-FFF2-40B4-BE49-F238E27FC236}">
                <a16:creationId xmlns:a16="http://schemas.microsoft.com/office/drawing/2014/main" id="{BAA7FAFB-A38D-344D-B15D-20EFEA56CFBB}"/>
              </a:ext>
            </a:extLst>
          </p:cNvPr>
          <p:cNvSpPr>
            <a:spLocks/>
          </p:cNvSpPr>
          <p:nvPr/>
        </p:nvSpPr>
        <p:spPr bwMode="auto">
          <a:xfrm>
            <a:off x="8123238" y="1643064"/>
            <a:ext cx="203200" cy="212725"/>
          </a:xfrm>
          <a:custGeom>
            <a:avLst/>
            <a:gdLst>
              <a:gd name="T0" fmla="*/ 0 w 128"/>
              <a:gd name="T1" fmla="*/ 168851235 h 134"/>
              <a:gd name="T2" fmla="*/ 322579945 w 128"/>
              <a:gd name="T3" fmla="*/ 0 h 134"/>
              <a:gd name="T4" fmla="*/ 322579945 w 128"/>
              <a:gd name="T5" fmla="*/ 337700883 h 134"/>
              <a:gd name="T6" fmla="*/ 0 w 128"/>
              <a:gd name="T7" fmla="*/ 168851235 h 134"/>
              <a:gd name="T8" fmla="*/ 0 60000 65536"/>
              <a:gd name="T9" fmla="*/ 0 60000 65536"/>
              <a:gd name="T10" fmla="*/ 0 60000 65536"/>
              <a:gd name="T11" fmla="*/ 0 60000 65536"/>
              <a:gd name="T12" fmla="*/ 0 w 128"/>
              <a:gd name="T13" fmla="*/ 0 h 134"/>
              <a:gd name="T14" fmla="*/ 128 w 128"/>
              <a:gd name="T15" fmla="*/ 134 h 1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" h="134">
                <a:moveTo>
                  <a:pt x="0" y="67"/>
                </a:moveTo>
                <a:lnTo>
                  <a:pt x="128" y="0"/>
                </a:lnTo>
                <a:lnTo>
                  <a:pt x="128" y="134"/>
                </a:lnTo>
                <a:lnTo>
                  <a:pt x="0" y="67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MX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9083CABE-21CF-CF4F-8C92-AB7B10F30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1" y="1371600"/>
            <a:ext cx="1158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Disease Y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89B97168-2DA2-5F49-ACB2-1339EEEF2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8" y="1820864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sz="1800" b="0">
                <a:solidFill>
                  <a:srgbClr val="000000"/>
                </a:solidFill>
              </a:rPr>
              <a:t>0.01</a:t>
            </a:r>
          </a:p>
        </p:txBody>
      </p:sp>
      <p:sp>
        <p:nvSpPr>
          <p:cNvPr id="32774" name="Line 6">
            <a:extLst>
              <a:ext uri="{FF2B5EF4-FFF2-40B4-BE49-F238E27FC236}">
                <a16:creationId xmlns:a16="http://schemas.microsoft.com/office/drawing/2014/main" id="{6716AAE0-B0F1-1543-859F-05199BC6E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387600"/>
            <a:ext cx="408463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775" name="Freeform 7">
            <a:extLst>
              <a:ext uri="{FF2B5EF4-FFF2-40B4-BE49-F238E27FC236}">
                <a16:creationId xmlns:a16="http://schemas.microsoft.com/office/drawing/2014/main" id="{C5EBE95F-5557-7342-98CD-DDB33C904D13}"/>
              </a:ext>
            </a:extLst>
          </p:cNvPr>
          <p:cNvSpPr>
            <a:spLocks/>
          </p:cNvSpPr>
          <p:nvPr/>
        </p:nvSpPr>
        <p:spPr bwMode="auto">
          <a:xfrm>
            <a:off x="8123238" y="2281239"/>
            <a:ext cx="203200" cy="212725"/>
          </a:xfrm>
          <a:custGeom>
            <a:avLst/>
            <a:gdLst>
              <a:gd name="T0" fmla="*/ 0 w 128"/>
              <a:gd name="T1" fmla="*/ 168851235 h 134"/>
              <a:gd name="T2" fmla="*/ 322579945 w 128"/>
              <a:gd name="T3" fmla="*/ 0 h 134"/>
              <a:gd name="T4" fmla="*/ 322579945 w 128"/>
              <a:gd name="T5" fmla="*/ 337700883 h 134"/>
              <a:gd name="T6" fmla="*/ 0 w 128"/>
              <a:gd name="T7" fmla="*/ 168851235 h 134"/>
              <a:gd name="T8" fmla="*/ 0 60000 65536"/>
              <a:gd name="T9" fmla="*/ 0 60000 65536"/>
              <a:gd name="T10" fmla="*/ 0 60000 65536"/>
              <a:gd name="T11" fmla="*/ 0 60000 65536"/>
              <a:gd name="T12" fmla="*/ 0 w 128"/>
              <a:gd name="T13" fmla="*/ 0 h 134"/>
              <a:gd name="T14" fmla="*/ 128 w 128"/>
              <a:gd name="T15" fmla="*/ 134 h 1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" h="134">
                <a:moveTo>
                  <a:pt x="0" y="67"/>
                </a:moveTo>
                <a:lnTo>
                  <a:pt x="128" y="0"/>
                </a:lnTo>
                <a:lnTo>
                  <a:pt x="128" y="134"/>
                </a:lnTo>
                <a:lnTo>
                  <a:pt x="0" y="67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MX"/>
          </a:p>
        </p:txBody>
      </p:sp>
      <p:sp>
        <p:nvSpPr>
          <p:cNvPr id="32776" name="Rectangle 8">
            <a:extLst>
              <a:ext uri="{FF2B5EF4-FFF2-40B4-BE49-F238E27FC236}">
                <a16:creationId xmlns:a16="http://schemas.microsoft.com/office/drawing/2014/main" id="{27DB909B-B890-954E-A780-E15B27D89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1" y="1992313"/>
            <a:ext cx="1554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No Disease Y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777" name="Rectangle 9">
            <a:extLst>
              <a:ext uri="{FF2B5EF4-FFF2-40B4-BE49-F238E27FC236}">
                <a16:creationId xmlns:a16="http://schemas.microsoft.com/office/drawing/2014/main" id="{EE9F4B53-75E8-1849-A14A-43FD607A0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8" y="2459039"/>
            <a:ext cx="444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sz="1800" b="0">
                <a:solidFill>
                  <a:srgbClr val="000000"/>
                </a:solidFill>
              </a:rPr>
              <a:t>0.99</a:t>
            </a:r>
          </a:p>
        </p:txBody>
      </p:sp>
      <p:sp>
        <p:nvSpPr>
          <p:cNvPr id="32778" name="Freeform 10">
            <a:extLst>
              <a:ext uri="{FF2B5EF4-FFF2-40B4-BE49-F238E27FC236}">
                <a16:creationId xmlns:a16="http://schemas.microsoft.com/office/drawing/2014/main" id="{C663B2E2-0DE7-F842-A4DD-96316072B1E9}"/>
              </a:ext>
            </a:extLst>
          </p:cNvPr>
          <p:cNvSpPr>
            <a:spLocks/>
          </p:cNvSpPr>
          <p:nvPr/>
        </p:nvSpPr>
        <p:spPr bwMode="auto">
          <a:xfrm>
            <a:off x="3779838" y="1749425"/>
            <a:ext cx="258762" cy="319088"/>
          </a:xfrm>
          <a:custGeom>
            <a:avLst/>
            <a:gdLst>
              <a:gd name="T0" fmla="*/ 0 w 14"/>
              <a:gd name="T1" fmla="*/ 2147483647 h 18"/>
              <a:gd name="T2" fmla="*/ 0 w 14"/>
              <a:gd name="T3" fmla="*/ 0 h 18"/>
              <a:gd name="T4" fmla="*/ 2147483647 w 14"/>
              <a:gd name="T5" fmla="*/ 0 h 18"/>
              <a:gd name="T6" fmla="*/ 0 60000 65536"/>
              <a:gd name="T7" fmla="*/ 0 60000 65536"/>
              <a:gd name="T8" fmla="*/ 0 60000 65536"/>
              <a:gd name="T9" fmla="*/ 0 w 14"/>
              <a:gd name="T10" fmla="*/ 0 h 18"/>
              <a:gd name="T11" fmla="*/ 14 w 14"/>
              <a:gd name="T12" fmla="*/ 18 h 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18">
                <a:moveTo>
                  <a:pt x="0" y="18"/>
                </a:moveTo>
                <a:lnTo>
                  <a:pt x="0" y="0"/>
                </a:lnTo>
                <a:lnTo>
                  <a:pt x="14" y="0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779" name="Freeform 11">
            <a:extLst>
              <a:ext uri="{FF2B5EF4-FFF2-40B4-BE49-F238E27FC236}">
                <a16:creationId xmlns:a16="http://schemas.microsoft.com/office/drawing/2014/main" id="{2ECDDC72-6229-E444-B630-55881FC3BFC3}"/>
              </a:ext>
            </a:extLst>
          </p:cNvPr>
          <p:cNvSpPr>
            <a:spLocks/>
          </p:cNvSpPr>
          <p:nvPr/>
        </p:nvSpPr>
        <p:spPr bwMode="auto">
          <a:xfrm>
            <a:off x="3779838" y="2068514"/>
            <a:ext cx="258762" cy="319087"/>
          </a:xfrm>
          <a:custGeom>
            <a:avLst/>
            <a:gdLst>
              <a:gd name="T0" fmla="*/ 0 w 14"/>
              <a:gd name="T1" fmla="*/ 0 h 18"/>
              <a:gd name="T2" fmla="*/ 0 w 14"/>
              <a:gd name="T3" fmla="*/ 2147483647 h 18"/>
              <a:gd name="T4" fmla="*/ 2147483647 w 14"/>
              <a:gd name="T5" fmla="*/ 2147483647 h 18"/>
              <a:gd name="T6" fmla="*/ 0 60000 65536"/>
              <a:gd name="T7" fmla="*/ 0 60000 65536"/>
              <a:gd name="T8" fmla="*/ 0 60000 65536"/>
              <a:gd name="T9" fmla="*/ 0 w 14"/>
              <a:gd name="T10" fmla="*/ 0 h 18"/>
              <a:gd name="T11" fmla="*/ 14 w 14"/>
              <a:gd name="T12" fmla="*/ 18 h 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18">
                <a:moveTo>
                  <a:pt x="0" y="0"/>
                </a:moveTo>
                <a:lnTo>
                  <a:pt x="0" y="18"/>
                </a:lnTo>
                <a:lnTo>
                  <a:pt x="14" y="18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780" name="Line 12">
            <a:extLst>
              <a:ext uri="{FF2B5EF4-FFF2-40B4-BE49-F238E27FC236}">
                <a16:creationId xmlns:a16="http://schemas.microsoft.com/office/drawing/2014/main" id="{7A58F17A-53E2-C946-9B0E-E724D7BFE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9513" y="2068514"/>
            <a:ext cx="12192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781" name="Oval 13">
            <a:extLst>
              <a:ext uri="{FF2B5EF4-FFF2-40B4-BE49-F238E27FC236}">
                <a16:creationId xmlns:a16="http://schemas.microsoft.com/office/drawing/2014/main" id="{84DEDE3D-DB08-9A4B-8658-BE3E4C0DE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1962151"/>
            <a:ext cx="203200" cy="212725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2782" name="Rectangle 14">
            <a:extLst>
              <a:ext uri="{FF2B5EF4-FFF2-40B4-BE49-F238E27FC236}">
                <a16:creationId xmlns:a16="http://schemas.microsoft.com/office/drawing/2014/main" id="{E022C040-83E0-B841-9418-CD74AD6BF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676400"/>
            <a:ext cx="946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Treat All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783" name="Freeform 15">
            <a:extLst>
              <a:ext uri="{FF2B5EF4-FFF2-40B4-BE49-F238E27FC236}">
                <a16:creationId xmlns:a16="http://schemas.microsoft.com/office/drawing/2014/main" id="{FB4CF0E8-2159-2C42-8F10-5BE3EE437E6B}"/>
              </a:ext>
            </a:extLst>
          </p:cNvPr>
          <p:cNvSpPr>
            <a:spLocks/>
          </p:cNvSpPr>
          <p:nvPr/>
        </p:nvSpPr>
        <p:spPr bwMode="auto">
          <a:xfrm>
            <a:off x="8123238" y="3840164"/>
            <a:ext cx="203200" cy="212725"/>
          </a:xfrm>
          <a:custGeom>
            <a:avLst/>
            <a:gdLst>
              <a:gd name="T0" fmla="*/ 0 w 128"/>
              <a:gd name="T1" fmla="*/ 168851235 h 134"/>
              <a:gd name="T2" fmla="*/ 322579945 w 128"/>
              <a:gd name="T3" fmla="*/ 0 h 134"/>
              <a:gd name="T4" fmla="*/ 322579945 w 128"/>
              <a:gd name="T5" fmla="*/ 337700883 h 134"/>
              <a:gd name="T6" fmla="*/ 0 w 128"/>
              <a:gd name="T7" fmla="*/ 168851235 h 134"/>
              <a:gd name="T8" fmla="*/ 0 60000 65536"/>
              <a:gd name="T9" fmla="*/ 0 60000 65536"/>
              <a:gd name="T10" fmla="*/ 0 60000 65536"/>
              <a:gd name="T11" fmla="*/ 0 60000 65536"/>
              <a:gd name="T12" fmla="*/ 0 w 128"/>
              <a:gd name="T13" fmla="*/ 0 h 134"/>
              <a:gd name="T14" fmla="*/ 128 w 128"/>
              <a:gd name="T15" fmla="*/ 134 h 1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" h="134">
                <a:moveTo>
                  <a:pt x="0" y="67"/>
                </a:moveTo>
                <a:lnTo>
                  <a:pt x="128" y="0"/>
                </a:lnTo>
                <a:lnTo>
                  <a:pt x="128" y="134"/>
                </a:lnTo>
                <a:lnTo>
                  <a:pt x="0" y="67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MX"/>
          </a:p>
        </p:txBody>
      </p:sp>
      <p:sp>
        <p:nvSpPr>
          <p:cNvPr id="32784" name="Rectangle 16">
            <a:extLst>
              <a:ext uri="{FF2B5EF4-FFF2-40B4-BE49-F238E27FC236}">
                <a16:creationId xmlns:a16="http://schemas.microsoft.com/office/drawing/2014/main" id="{F69AE7A3-A07F-7D4F-92B5-A34A3263C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9" y="3581400"/>
            <a:ext cx="1158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Disease Y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785" name="Freeform 17">
            <a:extLst>
              <a:ext uri="{FF2B5EF4-FFF2-40B4-BE49-F238E27FC236}">
                <a16:creationId xmlns:a16="http://schemas.microsoft.com/office/drawing/2014/main" id="{2C07AA24-63BD-FA4E-8081-110E8C8A8A21}"/>
              </a:ext>
            </a:extLst>
          </p:cNvPr>
          <p:cNvSpPr>
            <a:spLocks/>
          </p:cNvSpPr>
          <p:nvPr/>
        </p:nvSpPr>
        <p:spPr bwMode="auto">
          <a:xfrm>
            <a:off x="8097838" y="4572001"/>
            <a:ext cx="203200" cy="212725"/>
          </a:xfrm>
          <a:custGeom>
            <a:avLst/>
            <a:gdLst>
              <a:gd name="T0" fmla="*/ 0 w 128"/>
              <a:gd name="T1" fmla="*/ 168851235 h 134"/>
              <a:gd name="T2" fmla="*/ 322579945 w 128"/>
              <a:gd name="T3" fmla="*/ 0 h 134"/>
              <a:gd name="T4" fmla="*/ 322579945 w 128"/>
              <a:gd name="T5" fmla="*/ 337700883 h 134"/>
              <a:gd name="T6" fmla="*/ 0 w 128"/>
              <a:gd name="T7" fmla="*/ 168851235 h 134"/>
              <a:gd name="T8" fmla="*/ 0 60000 65536"/>
              <a:gd name="T9" fmla="*/ 0 60000 65536"/>
              <a:gd name="T10" fmla="*/ 0 60000 65536"/>
              <a:gd name="T11" fmla="*/ 0 60000 65536"/>
              <a:gd name="T12" fmla="*/ 0 w 128"/>
              <a:gd name="T13" fmla="*/ 0 h 134"/>
              <a:gd name="T14" fmla="*/ 128 w 128"/>
              <a:gd name="T15" fmla="*/ 134 h 1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" h="134">
                <a:moveTo>
                  <a:pt x="0" y="67"/>
                </a:moveTo>
                <a:lnTo>
                  <a:pt x="128" y="0"/>
                </a:lnTo>
                <a:lnTo>
                  <a:pt x="128" y="134"/>
                </a:lnTo>
                <a:lnTo>
                  <a:pt x="0" y="67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MX"/>
          </a:p>
        </p:txBody>
      </p:sp>
      <p:sp>
        <p:nvSpPr>
          <p:cNvPr id="32786" name="Rectangle 18">
            <a:extLst>
              <a:ext uri="{FF2B5EF4-FFF2-40B4-BE49-F238E27FC236}">
                <a16:creationId xmlns:a16="http://schemas.microsoft.com/office/drawing/2014/main" id="{37EB843E-D4A2-DE4A-99A8-2A0D41867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4267200"/>
            <a:ext cx="1554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No Disease Y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787" name="Freeform 19">
            <a:extLst>
              <a:ext uri="{FF2B5EF4-FFF2-40B4-BE49-F238E27FC236}">
                <a16:creationId xmlns:a16="http://schemas.microsoft.com/office/drawing/2014/main" id="{958CA675-234A-A94A-8F42-3BEA59CB0195}"/>
              </a:ext>
            </a:extLst>
          </p:cNvPr>
          <p:cNvSpPr>
            <a:spLocks/>
          </p:cNvSpPr>
          <p:nvPr/>
        </p:nvSpPr>
        <p:spPr bwMode="auto">
          <a:xfrm>
            <a:off x="6269038" y="3962400"/>
            <a:ext cx="228600" cy="304800"/>
          </a:xfrm>
          <a:custGeom>
            <a:avLst/>
            <a:gdLst>
              <a:gd name="T0" fmla="*/ 0 w 14"/>
              <a:gd name="T1" fmla="*/ 2147483647 h 18"/>
              <a:gd name="T2" fmla="*/ 0 w 14"/>
              <a:gd name="T3" fmla="*/ 0 h 18"/>
              <a:gd name="T4" fmla="*/ 2147483647 w 14"/>
              <a:gd name="T5" fmla="*/ 0 h 18"/>
              <a:gd name="T6" fmla="*/ 0 60000 65536"/>
              <a:gd name="T7" fmla="*/ 0 60000 65536"/>
              <a:gd name="T8" fmla="*/ 0 60000 65536"/>
              <a:gd name="T9" fmla="*/ 0 w 14"/>
              <a:gd name="T10" fmla="*/ 0 h 18"/>
              <a:gd name="T11" fmla="*/ 14 w 14"/>
              <a:gd name="T12" fmla="*/ 18 h 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18">
                <a:moveTo>
                  <a:pt x="0" y="18"/>
                </a:moveTo>
                <a:lnTo>
                  <a:pt x="0" y="0"/>
                </a:lnTo>
                <a:lnTo>
                  <a:pt x="14" y="0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788" name="Freeform 20">
            <a:extLst>
              <a:ext uri="{FF2B5EF4-FFF2-40B4-BE49-F238E27FC236}">
                <a16:creationId xmlns:a16="http://schemas.microsoft.com/office/drawing/2014/main" id="{1B68CF0C-2DF2-884E-8955-D647764FA75E}"/>
              </a:ext>
            </a:extLst>
          </p:cNvPr>
          <p:cNvSpPr>
            <a:spLocks/>
          </p:cNvSpPr>
          <p:nvPr/>
        </p:nvSpPr>
        <p:spPr bwMode="auto">
          <a:xfrm>
            <a:off x="6269038" y="4267200"/>
            <a:ext cx="228600" cy="381000"/>
          </a:xfrm>
          <a:custGeom>
            <a:avLst/>
            <a:gdLst>
              <a:gd name="T0" fmla="*/ 0 w 14"/>
              <a:gd name="T1" fmla="*/ 0 h 18"/>
              <a:gd name="T2" fmla="*/ 0 w 14"/>
              <a:gd name="T3" fmla="*/ 2147483647 h 18"/>
              <a:gd name="T4" fmla="*/ 2147483647 w 14"/>
              <a:gd name="T5" fmla="*/ 2147483647 h 18"/>
              <a:gd name="T6" fmla="*/ 0 60000 65536"/>
              <a:gd name="T7" fmla="*/ 0 60000 65536"/>
              <a:gd name="T8" fmla="*/ 0 60000 65536"/>
              <a:gd name="T9" fmla="*/ 0 w 14"/>
              <a:gd name="T10" fmla="*/ 0 h 18"/>
              <a:gd name="T11" fmla="*/ 14 w 14"/>
              <a:gd name="T12" fmla="*/ 18 h 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18">
                <a:moveTo>
                  <a:pt x="0" y="0"/>
                </a:moveTo>
                <a:lnTo>
                  <a:pt x="0" y="18"/>
                </a:lnTo>
                <a:lnTo>
                  <a:pt x="14" y="18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789" name="Oval 21">
            <a:extLst>
              <a:ext uri="{FF2B5EF4-FFF2-40B4-BE49-F238E27FC236}">
                <a16:creationId xmlns:a16="http://schemas.microsoft.com/office/drawing/2014/main" id="{7E59AAB3-DBDB-474B-9159-CF95FDAA2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4191001"/>
            <a:ext cx="203200" cy="212725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2790" name="Rectangle 22">
            <a:extLst>
              <a:ext uri="{FF2B5EF4-FFF2-40B4-BE49-F238E27FC236}">
                <a16:creationId xmlns:a16="http://schemas.microsoft.com/office/drawing/2014/main" id="{0722A724-8420-4C49-A0C3-899829E13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3886200"/>
            <a:ext cx="1758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Test  -/ No treat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791" name="Freeform 23">
            <a:extLst>
              <a:ext uri="{FF2B5EF4-FFF2-40B4-BE49-F238E27FC236}">
                <a16:creationId xmlns:a16="http://schemas.microsoft.com/office/drawing/2014/main" id="{05F55DCC-DCF9-3944-B2BD-D8FDC9920DCE}"/>
              </a:ext>
            </a:extLst>
          </p:cNvPr>
          <p:cNvSpPr>
            <a:spLocks/>
          </p:cNvSpPr>
          <p:nvPr/>
        </p:nvSpPr>
        <p:spPr bwMode="auto">
          <a:xfrm>
            <a:off x="3830638" y="3200400"/>
            <a:ext cx="207962" cy="554038"/>
          </a:xfrm>
          <a:custGeom>
            <a:avLst/>
            <a:gdLst>
              <a:gd name="T0" fmla="*/ 0 w 14"/>
              <a:gd name="T1" fmla="*/ 2147483647 h 26"/>
              <a:gd name="T2" fmla="*/ 0 w 14"/>
              <a:gd name="T3" fmla="*/ 0 h 26"/>
              <a:gd name="T4" fmla="*/ 2147483647 w 14"/>
              <a:gd name="T5" fmla="*/ 0 h 26"/>
              <a:gd name="T6" fmla="*/ 0 60000 65536"/>
              <a:gd name="T7" fmla="*/ 0 60000 65536"/>
              <a:gd name="T8" fmla="*/ 0 60000 65536"/>
              <a:gd name="T9" fmla="*/ 0 w 14"/>
              <a:gd name="T10" fmla="*/ 0 h 26"/>
              <a:gd name="T11" fmla="*/ 14 w 14"/>
              <a:gd name="T12" fmla="*/ 26 h 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26">
                <a:moveTo>
                  <a:pt x="0" y="26"/>
                </a:moveTo>
                <a:lnTo>
                  <a:pt x="0" y="0"/>
                </a:lnTo>
                <a:lnTo>
                  <a:pt x="14" y="0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792" name="Freeform 24">
            <a:extLst>
              <a:ext uri="{FF2B5EF4-FFF2-40B4-BE49-F238E27FC236}">
                <a16:creationId xmlns:a16="http://schemas.microsoft.com/office/drawing/2014/main" id="{8277F8A1-E246-A248-924C-29EB835098FB}"/>
              </a:ext>
            </a:extLst>
          </p:cNvPr>
          <p:cNvSpPr>
            <a:spLocks/>
          </p:cNvSpPr>
          <p:nvPr/>
        </p:nvSpPr>
        <p:spPr bwMode="auto">
          <a:xfrm>
            <a:off x="3830638" y="3754438"/>
            <a:ext cx="207962" cy="512762"/>
          </a:xfrm>
          <a:custGeom>
            <a:avLst/>
            <a:gdLst>
              <a:gd name="T0" fmla="*/ 0 w 14"/>
              <a:gd name="T1" fmla="*/ 0 h 27"/>
              <a:gd name="T2" fmla="*/ 0 w 14"/>
              <a:gd name="T3" fmla="*/ 2147483647 h 27"/>
              <a:gd name="T4" fmla="*/ 2147483647 w 14"/>
              <a:gd name="T5" fmla="*/ 2147483647 h 27"/>
              <a:gd name="T6" fmla="*/ 0 60000 65536"/>
              <a:gd name="T7" fmla="*/ 0 60000 65536"/>
              <a:gd name="T8" fmla="*/ 0 60000 65536"/>
              <a:gd name="T9" fmla="*/ 0 w 14"/>
              <a:gd name="T10" fmla="*/ 0 h 27"/>
              <a:gd name="T11" fmla="*/ 14 w 14"/>
              <a:gd name="T12" fmla="*/ 27 h 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27">
                <a:moveTo>
                  <a:pt x="0" y="0"/>
                </a:moveTo>
                <a:lnTo>
                  <a:pt x="0" y="27"/>
                </a:lnTo>
                <a:lnTo>
                  <a:pt x="14" y="27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793" name="Line 25">
            <a:extLst>
              <a:ext uri="{FF2B5EF4-FFF2-40B4-BE49-F238E27FC236}">
                <a16:creationId xmlns:a16="http://schemas.microsoft.com/office/drawing/2014/main" id="{EB9F4957-FFDC-F449-AA00-1DF18F7BB3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9513" y="3754439"/>
            <a:ext cx="12192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794" name="Oval 26">
            <a:extLst>
              <a:ext uri="{FF2B5EF4-FFF2-40B4-BE49-F238E27FC236}">
                <a16:creationId xmlns:a16="http://schemas.microsoft.com/office/drawing/2014/main" id="{59A197AE-7AA9-5E49-BD95-73AFC57AA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3648076"/>
            <a:ext cx="203200" cy="212725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2795" name="Rectangle 27">
            <a:extLst>
              <a:ext uri="{FF2B5EF4-FFF2-40B4-BE49-F238E27FC236}">
                <a16:creationId xmlns:a16="http://schemas.microsoft.com/office/drawing/2014/main" id="{4C8D150E-98C1-FC4A-ADF3-9C03456DC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352800"/>
            <a:ext cx="704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Test 1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796" name="Line 28">
            <a:extLst>
              <a:ext uri="{FF2B5EF4-FFF2-40B4-BE49-F238E27FC236}">
                <a16:creationId xmlns:a16="http://schemas.microsoft.com/office/drawing/2014/main" id="{F715FC68-CDA5-1547-96DF-24FA819F7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5191125"/>
            <a:ext cx="408463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797" name="Freeform 29">
            <a:extLst>
              <a:ext uri="{FF2B5EF4-FFF2-40B4-BE49-F238E27FC236}">
                <a16:creationId xmlns:a16="http://schemas.microsoft.com/office/drawing/2014/main" id="{5ACAAFB0-D010-684F-B819-9E714BE3DE3D}"/>
              </a:ext>
            </a:extLst>
          </p:cNvPr>
          <p:cNvSpPr>
            <a:spLocks/>
          </p:cNvSpPr>
          <p:nvPr/>
        </p:nvSpPr>
        <p:spPr bwMode="auto">
          <a:xfrm>
            <a:off x="8123238" y="5084764"/>
            <a:ext cx="203200" cy="212725"/>
          </a:xfrm>
          <a:custGeom>
            <a:avLst/>
            <a:gdLst>
              <a:gd name="T0" fmla="*/ 0 w 128"/>
              <a:gd name="T1" fmla="*/ 168851235 h 134"/>
              <a:gd name="T2" fmla="*/ 322579945 w 128"/>
              <a:gd name="T3" fmla="*/ 0 h 134"/>
              <a:gd name="T4" fmla="*/ 322579945 w 128"/>
              <a:gd name="T5" fmla="*/ 337700883 h 134"/>
              <a:gd name="T6" fmla="*/ 0 w 128"/>
              <a:gd name="T7" fmla="*/ 168851235 h 134"/>
              <a:gd name="T8" fmla="*/ 0 60000 65536"/>
              <a:gd name="T9" fmla="*/ 0 60000 65536"/>
              <a:gd name="T10" fmla="*/ 0 60000 65536"/>
              <a:gd name="T11" fmla="*/ 0 60000 65536"/>
              <a:gd name="T12" fmla="*/ 0 w 128"/>
              <a:gd name="T13" fmla="*/ 0 h 134"/>
              <a:gd name="T14" fmla="*/ 128 w 128"/>
              <a:gd name="T15" fmla="*/ 134 h 1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" h="134">
                <a:moveTo>
                  <a:pt x="0" y="67"/>
                </a:moveTo>
                <a:lnTo>
                  <a:pt x="128" y="0"/>
                </a:lnTo>
                <a:lnTo>
                  <a:pt x="128" y="134"/>
                </a:lnTo>
                <a:lnTo>
                  <a:pt x="0" y="67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MX"/>
          </a:p>
        </p:txBody>
      </p:sp>
      <p:sp>
        <p:nvSpPr>
          <p:cNvPr id="32798" name="Rectangle 30">
            <a:extLst>
              <a:ext uri="{FF2B5EF4-FFF2-40B4-BE49-F238E27FC236}">
                <a16:creationId xmlns:a16="http://schemas.microsoft.com/office/drawing/2014/main" id="{B8737F4C-E52C-7447-8FA4-13A8907CF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1" y="4800600"/>
            <a:ext cx="1158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Disease Y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799" name="Rectangle 31">
            <a:extLst>
              <a:ext uri="{FF2B5EF4-FFF2-40B4-BE49-F238E27FC236}">
                <a16:creationId xmlns:a16="http://schemas.microsoft.com/office/drawing/2014/main" id="{0C1946AF-08F2-AF4E-AA25-77186EB01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8" y="5245100"/>
            <a:ext cx="444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sz="1800" b="0">
                <a:solidFill>
                  <a:srgbClr val="000000"/>
                </a:solidFill>
              </a:rPr>
              <a:t>0.01</a:t>
            </a:r>
          </a:p>
        </p:txBody>
      </p:sp>
      <p:sp>
        <p:nvSpPr>
          <p:cNvPr id="32800" name="Line 32">
            <a:extLst>
              <a:ext uri="{FF2B5EF4-FFF2-40B4-BE49-F238E27FC236}">
                <a16:creationId xmlns:a16="http://schemas.microsoft.com/office/drawing/2014/main" id="{B44178B1-24A2-7648-B573-00EF5A10E4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5811839"/>
            <a:ext cx="408463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01" name="Freeform 33">
            <a:extLst>
              <a:ext uri="{FF2B5EF4-FFF2-40B4-BE49-F238E27FC236}">
                <a16:creationId xmlns:a16="http://schemas.microsoft.com/office/drawing/2014/main" id="{5EA9174B-B214-AC44-81BF-D7A7D3E82EC8}"/>
              </a:ext>
            </a:extLst>
          </p:cNvPr>
          <p:cNvSpPr>
            <a:spLocks/>
          </p:cNvSpPr>
          <p:nvPr/>
        </p:nvSpPr>
        <p:spPr bwMode="auto">
          <a:xfrm>
            <a:off x="8123238" y="5705476"/>
            <a:ext cx="203200" cy="212725"/>
          </a:xfrm>
          <a:custGeom>
            <a:avLst/>
            <a:gdLst>
              <a:gd name="T0" fmla="*/ 0 w 128"/>
              <a:gd name="T1" fmla="*/ 168851235 h 134"/>
              <a:gd name="T2" fmla="*/ 322579945 w 128"/>
              <a:gd name="T3" fmla="*/ 0 h 134"/>
              <a:gd name="T4" fmla="*/ 322579945 w 128"/>
              <a:gd name="T5" fmla="*/ 337700883 h 134"/>
              <a:gd name="T6" fmla="*/ 0 w 128"/>
              <a:gd name="T7" fmla="*/ 168851235 h 134"/>
              <a:gd name="T8" fmla="*/ 0 60000 65536"/>
              <a:gd name="T9" fmla="*/ 0 60000 65536"/>
              <a:gd name="T10" fmla="*/ 0 60000 65536"/>
              <a:gd name="T11" fmla="*/ 0 60000 65536"/>
              <a:gd name="T12" fmla="*/ 0 w 128"/>
              <a:gd name="T13" fmla="*/ 0 h 134"/>
              <a:gd name="T14" fmla="*/ 128 w 128"/>
              <a:gd name="T15" fmla="*/ 134 h 1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" h="134">
                <a:moveTo>
                  <a:pt x="0" y="67"/>
                </a:moveTo>
                <a:lnTo>
                  <a:pt x="128" y="0"/>
                </a:lnTo>
                <a:lnTo>
                  <a:pt x="128" y="134"/>
                </a:lnTo>
                <a:lnTo>
                  <a:pt x="0" y="67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MX"/>
          </a:p>
        </p:txBody>
      </p:sp>
      <p:sp>
        <p:nvSpPr>
          <p:cNvPr id="32802" name="Rectangle 34">
            <a:extLst>
              <a:ext uri="{FF2B5EF4-FFF2-40B4-BE49-F238E27FC236}">
                <a16:creationId xmlns:a16="http://schemas.microsoft.com/office/drawing/2014/main" id="{53C827E5-5DED-6147-85ED-89E154421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1" y="5421313"/>
            <a:ext cx="1554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No Disease Y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803" name="Rectangle 35">
            <a:extLst>
              <a:ext uri="{FF2B5EF4-FFF2-40B4-BE49-F238E27FC236}">
                <a16:creationId xmlns:a16="http://schemas.microsoft.com/office/drawing/2014/main" id="{F63BC118-49D5-3046-B0CA-D9567AB03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8" y="5883275"/>
            <a:ext cx="444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sz="1800" b="0">
                <a:solidFill>
                  <a:srgbClr val="000000"/>
                </a:solidFill>
              </a:rPr>
              <a:t>0.99</a:t>
            </a:r>
          </a:p>
        </p:txBody>
      </p:sp>
      <p:sp>
        <p:nvSpPr>
          <p:cNvPr id="32804" name="Freeform 36">
            <a:extLst>
              <a:ext uri="{FF2B5EF4-FFF2-40B4-BE49-F238E27FC236}">
                <a16:creationId xmlns:a16="http://schemas.microsoft.com/office/drawing/2014/main" id="{9B29A6D5-A52C-3D4F-AE14-6F5AB6139D67}"/>
              </a:ext>
            </a:extLst>
          </p:cNvPr>
          <p:cNvSpPr>
            <a:spLocks/>
          </p:cNvSpPr>
          <p:nvPr/>
        </p:nvSpPr>
        <p:spPr bwMode="auto">
          <a:xfrm>
            <a:off x="3779838" y="5191126"/>
            <a:ext cx="258762" cy="301625"/>
          </a:xfrm>
          <a:custGeom>
            <a:avLst/>
            <a:gdLst>
              <a:gd name="T0" fmla="*/ 0 w 14"/>
              <a:gd name="T1" fmla="*/ 2147483647 h 17"/>
              <a:gd name="T2" fmla="*/ 0 w 14"/>
              <a:gd name="T3" fmla="*/ 0 h 17"/>
              <a:gd name="T4" fmla="*/ 2147483647 w 14"/>
              <a:gd name="T5" fmla="*/ 0 h 17"/>
              <a:gd name="T6" fmla="*/ 0 60000 65536"/>
              <a:gd name="T7" fmla="*/ 0 60000 65536"/>
              <a:gd name="T8" fmla="*/ 0 60000 65536"/>
              <a:gd name="T9" fmla="*/ 0 w 14"/>
              <a:gd name="T10" fmla="*/ 0 h 17"/>
              <a:gd name="T11" fmla="*/ 14 w 14"/>
              <a:gd name="T12" fmla="*/ 17 h 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17">
                <a:moveTo>
                  <a:pt x="0" y="17"/>
                </a:moveTo>
                <a:lnTo>
                  <a:pt x="0" y="0"/>
                </a:lnTo>
                <a:lnTo>
                  <a:pt x="14" y="0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05" name="Freeform 37">
            <a:extLst>
              <a:ext uri="{FF2B5EF4-FFF2-40B4-BE49-F238E27FC236}">
                <a16:creationId xmlns:a16="http://schemas.microsoft.com/office/drawing/2014/main" id="{D0847CAC-E2AC-DB4E-9494-8AC971B9BE11}"/>
              </a:ext>
            </a:extLst>
          </p:cNvPr>
          <p:cNvSpPr>
            <a:spLocks/>
          </p:cNvSpPr>
          <p:nvPr/>
        </p:nvSpPr>
        <p:spPr bwMode="auto">
          <a:xfrm>
            <a:off x="3779838" y="5492750"/>
            <a:ext cx="258762" cy="319088"/>
          </a:xfrm>
          <a:custGeom>
            <a:avLst/>
            <a:gdLst>
              <a:gd name="T0" fmla="*/ 0 w 14"/>
              <a:gd name="T1" fmla="*/ 0 h 18"/>
              <a:gd name="T2" fmla="*/ 0 w 14"/>
              <a:gd name="T3" fmla="*/ 2147483647 h 18"/>
              <a:gd name="T4" fmla="*/ 2147483647 w 14"/>
              <a:gd name="T5" fmla="*/ 2147483647 h 18"/>
              <a:gd name="T6" fmla="*/ 0 60000 65536"/>
              <a:gd name="T7" fmla="*/ 0 60000 65536"/>
              <a:gd name="T8" fmla="*/ 0 60000 65536"/>
              <a:gd name="T9" fmla="*/ 0 w 14"/>
              <a:gd name="T10" fmla="*/ 0 h 18"/>
              <a:gd name="T11" fmla="*/ 14 w 14"/>
              <a:gd name="T12" fmla="*/ 18 h 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18">
                <a:moveTo>
                  <a:pt x="0" y="0"/>
                </a:moveTo>
                <a:lnTo>
                  <a:pt x="0" y="18"/>
                </a:lnTo>
                <a:lnTo>
                  <a:pt x="14" y="18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06" name="Line 38">
            <a:extLst>
              <a:ext uri="{FF2B5EF4-FFF2-40B4-BE49-F238E27FC236}">
                <a16:creationId xmlns:a16="http://schemas.microsoft.com/office/drawing/2014/main" id="{42D6257E-17C7-6F4F-B613-35704BB6E9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9513" y="5492750"/>
            <a:ext cx="12192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07" name="Oval 39">
            <a:extLst>
              <a:ext uri="{FF2B5EF4-FFF2-40B4-BE49-F238E27FC236}">
                <a16:creationId xmlns:a16="http://schemas.microsoft.com/office/drawing/2014/main" id="{4C44A1EF-3EDC-2347-B0FF-B4120E67A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5386389"/>
            <a:ext cx="203200" cy="212725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2808" name="Rectangle 40">
            <a:extLst>
              <a:ext uri="{FF2B5EF4-FFF2-40B4-BE49-F238E27FC236}">
                <a16:creationId xmlns:a16="http://schemas.microsoft.com/office/drawing/2014/main" id="{353C10B6-02A3-3D4E-AEC6-EF582EFE5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105400"/>
            <a:ext cx="1270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Treat None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809" name="Freeform 41">
            <a:extLst>
              <a:ext uri="{FF2B5EF4-FFF2-40B4-BE49-F238E27FC236}">
                <a16:creationId xmlns:a16="http://schemas.microsoft.com/office/drawing/2014/main" id="{4D8F2075-C181-8149-B170-C444D87E4AB0}"/>
              </a:ext>
            </a:extLst>
          </p:cNvPr>
          <p:cNvSpPr>
            <a:spLocks/>
          </p:cNvSpPr>
          <p:nvPr/>
        </p:nvSpPr>
        <p:spPr bwMode="auto">
          <a:xfrm>
            <a:off x="2189163" y="2068513"/>
            <a:ext cx="260350" cy="1720850"/>
          </a:xfrm>
          <a:custGeom>
            <a:avLst/>
            <a:gdLst>
              <a:gd name="T0" fmla="*/ 0 w 14"/>
              <a:gd name="T1" fmla="*/ 2147483647 h 97"/>
              <a:gd name="T2" fmla="*/ 0 w 14"/>
              <a:gd name="T3" fmla="*/ 0 h 97"/>
              <a:gd name="T4" fmla="*/ 2147483647 w 14"/>
              <a:gd name="T5" fmla="*/ 0 h 97"/>
              <a:gd name="T6" fmla="*/ 0 60000 65536"/>
              <a:gd name="T7" fmla="*/ 0 60000 65536"/>
              <a:gd name="T8" fmla="*/ 0 60000 65536"/>
              <a:gd name="T9" fmla="*/ 0 w 14"/>
              <a:gd name="T10" fmla="*/ 0 h 97"/>
              <a:gd name="T11" fmla="*/ 14 w 14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97">
                <a:moveTo>
                  <a:pt x="0" y="97"/>
                </a:moveTo>
                <a:lnTo>
                  <a:pt x="0" y="0"/>
                </a:lnTo>
                <a:lnTo>
                  <a:pt x="14" y="0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10" name="Freeform 42">
            <a:extLst>
              <a:ext uri="{FF2B5EF4-FFF2-40B4-BE49-F238E27FC236}">
                <a16:creationId xmlns:a16="http://schemas.microsoft.com/office/drawing/2014/main" id="{495169FF-3E4A-A742-8371-CE900BB91D26}"/>
              </a:ext>
            </a:extLst>
          </p:cNvPr>
          <p:cNvSpPr>
            <a:spLocks/>
          </p:cNvSpPr>
          <p:nvPr/>
        </p:nvSpPr>
        <p:spPr bwMode="auto">
          <a:xfrm>
            <a:off x="2189163" y="3754439"/>
            <a:ext cx="260350" cy="34925"/>
          </a:xfrm>
          <a:custGeom>
            <a:avLst/>
            <a:gdLst>
              <a:gd name="T0" fmla="*/ 0 w 14"/>
              <a:gd name="T1" fmla="*/ 609877795 h 2"/>
              <a:gd name="T2" fmla="*/ 0 w 14"/>
              <a:gd name="T3" fmla="*/ 0 h 2"/>
              <a:gd name="T4" fmla="*/ 2147483647 w 14"/>
              <a:gd name="T5" fmla="*/ 0 h 2"/>
              <a:gd name="T6" fmla="*/ 0 60000 65536"/>
              <a:gd name="T7" fmla="*/ 0 60000 65536"/>
              <a:gd name="T8" fmla="*/ 0 60000 65536"/>
              <a:gd name="T9" fmla="*/ 0 w 14"/>
              <a:gd name="T10" fmla="*/ 0 h 2"/>
              <a:gd name="T11" fmla="*/ 14 w 14"/>
              <a:gd name="T12" fmla="*/ 2 h 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2">
                <a:moveTo>
                  <a:pt x="0" y="2"/>
                </a:moveTo>
                <a:lnTo>
                  <a:pt x="0" y="0"/>
                </a:lnTo>
                <a:lnTo>
                  <a:pt x="14" y="0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11" name="Freeform 43">
            <a:extLst>
              <a:ext uri="{FF2B5EF4-FFF2-40B4-BE49-F238E27FC236}">
                <a16:creationId xmlns:a16="http://schemas.microsoft.com/office/drawing/2014/main" id="{ECD5641D-2E47-AA4A-AFA2-92FF931EA39C}"/>
              </a:ext>
            </a:extLst>
          </p:cNvPr>
          <p:cNvSpPr>
            <a:spLocks/>
          </p:cNvSpPr>
          <p:nvPr/>
        </p:nvSpPr>
        <p:spPr bwMode="auto">
          <a:xfrm>
            <a:off x="2189163" y="3789364"/>
            <a:ext cx="260350" cy="1703387"/>
          </a:xfrm>
          <a:custGeom>
            <a:avLst/>
            <a:gdLst>
              <a:gd name="T0" fmla="*/ 0 w 14"/>
              <a:gd name="T1" fmla="*/ 0 h 96"/>
              <a:gd name="T2" fmla="*/ 0 w 14"/>
              <a:gd name="T3" fmla="*/ 2147483647 h 96"/>
              <a:gd name="T4" fmla="*/ 2147483647 w 14"/>
              <a:gd name="T5" fmla="*/ 2147483647 h 96"/>
              <a:gd name="T6" fmla="*/ 0 60000 65536"/>
              <a:gd name="T7" fmla="*/ 0 60000 65536"/>
              <a:gd name="T8" fmla="*/ 0 60000 65536"/>
              <a:gd name="T9" fmla="*/ 0 w 14"/>
              <a:gd name="T10" fmla="*/ 0 h 96"/>
              <a:gd name="T11" fmla="*/ 14 w 14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96">
                <a:moveTo>
                  <a:pt x="0" y="0"/>
                </a:moveTo>
                <a:lnTo>
                  <a:pt x="0" y="96"/>
                </a:lnTo>
                <a:lnTo>
                  <a:pt x="14" y="96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12" name="Rectangle 44">
            <a:extLst>
              <a:ext uri="{FF2B5EF4-FFF2-40B4-BE49-F238E27FC236}">
                <a16:creationId xmlns:a16="http://schemas.microsoft.com/office/drawing/2014/main" id="{6045E9F8-3B26-3E4E-B9F0-3435FE558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63" y="3683001"/>
            <a:ext cx="203200" cy="2127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2813" name="Line 45">
            <a:extLst>
              <a:ext uri="{FF2B5EF4-FFF2-40B4-BE49-F238E27FC236}">
                <a16:creationId xmlns:a16="http://schemas.microsoft.com/office/drawing/2014/main" id="{37AB0CCF-A5EE-2D4C-A430-47A24384C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3038" y="4267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14" name="Freeform 46">
            <a:extLst>
              <a:ext uri="{FF2B5EF4-FFF2-40B4-BE49-F238E27FC236}">
                <a16:creationId xmlns:a16="http://schemas.microsoft.com/office/drawing/2014/main" id="{A503AAD8-8905-E647-A9BC-2CCF73B4F693}"/>
              </a:ext>
            </a:extLst>
          </p:cNvPr>
          <p:cNvSpPr>
            <a:spLocks/>
          </p:cNvSpPr>
          <p:nvPr/>
        </p:nvSpPr>
        <p:spPr bwMode="auto">
          <a:xfrm>
            <a:off x="8123238" y="2773364"/>
            <a:ext cx="203200" cy="212725"/>
          </a:xfrm>
          <a:custGeom>
            <a:avLst/>
            <a:gdLst>
              <a:gd name="T0" fmla="*/ 0 w 128"/>
              <a:gd name="T1" fmla="*/ 168851235 h 134"/>
              <a:gd name="T2" fmla="*/ 322579945 w 128"/>
              <a:gd name="T3" fmla="*/ 0 h 134"/>
              <a:gd name="T4" fmla="*/ 322579945 w 128"/>
              <a:gd name="T5" fmla="*/ 337700883 h 134"/>
              <a:gd name="T6" fmla="*/ 0 w 128"/>
              <a:gd name="T7" fmla="*/ 168851235 h 134"/>
              <a:gd name="T8" fmla="*/ 0 60000 65536"/>
              <a:gd name="T9" fmla="*/ 0 60000 65536"/>
              <a:gd name="T10" fmla="*/ 0 60000 65536"/>
              <a:gd name="T11" fmla="*/ 0 60000 65536"/>
              <a:gd name="T12" fmla="*/ 0 w 128"/>
              <a:gd name="T13" fmla="*/ 0 h 134"/>
              <a:gd name="T14" fmla="*/ 128 w 128"/>
              <a:gd name="T15" fmla="*/ 134 h 1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" h="134">
                <a:moveTo>
                  <a:pt x="0" y="67"/>
                </a:moveTo>
                <a:lnTo>
                  <a:pt x="128" y="0"/>
                </a:lnTo>
                <a:lnTo>
                  <a:pt x="128" y="134"/>
                </a:lnTo>
                <a:lnTo>
                  <a:pt x="0" y="67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MX"/>
          </a:p>
        </p:txBody>
      </p:sp>
      <p:sp>
        <p:nvSpPr>
          <p:cNvPr id="32815" name="Rectangle 47">
            <a:extLst>
              <a:ext uri="{FF2B5EF4-FFF2-40B4-BE49-F238E27FC236}">
                <a16:creationId xmlns:a16="http://schemas.microsoft.com/office/drawing/2014/main" id="{C204993B-A746-7E42-9DB0-C9F766063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9" y="2514600"/>
            <a:ext cx="1158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Disease Y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816" name="Freeform 48">
            <a:extLst>
              <a:ext uri="{FF2B5EF4-FFF2-40B4-BE49-F238E27FC236}">
                <a16:creationId xmlns:a16="http://schemas.microsoft.com/office/drawing/2014/main" id="{1782A5C4-CB6E-1346-BA6C-57455DA9BB1A}"/>
              </a:ext>
            </a:extLst>
          </p:cNvPr>
          <p:cNvSpPr>
            <a:spLocks/>
          </p:cNvSpPr>
          <p:nvPr/>
        </p:nvSpPr>
        <p:spPr bwMode="auto">
          <a:xfrm>
            <a:off x="8123238" y="3413126"/>
            <a:ext cx="203200" cy="212725"/>
          </a:xfrm>
          <a:custGeom>
            <a:avLst/>
            <a:gdLst>
              <a:gd name="T0" fmla="*/ 0 w 128"/>
              <a:gd name="T1" fmla="*/ 168851235 h 134"/>
              <a:gd name="T2" fmla="*/ 322579945 w 128"/>
              <a:gd name="T3" fmla="*/ 0 h 134"/>
              <a:gd name="T4" fmla="*/ 322579945 w 128"/>
              <a:gd name="T5" fmla="*/ 337700883 h 134"/>
              <a:gd name="T6" fmla="*/ 0 w 128"/>
              <a:gd name="T7" fmla="*/ 168851235 h 134"/>
              <a:gd name="T8" fmla="*/ 0 60000 65536"/>
              <a:gd name="T9" fmla="*/ 0 60000 65536"/>
              <a:gd name="T10" fmla="*/ 0 60000 65536"/>
              <a:gd name="T11" fmla="*/ 0 60000 65536"/>
              <a:gd name="T12" fmla="*/ 0 w 128"/>
              <a:gd name="T13" fmla="*/ 0 h 134"/>
              <a:gd name="T14" fmla="*/ 128 w 128"/>
              <a:gd name="T15" fmla="*/ 134 h 1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" h="134">
                <a:moveTo>
                  <a:pt x="0" y="67"/>
                </a:moveTo>
                <a:lnTo>
                  <a:pt x="128" y="0"/>
                </a:lnTo>
                <a:lnTo>
                  <a:pt x="128" y="134"/>
                </a:lnTo>
                <a:lnTo>
                  <a:pt x="0" y="67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MX"/>
          </a:p>
        </p:txBody>
      </p:sp>
      <p:sp>
        <p:nvSpPr>
          <p:cNvPr id="32817" name="Rectangle 49">
            <a:extLst>
              <a:ext uri="{FF2B5EF4-FFF2-40B4-BE49-F238E27FC236}">
                <a16:creationId xmlns:a16="http://schemas.microsoft.com/office/drawing/2014/main" id="{A125DED1-275E-3E4F-96DE-17C068BEE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154363"/>
            <a:ext cx="1554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No Disease Y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818" name="Freeform 50">
            <a:extLst>
              <a:ext uri="{FF2B5EF4-FFF2-40B4-BE49-F238E27FC236}">
                <a16:creationId xmlns:a16="http://schemas.microsoft.com/office/drawing/2014/main" id="{278ECB6B-9BEA-F444-9746-BAE73B742B36}"/>
              </a:ext>
            </a:extLst>
          </p:cNvPr>
          <p:cNvSpPr>
            <a:spLocks/>
          </p:cNvSpPr>
          <p:nvPr/>
        </p:nvSpPr>
        <p:spPr bwMode="auto">
          <a:xfrm>
            <a:off x="6192838" y="2895600"/>
            <a:ext cx="304800" cy="304800"/>
          </a:xfrm>
          <a:custGeom>
            <a:avLst/>
            <a:gdLst>
              <a:gd name="T0" fmla="*/ 0 w 14"/>
              <a:gd name="T1" fmla="*/ 2147483647 h 18"/>
              <a:gd name="T2" fmla="*/ 0 w 14"/>
              <a:gd name="T3" fmla="*/ 0 h 18"/>
              <a:gd name="T4" fmla="*/ 2147483647 w 14"/>
              <a:gd name="T5" fmla="*/ 0 h 18"/>
              <a:gd name="T6" fmla="*/ 0 60000 65536"/>
              <a:gd name="T7" fmla="*/ 0 60000 65536"/>
              <a:gd name="T8" fmla="*/ 0 60000 65536"/>
              <a:gd name="T9" fmla="*/ 0 w 14"/>
              <a:gd name="T10" fmla="*/ 0 h 18"/>
              <a:gd name="T11" fmla="*/ 14 w 14"/>
              <a:gd name="T12" fmla="*/ 18 h 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18">
                <a:moveTo>
                  <a:pt x="0" y="18"/>
                </a:moveTo>
                <a:lnTo>
                  <a:pt x="0" y="0"/>
                </a:lnTo>
                <a:lnTo>
                  <a:pt x="14" y="0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19" name="Freeform 51">
            <a:extLst>
              <a:ext uri="{FF2B5EF4-FFF2-40B4-BE49-F238E27FC236}">
                <a16:creationId xmlns:a16="http://schemas.microsoft.com/office/drawing/2014/main" id="{D77771D5-8BBB-684F-AEE9-86A4D4BD3CEA}"/>
              </a:ext>
            </a:extLst>
          </p:cNvPr>
          <p:cNvSpPr>
            <a:spLocks/>
          </p:cNvSpPr>
          <p:nvPr/>
        </p:nvSpPr>
        <p:spPr bwMode="auto">
          <a:xfrm>
            <a:off x="6192838" y="3200400"/>
            <a:ext cx="304800" cy="304800"/>
          </a:xfrm>
          <a:custGeom>
            <a:avLst/>
            <a:gdLst>
              <a:gd name="T0" fmla="*/ 0 w 14"/>
              <a:gd name="T1" fmla="*/ 0 h 18"/>
              <a:gd name="T2" fmla="*/ 0 w 14"/>
              <a:gd name="T3" fmla="*/ 2147483647 h 18"/>
              <a:gd name="T4" fmla="*/ 2147483647 w 14"/>
              <a:gd name="T5" fmla="*/ 2147483647 h 18"/>
              <a:gd name="T6" fmla="*/ 0 60000 65536"/>
              <a:gd name="T7" fmla="*/ 0 60000 65536"/>
              <a:gd name="T8" fmla="*/ 0 60000 65536"/>
              <a:gd name="T9" fmla="*/ 0 w 14"/>
              <a:gd name="T10" fmla="*/ 0 h 18"/>
              <a:gd name="T11" fmla="*/ 14 w 14"/>
              <a:gd name="T12" fmla="*/ 18 h 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18">
                <a:moveTo>
                  <a:pt x="0" y="0"/>
                </a:moveTo>
                <a:lnTo>
                  <a:pt x="0" y="18"/>
                </a:lnTo>
                <a:lnTo>
                  <a:pt x="14" y="18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20" name="Oval 52">
            <a:extLst>
              <a:ext uri="{FF2B5EF4-FFF2-40B4-BE49-F238E27FC236}">
                <a16:creationId xmlns:a16="http://schemas.microsoft.com/office/drawing/2014/main" id="{4914D5D4-BA97-E840-9189-CA5F8C83B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3124201"/>
            <a:ext cx="203200" cy="212725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2821" name="Rectangle 53">
            <a:extLst>
              <a:ext uri="{FF2B5EF4-FFF2-40B4-BE49-F238E27FC236}">
                <a16:creationId xmlns:a16="http://schemas.microsoft.com/office/drawing/2014/main" id="{724180D1-5139-474F-BC92-3F6DC044C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9" y="2819400"/>
            <a:ext cx="13731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>
                <a:solidFill>
                  <a:srgbClr val="000000"/>
                </a:solidFill>
              </a:rPr>
              <a:t>Test +/Treat</a:t>
            </a:r>
            <a:endParaRPr lang="en-US" altLang="en-MX" sz="3200" b="0">
              <a:solidFill>
                <a:srgbClr val="000000"/>
              </a:solidFill>
            </a:endParaRPr>
          </a:p>
        </p:txBody>
      </p:sp>
      <p:sp>
        <p:nvSpPr>
          <p:cNvPr id="32822" name="Line 54">
            <a:extLst>
              <a:ext uri="{FF2B5EF4-FFF2-40B4-BE49-F238E27FC236}">
                <a16:creationId xmlns:a16="http://schemas.microsoft.com/office/drawing/2014/main" id="{F08DAB5A-B2BD-6D46-AB8A-ECCA78C9B3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3038" y="3200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23" name="Line 55">
            <a:extLst>
              <a:ext uri="{FF2B5EF4-FFF2-40B4-BE49-F238E27FC236}">
                <a16:creationId xmlns:a16="http://schemas.microsoft.com/office/drawing/2014/main" id="{9DA5DB2C-CC63-894D-8A4D-50ECC0C46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1438" y="28956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24" name="Line 56">
            <a:extLst>
              <a:ext uri="{FF2B5EF4-FFF2-40B4-BE49-F238E27FC236}">
                <a16:creationId xmlns:a16="http://schemas.microsoft.com/office/drawing/2014/main" id="{2FD5D8AB-EC29-3140-A006-E1B94E1D8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7638" y="35052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25" name="Line 57">
            <a:extLst>
              <a:ext uri="{FF2B5EF4-FFF2-40B4-BE49-F238E27FC236}">
                <a16:creationId xmlns:a16="http://schemas.microsoft.com/office/drawing/2014/main" id="{D7214D83-7D35-D042-8C17-5F0B9F758C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7638" y="39624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32826" name="Line 58">
            <a:extLst>
              <a:ext uri="{FF2B5EF4-FFF2-40B4-BE49-F238E27FC236}">
                <a16:creationId xmlns:a16="http://schemas.microsoft.com/office/drawing/2014/main" id="{9605387E-40CA-1946-AB22-E375551BE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1438" y="46482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X"/>
          </a:p>
        </p:txBody>
      </p:sp>
      <p:sp>
        <p:nvSpPr>
          <p:cNvPr id="1071163" name="Text Box 59">
            <a:extLst>
              <a:ext uri="{FF2B5EF4-FFF2-40B4-BE49-F238E27FC236}">
                <a16:creationId xmlns:a16="http://schemas.microsoft.com/office/drawing/2014/main" id="{0E766CBE-7AF3-634F-98B7-1496ACE5C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509" y="328613"/>
            <a:ext cx="1037757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CEA of Test 1</a:t>
            </a:r>
          </a:p>
        </p:txBody>
      </p:sp>
      <p:sp>
        <p:nvSpPr>
          <p:cNvPr id="32828" name="Text Box 60">
            <a:extLst>
              <a:ext uri="{FF2B5EF4-FFF2-40B4-BE49-F238E27FC236}">
                <a16:creationId xmlns:a16="http://schemas.microsoft.com/office/drawing/2014/main" id="{A0E333EE-11CA-514C-A243-914C22570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914401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0287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0287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0287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0287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0287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b="0" u="sng"/>
              <a:t>Costs 	QALYs</a:t>
            </a:r>
          </a:p>
        </p:txBody>
      </p:sp>
      <p:sp>
        <p:nvSpPr>
          <p:cNvPr id="32829" name="Text Box 61">
            <a:extLst>
              <a:ext uri="{FF2B5EF4-FFF2-40B4-BE49-F238E27FC236}">
                <a16:creationId xmlns:a16="http://schemas.microsoft.com/office/drawing/2014/main" id="{509AA32E-5571-144B-BAC5-D6EC840BE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1388" y="1524001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MX"/>
              <a:t>20,000	9.0</a:t>
            </a:r>
          </a:p>
        </p:txBody>
      </p:sp>
      <p:sp>
        <p:nvSpPr>
          <p:cNvPr id="32830" name="Text Box 62">
            <a:extLst>
              <a:ext uri="{FF2B5EF4-FFF2-40B4-BE49-F238E27FC236}">
                <a16:creationId xmlns:a16="http://schemas.microsoft.com/office/drawing/2014/main" id="{ADFDD19E-9B37-6946-9725-BA77004E5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2743201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MX"/>
              <a:t>20,020	9.0</a:t>
            </a:r>
          </a:p>
        </p:txBody>
      </p:sp>
      <p:sp>
        <p:nvSpPr>
          <p:cNvPr id="32831" name="Text Box 63">
            <a:extLst>
              <a:ext uri="{FF2B5EF4-FFF2-40B4-BE49-F238E27FC236}">
                <a16:creationId xmlns:a16="http://schemas.microsoft.com/office/drawing/2014/main" id="{6D7A6C99-2B32-7E4E-8958-8F84413ED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1388" y="2133601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MX"/>
              <a:t>20,000	9.9</a:t>
            </a:r>
          </a:p>
        </p:txBody>
      </p:sp>
      <p:sp>
        <p:nvSpPr>
          <p:cNvPr id="32832" name="Text Box 64">
            <a:extLst>
              <a:ext uri="{FF2B5EF4-FFF2-40B4-BE49-F238E27FC236}">
                <a16:creationId xmlns:a16="http://schemas.microsoft.com/office/drawing/2014/main" id="{CEC7AD37-F4D6-A44B-ACB7-CA53783EA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3352801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MX"/>
              <a:t>20,020	9.0</a:t>
            </a:r>
          </a:p>
        </p:txBody>
      </p:sp>
      <p:sp>
        <p:nvSpPr>
          <p:cNvPr id="32833" name="Text Box 65">
            <a:extLst>
              <a:ext uri="{FF2B5EF4-FFF2-40B4-BE49-F238E27FC236}">
                <a16:creationId xmlns:a16="http://schemas.microsoft.com/office/drawing/2014/main" id="{FCA564DF-200E-794E-B87B-D202320B6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3810001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MX"/>
              <a:t>20	8.0</a:t>
            </a:r>
          </a:p>
        </p:txBody>
      </p:sp>
      <p:sp>
        <p:nvSpPr>
          <p:cNvPr id="32834" name="Text Box 66">
            <a:extLst>
              <a:ext uri="{FF2B5EF4-FFF2-40B4-BE49-F238E27FC236}">
                <a16:creationId xmlns:a16="http://schemas.microsoft.com/office/drawing/2014/main" id="{1B4B2C97-0A22-824B-85FD-4D77D0F3A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4495801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MX"/>
              <a:t>20	10.0</a:t>
            </a:r>
          </a:p>
        </p:txBody>
      </p:sp>
      <p:sp>
        <p:nvSpPr>
          <p:cNvPr id="32835" name="Text Box 67">
            <a:extLst>
              <a:ext uri="{FF2B5EF4-FFF2-40B4-BE49-F238E27FC236}">
                <a16:creationId xmlns:a16="http://schemas.microsoft.com/office/drawing/2014/main" id="{2666CEBC-8FBC-2443-9167-B7616156E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1388" y="4953001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MX"/>
              <a:t>0	8.0</a:t>
            </a:r>
          </a:p>
        </p:txBody>
      </p:sp>
      <p:sp>
        <p:nvSpPr>
          <p:cNvPr id="32836" name="Text Box 68">
            <a:extLst>
              <a:ext uri="{FF2B5EF4-FFF2-40B4-BE49-F238E27FC236}">
                <a16:creationId xmlns:a16="http://schemas.microsoft.com/office/drawing/2014/main" id="{0200B52C-D0A4-0445-A22B-71BF5D4E4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1388" y="5486401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MX"/>
              <a:t>0	10.0</a:t>
            </a:r>
          </a:p>
        </p:txBody>
      </p:sp>
      <p:sp>
        <p:nvSpPr>
          <p:cNvPr id="32837" name="Rectangle 69">
            <a:extLst>
              <a:ext uri="{FF2B5EF4-FFF2-40B4-BE49-F238E27FC236}">
                <a16:creationId xmlns:a16="http://schemas.microsoft.com/office/drawing/2014/main" id="{3B1FDD0E-CA04-6B43-B2C8-E87C5EF4E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276600"/>
            <a:ext cx="698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sz="1800" b="0">
                <a:solidFill>
                  <a:srgbClr val="000000"/>
                </a:solidFill>
              </a:rPr>
              <a:t>0.0508</a:t>
            </a:r>
          </a:p>
        </p:txBody>
      </p:sp>
      <p:sp>
        <p:nvSpPr>
          <p:cNvPr id="32838" name="Rectangle 70">
            <a:extLst>
              <a:ext uri="{FF2B5EF4-FFF2-40B4-BE49-F238E27FC236}">
                <a16:creationId xmlns:a16="http://schemas.microsoft.com/office/drawing/2014/main" id="{C16EB5E9-0CBF-B245-92F0-F9FB90952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267200"/>
            <a:ext cx="698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sz="1800" b="0">
                <a:solidFill>
                  <a:srgbClr val="000000"/>
                </a:solidFill>
              </a:rPr>
              <a:t>0.9415</a:t>
            </a:r>
          </a:p>
        </p:txBody>
      </p:sp>
      <p:sp>
        <p:nvSpPr>
          <p:cNvPr id="32839" name="Rectangle 71">
            <a:extLst>
              <a:ext uri="{FF2B5EF4-FFF2-40B4-BE49-F238E27FC236}">
                <a16:creationId xmlns:a16="http://schemas.microsoft.com/office/drawing/2014/main" id="{BEB6B57F-4E2A-7446-9EEB-DD829E1C0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895600"/>
            <a:ext cx="698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sz="1800" b="0">
                <a:solidFill>
                  <a:srgbClr val="000000"/>
                </a:solidFill>
              </a:rPr>
              <a:t>0.1538</a:t>
            </a:r>
          </a:p>
        </p:txBody>
      </p:sp>
      <p:sp>
        <p:nvSpPr>
          <p:cNvPr id="32840" name="Rectangle 72">
            <a:extLst>
              <a:ext uri="{FF2B5EF4-FFF2-40B4-BE49-F238E27FC236}">
                <a16:creationId xmlns:a16="http://schemas.microsoft.com/office/drawing/2014/main" id="{1B2325DC-4DDC-444E-ADCC-ACA85D214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962400"/>
            <a:ext cx="698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MX" sz="1800" b="0">
                <a:solidFill>
                  <a:srgbClr val="000000"/>
                </a:solidFill>
              </a:rPr>
              <a:t>0.0011</a:t>
            </a:r>
          </a:p>
        </p:txBody>
      </p:sp>
    </p:spTree>
    <p:extLst>
      <p:ext uri="{BB962C8B-B14F-4D97-AF65-F5344CB8AC3E}">
        <p14:creationId xmlns:p14="http://schemas.microsoft.com/office/powerpoint/2010/main" val="10871252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Typical Diagnostic Test Strategy</a:t>
            </a:r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7496C447-CDF0-0345-B524-F5810232E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052" y="1691269"/>
            <a:ext cx="9513042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23652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Markov Cohort Method</a:t>
            </a:r>
            <a:endParaRPr lang="en-US" dirty="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Provides Markov trace (which shows the distribution of the population in each cycle)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Gives an </a:t>
            </a:r>
            <a:r>
              <a:rPr lang="en-US" altLang="en-MX" i="1" dirty="0">
                <a:ea typeface="ＭＳ Ｐゴシック" panose="020B0600070205080204" pitchFamily="34" charset="-128"/>
              </a:rPr>
              <a:t>approximation</a:t>
            </a:r>
            <a:r>
              <a:rPr lang="en-US" altLang="en-MX" dirty="0">
                <a:ea typeface="ＭＳ Ｐゴシック" panose="020B0600070205080204" pitchFamily="34" charset="-128"/>
              </a:rPr>
              <a:t> to residence times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Allows for half-cycle correction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Calculates average number of cycles in each state (can weight cycles by utility or discount factor)</a:t>
            </a:r>
          </a:p>
        </p:txBody>
      </p:sp>
    </p:spTree>
    <p:extLst>
      <p:ext uri="{BB962C8B-B14F-4D97-AF65-F5344CB8AC3E}">
        <p14:creationId xmlns:p14="http://schemas.microsoft.com/office/powerpoint/2010/main" val="2713584984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Life Expectancy</a:t>
            </a:r>
            <a:endParaRPr lang="en-US" dirty="0"/>
          </a:p>
        </p:txBody>
      </p:sp>
      <p:sp>
        <p:nvSpPr>
          <p:cNvPr id="8" name="Oval 2">
            <a:extLst>
              <a:ext uri="{FF2B5EF4-FFF2-40B4-BE49-F238E27FC236}">
                <a16:creationId xmlns:a16="http://schemas.microsoft.com/office/drawing/2014/main" id="{577D1A1F-41D5-6A4A-B296-1CEE26DBB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WELL</a:t>
            </a:r>
          </a:p>
        </p:txBody>
      </p:sp>
      <p:sp>
        <p:nvSpPr>
          <p:cNvPr id="9" name="Oval 3">
            <a:extLst>
              <a:ext uri="{FF2B5EF4-FFF2-40B4-BE49-F238E27FC236}">
                <a16:creationId xmlns:a16="http://schemas.microsoft.com/office/drawing/2014/main" id="{0BB4B2DA-3BF1-B041-BBA9-ED140452B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DEAD</a:t>
            </a: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C4BF904E-47AE-434D-AE13-DB14E867F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SICK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0CE3F073-9CF0-6048-AF58-3CD70016D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1" y="2133600"/>
            <a:ext cx="823945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3600">
                <a:latin typeface="Arial Unicode MS" panose="020B0604020202020204" pitchFamily="34" charset="-128"/>
              </a:rPr>
              <a:t>1.0</a:t>
            </a:r>
            <a:endParaRPr lang="en-US" altLang="en-MX" sz="3200">
              <a:latin typeface="Arial Unicode MS" panose="020B0604020202020204" pitchFamily="34" charset="-128"/>
            </a:endParaRPr>
          </a:p>
        </p:txBody>
      </p:sp>
      <p:sp>
        <p:nvSpPr>
          <p:cNvPr id="13" name="Oval 8">
            <a:extLst>
              <a:ext uri="{FF2B5EF4-FFF2-40B4-BE49-F238E27FC236}">
                <a16:creationId xmlns:a16="http://schemas.microsoft.com/office/drawing/2014/main" id="{0F9FCAEA-4434-2F44-8E85-36FFF331B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2362200"/>
            <a:ext cx="1422400" cy="762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MX" altLang="en-MX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6FA4777F-64BB-0644-8BEA-A56070B58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1" y="2128839"/>
            <a:ext cx="9175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0.0</a:t>
            </a:r>
            <a:endParaRPr lang="en-US" altLang="en-MX" sz="3200">
              <a:latin typeface="Arial Unicode MS" panose="020B0604020202020204" pitchFamily="34" charset="-128"/>
            </a:endParaRPr>
          </a:p>
        </p:txBody>
      </p:sp>
      <p:sp>
        <p:nvSpPr>
          <p:cNvPr id="15" name="Line 10">
            <a:extLst>
              <a:ext uri="{FF2B5EF4-FFF2-40B4-BE49-F238E27FC236}">
                <a16:creationId xmlns:a16="http://schemas.microsoft.com/office/drawing/2014/main" id="{80CA86B2-684E-E642-8030-C9A9CE277B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2741613"/>
            <a:ext cx="0" cy="1371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276B74D6-4BFC-594E-80B5-5D6110C7ED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2538" y="2741613"/>
            <a:ext cx="0" cy="1295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2968462F-14DD-6D44-AB96-7AFE5B7D4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2743200"/>
            <a:ext cx="0" cy="1371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B862F58E-5EA3-8348-B745-D0C0C8806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138363"/>
            <a:ext cx="819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3600">
                <a:latin typeface="Arial Unicode MS" panose="020B0604020202020204" pitchFamily="34" charset="-128"/>
              </a:rPr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4024514787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199460"/>
            <a:ext cx="10791645" cy="14414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Discounted Life Expectancy</a:t>
            </a:r>
            <a:br>
              <a:rPr lang="en-US" altLang="en-MX" dirty="0">
                <a:ea typeface="ＭＳ Ｐゴシック" panose="020B0600070205080204" pitchFamily="34" charset="-128"/>
              </a:rPr>
            </a:br>
            <a:r>
              <a:rPr lang="en-US" altLang="en-MX" dirty="0">
                <a:ea typeface="ＭＳ Ｐゴシック" panose="020B0600070205080204" pitchFamily="34" charset="-128"/>
              </a:rPr>
              <a:t>(r = discount rate, t = _stage)</a:t>
            </a:r>
            <a:endParaRPr lang="en-US" dirty="0">
              <a:ea typeface="ＭＳ Ｐゴシック" panose="020B0600070205080204" pitchFamily="34" charset="-128"/>
            </a:endParaRPr>
          </a:p>
        </p:txBody>
      </p:sp>
      <p:sp>
        <p:nvSpPr>
          <p:cNvPr id="19" name="Oval 2">
            <a:extLst>
              <a:ext uri="{FF2B5EF4-FFF2-40B4-BE49-F238E27FC236}">
                <a16:creationId xmlns:a16="http://schemas.microsoft.com/office/drawing/2014/main" id="{0163472B-4D1B-344F-9ADD-F82EBC2A3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WELL</a:t>
            </a:r>
          </a:p>
        </p:txBody>
      </p:sp>
      <p:sp>
        <p:nvSpPr>
          <p:cNvPr id="20" name="Oval 3">
            <a:extLst>
              <a:ext uri="{FF2B5EF4-FFF2-40B4-BE49-F238E27FC236}">
                <a16:creationId xmlns:a16="http://schemas.microsoft.com/office/drawing/2014/main" id="{E180E167-A84F-4E41-891E-68F6BA331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DEAD</a:t>
            </a: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2C6C3097-C1D8-084E-BD17-2BA839DE3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SICK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B9A4BA98-9979-0B46-AFED-3E152C482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2362200"/>
            <a:ext cx="1422400" cy="762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MX" altLang="en-MX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A4116D45-4583-724B-8D46-CCD153631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1" y="2438401"/>
            <a:ext cx="9175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0.0</a:t>
            </a:r>
            <a:endParaRPr lang="en-US" altLang="en-MX" sz="3200">
              <a:latin typeface="Arial Unicode MS" panose="020B0604020202020204" pitchFamily="34" charset="-128"/>
            </a:endParaRPr>
          </a:p>
        </p:txBody>
      </p:sp>
      <p:sp>
        <p:nvSpPr>
          <p:cNvPr id="24" name="Line 10">
            <a:extLst>
              <a:ext uri="{FF2B5EF4-FFF2-40B4-BE49-F238E27FC236}">
                <a16:creationId xmlns:a16="http://schemas.microsoft.com/office/drawing/2014/main" id="{15EA589C-1731-454F-A416-B84CC3C04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3473451"/>
            <a:ext cx="0" cy="6397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E34CF15A-A99E-8C46-8DE7-4189EA16E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2538" y="3473451"/>
            <a:ext cx="0" cy="6397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05E5E98E-5C51-6749-A447-B0C31D03CF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3200401"/>
            <a:ext cx="0" cy="9445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graphicFrame>
        <p:nvGraphicFramePr>
          <p:cNvPr id="27" name="Object 1024">
            <a:extLst>
              <a:ext uri="{FF2B5EF4-FFF2-40B4-BE49-F238E27FC236}">
                <a16:creationId xmlns:a16="http://schemas.microsoft.com/office/drawing/2014/main" id="{9F331329-2530-4341-8F74-5D48E40644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2750" y="2009775"/>
          <a:ext cx="14859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96700" imgH="10820400" progId="Equation.DSMT4">
                  <p:embed/>
                </p:oleObj>
              </mc:Choice>
              <mc:Fallback>
                <p:oleObj name="Equation" r:id="rId3" imgW="11696700" imgH="10820400" progId="Equation.DSMT4">
                  <p:embed/>
                  <p:pic>
                    <p:nvPicPr>
                      <p:cNvPr id="27" name="Object 1024">
                        <a:extLst>
                          <a:ext uri="{FF2B5EF4-FFF2-40B4-BE49-F238E27FC236}">
                            <a16:creationId xmlns:a16="http://schemas.microsoft.com/office/drawing/2014/main" id="{9F331329-2530-4341-8F74-5D48E40644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2009775"/>
                        <a:ext cx="14859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25">
            <a:extLst>
              <a:ext uri="{FF2B5EF4-FFF2-40B4-BE49-F238E27FC236}">
                <a16:creationId xmlns:a16="http://schemas.microsoft.com/office/drawing/2014/main" id="{3909BADA-4E38-2C49-9ED5-31D73E76A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9750" y="2009775"/>
          <a:ext cx="14859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696700" imgH="10820400" progId="Equation.DSMT4">
                  <p:embed/>
                </p:oleObj>
              </mc:Choice>
              <mc:Fallback>
                <p:oleObj name="Equation" r:id="rId5" imgW="11696700" imgH="10820400" progId="Equation.DSMT4">
                  <p:embed/>
                  <p:pic>
                    <p:nvPicPr>
                      <p:cNvPr id="28" name="Object 1025">
                        <a:extLst>
                          <a:ext uri="{FF2B5EF4-FFF2-40B4-BE49-F238E27FC236}">
                            <a16:creationId xmlns:a16="http://schemas.microsoft.com/office/drawing/2014/main" id="{3909BADA-4E38-2C49-9ED5-31D73E76A3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0" y="2009775"/>
                        <a:ext cx="14859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0326345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Model Outcome ?</a:t>
            </a:r>
            <a:endParaRPr lang="en-US" dirty="0"/>
          </a:p>
        </p:txBody>
      </p:sp>
      <p:sp>
        <p:nvSpPr>
          <p:cNvPr id="8" name="Oval 2">
            <a:extLst>
              <a:ext uri="{FF2B5EF4-FFF2-40B4-BE49-F238E27FC236}">
                <a16:creationId xmlns:a16="http://schemas.microsoft.com/office/drawing/2014/main" id="{577D1A1F-41D5-6A4A-B296-1CEE26DBB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WELL</a:t>
            </a:r>
          </a:p>
        </p:txBody>
      </p:sp>
      <p:sp>
        <p:nvSpPr>
          <p:cNvPr id="9" name="Oval 3">
            <a:extLst>
              <a:ext uri="{FF2B5EF4-FFF2-40B4-BE49-F238E27FC236}">
                <a16:creationId xmlns:a16="http://schemas.microsoft.com/office/drawing/2014/main" id="{0BB4B2DA-3BF1-B041-BBA9-ED140452B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DEAD</a:t>
            </a: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C4BF904E-47AE-434D-AE13-DB14E867F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4191000"/>
            <a:ext cx="1816100" cy="14414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SICK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0CE3F073-9CF0-6048-AF58-3CD70016D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1" y="2133600"/>
            <a:ext cx="823945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3600" dirty="0">
                <a:latin typeface="Arial Unicode MS" panose="020B0604020202020204" pitchFamily="34" charset="-128"/>
              </a:rPr>
              <a:t>0.0</a:t>
            </a:r>
            <a:endParaRPr lang="en-US" altLang="en-MX" sz="3200" dirty="0">
              <a:latin typeface="Arial Unicode MS" panose="020B0604020202020204" pitchFamily="34" charset="-128"/>
            </a:endParaRPr>
          </a:p>
        </p:txBody>
      </p:sp>
      <p:sp>
        <p:nvSpPr>
          <p:cNvPr id="13" name="Oval 8">
            <a:extLst>
              <a:ext uri="{FF2B5EF4-FFF2-40B4-BE49-F238E27FC236}">
                <a16:creationId xmlns:a16="http://schemas.microsoft.com/office/drawing/2014/main" id="{0F9FCAEA-4434-2F44-8E85-36FFF331B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2362200"/>
            <a:ext cx="1422400" cy="762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MX" altLang="en-MX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6FA4777F-64BB-0644-8BEA-A56070B58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1" y="2128839"/>
            <a:ext cx="9175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0.0</a:t>
            </a:r>
            <a:endParaRPr lang="en-US" altLang="en-MX" sz="3200">
              <a:latin typeface="Arial Unicode MS" panose="020B0604020202020204" pitchFamily="34" charset="-128"/>
            </a:endParaRPr>
          </a:p>
        </p:txBody>
      </p:sp>
      <p:sp>
        <p:nvSpPr>
          <p:cNvPr id="15" name="Line 10">
            <a:extLst>
              <a:ext uri="{FF2B5EF4-FFF2-40B4-BE49-F238E27FC236}">
                <a16:creationId xmlns:a16="http://schemas.microsoft.com/office/drawing/2014/main" id="{80CA86B2-684E-E642-8030-C9A9CE277B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2741613"/>
            <a:ext cx="0" cy="1371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276B74D6-4BFC-594E-80B5-5D6110C7ED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2538" y="2741613"/>
            <a:ext cx="0" cy="1295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2968462F-14DD-6D44-AB96-7AFE5B7D4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2743200"/>
            <a:ext cx="0" cy="1371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B862F58E-5EA3-8348-B745-D0C0C8806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138363"/>
            <a:ext cx="819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MX" sz="3600">
                <a:latin typeface="Arial Unicode MS" panose="020B0604020202020204" pitchFamily="34" charset="-128"/>
              </a:rPr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4270130004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03"/>
          <p:cNvSpPr txBox="1">
            <a:spLocks noGrp="1"/>
          </p:cNvSpPr>
          <p:nvPr>
            <p:ph idx="1"/>
          </p:nvPr>
        </p:nvSpPr>
        <p:spPr>
          <a:xfrm>
            <a:off x="838200" y="15375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17500">
              <a:spcBef>
                <a:spcPts val="0"/>
              </a:spcBef>
              <a:buClr>
                <a:schemeClr val="accent3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Reflects the distribution of a cohort of patients over a set of </a:t>
            </a:r>
            <a:r>
              <a:rPr lang="nl-NL" dirty="0" err="1">
                <a:solidFill>
                  <a:schemeClr val="dk1"/>
                </a:solidFill>
              </a:rPr>
              <a:t>states</a:t>
            </a:r>
            <a:r>
              <a:rPr lang="nl-NL" dirty="0">
                <a:solidFill>
                  <a:schemeClr val="dk1"/>
                </a:solidFill>
              </a:rPr>
              <a:t> over time</a:t>
            </a:r>
            <a:endParaRPr dirty="0"/>
          </a:p>
          <a:p>
            <a:pPr marL="342900" indent="-165100">
              <a:spcBef>
                <a:spcPts val="560"/>
              </a:spcBef>
              <a:buClr>
                <a:srgbClr val="990033"/>
              </a:buClr>
              <a:buSzPts val="28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640" name="Shape 6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nl-NL"/>
              <a:pPr>
                <a:buClr>
                  <a:srgbClr val="000000"/>
                </a:buClr>
              </a:pPr>
              <a:t>65</a:t>
            </a:fld>
            <a:endParaRPr/>
          </a:p>
        </p:txBody>
      </p:sp>
      <p:grpSp>
        <p:nvGrpSpPr>
          <p:cNvPr id="604" name="Shape 604"/>
          <p:cNvGrpSpPr/>
          <p:nvPr/>
        </p:nvGrpSpPr>
        <p:grpSpPr>
          <a:xfrm>
            <a:off x="3102256" y="4283197"/>
            <a:ext cx="6646706" cy="2793900"/>
            <a:chOff x="1047750" y="4145411"/>
            <a:chExt cx="6646706" cy="2793900"/>
          </a:xfrm>
        </p:grpSpPr>
        <p:pic>
          <p:nvPicPr>
            <p:cNvPr id="605" name="Shape 60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47750" y="4145411"/>
              <a:ext cx="6044100" cy="279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Shape 606"/>
            <p:cNvSpPr/>
            <p:nvPr/>
          </p:nvSpPr>
          <p:spPr>
            <a:xfrm>
              <a:off x="6942356" y="4613793"/>
              <a:ext cx="7521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 i="1" dirty="0" err="1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x</a:t>
              </a:r>
              <a:r>
                <a:rPr lang="nl-NL" sz="2200" baseline="-25000" dirty="0" err="1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t</a:t>
              </a:r>
              <a:r>
                <a:rPr lang="nl-NL" sz="2200" dirty="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(</a:t>
              </a:r>
              <a:r>
                <a:rPr lang="nl-NL" sz="2200" dirty="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r>
                <a:rPr lang="nl-NL" sz="2200" dirty="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)</a:t>
              </a:r>
              <a:endParaRPr sz="2200" dirty="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607" name="Shape 607"/>
            <p:cNvSpPr/>
            <p:nvPr/>
          </p:nvSpPr>
          <p:spPr>
            <a:xfrm>
              <a:off x="6942356" y="4988533"/>
              <a:ext cx="7521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 i="1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x</a:t>
              </a:r>
              <a:r>
                <a:rPr lang="nl-NL" sz="2200" baseline="-250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t</a:t>
              </a:r>
              <a:r>
                <a:rPr lang="nl-NL" sz="2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(</a:t>
              </a:r>
              <a:r>
                <a:rPr lang="nl-NL" sz="22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r>
                <a:rPr lang="nl-NL" sz="2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)</a:t>
              </a:r>
              <a:endParaRPr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608" name="Shape 608"/>
            <p:cNvSpPr/>
            <p:nvPr/>
          </p:nvSpPr>
          <p:spPr>
            <a:xfrm>
              <a:off x="6942356" y="5381745"/>
              <a:ext cx="7521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 i="1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x</a:t>
              </a:r>
              <a:r>
                <a:rPr lang="nl-NL" sz="2200" baseline="-250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t</a:t>
              </a:r>
              <a:r>
                <a:rPr lang="nl-NL" sz="2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(</a:t>
              </a:r>
              <a:r>
                <a:rPr lang="nl-NL" sz="22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r>
                <a:rPr lang="nl-NL" sz="2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)</a:t>
              </a:r>
              <a:endParaRPr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sp>
        <p:nvSpPr>
          <p:cNvPr id="609" name="Shape 609"/>
          <p:cNvSpPr/>
          <p:nvPr/>
        </p:nvSpPr>
        <p:spPr>
          <a:xfrm>
            <a:off x="2952266" y="2439683"/>
            <a:ext cx="5623692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1.00		0.00		0.00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10" name="Shape 610"/>
          <p:cNvSpPr/>
          <p:nvPr/>
        </p:nvSpPr>
        <p:spPr>
          <a:xfrm>
            <a:off x="6126694" y="4507768"/>
            <a:ext cx="1160100" cy="1754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Shape 611"/>
          <p:cNvSpPr/>
          <p:nvPr/>
        </p:nvSpPr>
        <p:spPr>
          <a:xfrm>
            <a:off x="4953973" y="4507768"/>
            <a:ext cx="1160100" cy="1754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Shape 612"/>
          <p:cNvSpPr/>
          <p:nvPr/>
        </p:nvSpPr>
        <p:spPr>
          <a:xfrm>
            <a:off x="3828528" y="4507768"/>
            <a:ext cx="228600" cy="1754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Shape 613"/>
          <p:cNvSpPr/>
          <p:nvPr/>
        </p:nvSpPr>
        <p:spPr>
          <a:xfrm>
            <a:off x="4050574" y="4507768"/>
            <a:ext cx="228600" cy="1754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Shape 614"/>
          <p:cNvSpPr/>
          <p:nvPr/>
        </p:nvSpPr>
        <p:spPr>
          <a:xfrm>
            <a:off x="4272620" y="4507768"/>
            <a:ext cx="228600" cy="1754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Shape 615"/>
          <p:cNvSpPr/>
          <p:nvPr/>
        </p:nvSpPr>
        <p:spPr>
          <a:xfrm>
            <a:off x="4505299" y="4507768"/>
            <a:ext cx="228600" cy="1754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Shape 616"/>
          <p:cNvSpPr/>
          <p:nvPr/>
        </p:nvSpPr>
        <p:spPr>
          <a:xfrm>
            <a:off x="4737977" y="4507768"/>
            <a:ext cx="228600" cy="1754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Shape 627"/>
          <p:cNvSpPr/>
          <p:nvPr/>
        </p:nvSpPr>
        <p:spPr>
          <a:xfrm>
            <a:off x="2952266" y="2439683"/>
            <a:ext cx="5623692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0.75		0.20		0.05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28" name="Shape 628"/>
          <p:cNvSpPr/>
          <p:nvPr/>
        </p:nvSpPr>
        <p:spPr>
          <a:xfrm>
            <a:off x="2952266" y="2439683"/>
            <a:ext cx="5623692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0.56		0.32		0.12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29" name="Shape 629"/>
          <p:cNvSpPr/>
          <p:nvPr/>
        </p:nvSpPr>
        <p:spPr>
          <a:xfrm>
            <a:off x="2952266" y="2439683"/>
            <a:ext cx="5623692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0.42		0.38		0.19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30" name="Shape 630"/>
          <p:cNvSpPr/>
          <p:nvPr/>
        </p:nvSpPr>
        <p:spPr>
          <a:xfrm>
            <a:off x="2952266" y="2439683"/>
            <a:ext cx="5623692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0.32		0.41		0.27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31" name="Shape 631"/>
          <p:cNvSpPr/>
          <p:nvPr/>
        </p:nvSpPr>
        <p:spPr>
          <a:xfrm>
            <a:off x="2952266" y="2439683"/>
            <a:ext cx="5623692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5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0.24		0.41		0.35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32" name="Shape 632"/>
          <p:cNvSpPr/>
          <p:nvPr/>
        </p:nvSpPr>
        <p:spPr>
          <a:xfrm>
            <a:off x="2952266" y="2439683"/>
            <a:ext cx="5623692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 dirty="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10  </a:t>
            </a:r>
            <a:r>
              <a:rPr lang="nl-NL" sz="2200" dirty="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[</a:t>
            </a:r>
            <a:r>
              <a:rPr lang="nl-NL" sz="22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0.06		0.28		0.66</a:t>
            </a:r>
            <a:r>
              <a:rPr lang="nl-NL" sz="2200" dirty="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 dirty="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pSp>
        <p:nvGrpSpPr>
          <p:cNvPr id="46" name="Shape 645"/>
          <p:cNvGrpSpPr/>
          <p:nvPr/>
        </p:nvGrpSpPr>
        <p:grpSpPr>
          <a:xfrm>
            <a:off x="3707731" y="3376707"/>
            <a:ext cx="4881290" cy="845218"/>
            <a:chOff x="1773382" y="4354898"/>
            <a:chExt cx="4881290" cy="845218"/>
          </a:xfrm>
        </p:grpSpPr>
        <p:sp>
          <p:nvSpPr>
            <p:cNvPr id="47" name="Shape 646"/>
            <p:cNvSpPr/>
            <p:nvPr/>
          </p:nvSpPr>
          <p:spPr>
            <a:xfrm>
              <a:off x="1773382" y="4359516"/>
              <a:ext cx="1200600" cy="840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nl-NL" sz="1600" b="1" dirty="0" err="1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Healthy</a:t>
              </a:r>
              <a:endParaRPr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Shape 647"/>
            <p:cNvSpPr/>
            <p:nvPr/>
          </p:nvSpPr>
          <p:spPr>
            <a:xfrm>
              <a:off x="3551382" y="4359516"/>
              <a:ext cx="1200600" cy="840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nl-NL" sz="1600" b="1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Sick</a:t>
              </a:r>
              <a:endParaRPr sz="16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Shape 648"/>
            <p:cNvSpPr/>
            <p:nvPr/>
          </p:nvSpPr>
          <p:spPr>
            <a:xfrm>
              <a:off x="5454072" y="4354898"/>
              <a:ext cx="1200600" cy="840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nl-NL" sz="16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Dead</a:t>
              </a:r>
              <a:endParaRPr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" name="Shape 649"/>
            <p:cNvCxnSpPr/>
            <p:nvPr/>
          </p:nvCxnSpPr>
          <p:spPr>
            <a:xfrm rot="-5400000" flipH="1">
              <a:off x="3262432" y="3470766"/>
              <a:ext cx="600" cy="1778100"/>
            </a:xfrm>
            <a:prstGeom prst="curvedConnector3">
              <a:avLst>
                <a:gd name="adj1" fmla="val -26835667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1" name="Shape 650"/>
            <p:cNvCxnSpPr/>
            <p:nvPr/>
          </p:nvCxnSpPr>
          <p:spPr>
            <a:xfrm rot="-5400000">
              <a:off x="5100732" y="3405966"/>
              <a:ext cx="4500" cy="1902600"/>
            </a:xfrm>
            <a:prstGeom prst="curvedConnector3">
              <a:avLst>
                <a:gd name="adj1" fmla="val 3136645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2" name="Shape 651"/>
            <p:cNvCxnSpPr/>
            <p:nvPr/>
          </p:nvCxnSpPr>
          <p:spPr>
            <a:xfrm rot="-5400000">
              <a:off x="4211782" y="3357516"/>
              <a:ext cx="4500" cy="3680700"/>
            </a:xfrm>
            <a:prstGeom prst="curvedConnector3">
              <a:avLst>
                <a:gd name="adj1" fmla="val -8890355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3" name="Shape 652"/>
            <p:cNvCxnSpPr/>
            <p:nvPr/>
          </p:nvCxnSpPr>
          <p:spPr>
            <a:xfrm rot="10800000" flipH="1">
              <a:off x="1773382" y="4482620"/>
              <a:ext cx="175824" cy="297197"/>
            </a:xfrm>
            <a:prstGeom prst="curvedConnector4">
              <a:avLst>
                <a:gd name="adj1" fmla="val -130016"/>
                <a:gd name="adj2" fmla="val 218340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4" name="Shape 653"/>
            <p:cNvCxnSpPr/>
            <p:nvPr/>
          </p:nvCxnSpPr>
          <p:spPr>
            <a:xfrm rot="10800000" flipH="1" flipV="1">
              <a:off x="3551382" y="4779815"/>
              <a:ext cx="175824" cy="297197"/>
            </a:xfrm>
            <a:prstGeom prst="curvedConnector4">
              <a:avLst>
                <a:gd name="adj1" fmla="val -130016"/>
                <a:gd name="adj2" fmla="val 218340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5" name="Shape 654"/>
            <p:cNvCxnSpPr/>
            <p:nvPr/>
          </p:nvCxnSpPr>
          <p:spPr>
            <a:xfrm rot="10800000" flipH="1" flipV="1">
              <a:off x="5454072" y="4775197"/>
              <a:ext cx="175824" cy="297197"/>
            </a:xfrm>
            <a:prstGeom prst="curvedConnector4">
              <a:avLst>
                <a:gd name="adj1" fmla="val -130016"/>
                <a:gd name="adj2" fmla="val 218340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grpSp>
        <p:nvGrpSpPr>
          <p:cNvPr id="56" name="Shape 670"/>
          <p:cNvGrpSpPr/>
          <p:nvPr/>
        </p:nvGrpSpPr>
        <p:grpSpPr>
          <a:xfrm>
            <a:off x="2929779" y="2933312"/>
            <a:ext cx="4438753" cy="1689585"/>
            <a:chOff x="1405778" y="2795525"/>
            <a:chExt cx="4438753" cy="1689585"/>
          </a:xfrm>
        </p:grpSpPr>
        <p:sp>
          <p:nvSpPr>
            <p:cNvPr id="57" name="Shape 671"/>
            <p:cNvSpPr txBox="1"/>
            <p:nvPr/>
          </p:nvSpPr>
          <p:spPr>
            <a:xfrm>
              <a:off x="1405778" y="3287804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0.75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Shape 672"/>
            <p:cNvSpPr txBox="1"/>
            <p:nvPr/>
          </p:nvSpPr>
          <p:spPr>
            <a:xfrm>
              <a:off x="3135655" y="2795525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0.20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Shape 673"/>
            <p:cNvSpPr txBox="1"/>
            <p:nvPr/>
          </p:nvSpPr>
          <p:spPr>
            <a:xfrm>
              <a:off x="4253818" y="4177310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0.05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Shape 674"/>
            <p:cNvSpPr txBox="1"/>
            <p:nvPr/>
          </p:nvSpPr>
          <p:spPr>
            <a:xfrm>
              <a:off x="4916218" y="2810235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0.15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Shape 675"/>
            <p:cNvSpPr txBox="1"/>
            <p:nvPr/>
          </p:nvSpPr>
          <p:spPr>
            <a:xfrm>
              <a:off x="3329603" y="3491412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0.85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Shape 676"/>
            <p:cNvSpPr txBox="1"/>
            <p:nvPr/>
          </p:nvSpPr>
          <p:spPr>
            <a:xfrm>
              <a:off x="5182131" y="3645312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1.0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Rectangle 4">
            <a:extLst>
              <a:ext uri="{FF2B5EF4-FFF2-40B4-BE49-F238E27FC236}">
                <a16:creationId xmlns:a16="http://schemas.microsoft.com/office/drawing/2014/main" id="{97452F86-C735-5A48-A641-CF0096AB0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ea typeface="ＭＳ Ｐゴシック" panose="020B0600070205080204" pitchFamily="34" charset="-128"/>
              </a:rPr>
              <a:t>Markov cohort trace</a:t>
            </a:r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8C97F27-0624-1142-B63C-66BB7ADB8CCA}"/>
              </a:ext>
            </a:extLst>
          </p:cNvPr>
          <p:cNvSpPr/>
          <p:nvPr/>
        </p:nvSpPr>
        <p:spPr>
          <a:xfrm rot="16200000">
            <a:off x="2392678" y="5110886"/>
            <a:ext cx="15358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2400" dirty="0" err="1">
                <a:solidFill>
                  <a:schemeClr val="dk1"/>
                </a:solidFill>
              </a:rPr>
              <a:t>Proportion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20065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03"/>
          <p:cNvSpPr txBox="1">
            <a:spLocks noGrp="1"/>
          </p:cNvSpPr>
          <p:nvPr>
            <p:ph idx="1"/>
          </p:nvPr>
        </p:nvSpPr>
        <p:spPr>
          <a:xfrm>
            <a:off x="838200" y="15375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17500">
              <a:spcBef>
                <a:spcPts val="0"/>
              </a:spcBef>
              <a:buClr>
                <a:schemeClr val="accent3"/>
              </a:buClr>
              <a:buSzPts val="2400"/>
              <a:buFont typeface="Verdana"/>
              <a:buChar char="•"/>
            </a:pPr>
            <a:r>
              <a:rPr lang="nl-NL" dirty="0">
                <a:solidFill>
                  <a:schemeClr val="dk1"/>
                </a:solidFill>
              </a:rPr>
              <a:t>Reflects the distribution of a cohort of patients over a set of </a:t>
            </a:r>
            <a:r>
              <a:rPr lang="nl-NL" dirty="0" err="1">
                <a:solidFill>
                  <a:schemeClr val="dk1"/>
                </a:solidFill>
              </a:rPr>
              <a:t>states</a:t>
            </a:r>
            <a:r>
              <a:rPr lang="nl-NL" dirty="0">
                <a:solidFill>
                  <a:schemeClr val="dk1"/>
                </a:solidFill>
              </a:rPr>
              <a:t> over time</a:t>
            </a:r>
            <a:endParaRPr dirty="0"/>
          </a:p>
          <a:p>
            <a:pPr marL="342900" indent="-165100">
              <a:spcBef>
                <a:spcPts val="560"/>
              </a:spcBef>
              <a:buClr>
                <a:srgbClr val="990033"/>
              </a:buClr>
              <a:buSzPts val="28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640" name="Shape 6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nl-NL"/>
              <a:pPr>
                <a:buClr>
                  <a:srgbClr val="000000"/>
                </a:buClr>
              </a:pPr>
              <a:t>66</a:t>
            </a:fld>
            <a:endParaRPr/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97452F86-C735-5A48-A641-CF0096AB0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ea typeface="ＭＳ Ｐゴシック" panose="020B0600070205080204" pitchFamily="34" charset="-128"/>
              </a:rPr>
              <a:t>Markov cohort trace</a:t>
            </a:r>
            <a:endParaRPr lang="en-US" dirty="0"/>
          </a:p>
        </p:txBody>
      </p:sp>
      <p:grpSp>
        <p:nvGrpSpPr>
          <p:cNvPr id="41" name="Shape 657">
            <a:extLst>
              <a:ext uri="{FF2B5EF4-FFF2-40B4-BE49-F238E27FC236}">
                <a16:creationId xmlns:a16="http://schemas.microsoft.com/office/drawing/2014/main" id="{E2005AD1-3056-B048-81DD-9DB5F026C36C}"/>
              </a:ext>
            </a:extLst>
          </p:cNvPr>
          <p:cNvGrpSpPr/>
          <p:nvPr/>
        </p:nvGrpSpPr>
        <p:grpSpPr>
          <a:xfrm>
            <a:off x="3102256" y="4283197"/>
            <a:ext cx="6646706" cy="2793900"/>
            <a:chOff x="1047750" y="4145411"/>
            <a:chExt cx="6646706" cy="2793900"/>
          </a:xfrm>
        </p:grpSpPr>
        <p:pic>
          <p:nvPicPr>
            <p:cNvPr id="42" name="Shape 658">
              <a:extLst>
                <a:ext uri="{FF2B5EF4-FFF2-40B4-BE49-F238E27FC236}">
                  <a16:creationId xmlns:a16="http://schemas.microsoft.com/office/drawing/2014/main" id="{743429CF-299E-1D48-AA46-AFFD83385A9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47750" y="4145411"/>
              <a:ext cx="6044100" cy="279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Shape 659">
              <a:extLst>
                <a:ext uri="{FF2B5EF4-FFF2-40B4-BE49-F238E27FC236}">
                  <a16:creationId xmlns:a16="http://schemas.microsoft.com/office/drawing/2014/main" id="{9009C738-0508-224B-8374-20F48C9666BA}"/>
                </a:ext>
              </a:extLst>
            </p:cNvPr>
            <p:cNvSpPr/>
            <p:nvPr/>
          </p:nvSpPr>
          <p:spPr>
            <a:xfrm>
              <a:off x="6942356" y="4613793"/>
              <a:ext cx="7521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 i="1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x</a:t>
              </a:r>
              <a:r>
                <a:rPr lang="nl-NL" sz="2200" baseline="-250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t</a:t>
              </a:r>
              <a:r>
                <a:rPr lang="nl-NL" sz="2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(</a:t>
              </a:r>
              <a:r>
                <a:rPr lang="nl-NL" sz="22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r>
                <a:rPr lang="nl-NL" sz="2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)</a:t>
              </a:r>
              <a:endParaRPr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5" name="Shape 660">
              <a:extLst>
                <a:ext uri="{FF2B5EF4-FFF2-40B4-BE49-F238E27FC236}">
                  <a16:creationId xmlns:a16="http://schemas.microsoft.com/office/drawing/2014/main" id="{C6A48A5B-160A-354E-B9C3-B8040BD0A042}"/>
                </a:ext>
              </a:extLst>
            </p:cNvPr>
            <p:cNvSpPr/>
            <p:nvPr/>
          </p:nvSpPr>
          <p:spPr>
            <a:xfrm>
              <a:off x="6942356" y="4988533"/>
              <a:ext cx="7521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 i="1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x</a:t>
              </a:r>
              <a:r>
                <a:rPr lang="nl-NL" sz="2200" baseline="-250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t</a:t>
              </a:r>
              <a:r>
                <a:rPr lang="nl-NL" sz="2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(</a:t>
              </a:r>
              <a:r>
                <a:rPr lang="nl-NL" sz="22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r>
                <a:rPr lang="nl-NL" sz="2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)</a:t>
              </a:r>
              <a:endParaRPr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63" name="Shape 661">
              <a:extLst>
                <a:ext uri="{FF2B5EF4-FFF2-40B4-BE49-F238E27FC236}">
                  <a16:creationId xmlns:a16="http://schemas.microsoft.com/office/drawing/2014/main" id="{585FC332-5A24-B342-B455-3D67BABF0248}"/>
                </a:ext>
              </a:extLst>
            </p:cNvPr>
            <p:cNvSpPr/>
            <p:nvPr/>
          </p:nvSpPr>
          <p:spPr>
            <a:xfrm>
              <a:off x="6942356" y="5381745"/>
              <a:ext cx="7521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 i="1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x</a:t>
              </a:r>
              <a:r>
                <a:rPr lang="nl-NL" sz="2200" baseline="-250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t</a:t>
              </a:r>
              <a:r>
                <a:rPr lang="nl-NL" sz="2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(</a:t>
              </a:r>
              <a:r>
                <a:rPr lang="nl-NL" sz="22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r>
                <a:rPr lang="nl-NL" sz="2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)</a:t>
              </a:r>
              <a:endParaRPr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sp>
        <p:nvSpPr>
          <p:cNvPr id="64" name="Shape 662">
            <a:extLst>
              <a:ext uri="{FF2B5EF4-FFF2-40B4-BE49-F238E27FC236}">
                <a16:creationId xmlns:a16="http://schemas.microsoft.com/office/drawing/2014/main" id="{88661780-84E9-6842-9504-2994F518C347}"/>
              </a:ext>
            </a:extLst>
          </p:cNvPr>
          <p:cNvSpPr/>
          <p:nvPr/>
        </p:nvSpPr>
        <p:spPr>
          <a:xfrm>
            <a:off x="2952270" y="2439683"/>
            <a:ext cx="5623560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1.00		0.00		0.00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5" name="Shape 663">
            <a:extLst>
              <a:ext uri="{FF2B5EF4-FFF2-40B4-BE49-F238E27FC236}">
                <a16:creationId xmlns:a16="http://schemas.microsoft.com/office/drawing/2014/main" id="{A9F7C0EE-251F-1145-8B3B-A68C7FB05A3B}"/>
              </a:ext>
            </a:extLst>
          </p:cNvPr>
          <p:cNvSpPr/>
          <p:nvPr/>
        </p:nvSpPr>
        <p:spPr>
          <a:xfrm>
            <a:off x="2952270" y="2439683"/>
            <a:ext cx="5623560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0.75		0.20		0.05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6" name="Shape 664">
            <a:extLst>
              <a:ext uri="{FF2B5EF4-FFF2-40B4-BE49-F238E27FC236}">
                <a16:creationId xmlns:a16="http://schemas.microsoft.com/office/drawing/2014/main" id="{E697C9BE-9B4E-ED49-BA4F-2890CF1CDC93}"/>
              </a:ext>
            </a:extLst>
          </p:cNvPr>
          <p:cNvSpPr/>
          <p:nvPr/>
        </p:nvSpPr>
        <p:spPr>
          <a:xfrm>
            <a:off x="2952270" y="2439683"/>
            <a:ext cx="5623560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0.56		0.32		0.12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7" name="Shape 665">
            <a:extLst>
              <a:ext uri="{FF2B5EF4-FFF2-40B4-BE49-F238E27FC236}">
                <a16:creationId xmlns:a16="http://schemas.microsoft.com/office/drawing/2014/main" id="{52628933-E367-4D42-8853-D0EC5F0DCACA}"/>
              </a:ext>
            </a:extLst>
          </p:cNvPr>
          <p:cNvSpPr/>
          <p:nvPr/>
        </p:nvSpPr>
        <p:spPr>
          <a:xfrm>
            <a:off x="2952270" y="2439683"/>
            <a:ext cx="5623560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0.42		0.38		0.19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" name="Shape 666">
            <a:extLst>
              <a:ext uri="{FF2B5EF4-FFF2-40B4-BE49-F238E27FC236}">
                <a16:creationId xmlns:a16="http://schemas.microsoft.com/office/drawing/2014/main" id="{3E8D3566-BC71-B74D-9832-61C595DF071F}"/>
              </a:ext>
            </a:extLst>
          </p:cNvPr>
          <p:cNvSpPr/>
          <p:nvPr/>
        </p:nvSpPr>
        <p:spPr>
          <a:xfrm>
            <a:off x="2952270" y="2439683"/>
            <a:ext cx="5623560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0.32		0.41		0.27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9" name="Shape 667">
            <a:extLst>
              <a:ext uri="{FF2B5EF4-FFF2-40B4-BE49-F238E27FC236}">
                <a16:creationId xmlns:a16="http://schemas.microsoft.com/office/drawing/2014/main" id="{EF21DFFA-DD0D-2146-A84A-2AC6105897C1}"/>
              </a:ext>
            </a:extLst>
          </p:cNvPr>
          <p:cNvSpPr/>
          <p:nvPr/>
        </p:nvSpPr>
        <p:spPr>
          <a:xfrm>
            <a:off x="2952270" y="2439683"/>
            <a:ext cx="5623560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5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0.24		0.41		0.35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0" name="Shape 668">
            <a:extLst>
              <a:ext uri="{FF2B5EF4-FFF2-40B4-BE49-F238E27FC236}">
                <a16:creationId xmlns:a16="http://schemas.microsoft.com/office/drawing/2014/main" id="{D599E219-C1DC-D04D-89AA-C072F23D5157}"/>
              </a:ext>
            </a:extLst>
          </p:cNvPr>
          <p:cNvSpPr/>
          <p:nvPr/>
        </p:nvSpPr>
        <p:spPr>
          <a:xfrm>
            <a:off x="2952270" y="2439683"/>
            <a:ext cx="5623560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10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0.06		0.28		0.66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1" name="Shape 669">
            <a:extLst>
              <a:ext uri="{FF2B5EF4-FFF2-40B4-BE49-F238E27FC236}">
                <a16:creationId xmlns:a16="http://schemas.microsoft.com/office/drawing/2014/main" id="{BE887B67-E3AD-E24F-9D57-E118396BBDB3}"/>
              </a:ext>
            </a:extLst>
          </p:cNvPr>
          <p:cNvSpPr/>
          <p:nvPr/>
        </p:nvSpPr>
        <p:spPr>
          <a:xfrm>
            <a:off x="2952270" y="2439683"/>
            <a:ext cx="5623560" cy="430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 i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</a:t>
            </a:r>
            <a:r>
              <a:rPr lang="nl-NL" sz="2200" baseline="-25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15  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[</a:t>
            </a:r>
            <a:r>
              <a:rPr lang="nl-NL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0.01		0.15		0.84</a:t>
            </a:r>
            <a:r>
              <a:rPr lang="nl-NL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]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pSp>
        <p:nvGrpSpPr>
          <p:cNvPr id="72" name="Shape 645">
            <a:extLst>
              <a:ext uri="{FF2B5EF4-FFF2-40B4-BE49-F238E27FC236}">
                <a16:creationId xmlns:a16="http://schemas.microsoft.com/office/drawing/2014/main" id="{5CCC6BAB-7B16-0044-909E-C0AF29A49F73}"/>
              </a:ext>
            </a:extLst>
          </p:cNvPr>
          <p:cNvGrpSpPr/>
          <p:nvPr/>
        </p:nvGrpSpPr>
        <p:grpSpPr>
          <a:xfrm>
            <a:off x="3707731" y="3376707"/>
            <a:ext cx="4881290" cy="845218"/>
            <a:chOff x="1773382" y="4354898"/>
            <a:chExt cx="4881290" cy="845218"/>
          </a:xfrm>
        </p:grpSpPr>
        <p:sp>
          <p:nvSpPr>
            <p:cNvPr id="73" name="Shape 646">
              <a:extLst>
                <a:ext uri="{FF2B5EF4-FFF2-40B4-BE49-F238E27FC236}">
                  <a16:creationId xmlns:a16="http://schemas.microsoft.com/office/drawing/2014/main" id="{70D5E152-4452-2C42-B32A-AC3786740236}"/>
                </a:ext>
              </a:extLst>
            </p:cNvPr>
            <p:cNvSpPr/>
            <p:nvPr/>
          </p:nvSpPr>
          <p:spPr>
            <a:xfrm>
              <a:off x="1773382" y="4359516"/>
              <a:ext cx="1200600" cy="840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nl-NL" sz="1600" b="1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Healthy</a:t>
              </a:r>
              <a:endParaRPr sz="16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Shape 647">
              <a:extLst>
                <a:ext uri="{FF2B5EF4-FFF2-40B4-BE49-F238E27FC236}">
                  <a16:creationId xmlns:a16="http://schemas.microsoft.com/office/drawing/2014/main" id="{CCC66AA8-C596-584A-9632-B9A71A513E27}"/>
                </a:ext>
              </a:extLst>
            </p:cNvPr>
            <p:cNvSpPr/>
            <p:nvPr/>
          </p:nvSpPr>
          <p:spPr>
            <a:xfrm>
              <a:off x="3551382" y="4359516"/>
              <a:ext cx="1200600" cy="840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nl-NL" sz="1600" b="1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Sick</a:t>
              </a:r>
              <a:endParaRPr sz="16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Shape 648">
              <a:extLst>
                <a:ext uri="{FF2B5EF4-FFF2-40B4-BE49-F238E27FC236}">
                  <a16:creationId xmlns:a16="http://schemas.microsoft.com/office/drawing/2014/main" id="{7496A90B-7429-8F4C-89BE-56190B7D1E08}"/>
                </a:ext>
              </a:extLst>
            </p:cNvPr>
            <p:cNvSpPr/>
            <p:nvPr/>
          </p:nvSpPr>
          <p:spPr>
            <a:xfrm>
              <a:off x="5454072" y="4354898"/>
              <a:ext cx="1200600" cy="840600"/>
            </a:xfrm>
            <a:prstGeom prst="ellipse">
              <a:avLst/>
            </a:prstGeom>
            <a:solidFill>
              <a:srgbClr val="E6EEEE"/>
            </a:solidFill>
            <a:ln w="25400" cap="flat" cmpd="sng">
              <a:solidFill>
                <a:srgbClr val="667E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nl-NL" sz="16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Dead</a:t>
              </a:r>
              <a:endParaRPr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Shape 649">
              <a:extLst>
                <a:ext uri="{FF2B5EF4-FFF2-40B4-BE49-F238E27FC236}">
                  <a16:creationId xmlns:a16="http://schemas.microsoft.com/office/drawing/2014/main" id="{4B78F4D6-9229-8749-BD70-5B9F7CF77531}"/>
                </a:ext>
              </a:extLst>
            </p:cNvPr>
            <p:cNvCxnSpPr/>
            <p:nvPr/>
          </p:nvCxnSpPr>
          <p:spPr>
            <a:xfrm rot="-5400000" flipH="1">
              <a:off x="3262432" y="3470766"/>
              <a:ext cx="600" cy="1778100"/>
            </a:xfrm>
            <a:prstGeom prst="curvedConnector3">
              <a:avLst>
                <a:gd name="adj1" fmla="val -26835667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77" name="Shape 650">
              <a:extLst>
                <a:ext uri="{FF2B5EF4-FFF2-40B4-BE49-F238E27FC236}">
                  <a16:creationId xmlns:a16="http://schemas.microsoft.com/office/drawing/2014/main" id="{40902BE7-A00E-9F45-8F69-AA5C0361112F}"/>
                </a:ext>
              </a:extLst>
            </p:cNvPr>
            <p:cNvCxnSpPr/>
            <p:nvPr/>
          </p:nvCxnSpPr>
          <p:spPr>
            <a:xfrm rot="-5400000">
              <a:off x="5100732" y="3405966"/>
              <a:ext cx="4500" cy="1902600"/>
            </a:xfrm>
            <a:prstGeom prst="curvedConnector3">
              <a:avLst>
                <a:gd name="adj1" fmla="val 3136645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78" name="Shape 651">
              <a:extLst>
                <a:ext uri="{FF2B5EF4-FFF2-40B4-BE49-F238E27FC236}">
                  <a16:creationId xmlns:a16="http://schemas.microsoft.com/office/drawing/2014/main" id="{F4B4B06F-1F33-C44E-978B-9332DEC26E97}"/>
                </a:ext>
              </a:extLst>
            </p:cNvPr>
            <p:cNvCxnSpPr/>
            <p:nvPr/>
          </p:nvCxnSpPr>
          <p:spPr>
            <a:xfrm rot="-5400000">
              <a:off x="4211782" y="3357516"/>
              <a:ext cx="4500" cy="3680700"/>
            </a:xfrm>
            <a:prstGeom prst="curvedConnector3">
              <a:avLst>
                <a:gd name="adj1" fmla="val -8890355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79" name="Shape 652">
              <a:extLst>
                <a:ext uri="{FF2B5EF4-FFF2-40B4-BE49-F238E27FC236}">
                  <a16:creationId xmlns:a16="http://schemas.microsoft.com/office/drawing/2014/main" id="{425C69FC-59FD-0946-906D-FCAC6611F9F7}"/>
                </a:ext>
              </a:extLst>
            </p:cNvPr>
            <p:cNvCxnSpPr/>
            <p:nvPr/>
          </p:nvCxnSpPr>
          <p:spPr>
            <a:xfrm rot="10800000" flipH="1">
              <a:off x="1773382" y="4482620"/>
              <a:ext cx="175824" cy="297197"/>
            </a:xfrm>
            <a:prstGeom prst="curvedConnector4">
              <a:avLst>
                <a:gd name="adj1" fmla="val -130016"/>
                <a:gd name="adj2" fmla="val 218340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80" name="Shape 653">
              <a:extLst>
                <a:ext uri="{FF2B5EF4-FFF2-40B4-BE49-F238E27FC236}">
                  <a16:creationId xmlns:a16="http://schemas.microsoft.com/office/drawing/2014/main" id="{1FB13A2D-BB8F-CD41-961E-F8A9BA33A3E9}"/>
                </a:ext>
              </a:extLst>
            </p:cNvPr>
            <p:cNvCxnSpPr/>
            <p:nvPr/>
          </p:nvCxnSpPr>
          <p:spPr>
            <a:xfrm rot="10800000" flipH="1" flipV="1">
              <a:off x="3551382" y="4779815"/>
              <a:ext cx="175824" cy="297197"/>
            </a:xfrm>
            <a:prstGeom prst="curvedConnector4">
              <a:avLst>
                <a:gd name="adj1" fmla="val -130016"/>
                <a:gd name="adj2" fmla="val 218340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81" name="Shape 654">
              <a:extLst>
                <a:ext uri="{FF2B5EF4-FFF2-40B4-BE49-F238E27FC236}">
                  <a16:creationId xmlns:a16="http://schemas.microsoft.com/office/drawing/2014/main" id="{50542E8F-154A-D648-A9CE-35B9C95B5D4B}"/>
                </a:ext>
              </a:extLst>
            </p:cNvPr>
            <p:cNvCxnSpPr/>
            <p:nvPr/>
          </p:nvCxnSpPr>
          <p:spPr>
            <a:xfrm rot="10800000" flipH="1" flipV="1">
              <a:off x="5454072" y="4775197"/>
              <a:ext cx="175824" cy="297197"/>
            </a:xfrm>
            <a:prstGeom prst="curvedConnector4">
              <a:avLst>
                <a:gd name="adj1" fmla="val -130016"/>
                <a:gd name="adj2" fmla="val 218340"/>
              </a:avLst>
            </a:prstGeom>
            <a:noFill/>
            <a:ln w="25400" cap="flat" cmpd="sng">
              <a:solidFill>
                <a:srgbClr val="3F3F3F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grpSp>
        <p:nvGrpSpPr>
          <p:cNvPr id="82" name="Shape 670">
            <a:extLst>
              <a:ext uri="{FF2B5EF4-FFF2-40B4-BE49-F238E27FC236}">
                <a16:creationId xmlns:a16="http://schemas.microsoft.com/office/drawing/2014/main" id="{7F201707-CEFA-F043-A6AB-50E2B00E81D0}"/>
              </a:ext>
            </a:extLst>
          </p:cNvPr>
          <p:cNvGrpSpPr/>
          <p:nvPr/>
        </p:nvGrpSpPr>
        <p:grpSpPr>
          <a:xfrm>
            <a:off x="2929779" y="2933312"/>
            <a:ext cx="4438753" cy="1689585"/>
            <a:chOff x="1405778" y="2795525"/>
            <a:chExt cx="4438753" cy="1689585"/>
          </a:xfrm>
        </p:grpSpPr>
        <p:sp>
          <p:nvSpPr>
            <p:cNvPr id="83" name="Shape 671">
              <a:extLst>
                <a:ext uri="{FF2B5EF4-FFF2-40B4-BE49-F238E27FC236}">
                  <a16:creationId xmlns:a16="http://schemas.microsoft.com/office/drawing/2014/main" id="{A43FE374-529A-9740-9456-D8E820B409EF}"/>
                </a:ext>
              </a:extLst>
            </p:cNvPr>
            <p:cNvSpPr txBox="1"/>
            <p:nvPr/>
          </p:nvSpPr>
          <p:spPr>
            <a:xfrm>
              <a:off x="1405778" y="3287804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0.75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Shape 672">
              <a:extLst>
                <a:ext uri="{FF2B5EF4-FFF2-40B4-BE49-F238E27FC236}">
                  <a16:creationId xmlns:a16="http://schemas.microsoft.com/office/drawing/2014/main" id="{3895BF8A-C4C6-DC49-944B-6F2059FCF740}"/>
                </a:ext>
              </a:extLst>
            </p:cNvPr>
            <p:cNvSpPr txBox="1"/>
            <p:nvPr/>
          </p:nvSpPr>
          <p:spPr>
            <a:xfrm>
              <a:off x="3135655" y="2795525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0.20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Shape 673">
              <a:extLst>
                <a:ext uri="{FF2B5EF4-FFF2-40B4-BE49-F238E27FC236}">
                  <a16:creationId xmlns:a16="http://schemas.microsoft.com/office/drawing/2014/main" id="{4CD82EE9-E34C-F34F-A091-2FB50110AC29}"/>
                </a:ext>
              </a:extLst>
            </p:cNvPr>
            <p:cNvSpPr txBox="1"/>
            <p:nvPr/>
          </p:nvSpPr>
          <p:spPr>
            <a:xfrm>
              <a:off x="4253818" y="4177310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0.05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Shape 674">
              <a:extLst>
                <a:ext uri="{FF2B5EF4-FFF2-40B4-BE49-F238E27FC236}">
                  <a16:creationId xmlns:a16="http://schemas.microsoft.com/office/drawing/2014/main" id="{59ABB691-5E85-EC47-8F83-EF6C74675412}"/>
                </a:ext>
              </a:extLst>
            </p:cNvPr>
            <p:cNvSpPr txBox="1"/>
            <p:nvPr/>
          </p:nvSpPr>
          <p:spPr>
            <a:xfrm>
              <a:off x="4916218" y="2810235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0.15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Shape 675">
              <a:extLst>
                <a:ext uri="{FF2B5EF4-FFF2-40B4-BE49-F238E27FC236}">
                  <a16:creationId xmlns:a16="http://schemas.microsoft.com/office/drawing/2014/main" id="{FA5501E8-E0EA-D245-9A45-106E4EE60294}"/>
                </a:ext>
              </a:extLst>
            </p:cNvPr>
            <p:cNvSpPr txBox="1"/>
            <p:nvPr/>
          </p:nvSpPr>
          <p:spPr>
            <a:xfrm>
              <a:off x="3329603" y="3491412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0.85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Shape 676">
              <a:extLst>
                <a:ext uri="{FF2B5EF4-FFF2-40B4-BE49-F238E27FC236}">
                  <a16:creationId xmlns:a16="http://schemas.microsoft.com/office/drawing/2014/main" id="{11B65D38-2A7D-8B4F-8EFC-57F9F546A558}"/>
                </a:ext>
              </a:extLst>
            </p:cNvPr>
            <p:cNvSpPr txBox="1"/>
            <p:nvPr/>
          </p:nvSpPr>
          <p:spPr>
            <a:xfrm>
              <a:off x="5182131" y="3645312"/>
              <a:ext cx="662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nl-NL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1.0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01656976-CA92-324C-9A8F-3C01C9E38E4F}"/>
              </a:ext>
            </a:extLst>
          </p:cNvPr>
          <p:cNvSpPr/>
          <p:nvPr/>
        </p:nvSpPr>
        <p:spPr>
          <a:xfrm rot="16200000">
            <a:off x="2392678" y="5110886"/>
            <a:ext cx="15358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2400" dirty="0" err="1">
                <a:solidFill>
                  <a:schemeClr val="dk1"/>
                </a:solidFill>
              </a:rPr>
              <a:t>Proportion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33828841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03"/>
          <p:cNvSpPr txBox="1">
            <a:spLocks noGrp="1"/>
          </p:cNvSpPr>
          <p:nvPr>
            <p:ph idx="1"/>
          </p:nvPr>
        </p:nvSpPr>
        <p:spPr>
          <a:xfrm>
            <a:off x="838200" y="15375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17500">
              <a:spcBef>
                <a:spcPts val="0"/>
              </a:spcBef>
              <a:buClr>
                <a:schemeClr val="accent3"/>
              </a:buClr>
              <a:buSzPts val="2400"/>
              <a:buFont typeface="Verdana"/>
              <a:buChar char="•"/>
            </a:pPr>
            <a:r>
              <a:rPr lang="es-ES" dirty="0">
                <a:solidFill>
                  <a:schemeClr val="dk1"/>
                </a:solidFill>
              </a:rPr>
              <a:t>In R, </a:t>
            </a:r>
            <a:r>
              <a:rPr lang="es-ES" dirty="0" err="1">
                <a:solidFill>
                  <a:schemeClr val="dk1"/>
                </a:solidFill>
              </a:rPr>
              <a:t>let’s</a:t>
            </a:r>
            <a:r>
              <a:rPr lang="es-ES" dirty="0">
                <a:solidFill>
                  <a:schemeClr val="dk1"/>
                </a:solidFill>
              </a:rPr>
              <a:t> define </a:t>
            </a:r>
            <a:r>
              <a:rPr lang="es-ES" dirty="0" err="1">
                <a:solidFill>
                  <a:schemeClr val="dk1"/>
                </a:solidFill>
              </a:rPr>
              <a:t>the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cohort</a:t>
            </a:r>
            <a:r>
              <a:rPr lang="es-ES" dirty="0">
                <a:solidFill>
                  <a:schemeClr val="dk1"/>
                </a:solidFill>
              </a:rPr>
              <a:t> trace as </a:t>
            </a:r>
            <a:r>
              <a:rPr lang="es-ES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m_M</a:t>
            </a:r>
            <a:r>
              <a:rPr lang="es-ES" dirty="0">
                <a:solidFill>
                  <a:schemeClr val="dk1"/>
                </a:solidFill>
              </a:rPr>
              <a:t> and </a:t>
            </a:r>
            <a:r>
              <a:rPr lang="es-ES" dirty="0" err="1">
                <a:solidFill>
                  <a:schemeClr val="dk1"/>
                </a:solidFill>
              </a:rPr>
              <a:t>the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transition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matrix</a:t>
            </a:r>
            <a:r>
              <a:rPr lang="es-ES" dirty="0">
                <a:solidFill>
                  <a:schemeClr val="dk1"/>
                </a:solidFill>
              </a:rPr>
              <a:t> as </a:t>
            </a:r>
            <a:r>
              <a:rPr lang="es-ES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m_P</a:t>
            </a:r>
            <a:endParaRPr lang="es-ES" dirty="0">
              <a:solidFill>
                <a:schemeClr val="dk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17500">
              <a:spcBef>
                <a:spcPts val="0"/>
              </a:spcBef>
              <a:buClr>
                <a:schemeClr val="accent3"/>
              </a:buClr>
              <a:buSzPts val="2400"/>
              <a:buFont typeface="Verdana"/>
              <a:buChar char="•"/>
            </a:pPr>
            <a:endParaRPr lang="es-ES" dirty="0">
              <a:solidFill>
                <a:schemeClr val="dk1"/>
              </a:solidFill>
            </a:endParaRPr>
          </a:p>
          <a:p>
            <a:pPr marL="342900" indent="-317500">
              <a:spcBef>
                <a:spcPts val="0"/>
              </a:spcBef>
              <a:buClr>
                <a:schemeClr val="accent3"/>
              </a:buClr>
              <a:buSzPts val="2400"/>
              <a:buFont typeface="Verdana"/>
              <a:buChar char="•"/>
            </a:pPr>
            <a:r>
              <a:rPr lang="es-ES" dirty="0">
                <a:solidFill>
                  <a:schemeClr val="dk1"/>
                </a:solidFill>
              </a:rPr>
              <a:t>To compute </a:t>
            </a:r>
            <a:r>
              <a:rPr lang="es-ES" dirty="0" err="1">
                <a:solidFill>
                  <a:schemeClr val="dk1"/>
                </a:solidFill>
              </a:rPr>
              <a:t>the</a:t>
            </a:r>
            <a:r>
              <a:rPr lang="es-ES" dirty="0">
                <a:solidFill>
                  <a:schemeClr val="dk1"/>
                </a:solidFill>
              </a:rPr>
              <a:t> trace, </a:t>
            </a:r>
            <a:r>
              <a:rPr lang="es-ES" dirty="0" err="1">
                <a:solidFill>
                  <a:schemeClr val="dk1"/>
                </a:solidFill>
              </a:rPr>
              <a:t>iterate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the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matrix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multiplication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between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the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state</a:t>
            </a:r>
            <a:r>
              <a:rPr lang="es-ES" dirty="0">
                <a:solidFill>
                  <a:schemeClr val="dk1"/>
                </a:solidFill>
              </a:rPr>
              <a:t> vector at time t and </a:t>
            </a:r>
            <a:r>
              <a:rPr lang="es-ES" dirty="0" err="1">
                <a:solidFill>
                  <a:schemeClr val="dk1"/>
                </a:solidFill>
              </a:rPr>
              <a:t>the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transition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matrix</a:t>
            </a:r>
            <a:endParaRPr lang="es-ES" dirty="0">
              <a:solidFill>
                <a:schemeClr val="dk1"/>
              </a:solidFill>
            </a:endParaRPr>
          </a:p>
          <a:p>
            <a:pPr marL="342900" indent="-317500">
              <a:spcBef>
                <a:spcPts val="0"/>
              </a:spcBef>
              <a:buClr>
                <a:schemeClr val="accent3"/>
              </a:buClr>
              <a:buSzPts val="2400"/>
              <a:buFont typeface="Verdana"/>
              <a:buChar char="•"/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165100">
              <a:spcBef>
                <a:spcPts val="560"/>
              </a:spcBef>
              <a:buClr>
                <a:srgbClr val="990033"/>
              </a:buClr>
              <a:buSzPts val="28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640" name="Shape 6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nl-NL"/>
              <a:pPr>
                <a:buClr>
                  <a:srgbClr val="000000"/>
                </a:buClr>
              </a:pPr>
              <a:t>67</a:t>
            </a:fld>
            <a:endParaRPr/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97452F86-C735-5A48-A641-CF0096AB0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ea typeface="ＭＳ Ｐゴシック" panose="020B0600070205080204" pitchFamily="34" charset="-128"/>
              </a:rPr>
              <a:t>Markov cohort trace</a:t>
            </a:r>
            <a:endParaRPr lang="en-US" dirty="0"/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88C8FFB-4F3A-0145-AE04-F7E53A5CC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145" y="4233264"/>
            <a:ext cx="7121710" cy="165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885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Shape 8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nl-NL" sz="4000" dirty="0"/>
              <a:t>Markov Trace (Life-Years)</a:t>
            </a:r>
            <a:endParaRPr sz="4000" dirty="0"/>
          </a:p>
        </p:txBody>
      </p:sp>
      <p:sp>
        <p:nvSpPr>
          <p:cNvPr id="819" name="Shape 819"/>
          <p:cNvSpPr txBox="1">
            <a:spLocks noGrp="1"/>
          </p:cNvSpPr>
          <p:nvPr>
            <p:ph idx="1"/>
          </p:nvPr>
        </p:nvSpPr>
        <p:spPr>
          <a:xfrm>
            <a:off x="838199" y="1371600"/>
            <a:ext cx="10515599" cy="480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04800">
              <a:spcBef>
                <a:spcPts val="0"/>
              </a:spcBef>
              <a:buClr>
                <a:schemeClr val="accent3"/>
              </a:buClr>
              <a:buSzPts val="2200"/>
              <a:buFont typeface="Verdana"/>
              <a:buChar char="•"/>
            </a:pPr>
            <a:r>
              <a:rPr lang="nl-NL" i="0" u="none" strike="noStrike" cap="none" dirty="0">
                <a:solidFill>
                  <a:schemeClr val="dk1"/>
                </a:solidFill>
              </a:rPr>
              <a:t>Calculate expected remaining LE, QALE, costs</a:t>
            </a:r>
            <a:endParaRPr dirty="0"/>
          </a:p>
          <a:p>
            <a:pPr marL="742950" lvl="1" indent="-260350">
              <a:spcBef>
                <a:spcPts val="480"/>
              </a:spcBef>
              <a:buSzPts val="2000"/>
              <a:buFont typeface="Verdana"/>
              <a:buChar char="–"/>
            </a:pPr>
            <a:r>
              <a:rPr lang="nl-NL" i="0" u="none" strike="noStrike" cap="none" dirty="0">
                <a:solidFill>
                  <a:schemeClr val="dk1"/>
                </a:solidFill>
              </a:rPr>
              <a:t>Multiply cohort distribution by state-specific values to calculate expected value at each time</a:t>
            </a:r>
            <a:endParaRPr dirty="0"/>
          </a:p>
          <a:p>
            <a:pPr marL="742950" lvl="1" indent="-260350">
              <a:spcBef>
                <a:spcPts val="480"/>
              </a:spcBef>
              <a:buSzPts val="2000"/>
              <a:buFont typeface="Verdana"/>
              <a:buChar char="–"/>
            </a:pPr>
            <a:r>
              <a:rPr lang="nl-NL" i="0" u="none" strike="noStrike" cap="none" dirty="0">
                <a:solidFill>
                  <a:schemeClr val="dk1"/>
                </a:solidFill>
              </a:rPr>
              <a:t>Sum expected values over time (discount if desired)</a:t>
            </a:r>
            <a:endParaRPr dirty="0"/>
          </a:p>
          <a:p>
            <a:pPr marL="342900" indent="-165100">
              <a:spcBef>
                <a:spcPts val="560"/>
              </a:spcBef>
              <a:buClr>
                <a:srgbClr val="990033"/>
              </a:buClr>
              <a:buSzPts val="2800"/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818" name="Shape 8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>
              <a:buClr>
                <a:srgbClr val="000000"/>
              </a:buClr>
            </a:pPr>
            <a:fld id="{00000000-1234-1234-1234-123412341234}" type="slidenum">
              <a:rPr lang="nl-NL" sz="1800">
                <a:solidFill>
                  <a:srgbClr val="009999"/>
                </a:solidFill>
                <a:latin typeface="Verdana"/>
                <a:ea typeface="Verdana"/>
                <a:cs typeface="Verdana"/>
                <a:sym typeface="Verdana"/>
              </a:rPr>
              <a:pPr algn="ctr">
                <a:buClr>
                  <a:srgbClr val="000000"/>
                </a:buClr>
              </a:pPr>
              <a:t>68</a:t>
            </a:fld>
            <a:endParaRPr sz="1800">
              <a:solidFill>
                <a:srgbClr val="00999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802" name="Shape 802"/>
          <p:cNvGraphicFramePr/>
          <p:nvPr/>
        </p:nvGraphicFramePr>
        <p:xfrm>
          <a:off x="2730500" y="3584987"/>
          <a:ext cx="6096000" cy="24689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Healthy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Sick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Dead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E[LYs]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0.75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0.20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0.05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0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0.95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0.56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0.32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0.12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0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0.42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0.38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0.19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0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03" name="Shape 803"/>
          <p:cNvSpPr txBox="1"/>
          <p:nvPr/>
        </p:nvSpPr>
        <p:spPr>
          <a:xfrm>
            <a:off x="2736853" y="3090599"/>
            <a:ext cx="1756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Life-Years:</a:t>
            </a:r>
            <a:endParaRPr/>
          </a:p>
        </p:txBody>
      </p:sp>
      <p:sp>
        <p:nvSpPr>
          <p:cNvPr id="804" name="Shape 804"/>
          <p:cNvSpPr txBox="1"/>
          <p:nvPr/>
        </p:nvSpPr>
        <p:spPr>
          <a:xfrm>
            <a:off x="4197348" y="3090599"/>
            <a:ext cx="757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805" name="Shape 805"/>
          <p:cNvSpPr txBox="1"/>
          <p:nvPr/>
        </p:nvSpPr>
        <p:spPr>
          <a:xfrm>
            <a:off x="5228166" y="3090599"/>
            <a:ext cx="1100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806" name="Shape 806"/>
          <p:cNvSpPr txBox="1"/>
          <p:nvPr/>
        </p:nvSpPr>
        <p:spPr>
          <a:xfrm>
            <a:off x="6476999" y="3090599"/>
            <a:ext cx="1100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/>
          </a:p>
        </p:txBody>
      </p:sp>
      <p:grpSp>
        <p:nvGrpSpPr>
          <p:cNvPr id="807" name="Shape 807"/>
          <p:cNvGrpSpPr/>
          <p:nvPr/>
        </p:nvGrpSpPr>
        <p:grpSpPr>
          <a:xfrm>
            <a:off x="8851899" y="4405026"/>
            <a:ext cx="1363200" cy="1334370"/>
            <a:chOff x="7327899" y="4856276"/>
            <a:chExt cx="1363200" cy="1334370"/>
          </a:xfrm>
        </p:grpSpPr>
        <p:sp>
          <p:nvSpPr>
            <p:cNvPr id="808" name="Shape 808"/>
            <p:cNvSpPr txBox="1"/>
            <p:nvPr/>
          </p:nvSpPr>
          <p:spPr>
            <a:xfrm>
              <a:off x="7359649" y="4856276"/>
              <a:ext cx="12996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* 1/(1+r)</a:t>
              </a:r>
              <a:endParaRPr/>
            </a:p>
          </p:txBody>
        </p:sp>
        <p:sp>
          <p:nvSpPr>
            <p:cNvPr id="809" name="Shape 809"/>
            <p:cNvSpPr txBox="1"/>
            <p:nvPr/>
          </p:nvSpPr>
          <p:spPr>
            <a:xfrm>
              <a:off x="7327899" y="5308061"/>
              <a:ext cx="13632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* 1/(1+r)</a:t>
              </a:r>
              <a:r>
                <a:rPr lang="nl-NL" sz="2200" baseline="30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Shape 810"/>
            <p:cNvSpPr txBox="1"/>
            <p:nvPr/>
          </p:nvSpPr>
          <p:spPr>
            <a:xfrm>
              <a:off x="7359649" y="5759846"/>
              <a:ext cx="12996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* 1/(1+r)</a:t>
              </a:r>
              <a:r>
                <a:rPr lang="nl-NL" sz="2200" baseline="30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1" name="Shape 811"/>
          <p:cNvSpPr txBox="1"/>
          <p:nvPr/>
        </p:nvSpPr>
        <p:spPr>
          <a:xfrm>
            <a:off x="9844860" y="3868215"/>
            <a:ext cx="757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/>
          </a:p>
        </p:txBody>
      </p:sp>
      <p:cxnSp>
        <p:nvCxnSpPr>
          <p:cNvPr id="812" name="Shape 812"/>
          <p:cNvCxnSpPr/>
          <p:nvPr/>
        </p:nvCxnSpPr>
        <p:spPr>
          <a:xfrm>
            <a:off x="10213112" y="4351861"/>
            <a:ext cx="12600" cy="1504200"/>
          </a:xfrm>
          <a:prstGeom prst="straightConnector1">
            <a:avLst/>
          </a:prstGeom>
          <a:noFill/>
          <a:ln w="38100" cap="flat" cmpd="sng">
            <a:solidFill>
              <a:srgbClr val="3F3F3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813" name="Shape 813"/>
          <p:cNvSpPr/>
          <p:nvPr/>
        </p:nvSpPr>
        <p:spPr>
          <a:xfrm>
            <a:off x="7675631" y="4934249"/>
            <a:ext cx="1046700" cy="2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Shape 814"/>
          <p:cNvSpPr/>
          <p:nvPr/>
        </p:nvSpPr>
        <p:spPr>
          <a:xfrm>
            <a:off x="7701029" y="5386034"/>
            <a:ext cx="1125600" cy="2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Shape 815"/>
          <p:cNvSpPr/>
          <p:nvPr/>
        </p:nvSpPr>
        <p:spPr>
          <a:xfrm>
            <a:off x="7675631" y="4549271"/>
            <a:ext cx="1125600" cy="2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Shape 816"/>
          <p:cNvSpPr txBox="1"/>
          <p:nvPr/>
        </p:nvSpPr>
        <p:spPr>
          <a:xfrm>
            <a:off x="5465667" y="6039822"/>
            <a:ext cx="3801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Total life years:   6.77 years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17" name="Shape 817"/>
          <p:cNvSpPr txBox="1"/>
          <p:nvPr/>
        </p:nvSpPr>
        <p:spPr>
          <a:xfrm>
            <a:off x="5465667" y="6362785"/>
            <a:ext cx="4976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(Remaining life expectancy)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5921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Shape 825"/>
          <p:cNvSpPr txBox="1">
            <a:spLocks noGrp="1"/>
          </p:cNvSpPr>
          <p:nvPr>
            <p:ph idx="1"/>
          </p:nvPr>
        </p:nvSpPr>
        <p:spPr>
          <a:xfrm>
            <a:off x="838199" y="1371600"/>
            <a:ext cx="10515599" cy="480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04800">
              <a:spcBef>
                <a:spcPts val="0"/>
              </a:spcBef>
              <a:buClr>
                <a:schemeClr val="accent3"/>
              </a:buClr>
              <a:buSzPts val="2200"/>
              <a:buFont typeface="Verdana"/>
              <a:buChar char="•"/>
            </a:pPr>
            <a:r>
              <a:rPr lang="nl-NL" i="0" u="none" strike="noStrike" cap="none" dirty="0" err="1">
                <a:solidFill>
                  <a:schemeClr val="dk1"/>
                </a:solidFill>
              </a:rPr>
              <a:t>Calculate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expected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remaining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LE, QALE,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costs</a:t>
            </a:r>
            <a:endParaRPr dirty="0"/>
          </a:p>
          <a:p>
            <a:pPr marL="742950" lvl="1" indent="-260350">
              <a:spcBef>
                <a:spcPts val="480"/>
              </a:spcBef>
              <a:buSzPts val="2000"/>
              <a:buFont typeface="Verdana"/>
              <a:buChar char="–"/>
            </a:pPr>
            <a:r>
              <a:rPr lang="nl-NL" i="0" u="none" strike="noStrike" cap="none" dirty="0" err="1">
                <a:solidFill>
                  <a:schemeClr val="dk1"/>
                </a:solidFill>
              </a:rPr>
              <a:t>Multiply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cohort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distribution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by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state-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specific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values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to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calculate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expected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value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at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each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time</a:t>
            </a:r>
            <a:endParaRPr dirty="0"/>
          </a:p>
          <a:p>
            <a:pPr marL="742950" lvl="1" indent="-260350">
              <a:spcBef>
                <a:spcPts val="480"/>
              </a:spcBef>
              <a:buSzPts val="2000"/>
              <a:buFont typeface="Verdana"/>
              <a:buChar char="–"/>
            </a:pPr>
            <a:r>
              <a:rPr lang="nl-NL" i="0" u="none" strike="noStrike" cap="none" dirty="0" err="1">
                <a:solidFill>
                  <a:schemeClr val="dk1"/>
                </a:solidFill>
              </a:rPr>
              <a:t>Sum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expected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values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over time (discount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if</a:t>
            </a:r>
            <a:r>
              <a:rPr lang="nl-NL" i="0" u="none" strike="noStrike" cap="none" dirty="0">
                <a:solidFill>
                  <a:schemeClr val="dk1"/>
                </a:solidFill>
              </a:rPr>
              <a:t> </a:t>
            </a:r>
            <a:r>
              <a:rPr lang="nl-NL" i="0" u="none" strike="noStrike" cap="none" dirty="0" err="1">
                <a:solidFill>
                  <a:schemeClr val="dk1"/>
                </a:solidFill>
              </a:rPr>
              <a:t>desired</a:t>
            </a:r>
            <a:r>
              <a:rPr lang="nl-NL" i="0" u="none" strike="noStrike" cap="none" dirty="0">
                <a:solidFill>
                  <a:schemeClr val="dk1"/>
                </a:solidFill>
              </a:rPr>
              <a:t>)</a:t>
            </a:r>
            <a:endParaRPr dirty="0"/>
          </a:p>
          <a:p>
            <a:pPr marL="342900" indent="-165100">
              <a:spcBef>
                <a:spcPts val="560"/>
              </a:spcBef>
              <a:buClr>
                <a:srgbClr val="990033"/>
              </a:buClr>
              <a:buSzPts val="2800"/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842" name="Shape 8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>
              <a:buClr>
                <a:srgbClr val="000000"/>
              </a:buClr>
            </a:pPr>
            <a:fld id="{00000000-1234-1234-1234-123412341234}" type="slidenum">
              <a:rPr lang="nl-NL" sz="1800">
                <a:solidFill>
                  <a:srgbClr val="009999"/>
                </a:solidFill>
                <a:latin typeface="Verdana"/>
                <a:ea typeface="Verdana"/>
                <a:cs typeface="Verdana"/>
                <a:sym typeface="Verdana"/>
              </a:rPr>
              <a:pPr algn="ctr">
                <a:buClr>
                  <a:srgbClr val="000000"/>
                </a:buClr>
              </a:pPr>
              <a:t>69</a:t>
            </a:fld>
            <a:endParaRPr sz="1800">
              <a:solidFill>
                <a:srgbClr val="00999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26" name="Shape 826"/>
          <p:cNvSpPr txBox="1"/>
          <p:nvPr/>
        </p:nvSpPr>
        <p:spPr>
          <a:xfrm>
            <a:off x="2865912" y="3173724"/>
            <a:ext cx="1056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Costs:</a:t>
            </a:r>
            <a:endParaRPr/>
          </a:p>
        </p:txBody>
      </p:sp>
      <p:sp>
        <p:nvSpPr>
          <p:cNvPr id="827" name="Shape 827"/>
          <p:cNvSpPr txBox="1"/>
          <p:nvPr/>
        </p:nvSpPr>
        <p:spPr>
          <a:xfrm>
            <a:off x="4197348" y="3173724"/>
            <a:ext cx="757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$500</a:t>
            </a:r>
            <a:endParaRPr/>
          </a:p>
        </p:txBody>
      </p:sp>
      <p:sp>
        <p:nvSpPr>
          <p:cNvPr id="828" name="Shape 828"/>
          <p:cNvSpPr txBox="1"/>
          <p:nvPr/>
        </p:nvSpPr>
        <p:spPr>
          <a:xfrm>
            <a:off x="5228166" y="3173724"/>
            <a:ext cx="1100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$2,500</a:t>
            </a:r>
            <a:endParaRPr/>
          </a:p>
        </p:txBody>
      </p:sp>
      <p:sp>
        <p:nvSpPr>
          <p:cNvPr id="829" name="Shape 829"/>
          <p:cNvSpPr txBox="1"/>
          <p:nvPr/>
        </p:nvSpPr>
        <p:spPr>
          <a:xfrm>
            <a:off x="6476999" y="3173724"/>
            <a:ext cx="1100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/>
          </a:p>
        </p:txBody>
      </p:sp>
      <p:graphicFrame>
        <p:nvGraphicFramePr>
          <p:cNvPr id="830" name="Shape 830"/>
          <p:cNvGraphicFramePr/>
          <p:nvPr/>
        </p:nvGraphicFramePr>
        <p:xfrm>
          <a:off x="2730500" y="3584987"/>
          <a:ext cx="6096000" cy="248163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Healthy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Sick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Dead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E[Costs]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0.75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0.20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0.05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$875</a:t>
                      </a:r>
                      <a:endParaRPr sz="2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0.56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0.32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0.12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$1,081</a:t>
                      </a:r>
                      <a:endParaRPr sz="2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0.42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0.38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0.19 </a:t>
                      </a:r>
                      <a:endParaRPr/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$1,1,72</a:t>
                      </a:r>
                      <a:endParaRPr sz="2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" marR="12700" marT="12700" marB="0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31" name="Shape 831"/>
          <p:cNvGrpSpPr/>
          <p:nvPr/>
        </p:nvGrpSpPr>
        <p:grpSpPr>
          <a:xfrm>
            <a:off x="8851899" y="4405026"/>
            <a:ext cx="1363200" cy="1334370"/>
            <a:chOff x="7327899" y="4856276"/>
            <a:chExt cx="1363200" cy="1334370"/>
          </a:xfrm>
        </p:grpSpPr>
        <p:sp>
          <p:nvSpPr>
            <p:cNvPr id="832" name="Shape 832"/>
            <p:cNvSpPr txBox="1"/>
            <p:nvPr/>
          </p:nvSpPr>
          <p:spPr>
            <a:xfrm>
              <a:off x="7359649" y="4856276"/>
              <a:ext cx="12996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* 1/(1+r)</a:t>
              </a:r>
              <a:endParaRPr/>
            </a:p>
          </p:txBody>
        </p:sp>
        <p:sp>
          <p:nvSpPr>
            <p:cNvPr id="833" name="Shape 833"/>
            <p:cNvSpPr txBox="1"/>
            <p:nvPr/>
          </p:nvSpPr>
          <p:spPr>
            <a:xfrm>
              <a:off x="7327899" y="5308061"/>
              <a:ext cx="13632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* 1/(1+r)</a:t>
              </a:r>
              <a:r>
                <a:rPr lang="nl-NL" sz="2200" baseline="30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Shape 834"/>
            <p:cNvSpPr txBox="1"/>
            <p:nvPr/>
          </p:nvSpPr>
          <p:spPr>
            <a:xfrm>
              <a:off x="7359649" y="5759846"/>
              <a:ext cx="12996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nl-NL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* 1/(1+r)</a:t>
              </a:r>
              <a:r>
                <a:rPr lang="nl-NL" sz="2200" baseline="30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5" name="Shape 835"/>
          <p:cNvSpPr txBox="1"/>
          <p:nvPr/>
        </p:nvSpPr>
        <p:spPr>
          <a:xfrm>
            <a:off x="9844860" y="3868215"/>
            <a:ext cx="757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nl-N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/>
          </a:p>
        </p:txBody>
      </p:sp>
      <p:cxnSp>
        <p:nvCxnSpPr>
          <p:cNvPr id="836" name="Shape 836"/>
          <p:cNvCxnSpPr/>
          <p:nvPr/>
        </p:nvCxnSpPr>
        <p:spPr>
          <a:xfrm>
            <a:off x="10213112" y="4351861"/>
            <a:ext cx="12600" cy="1504200"/>
          </a:xfrm>
          <a:prstGeom prst="straightConnector1">
            <a:avLst/>
          </a:prstGeom>
          <a:noFill/>
          <a:ln w="38100" cap="flat" cmpd="sng">
            <a:solidFill>
              <a:srgbClr val="3F3F3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837" name="Shape 837"/>
          <p:cNvSpPr txBox="1"/>
          <p:nvPr/>
        </p:nvSpPr>
        <p:spPr>
          <a:xfrm>
            <a:off x="5964417" y="6039822"/>
            <a:ext cx="3064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Total costs:   $11,557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8" name="Shape 838"/>
          <p:cNvSpPr txBox="1"/>
          <p:nvPr/>
        </p:nvSpPr>
        <p:spPr>
          <a:xfrm>
            <a:off x="5964417" y="6362785"/>
            <a:ext cx="4121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(Total remaining lifetime costs)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9" name="Shape 839"/>
          <p:cNvSpPr/>
          <p:nvPr/>
        </p:nvSpPr>
        <p:spPr>
          <a:xfrm>
            <a:off x="7660791" y="4934249"/>
            <a:ext cx="1046700" cy="2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Shape 840"/>
          <p:cNvSpPr/>
          <p:nvPr/>
        </p:nvSpPr>
        <p:spPr>
          <a:xfrm>
            <a:off x="7662439" y="5386034"/>
            <a:ext cx="1125600" cy="2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Shape 841"/>
          <p:cNvSpPr/>
          <p:nvPr/>
        </p:nvSpPr>
        <p:spPr>
          <a:xfrm>
            <a:off x="7660791" y="4537396"/>
            <a:ext cx="1125600" cy="2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Shape 801">
            <a:extLst>
              <a:ext uri="{FF2B5EF4-FFF2-40B4-BE49-F238E27FC236}">
                <a16:creationId xmlns:a16="http://schemas.microsoft.com/office/drawing/2014/main" id="{22697B76-564D-9541-9DD3-40165F5424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nl-NL" sz="4000" dirty="0"/>
              <a:t>Markov </a:t>
            </a:r>
            <a:r>
              <a:rPr lang="nl-NL" sz="4000" dirty="0" err="1"/>
              <a:t>Trace</a:t>
            </a:r>
            <a:r>
              <a:rPr lang="nl-NL" sz="4000" dirty="0"/>
              <a:t> (</a:t>
            </a:r>
            <a:r>
              <a:rPr lang="nl-NL" sz="4000" dirty="0" err="1"/>
              <a:t>Costs</a:t>
            </a:r>
            <a:r>
              <a:rPr lang="nl-NL" sz="4000" dirty="0"/>
              <a:t>)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50652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2545-7984-8B40-9DC9-7AC249371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2545"/>
          </a:xfrm>
        </p:spPr>
        <p:txBody>
          <a:bodyPr>
            <a:normAutofit/>
          </a:bodyPr>
          <a:lstStyle/>
          <a:p>
            <a:r>
              <a:rPr lang="en-US" dirty="0" err="1"/>
              <a:t>Pr</a:t>
            </a:r>
            <a:r>
              <a:rPr lang="en-US" dirty="0"/>
              <a:t>(Healthy → Dead) may not be conceptualized as one number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p_HD</a:t>
            </a:r>
            <a:r>
              <a:rPr lang="en-US" dirty="0"/>
              <a:t> = </a:t>
            </a:r>
            <a:r>
              <a:rPr lang="en-US" dirty="0" err="1"/>
              <a:t>p_Die</a:t>
            </a:r>
            <a:r>
              <a:rPr lang="en-US" dirty="0"/>
              <a:t> + </a:t>
            </a:r>
            <a:r>
              <a:rPr lang="en-US" dirty="0" err="1"/>
              <a:t>p_Sick</a:t>
            </a:r>
            <a:r>
              <a:rPr lang="en-US" dirty="0"/>
              <a:t> * </a:t>
            </a:r>
            <a:r>
              <a:rPr lang="en-US" dirty="0" err="1"/>
              <a:t>p_DieAcute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887E89-B998-E04B-943A-EE098F18B4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26" r="37059" b="15578"/>
          <a:stretch/>
        </p:blipFill>
        <p:spPr>
          <a:xfrm>
            <a:off x="2844618" y="2442574"/>
            <a:ext cx="6502763" cy="29937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035417-3227-F744-AA0B-0592DEC7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Probabilities</a:t>
            </a:r>
          </a:p>
        </p:txBody>
      </p:sp>
      <p:sp>
        <p:nvSpPr>
          <p:cNvPr id="5" name="Slide Number Placeholder 28">
            <a:extLst>
              <a:ext uri="{FF2B5EF4-FFF2-40B4-BE49-F238E27FC236}">
                <a16:creationId xmlns:a16="http://schemas.microsoft.com/office/drawing/2014/main" id="{E23C36EF-729F-274D-B4B8-E0F72A6F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3864" y="6453336"/>
            <a:ext cx="548640" cy="396240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F7E73E1-F280-4386-87FD-01754258053D}" type="slidenum">
              <a:rPr lang="en-US">
                <a:solidFill>
                  <a:schemeClr val="accent1"/>
                </a:solidFill>
              </a:rPr>
              <a:pPr eaLnBrk="1" hangingPunct="1"/>
              <a:t>70</a:t>
            </a:fld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8382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Monte Carlo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8608A78A-C083-584B-A241-B6A9BF66A09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7751" y="1524000"/>
                <a:ext cx="10791645" cy="4953000"/>
              </a:xfrm>
            </p:spPr>
            <p:txBody>
              <a:bodyPr>
                <a:normAutofit/>
              </a:bodyPr>
              <a:lstStyle/>
              <a:p>
                <a:pPr marL="533400" indent="-533400">
                  <a:buClr>
                    <a:schemeClr val="tx1"/>
                  </a:buClr>
                  <a:buFontTx/>
                  <a:buAutoNum type="arabicPeriod"/>
                </a:pPr>
                <a:r>
                  <a:rPr lang="en-US" altLang="en-MX" dirty="0">
                    <a:ea typeface="ＭＳ Ｐゴシック" panose="020B0600070205080204" pitchFamily="34" charset="-128"/>
                  </a:rPr>
                  <a:t>Determine initial state at random, using 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en-MX" baseline="30000" dirty="0">
                  <a:ea typeface="ＭＳ Ｐゴシック" panose="020B0600070205080204" pitchFamily="34" charset="-128"/>
                </a:endParaRPr>
              </a:p>
              <a:p>
                <a:pPr marL="533400" indent="-533400">
                  <a:buClr>
                    <a:schemeClr val="tx1"/>
                  </a:buClr>
                  <a:buFontTx/>
                  <a:buAutoNum type="arabicPeriod"/>
                </a:pPr>
                <a:r>
                  <a:rPr lang="en-US" altLang="en-MX" dirty="0">
                    <a:ea typeface="ＭＳ Ｐゴシック" panose="020B0600070205080204" pitchFamily="34" charset="-128"/>
                  </a:rPr>
                  <a:t>Simulate individual history, using random numbers to determine actual transitions from transition probabilities</a:t>
                </a:r>
              </a:p>
              <a:p>
                <a:pPr marL="533400" indent="-533400">
                  <a:buClr>
                    <a:schemeClr val="tx1"/>
                  </a:buClr>
                  <a:buFontTx/>
                  <a:buAutoNum type="arabicPeriod"/>
                </a:pPr>
                <a:r>
                  <a:rPr lang="en-US" altLang="en-MX" dirty="0">
                    <a:ea typeface="ＭＳ Ｐゴシック" panose="020B0600070205080204" pitchFamily="34" charset="-128"/>
                  </a:rPr>
                  <a:t>Record # of cycles in each state</a:t>
                </a:r>
              </a:p>
              <a:p>
                <a:pPr marL="533400" indent="-533400">
                  <a:buClr>
                    <a:schemeClr val="tx1"/>
                  </a:buClr>
                  <a:buFontTx/>
                  <a:buAutoNum type="arabicPeriod"/>
                </a:pPr>
                <a:r>
                  <a:rPr lang="en-US" altLang="en-MX" dirty="0">
                    <a:ea typeface="ＭＳ Ｐゴシック" panose="020B0600070205080204" pitchFamily="34" charset="-128"/>
                  </a:rPr>
                  <a:t>Repeat 1-3 many times (</a:t>
                </a:r>
                <a:r>
                  <a:rPr lang="en-US" altLang="en-MX" i="1" dirty="0">
                    <a:ea typeface="ＭＳ Ｐゴシック" panose="020B0600070205080204" pitchFamily="34" charset="-128"/>
                  </a:rPr>
                  <a:t>N</a:t>
                </a:r>
                <a:r>
                  <a:rPr lang="en-US" altLang="en-MX" dirty="0">
                    <a:ea typeface="ＭＳ Ｐゴシック" panose="020B0600070205080204" pitchFamily="34" charset="-128"/>
                  </a:rPr>
                  <a:t>)</a:t>
                </a:r>
              </a:p>
              <a:p>
                <a:pPr marL="533400" indent="-533400">
                  <a:buClr>
                    <a:schemeClr val="tx1"/>
                  </a:buClr>
                  <a:buFontTx/>
                  <a:buAutoNum type="arabicPeriod"/>
                </a:pPr>
                <a:r>
                  <a:rPr lang="en-US" altLang="en-MX" dirty="0">
                    <a:ea typeface="ＭＳ Ｐゴシック" panose="020B0600070205080204" pitchFamily="34" charset="-128"/>
                  </a:rPr>
                  <a:t>Calculate mean #  of cycles from sample of </a:t>
                </a:r>
                <a:r>
                  <a:rPr lang="en-US" altLang="en-MX" i="1" dirty="0">
                    <a:ea typeface="ＭＳ Ｐゴシック" panose="020B0600070205080204" pitchFamily="34" charset="-128"/>
                  </a:rPr>
                  <a:t>N</a:t>
                </a:r>
              </a:p>
              <a:p>
                <a:pPr marL="533400" indent="-533400">
                  <a:buClr>
                    <a:schemeClr val="tx1"/>
                  </a:buClr>
                  <a:buFontTx/>
                  <a:buAutoNum type="arabicPeriod"/>
                </a:pPr>
                <a:r>
                  <a:rPr lang="en-US" altLang="en-MX" dirty="0">
                    <a:ea typeface="ＭＳ Ｐゴシック" panose="020B0600070205080204" pitchFamily="34" charset="-128"/>
                  </a:rPr>
                  <a:t>Calculate sampling error of estimates from sample of </a:t>
                </a:r>
                <a:r>
                  <a:rPr lang="en-US" altLang="en-MX" i="1" dirty="0">
                    <a:ea typeface="ＭＳ Ｐゴシック" panose="020B0600070205080204" pitchFamily="34" charset="-128"/>
                  </a:rPr>
                  <a:t>N</a:t>
                </a:r>
                <a:r>
                  <a:rPr lang="en-US" altLang="en-MX" dirty="0">
                    <a:ea typeface="ＭＳ Ｐゴシック" panose="020B0600070205080204" pitchFamily="34" charset="-128"/>
                  </a:rPr>
                  <a:t>, to check that precision is adequate</a:t>
                </a:r>
              </a:p>
            </p:txBody>
          </p:sp>
        </mc:Choice>
        <mc:Fallback xmlns="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8608A78A-C083-584B-A241-B6A9BF66A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7751" y="1524000"/>
                <a:ext cx="10791645" cy="4953000"/>
              </a:xfrm>
              <a:blipFill>
                <a:blip r:embed="rId3"/>
                <a:stretch>
                  <a:fillRect l="-1410" t="-2813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863667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1DD0FAEC-128B-4247-BF81-AC24DD7B0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609600"/>
            <a:ext cx="6400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MX" sz="4400" b="1" dirty="0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Monte Carlo Simulation</a:t>
            </a:r>
          </a:p>
        </p:txBody>
      </p:sp>
      <p:sp>
        <p:nvSpPr>
          <p:cNvPr id="66562" name="Oval 3">
            <a:extLst>
              <a:ext uri="{FF2B5EF4-FFF2-40B4-BE49-F238E27FC236}">
                <a16:creationId xmlns:a16="http://schemas.microsoft.com/office/drawing/2014/main" id="{A3C8CB15-D7C5-5743-972E-0BB8B9131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1" y="1981201"/>
            <a:ext cx="1635125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 dirty="0">
                <a:latin typeface="Arial Unicode MS" panose="020B0604020202020204" pitchFamily="34" charset="-128"/>
              </a:rPr>
              <a:t>Healthy</a:t>
            </a:r>
          </a:p>
        </p:txBody>
      </p:sp>
      <p:sp>
        <p:nvSpPr>
          <p:cNvPr id="66563" name="Oval 4">
            <a:extLst>
              <a:ext uri="{FF2B5EF4-FFF2-40B4-BE49-F238E27FC236}">
                <a16:creationId xmlns:a16="http://schemas.microsoft.com/office/drawing/2014/main" id="{0EBA85E0-D9B3-4641-AFD9-916F42F0E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1957389"/>
            <a:ext cx="1631950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Dead</a:t>
            </a:r>
          </a:p>
        </p:txBody>
      </p:sp>
      <p:sp>
        <p:nvSpPr>
          <p:cNvPr id="66564" name="Oval 5">
            <a:extLst>
              <a:ext uri="{FF2B5EF4-FFF2-40B4-BE49-F238E27FC236}">
                <a16:creationId xmlns:a16="http://schemas.microsoft.com/office/drawing/2014/main" id="{44B00875-5D07-B449-AB90-B67303286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9" y="1957389"/>
            <a:ext cx="1635125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Sick</a:t>
            </a:r>
          </a:p>
        </p:txBody>
      </p:sp>
      <p:sp>
        <p:nvSpPr>
          <p:cNvPr id="66565" name="Oval 6">
            <a:extLst>
              <a:ext uri="{FF2B5EF4-FFF2-40B4-BE49-F238E27FC236}">
                <a16:creationId xmlns:a16="http://schemas.microsoft.com/office/drawing/2014/main" id="{1A703F3B-7083-6F4A-B9A4-4D6962E0F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9" y="3100389"/>
            <a:ext cx="1635125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 dirty="0">
                <a:latin typeface="Arial Unicode MS" panose="020B0604020202020204" pitchFamily="34" charset="-128"/>
              </a:rPr>
              <a:t>Healthy</a:t>
            </a:r>
          </a:p>
        </p:txBody>
      </p:sp>
      <p:sp>
        <p:nvSpPr>
          <p:cNvPr id="66566" name="Oval 7">
            <a:extLst>
              <a:ext uri="{FF2B5EF4-FFF2-40B4-BE49-F238E27FC236}">
                <a16:creationId xmlns:a16="http://schemas.microsoft.com/office/drawing/2014/main" id="{C9FC24DE-76C1-BF46-B47B-773EEAA88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100389"/>
            <a:ext cx="1631950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Dead</a:t>
            </a:r>
          </a:p>
        </p:txBody>
      </p:sp>
      <p:sp>
        <p:nvSpPr>
          <p:cNvPr id="66567" name="Oval 8">
            <a:extLst>
              <a:ext uri="{FF2B5EF4-FFF2-40B4-BE49-F238E27FC236}">
                <a16:creationId xmlns:a16="http://schemas.microsoft.com/office/drawing/2014/main" id="{C9356367-B89E-9E4D-854B-C4FB5A4B9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989" y="3100389"/>
            <a:ext cx="1635125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Sick</a:t>
            </a:r>
          </a:p>
        </p:txBody>
      </p:sp>
      <p:sp>
        <p:nvSpPr>
          <p:cNvPr id="66568" name="Oval 9">
            <a:extLst>
              <a:ext uri="{FF2B5EF4-FFF2-40B4-BE49-F238E27FC236}">
                <a16:creationId xmlns:a16="http://schemas.microsoft.com/office/drawing/2014/main" id="{459190EE-38C2-5942-A009-FD97A893C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9" y="4319589"/>
            <a:ext cx="1635125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 dirty="0">
                <a:latin typeface="Arial Unicode MS" panose="020B0604020202020204" pitchFamily="34" charset="-128"/>
              </a:rPr>
              <a:t>Healthy</a:t>
            </a:r>
          </a:p>
        </p:txBody>
      </p:sp>
      <p:sp>
        <p:nvSpPr>
          <p:cNvPr id="66569" name="Oval 10">
            <a:extLst>
              <a:ext uri="{FF2B5EF4-FFF2-40B4-BE49-F238E27FC236}">
                <a16:creationId xmlns:a16="http://schemas.microsoft.com/office/drawing/2014/main" id="{B393D630-2EE3-8544-943C-55685F5FB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4243389"/>
            <a:ext cx="1631950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Dead</a:t>
            </a:r>
          </a:p>
        </p:txBody>
      </p:sp>
      <p:sp>
        <p:nvSpPr>
          <p:cNvPr id="66570" name="Oval 11">
            <a:extLst>
              <a:ext uri="{FF2B5EF4-FFF2-40B4-BE49-F238E27FC236}">
                <a16:creationId xmlns:a16="http://schemas.microsoft.com/office/drawing/2014/main" id="{C47CE78A-1042-754E-A327-D70947974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9" y="4243389"/>
            <a:ext cx="1635125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Sick</a:t>
            </a:r>
          </a:p>
        </p:txBody>
      </p:sp>
      <p:sp>
        <p:nvSpPr>
          <p:cNvPr id="66571" name="Line 12">
            <a:extLst>
              <a:ext uri="{FF2B5EF4-FFF2-40B4-BE49-F238E27FC236}">
                <a16:creationId xmlns:a16="http://schemas.microsoft.com/office/drawing/2014/main" id="{6EE29072-7568-6841-9AE2-1EDD231866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438400"/>
            <a:ext cx="914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66572" name="Oval 13">
            <a:extLst>
              <a:ext uri="{FF2B5EF4-FFF2-40B4-BE49-F238E27FC236}">
                <a16:creationId xmlns:a16="http://schemas.microsoft.com/office/drawing/2014/main" id="{614E6605-F677-A144-B9A3-58A3632FA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9" y="5538789"/>
            <a:ext cx="1635125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 dirty="0">
                <a:latin typeface="Arial Unicode MS" panose="020B0604020202020204" pitchFamily="34" charset="-128"/>
              </a:rPr>
              <a:t>Healthy</a:t>
            </a:r>
          </a:p>
        </p:txBody>
      </p:sp>
      <p:sp>
        <p:nvSpPr>
          <p:cNvPr id="66573" name="Oval 14">
            <a:extLst>
              <a:ext uri="{FF2B5EF4-FFF2-40B4-BE49-F238E27FC236}">
                <a16:creationId xmlns:a16="http://schemas.microsoft.com/office/drawing/2014/main" id="{0349EE4B-9E51-E94F-9E99-5EE8304F1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5163" y="5462589"/>
            <a:ext cx="1631950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Dead</a:t>
            </a:r>
          </a:p>
        </p:txBody>
      </p:sp>
      <p:sp>
        <p:nvSpPr>
          <p:cNvPr id="66574" name="Oval 15">
            <a:extLst>
              <a:ext uri="{FF2B5EF4-FFF2-40B4-BE49-F238E27FC236}">
                <a16:creationId xmlns:a16="http://schemas.microsoft.com/office/drawing/2014/main" id="{998741C6-76D4-BD45-A17A-1FD16203D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563" y="5462589"/>
            <a:ext cx="1631950" cy="8096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550" tIns="41275" rIns="82550" bIns="41275" anchor="ctr"/>
          <a:lstStyle>
            <a:lvl1pPr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39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39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3600">
                <a:latin typeface="Arial Unicode MS" panose="020B0604020202020204" pitchFamily="34" charset="-128"/>
              </a:rPr>
              <a:t>Sick</a:t>
            </a:r>
          </a:p>
        </p:txBody>
      </p:sp>
      <p:sp>
        <p:nvSpPr>
          <p:cNvPr id="66575" name="Line 16">
            <a:extLst>
              <a:ext uri="{FF2B5EF4-FFF2-40B4-BE49-F238E27FC236}">
                <a16:creationId xmlns:a16="http://schemas.microsoft.com/office/drawing/2014/main" id="{AC920335-01D2-774C-8D7F-CACE095F9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97175"/>
            <a:ext cx="0" cy="30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66576" name="Line 17">
            <a:extLst>
              <a:ext uri="{FF2B5EF4-FFF2-40B4-BE49-F238E27FC236}">
                <a16:creationId xmlns:a16="http://schemas.microsoft.com/office/drawing/2014/main" id="{49123E08-7990-9149-884B-721893EEB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3810000"/>
            <a:ext cx="762000" cy="685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66577" name="Line 18">
            <a:extLst>
              <a:ext uri="{FF2B5EF4-FFF2-40B4-BE49-F238E27FC236}">
                <a16:creationId xmlns:a16="http://schemas.microsoft.com/office/drawing/2014/main" id="{C6691701-95A5-3441-8589-0AA472FCF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876800"/>
            <a:ext cx="762000" cy="762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66578" name="Line 19">
            <a:extLst>
              <a:ext uri="{FF2B5EF4-FFF2-40B4-BE49-F238E27FC236}">
                <a16:creationId xmlns:a16="http://schemas.microsoft.com/office/drawing/2014/main" id="{8B7A7289-2F1D-4D49-8504-F9DBA1750E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1752600"/>
            <a:ext cx="2286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66579" name="Line 20">
            <a:extLst>
              <a:ext uri="{FF2B5EF4-FFF2-40B4-BE49-F238E27FC236}">
                <a16:creationId xmlns:a16="http://schemas.microsoft.com/office/drawing/2014/main" id="{D43357F4-693C-684E-B3AE-0B130068D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524000"/>
            <a:ext cx="5410200" cy="0"/>
          </a:xfrm>
          <a:prstGeom prst="line">
            <a:avLst/>
          </a:prstGeom>
          <a:noFill/>
          <a:ln w="25400">
            <a:solidFill>
              <a:srgbClr val="A5002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graphicFrame>
        <p:nvGraphicFramePr>
          <p:cNvPr id="66580" name="Object 21">
            <a:extLst>
              <a:ext uri="{FF2B5EF4-FFF2-40B4-BE49-F238E27FC236}">
                <a16:creationId xmlns:a16="http://schemas.microsoft.com/office/drawing/2014/main" id="{CDBDD261-79B3-E84C-AD93-287B90DA4D8C}"/>
              </a:ext>
            </a:extLst>
          </p:cNvPr>
          <p:cNvGraphicFramePr>
            <a:graphicFrameLocks/>
          </p:cNvGraphicFramePr>
          <p:nvPr/>
        </p:nvGraphicFramePr>
        <p:xfrm>
          <a:off x="2813050" y="1860550"/>
          <a:ext cx="5397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ClipArt Gallery" r:id="rId2" imgW="27305000" imgH="12814300" progId="MS_ClipArt_Gallery">
                  <p:embed/>
                </p:oleObj>
              </mc:Choice>
              <mc:Fallback>
                <p:oleObj name="Microsoft ClipArt Gallery" r:id="rId2" imgW="27305000" imgH="12814300" progId="MS_ClipArt_Gallery">
                  <p:embed/>
                  <p:pic>
                    <p:nvPicPr>
                      <p:cNvPr id="66580" name="Object 21">
                        <a:extLst>
                          <a:ext uri="{FF2B5EF4-FFF2-40B4-BE49-F238E27FC236}">
                            <a16:creationId xmlns:a16="http://schemas.microsoft.com/office/drawing/2014/main" id="{CDBDD261-79B3-E84C-AD93-287B90DA4D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050" y="1860550"/>
                        <a:ext cx="5397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1" name="Rectangle 22">
            <a:extLst>
              <a:ext uri="{FF2B5EF4-FFF2-40B4-BE49-F238E27FC236}">
                <a16:creationId xmlns:a16="http://schemas.microsoft.com/office/drawing/2014/main" id="{1E9B47E1-8EAA-794F-B9C7-53DE1103C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666" y="5341938"/>
            <a:ext cx="1203856" cy="52386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MX" sz="2800" dirty="0">
                <a:latin typeface="Arial Unicode MS" panose="020B0604020202020204" pitchFamily="34" charset="-128"/>
              </a:rPr>
              <a:t>HHSD</a:t>
            </a:r>
          </a:p>
        </p:txBody>
      </p:sp>
      <p:sp>
        <p:nvSpPr>
          <p:cNvPr id="66582" name="Line 23">
            <a:extLst>
              <a:ext uri="{FF2B5EF4-FFF2-40B4-BE49-F238E27FC236}">
                <a16:creationId xmlns:a16="http://schemas.microsoft.com/office/drawing/2014/main" id="{862464A1-2D72-B348-B598-86538EA84C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6553200"/>
            <a:ext cx="6553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66583" name="Line 24">
            <a:extLst>
              <a:ext uri="{FF2B5EF4-FFF2-40B4-BE49-F238E27FC236}">
                <a16:creationId xmlns:a16="http://schemas.microsoft.com/office/drawing/2014/main" id="{35043D11-929D-A343-BB14-A31782A811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5943600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sp>
        <p:nvSpPr>
          <p:cNvPr id="66584" name="Line 25">
            <a:extLst>
              <a:ext uri="{FF2B5EF4-FFF2-40B4-BE49-F238E27FC236}">
                <a16:creationId xmlns:a16="http://schemas.microsoft.com/office/drawing/2014/main" id="{3FAD6017-70AC-8045-B8AD-1B312C199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0" y="63246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p:grpSp>
        <p:nvGrpSpPr>
          <p:cNvPr id="66585" name="Group 26">
            <a:extLst>
              <a:ext uri="{FF2B5EF4-FFF2-40B4-BE49-F238E27FC236}">
                <a16:creationId xmlns:a16="http://schemas.microsoft.com/office/drawing/2014/main" id="{20389D84-1552-3F4C-8345-2B02835FB2B5}"/>
              </a:ext>
            </a:extLst>
          </p:cNvPr>
          <p:cNvGrpSpPr>
            <a:grpSpLocks/>
          </p:cNvGrpSpPr>
          <p:nvPr/>
        </p:nvGrpSpPr>
        <p:grpSpPr bwMode="auto">
          <a:xfrm>
            <a:off x="2286001" y="2362200"/>
            <a:ext cx="466725" cy="927100"/>
            <a:chOff x="621" y="2496"/>
            <a:chExt cx="294" cy="584"/>
          </a:xfrm>
        </p:grpSpPr>
        <p:sp>
          <p:nvSpPr>
            <p:cNvPr id="66687" name="Oval 27">
              <a:extLst>
                <a:ext uri="{FF2B5EF4-FFF2-40B4-BE49-F238E27FC236}">
                  <a16:creationId xmlns:a16="http://schemas.microsoft.com/office/drawing/2014/main" id="{64949846-71B9-0449-B489-34B2DAA6A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202" cy="202"/>
            </a:xfrm>
            <a:prstGeom prst="ellips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88" name="Line 28">
              <a:extLst>
                <a:ext uri="{FF2B5EF4-FFF2-40B4-BE49-F238E27FC236}">
                  <a16:creationId xmlns:a16="http://schemas.microsoft.com/office/drawing/2014/main" id="{C166B5A5-E1B1-BE4C-9EF5-C14B56C37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00"/>
              <a:ext cx="0" cy="240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89" name="Line 29">
              <a:extLst>
                <a:ext uri="{FF2B5EF4-FFF2-40B4-BE49-F238E27FC236}">
                  <a16:creationId xmlns:a16="http://schemas.microsoft.com/office/drawing/2014/main" id="{EBCA8FAE-6381-8844-984F-E6A8F35F42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" y="2936"/>
              <a:ext cx="144" cy="144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90" name="Line 30">
              <a:extLst>
                <a:ext uri="{FF2B5EF4-FFF2-40B4-BE49-F238E27FC236}">
                  <a16:creationId xmlns:a16="http://schemas.microsoft.com/office/drawing/2014/main" id="{E34B5A63-CA52-5347-97B6-D71E6C791E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1" y="2706"/>
              <a:ext cx="144" cy="96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91" name="Line 31">
              <a:extLst>
                <a:ext uri="{FF2B5EF4-FFF2-40B4-BE49-F238E27FC236}">
                  <a16:creationId xmlns:a16="http://schemas.microsoft.com/office/drawing/2014/main" id="{667558BC-BC07-494A-A3ED-4916DA27AF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1" y="2706"/>
              <a:ext cx="144" cy="96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92" name="Line 32">
              <a:extLst>
                <a:ext uri="{FF2B5EF4-FFF2-40B4-BE49-F238E27FC236}">
                  <a16:creationId xmlns:a16="http://schemas.microsoft.com/office/drawing/2014/main" id="{18FAA6DF-9F9C-674F-B89F-13BDA3F08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936"/>
              <a:ext cx="144" cy="144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93" name="Oval 33">
              <a:extLst>
                <a:ext uri="{FF2B5EF4-FFF2-40B4-BE49-F238E27FC236}">
                  <a16:creationId xmlns:a16="http://schemas.microsoft.com/office/drawing/2014/main" id="{441A65EC-89D8-6549-8ECC-7C61340C2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94" name="Oval 34">
              <a:extLst>
                <a:ext uri="{FF2B5EF4-FFF2-40B4-BE49-F238E27FC236}">
                  <a16:creationId xmlns:a16="http://schemas.microsoft.com/office/drawing/2014/main" id="{9933302B-6547-8945-9670-2FD0D6248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95" name="Arc 35">
              <a:extLst>
                <a:ext uri="{FF2B5EF4-FFF2-40B4-BE49-F238E27FC236}">
                  <a16:creationId xmlns:a16="http://schemas.microsoft.com/office/drawing/2014/main" id="{5E18981D-7344-1649-8ACE-249562D6F23E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725" y="2573"/>
              <a:ext cx="86" cy="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MX"/>
            </a:p>
          </p:txBody>
        </p:sp>
      </p:grpSp>
      <p:grpSp>
        <p:nvGrpSpPr>
          <p:cNvPr id="66586" name="Group 36">
            <a:extLst>
              <a:ext uri="{FF2B5EF4-FFF2-40B4-BE49-F238E27FC236}">
                <a16:creationId xmlns:a16="http://schemas.microsoft.com/office/drawing/2014/main" id="{7AC18E25-B6EF-CB42-A607-DEC5AF47C8E8}"/>
              </a:ext>
            </a:extLst>
          </p:cNvPr>
          <p:cNvGrpSpPr>
            <a:grpSpLocks/>
          </p:cNvGrpSpPr>
          <p:nvPr/>
        </p:nvGrpSpPr>
        <p:grpSpPr bwMode="auto">
          <a:xfrm>
            <a:off x="2908300" y="1095375"/>
            <a:ext cx="209550" cy="420688"/>
            <a:chOff x="621" y="2496"/>
            <a:chExt cx="294" cy="584"/>
          </a:xfrm>
        </p:grpSpPr>
        <p:sp>
          <p:nvSpPr>
            <p:cNvPr id="66678" name="Oval 37">
              <a:extLst>
                <a:ext uri="{FF2B5EF4-FFF2-40B4-BE49-F238E27FC236}">
                  <a16:creationId xmlns:a16="http://schemas.microsoft.com/office/drawing/2014/main" id="{497DFF8C-DBFF-8143-B978-31DC54494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79" name="Line 38">
              <a:extLst>
                <a:ext uri="{FF2B5EF4-FFF2-40B4-BE49-F238E27FC236}">
                  <a16:creationId xmlns:a16="http://schemas.microsoft.com/office/drawing/2014/main" id="{2734EC01-5FE8-5B49-B344-4CDD6E9BD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80" name="Line 39">
              <a:extLst>
                <a:ext uri="{FF2B5EF4-FFF2-40B4-BE49-F238E27FC236}">
                  <a16:creationId xmlns:a16="http://schemas.microsoft.com/office/drawing/2014/main" id="{79AAB406-B719-6B42-B58D-4B2B8661C5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81" name="Line 40">
              <a:extLst>
                <a:ext uri="{FF2B5EF4-FFF2-40B4-BE49-F238E27FC236}">
                  <a16:creationId xmlns:a16="http://schemas.microsoft.com/office/drawing/2014/main" id="{DDD2A05C-201F-6947-8CB8-EFAE47EA4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82" name="Line 41">
              <a:extLst>
                <a:ext uri="{FF2B5EF4-FFF2-40B4-BE49-F238E27FC236}">
                  <a16:creationId xmlns:a16="http://schemas.microsoft.com/office/drawing/2014/main" id="{547E86FC-DAAD-264E-AEEB-4DAA3EE885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83" name="Line 42">
              <a:extLst>
                <a:ext uri="{FF2B5EF4-FFF2-40B4-BE49-F238E27FC236}">
                  <a16:creationId xmlns:a16="http://schemas.microsoft.com/office/drawing/2014/main" id="{EF1597CA-535A-F040-B91A-6A4458546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84" name="Oval 43">
              <a:extLst>
                <a:ext uri="{FF2B5EF4-FFF2-40B4-BE49-F238E27FC236}">
                  <a16:creationId xmlns:a16="http://schemas.microsoft.com/office/drawing/2014/main" id="{E71294F8-6A0C-5648-BCFE-7919C8B81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85" name="Oval 44">
              <a:extLst>
                <a:ext uri="{FF2B5EF4-FFF2-40B4-BE49-F238E27FC236}">
                  <a16:creationId xmlns:a16="http://schemas.microsoft.com/office/drawing/2014/main" id="{3F2C5AFC-36DA-3D49-B3C3-7A9814013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86" name="Arc 45">
              <a:extLst>
                <a:ext uri="{FF2B5EF4-FFF2-40B4-BE49-F238E27FC236}">
                  <a16:creationId xmlns:a16="http://schemas.microsoft.com/office/drawing/2014/main" id="{06995588-60EA-8C44-BB17-5391DEABFE87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725" y="2573"/>
              <a:ext cx="86" cy="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MX"/>
            </a:p>
          </p:txBody>
        </p:sp>
      </p:grpSp>
      <p:grpSp>
        <p:nvGrpSpPr>
          <p:cNvPr id="66587" name="Group 46">
            <a:extLst>
              <a:ext uri="{FF2B5EF4-FFF2-40B4-BE49-F238E27FC236}">
                <a16:creationId xmlns:a16="http://schemas.microsoft.com/office/drawing/2014/main" id="{6985BADD-C532-2C48-92C7-8B542815D51C}"/>
              </a:ext>
            </a:extLst>
          </p:cNvPr>
          <p:cNvGrpSpPr>
            <a:grpSpLocks/>
          </p:cNvGrpSpPr>
          <p:nvPr/>
        </p:nvGrpSpPr>
        <p:grpSpPr bwMode="auto">
          <a:xfrm>
            <a:off x="2633663" y="1095375"/>
            <a:ext cx="209550" cy="420688"/>
            <a:chOff x="621" y="2496"/>
            <a:chExt cx="294" cy="584"/>
          </a:xfrm>
        </p:grpSpPr>
        <p:sp>
          <p:nvSpPr>
            <p:cNvPr id="66669" name="Oval 47">
              <a:extLst>
                <a:ext uri="{FF2B5EF4-FFF2-40B4-BE49-F238E27FC236}">
                  <a16:creationId xmlns:a16="http://schemas.microsoft.com/office/drawing/2014/main" id="{3569FD5E-5D08-7B47-ADD5-CE4321F24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70" name="Line 48">
              <a:extLst>
                <a:ext uri="{FF2B5EF4-FFF2-40B4-BE49-F238E27FC236}">
                  <a16:creationId xmlns:a16="http://schemas.microsoft.com/office/drawing/2014/main" id="{60D022AA-564C-D448-B9FB-FE0B3EF18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71" name="Line 49">
              <a:extLst>
                <a:ext uri="{FF2B5EF4-FFF2-40B4-BE49-F238E27FC236}">
                  <a16:creationId xmlns:a16="http://schemas.microsoft.com/office/drawing/2014/main" id="{8DB6A2FE-B68C-6C4A-8D46-68B174623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72" name="Line 50">
              <a:extLst>
                <a:ext uri="{FF2B5EF4-FFF2-40B4-BE49-F238E27FC236}">
                  <a16:creationId xmlns:a16="http://schemas.microsoft.com/office/drawing/2014/main" id="{B7A71902-2B45-584F-BF85-22367FE29E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73" name="Line 51">
              <a:extLst>
                <a:ext uri="{FF2B5EF4-FFF2-40B4-BE49-F238E27FC236}">
                  <a16:creationId xmlns:a16="http://schemas.microsoft.com/office/drawing/2014/main" id="{3E5D7DCF-AEF0-E74B-A46D-473650367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74" name="Line 52">
              <a:extLst>
                <a:ext uri="{FF2B5EF4-FFF2-40B4-BE49-F238E27FC236}">
                  <a16:creationId xmlns:a16="http://schemas.microsoft.com/office/drawing/2014/main" id="{875997E7-E915-8F4E-B499-475599573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75" name="Oval 53">
              <a:extLst>
                <a:ext uri="{FF2B5EF4-FFF2-40B4-BE49-F238E27FC236}">
                  <a16:creationId xmlns:a16="http://schemas.microsoft.com/office/drawing/2014/main" id="{F9D0812F-F9E6-EB48-9262-00DFF5E86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76" name="Oval 54">
              <a:extLst>
                <a:ext uri="{FF2B5EF4-FFF2-40B4-BE49-F238E27FC236}">
                  <a16:creationId xmlns:a16="http://schemas.microsoft.com/office/drawing/2014/main" id="{BD35C389-2084-114E-8B6D-819A810A0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77" name="Arc 55">
              <a:extLst>
                <a:ext uri="{FF2B5EF4-FFF2-40B4-BE49-F238E27FC236}">
                  <a16:creationId xmlns:a16="http://schemas.microsoft.com/office/drawing/2014/main" id="{27AC392D-C939-0A49-942F-8BE825F5BD4C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725" y="2573"/>
              <a:ext cx="86" cy="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MX"/>
            </a:p>
          </p:txBody>
        </p:sp>
      </p:grpSp>
      <p:grpSp>
        <p:nvGrpSpPr>
          <p:cNvPr id="66588" name="Group 56">
            <a:extLst>
              <a:ext uri="{FF2B5EF4-FFF2-40B4-BE49-F238E27FC236}">
                <a16:creationId xmlns:a16="http://schemas.microsoft.com/office/drawing/2014/main" id="{3E551BB4-1F6F-AC4B-BC17-831AE6A0CA16}"/>
              </a:ext>
            </a:extLst>
          </p:cNvPr>
          <p:cNvGrpSpPr>
            <a:grpSpLocks/>
          </p:cNvGrpSpPr>
          <p:nvPr/>
        </p:nvGrpSpPr>
        <p:grpSpPr bwMode="auto">
          <a:xfrm>
            <a:off x="2359025" y="1095375"/>
            <a:ext cx="209550" cy="420688"/>
            <a:chOff x="621" y="2496"/>
            <a:chExt cx="294" cy="584"/>
          </a:xfrm>
        </p:grpSpPr>
        <p:sp>
          <p:nvSpPr>
            <p:cNvPr id="66660" name="Oval 57">
              <a:extLst>
                <a:ext uri="{FF2B5EF4-FFF2-40B4-BE49-F238E27FC236}">
                  <a16:creationId xmlns:a16="http://schemas.microsoft.com/office/drawing/2014/main" id="{E3E6EEB2-B945-7E44-B459-033B7DB87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61" name="Line 58">
              <a:extLst>
                <a:ext uri="{FF2B5EF4-FFF2-40B4-BE49-F238E27FC236}">
                  <a16:creationId xmlns:a16="http://schemas.microsoft.com/office/drawing/2014/main" id="{7172C264-9B30-AB46-9187-408E4AD19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62" name="Line 59">
              <a:extLst>
                <a:ext uri="{FF2B5EF4-FFF2-40B4-BE49-F238E27FC236}">
                  <a16:creationId xmlns:a16="http://schemas.microsoft.com/office/drawing/2014/main" id="{1BCDCD23-1386-E442-9BED-3848AC983F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63" name="Line 60">
              <a:extLst>
                <a:ext uri="{FF2B5EF4-FFF2-40B4-BE49-F238E27FC236}">
                  <a16:creationId xmlns:a16="http://schemas.microsoft.com/office/drawing/2014/main" id="{149FA1ED-4B75-6644-980C-9DBB56700B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64" name="Line 61">
              <a:extLst>
                <a:ext uri="{FF2B5EF4-FFF2-40B4-BE49-F238E27FC236}">
                  <a16:creationId xmlns:a16="http://schemas.microsoft.com/office/drawing/2014/main" id="{91A7DE09-AC97-4849-A11F-E6D0AEC2D2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65" name="Line 62">
              <a:extLst>
                <a:ext uri="{FF2B5EF4-FFF2-40B4-BE49-F238E27FC236}">
                  <a16:creationId xmlns:a16="http://schemas.microsoft.com/office/drawing/2014/main" id="{B04BEE71-75A8-6448-AB0E-A9390AB29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66" name="Oval 63">
              <a:extLst>
                <a:ext uri="{FF2B5EF4-FFF2-40B4-BE49-F238E27FC236}">
                  <a16:creationId xmlns:a16="http://schemas.microsoft.com/office/drawing/2014/main" id="{DB7F2C8D-6D04-274F-9945-57B1C3C4B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67" name="Oval 64">
              <a:extLst>
                <a:ext uri="{FF2B5EF4-FFF2-40B4-BE49-F238E27FC236}">
                  <a16:creationId xmlns:a16="http://schemas.microsoft.com/office/drawing/2014/main" id="{8C5B67AB-B497-3141-924A-4F83091F7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68" name="Arc 65">
              <a:extLst>
                <a:ext uri="{FF2B5EF4-FFF2-40B4-BE49-F238E27FC236}">
                  <a16:creationId xmlns:a16="http://schemas.microsoft.com/office/drawing/2014/main" id="{F92E1DE9-9197-5546-A3B7-A380D1968AF7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725" y="2573"/>
              <a:ext cx="86" cy="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MX"/>
            </a:p>
          </p:txBody>
        </p:sp>
      </p:grpSp>
      <p:grpSp>
        <p:nvGrpSpPr>
          <p:cNvPr id="66589" name="Group 66">
            <a:extLst>
              <a:ext uri="{FF2B5EF4-FFF2-40B4-BE49-F238E27FC236}">
                <a16:creationId xmlns:a16="http://schemas.microsoft.com/office/drawing/2014/main" id="{1513CA98-4CE9-8D4A-9295-627FB5F32D7D}"/>
              </a:ext>
            </a:extLst>
          </p:cNvPr>
          <p:cNvGrpSpPr>
            <a:grpSpLocks/>
          </p:cNvGrpSpPr>
          <p:nvPr/>
        </p:nvGrpSpPr>
        <p:grpSpPr bwMode="auto">
          <a:xfrm>
            <a:off x="2085975" y="547689"/>
            <a:ext cx="209550" cy="420687"/>
            <a:chOff x="621" y="2496"/>
            <a:chExt cx="294" cy="584"/>
          </a:xfrm>
        </p:grpSpPr>
        <p:sp>
          <p:nvSpPr>
            <p:cNvPr id="66651" name="Oval 67">
              <a:extLst>
                <a:ext uri="{FF2B5EF4-FFF2-40B4-BE49-F238E27FC236}">
                  <a16:creationId xmlns:a16="http://schemas.microsoft.com/office/drawing/2014/main" id="{BF61F4C6-747F-DB4E-A32F-99C7A687B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52" name="Line 68">
              <a:extLst>
                <a:ext uri="{FF2B5EF4-FFF2-40B4-BE49-F238E27FC236}">
                  <a16:creationId xmlns:a16="http://schemas.microsoft.com/office/drawing/2014/main" id="{9275DC1B-CC85-2148-8161-044F382CC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53" name="Line 69">
              <a:extLst>
                <a:ext uri="{FF2B5EF4-FFF2-40B4-BE49-F238E27FC236}">
                  <a16:creationId xmlns:a16="http://schemas.microsoft.com/office/drawing/2014/main" id="{3ADF925A-E35A-104F-B0CB-6139C1A08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54" name="Line 70">
              <a:extLst>
                <a:ext uri="{FF2B5EF4-FFF2-40B4-BE49-F238E27FC236}">
                  <a16:creationId xmlns:a16="http://schemas.microsoft.com/office/drawing/2014/main" id="{41C5F13A-645F-4D48-849D-3C7DC6D193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55" name="Line 71">
              <a:extLst>
                <a:ext uri="{FF2B5EF4-FFF2-40B4-BE49-F238E27FC236}">
                  <a16:creationId xmlns:a16="http://schemas.microsoft.com/office/drawing/2014/main" id="{EEA923F2-3407-8748-A8C9-9D5A8FD3C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56" name="Line 72">
              <a:extLst>
                <a:ext uri="{FF2B5EF4-FFF2-40B4-BE49-F238E27FC236}">
                  <a16:creationId xmlns:a16="http://schemas.microsoft.com/office/drawing/2014/main" id="{2A8B15D7-0D05-B945-8297-2E9E796F25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57" name="Oval 73">
              <a:extLst>
                <a:ext uri="{FF2B5EF4-FFF2-40B4-BE49-F238E27FC236}">
                  <a16:creationId xmlns:a16="http://schemas.microsoft.com/office/drawing/2014/main" id="{E43B1925-257F-CF45-A5C4-8B7742679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58" name="Oval 74">
              <a:extLst>
                <a:ext uri="{FF2B5EF4-FFF2-40B4-BE49-F238E27FC236}">
                  <a16:creationId xmlns:a16="http://schemas.microsoft.com/office/drawing/2014/main" id="{C061A104-A70B-E947-83E7-FF6398140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59" name="Arc 75">
              <a:extLst>
                <a:ext uri="{FF2B5EF4-FFF2-40B4-BE49-F238E27FC236}">
                  <a16:creationId xmlns:a16="http://schemas.microsoft.com/office/drawing/2014/main" id="{9F875278-EE1E-F74D-852C-8AF87830F7E8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725" y="2573"/>
              <a:ext cx="86" cy="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MX"/>
            </a:p>
          </p:txBody>
        </p:sp>
      </p:grpSp>
      <p:grpSp>
        <p:nvGrpSpPr>
          <p:cNvPr id="66590" name="Group 76">
            <a:extLst>
              <a:ext uri="{FF2B5EF4-FFF2-40B4-BE49-F238E27FC236}">
                <a16:creationId xmlns:a16="http://schemas.microsoft.com/office/drawing/2014/main" id="{E95E6154-ED1B-5849-B73D-DFE2D9B8CA03}"/>
              </a:ext>
            </a:extLst>
          </p:cNvPr>
          <p:cNvGrpSpPr>
            <a:grpSpLocks/>
          </p:cNvGrpSpPr>
          <p:nvPr/>
        </p:nvGrpSpPr>
        <p:grpSpPr bwMode="auto">
          <a:xfrm>
            <a:off x="2359025" y="547689"/>
            <a:ext cx="209550" cy="420687"/>
            <a:chOff x="621" y="2496"/>
            <a:chExt cx="294" cy="584"/>
          </a:xfrm>
        </p:grpSpPr>
        <p:sp>
          <p:nvSpPr>
            <p:cNvPr id="66642" name="Oval 77">
              <a:extLst>
                <a:ext uri="{FF2B5EF4-FFF2-40B4-BE49-F238E27FC236}">
                  <a16:creationId xmlns:a16="http://schemas.microsoft.com/office/drawing/2014/main" id="{C354D4FF-8848-5741-9288-1F432868A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43" name="Line 78">
              <a:extLst>
                <a:ext uri="{FF2B5EF4-FFF2-40B4-BE49-F238E27FC236}">
                  <a16:creationId xmlns:a16="http://schemas.microsoft.com/office/drawing/2014/main" id="{167A743C-E320-0B4C-A421-5E088A965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44" name="Line 79">
              <a:extLst>
                <a:ext uri="{FF2B5EF4-FFF2-40B4-BE49-F238E27FC236}">
                  <a16:creationId xmlns:a16="http://schemas.microsoft.com/office/drawing/2014/main" id="{7A66E677-6350-B341-A7C0-21D929560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45" name="Line 80">
              <a:extLst>
                <a:ext uri="{FF2B5EF4-FFF2-40B4-BE49-F238E27FC236}">
                  <a16:creationId xmlns:a16="http://schemas.microsoft.com/office/drawing/2014/main" id="{31627F26-7E06-1243-9B4C-97F5AB77A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46" name="Line 81">
              <a:extLst>
                <a:ext uri="{FF2B5EF4-FFF2-40B4-BE49-F238E27FC236}">
                  <a16:creationId xmlns:a16="http://schemas.microsoft.com/office/drawing/2014/main" id="{B6986F57-4310-5745-9C35-F5B5B98083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47" name="Line 82">
              <a:extLst>
                <a:ext uri="{FF2B5EF4-FFF2-40B4-BE49-F238E27FC236}">
                  <a16:creationId xmlns:a16="http://schemas.microsoft.com/office/drawing/2014/main" id="{658AE147-79D8-464D-8B63-4540E4198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48" name="Oval 83">
              <a:extLst>
                <a:ext uri="{FF2B5EF4-FFF2-40B4-BE49-F238E27FC236}">
                  <a16:creationId xmlns:a16="http://schemas.microsoft.com/office/drawing/2014/main" id="{74A726EF-8B63-CE42-8270-F7C3567E6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49" name="Oval 84">
              <a:extLst>
                <a:ext uri="{FF2B5EF4-FFF2-40B4-BE49-F238E27FC236}">
                  <a16:creationId xmlns:a16="http://schemas.microsoft.com/office/drawing/2014/main" id="{35F22135-BD19-4B4A-A36C-D3DB31F4C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50" name="Arc 85">
              <a:extLst>
                <a:ext uri="{FF2B5EF4-FFF2-40B4-BE49-F238E27FC236}">
                  <a16:creationId xmlns:a16="http://schemas.microsoft.com/office/drawing/2014/main" id="{5A28C190-9B9D-7947-823A-B5D208E6AB5E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725" y="2573"/>
              <a:ext cx="86" cy="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MX"/>
            </a:p>
          </p:txBody>
        </p:sp>
      </p:grpSp>
      <p:grpSp>
        <p:nvGrpSpPr>
          <p:cNvPr id="66591" name="Group 86">
            <a:extLst>
              <a:ext uri="{FF2B5EF4-FFF2-40B4-BE49-F238E27FC236}">
                <a16:creationId xmlns:a16="http://schemas.microsoft.com/office/drawing/2014/main" id="{786EF187-A5BF-FC45-B2F2-DE728FE6CB30}"/>
              </a:ext>
            </a:extLst>
          </p:cNvPr>
          <p:cNvGrpSpPr>
            <a:grpSpLocks/>
          </p:cNvGrpSpPr>
          <p:nvPr/>
        </p:nvGrpSpPr>
        <p:grpSpPr bwMode="auto">
          <a:xfrm>
            <a:off x="2633663" y="547689"/>
            <a:ext cx="209550" cy="420687"/>
            <a:chOff x="621" y="2496"/>
            <a:chExt cx="294" cy="584"/>
          </a:xfrm>
        </p:grpSpPr>
        <p:sp>
          <p:nvSpPr>
            <p:cNvPr id="66633" name="Oval 87">
              <a:extLst>
                <a:ext uri="{FF2B5EF4-FFF2-40B4-BE49-F238E27FC236}">
                  <a16:creationId xmlns:a16="http://schemas.microsoft.com/office/drawing/2014/main" id="{CE6250BB-78A0-414E-A5BF-DE582D0A0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34" name="Line 88">
              <a:extLst>
                <a:ext uri="{FF2B5EF4-FFF2-40B4-BE49-F238E27FC236}">
                  <a16:creationId xmlns:a16="http://schemas.microsoft.com/office/drawing/2014/main" id="{C2C8CAB0-3E56-4549-B31A-7001D7C4B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35" name="Line 89">
              <a:extLst>
                <a:ext uri="{FF2B5EF4-FFF2-40B4-BE49-F238E27FC236}">
                  <a16:creationId xmlns:a16="http://schemas.microsoft.com/office/drawing/2014/main" id="{883B178F-7EF9-674E-8E71-415D8B5EE3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36" name="Line 90">
              <a:extLst>
                <a:ext uri="{FF2B5EF4-FFF2-40B4-BE49-F238E27FC236}">
                  <a16:creationId xmlns:a16="http://schemas.microsoft.com/office/drawing/2014/main" id="{3F52B0FB-26EA-8A4D-99D5-5649B30811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37" name="Line 91">
              <a:extLst>
                <a:ext uri="{FF2B5EF4-FFF2-40B4-BE49-F238E27FC236}">
                  <a16:creationId xmlns:a16="http://schemas.microsoft.com/office/drawing/2014/main" id="{C71B455A-A5CE-6740-A6C0-CB42B433A5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38" name="Line 92">
              <a:extLst>
                <a:ext uri="{FF2B5EF4-FFF2-40B4-BE49-F238E27FC236}">
                  <a16:creationId xmlns:a16="http://schemas.microsoft.com/office/drawing/2014/main" id="{AE61B7E4-2306-0342-AB2E-7AB1A74C4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39" name="Oval 93">
              <a:extLst>
                <a:ext uri="{FF2B5EF4-FFF2-40B4-BE49-F238E27FC236}">
                  <a16:creationId xmlns:a16="http://schemas.microsoft.com/office/drawing/2014/main" id="{C9A10D15-DFFF-7348-9053-FA2D4C12B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40" name="Oval 94">
              <a:extLst>
                <a:ext uri="{FF2B5EF4-FFF2-40B4-BE49-F238E27FC236}">
                  <a16:creationId xmlns:a16="http://schemas.microsoft.com/office/drawing/2014/main" id="{9E91447D-401F-904D-B38F-949C2C870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41" name="Arc 95">
              <a:extLst>
                <a:ext uri="{FF2B5EF4-FFF2-40B4-BE49-F238E27FC236}">
                  <a16:creationId xmlns:a16="http://schemas.microsoft.com/office/drawing/2014/main" id="{6E2A0266-D272-F245-9650-1E339506AB7F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725" y="2573"/>
              <a:ext cx="86" cy="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MX"/>
            </a:p>
          </p:txBody>
        </p:sp>
      </p:grpSp>
      <p:grpSp>
        <p:nvGrpSpPr>
          <p:cNvPr id="66592" name="Group 96">
            <a:extLst>
              <a:ext uri="{FF2B5EF4-FFF2-40B4-BE49-F238E27FC236}">
                <a16:creationId xmlns:a16="http://schemas.microsoft.com/office/drawing/2014/main" id="{D62B09B4-FEA1-A04A-81BA-413A8F6582E6}"/>
              </a:ext>
            </a:extLst>
          </p:cNvPr>
          <p:cNvGrpSpPr>
            <a:grpSpLocks/>
          </p:cNvGrpSpPr>
          <p:nvPr/>
        </p:nvGrpSpPr>
        <p:grpSpPr bwMode="auto">
          <a:xfrm>
            <a:off x="2085975" y="1095375"/>
            <a:ext cx="209550" cy="420688"/>
            <a:chOff x="621" y="2496"/>
            <a:chExt cx="294" cy="584"/>
          </a:xfrm>
        </p:grpSpPr>
        <p:sp>
          <p:nvSpPr>
            <p:cNvPr id="66624" name="Oval 97">
              <a:extLst>
                <a:ext uri="{FF2B5EF4-FFF2-40B4-BE49-F238E27FC236}">
                  <a16:creationId xmlns:a16="http://schemas.microsoft.com/office/drawing/2014/main" id="{1DE3F32C-FF41-8045-9E7D-2379457EF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25" name="Line 98">
              <a:extLst>
                <a:ext uri="{FF2B5EF4-FFF2-40B4-BE49-F238E27FC236}">
                  <a16:creationId xmlns:a16="http://schemas.microsoft.com/office/drawing/2014/main" id="{F73001F0-6881-ED4A-B386-E463ADDCE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26" name="Line 99">
              <a:extLst>
                <a:ext uri="{FF2B5EF4-FFF2-40B4-BE49-F238E27FC236}">
                  <a16:creationId xmlns:a16="http://schemas.microsoft.com/office/drawing/2014/main" id="{226893D8-EBCE-1B4E-9FB4-705F3E2E52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27" name="Line 100">
              <a:extLst>
                <a:ext uri="{FF2B5EF4-FFF2-40B4-BE49-F238E27FC236}">
                  <a16:creationId xmlns:a16="http://schemas.microsoft.com/office/drawing/2014/main" id="{CADFEE35-1CE4-9440-9259-BE0CC9FF4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28" name="Line 101">
              <a:extLst>
                <a:ext uri="{FF2B5EF4-FFF2-40B4-BE49-F238E27FC236}">
                  <a16:creationId xmlns:a16="http://schemas.microsoft.com/office/drawing/2014/main" id="{07E078E8-1CF5-B843-A8AD-B3B7F56308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29" name="Line 102">
              <a:extLst>
                <a:ext uri="{FF2B5EF4-FFF2-40B4-BE49-F238E27FC236}">
                  <a16:creationId xmlns:a16="http://schemas.microsoft.com/office/drawing/2014/main" id="{AFACDC68-B6D4-8B49-BA9B-31A35CEF4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30" name="Oval 103">
              <a:extLst>
                <a:ext uri="{FF2B5EF4-FFF2-40B4-BE49-F238E27FC236}">
                  <a16:creationId xmlns:a16="http://schemas.microsoft.com/office/drawing/2014/main" id="{4B6EDE2C-3C4E-C947-966A-097346718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31" name="Oval 104">
              <a:extLst>
                <a:ext uri="{FF2B5EF4-FFF2-40B4-BE49-F238E27FC236}">
                  <a16:creationId xmlns:a16="http://schemas.microsoft.com/office/drawing/2014/main" id="{300F53D5-7B36-3C4E-B5D9-2256FAE54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32" name="Arc 105">
              <a:extLst>
                <a:ext uri="{FF2B5EF4-FFF2-40B4-BE49-F238E27FC236}">
                  <a16:creationId xmlns:a16="http://schemas.microsoft.com/office/drawing/2014/main" id="{EC2D33AF-D2A5-EE44-BE8A-58414745916F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725" y="2573"/>
              <a:ext cx="86" cy="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MX"/>
            </a:p>
          </p:txBody>
        </p:sp>
      </p:grpSp>
      <p:grpSp>
        <p:nvGrpSpPr>
          <p:cNvPr id="66593" name="Group 106">
            <a:extLst>
              <a:ext uri="{FF2B5EF4-FFF2-40B4-BE49-F238E27FC236}">
                <a16:creationId xmlns:a16="http://schemas.microsoft.com/office/drawing/2014/main" id="{E016F175-0731-084C-9E9B-83BF2989F8F2}"/>
              </a:ext>
            </a:extLst>
          </p:cNvPr>
          <p:cNvGrpSpPr>
            <a:grpSpLocks/>
          </p:cNvGrpSpPr>
          <p:nvPr/>
        </p:nvGrpSpPr>
        <p:grpSpPr bwMode="auto">
          <a:xfrm>
            <a:off x="2908300" y="547689"/>
            <a:ext cx="209550" cy="420687"/>
            <a:chOff x="621" y="2496"/>
            <a:chExt cx="294" cy="584"/>
          </a:xfrm>
        </p:grpSpPr>
        <p:sp>
          <p:nvSpPr>
            <p:cNvPr id="66615" name="Oval 107">
              <a:extLst>
                <a:ext uri="{FF2B5EF4-FFF2-40B4-BE49-F238E27FC236}">
                  <a16:creationId xmlns:a16="http://schemas.microsoft.com/office/drawing/2014/main" id="{AEA3DBC0-F4EE-E844-AB93-8CBD17B0D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16" name="Line 108">
              <a:extLst>
                <a:ext uri="{FF2B5EF4-FFF2-40B4-BE49-F238E27FC236}">
                  <a16:creationId xmlns:a16="http://schemas.microsoft.com/office/drawing/2014/main" id="{B5E1FFDC-4D29-B646-AF23-359AF5750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17" name="Line 109">
              <a:extLst>
                <a:ext uri="{FF2B5EF4-FFF2-40B4-BE49-F238E27FC236}">
                  <a16:creationId xmlns:a16="http://schemas.microsoft.com/office/drawing/2014/main" id="{102C71C7-7205-E645-ACA9-DE04EBEB73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18" name="Line 110">
              <a:extLst>
                <a:ext uri="{FF2B5EF4-FFF2-40B4-BE49-F238E27FC236}">
                  <a16:creationId xmlns:a16="http://schemas.microsoft.com/office/drawing/2014/main" id="{41E62C98-ADE3-4941-8A61-81FE8610C0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19" name="Line 111">
              <a:extLst>
                <a:ext uri="{FF2B5EF4-FFF2-40B4-BE49-F238E27FC236}">
                  <a16:creationId xmlns:a16="http://schemas.microsoft.com/office/drawing/2014/main" id="{A3DAE647-31C7-0442-B9FA-AC0AA66253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20" name="Line 112">
              <a:extLst>
                <a:ext uri="{FF2B5EF4-FFF2-40B4-BE49-F238E27FC236}">
                  <a16:creationId xmlns:a16="http://schemas.microsoft.com/office/drawing/2014/main" id="{1CEA7B6C-C8E5-EE40-9016-46725E5513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21" name="Oval 113">
              <a:extLst>
                <a:ext uri="{FF2B5EF4-FFF2-40B4-BE49-F238E27FC236}">
                  <a16:creationId xmlns:a16="http://schemas.microsoft.com/office/drawing/2014/main" id="{FD8D3E61-AEA4-7F4F-B247-18CBA1222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22" name="Oval 114">
              <a:extLst>
                <a:ext uri="{FF2B5EF4-FFF2-40B4-BE49-F238E27FC236}">
                  <a16:creationId xmlns:a16="http://schemas.microsoft.com/office/drawing/2014/main" id="{B4697E11-3DC0-6440-94BF-EB76D532A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23" name="Arc 115">
              <a:extLst>
                <a:ext uri="{FF2B5EF4-FFF2-40B4-BE49-F238E27FC236}">
                  <a16:creationId xmlns:a16="http://schemas.microsoft.com/office/drawing/2014/main" id="{8C0668E8-40F1-1244-9DE2-72E01CD1BB99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725" y="2573"/>
              <a:ext cx="86" cy="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MX"/>
            </a:p>
          </p:txBody>
        </p:sp>
      </p:grpSp>
      <p:grpSp>
        <p:nvGrpSpPr>
          <p:cNvPr id="66594" name="Group 116">
            <a:extLst>
              <a:ext uri="{FF2B5EF4-FFF2-40B4-BE49-F238E27FC236}">
                <a16:creationId xmlns:a16="http://schemas.microsoft.com/office/drawing/2014/main" id="{FE3FE75F-C715-C940-BD9A-970ED5066869}"/>
              </a:ext>
            </a:extLst>
          </p:cNvPr>
          <p:cNvGrpSpPr>
            <a:grpSpLocks/>
          </p:cNvGrpSpPr>
          <p:nvPr/>
        </p:nvGrpSpPr>
        <p:grpSpPr bwMode="auto">
          <a:xfrm>
            <a:off x="3182938" y="1095375"/>
            <a:ext cx="209550" cy="420688"/>
            <a:chOff x="621" y="2496"/>
            <a:chExt cx="294" cy="584"/>
          </a:xfrm>
        </p:grpSpPr>
        <p:sp>
          <p:nvSpPr>
            <p:cNvPr id="66606" name="Oval 117">
              <a:extLst>
                <a:ext uri="{FF2B5EF4-FFF2-40B4-BE49-F238E27FC236}">
                  <a16:creationId xmlns:a16="http://schemas.microsoft.com/office/drawing/2014/main" id="{69933F53-4AE1-2B44-9DB3-4A27D7C5E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07" name="Line 118">
              <a:extLst>
                <a:ext uri="{FF2B5EF4-FFF2-40B4-BE49-F238E27FC236}">
                  <a16:creationId xmlns:a16="http://schemas.microsoft.com/office/drawing/2014/main" id="{1A1287A0-5480-8C4A-9F83-E063496A1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08" name="Line 119">
              <a:extLst>
                <a:ext uri="{FF2B5EF4-FFF2-40B4-BE49-F238E27FC236}">
                  <a16:creationId xmlns:a16="http://schemas.microsoft.com/office/drawing/2014/main" id="{50F5C184-2FE7-B541-817D-E674B66A01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09" name="Line 120">
              <a:extLst>
                <a:ext uri="{FF2B5EF4-FFF2-40B4-BE49-F238E27FC236}">
                  <a16:creationId xmlns:a16="http://schemas.microsoft.com/office/drawing/2014/main" id="{1C7637A2-DCA8-C844-843D-0D1A9C5DF1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10" name="Line 121">
              <a:extLst>
                <a:ext uri="{FF2B5EF4-FFF2-40B4-BE49-F238E27FC236}">
                  <a16:creationId xmlns:a16="http://schemas.microsoft.com/office/drawing/2014/main" id="{993ABDE8-0B8B-0A40-AA05-2273898B04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11" name="Line 122">
              <a:extLst>
                <a:ext uri="{FF2B5EF4-FFF2-40B4-BE49-F238E27FC236}">
                  <a16:creationId xmlns:a16="http://schemas.microsoft.com/office/drawing/2014/main" id="{E307B75C-E496-1E44-81DE-6B622E032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12" name="Oval 123">
              <a:extLst>
                <a:ext uri="{FF2B5EF4-FFF2-40B4-BE49-F238E27FC236}">
                  <a16:creationId xmlns:a16="http://schemas.microsoft.com/office/drawing/2014/main" id="{C4B415D9-87B6-A742-AABA-E4406BC01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13" name="Oval 124">
              <a:extLst>
                <a:ext uri="{FF2B5EF4-FFF2-40B4-BE49-F238E27FC236}">
                  <a16:creationId xmlns:a16="http://schemas.microsoft.com/office/drawing/2014/main" id="{47CBE0AA-69AE-FD45-9DBA-296216FE2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14" name="Arc 125">
              <a:extLst>
                <a:ext uri="{FF2B5EF4-FFF2-40B4-BE49-F238E27FC236}">
                  <a16:creationId xmlns:a16="http://schemas.microsoft.com/office/drawing/2014/main" id="{F962AA66-7459-9542-82C1-DA28DA463E9E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725" y="2573"/>
              <a:ext cx="86" cy="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MX"/>
            </a:p>
          </p:txBody>
        </p:sp>
      </p:grpSp>
      <p:grpSp>
        <p:nvGrpSpPr>
          <p:cNvPr id="66595" name="Group 126">
            <a:extLst>
              <a:ext uri="{FF2B5EF4-FFF2-40B4-BE49-F238E27FC236}">
                <a16:creationId xmlns:a16="http://schemas.microsoft.com/office/drawing/2014/main" id="{E9D4CB83-0D5E-2C4F-A2C5-0BECAB6A1C86}"/>
              </a:ext>
            </a:extLst>
          </p:cNvPr>
          <p:cNvGrpSpPr>
            <a:grpSpLocks/>
          </p:cNvGrpSpPr>
          <p:nvPr/>
        </p:nvGrpSpPr>
        <p:grpSpPr bwMode="auto">
          <a:xfrm>
            <a:off x="3182938" y="547689"/>
            <a:ext cx="209550" cy="420687"/>
            <a:chOff x="621" y="2496"/>
            <a:chExt cx="294" cy="584"/>
          </a:xfrm>
        </p:grpSpPr>
        <p:sp>
          <p:nvSpPr>
            <p:cNvPr id="66597" name="Oval 127">
              <a:extLst>
                <a:ext uri="{FF2B5EF4-FFF2-40B4-BE49-F238E27FC236}">
                  <a16:creationId xmlns:a16="http://schemas.microsoft.com/office/drawing/2014/main" id="{A1CED238-55E4-254B-AB18-E92D5D1E5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598" name="Line 128">
              <a:extLst>
                <a:ext uri="{FF2B5EF4-FFF2-40B4-BE49-F238E27FC236}">
                  <a16:creationId xmlns:a16="http://schemas.microsoft.com/office/drawing/2014/main" id="{C009F872-3EF2-414E-BA10-21528C62C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7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599" name="Line 129">
              <a:extLst>
                <a:ext uri="{FF2B5EF4-FFF2-40B4-BE49-F238E27FC236}">
                  <a16:creationId xmlns:a16="http://schemas.microsoft.com/office/drawing/2014/main" id="{3A35E55E-6599-4542-ACE0-A0502F6272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00" name="Line 130">
              <a:extLst>
                <a:ext uri="{FF2B5EF4-FFF2-40B4-BE49-F238E27FC236}">
                  <a16:creationId xmlns:a16="http://schemas.microsoft.com/office/drawing/2014/main" id="{E7A9D5F9-E2AD-2F48-B458-B929AECAEB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01" name="Line 131">
              <a:extLst>
                <a:ext uri="{FF2B5EF4-FFF2-40B4-BE49-F238E27FC236}">
                  <a16:creationId xmlns:a16="http://schemas.microsoft.com/office/drawing/2014/main" id="{70CC608D-DE43-9546-8F3D-19C051000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1" y="270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02" name="Line 132">
              <a:extLst>
                <a:ext uri="{FF2B5EF4-FFF2-40B4-BE49-F238E27FC236}">
                  <a16:creationId xmlns:a16="http://schemas.microsoft.com/office/drawing/2014/main" id="{3D4B2975-EC2B-0647-AE83-301E3E76C8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93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X"/>
            </a:p>
          </p:txBody>
        </p:sp>
        <p:sp>
          <p:nvSpPr>
            <p:cNvPr id="66603" name="Oval 133">
              <a:extLst>
                <a:ext uri="{FF2B5EF4-FFF2-40B4-BE49-F238E27FC236}">
                  <a16:creationId xmlns:a16="http://schemas.microsoft.com/office/drawing/2014/main" id="{2C870974-4244-ED4C-B446-8ED9F66A4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04" name="Oval 134">
              <a:extLst>
                <a:ext uri="{FF2B5EF4-FFF2-40B4-BE49-F238E27FC236}">
                  <a16:creationId xmlns:a16="http://schemas.microsoft.com/office/drawing/2014/main" id="{DA44A6A5-F172-9844-BA26-4F9A89328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544"/>
              <a:ext cx="29" cy="1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MX" altLang="en-MX"/>
            </a:p>
          </p:txBody>
        </p:sp>
        <p:sp>
          <p:nvSpPr>
            <p:cNvPr id="66605" name="Arc 135">
              <a:extLst>
                <a:ext uri="{FF2B5EF4-FFF2-40B4-BE49-F238E27FC236}">
                  <a16:creationId xmlns:a16="http://schemas.microsoft.com/office/drawing/2014/main" id="{9F17758D-CCD7-0944-98AB-1713098A8189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725" y="2573"/>
              <a:ext cx="86" cy="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MX"/>
            </a:p>
          </p:txBody>
        </p:sp>
      </p:grpSp>
      <p:sp>
        <p:nvSpPr>
          <p:cNvPr id="66596" name="Rectangle 136">
            <a:extLst>
              <a:ext uri="{FF2B5EF4-FFF2-40B4-BE49-F238E27FC236}">
                <a16:creationId xmlns:a16="http://schemas.microsoft.com/office/drawing/2014/main" id="{7FDA5CEB-B9BB-9840-BF73-84E2AA7B0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7200"/>
            <a:ext cx="13716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MX" altLang="en-MX"/>
          </a:p>
        </p:txBody>
      </p:sp>
    </p:spTree>
    <p:extLst>
      <p:ext uri="{BB962C8B-B14F-4D97-AF65-F5344CB8AC3E}">
        <p14:creationId xmlns:p14="http://schemas.microsoft.com/office/powerpoint/2010/main" val="9233291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Comparison of Methods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524000"/>
            <a:ext cx="10791645" cy="49530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Cohort Method</a:t>
            </a:r>
          </a:p>
          <a:p>
            <a:pPr lvl="1"/>
            <a:r>
              <a:rPr lang="en-US" altLang="en-MX" dirty="0">
                <a:ea typeface="ＭＳ Ｐゴシック" panose="020B0600070205080204" pitchFamily="34" charset="-128"/>
              </a:rPr>
              <a:t>short computing time</a:t>
            </a:r>
          </a:p>
          <a:p>
            <a:pPr lvl="1"/>
            <a:r>
              <a:rPr lang="en-US" altLang="en-MX" dirty="0">
                <a:ea typeface="ＭＳ Ｐゴシック" panose="020B0600070205080204" pitchFamily="34" charset="-128"/>
              </a:rPr>
              <a:t>no sampling error in estimates</a:t>
            </a:r>
          </a:p>
          <a:p>
            <a:pPr lvl="1"/>
            <a:r>
              <a:rPr lang="en-US" altLang="en-MX" dirty="0">
                <a:ea typeface="ＭＳ Ｐゴシック" panose="020B0600070205080204" pitchFamily="34" charset="-128"/>
              </a:rPr>
              <a:t>relatively easy to debug (with trace)</a:t>
            </a:r>
          </a:p>
          <a:p>
            <a:pPr lvl="1"/>
            <a:r>
              <a:rPr lang="en-US" altLang="en-MX" dirty="0">
                <a:ea typeface="ＭＳ Ｐゴシック" panose="020B0600070205080204" pitchFamily="34" charset="-128"/>
              </a:rPr>
              <a:t>models can get large</a:t>
            </a:r>
          </a:p>
          <a:p>
            <a:r>
              <a:rPr lang="en-US" altLang="en-MX" dirty="0">
                <a:ea typeface="ＭＳ Ｐゴシック" panose="020B0600070205080204" pitchFamily="34" charset="-128"/>
              </a:rPr>
              <a:t>Monte Carlo Simulation</a:t>
            </a:r>
          </a:p>
          <a:p>
            <a:pPr lvl="1"/>
            <a:r>
              <a:rPr lang="en-US" altLang="en-MX" dirty="0">
                <a:ea typeface="ＭＳ Ｐゴシック" panose="020B0600070205080204" pitchFamily="34" charset="-128"/>
              </a:rPr>
              <a:t>works well if there are a large # of variables</a:t>
            </a:r>
          </a:p>
          <a:p>
            <a:pPr lvl="1"/>
            <a:r>
              <a:rPr lang="en-US" altLang="en-MX" dirty="0">
                <a:ea typeface="ＭＳ Ｐゴシック" panose="020B0600070205080204" pitchFamily="34" charset="-128"/>
              </a:rPr>
              <a:t>takes considerable computing time</a:t>
            </a:r>
          </a:p>
          <a:p>
            <a:pPr lvl="1"/>
            <a:r>
              <a:rPr lang="en-US" altLang="en-MX" dirty="0">
                <a:ea typeface="ＭＳ Ｐゴシック" panose="020B0600070205080204" pitchFamily="34" charset="-128"/>
              </a:rPr>
              <a:t>potential for sampling error</a:t>
            </a:r>
          </a:p>
          <a:p>
            <a:pPr lvl="1"/>
            <a:r>
              <a:rPr lang="en-US" altLang="en-MX" dirty="0">
                <a:ea typeface="ＭＳ Ｐゴシック" panose="020B0600070205080204" pitchFamily="34" charset="-128"/>
              </a:rPr>
              <a:t>more trouble debugging</a:t>
            </a:r>
          </a:p>
        </p:txBody>
      </p:sp>
    </p:spTree>
    <p:extLst>
      <p:ext uri="{BB962C8B-B14F-4D97-AF65-F5344CB8AC3E}">
        <p14:creationId xmlns:p14="http://schemas.microsoft.com/office/powerpoint/2010/main" val="3048828900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Benefits of Markov Models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Extrapolate benefits and costs beyond time horizon of existing data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endParaRPr lang="en-US" altLang="en-MX" dirty="0">
              <a:latin typeface="Arial Unicode MS" panose="020B0604020202020204" pitchFamily="34" charset="-128"/>
            </a:endParaRP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Consider all relevant policy strategies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endParaRPr lang="en-US" altLang="en-MX" dirty="0">
              <a:latin typeface="Arial Unicode MS" panose="020B0604020202020204" pitchFamily="34" charset="-128"/>
            </a:endParaRP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Incorporate data from multiple sources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endParaRPr lang="en-US" altLang="en-MX" dirty="0">
              <a:latin typeface="Arial Unicode MS" panose="020B0604020202020204" pitchFamily="34" charset="-128"/>
            </a:endParaRP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Evaluates </a:t>
            </a:r>
            <a:r>
              <a:rPr lang="ja-JP" altLang="en-US">
                <a:latin typeface="Arial Unicode MS" panose="020B0604020202020204" pitchFamily="34" charset="-128"/>
              </a:rPr>
              <a:t>“</a:t>
            </a:r>
            <a:r>
              <a:rPr lang="en-US" altLang="ja-JP" dirty="0">
                <a:latin typeface="Arial Unicode MS" panose="020B0604020202020204" pitchFamily="34" charset="-128"/>
              </a:rPr>
              <a:t>what if</a:t>
            </a:r>
            <a:r>
              <a:rPr lang="ja-JP" altLang="en-US">
                <a:latin typeface="Arial Unicode MS" panose="020B0604020202020204" pitchFamily="34" charset="-128"/>
              </a:rPr>
              <a:t>”</a:t>
            </a:r>
            <a:r>
              <a:rPr lang="en-US" altLang="ja-JP" dirty="0">
                <a:latin typeface="Arial Unicode MS" panose="020B0604020202020204" pitchFamily="34" charset="-128"/>
              </a:rPr>
              <a:t> scenarios</a:t>
            </a:r>
            <a:endParaRPr lang="en-US" altLang="en-MX" dirty="0">
              <a:latin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7651206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Extend Beyond Time Horizon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Can </a:t>
            </a:r>
            <a:r>
              <a:rPr lang="ja-JP" altLang="en-US">
                <a:latin typeface="Arial Unicode MS" panose="020B0604020202020204" pitchFamily="34" charset="-128"/>
              </a:rPr>
              <a:t>“</a:t>
            </a:r>
            <a:r>
              <a:rPr lang="en-US" altLang="ja-JP" dirty="0">
                <a:latin typeface="Arial Unicode MS" panose="020B0604020202020204" pitchFamily="34" charset="-128"/>
              </a:rPr>
              <a:t>translate</a:t>
            </a:r>
            <a:r>
              <a:rPr lang="ja-JP" altLang="en-US">
                <a:latin typeface="Arial Unicode MS" panose="020B0604020202020204" pitchFamily="34" charset="-128"/>
              </a:rPr>
              <a:t>”</a:t>
            </a:r>
            <a:r>
              <a:rPr lang="en-US" altLang="ja-JP" dirty="0">
                <a:latin typeface="Arial Unicode MS" panose="020B0604020202020204" pitchFamily="34" charset="-128"/>
              </a:rPr>
              <a:t> an intermediate endpoint (e.g., increase in CD4 count, decrease of employment) into policy endpoints such as life years saved, quality-adjusted life years gained or economic returns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endParaRPr lang="en-US" altLang="ja-JP" dirty="0">
              <a:latin typeface="Arial Unicode MS" panose="020B0604020202020204" pitchFamily="34" charset="-128"/>
            </a:endParaRP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Incorporates important long-term effects of policies</a:t>
            </a:r>
          </a:p>
        </p:txBody>
      </p:sp>
    </p:spTree>
    <p:extLst>
      <p:ext uri="{BB962C8B-B14F-4D97-AF65-F5344CB8AC3E}">
        <p14:creationId xmlns:p14="http://schemas.microsoft.com/office/powerpoint/2010/main" val="4218798142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Data from Multiple Sources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Data from primary sources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endParaRPr lang="en-US" altLang="en-MX" dirty="0">
              <a:latin typeface="Arial Unicode MS" panose="020B0604020202020204" pitchFamily="34" charset="-128"/>
            </a:endParaRP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Existing databases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endParaRPr lang="en-US" altLang="en-MX" dirty="0">
              <a:latin typeface="Arial Unicode MS" panose="020B0604020202020204" pitchFamily="34" charset="-128"/>
            </a:endParaRP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Studies reported in the literature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endParaRPr lang="en-US" altLang="en-MX" dirty="0">
              <a:latin typeface="Arial Unicode MS" panose="020B0604020202020204" pitchFamily="34" charset="-128"/>
            </a:endParaRPr>
          </a:p>
          <a:p>
            <a:pPr>
              <a:spcBef>
                <a:spcPct val="20000"/>
              </a:spcBef>
              <a:buClr>
                <a:srgbClr val="A50021"/>
              </a:buClr>
              <a:buFontTx/>
              <a:buChar char="•"/>
            </a:pPr>
            <a:r>
              <a:rPr lang="en-US" altLang="en-MX" dirty="0">
                <a:latin typeface="Arial Unicode MS" panose="020B0604020202020204" pitchFamily="34" charset="-128"/>
              </a:rPr>
              <a:t>Expert opinion</a:t>
            </a:r>
          </a:p>
        </p:txBody>
      </p:sp>
    </p:spTree>
    <p:extLst>
      <p:ext uri="{BB962C8B-B14F-4D97-AF65-F5344CB8AC3E}">
        <p14:creationId xmlns:p14="http://schemas.microsoft.com/office/powerpoint/2010/main" val="2535371359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ES" altLang="ja-JP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What If</a:t>
            </a:r>
            <a:r>
              <a:rPr lang="es-ES" altLang="ja-JP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Scenarios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How great would the increase in school attendance of a conditional cash transfer (CCT) program has to be to justify its implementation at a national level?</a:t>
            </a:r>
          </a:p>
          <a:p>
            <a:endParaRPr lang="en-US" altLang="en-MX" dirty="0">
              <a:ea typeface="ＭＳ Ｐゴシック" panose="020B0600070205080204" pitchFamily="34" charset="-128"/>
            </a:endParaRPr>
          </a:p>
          <a:p>
            <a:r>
              <a:rPr lang="en-US" altLang="en-MX" dirty="0">
                <a:ea typeface="ＭＳ Ｐゴシック" panose="020B0600070205080204" pitchFamily="34" charset="-128"/>
              </a:rPr>
              <a:t>How effective does a policy need to be, and at what duration of treatment effect, to replace current practices?</a:t>
            </a:r>
          </a:p>
          <a:p>
            <a:endParaRPr lang="en-US" altLang="en-MX" dirty="0">
              <a:ea typeface="ＭＳ Ｐゴシック" panose="020B0600070205080204" pitchFamily="34" charset="-128"/>
            </a:endParaRPr>
          </a:p>
          <a:p>
            <a:r>
              <a:rPr lang="en-US" altLang="en-MX" dirty="0">
                <a:ea typeface="ＭＳ Ｐゴシック" panose="020B0600070205080204" pitchFamily="34" charset="-128"/>
              </a:rPr>
              <a:t>Identifies important gaps in our knowledge</a:t>
            </a:r>
          </a:p>
        </p:txBody>
      </p:sp>
    </p:spTree>
    <p:extLst>
      <p:ext uri="{BB962C8B-B14F-4D97-AF65-F5344CB8AC3E}">
        <p14:creationId xmlns:p14="http://schemas.microsoft.com/office/powerpoint/2010/main" val="3264915122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Typical Problems in Markov Modeling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981200"/>
            <a:ext cx="10791645" cy="44958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Population heterogeneity (e.g., risk factors)</a:t>
            </a:r>
          </a:p>
          <a:p>
            <a:pPr lvl="1">
              <a:buFont typeface="Times New Roman" panose="02020603050405020304" pitchFamily="18" charset="0"/>
              <a:buChar char="»"/>
            </a:pPr>
            <a:r>
              <a:rPr lang="en-US" altLang="en-MX" dirty="0">
                <a:ea typeface="ＭＳ Ｐゴシック" panose="020B0600070205080204" pitchFamily="34" charset="-128"/>
              </a:rPr>
              <a:t>decompose states</a:t>
            </a:r>
          </a:p>
          <a:p>
            <a:endParaRPr lang="en-US" altLang="en-MX" dirty="0">
              <a:ea typeface="ＭＳ Ｐゴシック" panose="020B0600070205080204" pitchFamily="34" charset="-128"/>
            </a:endParaRPr>
          </a:p>
          <a:p>
            <a:r>
              <a:rPr lang="en-US" altLang="en-MX" dirty="0">
                <a:ea typeface="ＭＳ Ｐゴシック" panose="020B0600070205080204" pitchFamily="34" charset="-128"/>
              </a:rPr>
              <a:t>Transition probabilities depend on prior history</a:t>
            </a:r>
          </a:p>
          <a:p>
            <a:pPr lvl="1">
              <a:buFont typeface="Times New Roman" panose="02020603050405020304" pitchFamily="18" charset="0"/>
              <a:buChar char="»"/>
            </a:pPr>
            <a:r>
              <a:rPr lang="en-US" altLang="en-MX" dirty="0">
                <a:ea typeface="ＭＳ Ｐゴシック" panose="020B0600070205080204" pitchFamily="34" charset="-128"/>
              </a:rPr>
              <a:t>expand state descriptions to reflect prior states</a:t>
            </a:r>
          </a:p>
          <a:p>
            <a:pPr lvl="1">
              <a:buFont typeface="Times New Roman" panose="02020603050405020304" pitchFamily="18" charset="0"/>
              <a:buChar char="»"/>
            </a:pPr>
            <a:r>
              <a:rPr lang="en-US" altLang="en-MX" dirty="0">
                <a:ea typeface="ＭＳ Ｐゴシック" panose="020B0600070205080204" pitchFamily="34" charset="-128"/>
              </a:rPr>
              <a:t>special case (tunnel states): transition probabilities depend on duration in current state</a:t>
            </a:r>
          </a:p>
        </p:txBody>
      </p:sp>
    </p:spTree>
    <p:extLst>
      <p:ext uri="{BB962C8B-B14F-4D97-AF65-F5344CB8AC3E}">
        <p14:creationId xmlns:p14="http://schemas.microsoft.com/office/powerpoint/2010/main" val="1730351218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4E671B71-33CC-A84E-B8F9-594A1D3CBF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6926" y="457200"/>
            <a:ext cx="9207674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Regular (Non-Absorbing) Markov Chains</a:t>
            </a:r>
          </a:p>
        </p:txBody>
      </p:sp>
      <p:graphicFrame>
        <p:nvGraphicFramePr>
          <p:cNvPr id="78850" name="Object 4">
            <a:extLst>
              <a:ext uri="{FF2B5EF4-FFF2-40B4-BE49-F238E27FC236}">
                <a16:creationId xmlns:a16="http://schemas.microsoft.com/office/drawing/2014/main" id="{01705775-3943-9341-ACAF-4903C7A4D7F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4572001" y="1981201"/>
          <a:ext cx="2665413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00300" imgH="16383000" progId="Equation.DSMT4">
                  <p:embed/>
                </p:oleObj>
              </mc:Choice>
              <mc:Fallback>
                <p:oleObj name="Equation" r:id="rId2" imgW="27800300" imgH="16383000" progId="Equation.DSMT4">
                  <p:embed/>
                  <p:pic>
                    <p:nvPicPr>
                      <p:cNvPr id="78850" name="Object 4">
                        <a:extLst>
                          <a:ext uri="{FF2B5EF4-FFF2-40B4-BE49-F238E27FC236}">
                            <a16:creationId xmlns:a16="http://schemas.microsoft.com/office/drawing/2014/main" id="{01705775-3943-9341-ACAF-4903C7A4D7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1981201"/>
                        <a:ext cx="2665413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1" name="Text Box 6">
            <a:extLst>
              <a:ext uri="{FF2B5EF4-FFF2-40B4-BE49-F238E27FC236}">
                <a16:creationId xmlns:a16="http://schemas.microsoft.com/office/drawing/2014/main" id="{873B4737-65EC-0340-898A-4833C612E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1" y="3886200"/>
            <a:ext cx="58451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MX" sz="3200" dirty="0">
                <a:latin typeface="Arial Unicode MS" panose="020B0604020202020204" pitchFamily="34" charset="-128"/>
              </a:rPr>
              <a:t>→ No absorbing state</a:t>
            </a:r>
          </a:p>
        </p:txBody>
      </p:sp>
    </p:spTree>
    <p:extLst>
      <p:ext uri="{BB962C8B-B14F-4D97-AF65-F5344CB8AC3E}">
        <p14:creationId xmlns:p14="http://schemas.microsoft.com/office/powerpoint/2010/main" val="7508494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4">
            <a:extLst>
              <a:ext uri="{FF2B5EF4-FFF2-40B4-BE49-F238E27FC236}">
                <a16:creationId xmlns:a16="http://schemas.microsoft.com/office/drawing/2014/main" id="{E2BE8892-6C7D-8D4E-85E6-582A18012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6717" y="381000"/>
            <a:ext cx="10571967" cy="9144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Example (</a:t>
            </a:r>
            <a:r>
              <a:rPr lang="en-US" altLang="en-MX" dirty="0" err="1">
                <a:ea typeface="ＭＳ Ｐゴシック" panose="020B0600070205080204" pitchFamily="34" charset="-128"/>
              </a:rPr>
              <a:t>Stokey</a:t>
            </a:r>
            <a:r>
              <a:rPr lang="en-US" altLang="en-MX" dirty="0">
                <a:ea typeface="ＭＳ Ｐゴシック" panose="020B0600070205080204" pitchFamily="34" charset="-128"/>
              </a:rPr>
              <a:t> &amp; </a:t>
            </a:r>
            <a:r>
              <a:rPr lang="en-US" altLang="en-MX" dirty="0" err="1">
                <a:ea typeface="ＭＳ Ｐゴシック" panose="020B0600070205080204" pitchFamily="34" charset="-128"/>
              </a:rPr>
              <a:t>Zeckhauser</a:t>
            </a:r>
            <a:r>
              <a:rPr lang="en-US" altLang="en-MX" dirty="0">
                <a:ea typeface="ＭＳ Ｐゴシック" panose="020B0600070205080204" pitchFamily="34" charset="-128"/>
              </a:rPr>
              <a:t>)</a:t>
            </a:r>
          </a:p>
        </p:txBody>
      </p:sp>
      <p:graphicFrame>
        <p:nvGraphicFramePr>
          <p:cNvPr id="79874" name="Object 5">
            <a:extLst>
              <a:ext uri="{FF2B5EF4-FFF2-40B4-BE49-F238E27FC236}">
                <a16:creationId xmlns:a16="http://schemas.microsoft.com/office/drawing/2014/main" id="{A931738A-FF79-5B41-B365-8DDF6D0B4AA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4405314" y="2362200"/>
          <a:ext cx="3379787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597600" imgH="16383000" progId="Equation.DSMT4">
                  <p:embed/>
                </p:oleObj>
              </mc:Choice>
              <mc:Fallback>
                <p:oleObj name="Equation" r:id="rId2" imgW="31597600" imgH="16383000" progId="Equation.DSMT4">
                  <p:embed/>
                  <p:pic>
                    <p:nvPicPr>
                      <p:cNvPr id="79874" name="Object 5">
                        <a:extLst>
                          <a:ext uri="{FF2B5EF4-FFF2-40B4-BE49-F238E27FC236}">
                            <a16:creationId xmlns:a16="http://schemas.microsoft.com/office/drawing/2014/main" id="{A931738A-FF79-5B41-B365-8DDF6D0B4A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314" y="2362200"/>
                        <a:ext cx="3379787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Text Box 7">
            <a:extLst>
              <a:ext uri="{FF2B5EF4-FFF2-40B4-BE49-F238E27FC236}">
                <a16:creationId xmlns:a16="http://schemas.microsoft.com/office/drawing/2014/main" id="{EF5F6D0F-8E87-A74A-A140-14CB7D83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1600200"/>
            <a:ext cx="3330575" cy="739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379538" algn="ctr"/>
                <a:tab pos="27432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379538" algn="ctr"/>
                <a:tab pos="27432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379538" algn="ctr"/>
                <a:tab pos="27432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379538" algn="ctr"/>
                <a:tab pos="27432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379538" algn="ctr"/>
                <a:tab pos="27432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79538" algn="ctr"/>
                <a:tab pos="27432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79538" algn="ctr"/>
                <a:tab pos="27432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79538" algn="ctr"/>
                <a:tab pos="27432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79538" algn="ctr"/>
                <a:tab pos="27432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en-MX">
                <a:latin typeface="Arial Unicode MS" panose="020B0604020202020204" pitchFamily="34" charset="-128"/>
              </a:rPr>
              <a:t>	Sick	Sick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en-MX">
                <a:latin typeface="Arial Unicode MS" panose="020B0604020202020204" pitchFamily="34" charset="-128"/>
              </a:rPr>
              <a:t>Well	1</a:t>
            </a:r>
            <a:r>
              <a:rPr lang="en-US" altLang="en-MX" baseline="30000">
                <a:latin typeface="Arial Unicode MS" panose="020B0604020202020204" pitchFamily="34" charset="-128"/>
              </a:rPr>
              <a:t>st</a:t>
            </a:r>
            <a:r>
              <a:rPr lang="en-US" altLang="en-MX">
                <a:latin typeface="Arial Unicode MS" panose="020B0604020202020204" pitchFamily="34" charset="-128"/>
              </a:rPr>
              <a:t> day	2+ days</a:t>
            </a:r>
          </a:p>
        </p:txBody>
      </p:sp>
      <p:sp>
        <p:nvSpPr>
          <p:cNvPr id="79876" name="Text Box 8">
            <a:extLst>
              <a:ext uri="{FF2B5EF4-FFF2-40B4-BE49-F238E27FC236}">
                <a16:creationId xmlns:a16="http://schemas.microsoft.com/office/drawing/2014/main" id="{4ED353DE-1537-B74F-B3DF-4BD4228EA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729163"/>
            <a:ext cx="603274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290513" indent="-2905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MX" sz="3200" dirty="0">
                <a:latin typeface="Arial Unicode MS" panose="020B0604020202020204" pitchFamily="34" charset="-128"/>
              </a:rPr>
              <a:t>Cycle length = 1 day</a:t>
            </a:r>
          </a:p>
          <a:p>
            <a:pPr>
              <a:buFontTx/>
              <a:buChar char="•"/>
            </a:pPr>
            <a:r>
              <a:rPr lang="en-US" altLang="en-MX" sz="3200" dirty="0">
                <a:latin typeface="Arial Unicode MS" panose="020B0604020202020204" pitchFamily="34" charset="-128"/>
              </a:rPr>
              <a:t>Interested in long-run behavior</a:t>
            </a:r>
          </a:p>
        </p:txBody>
      </p:sp>
    </p:spTree>
    <p:extLst>
      <p:ext uri="{BB962C8B-B14F-4D97-AF65-F5344CB8AC3E}">
        <p14:creationId xmlns:p14="http://schemas.microsoft.com/office/powerpoint/2010/main" val="37257861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6">
            <a:extLst>
              <a:ext uri="{FF2B5EF4-FFF2-40B4-BE49-F238E27FC236}">
                <a16:creationId xmlns:a16="http://schemas.microsoft.com/office/drawing/2014/main" id="{71D7D268-2505-B842-99C7-5C0189D10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1666" y="381000"/>
            <a:ext cx="10371550" cy="762000"/>
          </a:xfrm>
        </p:spPr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If p</a:t>
            </a:r>
            <a:r>
              <a:rPr lang="en-US" altLang="en-MX" i="1" baseline="30000" dirty="0">
                <a:ea typeface="ＭＳ Ｐゴシック" panose="020B0600070205080204" pitchFamily="34" charset="-128"/>
              </a:rPr>
              <a:t>*</a:t>
            </a:r>
            <a:r>
              <a:rPr lang="en-US" altLang="en-MX" dirty="0">
                <a:ea typeface="ＭＳ Ｐゴシック" panose="020B0600070205080204" pitchFamily="34" charset="-128"/>
              </a:rPr>
              <a:t> is equilibrium, then</a:t>
            </a:r>
          </a:p>
        </p:txBody>
      </p:sp>
      <p:graphicFrame>
        <p:nvGraphicFramePr>
          <p:cNvPr id="80898" name="Object 5">
            <a:extLst>
              <a:ext uri="{FF2B5EF4-FFF2-40B4-BE49-F238E27FC236}">
                <a16:creationId xmlns:a16="http://schemas.microsoft.com/office/drawing/2014/main" id="{70A1B18A-E97C-AB48-A0DD-94B0C941AFCF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8598296"/>
              </p:ext>
            </p:extLst>
          </p:nvPr>
        </p:nvGraphicFramePr>
        <p:xfrm>
          <a:off x="3245090" y="1191164"/>
          <a:ext cx="58039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634100" imgH="21945600" progId="Equation.DSMT4">
                  <p:embed/>
                </p:oleObj>
              </mc:Choice>
              <mc:Fallback>
                <p:oleObj name="Equation" r:id="rId2" imgW="69634100" imgH="21945600" progId="Equation.DSMT4">
                  <p:embed/>
                  <p:pic>
                    <p:nvPicPr>
                      <p:cNvPr id="80898" name="Object 5">
                        <a:extLst>
                          <a:ext uri="{FF2B5EF4-FFF2-40B4-BE49-F238E27FC236}">
                            <a16:creationId xmlns:a16="http://schemas.microsoft.com/office/drawing/2014/main" id="{70A1B18A-E97C-AB48-A0DD-94B0C941AF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090" y="1191164"/>
                        <a:ext cx="58039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9" name="Object 8">
            <a:extLst>
              <a:ext uri="{FF2B5EF4-FFF2-40B4-BE49-F238E27FC236}">
                <a16:creationId xmlns:a16="http://schemas.microsoft.com/office/drawing/2014/main" id="{952F44D4-032E-D343-A2BF-D059FC356F4C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924421052"/>
              </p:ext>
            </p:extLst>
          </p:nvPr>
        </p:nvGraphicFramePr>
        <p:xfrm>
          <a:off x="3457574" y="3628126"/>
          <a:ext cx="398145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789100" imgH="17259300" progId="Equation.DSMT4">
                  <p:embed/>
                </p:oleObj>
              </mc:Choice>
              <mc:Fallback>
                <p:oleObj name="Equation" r:id="rId4" imgW="39789100" imgH="17259300" progId="Equation.DSMT4">
                  <p:embed/>
                  <p:pic>
                    <p:nvPicPr>
                      <p:cNvPr id="80899" name="Object 8">
                        <a:extLst>
                          <a:ext uri="{FF2B5EF4-FFF2-40B4-BE49-F238E27FC236}">
                            <a16:creationId xmlns:a16="http://schemas.microsoft.com/office/drawing/2014/main" id="{952F44D4-032E-D343-A2BF-D059FC356F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74" y="3628126"/>
                        <a:ext cx="3981450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0" name="Object 10">
            <a:extLst>
              <a:ext uri="{FF2B5EF4-FFF2-40B4-BE49-F238E27FC236}">
                <a16:creationId xmlns:a16="http://schemas.microsoft.com/office/drawing/2014/main" id="{EDAF7C66-120A-7140-A65F-B82332F66B6F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029402095"/>
              </p:ext>
            </p:extLst>
          </p:nvPr>
        </p:nvGraphicFramePr>
        <p:xfrm>
          <a:off x="3859095" y="5707812"/>
          <a:ext cx="308768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721300" imgH="5562600" progId="Equation.DSMT4">
                  <p:embed/>
                </p:oleObj>
              </mc:Choice>
              <mc:Fallback>
                <p:oleObj name="Equation" r:id="rId6" imgW="30721300" imgH="5562600" progId="Equation.DSMT4">
                  <p:embed/>
                  <p:pic>
                    <p:nvPicPr>
                      <p:cNvPr id="80900" name="Object 10">
                        <a:extLst>
                          <a:ext uri="{FF2B5EF4-FFF2-40B4-BE49-F238E27FC236}">
                            <a16:creationId xmlns:a16="http://schemas.microsoft.com/office/drawing/2014/main" id="{EDAF7C66-120A-7140-A65F-B82332F66B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9095" y="5707812"/>
                        <a:ext cx="308768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1" name="AutoShape 13">
            <a:extLst>
              <a:ext uri="{FF2B5EF4-FFF2-40B4-BE49-F238E27FC236}">
                <a16:creationId xmlns:a16="http://schemas.microsoft.com/office/drawing/2014/main" id="{E706F965-AF78-3D4A-87FA-6FFABED82C80}"/>
              </a:ext>
            </a:extLst>
          </p:cNvPr>
          <p:cNvSpPr>
            <a:spLocks/>
          </p:cNvSpPr>
          <p:nvPr/>
        </p:nvSpPr>
        <p:spPr bwMode="auto">
          <a:xfrm>
            <a:off x="7772400" y="3581400"/>
            <a:ext cx="457200" cy="1676400"/>
          </a:xfrm>
          <a:prstGeom prst="rightBrace">
            <a:avLst>
              <a:gd name="adj1" fmla="val 3055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MX" altLang="en-MX"/>
          </a:p>
        </p:txBody>
      </p:sp>
      <p:sp>
        <p:nvSpPr>
          <p:cNvPr id="80902" name="Text Box 14">
            <a:extLst>
              <a:ext uri="{FF2B5EF4-FFF2-40B4-BE49-F238E27FC236}">
                <a16:creationId xmlns:a16="http://schemas.microsoft.com/office/drawing/2014/main" id="{16FE65BD-3162-5743-8997-9A62F57AB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3810001"/>
            <a:ext cx="1981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MX">
                <a:latin typeface="Arial Unicode MS" panose="020B0604020202020204" pitchFamily="34" charset="-128"/>
              </a:rPr>
              <a:t>two independent equations</a:t>
            </a:r>
          </a:p>
        </p:txBody>
      </p:sp>
    </p:spTree>
    <p:extLst>
      <p:ext uri="{BB962C8B-B14F-4D97-AF65-F5344CB8AC3E}">
        <p14:creationId xmlns:p14="http://schemas.microsoft.com/office/powerpoint/2010/main" val="6802404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4">
            <a:extLst>
              <a:ext uri="{FF2B5EF4-FFF2-40B4-BE49-F238E27FC236}">
                <a16:creationId xmlns:a16="http://schemas.microsoft.com/office/drawing/2014/main" id="{2EDBEC25-6BCC-C241-BC70-B0E463A40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MX" dirty="0">
                <a:ea typeface="ＭＳ Ｐゴシック" panose="020B0600070205080204" pitchFamily="34" charset="-128"/>
              </a:rPr>
              <a:t>Solve 3 equations, 3 unknowns</a:t>
            </a:r>
          </a:p>
        </p:txBody>
      </p:sp>
      <p:graphicFrame>
        <p:nvGraphicFramePr>
          <p:cNvPr id="81922" name="Object 5">
            <a:extLst>
              <a:ext uri="{FF2B5EF4-FFF2-40B4-BE49-F238E27FC236}">
                <a16:creationId xmlns:a16="http://schemas.microsoft.com/office/drawing/2014/main" id="{402DBE11-2FBD-B246-B366-DD19A56E501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5451796"/>
              </p:ext>
            </p:extLst>
          </p:nvPr>
        </p:nvGraphicFramePr>
        <p:xfrm>
          <a:off x="4675489" y="1952445"/>
          <a:ext cx="2073275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06100" imgH="28384500" progId="Equation.DSMT4">
                  <p:embed/>
                </p:oleObj>
              </mc:Choice>
              <mc:Fallback>
                <p:oleObj name="Equation" r:id="rId2" imgW="23406100" imgH="28384500" progId="Equation.DSMT4">
                  <p:embed/>
                  <p:pic>
                    <p:nvPicPr>
                      <p:cNvPr id="81922" name="Object 5">
                        <a:extLst>
                          <a:ext uri="{FF2B5EF4-FFF2-40B4-BE49-F238E27FC236}">
                            <a16:creationId xmlns:a16="http://schemas.microsoft.com/office/drawing/2014/main" id="{402DBE11-2FBD-B246-B366-DD19A56E50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89" y="1952445"/>
                        <a:ext cx="2073275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3" name="Text Box 7">
            <a:extLst>
              <a:ext uri="{FF2B5EF4-FFF2-40B4-BE49-F238E27FC236}">
                <a16:creationId xmlns:a16="http://schemas.microsoft.com/office/drawing/2014/main" id="{6A7A3C17-4FBC-924A-86B9-0245AE60A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199" y="5181600"/>
            <a:ext cx="1051559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MX" sz="3200" dirty="0">
                <a:latin typeface="Arial Unicode MS" panose="020B0604020202020204" pitchFamily="34" charset="-128"/>
              </a:rPr>
              <a:t>Note: The long-run distribution is </a:t>
            </a:r>
            <a:r>
              <a:rPr lang="en-US" altLang="en-MX" sz="3200" b="1" dirty="0">
                <a:latin typeface="Arial Unicode MS" panose="020B0604020202020204" pitchFamily="34" charset="-128"/>
              </a:rPr>
              <a:t>p</a:t>
            </a:r>
            <a:r>
              <a:rPr lang="en-US" altLang="en-MX" sz="3200" i="1" baseline="30000" dirty="0">
                <a:latin typeface="Arial Unicode MS" panose="020B0604020202020204" pitchFamily="34" charset="-128"/>
              </a:rPr>
              <a:t>*</a:t>
            </a:r>
            <a:r>
              <a:rPr lang="en-US" altLang="en-MX" sz="3200" dirty="0">
                <a:latin typeface="Arial Unicode MS" panose="020B0604020202020204" pitchFamily="34" charset="-128"/>
              </a:rPr>
              <a:t>, no matter where you start!</a:t>
            </a:r>
          </a:p>
        </p:txBody>
      </p:sp>
    </p:spTree>
    <p:extLst>
      <p:ext uri="{BB962C8B-B14F-4D97-AF65-F5344CB8AC3E}">
        <p14:creationId xmlns:p14="http://schemas.microsoft.com/office/powerpoint/2010/main" val="14945777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0044B-2652-75C0-735E-465A3172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CE67-ACAA-E4A4-6C4D-4BEEB68464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session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BA415-3FB5-C450-F335-D01EF609D9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13722155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EB97-63EA-F54D-B528-828A630754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Time-dependent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71719-70C9-AF46-9F3B-35598FADE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9894376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Time-dependency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524000"/>
            <a:ext cx="10791645" cy="4953000"/>
          </a:xfrm>
        </p:spPr>
        <p:txBody>
          <a:bodyPr>
            <a:normAutofit/>
          </a:bodyPr>
          <a:lstStyle/>
          <a:p>
            <a:r>
              <a:rPr lang="en-US" b="1" dirty="0"/>
              <a:t>Since start of the simulation</a:t>
            </a:r>
          </a:p>
          <a:p>
            <a:r>
              <a:rPr lang="en-US" dirty="0"/>
              <a:t>Transition probabilities often depend on </a:t>
            </a:r>
            <a:r>
              <a:rPr lang="en-US" u="sng" dirty="0"/>
              <a:t>age</a:t>
            </a:r>
          </a:p>
          <a:p>
            <a:pPr lvl="1"/>
            <a:r>
              <a:rPr lang="en-US" sz="3200" dirty="0"/>
              <a:t>Background mortality</a:t>
            </a:r>
          </a:p>
          <a:p>
            <a:pPr lvl="1"/>
            <a:r>
              <a:rPr lang="en-US" sz="3200" dirty="0"/>
              <a:t>Risk of developing disease or experiencing an event</a:t>
            </a:r>
          </a:p>
          <a:p>
            <a:r>
              <a:rPr lang="en-US" b="1" dirty="0"/>
              <a:t>Depending on state residency </a:t>
            </a:r>
          </a:p>
          <a:p>
            <a:r>
              <a:rPr lang="en-US" dirty="0"/>
              <a:t>Some transition probabilities depend on time since an event, not age</a:t>
            </a:r>
          </a:p>
          <a:p>
            <a:pPr lvl="1"/>
            <a:r>
              <a:rPr lang="en-US" sz="3200" dirty="0"/>
              <a:t>e.g., The risk of developing recurrence among newly diagnosed cancer patients declines with time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50612159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Time-dependency since simulation start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8608A78A-C083-584B-A241-B6A9BF66A09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7751" y="1524000"/>
                <a:ext cx="10791645" cy="4953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Transition probabilities often depend on time since model start</a:t>
                </a:r>
              </a:p>
              <a:p>
                <a:pPr lvl="1"/>
                <a:r>
                  <a:rPr lang="en-US" sz="3200" dirty="0"/>
                  <a:t>Background mortality</a:t>
                </a:r>
              </a:p>
              <a:p>
                <a:pPr lvl="1"/>
                <a:r>
                  <a:rPr lang="en-US" sz="3200" dirty="0"/>
                  <a:t>Risk of developing disease or experiencing an event</a:t>
                </a:r>
              </a:p>
              <a:p>
                <a:pPr lvl="1"/>
                <a:endParaRPr lang="en-US" sz="3200" dirty="0"/>
              </a:p>
              <a:p>
                <a:r>
                  <a:rPr lang="en-US" dirty="0"/>
                  <a:t>In other words, matrix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is not the same every cycle</a:t>
                </a:r>
              </a:p>
              <a:p>
                <a:endParaRPr lang="en-US" dirty="0"/>
              </a:p>
              <a:p>
                <a:r>
                  <a:rPr lang="en-US" dirty="0"/>
                  <a:t>Replace matrix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with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time since model start</a:t>
                </a:r>
              </a:p>
            </p:txBody>
          </p:sp>
        </mc:Choice>
        <mc:Fallback xmlns="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8608A78A-C083-584B-A241-B6A9BF66A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7751" y="1524000"/>
                <a:ext cx="10791645" cy="4953000"/>
              </a:xfrm>
              <a:blipFill>
                <a:blip r:embed="rId3"/>
                <a:stretch>
                  <a:fillRect l="-1293" t="-2813" r="-2115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40480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EC247346-D111-634A-96DB-6B4E2ABC7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728" y="2854269"/>
            <a:ext cx="5690544" cy="3938415"/>
          </a:xfrm>
          <a:prstGeom prst="rect">
            <a:avLst/>
          </a:prstGeom>
        </p:spPr>
      </p:pic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MX" dirty="0">
                <a:ea typeface="ＭＳ Ｐゴシック" panose="020B0600070205080204" pitchFamily="34" charset="-128"/>
              </a:rPr>
              <a:t>The Sick-Sicker model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3BB2A853-73E8-F848-AD82-BF38D8F72498}"/>
              </a:ext>
            </a:extLst>
          </p:cNvPr>
          <p:cNvSpPr txBox="1">
            <a:spLocks noChangeArrowheads="1"/>
          </p:cNvSpPr>
          <p:nvPr/>
        </p:nvSpPr>
        <p:spPr>
          <a:xfrm>
            <a:off x="767751" y="1524000"/>
            <a:ext cx="10791645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Four health states </a:t>
            </a:r>
          </a:p>
          <a:p>
            <a:r>
              <a:rPr lang="en-US" dirty="0"/>
              <a:t>All individuals start in the Healthy state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510659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E3421641-3BB8-B640-808C-801BB097C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332" y="3048000"/>
            <a:ext cx="9461500" cy="3429000"/>
          </a:xfrm>
          <a:prstGeom prst="rect">
            <a:avLst/>
          </a:prstGeom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Time-dependency since simulation start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8608A78A-C083-584B-A241-B6A9BF66A09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25261" y="1405387"/>
                <a:ext cx="10791645" cy="4953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create a 3D </a:t>
                </a:r>
                <a:r>
                  <a:rPr lang="en-US" u="sng" dirty="0"/>
                  <a:t>array,</a:t>
                </a:r>
                <a:r>
                  <a:rPr lang="en-US" dirty="0"/>
                  <a:t>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a_P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  <a:r>
                  <a:rPr lang="en-US" dirty="0"/>
                  <a:t> that stores a collection of time-varying transition matrices,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in the third dimension</a:t>
                </a:r>
              </a:p>
              <a:p>
                <a:endParaRPr lang="en-US" dirty="0"/>
              </a:p>
              <a:p>
                <a:r>
                  <a:rPr lang="en-US" dirty="0"/>
                  <a:t>For the Sick-Sicker Markov model: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8608A78A-C083-584B-A241-B6A9BF66A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25261" y="1405387"/>
                <a:ext cx="10791645" cy="4953000"/>
              </a:xfrm>
              <a:blipFill>
                <a:blip r:embed="rId4"/>
                <a:stretch>
                  <a:fillRect l="-1299" t="-2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280060"/>
      </p:ext>
    </p:extLst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03"/>
          <p:cNvSpPr txBox="1">
            <a:spLocks noGrp="1"/>
          </p:cNvSpPr>
          <p:nvPr>
            <p:ph idx="1"/>
          </p:nvPr>
        </p:nvSpPr>
        <p:spPr>
          <a:xfrm>
            <a:off x="838200" y="15375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17500">
              <a:spcBef>
                <a:spcPts val="0"/>
              </a:spcBef>
              <a:buClr>
                <a:schemeClr val="accent3"/>
              </a:buClr>
              <a:buSzPts val="2400"/>
              <a:buFont typeface="Verdana"/>
              <a:buChar char="•"/>
            </a:pPr>
            <a:r>
              <a:rPr lang="es-ES" dirty="0" err="1">
                <a:solidFill>
                  <a:schemeClr val="dk1"/>
                </a:solidFill>
              </a:rPr>
              <a:t>Iterate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over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the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third</a:t>
            </a:r>
            <a:r>
              <a:rPr lang="es-ES" dirty="0">
                <a:solidFill>
                  <a:schemeClr val="dk1"/>
                </a:solidFill>
              </a:rPr>
              <a:t> </a:t>
            </a:r>
            <a:r>
              <a:rPr lang="es-ES" dirty="0" err="1">
                <a:solidFill>
                  <a:schemeClr val="dk1"/>
                </a:solidFill>
              </a:rPr>
              <a:t>dimension</a:t>
            </a:r>
            <a:r>
              <a:rPr lang="es-ES" dirty="0">
                <a:solidFill>
                  <a:schemeClr val="dk1"/>
                </a:solidFill>
              </a:rPr>
              <a:t>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a_P</a:t>
            </a:r>
            <a:endParaRPr lang="es-ES" dirty="0">
              <a:solidFill>
                <a:schemeClr val="dk1"/>
              </a:solidFill>
            </a:endParaRPr>
          </a:p>
          <a:p>
            <a:pPr marL="342900" indent="-317500">
              <a:spcBef>
                <a:spcPts val="0"/>
              </a:spcBef>
              <a:buClr>
                <a:schemeClr val="accent3"/>
              </a:buClr>
              <a:buSzPts val="2400"/>
              <a:buFont typeface="Verdana"/>
              <a:buChar char="•"/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165100">
              <a:spcBef>
                <a:spcPts val="560"/>
              </a:spcBef>
              <a:buClr>
                <a:srgbClr val="990033"/>
              </a:buClr>
              <a:buSzPts val="28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640" name="Shape 6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nl-NL"/>
              <a:pPr>
                <a:buClr>
                  <a:srgbClr val="000000"/>
                </a:buClr>
              </a:pPr>
              <a:t>89</a:t>
            </a:fld>
            <a:endParaRPr/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97452F86-C735-5A48-A641-CF0096AB0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Time-dependency since simulation start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C9DF0C6-5E74-B141-AE76-D1D3ED1AF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461" y="3138260"/>
            <a:ext cx="9247077" cy="160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991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Time-dependency based on state-residence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08A78A-C083-584B-A241-B6A9BF66A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751" y="1524000"/>
            <a:ext cx="10791645" cy="4953000"/>
          </a:xfrm>
        </p:spPr>
        <p:txBody>
          <a:bodyPr>
            <a:normAutofit/>
          </a:bodyPr>
          <a:lstStyle/>
          <a:p>
            <a:r>
              <a:rPr lang="en-US" dirty="0"/>
              <a:t>“Memoryless” property of Markov models is a BIG assumption</a:t>
            </a:r>
          </a:p>
          <a:p>
            <a:pPr lvl="1"/>
            <a:r>
              <a:rPr lang="en-US" sz="3200" dirty="0"/>
              <a:t>Transition probabilities only depend on the current state and not on past states</a:t>
            </a:r>
          </a:p>
          <a:p>
            <a:endParaRPr lang="en-US" dirty="0"/>
          </a:p>
          <a:p>
            <a:r>
              <a:rPr lang="en-US" dirty="0"/>
              <a:t>Many transition probabilities depend on model history, not time since model start </a:t>
            </a:r>
          </a:p>
          <a:p>
            <a:pPr lvl="1"/>
            <a:r>
              <a:rPr lang="en-US" dirty="0"/>
              <a:t>Risk of myocardial infarction (MI) greater for persons with prior </a:t>
            </a:r>
            <a:r>
              <a:rPr lang="en-US"/>
              <a:t>MI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613811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CD9CA82-B9EA-7D41-A244-9FC12A97C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793C-9D3C-B442-81DC-830B8408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MX" altLang="en-MX"/>
          </a:p>
        </p:txBody>
      </p:sp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Tunnel states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8608A78A-C083-584B-A241-B6A9BF66A09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7751" y="1524000"/>
                <a:ext cx="10791645" cy="4953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transition probabilities do not depend on the time since model start, replacing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E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does not work</a:t>
                </a:r>
              </a:p>
              <a:p>
                <a:pPr lvl="1"/>
                <a:r>
                  <a:rPr lang="en-US" dirty="0"/>
                  <a:t>E.g., Cohort of healthy patients at risk for cancer, but once cancer is diagnosed the risk of recurrence depends on time since diagnosis</a:t>
                </a:r>
              </a:p>
              <a:p>
                <a:r>
                  <a:rPr lang="en-US" dirty="0"/>
                  <a:t>Solution? </a:t>
                </a:r>
              </a:p>
              <a:p>
                <a:pPr lvl="1"/>
                <a:r>
                  <a:rPr lang="en-US" dirty="0"/>
                  <a:t>Create “tunnel” states</a:t>
                </a:r>
              </a:p>
            </p:txBody>
          </p:sp>
        </mc:Choice>
        <mc:Fallback xmlns=""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8608A78A-C083-584B-A241-B6A9BF66A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7751" y="1524000"/>
                <a:ext cx="10791645" cy="4953000"/>
              </a:xfrm>
              <a:blipFill>
                <a:blip r:embed="rId3"/>
                <a:stretch>
                  <a:fillRect l="-1293" t="-2813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Image result for maastunnel&quot;">
            <a:extLst>
              <a:ext uri="{FF2B5EF4-FFF2-40B4-BE49-F238E27FC236}">
                <a16:creationId xmlns:a16="http://schemas.microsoft.com/office/drawing/2014/main" id="{EEB230C5-E9CC-AA4B-A6AF-504D22FE0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101" y="3629082"/>
            <a:ext cx="3926148" cy="2619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8150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Model with double time dependency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  <p:sp>
        <p:nvSpPr>
          <p:cNvPr id="8" name="Shape 646">
            <a:extLst>
              <a:ext uri="{FF2B5EF4-FFF2-40B4-BE49-F238E27FC236}">
                <a16:creationId xmlns:a16="http://schemas.microsoft.com/office/drawing/2014/main" id="{51CE6D57-A0B4-3D47-AF01-DF59AB3A958A}"/>
              </a:ext>
            </a:extLst>
          </p:cNvPr>
          <p:cNvSpPr/>
          <p:nvPr/>
        </p:nvSpPr>
        <p:spPr>
          <a:xfrm>
            <a:off x="2869543" y="2270696"/>
            <a:ext cx="1200600" cy="840600"/>
          </a:xfrm>
          <a:prstGeom prst="ellipse">
            <a:avLst/>
          </a:prstGeom>
          <a:solidFill>
            <a:srgbClr val="E6EEEE"/>
          </a:solidFill>
          <a:ln w="25400" cap="flat" cmpd="sng">
            <a:solidFill>
              <a:srgbClr val="66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nl-NL" sz="1600" b="1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Healthy</a:t>
            </a: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hape 647">
            <a:extLst>
              <a:ext uri="{FF2B5EF4-FFF2-40B4-BE49-F238E27FC236}">
                <a16:creationId xmlns:a16="http://schemas.microsoft.com/office/drawing/2014/main" id="{44B500E5-67BA-5D48-91E2-30CC5A68FEBC}"/>
              </a:ext>
            </a:extLst>
          </p:cNvPr>
          <p:cNvSpPr/>
          <p:nvPr/>
        </p:nvSpPr>
        <p:spPr>
          <a:xfrm>
            <a:off x="4647543" y="2270696"/>
            <a:ext cx="1200600" cy="840600"/>
          </a:xfrm>
          <a:prstGeom prst="ellipse">
            <a:avLst/>
          </a:prstGeom>
          <a:solidFill>
            <a:srgbClr val="E6EEEE"/>
          </a:solidFill>
          <a:ln w="25400" cap="flat" cmpd="sng">
            <a:solidFill>
              <a:srgbClr val="66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nl-NL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Sick</a:t>
            </a: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648">
            <a:extLst>
              <a:ext uri="{FF2B5EF4-FFF2-40B4-BE49-F238E27FC236}">
                <a16:creationId xmlns:a16="http://schemas.microsoft.com/office/drawing/2014/main" id="{D253271D-6237-9E44-A725-3A45AA55BF95}"/>
              </a:ext>
            </a:extLst>
          </p:cNvPr>
          <p:cNvSpPr/>
          <p:nvPr/>
        </p:nvSpPr>
        <p:spPr>
          <a:xfrm>
            <a:off x="6550233" y="2266078"/>
            <a:ext cx="1200600" cy="840600"/>
          </a:xfrm>
          <a:prstGeom prst="ellipse">
            <a:avLst/>
          </a:prstGeom>
          <a:solidFill>
            <a:srgbClr val="E6EEEE"/>
          </a:solidFill>
          <a:ln w="25400" cap="flat" cmpd="sng">
            <a:solidFill>
              <a:srgbClr val="66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nl-NL" sz="1600" b="1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Sicker</a:t>
            </a: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Shape 649">
            <a:extLst>
              <a:ext uri="{FF2B5EF4-FFF2-40B4-BE49-F238E27FC236}">
                <a16:creationId xmlns:a16="http://schemas.microsoft.com/office/drawing/2014/main" id="{D69757B1-805A-C444-B95A-F3D65D990E2B}"/>
              </a:ext>
            </a:extLst>
          </p:cNvPr>
          <p:cNvCxnSpPr/>
          <p:nvPr/>
        </p:nvCxnSpPr>
        <p:spPr>
          <a:xfrm rot="16200000" flipH="1">
            <a:off x="4358593" y="1381946"/>
            <a:ext cx="600" cy="1778100"/>
          </a:xfrm>
          <a:prstGeom prst="curvedConnector3">
            <a:avLst>
              <a:gd name="adj1" fmla="val -26835667"/>
            </a:avLst>
          </a:prstGeom>
          <a:noFill/>
          <a:ln w="25400" cap="flat" cmpd="sng">
            <a:solidFill>
              <a:srgbClr val="3F3F3F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2" name="Shape 650">
            <a:extLst>
              <a:ext uri="{FF2B5EF4-FFF2-40B4-BE49-F238E27FC236}">
                <a16:creationId xmlns:a16="http://schemas.microsoft.com/office/drawing/2014/main" id="{98B2368E-7D52-CB4A-9939-E7DBFB55E019}"/>
              </a:ext>
            </a:extLst>
          </p:cNvPr>
          <p:cNvCxnSpPr/>
          <p:nvPr/>
        </p:nvCxnSpPr>
        <p:spPr>
          <a:xfrm rot="16200000">
            <a:off x="6196893" y="1317146"/>
            <a:ext cx="4500" cy="1902600"/>
          </a:xfrm>
          <a:prstGeom prst="curvedConnector3">
            <a:avLst>
              <a:gd name="adj1" fmla="val 3136645"/>
            </a:avLst>
          </a:prstGeom>
          <a:noFill/>
          <a:ln w="25400" cap="flat" cmpd="sng">
            <a:solidFill>
              <a:srgbClr val="3F3F3F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3" name="Shape 652">
            <a:extLst>
              <a:ext uri="{FF2B5EF4-FFF2-40B4-BE49-F238E27FC236}">
                <a16:creationId xmlns:a16="http://schemas.microsoft.com/office/drawing/2014/main" id="{23CEEDED-F7A3-3E49-B5A3-FF6B3750DB41}"/>
              </a:ext>
            </a:extLst>
          </p:cNvPr>
          <p:cNvCxnSpPr/>
          <p:nvPr/>
        </p:nvCxnSpPr>
        <p:spPr>
          <a:xfrm rot="10800000" flipH="1">
            <a:off x="2869543" y="2393801"/>
            <a:ext cx="175824" cy="297197"/>
          </a:xfrm>
          <a:prstGeom prst="curvedConnector4">
            <a:avLst>
              <a:gd name="adj1" fmla="val -130016"/>
              <a:gd name="adj2" fmla="val 218340"/>
            </a:avLst>
          </a:prstGeom>
          <a:noFill/>
          <a:ln w="25400" cap="flat" cmpd="sng">
            <a:solidFill>
              <a:srgbClr val="3F3F3F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4" name="Shape 653">
            <a:extLst>
              <a:ext uri="{FF2B5EF4-FFF2-40B4-BE49-F238E27FC236}">
                <a16:creationId xmlns:a16="http://schemas.microsoft.com/office/drawing/2014/main" id="{EB5A5415-1A32-8F4E-A8E6-DE02F82BF65B}"/>
              </a:ext>
            </a:extLst>
          </p:cNvPr>
          <p:cNvCxnSpPr/>
          <p:nvPr/>
        </p:nvCxnSpPr>
        <p:spPr>
          <a:xfrm rot="10800000" flipH="1" flipV="1">
            <a:off x="4647543" y="2690996"/>
            <a:ext cx="175824" cy="297197"/>
          </a:xfrm>
          <a:prstGeom prst="curvedConnector4">
            <a:avLst>
              <a:gd name="adj1" fmla="val -130016"/>
              <a:gd name="adj2" fmla="val 218340"/>
            </a:avLst>
          </a:prstGeom>
          <a:noFill/>
          <a:ln w="25400" cap="flat" cmpd="sng">
            <a:solidFill>
              <a:srgbClr val="3F3F3F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5" name="Shape 654">
            <a:extLst>
              <a:ext uri="{FF2B5EF4-FFF2-40B4-BE49-F238E27FC236}">
                <a16:creationId xmlns:a16="http://schemas.microsoft.com/office/drawing/2014/main" id="{53C013E4-C108-4C4D-9E6E-ACA332DD07C2}"/>
              </a:ext>
            </a:extLst>
          </p:cNvPr>
          <p:cNvCxnSpPr/>
          <p:nvPr/>
        </p:nvCxnSpPr>
        <p:spPr>
          <a:xfrm rot="10800000" flipH="1" flipV="1">
            <a:off x="6550233" y="2686378"/>
            <a:ext cx="175824" cy="297197"/>
          </a:xfrm>
          <a:prstGeom prst="curvedConnector4">
            <a:avLst>
              <a:gd name="adj1" fmla="val -130016"/>
              <a:gd name="adj2" fmla="val 218340"/>
            </a:avLst>
          </a:prstGeom>
          <a:noFill/>
          <a:ln w="25400" cap="flat" cmpd="sng">
            <a:solidFill>
              <a:srgbClr val="3F3F3F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16" name="Shape 648">
            <a:extLst>
              <a:ext uri="{FF2B5EF4-FFF2-40B4-BE49-F238E27FC236}">
                <a16:creationId xmlns:a16="http://schemas.microsoft.com/office/drawing/2014/main" id="{B6E4238E-6899-AE40-9862-7676C4979864}"/>
              </a:ext>
            </a:extLst>
          </p:cNvPr>
          <p:cNvSpPr/>
          <p:nvPr/>
        </p:nvSpPr>
        <p:spPr>
          <a:xfrm>
            <a:off x="8429933" y="2266078"/>
            <a:ext cx="1200600" cy="840600"/>
          </a:xfrm>
          <a:prstGeom prst="ellipse">
            <a:avLst/>
          </a:prstGeom>
          <a:solidFill>
            <a:srgbClr val="E6EEEE"/>
          </a:solidFill>
          <a:ln w="25400" cap="flat" cmpd="sng">
            <a:solidFill>
              <a:srgbClr val="66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nl-NL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Dead</a:t>
            </a: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3EF9FD13-90DB-F64B-AE1B-05BF0E5CC361}"/>
              </a:ext>
            </a:extLst>
          </p:cNvPr>
          <p:cNvSpPr/>
          <p:nvPr/>
        </p:nvSpPr>
        <p:spPr>
          <a:xfrm>
            <a:off x="7901502" y="2025571"/>
            <a:ext cx="325012" cy="14121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36DF6A-A454-CE47-9724-0E1EC71FF597}"/>
              </a:ext>
            </a:extLst>
          </p:cNvPr>
          <p:cNvSpPr txBox="1"/>
          <p:nvPr/>
        </p:nvSpPr>
        <p:spPr>
          <a:xfrm>
            <a:off x="3332339" y="1691514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f(model time)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386A3D-A0A3-B843-9005-5C6A3FDFD503}"/>
              </a:ext>
            </a:extLst>
          </p:cNvPr>
          <p:cNvSpPr txBox="1"/>
          <p:nvPr/>
        </p:nvSpPr>
        <p:spPr>
          <a:xfrm>
            <a:off x="5418911" y="1691514"/>
            <a:ext cx="133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f(state time)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ED2570-7A0A-EB4C-8FAA-B6FAEFEE72C6}"/>
              </a:ext>
            </a:extLst>
          </p:cNvPr>
          <p:cNvSpPr txBox="1"/>
          <p:nvPr/>
        </p:nvSpPr>
        <p:spPr>
          <a:xfrm>
            <a:off x="4393539" y="3976528"/>
            <a:ext cx="1708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Tunnel state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448168-0EC7-024F-8F28-C0C809E44D27}"/>
              </a:ext>
            </a:extLst>
          </p:cNvPr>
          <p:cNvCxnSpPr>
            <a:cxnSpLocks/>
          </p:cNvCxnSpPr>
          <p:nvPr/>
        </p:nvCxnSpPr>
        <p:spPr>
          <a:xfrm flipV="1">
            <a:off x="5250022" y="3220301"/>
            <a:ext cx="0" cy="65936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8074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Oval 2"/>
          <p:cNvSpPr>
            <a:spLocks noChangeArrowheads="1"/>
          </p:cNvSpPr>
          <p:nvPr/>
        </p:nvSpPr>
        <p:spPr bwMode="auto">
          <a:xfrm>
            <a:off x="2619375" y="990600"/>
            <a:ext cx="1371600" cy="685800"/>
          </a:xfrm>
          <a:prstGeom prst="ellipse">
            <a:avLst/>
          </a:prstGeom>
          <a:solidFill>
            <a:schemeClr val="accent2">
              <a:lumMod val="75000"/>
              <a:alpha val="1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000" dirty="0"/>
              <a:t>Sick 1</a:t>
            </a:r>
          </a:p>
        </p:txBody>
      </p:sp>
      <p:sp>
        <p:nvSpPr>
          <p:cNvPr id="57347" name="Oval 3"/>
          <p:cNvSpPr>
            <a:spLocks noChangeArrowheads="1"/>
          </p:cNvSpPr>
          <p:nvPr/>
        </p:nvSpPr>
        <p:spPr bwMode="auto">
          <a:xfrm>
            <a:off x="2619375" y="2041525"/>
            <a:ext cx="1371600" cy="685800"/>
          </a:xfrm>
          <a:prstGeom prst="ellipse">
            <a:avLst/>
          </a:prstGeom>
          <a:solidFill>
            <a:schemeClr val="accent2">
              <a:lumMod val="75000"/>
              <a:alpha val="1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000" dirty="0"/>
              <a:t>Sick 2</a:t>
            </a:r>
          </a:p>
        </p:txBody>
      </p:sp>
      <p:sp>
        <p:nvSpPr>
          <p:cNvPr id="57348" name="Oval 4"/>
          <p:cNvSpPr>
            <a:spLocks noChangeArrowheads="1"/>
          </p:cNvSpPr>
          <p:nvPr/>
        </p:nvSpPr>
        <p:spPr bwMode="auto">
          <a:xfrm>
            <a:off x="2619375" y="3092450"/>
            <a:ext cx="1371600" cy="685800"/>
          </a:xfrm>
          <a:prstGeom prst="ellipse">
            <a:avLst/>
          </a:prstGeom>
          <a:solidFill>
            <a:schemeClr val="accent2">
              <a:lumMod val="75000"/>
              <a:alpha val="1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000" dirty="0"/>
              <a:t>Sick 3</a:t>
            </a:r>
          </a:p>
        </p:txBody>
      </p:sp>
      <p:sp>
        <p:nvSpPr>
          <p:cNvPr id="57349" name="Oval 5"/>
          <p:cNvSpPr>
            <a:spLocks noChangeArrowheads="1"/>
          </p:cNvSpPr>
          <p:nvPr/>
        </p:nvSpPr>
        <p:spPr bwMode="auto">
          <a:xfrm>
            <a:off x="2619375" y="4143375"/>
            <a:ext cx="1371600" cy="685800"/>
          </a:xfrm>
          <a:prstGeom prst="ellipse">
            <a:avLst/>
          </a:prstGeom>
          <a:solidFill>
            <a:schemeClr val="accent2">
              <a:lumMod val="75000"/>
              <a:alpha val="1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000" dirty="0"/>
              <a:t>Sick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350" name="Oval 6"/>
              <p:cNvSpPr>
                <a:spLocks noChangeArrowheads="1"/>
              </p:cNvSpPr>
              <p:nvPr/>
            </p:nvSpPr>
            <p:spPr bwMode="auto">
              <a:xfrm>
                <a:off x="2619375" y="5470525"/>
                <a:ext cx="1371600" cy="685800"/>
              </a:xfrm>
              <a:prstGeom prst="ellipse">
                <a:avLst/>
              </a:prstGeom>
              <a:solidFill>
                <a:schemeClr val="accent2">
                  <a:lumMod val="75000"/>
                  <a:alpha val="1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2000" dirty="0"/>
                  <a:t>Sick </a:t>
                </a:r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57350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9375" y="5470525"/>
                <a:ext cx="1371600" cy="6858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351" name="Line 7"/>
          <p:cNvSpPr>
            <a:spLocks noChangeShapeType="1"/>
          </p:cNvSpPr>
          <p:nvPr/>
        </p:nvSpPr>
        <p:spPr bwMode="auto">
          <a:xfrm>
            <a:off x="3305175" y="1677989"/>
            <a:ext cx="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52" name="Line 8"/>
          <p:cNvSpPr>
            <a:spLocks noChangeShapeType="1"/>
          </p:cNvSpPr>
          <p:nvPr/>
        </p:nvSpPr>
        <p:spPr bwMode="auto">
          <a:xfrm>
            <a:off x="3305175" y="2728914"/>
            <a:ext cx="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>
            <a:off x="3305175" y="3779839"/>
            <a:ext cx="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 flipH="1">
            <a:off x="3305175" y="4830763"/>
            <a:ext cx="0" cy="6397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55" name="Freeform 11"/>
          <p:cNvSpPr>
            <a:spLocks/>
          </p:cNvSpPr>
          <p:nvPr/>
        </p:nvSpPr>
        <p:spPr bwMode="auto">
          <a:xfrm rot="253913">
            <a:off x="2209800" y="5486400"/>
            <a:ext cx="546100" cy="558800"/>
          </a:xfrm>
          <a:custGeom>
            <a:avLst/>
            <a:gdLst>
              <a:gd name="T0" fmla="*/ 546100 w 344"/>
              <a:gd name="T1" fmla="*/ 88900 h 352"/>
              <a:gd name="T2" fmla="*/ 393700 w 344"/>
              <a:gd name="T3" fmla="*/ 12700 h 352"/>
              <a:gd name="T4" fmla="*/ 241300 w 344"/>
              <a:gd name="T5" fmla="*/ 12700 h 352"/>
              <a:gd name="T6" fmla="*/ 88900 w 344"/>
              <a:gd name="T7" fmla="*/ 88900 h 352"/>
              <a:gd name="T8" fmla="*/ 12700 w 344"/>
              <a:gd name="T9" fmla="*/ 241300 h 352"/>
              <a:gd name="T10" fmla="*/ 12700 w 344"/>
              <a:gd name="T11" fmla="*/ 393700 h 352"/>
              <a:gd name="T12" fmla="*/ 88900 w 344"/>
              <a:gd name="T13" fmla="*/ 469900 h 352"/>
              <a:gd name="T14" fmla="*/ 241300 w 344"/>
              <a:gd name="T15" fmla="*/ 546100 h 352"/>
              <a:gd name="T16" fmla="*/ 393700 w 344"/>
              <a:gd name="T17" fmla="*/ 546100 h 352"/>
              <a:gd name="T18" fmla="*/ 546100 w 344"/>
              <a:gd name="T19" fmla="*/ 469900 h 35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44"/>
              <a:gd name="T31" fmla="*/ 0 h 352"/>
              <a:gd name="T32" fmla="*/ 344 w 344"/>
              <a:gd name="T33" fmla="*/ 352 h 35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44" h="352">
                <a:moveTo>
                  <a:pt x="344" y="56"/>
                </a:moveTo>
                <a:cubicBezTo>
                  <a:pt x="312" y="36"/>
                  <a:pt x="280" y="16"/>
                  <a:pt x="248" y="8"/>
                </a:cubicBezTo>
                <a:cubicBezTo>
                  <a:pt x="216" y="0"/>
                  <a:pt x="184" y="0"/>
                  <a:pt x="152" y="8"/>
                </a:cubicBezTo>
                <a:cubicBezTo>
                  <a:pt x="120" y="16"/>
                  <a:pt x="80" y="32"/>
                  <a:pt x="56" y="56"/>
                </a:cubicBezTo>
                <a:cubicBezTo>
                  <a:pt x="32" y="80"/>
                  <a:pt x="16" y="120"/>
                  <a:pt x="8" y="152"/>
                </a:cubicBezTo>
                <a:cubicBezTo>
                  <a:pt x="0" y="184"/>
                  <a:pt x="0" y="224"/>
                  <a:pt x="8" y="248"/>
                </a:cubicBezTo>
                <a:cubicBezTo>
                  <a:pt x="16" y="272"/>
                  <a:pt x="32" y="280"/>
                  <a:pt x="56" y="296"/>
                </a:cubicBezTo>
                <a:cubicBezTo>
                  <a:pt x="80" y="312"/>
                  <a:pt x="120" y="336"/>
                  <a:pt x="152" y="344"/>
                </a:cubicBezTo>
                <a:cubicBezTo>
                  <a:pt x="184" y="352"/>
                  <a:pt x="216" y="352"/>
                  <a:pt x="248" y="344"/>
                </a:cubicBezTo>
                <a:cubicBezTo>
                  <a:pt x="280" y="336"/>
                  <a:pt x="312" y="316"/>
                  <a:pt x="344" y="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56" name="Line 12"/>
          <p:cNvSpPr>
            <a:spLocks noChangeShapeType="1"/>
          </p:cNvSpPr>
          <p:nvPr/>
        </p:nvSpPr>
        <p:spPr bwMode="auto">
          <a:xfrm>
            <a:off x="3990975" y="1323975"/>
            <a:ext cx="2101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57" name="Text Box 13"/>
          <p:cNvSpPr txBox="1">
            <a:spLocks noChangeArrowheads="1"/>
          </p:cNvSpPr>
          <p:nvPr/>
        </p:nvSpPr>
        <p:spPr bwMode="auto">
          <a:xfrm>
            <a:off x="4265614" y="839788"/>
            <a:ext cx="13708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dirty="0"/>
              <a:t>p_S1S2</a:t>
            </a:r>
            <a:r>
              <a:rPr lang="en-US" sz="2800" baseline="-25000" dirty="0"/>
              <a:t>1</a:t>
            </a:r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>
            <a:off x="3990975" y="2376488"/>
            <a:ext cx="2101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4267201" y="1890713"/>
            <a:ext cx="13708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dirty="0"/>
              <a:t>p_S1S2</a:t>
            </a:r>
            <a:r>
              <a:rPr lang="en-US" sz="2800" baseline="-25000" dirty="0"/>
              <a:t>2</a:t>
            </a:r>
          </a:p>
        </p:txBody>
      </p:sp>
      <p:sp>
        <p:nvSpPr>
          <p:cNvPr id="57360" name="Line 16"/>
          <p:cNvSpPr>
            <a:spLocks noChangeShapeType="1"/>
          </p:cNvSpPr>
          <p:nvPr/>
        </p:nvSpPr>
        <p:spPr bwMode="auto">
          <a:xfrm>
            <a:off x="3990975" y="3429000"/>
            <a:ext cx="2101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61" name="Text Box 17"/>
          <p:cNvSpPr txBox="1">
            <a:spLocks noChangeArrowheads="1"/>
          </p:cNvSpPr>
          <p:nvPr/>
        </p:nvSpPr>
        <p:spPr bwMode="auto">
          <a:xfrm>
            <a:off x="4265614" y="2943225"/>
            <a:ext cx="13708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dirty="0"/>
              <a:t>p_S1S2</a:t>
            </a:r>
            <a:r>
              <a:rPr lang="en-US" sz="2800" baseline="-25000" dirty="0"/>
              <a:t>3</a:t>
            </a:r>
          </a:p>
        </p:txBody>
      </p:sp>
      <p:sp>
        <p:nvSpPr>
          <p:cNvPr id="57362" name="Line 18"/>
          <p:cNvSpPr>
            <a:spLocks noChangeShapeType="1"/>
          </p:cNvSpPr>
          <p:nvPr/>
        </p:nvSpPr>
        <p:spPr bwMode="auto">
          <a:xfrm>
            <a:off x="3990975" y="4478338"/>
            <a:ext cx="2101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63" name="Text Box 19"/>
          <p:cNvSpPr txBox="1">
            <a:spLocks noChangeArrowheads="1"/>
          </p:cNvSpPr>
          <p:nvPr/>
        </p:nvSpPr>
        <p:spPr bwMode="auto">
          <a:xfrm>
            <a:off x="4265614" y="3994150"/>
            <a:ext cx="13708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dirty="0"/>
              <a:t>p_S1S2</a:t>
            </a:r>
            <a:r>
              <a:rPr lang="en-US" sz="2800" baseline="-25000" dirty="0"/>
              <a:t>4</a:t>
            </a:r>
          </a:p>
        </p:txBody>
      </p:sp>
      <p:sp>
        <p:nvSpPr>
          <p:cNvPr id="57364" name="Line 20"/>
          <p:cNvSpPr>
            <a:spLocks noChangeShapeType="1"/>
          </p:cNvSpPr>
          <p:nvPr/>
        </p:nvSpPr>
        <p:spPr bwMode="auto">
          <a:xfrm>
            <a:off x="3990975" y="5803900"/>
            <a:ext cx="2101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365" name="Text Box 21"/>
              <p:cNvSpPr txBox="1">
                <a:spLocks noChangeArrowheads="1"/>
              </p:cNvSpPr>
              <p:nvPr/>
            </p:nvSpPr>
            <p:spPr bwMode="auto">
              <a:xfrm>
                <a:off x="4265614" y="5319713"/>
                <a:ext cx="1447512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800" dirty="0" err="1"/>
                  <a:t>p_</a:t>
                </a:r>
                <a:r>
                  <a:rPr lang="en-US" sz="2800" dirty="0"/>
                  <a:t>S1S2</a:t>
                </a:r>
                <a14:m>
                  <m:oMath xmlns:m="http://schemas.openxmlformats.org/officeDocument/2006/math">
                    <m:r>
                      <a:rPr lang="es-ES" sz="2800" i="1" baseline="-2500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s-ES" sz="2800" dirty="0"/>
                  <a:t> </a:t>
                </a:r>
                <a:endParaRPr lang="en-US" sz="2800" baseline="-25000" dirty="0"/>
              </a:p>
            </p:txBody>
          </p:sp>
        </mc:Choice>
        <mc:Fallback xmlns="">
          <p:sp>
            <p:nvSpPr>
              <p:cNvPr id="57365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5614" y="5319713"/>
                <a:ext cx="1447512" cy="523220"/>
              </a:xfrm>
              <a:prstGeom prst="rect">
                <a:avLst/>
              </a:prstGeom>
              <a:blipFill>
                <a:blip r:embed="rId3"/>
                <a:stretch>
                  <a:fillRect l="-9649" t="-14634" b="-3170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366" name="AutoShape 22"/>
          <p:cNvSpPr>
            <a:spLocks/>
          </p:cNvSpPr>
          <p:nvPr/>
        </p:nvSpPr>
        <p:spPr bwMode="auto">
          <a:xfrm>
            <a:off x="6248400" y="1066800"/>
            <a:ext cx="914400" cy="4876800"/>
          </a:xfrm>
          <a:prstGeom prst="rightBrace">
            <a:avLst>
              <a:gd name="adj1" fmla="val 4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7367" name="Oval 23"/>
          <p:cNvSpPr>
            <a:spLocks noChangeArrowheads="1"/>
          </p:cNvSpPr>
          <p:nvPr/>
        </p:nvSpPr>
        <p:spPr bwMode="auto">
          <a:xfrm>
            <a:off x="7464425" y="3162300"/>
            <a:ext cx="1371600" cy="685800"/>
          </a:xfrm>
          <a:prstGeom prst="ellipse">
            <a:avLst/>
          </a:prstGeom>
          <a:solidFill>
            <a:schemeClr val="accent2">
              <a:lumMod val="75000"/>
              <a:alpha val="1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400" dirty="0"/>
              <a:t>Sicker</a:t>
            </a:r>
          </a:p>
        </p:txBody>
      </p:sp>
      <p:sp>
        <p:nvSpPr>
          <p:cNvPr id="57371" name="Text Box 27"/>
          <p:cNvSpPr txBox="1">
            <a:spLocks noChangeArrowheads="1"/>
          </p:cNvSpPr>
          <p:nvPr/>
        </p:nvSpPr>
        <p:spPr bwMode="auto">
          <a:xfrm>
            <a:off x="7057299" y="5581651"/>
            <a:ext cx="324564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Transitions to Dead also allowed.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2253F7C-73B3-AA4E-8A29-41AC09233B0B}"/>
              </a:ext>
            </a:extLst>
          </p:cNvPr>
          <p:cNvCxnSpPr/>
          <p:nvPr/>
        </p:nvCxnSpPr>
        <p:spPr>
          <a:xfrm>
            <a:off x="2438400" y="381001"/>
            <a:ext cx="337374" cy="64611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4">
            <a:extLst>
              <a:ext uri="{FF2B5EF4-FFF2-40B4-BE49-F238E27FC236}">
                <a16:creationId xmlns:a16="http://schemas.microsoft.com/office/drawing/2014/main" id="{948F8D05-F412-5A4E-9407-876AB8E87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 algn="r">
              <a:defRPr/>
            </a:pPr>
            <a:r>
              <a:rPr lang="en-US" dirty="0"/>
              <a:t>Tunnel states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39771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Time-dependent probabilities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5">
                <a:extLst>
                  <a:ext uri="{FF2B5EF4-FFF2-40B4-BE49-F238E27FC236}">
                    <a16:creationId xmlns:a16="http://schemas.microsoft.com/office/drawing/2014/main" id="{3BB2A853-73E8-F848-AD82-BF38D8F7249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67751" y="1524000"/>
                <a:ext cx="10791645" cy="4953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Progression from Sick to Sicker increases the longer a person has been sick </a:t>
                </a:r>
              </a:p>
              <a:p>
                <a:endParaRPr lang="en-US" dirty="0"/>
              </a:p>
              <a:p>
                <a:r>
                  <a:rPr lang="en-US" dirty="0"/>
                  <a:t>This increase follows a Weibull hazard: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𝜆𝛾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s-E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represents the time since getting Sick </a:t>
                </a:r>
              </a:p>
            </p:txBody>
          </p:sp>
        </mc:Choice>
        <mc:Fallback xmlns="">
          <p:sp>
            <p:nvSpPr>
              <p:cNvPr id="22" name="Rectangle 5">
                <a:extLst>
                  <a:ext uri="{FF2B5EF4-FFF2-40B4-BE49-F238E27FC236}">
                    <a16:creationId xmlns:a16="http://schemas.microsoft.com/office/drawing/2014/main" id="{3BB2A853-73E8-F848-AD82-BF38D8F72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51" y="1524000"/>
                <a:ext cx="10791645" cy="4953000"/>
              </a:xfrm>
              <a:prstGeom prst="rect">
                <a:avLst/>
              </a:prstGeom>
              <a:blipFill>
                <a:blip r:embed="rId3"/>
                <a:stretch>
                  <a:fillRect l="-1293" t="-2813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825650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C7659424-9788-3048-9FF7-6E4B3E084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229" y="3146785"/>
            <a:ext cx="8076687" cy="3711215"/>
          </a:xfrm>
          <a:prstGeom prst="rect">
            <a:avLst/>
          </a:prstGeom>
        </p:spPr>
      </p:pic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Time-dependent probabilities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3BB2A853-73E8-F848-AD82-BF38D8F72498}"/>
              </a:ext>
            </a:extLst>
          </p:cNvPr>
          <p:cNvSpPr txBox="1">
            <a:spLocks noChangeArrowheads="1"/>
          </p:cNvSpPr>
          <p:nvPr/>
        </p:nvSpPr>
        <p:spPr>
          <a:xfrm>
            <a:off x="767751" y="1524000"/>
            <a:ext cx="10791645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Expand the states of the 3D </a:t>
            </a:r>
            <a:r>
              <a:rPr lang="en-US" u="sng" dirty="0"/>
              <a:t>array</a:t>
            </a:r>
            <a:r>
              <a:rPr lang="en-US" dirty="0"/>
              <a:t> by the number of cycles considered in the time-dependency variable(s)</a:t>
            </a:r>
          </a:p>
          <a:p>
            <a:r>
              <a:rPr lang="en-US" dirty="0"/>
              <a:t>For the Sick-Sicker Markov model: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927827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0" name="Rectangle 4">
            <a:extLst>
              <a:ext uri="{FF2B5EF4-FFF2-40B4-BE49-F238E27FC236}">
                <a16:creationId xmlns:a16="http://schemas.microsoft.com/office/drawing/2014/main" id="{C4D0FC52-99E9-AF47-83A7-FCFD5CE1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81000"/>
            <a:ext cx="10791645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Time-dependent probabilities</a:t>
            </a:r>
            <a:endParaRPr lang="en-US" altLang="en-MX" dirty="0">
              <a:ea typeface="ＭＳ Ｐゴシック" panose="020B0600070205080204" pitchFamily="34" charset="-128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3BB2A853-73E8-F848-AD82-BF38D8F72498}"/>
              </a:ext>
            </a:extLst>
          </p:cNvPr>
          <p:cNvSpPr txBox="1">
            <a:spLocks noChangeArrowheads="1"/>
          </p:cNvSpPr>
          <p:nvPr/>
        </p:nvSpPr>
        <p:spPr>
          <a:xfrm>
            <a:off x="767751" y="1524000"/>
            <a:ext cx="10791645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Expand the states of the 3D </a:t>
            </a:r>
            <a:r>
              <a:rPr lang="en-US" u="sng" dirty="0"/>
              <a:t>array</a:t>
            </a:r>
            <a:r>
              <a:rPr lang="en-US" dirty="0"/>
              <a:t> by the number of cycles considered in the time-dependency variable(s)</a:t>
            </a:r>
          </a:p>
          <a:p>
            <a:r>
              <a:rPr lang="en-US" dirty="0"/>
              <a:t>The transition array for the Sick-Sicker Markov model:</a:t>
            </a:r>
          </a:p>
          <a:p>
            <a:endParaRPr lang="en-US" dirty="0"/>
          </a:p>
        </p:txBody>
      </p:sp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34D699E9-05D0-8643-A2A4-6AD73160E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27901"/>
            <a:ext cx="12192000" cy="36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28273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14B7E-487C-D522-620B-3C3EFA87F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48A2-DC0A-8CDD-5751-43B25D2C29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session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BD341-89F1-533B-2703-72BDD95560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343166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8914</TotalTime>
  <Words>3617</Words>
  <Application>Microsoft Macintosh PowerPoint</Application>
  <PresentationFormat>Widescreen</PresentationFormat>
  <Paragraphs>820</Paragraphs>
  <Slides>97</Slides>
  <Notes>77</Notes>
  <HiddenSlides>12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97</vt:i4>
      </vt:variant>
    </vt:vector>
  </HeadingPairs>
  <TitlesOfParts>
    <vt:vector size="112" baseType="lpstr">
      <vt:lpstr>Arial Unicode MS</vt:lpstr>
      <vt:lpstr>ＭＳ Ｐゴシック</vt:lpstr>
      <vt:lpstr>Arial</vt:lpstr>
      <vt:lpstr>Calibri</vt:lpstr>
      <vt:lpstr>Calibri Light</vt:lpstr>
      <vt:lpstr>Cambria</vt:lpstr>
      <vt:lpstr>Cambria Math</vt:lpstr>
      <vt:lpstr>Constantia</vt:lpstr>
      <vt:lpstr>Courier New</vt:lpstr>
      <vt:lpstr>Symbol</vt:lpstr>
      <vt:lpstr>Times New Roman</vt:lpstr>
      <vt:lpstr>Verdana</vt:lpstr>
      <vt:lpstr>Office Theme</vt:lpstr>
      <vt:lpstr>Equation</vt:lpstr>
      <vt:lpstr>Microsoft ClipArt Gallery</vt:lpstr>
      <vt:lpstr>Cohort State-Transition Models (cSTMs)</vt:lpstr>
      <vt:lpstr>A Challenge for Public Policy</vt:lpstr>
      <vt:lpstr>A Challenge for Public Health</vt:lpstr>
      <vt:lpstr>Elements of a Decision Analysis</vt:lpstr>
      <vt:lpstr>Problems</vt:lpstr>
      <vt:lpstr>Markov models are most useful when….</vt:lpstr>
      <vt:lpstr>Time-homogeneous</vt:lpstr>
      <vt:lpstr>Markov Property: Markovian Assumption</vt:lpstr>
      <vt:lpstr>Markov Process</vt:lpstr>
      <vt:lpstr>Implicit Assumptions</vt:lpstr>
      <vt:lpstr>Building a Markov Model</vt:lpstr>
      <vt:lpstr>Markov Health States</vt:lpstr>
      <vt:lpstr>Building a Markov Model</vt:lpstr>
      <vt:lpstr>State Transition Diagram (STD)</vt:lpstr>
      <vt:lpstr>Building a Markov Model</vt:lpstr>
      <vt:lpstr>Cycle</vt:lpstr>
      <vt:lpstr>Building a Markov Model</vt:lpstr>
      <vt:lpstr>Transition Probability</vt:lpstr>
      <vt:lpstr>Transition Probability</vt:lpstr>
      <vt:lpstr>State Transition Diagram (STD)  p_ij= transition probability from state i to state j</vt:lpstr>
      <vt:lpstr>Building a Markov Model</vt:lpstr>
      <vt:lpstr>Quality-of-Life Adjustment</vt:lpstr>
      <vt:lpstr>Building a Markov Model</vt:lpstr>
      <vt:lpstr>Methods of Evaluation</vt:lpstr>
      <vt:lpstr>Methods of Evaluation</vt:lpstr>
      <vt:lpstr>Cohort Simulation</vt:lpstr>
      <vt:lpstr>State vector (m_t  with n_S health states):</vt:lpstr>
      <vt:lpstr>Transition Matrix (n_S health states):</vt:lpstr>
      <vt:lpstr>Cohort at next cycle using matrix multiplication</vt:lpstr>
      <vt:lpstr>Cohort trace M</vt:lpstr>
      <vt:lpstr>PowerPoint Presentation</vt:lpstr>
      <vt:lpstr>Types of Markov Models</vt:lpstr>
      <vt:lpstr>Outputs of Absorbing Models</vt:lpstr>
      <vt:lpstr>Back to the Simple Example</vt:lpstr>
      <vt:lpstr>Back to the Simple Example</vt:lpstr>
      <vt:lpstr>Cohort at next cycle using matrix multiplication</vt:lpstr>
      <vt:lpstr>Cohort at next cycle using matrix multiplication</vt:lpstr>
      <vt:lpstr>Cohort at next cycle using matrix multiplication</vt:lpstr>
      <vt:lpstr>Cohort at next cycle using matrix multiplication</vt:lpstr>
      <vt:lpstr>Cohort at next cycle using matrix multiplication</vt:lpstr>
      <vt:lpstr>Cohort at next cycle using matrix multiplication</vt:lpstr>
      <vt:lpstr>Cohort at next cycle using matrix multiplication</vt:lpstr>
      <vt:lpstr>Cohort at next cycle using matrix multiplication</vt:lpstr>
      <vt:lpstr>Cohort at next cycle using matrix multiplication</vt:lpstr>
      <vt:lpstr>Cohort at next cycle using matrix multiplication</vt:lpstr>
      <vt:lpstr>Two-cycle state vector</vt:lpstr>
      <vt:lpstr>Estimating Mean Residence Times in States from the Transition Matrix</vt:lpstr>
      <vt:lpstr>Simple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Closed-Form Solution</vt:lpstr>
      <vt:lpstr>In the example…</vt:lpstr>
      <vt:lpstr>Matrix Form in a Tree Form</vt:lpstr>
      <vt:lpstr>A more common structure…</vt:lpstr>
      <vt:lpstr>Markov Cycle Trees</vt:lpstr>
      <vt:lpstr>PowerPoint Presentation</vt:lpstr>
      <vt:lpstr>Typical Diagnostic Test Strategy</vt:lpstr>
      <vt:lpstr>Markov Cohort Method</vt:lpstr>
      <vt:lpstr>Life Expectancy</vt:lpstr>
      <vt:lpstr>Discounted Life Expectancy (r = discount rate, t = _stage)</vt:lpstr>
      <vt:lpstr>Model Outcome ?</vt:lpstr>
      <vt:lpstr>Markov cohort trace</vt:lpstr>
      <vt:lpstr>Markov cohort trace</vt:lpstr>
      <vt:lpstr>Markov cohort trace</vt:lpstr>
      <vt:lpstr>Markov Trace (Life-Years)</vt:lpstr>
      <vt:lpstr>Markov Trace (Costs)</vt:lpstr>
      <vt:lpstr>Transition Probabilities</vt:lpstr>
      <vt:lpstr>Monte Carlo Simulation</vt:lpstr>
      <vt:lpstr>PowerPoint Presentation</vt:lpstr>
      <vt:lpstr>Comparison of Methods</vt:lpstr>
      <vt:lpstr>Benefits of Markov Models</vt:lpstr>
      <vt:lpstr>Extend Beyond Time Horizon</vt:lpstr>
      <vt:lpstr>Data from Multiple Sources</vt:lpstr>
      <vt:lpstr>“What If” Scenarios</vt:lpstr>
      <vt:lpstr>Typical Problems in Markov Modeling</vt:lpstr>
      <vt:lpstr>Regular (Non-Absorbing) Markov Chains</vt:lpstr>
      <vt:lpstr>Example (Stokey &amp; Zeckhauser)</vt:lpstr>
      <vt:lpstr>If p* is equilibrium, then</vt:lpstr>
      <vt:lpstr>Solve 3 equations, 3 unknowns</vt:lpstr>
      <vt:lpstr>R session</vt:lpstr>
      <vt:lpstr>Time-dependent</vt:lpstr>
      <vt:lpstr>Time-dependency</vt:lpstr>
      <vt:lpstr>Time-dependency since simulation start</vt:lpstr>
      <vt:lpstr>The Sick-Sicker model</vt:lpstr>
      <vt:lpstr>Time-dependency since simulation start</vt:lpstr>
      <vt:lpstr>Time-dependency since simulation start</vt:lpstr>
      <vt:lpstr>Time-dependency based on state-residence</vt:lpstr>
      <vt:lpstr>Tunnel states</vt:lpstr>
      <vt:lpstr>Model with double time dependency</vt:lpstr>
      <vt:lpstr>Tunnel states</vt:lpstr>
      <vt:lpstr>Time-dependent probabilities</vt:lpstr>
      <vt:lpstr>Time-dependent probabilities</vt:lpstr>
      <vt:lpstr>Time-dependent probabilities</vt:lpstr>
      <vt:lpstr>R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Fernando Alarid Escudero</dc:creator>
  <cp:lastModifiedBy>Fernando Alarid Escudero</cp:lastModifiedBy>
  <cp:revision>453</cp:revision>
  <cp:lastPrinted>2020-09-22T15:40:45Z</cp:lastPrinted>
  <dcterms:created xsi:type="dcterms:W3CDTF">2020-08-17T04:19:57Z</dcterms:created>
  <dcterms:modified xsi:type="dcterms:W3CDTF">2025-11-06T18:06:56Z</dcterms:modified>
</cp:coreProperties>
</file>