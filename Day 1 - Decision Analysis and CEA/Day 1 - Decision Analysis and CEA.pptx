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4"/>
  </p:notesMasterIdLst>
  <p:sldIdLst>
    <p:sldId id="256" r:id="rId2"/>
    <p:sldId id="335" r:id="rId3"/>
    <p:sldId id="257" r:id="rId4"/>
    <p:sldId id="336" r:id="rId5"/>
    <p:sldId id="337" r:id="rId6"/>
    <p:sldId id="338" r:id="rId7"/>
    <p:sldId id="339" r:id="rId8"/>
    <p:sldId id="340" r:id="rId9"/>
    <p:sldId id="322" r:id="rId10"/>
    <p:sldId id="323" r:id="rId11"/>
    <p:sldId id="321" r:id="rId12"/>
    <p:sldId id="329" r:id="rId13"/>
    <p:sldId id="325" r:id="rId14"/>
    <p:sldId id="326" r:id="rId15"/>
    <p:sldId id="341" r:id="rId16"/>
    <p:sldId id="327" r:id="rId17"/>
    <p:sldId id="273" r:id="rId18"/>
    <p:sldId id="274" r:id="rId19"/>
    <p:sldId id="276" r:id="rId20"/>
    <p:sldId id="278" r:id="rId21"/>
    <p:sldId id="279" r:id="rId22"/>
    <p:sldId id="280" r:id="rId23"/>
    <p:sldId id="282" r:id="rId24"/>
    <p:sldId id="283" r:id="rId25"/>
    <p:sldId id="284" r:id="rId26"/>
    <p:sldId id="285" r:id="rId27"/>
    <p:sldId id="331" r:id="rId28"/>
    <p:sldId id="286" r:id="rId29"/>
    <p:sldId id="310" r:id="rId30"/>
    <p:sldId id="333" r:id="rId31"/>
    <p:sldId id="334" r:id="rId32"/>
    <p:sldId id="314" r:id="rId33"/>
    <p:sldId id="315" r:id="rId34"/>
    <p:sldId id="316" r:id="rId35"/>
    <p:sldId id="317" r:id="rId36"/>
    <p:sldId id="416" r:id="rId37"/>
    <p:sldId id="342" r:id="rId38"/>
    <p:sldId id="389" r:id="rId39"/>
    <p:sldId id="390" r:id="rId40"/>
    <p:sldId id="391" r:id="rId41"/>
    <p:sldId id="392" r:id="rId42"/>
    <p:sldId id="343" r:id="rId43"/>
    <p:sldId id="344" r:id="rId44"/>
    <p:sldId id="345" r:id="rId45"/>
    <p:sldId id="407" r:id="rId46"/>
    <p:sldId id="385" r:id="rId47"/>
    <p:sldId id="383" r:id="rId48"/>
    <p:sldId id="346" r:id="rId49"/>
    <p:sldId id="347" r:id="rId50"/>
    <p:sldId id="384" r:id="rId51"/>
    <p:sldId id="387" r:id="rId52"/>
    <p:sldId id="349" r:id="rId53"/>
    <p:sldId id="408" r:id="rId54"/>
    <p:sldId id="350" r:id="rId55"/>
    <p:sldId id="351" r:id="rId56"/>
    <p:sldId id="352" r:id="rId57"/>
    <p:sldId id="353" r:id="rId58"/>
    <p:sldId id="354" r:id="rId59"/>
    <p:sldId id="409" r:id="rId60"/>
    <p:sldId id="357" r:id="rId61"/>
    <p:sldId id="410" r:id="rId62"/>
    <p:sldId id="393" r:id="rId63"/>
    <p:sldId id="394" r:id="rId64"/>
    <p:sldId id="395" r:id="rId65"/>
    <p:sldId id="364" r:id="rId66"/>
    <p:sldId id="388" r:id="rId67"/>
    <p:sldId id="365" r:id="rId68"/>
    <p:sldId id="396" r:id="rId69"/>
    <p:sldId id="369" r:id="rId70"/>
    <p:sldId id="400" r:id="rId71"/>
    <p:sldId id="374" r:id="rId72"/>
    <p:sldId id="398" r:id="rId73"/>
    <p:sldId id="371" r:id="rId74"/>
    <p:sldId id="399" r:id="rId75"/>
    <p:sldId id="372" r:id="rId76"/>
    <p:sldId id="376" r:id="rId77"/>
    <p:sldId id="377" r:id="rId78"/>
    <p:sldId id="378" r:id="rId79"/>
    <p:sldId id="402" r:id="rId80"/>
    <p:sldId id="381" r:id="rId81"/>
    <p:sldId id="403" r:id="rId82"/>
    <p:sldId id="412" r:id="rId83"/>
    <p:sldId id="413" r:id="rId84"/>
    <p:sldId id="411" r:id="rId85"/>
    <p:sldId id="414" r:id="rId86"/>
    <p:sldId id="415" r:id="rId87"/>
    <p:sldId id="498" r:id="rId88"/>
    <p:sldId id="499" r:id="rId89"/>
    <p:sldId id="500" r:id="rId90"/>
    <p:sldId id="488" r:id="rId91"/>
    <p:sldId id="489" r:id="rId92"/>
    <p:sldId id="501" r:id="rId93"/>
    <p:sldId id="502" r:id="rId94"/>
    <p:sldId id="503" r:id="rId95"/>
    <p:sldId id="504" r:id="rId96"/>
    <p:sldId id="505" r:id="rId97"/>
    <p:sldId id="506" r:id="rId98"/>
    <p:sldId id="507" r:id="rId99"/>
    <p:sldId id="508" r:id="rId100"/>
    <p:sldId id="490" r:id="rId101"/>
    <p:sldId id="431" r:id="rId102"/>
    <p:sldId id="432" r:id="rId103"/>
    <p:sldId id="433" r:id="rId104"/>
    <p:sldId id="434" r:id="rId105"/>
    <p:sldId id="509" r:id="rId106"/>
    <p:sldId id="435" r:id="rId107"/>
    <p:sldId id="436" r:id="rId108"/>
    <p:sldId id="510" r:id="rId109"/>
    <p:sldId id="491" r:id="rId110"/>
    <p:sldId id="437" r:id="rId111"/>
    <p:sldId id="492" r:id="rId112"/>
    <p:sldId id="438" r:id="rId113"/>
    <p:sldId id="439" r:id="rId114"/>
    <p:sldId id="511" r:id="rId115"/>
    <p:sldId id="493" r:id="rId116"/>
    <p:sldId id="512" r:id="rId117"/>
    <p:sldId id="440" r:id="rId118"/>
    <p:sldId id="418" r:id="rId119"/>
    <p:sldId id="441" r:id="rId120"/>
    <p:sldId id="421" r:id="rId121"/>
    <p:sldId id="442" r:id="rId122"/>
    <p:sldId id="445" r:id="rId123"/>
    <p:sldId id="494" r:id="rId124"/>
    <p:sldId id="426" r:id="rId125"/>
    <p:sldId id="495" r:id="rId126"/>
    <p:sldId id="496" r:id="rId127"/>
    <p:sldId id="429" r:id="rId128"/>
    <p:sldId id="497" r:id="rId129"/>
    <p:sldId id="513" r:id="rId130"/>
    <p:sldId id="382" r:id="rId131"/>
    <p:sldId id="514" r:id="rId132"/>
    <p:sldId id="515" r:id="rId133"/>
    <p:sldId id="516" r:id="rId134"/>
    <p:sldId id="386" r:id="rId135"/>
    <p:sldId id="517" r:id="rId136"/>
    <p:sldId id="518" r:id="rId137"/>
    <p:sldId id="519" r:id="rId138"/>
    <p:sldId id="520" r:id="rId139"/>
    <p:sldId id="521" r:id="rId140"/>
    <p:sldId id="522" r:id="rId141"/>
    <p:sldId id="523" r:id="rId142"/>
    <p:sldId id="524" r:id="rId143"/>
    <p:sldId id="397" r:id="rId144"/>
    <p:sldId id="525" r:id="rId145"/>
    <p:sldId id="526" r:id="rId146"/>
    <p:sldId id="527" r:id="rId147"/>
    <p:sldId id="528" r:id="rId148"/>
    <p:sldId id="529" r:id="rId149"/>
    <p:sldId id="530" r:id="rId150"/>
    <p:sldId id="404" r:id="rId151"/>
    <p:sldId id="405" r:id="rId152"/>
    <p:sldId id="406" r:id="rId153"/>
    <p:sldId id="417" r:id="rId154"/>
    <p:sldId id="531" r:id="rId155"/>
    <p:sldId id="419" r:id="rId156"/>
    <p:sldId id="420" r:id="rId157"/>
    <p:sldId id="532" r:id="rId158"/>
    <p:sldId id="424" r:id="rId159"/>
    <p:sldId id="533" r:id="rId160"/>
    <p:sldId id="427" r:id="rId161"/>
    <p:sldId id="428" r:id="rId162"/>
    <p:sldId id="430" r:id="rId163"/>
  </p:sldIdLst>
  <p:sldSz cx="12192000" cy="6858000"/>
  <p:notesSz cx="6858000" cy="9144000"/>
  <p:defaultTextStyle>
    <a:defPPr>
      <a:defRPr lang="en-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D42A59E-101A-CB41-BC08-84127B2C5698}">
          <p14:sldIdLst>
            <p14:sldId id="256"/>
          </p14:sldIdLst>
        </p14:section>
        <p14:section name="First Section - Intro to Decision Analysis" id="{721013A7-DD72-8941-8701-6C45A3DD39BE}">
          <p14:sldIdLst>
            <p14:sldId id="335"/>
            <p14:sldId id="257"/>
            <p14:sldId id="336"/>
            <p14:sldId id="337"/>
            <p14:sldId id="338"/>
            <p14:sldId id="339"/>
            <p14:sldId id="340"/>
            <p14:sldId id="322"/>
            <p14:sldId id="323"/>
            <p14:sldId id="321"/>
            <p14:sldId id="329"/>
            <p14:sldId id="325"/>
            <p14:sldId id="326"/>
            <p14:sldId id="341"/>
            <p14:sldId id="327"/>
            <p14:sldId id="273"/>
            <p14:sldId id="274"/>
            <p14:sldId id="276"/>
            <p14:sldId id="278"/>
            <p14:sldId id="279"/>
            <p14:sldId id="280"/>
            <p14:sldId id="282"/>
            <p14:sldId id="283"/>
            <p14:sldId id="284"/>
            <p14:sldId id="285"/>
            <p14:sldId id="331"/>
            <p14:sldId id="286"/>
            <p14:sldId id="310"/>
            <p14:sldId id="333"/>
            <p14:sldId id="334"/>
            <p14:sldId id="314"/>
            <p14:sldId id="315"/>
            <p14:sldId id="316"/>
            <p14:sldId id="317"/>
            <p14:sldId id="416"/>
            <p14:sldId id="342"/>
            <p14:sldId id="389"/>
            <p14:sldId id="390"/>
            <p14:sldId id="391"/>
            <p14:sldId id="392"/>
          </p14:sldIdLst>
        </p14:section>
        <p14:section name="Second section - Structuring decisions" id="{DDF9CF29-1FCE-834D-8008-E12CA5B91EF4}">
          <p14:sldIdLst>
            <p14:sldId id="343"/>
            <p14:sldId id="344"/>
            <p14:sldId id="345"/>
            <p14:sldId id="407"/>
            <p14:sldId id="385"/>
            <p14:sldId id="383"/>
            <p14:sldId id="346"/>
            <p14:sldId id="347"/>
            <p14:sldId id="384"/>
            <p14:sldId id="387"/>
            <p14:sldId id="349"/>
            <p14:sldId id="408"/>
            <p14:sldId id="350"/>
            <p14:sldId id="351"/>
            <p14:sldId id="352"/>
            <p14:sldId id="353"/>
            <p14:sldId id="354"/>
            <p14:sldId id="409"/>
            <p14:sldId id="357"/>
            <p14:sldId id="410"/>
            <p14:sldId id="393"/>
            <p14:sldId id="394"/>
            <p14:sldId id="395"/>
            <p14:sldId id="364"/>
            <p14:sldId id="388"/>
            <p14:sldId id="365"/>
            <p14:sldId id="396"/>
            <p14:sldId id="369"/>
            <p14:sldId id="400"/>
            <p14:sldId id="374"/>
            <p14:sldId id="398"/>
            <p14:sldId id="371"/>
            <p14:sldId id="399"/>
            <p14:sldId id="372"/>
            <p14:sldId id="376"/>
            <p14:sldId id="377"/>
            <p14:sldId id="378"/>
            <p14:sldId id="402"/>
            <p14:sldId id="381"/>
            <p14:sldId id="403"/>
            <p14:sldId id="412"/>
            <p14:sldId id="413"/>
            <p14:sldId id="411"/>
            <p14:sldId id="414"/>
            <p14:sldId id="415"/>
          </p14:sldIdLst>
        </p14:section>
        <p14:section name="Third section - Cost-Effectiveness Analysis" id="{672AEFD8-65A0-344E-98B8-A649FD90FB21}">
          <p14:sldIdLst>
            <p14:sldId id="498"/>
            <p14:sldId id="499"/>
            <p14:sldId id="500"/>
            <p14:sldId id="488"/>
            <p14:sldId id="489"/>
            <p14:sldId id="501"/>
            <p14:sldId id="502"/>
            <p14:sldId id="503"/>
            <p14:sldId id="504"/>
            <p14:sldId id="505"/>
            <p14:sldId id="506"/>
            <p14:sldId id="507"/>
            <p14:sldId id="508"/>
            <p14:sldId id="490"/>
            <p14:sldId id="431"/>
            <p14:sldId id="432"/>
            <p14:sldId id="433"/>
            <p14:sldId id="434"/>
            <p14:sldId id="509"/>
            <p14:sldId id="435"/>
            <p14:sldId id="436"/>
            <p14:sldId id="510"/>
            <p14:sldId id="491"/>
            <p14:sldId id="437"/>
            <p14:sldId id="492"/>
            <p14:sldId id="438"/>
            <p14:sldId id="439"/>
            <p14:sldId id="511"/>
            <p14:sldId id="493"/>
            <p14:sldId id="512"/>
            <p14:sldId id="440"/>
            <p14:sldId id="418"/>
            <p14:sldId id="441"/>
            <p14:sldId id="421"/>
            <p14:sldId id="442"/>
            <p14:sldId id="445"/>
            <p14:sldId id="494"/>
            <p14:sldId id="426"/>
            <p14:sldId id="495"/>
            <p14:sldId id="496"/>
            <p14:sldId id="429"/>
            <p14:sldId id="497"/>
          </p14:sldIdLst>
        </p14:section>
        <p14:section name="Fourth Section - Incremental Cost-Effectiveness Analysis" id="{0F0D14D3-73B1-D641-B379-723FD01C6783}">
          <p14:sldIdLst>
            <p14:sldId id="513"/>
            <p14:sldId id="382"/>
            <p14:sldId id="514"/>
            <p14:sldId id="515"/>
            <p14:sldId id="516"/>
            <p14:sldId id="386"/>
            <p14:sldId id="517"/>
            <p14:sldId id="518"/>
            <p14:sldId id="519"/>
            <p14:sldId id="520"/>
            <p14:sldId id="521"/>
            <p14:sldId id="522"/>
            <p14:sldId id="523"/>
            <p14:sldId id="524"/>
            <p14:sldId id="397"/>
            <p14:sldId id="525"/>
            <p14:sldId id="526"/>
            <p14:sldId id="527"/>
            <p14:sldId id="528"/>
            <p14:sldId id="529"/>
            <p14:sldId id="530"/>
            <p14:sldId id="404"/>
            <p14:sldId id="405"/>
            <p14:sldId id="406"/>
            <p14:sldId id="417"/>
            <p14:sldId id="531"/>
            <p14:sldId id="419"/>
            <p14:sldId id="420"/>
            <p14:sldId id="532"/>
            <p14:sldId id="424"/>
            <p14:sldId id="533"/>
            <p14:sldId id="427"/>
            <p14:sldId id="428"/>
            <p14:sldId id="43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97F8AD-EEA7-AD48-89C2-B677091BA2FA}" v="234" dt="2025-11-04T13:02:35.9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695"/>
    <p:restoredTop sz="96327"/>
  </p:normalViewPr>
  <p:slideViewPr>
    <p:cSldViewPr snapToGrid="0" snapToObjects="1">
      <p:cViewPr varScale="1">
        <p:scale>
          <a:sx n="154" d="100"/>
          <a:sy n="154" d="100"/>
        </p:scale>
        <p:origin x="232"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notesMaster" Target="notesMasters/notesMaster1.xml"/><Relationship Id="rId16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presProps" Target="presProp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X"/>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D0454B-382A-AC41-B656-5ED882E8F851}" type="datetimeFigureOut">
              <a:rPr lang="en-MX" smtClean="0"/>
              <a:t>10/29/25</a:t>
            </a:fld>
            <a:endParaRPr lang="en-MX"/>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X"/>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X"/>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C935DD-18E8-5449-B116-23ED0994C4E3}" type="slidenum">
              <a:rPr lang="en-MX" smtClean="0"/>
              <a:t>‹#›</a:t>
            </a:fld>
            <a:endParaRPr lang="en-MX"/>
          </a:p>
        </p:txBody>
      </p:sp>
    </p:spTree>
    <p:extLst>
      <p:ext uri="{BB962C8B-B14F-4D97-AF65-F5344CB8AC3E}">
        <p14:creationId xmlns:p14="http://schemas.microsoft.com/office/powerpoint/2010/main" val="3890366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DC760873-1DB6-4BFD-A6EE-A8B19BFAC5E9}" type="slidenum">
              <a:rPr lang="en-US"/>
              <a:pPr/>
              <a:t>17</a:t>
            </a:fld>
            <a:endParaRPr lang="en-US"/>
          </a:p>
        </p:txBody>
      </p:sp>
      <p:sp>
        <p:nvSpPr>
          <p:cNvPr id="35842" name="Rectangle 2"/>
          <p:cNvSpPr>
            <a:spLocks noChangeArrowheads="1"/>
          </p:cNvSpPr>
          <p:nvPr/>
        </p:nvSpPr>
        <p:spPr bwMode="auto">
          <a:xfrm>
            <a:off x="3886200" y="0"/>
            <a:ext cx="2971800" cy="458788"/>
          </a:xfrm>
          <a:prstGeom prst="rect">
            <a:avLst/>
          </a:prstGeom>
          <a:noFill/>
          <a:ln w="9525">
            <a:noFill/>
            <a:miter lim="800000"/>
            <a:headEnd/>
            <a:tailEnd/>
          </a:ln>
          <a:effectLst/>
        </p:spPr>
        <p:txBody>
          <a:bodyPr wrap="none" anchor="ctr"/>
          <a:lstStyle/>
          <a:p>
            <a:endParaRPr lang="en-US"/>
          </a:p>
        </p:txBody>
      </p:sp>
      <p:sp>
        <p:nvSpPr>
          <p:cNvPr id="35843" name="Rectangle 3"/>
          <p:cNvSpPr>
            <a:spLocks noChangeArrowheads="1"/>
          </p:cNvSpPr>
          <p:nvPr/>
        </p:nvSpPr>
        <p:spPr bwMode="auto">
          <a:xfrm>
            <a:off x="3886200" y="8685213"/>
            <a:ext cx="2971800" cy="458787"/>
          </a:xfrm>
          <a:prstGeom prst="rect">
            <a:avLst/>
          </a:prstGeom>
          <a:noFill/>
          <a:ln w="9525">
            <a:noFill/>
            <a:miter lim="800000"/>
            <a:headEnd/>
            <a:tailEnd/>
          </a:ln>
          <a:effectLst/>
        </p:spPr>
        <p:txBody>
          <a:bodyPr lIns="91748" tIns="45874" rIns="91748" bIns="45874" anchor="b"/>
          <a:lstStyle/>
          <a:p>
            <a:pPr algn="r" defTabSz="911225" eaLnBrk="0" hangingPunct="0"/>
            <a:r>
              <a:rPr lang="en-US" sz="1200">
                <a:latin typeface="Times New Roman" pitchFamily="18" charset="0"/>
              </a:rPr>
              <a:t>18</a:t>
            </a:r>
          </a:p>
        </p:txBody>
      </p:sp>
      <p:sp>
        <p:nvSpPr>
          <p:cNvPr id="35844" name="Rectangle 4"/>
          <p:cNvSpPr>
            <a:spLocks noChangeArrowheads="1"/>
          </p:cNvSpPr>
          <p:nvPr/>
        </p:nvSpPr>
        <p:spPr bwMode="auto">
          <a:xfrm>
            <a:off x="0" y="8685213"/>
            <a:ext cx="2973388" cy="458787"/>
          </a:xfrm>
          <a:prstGeom prst="rect">
            <a:avLst/>
          </a:prstGeom>
          <a:noFill/>
          <a:ln w="9525">
            <a:noFill/>
            <a:miter lim="800000"/>
            <a:headEnd/>
            <a:tailEnd/>
          </a:ln>
          <a:effectLst/>
        </p:spPr>
        <p:txBody>
          <a:bodyPr wrap="none" anchor="ctr"/>
          <a:lstStyle/>
          <a:p>
            <a:endParaRPr lang="en-US"/>
          </a:p>
        </p:txBody>
      </p:sp>
      <p:sp>
        <p:nvSpPr>
          <p:cNvPr id="35845" name="Rectangle 5"/>
          <p:cNvSpPr>
            <a:spLocks noChangeArrowheads="1"/>
          </p:cNvSpPr>
          <p:nvPr/>
        </p:nvSpPr>
        <p:spPr bwMode="auto">
          <a:xfrm>
            <a:off x="0" y="0"/>
            <a:ext cx="2973388" cy="458788"/>
          </a:xfrm>
          <a:prstGeom prst="rect">
            <a:avLst/>
          </a:prstGeom>
          <a:noFill/>
          <a:ln w="9525">
            <a:noFill/>
            <a:miter lim="800000"/>
            <a:headEnd/>
            <a:tailEnd/>
          </a:ln>
          <a:effectLst/>
        </p:spPr>
        <p:txBody>
          <a:bodyPr wrap="none" anchor="ctr"/>
          <a:lstStyle/>
          <a:p>
            <a:endParaRPr lang="en-US"/>
          </a:p>
        </p:txBody>
      </p:sp>
      <p:sp>
        <p:nvSpPr>
          <p:cNvPr id="35846" name="Rectangle 6"/>
          <p:cNvSpPr>
            <a:spLocks noGrp="1" noRot="1" noChangeAspect="1" noChangeArrowheads="1" noTextEdit="1"/>
          </p:cNvSpPr>
          <p:nvPr>
            <p:ph type="sldImg"/>
          </p:nvPr>
        </p:nvSpPr>
        <p:spPr>
          <a:xfrm>
            <a:off x="401638" y="693738"/>
            <a:ext cx="6065837" cy="3413125"/>
          </a:xfrm>
          <a:ln w="12700" cap="flat"/>
        </p:spPr>
      </p:sp>
      <p:sp>
        <p:nvSpPr>
          <p:cNvPr id="35847" name="Rectangle 7"/>
          <p:cNvSpPr>
            <a:spLocks noGrp="1" noChangeArrowheads="1"/>
          </p:cNvSpPr>
          <p:nvPr>
            <p:ph type="body" idx="1"/>
          </p:nvPr>
        </p:nvSpPr>
        <p:spPr>
          <a:xfrm>
            <a:off x="912813" y="4343400"/>
            <a:ext cx="5032375" cy="4114800"/>
          </a:xfrm>
          <a:noFill/>
          <a:ln/>
        </p:spPr>
        <p:txBody>
          <a:bodyPr lIns="91748" tIns="45874" rIns="91748" bIns="45874"/>
          <a:lstStyle/>
          <a:p>
            <a:endParaRPr lang="en-US" b="1" i="1">
              <a:cs typeface="Times New Roman" pitchFamily="18" charset="0"/>
            </a:endParaRPr>
          </a:p>
          <a:p>
            <a:endParaRPr lang="en-US" b="1" i="1">
              <a:cs typeface="Times New Roman" pitchFamily="18" charset="0"/>
            </a:endParaRPr>
          </a:p>
          <a:p>
            <a:endParaRPr lang="en-US" i="1"/>
          </a:p>
          <a:p>
            <a:endParaRPr lang="en-US"/>
          </a:p>
          <a:p>
            <a:pPr>
              <a:spcBef>
                <a:spcPct val="0"/>
              </a:spcBef>
            </a:pPr>
            <a:endParaRPr lang="en-US" sz="2400"/>
          </a:p>
        </p:txBody>
      </p:sp>
    </p:spTree>
    <p:extLst>
      <p:ext uri="{BB962C8B-B14F-4D97-AF65-F5344CB8AC3E}">
        <p14:creationId xmlns:p14="http://schemas.microsoft.com/office/powerpoint/2010/main" val="13452740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5678F1B-2D04-4CD9-BBCC-809989EBFBBF}" type="slidenum">
              <a:rPr lang="en-US"/>
              <a:pPr/>
              <a:t>18</a:t>
            </a:fld>
            <a:endParaRPr lang="en-US"/>
          </a:p>
        </p:txBody>
      </p:sp>
      <p:sp>
        <p:nvSpPr>
          <p:cNvPr id="37890" name="Rectangle 2"/>
          <p:cNvSpPr>
            <a:spLocks noGrp="1" noRot="1" noChangeAspect="1" noChangeArrowheads="1" noTextEdit="1"/>
          </p:cNvSpPr>
          <p:nvPr>
            <p:ph type="sldImg"/>
          </p:nvPr>
        </p:nvSpPr>
        <p:spPr>
          <a:xfrm>
            <a:off x="393700" y="692150"/>
            <a:ext cx="6070600" cy="3414713"/>
          </a:xfrm>
          <a:ln/>
        </p:spPr>
      </p:sp>
      <p:sp>
        <p:nvSpPr>
          <p:cNvPr id="37891" name="Rectangle 3"/>
          <p:cNvSpPr>
            <a:spLocks noGrp="1" noChangeArrowheads="1"/>
          </p:cNvSpPr>
          <p:nvPr>
            <p:ph type="body" idx="1"/>
          </p:nvPr>
        </p:nvSpPr>
        <p:spPr>
          <a:xfrm>
            <a:off x="914400" y="4343400"/>
            <a:ext cx="5029200" cy="4114800"/>
          </a:xfrm>
        </p:spPr>
        <p:txBody>
          <a:bodyPr/>
          <a:lstStyle/>
          <a:p>
            <a:endParaRPr lang="en-US"/>
          </a:p>
        </p:txBody>
      </p:sp>
    </p:spTree>
    <p:extLst>
      <p:ext uri="{BB962C8B-B14F-4D97-AF65-F5344CB8AC3E}">
        <p14:creationId xmlns:p14="http://schemas.microsoft.com/office/powerpoint/2010/main" val="21875610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3D7BBF04-B9E0-449E-974D-600293222A21}" type="slidenum">
              <a:rPr lang="en-US"/>
              <a:pPr/>
              <a:t>19</a:t>
            </a:fld>
            <a:endParaRPr lang="en-US"/>
          </a:p>
        </p:txBody>
      </p:sp>
      <p:sp>
        <p:nvSpPr>
          <p:cNvPr id="41986" name="Rectangle 2"/>
          <p:cNvSpPr>
            <a:spLocks noChangeArrowheads="1"/>
          </p:cNvSpPr>
          <p:nvPr/>
        </p:nvSpPr>
        <p:spPr bwMode="auto">
          <a:xfrm>
            <a:off x="3886200" y="0"/>
            <a:ext cx="2971800" cy="457200"/>
          </a:xfrm>
          <a:prstGeom prst="rect">
            <a:avLst/>
          </a:prstGeom>
          <a:noFill/>
          <a:ln w="9525">
            <a:noFill/>
            <a:miter lim="800000"/>
            <a:headEnd/>
            <a:tailEnd/>
          </a:ln>
          <a:effectLst/>
        </p:spPr>
        <p:txBody>
          <a:bodyPr wrap="none" anchor="ctr"/>
          <a:lstStyle/>
          <a:p>
            <a:endParaRPr lang="en-US"/>
          </a:p>
        </p:txBody>
      </p:sp>
      <p:sp>
        <p:nvSpPr>
          <p:cNvPr id="41987" name="Rectangle 3"/>
          <p:cNvSpPr>
            <a:spLocks noChangeArrowheads="1"/>
          </p:cNvSpPr>
          <p:nvPr/>
        </p:nvSpPr>
        <p:spPr bwMode="auto">
          <a:xfrm>
            <a:off x="3886200" y="8686800"/>
            <a:ext cx="2971800" cy="457200"/>
          </a:xfrm>
          <a:prstGeom prst="rect">
            <a:avLst/>
          </a:prstGeom>
          <a:noFill/>
          <a:ln w="9525">
            <a:noFill/>
            <a:miter lim="800000"/>
            <a:headEnd/>
            <a:tailEnd/>
          </a:ln>
          <a:effectLst/>
        </p:spPr>
        <p:txBody>
          <a:bodyPr lIns="92075" tIns="46038" rIns="92075" bIns="46038" anchor="b"/>
          <a:lstStyle/>
          <a:p>
            <a:pPr algn="r" eaLnBrk="0" hangingPunct="0"/>
            <a:r>
              <a:rPr lang="en-US" sz="1200">
                <a:latin typeface="Times New Roman" pitchFamily="18" charset="0"/>
              </a:rPr>
              <a:t>34</a:t>
            </a:r>
          </a:p>
        </p:txBody>
      </p:sp>
      <p:sp>
        <p:nvSpPr>
          <p:cNvPr id="41988" name="Rectangle 4"/>
          <p:cNvSpPr>
            <a:spLocks noChangeArrowheads="1"/>
          </p:cNvSpPr>
          <p:nvPr/>
        </p:nvSpPr>
        <p:spPr bwMode="auto">
          <a:xfrm>
            <a:off x="0" y="8686800"/>
            <a:ext cx="2971800" cy="457200"/>
          </a:xfrm>
          <a:prstGeom prst="rect">
            <a:avLst/>
          </a:prstGeom>
          <a:noFill/>
          <a:ln w="9525">
            <a:noFill/>
            <a:miter lim="800000"/>
            <a:headEnd/>
            <a:tailEnd/>
          </a:ln>
          <a:effectLst/>
        </p:spPr>
        <p:txBody>
          <a:bodyPr wrap="none" anchor="ctr"/>
          <a:lstStyle/>
          <a:p>
            <a:endParaRPr lang="en-US"/>
          </a:p>
        </p:txBody>
      </p:sp>
      <p:sp>
        <p:nvSpPr>
          <p:cNvPr id="41989" name="Rectangle 5"/>
          <p:cNvSpPr>
            <a:spLocks noChangeArrowheads="1"/>
          </p:cNvSpPr>
          <p:nvPr/>
        </p:nvSpPr>
        <p:spPr bwMode="auto">
          <a:xfrm>
            <a:off x="0" y="0"/>
            <a:ext cx="2971800" cy="457200"/>
          </a:xfrm>
          <a:prstGeom prst="rect">
            <a:avLst/>
          </a:prstGeom>
          <a:noFill/>
          <a:ln w="9525">
            <a:noFill/>
            <a:miter lim="800000"/>
            <a:headEnd/>
            <a:tailEnd/>
          </a:ln>
          <a:effectLst/>
        </p:spPr>
        <p:txBody>
          <a:bodyPr wrap="none" anchor="ctr"/>
          <a:lstStyle/>
          <a:p>
            <a:endParaRPr lang="en-US"/>
          </a:p>
        </p:txBody>
      </p:sp>
      <p:sp>
        <p:nvSpPr>
          <p:cNvPr id="41990" name="Rectangle 6"/>
          <p:cNvSpPr>
            <a:spLocks noGrp="1" noRot="1" noChangeAspect="1" noChangeArrowheads="1" noTextEdit="1"/>
          </p:cNvSpPr>
          <p:nvPr>
            <p:ph type="sldImg"/>
          </p:nvPr>
        </p:nvSpPr>
        <p:spPr>
          <a:xfrm>
            <a:off x="400050" y="617538"/>
            <a:ext cx="6064250" cy="3411537"/>
          </a:xfrm>
          <a:ln w="12700" cap="flat"/>
        </p:spPr>
      </p:sp>
      <p:sp>
        <p:nvSpPr>
          <p:cNvPr id="41991" name="Rectangle 7"/>
          <p:cNvSpPr>
            <a:spLocks noGrp="1" noChangeArrowheads="1"/>
          </p:cNvSpPr>
          <p:nvPr>
            <p:ph type="body" idx="1"/>
          </p:nvPr>
        </p:nvSpPr>
        <p:spPr>
          <a:xfrm>
            <a:off x="912813" y="4343400"/>
            <a:ext cx="5032375" cy="4114800"/>
          </a:xfrm>
          <a:noFill/>
          <a:ln/>
        </p:spPr>
        <p:txBody>
          <a:bodyPr lIns="92075" tIns="46038" rIns="92075" bIns="46038"/>
          <a:lstStyle/>
          <a:p>
            <a:pPr lvl="2">
              <a:spcBef>
                <a:spcPts val="500"/>
              </a:spcBef>
              <a:spcAft>
                <a:spcPts val="500"/>
              </a:spcAft>
              <a:buFont typeface="Symbol" pitchFamily="18" charset="2"/>
              <a:buChar char="·"/>
            </a:pPr>
            <a:endParaRPr lang="en-US"/>
          </a:p>
          <a:p>
            <a:pPr>
              <a:spcBef>
                <a:spcPts val="500"/>
              </a:spcBef>
              <a:spcAft>
                <a:spcPts val="500"/>
              </a:spcAft>
              <a:buFont typeface="Symbol" pitchFamily="18" charset="2"/>
              <a:buChar char="·"/>
            </a:pPr>
            <a:endParaRPr lang="en-US"/>
          </a:p>
        </p:txBody>
      </p:sp>
    </p:spTree>
    <p:extLst>
      <p:ext uri="{BB962C8B-B14F-4D97-AF65-F5344CB8AC3E}">
        <p14:creationId xmlns:p14="http://schemas.microsoft.com/office/powerpoint/2010/main" val="2192206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F610B653-9F56-405C-BC95-051ABFB5E7BA}" type="slidenum">
              <a:rPr lang="en-US"/>
              <a:pPr/>
              <a:t>20</a:t>
            </a:fld>
            <a:endParaRPr lang="en-US"/>
          </a:p>
        </p:txBody>
      </p:sp>
      <p:sp>
        <p:nvSpPr>
          <p:cNvPr id="46082" name="Rectangle 2"/>
          <p:cNvSpPr>
            <a:spLocks noChangeArrowheads="1"/>
          </p:cNvSpPr>
          <p:nvPr/>
        </p:nvSpPr>
        <p:spPr bwMode="auto">
          <a:xfrm>
            <a:off x="3886200" y="0"/>
            <a:ext cx="2971800" cy="457200"/>
          </a:xfrm>
          <a:prstGeom prst="rect">
            <a:avLst/>
          </a:prstGeom>
          <a:noFill/>
          <a:ln w="9525">
            <a:noFill/>
            <a:miter lim="800000"/>
            <a:headEnd/>
            <a:tailEnd/>
          </a:ln>
          <a:effectLst/>
        </p:spPr>
        <p:txBody>
          <a:bodyPr wrap="none" anchor="ctr"/>
          <a:lstStyle/>
          <a:p>
            <a:endParaRPr lang="en-US"/>
          </a:p>
        </p:txBody>
      </p:sp>
      <p:sp>
        <p:nvSpPr>
          <p:cNvPr id="46083" name="Rectangle 3"/>
          <p:cNvSpPr>
            <a:spLocks noChangeArrowheads="1"/>
          </p:cNvSpPr>
          <p:nvPr/>
        </p:nvSpPr>
        <p:spPr bwMode="auto">
          <a:xfrm>
            <a:off x="3886200" y="8686800"/>
            <a:ext cx="2971800" cy="457200"/>
          </a:xfrm>
          <a:prstGeom prst="rect">
            <a:avLst/>
          </a:prstGeom>
          <a:noFill/>
          <a:ln w="9525">
            <a:noFill/>
            <a:miter lim="800000"/>
            <a:headEnd/>
            <a:tailEnd/>
          </a:ln>
          <a:effectLst/>
        </p:spPr>
        <p:txBody>
          <a:bodyPr lIns="92075" tIns="46038" rIns="92075" bIns="46038" anchor="b"/>
          <a:lstStyle/>
          <a:p>
            <a:pPr algn="r" eaLnBrk="0" hangingPunct="0"/>
            <a:r>
              <a:rPr lang="en-US" sz="1200">
                <a:latin typeface="Times New Roman" pitchFamily="18" charset="0"/>
              </a:rPr>
              <a:t>11</a:t>
            </a:r>
          </a:p>
        </p:txBody>
      </p:sp>
      <p:sp>
        <p:nvSpPr>
          <p:cNvPr id="46084" name="Rectangle 4"/>
          <p:cNvSpPr>
            <a:spLocks noChangeArrowheads="1"/>
          </p:cNvSpPr>
          <p:nvPr/>
        </p:nvSpPr>
        <p:spPr bwMode="auto">
          <a:xfrm>
            <a:off x="0" y="8686800"/>
            <a:ext cx="2971800" cy="457200"/>
          </a:xfrm>
          <a:prstGeom prst="rect">
            <a:avLst/>
          </a:prstGeom>
          <a:noFill/>
          <a:ln w="9525">
            <a:noFill/>
            <a:miter lim="800000"/>
            <a:headEnd/>
            <a:tailEnd/>
          </a:ln>
          <a:effectLst/>
        </p:spPr>
        <p:txBody>
          <a:bodyPr wrap="none" anchor="ctr"/>
          <a:lstStyle/>
          <a:p>
            <a:endParaRPr lang="en-US"/>
          </a:p>
        </p:txBody>
      </p:sp>
      <p:sp>
        <p:nvSpPr>
          <p:cNvPr id="46085" name="Rectangle 5"/>
          <p:cNvSpPr>
            <a:spLocks noChangeArrowheads="1"/>
          </p:cNvSpPr>
          <p:nvPr/>
        </p:nvSpPr>
        <p:spPr bwMode="auto">
          <a:xfrm>
            <a:off x="0" y="0"/>
            <a:ext cx="2971800" cy="457200"/>
          </a:xfrm>
          <a:prstGeom prst="rect">
            <a:avLst/>
          </a:prstGeom>
          <a:noFill/>
          <a:ln w="9525">
            <a:noFill/>
            <a:miter lim="800000"/>
            <a:headEnd/>
            <a:tailEnd/>
          </a:ln>
          <a:effectLst/>
        </p:spPr>
        <p:txBody>
          <a:bodyPr wrap="none" anchor="ctr"/>
          <a:lstStyle/>
          <a:p>
            <a:endParaRPr lang="en-US"/>
          </a:p>
        </p:txBody>
      </p:sp>
      <p:sp>
        <p:nvSpPr>
          <p:cNvPr id="46086" name="Rectangle 6"/>
          <p:cNvSpPr>
            <a:spLocks noGrp="1" noRot="1" noChangeAspect="1" noChangeArrowheads="1" noTextEdit="1"/>
          </p:cNvSpPr>
          <p:nvPr>
            <p:ph type="sldImg"/>
          </p:nvPr>
        </p:nvSpPr>
        <p:spPr>
          <a:xfrm>
            <a:off x="400050" y="695325"/>
            <a:ext cx="6064250" cy="3411538"/>
          </a:xfrm>
          <a:ln w="12700" cap="flat"/>
        </p:spPr>
      </p:sp>
      <p:sp>
        <p:nvSpPr>
          <p:cNvPr id="46087" name="Rectangle 7"/>
          <p:cNvSpPr>
            <a:spLocks noGrp="1" noChangeArrowheads="1"/>
          </p:cNvSpPr>
          <p:nvPr>
            <p:ph type="body" idx="1"/>
          </p:nvPr>
        </p:nvSpPr>
        <p:spPr>
          <a:xfrm>
            <a:off x="912813" y="4343400"/>
            <a:ext cx="5032375" cy="4114800"/>
          </a:xfrm>
          <a:ln/>
        </p:spPr>
        <p:txBody>
          <a:bodyPr lIns="92075" tIns="46038" rIns="92075" bIns="46038"/>
          <a:lstStyle/>
          <a:p>
            <a:pPr>
              <a:spcBef>
                <a:spcPct val="20000"/>
              </a:spcBef>
            </a:pPr>
            <a:endParaRPr lang="en-US" sz="2000"/>
          </a:p>
        </p:txBody>
      </p:sp>
    </p:spTree>
    <p:extLst>
      <p:ext uri="{BB962C8B-B14F-4D97-AF65-F5344CB8AC3E}">
        <p14:creationId xmlns:p14="http://schemas.microsoft.com/office/powerpoint/2010/main" val="24342444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58BC5FF3-FE1D-4066-865F-769A0CC3F939}" type="slidenum">
              <a:rPr lang="en-US"/>
              <a:pPr/>
              <a:t>21</a:t>
            </a:fld>
            <a:endParaRPr lang="en-US"/>
          </a:p>
        </p:txBody>
      </p:sp>
      <p:sp>
        <p:nvSpPr>
          <p:cNvPr id="48130" name="Rectangle 2"/>
          <p:cNvSpPr>
            <a:spLocks noChangeArrowheads="1"/>
          </p:cNvSpPr>
          <p:nvPr/>
        </p:nvSpPr>
        <p:spPr bwMode="auto">
          <a:xfrm>
            <a:off x="3886200" y="0"/>
            <a:ext cx="2971800" cy="457200"/>
          </a:xfrm>
          <a:prstGeom prst="rect">
            <a:avLst/>
          </a:prstGeom>
          <a:noFill/>
          <a:ln w="9525">
            <a:noFill/>
            <a:miter lim="800000"/>
            <a:headEnd/>
            <a:tailEnd/>
          </a:ln>
          <a:effectLst/>
        </p:spPr>
        <p:txBody>
          <a:bodyPr wrap="none" anchor="ctr"/>
          <a:lstStyle/>
          <a:p>
            <a:endParaRPr lang="en-US"/>
          </a:p>
        </p:txBody>
      </p:sp>
      <p:sp>
        <p:nvSpPr>
          <p:cNvPr id="48131" name="Rectangle 3"/>
          <p:cNvSpPr>
            <a:spLocks noChangeArrowheads="1"/>
          </p:cNvSpPr>
          <p:nvPr/>
        </p:nvSpPr>
        <p:spPr bwMode="auto">
          <a:xfrm>
            <a:off x="3886200" y="8686800"/>
            <a:ext cx="2971800" cy="457200"/>
          </a:xfrm>
          <a:prstGeom prst="rect">
            <a:avLst/>
          </a:prstGeom>
          <a:noFill/>
          <a:ln w="9525">
            <a:noFill/>
            <a:miter lim="800000"/>
            <a:headEnd/>
            <a:tailEnd/>
          </a:ln>
          <a:effectLst/>
        </p:spPr>
        <p:txBody>
          <a:bodyPr lIns="92075" tIns="46038" rIns="92075" bIns="46038" anchor="b"/>
          <a:lstStyle/>
          <a:p>
            <a:pPr algn="r" eaLnBrk="0" hangingPunct="0"/>
            <a:r>
              <a:rPr lang="en-US" sz="1200">
                <a:latin typeface="Times New Roman" pitchFamily="18" charset="0"/>
              </a:rPr>
              <a:t>12</a:t>
            </a:r>
          </a:p>
        </p:txBody>
      </p:sp>
      <p:sp>
        <p:nvSpPr>
          <p:cNvPr id="48132" name="Rectangle 4"/>
          <p:cNvSpPr>
            <a:spLocks noChangeArrowheads="1"/>
          </p:cNvSpPr>
          <p:nvPr/>
        </p:nvSpPr>
        <p:spPr bwMode="auto">
          <a:xfrm>
            <a:off x="0" y="8686800"/>
            <a:ext cx="2971800" cy="457200"/>
          </a:xfrm>
          <a:prstGeom prst="rect">
            <a:avLst/>
          </a:prstGeom>
          <a:noFill/>
          <a:ln w="9525">
            <a:noFill/>
            <a:miter lim="800000"/>
            <a:headEnd/>
            <a:tailEnd/>
          </a:ln>
          <a:effectLst/>
        </p:spPr>
        <p:txBody>
          <a:bodyPr wrap="none" anchor="ctr"/>
          <a:lstStyle/>
          <a:p>
            <a:endParaRPr lang="en-US"/>
          </a:p>
        </p:txBody>
      </p:sp>
      <p:sp>
        <p:nvSpPr>
          <p:cNvPr id="48133" name="Rectangle 5"/>
          <p:cNvSpPr>
            <a:spLocks noChangeArrowheads="1"/>
          </p:cNvSpPr>
          <p:nvPr/>
        </p:nvSpPr>
        <p:spPr bwMode="auto">
          <a:xfrm>
            <a:off x="0" y="0"/>
            <a:ext cx="2971800" cy="457200"/>
          </a:xfrm>
          <a:prstGeom prst="rect">
            <a:avLst/>
          </a:prstGeom>
          <a:noFill/>
          <a:ln w="9525">
            <a:noFill/>
            <a:miter lim="800000"/>
            <a:headEnd/>
            <a:tailEnd/>
          </a:ln>
          <a:effectLst/>
        </p:spPr>
        <p:txBody>
          <a:bodyPr wrap="none" anchor="ctr"/>
          <a:lstStyle/>
          <a:p>
            <a:endParaRPr lang="en-US"/>
          </a:p>
        </p:txBody>
      </p:sp>
      <p:sp>
        <p:nvSpPr>
          <p:cNvPr id="48134" name="Rectangle 6"/>
          <p:cNvSpPr>
            <a:spLocks noGrp="1" noRot="1" noChangeAspect="1" noChangeArrowheads="1" noTextEdit="1"/>
          </p:cNvSpPr>
          <p:nvPr>
            <p:ph type="sldImg"/>
          </p:nvPr>
        </p:nvSpPr>
        <p:spPr>
          <a:xfrm>
            <a:off x="400050" y="695325"/>
            <a:ext cx="6064250" cy="3411538"/>
          </a:xfrm>
          <a:ln w="12700" cap="flat"/>
        </p:spPr>
      </p:sp>
      <p:sp>
        <p:nvSpPr>
          <p:cNvPr id="48135" name="Rectangle 7"/>
          <p:cNvSpPr>
            <a:spLocks noGrp="1" noChangeArrowheads="1"/>
          </p:cNvSpPr>
          <p:nvPr>
            <p:ph type="body" idx="1"/>
          </p:nvPr>
        </p:nvSpPr>
        <p:spPr>
          <a:xfrm>
            <a:off x="912813" y="4343400"/>
            <a:ext cx="5032375" cy="4114800"/>
          </a:xfrm>
          <a:ln/>
        </p:spPr>
        <p:txBody>
          <a:bodyPr lIns="92075" tIns="46038" rIns="92075" bIns="46038"/>
          <a:lstStyle/>
          <a:p>
            <a:endParaRPr lang="en-US"/>
          </a:p>
        </p:txBody>
      </p:sp>
    </p:spTree>
    <p:extLst>
      <p:ext uri="{BB962C8B-B14F-4D97-AF65-F5344CB8AC3E}">
        <p14:creationId xmlns:p14="http://schemas.microsoft.com/office/powerpoint/2010/main" val="20482477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E20F7AB5-6B9B-481D-AD6D-C30343AD27A8}" type="slidenum">
              <a:rPr lang="en-US"/>
              <a:pPr/>
              <a:t>22</a:t>
            </a:fld>
            <a:endParaRPr lang="en-US"/>
          </a:p>
        </p:txBody>
      </p:sp>
      <p:sp>
        <p:nvSpPr>
          <p:cNvPr id="50178" name="Rectangle 2"/>
          <p:cNvSpPr>
            <a:spLocks noChangeArrowheads="1"/>
          </p:cNvSpPr>
          <p:nvPr/>
        </p:nvSpPr>
        <p:spPr bwMode="auto">
          <a:xfrm>
            <a:off x="3886200" y="0"/>
            <a:ext cx="2971800" cy="457200"/>
          </a:xfrm>
          <a:prstGeom prst="rect">
            <a:avLst/>
          </a:prstGeom>
          <a:noFill/>
          <a:ln w="9525">
            <a:noFill/>
            <a:miter lim="800000"/>
            <a:headEnd/>
            <a:tailEnd/>
          </a:ln>
          <a:effectLst/>
        </p:spPr>
        <p:txBody>
          <a:bodyPr wrap="none" anchor="ctr"/>
          <a:lstStyle/>
          <a:p>
            <a:endParaRPr lang="en-US"/>
          </a:p>
        </p:txBody>
      </p:sp>
      <p:sp>
        <p:nvSpPr>
          <p:cNvPr id="50179" name="Rectangle 3"/>
          <p:cNvSpPr>
            <a:spLocks noChangeArrowheads="1"/>
          </p:cNvSpPr>
          <p:nvPr/>
        </p:nvSpPr>
        <p:spPr bwMode="auto">
          <a:xfrm>
            <a:off x="3886200" y="8686800"/>
            <a:ext cx="2971800" cy="457200"/>
          </a:xfrm>
          <a:prstGeom prst="rect">
            <a:avLst/>
          </a:prstGeom>
          <a:noFill/>
          <a:ln w="9525">
            <a:noFill/>
            <a:miter lim="800000"/>
            <a:headEnd/>
            <a:tailEnd/>
          </a:ln>
          <a:effectLst/>
        </p:spPr>
        <p:txBody>
          <a:bodyPr lIns="92075" tIns="46038" rIns="92075" bIns="46038" anchor="b"/>
          <a:lstStyle/>
          <a:p>
            <a:pPr algn="r" eaLnBrk="0" hangingPunct="0"/>
            <a:r>
              <a:rPr lang="en-US" sz="1200">
                <a:latin typeface="Times New Roman" pitchFamily="18" charset="0"/>
              </a:rPr>
              <a:t>13</a:t>
            </a:r>
          </a:p>
        </p:txBody>
      </p:sp>
      <p:sp>
        <p:nvSpPr>
          <p:cNvPr id="50180" name="Rectangle 4"/>
          <p:cNvSpPr>
            <a:spLocks noChangeArrowheads="1"/>
          </p:cNvSpPr>
          <p:nvPr/>
        </p:nvSpPr>
        <p:spPr bwMode="auto">
          <a:xfrm>
            <a:off x="0" y="8686800"/>
            <a:ext cx="2971800" cy="457200"/>
          </a:xfrm>
          <a:prstGeom prst="rect">
            <a:avLst/>
          </a:prstGeom>
          <a:noFill/>
          <a:ln w="9525">
            <a:noFill/>
            <a:miter lim="800000"/>
            <a:headEnd/>
            <a:tailEnd/>
          </a:ln>
          <a:effectLst/>
        </p:spPr>
        <p:txBody>
          <a:bodyPr wrap="none" anchor="ctr"/>
          <a:lstStyle/>
          <a:p>
            <a:endParaRPr lang="en-US"/>
          </a:p>
        </p:txBody>
      </p:sp>
      <p:sp>
        <p:nvSpPr>
          <p:cNvPr id="50181" name="Rectangle 5"/>
          <p:cNvSpPr>
            <a:spLocks noChangeArrowheads="1"/>
          </p:cNvSpPr>
          <p:nvPr/>
        </p:nvSpPr>
        <p:spPr bwMode="auto">
          <a:xfrm>
            <a:off x="0" y="0"/>
            <a:ext cx="2971800" cy="457200"/>
          </a:xfrm>
          <a:prstGeom prst="rect">
            <a:avLst/>
          </a:prstGeom>
          <a:noFill/>
          <a:ln w="9525">
            <a:noFill/>
            <a:miter lim="800000"/>
            <a:headEnd/>
            <a:tailEnd/>
          </a:ln>
          <a:effectLst/>
        </p:spPr>
        <p:txBody>
          <a:bodyPr wrap="none" anchor="ctr"/>
          <a:lstStyle/>
          <a:p>
            <a:endParaRPr lang="en-US"/>
          </a:p>
        </p:txBody>
      </p:sp>
      <p:sp>
        <p:nvSpPr>
          <p:cNvPr id="50182" name="Rectangle 6"/>
          <p:cNvSpPr>
            <a:spLocks noGrp="1" noRot="1" noChangeAspect="1" noChangeArrowheads="1" noTextEdit="1"/>
          </p:cNvSpPr>
          <p:nvPr>
            <p:ph type="sldImg"/>
          </p:nvPr>
        </p:nvSpPr>
        <p:spPr>
          <a:xfrm>
            <a:off x="400050" y="695325"/>
            <a:ext cx="6064250" cy="3411538"/>
          </a:xfrm>
          <a:ln w="12700" cap="flat"/>
        </p:spPr>
      </p:sp>
      <p:sp>
        <p:nvSpPr>
          <p:cNvPr id="50183" name="Rectangle 7"/>
          <p:cNvSpPr>
            <a:spLocks noGrp="1" noChangeArrowheads="1"/>
          </p:cNvSpPr>
          <p:nvPr>
            <p:ph type="body" idx="1"/>
          </p:nvPr>
        </p:nvSpPr>
        <p:spPr>
          <a:xfrm>
            <a:off x="912813" y="4343400"/>
            <a:ext cx="5032375" cy="4114800"/>
          </a:xfrm>
          <a:ln/>
        </p:spPr>
        <p:txBody>
          <a:bodyPr lIns="92075" tIns="46038" rIns="92075" bIns="46038"/>
          <a:lstStyle/>
          <a:p>
            <a:endParaRPr lang="en-US"/>
          </a:p>
        </p:txBody>
      </p:sp>
    </p:spTree>
    <p:extLst>
      <p:ext uri="{BB962C8B-B14F-4D97-AF65-F5344CB8AC3E}">
        <p14:creationId xmlns:p14="http://schemas.microsoft.com/office/powerpoint/2010/main" val="33655550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A9C98611-3036-4238-B03C-80D609AFCE00}" type="slidenum">
              <a:rPr lang="en-US"/>
              <a:pPr/>
              <a:t>23</a:t>
            </a:fld>
            <a:endParaRPr lang="en-US"/>
          </a:p>
        </p:txBody>
      </p:sp>
      <p:sp>
        <p:nvSpPr>
          <p:cNvPr id="54274" name="Rectangle 2"/>
          <p:cNvSpPr>
            <a:spLocks noChangeArrowheads="1"/>
          </p:cNvSpPr>
          <p:nvPr/>
        </p:nvSpPr>
        <p:spPr bwMode="auto">
          <a:xfrm>
            <a:off x="3886200" y="0"/>
            <a:ext cx="2971800" cy="457200"/>
          </a:xfrm>
          <a:prstGeom prst="rect">
            <a:avLst/>
          </a:prstGeom>
          <a:noFill/>
          <a:ln w="9525">
            <a:noFill/>
            <a:miter lim="800000"/>
            <a:headEnd/>
            <a:tailEnd/>
          </a:ln>
          <a:effectLst/>
        </p:spPr>
        <p:txBody>
          <a:bodyPr wrap="none" anchor="ctr"/>
          <a:lstStyle/>
          <a:p>
            <a:endParaRPr lang="en-US"/>
          </a:p>
        </p:txBody>
      </p:sp>
      <p:sp>
        <p:nvSpPr>
          <p:cNvPr id="54275" name="Rectangle 3"/>
          <p:cNvSpPr>
            <a:spLocks noChangeArrowheads="1"/>
          </p:cNvSpPr>
          <p:nvPr/>
        </p:nvSpPr>
        <p:spPr bwMode="auto">
          <a:xfrm>
            <a:off x="3886200" y="8686800"/>
            <a:ext cx="2971800" cy="457200"/>
          </a:xfrm>
          <a:prstGeom prst="rect">
            <a:avLst/>
          </a:prstGeom>
          <a:noFill/>
          <a:ln w="9525">
            <a:noFill/>
            <a:miter lim="800000"/>
            <a:headEnd/>
            <a:tailEnd/>
          </a:ln>
          <a:effectLst/>
        </p:spPr>
        <p:txBody>
          <a:bodyPr lIns="92075" tIns="46038" rIns="92075" bIns="46038" anchor="b"/>
          <a:lstStyle/>
          <a:p>
            <a:pPr algn="r" eaLnBrk="0" hangingPunct="0"/>
            <a:r>
              <a:rPr lang="en-US" sz="1200">
                <a:latin typeface="Times New Roman" pitchFamily="18" charset="0"/>
              </a:rPr>
              <a:t>14</a:t>
            </a:r>
          </a:p>
        </p:txBody>
      </p:sp>
      <p:sp>
        <p:nvSpPr>
          <p:cNvPr id="54276" name="Rectangle 4"/>
          <p:cNvSpPr>
            <a:spLocks noChangeArrowheads="1"/>
          </p:cNvSpPr>
          <p:nvPr/>
        </p:nvSpPr>
        <p:spPr bwMode="auto">
          <a:xfrm>
            <a:off x="0" y="8686800"/>
            <a:ext cx="2971800" cy="457200"/>
          </a:xfrm>
          <a:prstGeom prst="rect">
            <a:avLst/>
          </a:prstGeom>
          <a:noFill/>
          <a:ln w="9525">
            <a:noFill/>
            <a:miter lim="800000"/>
            <a:headEnd/>
            <a:tailEnd/>
          </a:ln>
          <a:effectLst/>
        </p:spPr>
        <p:txBody>
          <a:bodyPr wrap="none" anchor="ctr"/>
          <a:lstStyle/>
          <a:p>
            <a:endParaRPr lang="en-US"/>
          </a:p>
        </p:txBody>
      </p:sp>
      <p:sp>
        <p:nvSpPr>
          <p:cNvPr id="54277" name="Rectangle 5"/>
          <p:cNvSpPr>
            <a:spLocks noChangeArrowheads="1"/>
          </p:cNvSpPr>
          <p:nvPr/>
        </p:nvSpPr>
        <p:spPr bwMode="auto">
          <a:xfrm>
            <a:off x="0" y="0"/>
            <a:ext cx="2971800" cy="457200"/>
          </a:xfrm>
          <a:prstGeom prst="rect">
            <a:avLst/>
          </a:prstGeom>
          <a:noFill/>
          <a:ln w="9525">
            <a:noFill/>
            <a:miter lim="800000"/>
            <a:headEnd/>
            <a:tailEnd/>
          </a:ln>
          <a:effectLst/>
        </p:spPr>
        <p:txBody>
          <a:bodyPr wrap="none" anchor="ctr"/>
          <a:lstStyle/>
          <a:p>
            <a:endParaRPr lang="en-US"/>
          </a:p>
        </p:txBody>
      </p:sp>
      <p:sp>
        <p:nvSpPr>
          <p:cNvPr id="54278" name="Rectangle 6"/>
          <p:cNvSpPr>
            <a:spLocks noGrp="1" noRot="1" noChangeAspect="1" noChangeArrowheads="1" noTextEdit="1"/>
          </p:cNvSpPr>
          <p:nvPr>
            <p:ph type="sldImg"/>
          </p:nvPr>
        </p:nvSpPr>
        <p:spPr>
          <a:xfrm>
            <a:off x="400050" y="695325"/>
            <a:ext cx="6064250" cy="3411538"/>
          </a:xfrm>
          <a:ln w="12700" cap="flat"/>
        </p:spPr>
      </p:sp>
      <p:sp>
        <p:nvSpPr>
          <p:cNvPr id="54279" name="Rectangle 7"/>
          <p:cNvSpPr>
            <a:spLocks noGrp="1" noChangeArrowheads="1"/>
          </p:cNvSpPr>
          <p:nvPr>
            <p:ph type="body" idx="1"/>
          </p:nvPr>
        </p:nvSpPr>
        <p:spPr>
          <a:xfrm>
            <a:off x="912813" y="4343400"/>
            <a:ext cx="5032375" cy="4114800"/>
          </a:xfrm>
          <a:ln/>
        </p:spPr>
        <p:txBody>
          <a:bodyPr lIns="92075" tIns="46038" rIns="92075" bIns="46038"/>
          <a:lstStyle/>
          <a:p>
            <a:endParaRPr lang="en-US"/>
          </a:p>
        </p:txBody>
      </p:sp>
    </p:spTree>
    <p:extLst>
      <p:ext uri="{BB962C8B-B14F-4D97-AF65-F5344CB8AC3E}">
        <p14:creationId xmlns:p14="http://schemas.microsoft.com/office/powerpoint/2010/main" val="24015793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B49C27E3-EAA8-4D58-8E0E-E30EBD7FE92D}" type="slidenum">
              <a:rPr lang="en-US"/>
              <a:pPr/>
              <a:t>24</a:t>
            </a:fld>
            <a:endParaRPr lang="en-US"/>
          </a:p>
        </p:txBody>
      </p:sp>
      <p:sp>
        <p:nvSpPr>
          <p:cNvPr id="56322" name="Rectangle 2"/>
          <p:cNvSpPr>
            <a:spLocks noChangeArrowheads="1"/>
          </p:cNvSpPr>
          <p:nvPr/>
        </p:nvSpPr>
        <p:spPr bwMode="auto">
          <a:xfrm>
            <a:off x="3886200" y="0"/>
            <a:ext cx="2971800" cy="457200"/>
          </a:xfrm>
          <a:prstGeom prst="rect">
            <a:avLst/>
          </a:prstGeom>
          <a:noFill/>
          <a:ln w="9525">
            <a:noFill/>
            <a:miter lim="800000"/>
            <a:headEnd/>
            <a:tailEnd/>
          </a:ln>
          <a:effectLst/>
        </p:spPr>
        <p:txBody>
          <a:bodyPr wrap="none" anchor="ctr"/>
          <a:lstStyle/>
          <a:p>
            <a:endParaRPr lang="en-US"/>
          </a:p>
        </p:txBody>
      </p:sp>
      <p:sp>
        <p:nvSpPr>
          <p:cNvPr id="56323" name="Rectangle 3"/>
          <p:cNvSpPr>
            <a:spLocks noChangeArrowheads="1"/>
          </p:cNvSpPr>
          <p:nvPr/>
        </p:nvSpPr>
        <p:spPr bwMode="auto">
          <a:xfrm>
            <a:off x="3886200" y="8686800"/>
            <a:ext cx="2971800" cy="457200"/>
          </a:xfrm>
          <a:prstGeom prst="rect">
            <a:avLst/>
          </a:prstGeom>
          <a:noFill/>
          <a:ln w="9525">
            <a:noFill/>
            <a:miter lim="800000"/>
            <a:headEnd/>
            <a:tailEnd/>
          </a:ln>
          <a:effectLst/>
        </p:spPr>
        <p:txBody>
          <a:bodyPr lIns="92075" tIns="46038" rIns="92075" bIns="46038" anchor="b"/>
          <a:lstStyle/>
          <a:p>
            <a:pPr algn="r" eaLnBrk="0" hangingPunct="0"/>
            <a:r>
              <a:rPr lang="en-US" sz="1200">
                <a:latin typeface="Times New Roman" pitchFamily="18" charset="0"/>
              </a:rPr>
              <a:t>15</a:t>
            </a:r>
          </a:p>
        </p:txBody>
      </p:sp>
      <p:sp>
        <p:nvSpPr>
          <p:cNvPr id="56324" name="Rectangle 4"/>
          <p:cNvSpPr>
            <a:spLocks noChangeArrowheads="1"/>
          </p:cNvSpPr>
          <p:nvPr/>
        </p:nvSpPr>
        <p:spPr bwMode="auto">
          <a:xfrm>
            <a:off x="0" y="8686800"/>
            <a:ext cx="2971800" cy="457200"/>
          </a:xfrm>
          <a:prstGeom prst="rect">
            <a:avLst/>
          </a:prstGeom>
          <a:noFill/>
          <a:ln w="9525">
            <a:noFill/>
            <a:miter lim="800000"/>
            <a:headEnd/>
            <a:tailEnd/>
          </a:ln>
          <a:effectLst/>
        </p:spPr>
        <p:txBody>
          <a:bodyPr wrap="none" anchor="ctr"/>
          <a:lstStyle/>
          <a:p>
            <a:endParaRPr lang="en-US"/>
          </a:p>
        </p:txBody>
      </p:sp>
      <p:sp>
        <p:nvSpPr>
          <p:cNvPr id="56325" name="Rectangle 5"/>
          <p:cNvSpPr>
            <a:spLocks noChangeArrowheads="1"/>
          </p:cNvSpPr>
          <p:nvPr/>
        </p:nvSpPr>
        <p:spPr bwMode="auto">
          <a:xfrm>
            <a:off x="0" y="0"/>
            <a:ext cx="2971800" cy="457200"/>
          </a:xfrm>
          <a:prstGeom prst="rect">
            <a:avLst/>
          </a:prstGeom>
          <a:noFill/>
          <a:ln w="9525">
            <a:noFill/>
            <a:miter lim="800000"/>
            <a:headEnd/>
            <a:tailEnd/>
          </a:ln>
          <a:effectLst/>
        </p:spPr>
        <p:txBody>
          <a:bodyPr wrap="none" anchor="ctr"/>
          <a:lstStyle/>
          <a:p>
            <a:endParaRPr lang="en-US"/>
          </a:p>
        </p:txBody>
      </p:sp>
      <p:sp>
        <p:nvSpPr>
          <p:cNvPr id="56326" name="Rectangle 6"/>
          <p:cNvSpPr>
            <a:spLocks noGrp="1" noRot="1" noChangeAspect="1" noChangeArrowheads="1" noTextEdit="1"/>
          </p:cNvSpPr>
          <p:nvPr>
            <p:ph type="sldImg"/>
          </p:nvPr>
        </p:nvSpPr>
        <p:spPr>
          <a:xfrm>
            <a:off x="400050" y="695325"/>
            <a:ext cx="6064250" cy="3411538"/>
          </a:xfrm>
          <a:ln w="12700" cap="flat"/>
        </p:spPr>
      </p:sp>
      <p:sp>
        <p:nvSpPr>
          <p:cNvPr id="56327" name="Rectangle 7"/>
          <p:cNvSpPr>
            <a:spLocks noGrp="1" noChangeArrowheads="1"/>
          </p:cNvSpPr>
          <p:nvPr>
            <p:ph type="body" idx="1"/>
          </p:nvPr>
        </p:nvSpPr>
        <p:spPr>
          <a:xfrm>
            <a:off x="912813" y="4343400"/>
            <a:ext cx="5032375" cy="4114800"/>
          </a:xfrm>
          <a:ln/>
        </p:spPr>
        <p:txBody>
          <a:bodyPr lIns="92075" tIns="46038" rIns="92075" bIns="46038"/>
          <a:lstStyle/>
          <a:p>
            <a:endParaRPr lang="en-US"/>
          </a:p>
        </p:txBody>
      </p:sp>
    </p:spTree>
    <p:extLst>
      <p:ext uri="{BB962C8B-B14F-4D97-AF65-F5344CB8AC3E}">
        <p14:creationId xmlns:p14="http://schemas.microsoft.com/office/powerpoint/2010/main" val="32121794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84BE8D0-09DB-4419-81E9-D8261524CE65}" type="slidenum">
              <a:rPr lang="en-US"/>
              <a:pPr/>
              <a:t>25</a:t>
            </a:fld>
            <a:endParaRPr lang="en-US"/>
          </a:p>
        </p:txBody>
      </p:sp>
      <p:sp>
        <p:nvSpPr>
          <p:cNvPr id="58370" name="Rectangle 2"/>
          <p:cNvSpPr>
            <a:spLocks noGrp="1" noRot="1" noChangeAspect="1" noChangeArrowheads="1" noTextEdit="1"/>
          </p:cNvSpPr>
          <p:nvPr>
            <p:ph type="sldImg"/>
          </p:nvPr>
        </p:nvSpPr>
        <p:spPr>
          <a:xfrm>
            <a:off x="400050" y="695325"/>
            <a:ext cx="6064250" cy="3411538"/>
          </a:xfrm>
          <a:ln w="12700" cap="flat"/>
        </p:spPr>
      </p:sp>
      <p:sp>
        <p:nvSpPr>
          <p:cNvPr id="58371" name="Rectangle 3"/>
          <p:cNvSpPr>
            <a:spLocks noGrp="1" noChangeArrowheads="1"/>
          </p:cNvSpPr>
          <p:nvPr>
            <p:ph type="body" idx="1"/>
          </p:nvPr>
        </p:nvSpPr>
        <p:spPr>
          <a:xfrm>
            <a:off x="912813" y="4343400"/>
            <a:ext cx="5032375" cy="4114800"/>
          </a:xfrm>
          <a:ln/>
        </p:spPr>
        <p:txBody>
          <a:bodyPr lIns="92075" tIns="46038" rIns="92075" bIns="46038"/>
          <a:lstStyle/>
          <a:p>
            <a:endParaRPr lang="en-US"/>
          </a:p>
        </p:txBody>
      </p:sp>
    </p:spTree>
    <p:extLst>
      <p:ext uri="{BB962C8B-B14F-4D97-AF65-F5344CB8AC3E}">
        <p14:creationId xmlns:p14="http://schemas.microsoft.com/office/powerpoint/2010/main" val="6014258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3EB88A18-53C7-4082-81A5-48A133844AF7}" type="slidenum">
              <a:rPr lang="en-US"/>
              <a:pPr/>
              <a:t>26</a:t>
            </a:fld>
            <a:endParaRPr lang="en-US"/>
          </a:p>
        </p:txBody>
      </p:sp>
      <p:sp>
        <p:nvSpPr>
          <p:cNvPr id="60418" name="Rectangle 2"/>
          <p:cNvSpPr>
            <a:spLocks noChangeArrowheads="1"/>
          </p:cNvSpPr>
          <p:nvPr/>
        </p:nvSpPr>
        <p:spPr bwMode="auto">
          <a:xfrm>
            <a:off x="3886200" y="0"/>
            <a:ext cx="2971800" cy="457200"/>
          </a:xfrm>
          <a:prstGeom prst="rect">
            <a:avLst/>
          </a:prstGeom>
          <a:noFill/>
          <a:ln w="9525">
            <a:noFill/>
            <a:miter lim="800000"/>
            <a:headEnd/>
            <a:tailEnd/>
          </a:ln>
          <a:effectLst/>
        </p:spPr>
        <p:txBody>
          <a:bodyPr wrap="none" anchor="ctr"/>
          <a:lstStyle/>
          <a:p>
            <a:endParaRPr lang="en-US"/>
          </a:p>
        </p:txBody>
      </p:sp>
      <p:sp>
        <p:nvSpPr>
          <p:cNvPr id="60419" name="Rectangle 3"/>
          <p:cNvSpPr>
            <a:spLocks noChangeArrowheads="1"/>
          </p:cNvSpPr>
          <p:nvPr/>
        </p:nvSpPr>
        <p:spPr bwMode="auto">
          <a:xfrm>
            <a:off x="3886200" y="8686800"/>
            <a:ext cx="2971800" cy="457200"/>
          </a:xfrm>
          <a:prstGeom prst="rect">
            <a:avLst/>
          </a:prstGeom>
          <a:noFill/>
          <a:ln w="9525">
            <a:noFill/>
            <a:miter lim="800000"/>
            <a:headEnd/>
            <a:tailEnd/>
          </a:ln>
          <a:effectLst/>
        </p:spPr>
        <p:txBody>
          <a:bodyPr lIns="92075" tIns="46038" rIns="92075" bIns="46038" anchor="b"/>
          <a:lstStyle/>
          <a:p>
            <a:pPr algn="r" eaLnBrk="0" hangingPunct="0"/>
            <a:r>
              <a:rPr lang="en-US" sz="1200">
                <a:latin typeface="Times New Roman" pitchFamily="18" charset="0"/>
              </a:rPr>
              <a:t>48</a:t>
            </a:r>
          </a:p>
        </p:txBody>
      </p:sp>
      <p:sp>
        <p:nvSpPr>
          <p:cNvPr id="60420" name="Rectangle 4"/>
          <p:cNvSpPr>
            <a:spLocks noChangeArrowheads="1"/>
          </p:cNvSpPr>
          <p:nvPr/>
        </p:nvSpPr>
        <p:spPr bwMode="auto">
          <a:xfrm>
            <a:off x="0" y="8686800"/>
            <a:ext cx="2971800" cy="457200"/>
          </a:xfrm>
          <a:prstGeom prst="rect">
            <a:avLst/>
          </a:prstGeom>
          <a:noFill/>
          <a:ln w="9525">
            <a:noFill/>
            <a:miter lim="800000"/>
            <a:headEnd/>
            <a:tailEnd/>
          </a:ln>
          <a:effectLst/>
        </p:spPr>
        <p:txBody>
          <a:bodyPr wrap="none" anchor="ctr"/>
          <a:lstStyle/>
          <a:p>
            <a:endParaRPr lang="en-US"/>
          </a:p>
        </p:txBody>
      </p:sp>
      <p:sp>
        <p:nvSpPr>
          <p:cNvPr id="60421" name="Rectangle 5"/>
          <p:cNvSpPr>
            <a:spLocks noChangeArrowheads="1"/>
          </p:cNvSpPr>
          <p:nvPr/>
        </p:nvSpPr>
        <p:spPr bwMode="auto">
          <a:xfrm>
            <a:off x="0" y="0"/>
            <a:ext cx="2971800" cy="457200"/>
          </a:xfrm>
          <a:prstGeom prst="rect">
            <a:avLst/>
          </a:prstGeom>
          <a:noFill/>
          <a:ln w="9525">
            <a:noFill/>
            <a:miter lim="800000"/>
            <a:headEnd/>
            <a:tailEnd/>
          </a:ln>
          <a:effectLst/>
        </p:spPr>
        <p:txBody>
          <a:bodyPr wrap="none" anchor="ctr"/>
          <a:lstStyle/>
          <a:p>
            <a:endParaRPr lang="en-US"/>
          </a:p>
        </p:txBody>
      </p:sp>
      <p:sp>
        <p:nvSpPr>
          <p:cNvPr id="60422" name="Rectangle 6"/>
          <p:cNvSpPr>
            <a:spLocks noGrp="1" noRot="1" noChangeAspect="1" noChangeArrowheads="1" noTextEdit="1"/>
          </p:cNvSpPr>
          <p:nvPr>
            <p:ph type="sldImg"/>
          </p:nvPr>
        </p:nvSpPr>
        <p:spPr>
          <a:xfrm>
            <a:off x="400050" y="695325"/>
            <a:ext cx="6064250" cy="3411538"/>
          </a:xfrm>
          <a:ln w="12700" cap="flat"/>
        </p:spPr>
      </p:sp>
      <p:sp>
        <p:nvSpPr>
          <p:cNvPr id="60423" name="Rectangle 7"/>
          <p:cNvSpPr>
            <a:spLocks noGrp="1" noChangeArrowheads="1"/>
          </p:cNvSpPr>
          <p:nvPr>
            <p:ph type="body" idx="1"/>
          </p:nvPr>
        </p:nvSpPr>
        <p:spPr>
          <a:xfrm>
            <a:off x="912813" y="4343400"/>
            <a:ext cx="5032375" cy="4114800"/>
          </a:xfrm>
          <a:ln/>
        </p:spPr>
        <p:txBody>
          <a:bodyPr lIns="92075" tIns="46038" rIns="92075" bIns="46038"/>
          <a:lstStyle/>
          <a:p>
            <a:endParaRPr lang="en-US"/>
          </a:p>
        </p:txBody>
      </p:sp>
    </p:spTree>
    <p:extLst>
      <p:ext uri="{BB962C8B-B14F-4D97-AF65-F5344CB8AC3E}">
        <p14:creationId xmlns:p14="http://schemas.microsoft.com/office/powerpoint/2010/main" val="29180723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F3DE30A-1231-46A4-A41B-DDDABDCC0652}" type="slidenum">
              <a:rPr lang="en-US"/>
              <a:pPr/>
              <a:t>28</a:t>
            </a:fld>
            <a:endParaRPr lang="en-US"/>
          </a:p>
        </p:txBody>
      </p:sp>
      <p:sp>
        <p:nvSpPr>
          <p:cNvPr id="62466" name="Rectangle 2"/>
          <p:cNvSpPr>
            <a:spLocks noGrp="1" noRot="1" noChangeAspect="1" noChangeArrowheads="1" noTextEdit="1"/>
          </p:cNvSpPr>
          <p:nvPr>
            <p:ph type="sldImg"/>
          </p:nvPr>
        </p:nvSpPr>
        <p:spPr>
          <a:xfrm>
            <a:off x="400050" y="695325"/>
            <a:ext cx="6064250" cy="3411538"/>
          </a:xfrm>
          <a:ln/>
        </p:spPr>
      </p:sp>
      <p:sp>
        <p:nvSpPr>
          <p:cNvPr id="62467" name="Rectangle 3"/>
          <p:cNvSpPr>
            <a:spLocks noGrp="1" noChangeArrowheads="1"/>
          </p:cNvSpPr>
          <p:nvPr>
            <p:ph type="body" idx="1"/>
          </p:nvPr>
        </p:nvSpPr>
        <p:spPr>
          <a:xfrm>
            <a:off x="912813" y="4343400"/>
            <a:ext cx="5032375" cy="4114800"/>
          </a:xfrm>
        </p:spPr>
        <p:txBody>
          <a:bodyPr/>
          <a:lstStyle/>
          <a:p>
            <a:endParaRPr lang="en-US"/>
          </a:p>
        </p:txBody>
      </p:sp>
    </p:spTree>
    <p:extLst>
      <p:ext uri="{BB962C8B-B14F-4D97-AF65-F5344CB8AC3E}">
        <p14:creationId xmlns:p14="http://schemas.microsoft.com/office/powerpoint/2010/main" val="9301579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9996D662-5268-48CA-8E59-18D03C68E741}" type="slidenum">
              <a:rPr lang="en-US"/>
              <a:pPr/>
              <a:t>29</a:t>
            </a:fld>
            <a:endParaRPr lang="en-US"/>
          </a:p>
        </p:txBody>
      </p:sp>
      <p:sp>
        <p:nvSpPr>
          <p:cNvPr id="111618" name="Rectangle 2"/>
          <p:cNvSpPr>
            <a:spLocks noChangeArrowheads="1"/>
          </p:cNvSpPr>
          <p:nvPr/>
        </p:nvSpPr>
        <p:spPr bwMode="auto">
          <a:xfrm>
            <a:off x="3886200" y="0"/>
            <a:ext cx="2971800" cy="457200"/>
          </a:xfrm>
          <a:prstGeom prst="rect">
            <a:avLst/>
          </a:prstGeom>
          <a:noFill/>
          <a:ln w="9525">
            <a:noFill/>
            <a:miter lim="800000"/>
            <a:headEnd/>
            <a:tailEnd/>
          </a:ln>
          <a:effectLst/>
        </p:spPr>
        <p:txBody>
          <a:bodyPr wrap="none" anchor="ctr"/>
          <a:lstStyle/>
          <a:p>
            <a:endParaRPr lang="en-US"/>
          </a:p>
        </p:txBody>
      </p:sp>
      <p:sp>
        <p:nvSpPr>
          <p:cNvPr id="111619" name="Rectangle 3"/>
          <p:cNvSpPr>
            <a:spLocks noChangeArrowheads="1"/>
          </p:cNvSpPr>
          <p:nvPr/>
        </p:nvSpPr>
        <p:spPr bwMode="auto">
          <a:xfrm>
            <a:off x="3886200" y="8686800"/>
            <a:ext cx="2971800" cy="457200"/>
          </a:xfrm>
          <a:prstGeom prst="rect">
            <a:avLst/>
          </a:prstGeom>
          <a:noFill/>
          <a:ln w="9525">
            <a:noFill/>
            <a:miter lim="800000"/>
            <a:headEnd/>
            <a:tailEnd/>
          </a:ln>
          <a:effectLst/>
        </p:spPr>
        <p:txBody>
          <a:bodyPr lIns="92075" tIns="46038" rIns="92075" bIns="46038" anchor="b"/>
          <a:lstStyle/>
          <a:p>
            <a:pPr algn="r" eaLnBrk="0" hangingPunct="0"/>
            <a:r>
              <a:rPr lang="en-US" sz="1200">
                <a:latin typeface="Times New Roman" pitchFamily="18" charset="0"/>
              </a:rPr>
              <a:t>3</a:t>
            </a:r>
          </a:p>
        </p:txBody>
      </p:sp>
      <p:sp>
        <p:nvSpPr>
          <p:cNvPr id="111620" name="Rectangle 4"/>
          <p:cNvSpPr>
            <a:spLocks noChangeArrowheads="1"/>
          </p:cNvSpPr>
          <p:nvPr/>
        </p:nvSpPr>
        <p:spPr bwMode="auto">
          <a:xfrm>
            <a:off x="0" y="8686800"/>
            <a:ext cx="2971800" cy="457200"/>
          </a:xfrm>
          <a:prstGeom prst="rect">
            <a:avLst/>
          </a:prstGeom>
          <a:noFill/>
          <a:ln w="9525">
            <a:noFill/>
            <a:miter lim="800000"/>
            <a:headEnd/>
            <a:tailEnd/>
          </a:ln>
          <a:effectLst/>
        </p:spPr>
        <p:txBody>
          <a:bodyPr wrap="none" anchor="ctr"/>
          <a:lstStyle/>
          <a:p>
            <a:endParaRPr lang="en-US"/>
          </a:p>
        </p:txBody>
      </p:sp>
      <p:sp>
        <p:nvSpPr>
          <p:cNvPr id="111621" name="Rectangle 5"/>
          <p:cNvSpPr>
            <a:spLocks noChangeArrowheads="1"/>
          </p:cNvSpPr>
          <p:nvPr/>
        </p:nvSpPr>
        <p:spPr bwMode="auto">
          <a:xfrm>
            <a:off x="0" y="0"/>
            <a:ext cx="2971800" cy="457200"/>
          </a:xfrm>
          <a:prstGeom prst="rect">
            <a:avLst/>
          </a:prstGeom>
          <a:noFill/>
          <a:ln w="9525">
            <a:noFill/>
            <a:miter lim="800000"/>
            <a:headEnd/>
            <a:tailEnd/>
          </a:ln>
          <a:effectLst/>
        </p:spPr>
        <p:txBody>
          <a:bodyPr wrap="none" anchor="ctr"/>
          <a:lstStyle/>
          <a:p>
            <a:endParaRPr lang="en-US"/>
          </a:p>
        </p:txBody>
      </p:sp>
      <p:sp>
        <p:nvSpPr>
          <p:cNvPr id="111622" name="Rectangle 6"/>
          <p:cNvSpPr>
            <a:spLocks noGrp="1" noRot="1" noChangeAspect="1" noChangeArrowheads="1" noTextEdit="1"/>
          </p:cNvSpPr>
          <p:nvPr>
            <p:ph type="sldImg"/>
          </p:nvPr>
        </p:nvSpPr>
        <p:spPr>
          <a:xfrm>
            <a:off x="406400" y="679450"/>
            <a:ext cx="6046788" cy="3402013"/>
          </a:xfrm>
          <a:ln w="12700" cap="flat"/>
        </p:spPr>
      </p:sp>
      <p:sp>
        <p:nvSpPr>
          <p:cNvPr id="111623" name="Rectangle 7"/>
          <p:cNvSpPr>
            <a:spLocks noGrp="1" noChangeArrowheads="1"/>
          </p:cNvSpPr>
          <p:nvPr>
            <p:ph type="body" idx="1"/>
          </p:nvPr>
        </p:nvSpPr>
        <p:spPr>
          <a:xfrm>
            <a:off x="914400" y="4306888"/>
            <a:ext cx="5029200" cy="4157662"/>
          </a:xfrm>
          <a:ln/>
        </p:spPr>
        <p:txBody>
          <a:bodyPr lIns="92075" tIns="46038" rIns="92075" bIns="46038"/>
          <a:lstStyle/>
          <a:p>
            <a:pPr>
              <a:spcBef>
                <a:spcPct val="0"/>
              </a:spcBef>
            </a:pPr>
            <a:endParaRPr lang="en-US" sz="2400"/>
          </a:p>
        </p:txBody>
      </p:sp>
    </p:spTree>
    <p:extLst>
      <p:ext uri="{BB962C8B-B14F-4D97-AF65-F5344CB8AC3E}">
        <p14:creationId xmlns:p14="http://schemas.microsoft.com/office/powerpoint/2010/main" val="39208103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2E9D179A-00BD-424C-9202-FDD4C5D23918}" type="slidenum">
              <a:rPr lang="en-US"/>
              <a:pPr/>
              <a:t>32</a:t>
            </a:fld>
            <a:endParaRPr lang="en-US"/>
          </a:p>
        </p:txBody>
      </p:sp>
      <p:sp>
        <p:nvSpPr>
          <p:cNvPr id="119810" name="Rectangle 2"/>
          <p:cNvSpPr>
            <a:spLocks noChangeArrowheads="1"/>
          </p:cNvSpPr>
          <p:nvPr/>
        </p:nvSpPr>
        <p:spPr bwMode="auto">
          <a:xfrm>
            <a:off x="3886200" y="0"/>
            <a:ext cx="2971800" cy="457200"/>
          </a:xfrm>
          <a:prstGeom prst="rect">
            <a:avLst/>
          </a:prstGeom>
          <a:noFill/>
          <a:ln w="9525">
            <a:noFill/>
            <a:miter lim="800000"/>
            <a:headEnd/>
            <a:tailEnd/>
          </a:ln>
          <a:effectLst/>
        </p:spPr>
        <p:txBody>
          <a:bodyPr wrap="none" anchor="ctr"/>
          <a:lstStyle/>
          <a:p>
            <a:endParaRPr lang="en-US"/>
          </a:p>
        </p:txBody>
      </p:sp>
      <p:sp>
        <p:nvSpPr>
          <p:cNvPr id="119811" name="Rectangle 3"/>
          <p:cNvSpPr>
            <a:spLocks noChangeArrowheads="1"/>
          </p:cNvSpPr>
          <p:nvPr/>
        </p:nvSpPr>
        <p:spPr bwMode="auto">
          <a:xfrm>
            <a:off x="3886200" y="8686800"/>
            <a:ext cx="2971800" cy="457200"/>
          </a:xfrm>
          <a:prstGeom prst="rect">
            <a:avLst/>
          </a:prstGeom>
          <a:noFill/>
          <a:ln w="9525">
            <a:noFill/>
            <a:miter lim="800000"/>
            <a:headEnd/>
            <a:tailEnd/>
          </a:ln>
          <a:effectLst/>
        </p:spPr>
        <p:txBody>
          <a:bodyPr lIns="92075" tIns="46038" rIns="92075" bIns="46038" anchor="b"/>
          <a:lstStyle/>
          <a:p>
            <a:pPr algn="r" eaLnBrk="0" hangingPunct="0"/>
            <a:r>
              <a:rPr lang="en-US" sz="1200">
                <a:latin typeface="Times New Roman" pitchFamily="18" charset="0"/>
              </a:rPr>
              <a:t>9</a:t>
            </a:r>
          </a:p>
        </p:txBody>
      </p:sp>
      <p:sp>
        <p:nvSpPr>
          <p:cNvPr id="119812" name="Rectangle 4"/>
          <p:cNvSpPr>
            <a:spLocks noChangeArrowheads="1"/>
          </p:cNvSpPr>
          <p:nvPr/>
        </p:nvSpPr>
        <p:spPr bwMode="auto">
          <a:xfrm>
            <a:off x="0" y="8686800"/>
            <a:ext cx="2971800" cy="457200"/>
          </a:xfrm>
          <a:prstGeom prst="rect">
            <a:avLst/>
          </a:prstGeom>
          <a:noFill/>
          <a:ln w="9525">
            <a:noFill/>
            <a:miter lim="800000"/>
            <a:headEnd/>
            <a:tailEnd/>
          </a:ln>
          <a:effectLst/>
        </p:spPr>
        <p:txBody>
          <a:bodyPr wrap="none" anchor="ctr"/>
          <a:lstStyle/>
          <a:p>
            <a:endParaRPr lang="en-US"/>
          </a:p>
        </p:txBody>
      </p:sp>
      <p:sp>
        <p:nvSpPr>
          <p:cNvPr id="119813" name="Rectangle 5"/>
          <p:cNvSpPr>
            <a:spLocks noChangeArrowheads="1"/>
          </p:cNvSpPr>
          <p:nvPr/>
        </p:nvSpPr>
        <p:spPr bwMode="auto">
          <a:xfrm>
            <a:off x="0" y="0"/>
            <a:ext cx="2971800" cy="457200"/>
          </a:xfrm>
          <a:prstGeom prst="rect">
            <a:avLst/>
          </a:prstGeom>
          <a:noFill/>
          <a:ln w="9525">
            <a:noFill/>
            <a:miter lim="800000"/>
            <a:headEnd/>
            <a:tailEnd/>
          </a:ln>
          <a:effectLst/>
        </p:spPr>
        <p:txBody>
          <a:bodyPr wrap="none" anchor="ctr"/>
          <a:lstStyle/>
          <a:p>
            <a:endParaRPr lang="en-US"/>
          </a:p>
        </p:txBody>
      </p:sp>
      <p:sp>
        <p:nvSpPr>
          <p:cNvPr id="119814" name="Rectangle 6"/>
          <p:cNvSpPr>
            <a:spLocks noGrp="1" noRot="1" noChangeAspect="1" noChangeArrowheads="1" noTextEdit="1"/>
          </p:cNvSpPr>
          <p:nvPr>
            <p:ph type="sldImg"/>
          </p:nvPr>
        </p:nvSpPr>
        <p:spPr>
          <a:xfrm>
            <a:off x="406400" y="679450"/>
            <a:ext cx="6046788" cy="3402013"/>
          </a:xfrm>
          <a:ln w="12700" cap="flat"/>
        </p:spPr>
      </p:sp>
      <p:sp>
        <p:nvSpPr>
          <p:cNvPr id="119815" name="Rectangle 7"/>
          <p:cNvSpPr>
            <a:spLocks noGrp="1" noChangeArrowheads="1"/>
          </p:cNvSpPr>
          <p:nvPr>
            <p:ph type="body" idx="1"/>
          </p:nvPr>
        </p:nvSpPr>
        <p:spPr>
          <a:xfrm>
            <a:off x="914400" y="4306888"/>
            <a:ext cx="5029200" cy="4157662"/>
          </a:xfrm>
          <a:ln/>
        </p:spPr>
        <p:txBody>
          <a:bodyPr lIns="92075" tIns="46038" rIns="92075" bIns="46038"/>
          <a:lstStyle/>
          <a:p>
            <a:pPr>
              <a:spcBef>
                <a:spcPct val="0"/>
              </a:spcBef>
            </a:pPr>
            <a:endParaRPr lang="en-US" sz="2400"/>
          </a:p>
        </p:txBody>
      </p:sp>
    </p:spTree>
    <p:extLst>
      <p:ext uri="{BB962C8B-B14F-4D97-AF65-F5344CB8AC3E}">
        <p14:creationId xmlns:p14="http://schemas.microsoft.com/office/powerpoint/2010/main" val="32515115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01AD810-4778-40CF-B153-2966147E3B1B}" type="slidenum">
              <a:rPr lang="en-US"/>
              <a:pPr/>
              <a:t>33</a:t>
            </a:fld>
            <a:endParaRPr lang="en-US"/>
          </a:p>
        </p:txBody>
      </p:sp>
      <p:sp>
        <p:nvSpPr>
          <p:cNvPr id="121858" name="Rectangle 2"/>
          <p:cNvSpPr>
            <a:spLocks noGrp="1" noRot="1" noChangeAspect="1" noChangeArrowheads="1" noTextEdit="1"/>
          </p:cNvSpPr>
          <p:nvPr>
            <p:ph type="sldImg"/>
          </p:nvPr>
        </p:nvSpPr>
        <p:spPr>
          <a:ln/>
        </p:spPr>
      </p:sp>
      <p:sp>
        <p:nvSpPr>
          <p:cNvPr id="121859"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31435576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38940D0-5DEA-40D8-B450-4A4FD9B20341}" type="slidenum">
              <a:rPr lang="en-US"/>
              <a:pPr/>
              <a:t>34</a:t>
            </a:fld>
            <a:endParaRPr lang="en-US"/>
          </a:p>
        </p:txBody>
      </p:sp>
      <p:sp>
        <p:nvSpPr>
          <p:cNvPr id="123906" name="Rectangle 2"/>
          <p:cNvSpPr>
            <a:spLocks noGrp="1" noRot="1" noChangeAspect="1" noChangeArrowheads="1" noTextEdit="1"/>
          </p:cNvSpPr>
          <p:nvPr>
            <p:ph type="sldImg"/>
          </p:nvPr>
        </p:nvSpPr>
        <p:spPr>
          <a:ln/>
        </p:spPr>
      </p:sp>
      <p:sp>
        <p:nvSpPr>
          <p:cNvPr id="123907"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13531333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D8BBFDA4-29C2-45EF-9855-1B200FDA73AF}" type="slidenum">
              <a:rPr lang="en-US"/>
              <a:pPr/>
              <a:t>35</a:t>
            </a:fld>
            <a:endParaRPr lang="en-US"/>
          </a:p>
        </p:txBody>
      </p:sp>
      <p:sp>
        <p:nvSpPr>
          <p:cNvPr id="125954" name="Rectangle 2"/>
          <p:cNvSpPr>
            <a:spLocks noChangeArrowheads="1"/>
          </p:cNvSpPr>
          <p:nvPr/>
        </p:nvSpPr>
        <p:spPr bwMode="auto">
          <a:xfrm>
            <a:off x="3886200" y="0"/>
            <a:ext cx="2971800" cy="457200"/>
          </a:xfrm>
          <a:prstGeom prst="rect">
            <a:avLst/>
          </a:prstGeom>
          <a:noFill/>
          <a:ln w="9525">
            <a:noFill/>
            <a:miter lim="800000"/>
            <a:headEnd/>
            <a:tailEnd/>
          </a:ln>
          <a:effectLst/>
        </p:spPr>
        <p:txBody>
          <a:bodyPr wrap="none" anchor="ctr"/>
          <a:lstStyle/>
          <a:p>
            <a:endParaRPr lang="en-US"/>
          </a:p>
        </p:txBody>
      </p:sp>
      <p:sp>
        <p:nvSpPr>
          <p:cNvPr id="125955" name="Rectangle 3"/>
          <p:cNvSpPr>
            <a:spLocks noChangeArrowheads="1"/>
          </p:cNvSpPr>
          <p:nvPr/>
        </p:nvSpPr>
        <p:spPr bwMode="auto">
          <a:xfrm>
            <a:off x="3886200" y="8686800"/>
            <a:ext cx="2971800" cy="457200"/>
          </a:xfrm>
          <a:prstGeom prst="rect">
            <a:avLst/>
          </a:prstGeom>
          <a:noFill/>
          <a:ln w="9525">
            <a:noFill/>
            <a:miter lim="800000"/>
            <a:headEnd/>
            <a:tailEnd/>
          </a:ln>
          <a:effectLst/>
        </p:spPr>
        <p:txBody>
          <a:bodyPr lIns="92075" tIns="46038" rIns="92075" bIns="46038" anchor="b"/>
          <a:lstStyle/>
          <a:p>
            <a:pPr algn="r" eaLnBrk="0" hangingPunct="0"/>
            <a:r>
              <a:rPr lang="en-US" sz="1200">
                <a:latin typeface="Times New Roman" pitchFamily="18" charset="0"/>
              </a:rPr>
              <a:t>10</a:t>
            </a:r>
          </a:p>
        </p:txBody>
      </p:sp>
      <p:sp>
        <p:nvSpPr>
          <p:cNvPr id="125956" name="Rectangle 4"/>
          <p:cNvSpPr>
            <a:spLocks noChangeArrowheads="1"/>
          </p:cNvSpPr>
          <p:nvPr/>
        </p:nvSpPr>
        <p:spPr bwMode="auto">
          <a:xfrm>
            <a:off x="0" y="8686800"/>
            <a:ext cx="2971800" cy="457200"/>
          </a:xfrm>
          <a:prstGeom prst="rect">
            <a:avLst/>
          </a:prstGeom>
          <a:noFill/>
          <a:ln w="9525">
            <a:noFill/>
            <a:miter lim="800000"/>
            <a:headEnd/>
            <a:tailEnd/>
          </a:ln>
          <a:effectLst/>
        </p:spPr>
        <p:txBody>
          <a:bodyPr wrap="none" anchor="ctr"/>
          <a:lstStyle/>
          <a:p>
            <a:endParaRPr lang="en-US"/>
          </a:p>
        </p:txBody>
      </p:sp>
      <p:sp>
        <p:nvSpPr>
          <p:cNvPr id="125957" name="Rectangle 5"/>
          <p:cNvSpPr>
            <a:spLocks noChangeArrowheads="1"/>
          </p:cNvSpPr>
          <p:nvPr/>
        </p:nvSpPr>
        <p:spPr bwMode="auto">
          <a:xfrm>
            <a:off x="0" y="0"/>
            <a:ext cx="2971800" cy="457200"/>
          </a:xfrm>
          <a:prstGeom prst="rect">
            <a:avLst/>
          </a:prstGeom>
          <a:noFill/>
          <a:ln w="9525">
            <a:noFill/>
            <a:miter lim="800000"/>
            <a:headEnd/>
            <a:tailEnd/>
          </a:ln>
          <a:effectLst/>
        </p:spPr>
        <p:txBody>
          <a:bodyPr wrap="none" anchor="ctr"/>
          <a:lstStyle/>
          <a:p>
            <a:endParaRPr lang="en-US"/>
          </a:p>
        </p:txBody>
      </p:sp>
      <p:sp>
        <p:nvSpPr>
          <p:cNvPr id="125958" name="Rectangle 6"/>
          <p:cNvSpPr>
            <a:spLocks noGrp="1" noRot="1" noChangeAspect="1" noChangeArrowheads="1" noTextEdit="1"/>
          </p:cNvSpPr>
          <p:nvPr>
            <p:ph type="sldImg"/>
          </p:nvPr>
        </p:nvSpPr>
        <p:spPr>
          <a:xfrm>
            <a:off x="406400" y="679450"/>
            <a:ext cx="6046788" cy="3402013"/>
          </a:xfrm>
          <a:ln w="12700" cap="flat"/>
        </p:spPr>
      </p:sp>
      <p:sp>
        <p:nvSpPr>
          <p:cNvPr id="125959" name="Rectangle 7"/>
          <p:cNvSpPr>
            <a:spLocks noGrp="1" noChangeArrowheads="1"/>
          </p:cNvSpPr>
          <p:nvPr>
            <p:ph type="body" idx="1"/>
          </p:nvPr>
        </p:nvSpPr>
        <p:spPr>
          <a:xfrm>
            <a:off x="914400" y="4306888"/>
            <a:ext cx="5029200" cy="4157662"/>
          </a:xfrm>
          <a:ln/>
        </p:spPr>
        <p:txBody>
          <a:bodyPr lIns="92075" tIns="46038" rIns="92075" bIns="46038"/>
          <a:lstStyle/>
          <a:p>
            <a:pPr>
              <a:spcBef>
                <a:spcPct val="0"/>
              </a:spcBef>
            </a:pPr>
            <a:endParaRPr lang="en-US" sz="2400"/>
          </a:p>
        </p:txBody>
      </p:sp>
    </p:spTree>
    <p:extLst>
      <p:ext uri="{BB962C8B-B14F-4D97-AF65-F5344CB8AC3E}">
        <p14:creationId xmlns:p14="http://schemas.microsoft.com/office/powerpoint/2010/main" val="7678639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a:extLst>
              <a:ext uri="{FF2B5EF4-FFF2-40B4-BE49-F238E27FC236}">
                <a16:creationId xmlns:a16="http://schemas.microsoft.com/office/drawing/2014/main" id="{97ACFD78-CD92-EB48-879C-90666946C6B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3B948BBD-AE52-6947-A31E-F8B81A8A5B39}" type="slidenum">
              <a:rPr lang="en-US" altLang="en-MX" sz="1200"/>
              <a:pPr eaLnBrk="1" hangingPunct="1"/>
              <a:t>42</a:t>
            </a:fld>
            <a:endParaRPr lang="en-US" altLang="en-MX" sz="1200"/>
          </a:p>
        </p:txBody>
      </p:sp>
      <p:sp>
        <p:nvSpPr>
          <p:cNvPr id="27650" name="Rectangle 2">
            <a:extLst>
              <a:ext uri="{FF2B5EF4-FFF2-40B4-BE49-F238E27FC236}">
                <a16:creationId xmlns:a16="http://schemas.microsoft.com/office/drawing/2014/main" id="{82F32471-FD52-6943-96E3-A9B0635D628B}"/>
              </a:ext>
            </a:extLst>
          </p:cNvPr>
          <p:cNvSpPr>
            <a:spLocks noGrp="1" noRot="1" noChangeAspect="1" noChangeArrowheads="1" noTextEdit="1"/>
          </p:cNvSpPr>
          <p:nvPr>
            <p:ph type="sldImg"/>
          </p:nvPr>
        </p:nvSpPr>
        <p:spPr>
          <a:xfrm>
            <a:off x="401638" y="696913"/>
            <a:ext cx="6056312" cy="3408362"/>
          </a:xfrm>
          <a:ln w="12700"/>
        </p:spPr>
      </p:sp>
      <p:sp>
        <p:nvSpPr>
          <p:cNvPr id="27651" name="Rectangle 3">
            <a:extLst>
              <a:ext uri="{FF2B5EF4-FFF2-40B4-BE49-F238E27FC236}">
                <a16:creationId xmlns:a16="http://schemas.microsoft.com/office/drawing/2014/main" id="{A464C6AE-03AB-0F43-A748-1DD834D39A76}"/>
              </a:ext>
            </a:extLst>
          </p:cNvPr>
          <p:cNvSpPr>
            <a:spLocks noGrp="1" noChangeArrowheads="1"/>
          </p:cNvSpPr>
          <p:nvPr>
            <p:ph type="body" idx="1"/>
          </p:nvPr>
        </p:nvSpPr>
        <p:spPr>
          <a:xfrm>
            <a:off x="914400" y="4375150"/>
            <a:ext cx="5029200" cy="40751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72" tIns="48437" rIns="96872" bIns="48437"/>
          <a:lstStyle/>
          <a:p>
            <a:pPr eaLnBrk="1" hangingPunct="1"/>
            <a:endParaRPr lang="en-MX" altLang="en-MX">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2523513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a:extLst>
              <a:ext uri="{FF2B5EF4-FFF2-40B4-BE49-F238E27FC236}">
                <a16:creationId xmlns:a16="http://schemas.microsoft.com/office/drawing/2014/main" id="{CBDA042B-43C0-5147-B416-325D2586CE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10D687AC-C837-9846-AEE9-1A6B3800B6FD}" type="slidenum">
              <a:rPr lang="en-US" altLang="en-MX" sz="1200"/>
              <a:pPr eaLnBrk="1" hangingPunct="1"/>
              <a:t>43</a:t>
            </a:fld>
            <a:endParaRPr lang="en-US" altLang="en-MX" sz="1200"/>
          </a:p>
        </p:txBody>
      </p:sp>
      <p:sp>
        <p:nvSpPr>
          <p:cNvPr id="29698" name="Rectangle 2">
            <a:extLst>
              <a:ext uri="{FF2B5EF4-FFF2-40B4-BE49-F238E27FC236}">
                <a16:creationId xmlns:a16="http://schemas.microsoft.com/office/drawing/2014/main" id="{0410299A-ED40-5F47-A5C6-AF03145147E8}"/>
              </a:ext>
            </a:extLst>
          </p:cNvPr>
          <p:cNvSpPr>
            <a:spLocks noGrp="1" noRot="1" noChangeAspect="1" noChangeArrowheads="1" noTextEdit="1"/>
          </p:cNvSpPr>
          <p:nvPr>
            <p:ph type="sldImg"/>
          </p:nvPr>
        </p:nvSpPr>
        <p:spPr>
          <a:xfrm>
            <a:off x="401638" y="696913"/>
            <a:ext cx="6056312" cy="3408362"/>
          </a:xfrm>
          <a:ln w="12700"/>
        </p:spPr>
      </p:sp>
      <p:sp>
        <p:nvSpPr>
          <p:cNvPr id="29699" name="Rectangle 3">
            <a:extLst>
              <a:ext uri="{FF2B5EF4-FFF2-40B4-BE49-F238E27FC236}">
                <a16:creationId xmlns:a16="http://schemas.microsoft.com/office/drawing/2014/main" id="{E2CAB706-5872-834D-BC93-A01F6146069B}"/>
              </a:ext>
            </a:extLst>
          </p:cNvPr>
          <p:cNvSpPr>
            <a:spLocks noGrp="1" noChangeArrowheads="1"/>
          </p:cNvSpPr>
          <p:nvPr>
            <p:ph type="body" idx="1"/>
          </p:nvPr>
        </p:nvSpPr>
        <p:spPr>
          <a:xfrm>
            <a:off x="914400" y="4375150"/>
            <a:ext cx="5029200" cy="40751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72" tIns="48437" rIns="96872" bIns="48437"/>
          <a:lstStyle/>
          <a:p>
            <a:pPr eaLnBrk="1" hangingPunct="1"/>
            <a:endParaRPr lang="en-MX" altLang="en-MX">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42739508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a:extLst>
              <a:ext uri="{FF2B5EF4-FFF2-40B4-BE49-F238E27FC236}">
                <a16:creationId xmlns:a16="http://schemas.microsoft.com/office/drawing/2014/main" id="{554851CB-5145-074D-B3DE-BB3AB5BF0C5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F8944B72-A4B8-BE42-8873-E14AAB7F3C3B}" type="slidenum">
              <a:rPr lang="en-US" altLang="en-MX" sz="1200"/>
              <a:pPr eaLnBrk="1" hangingPunct="1"/>
              <a:t>44</a:t>
            </a:fld>
            <a:endParaRPr lang="en-US" altLang="en-MX" sz="1200"/>
          </a:p>
        </p:txBody>
      </p:sp>
      <p:sp>
        <p:nvSpPr>
          <p:cNvPr id="31746" name="Rectangle 2">
            <a:extLst>
              <a:ext uri="{FF2B5EF4-FFF2-40B4-BE49-F238E27FC236}">
                <a16:creationId xmlns:a16="http://schemas.microsoft.com/office/drawing/2014/main" id="{A005324C-EF4B-764E-9E91-CF8533042662}"/>
              </a:ext>
            </a:extLst>
          </p:cNvPr>
          <p:cNvSpPr>
            <a:spLocks noGrp="1" noRot="1" noChangeAspect="1" noChangeArrowheads="1" noTextEdit="1"/>
          </p:cNvSpPr>
          <p:nvPr>
            <p:ph type="sldImg"/>
          </p:nvPr>
        </p:nvSpPr>
        <p:spPr>
          <a:xfrm>
            <a:off x="401638" y="696913"/>
            <a:ext cx="6056312" cy="3408362"/>
          </a:xfrm>
          <a:ln w="12700"/>
        </p:spPr>
      </p:sp>
      <p:sp>
        <p:nvSpPr>
          <p:cNvPr id="31747" name="Rectangle 3">
            <a:extLst>
              <a:ext uri="{FF2B5EF4-FFF2-40B4-BE49-F238E27FC236}">
                <a16:creationId xmlns:a16="http://schemas.microsoft.com/office/drawing/2014/main" id="{795625CE-B0AB-6A4D-A887-EE34ACF374ED}"/>
              </a:ext>
            </a:extLst>
          </p:cNvPr>
          <p:cNvSpPr>
            <a:spLocks noGrp="1" noChangeArrowheads="1"/>
          </p:cNvSpPr>
          <p:nvPr>
            <p:ph type="body" idx="1"/>
          </p:nvPr>
        </p:nvSpPr>
        <p:spPr>
          <a:xfrm>
            <a:off x="914400" y="4375150"/>
            <a:ext cx="5029200" cy="40751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72" tIns="48437" rIns="96872" bIns="48437"/>
          <a:lstStyle/>
          <a:p>
            <a:pPr eaLnBrk="1" hangingPunct="1"/>
            <a:endParaRPr lang="en-MX" altLang="en-MX">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8962242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85EE231C-6B56-834F-8E54-A6051671A13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4BDABDF2-848B-3D47-A0B2-1C7ECAF6A895}" type="slidenum">
              <a:rPr lang="en-US" altLang="en-MX" sz="1200"/>
              <a:pPr eaLnBrk="1" hangingPunct="1"/>
              <a:t>48</a:t>
            </a:fld>
            <a:endParaRPr lang="en-US" altLang="en-MX" sz="1200"/>
          </a:p>
        </p:txBody>
      </p:sp>
      <p:sp>
        <p:nvSpPr>
          <p:cNvPr id="36866" name="Rectangle 2">
            <a:extLst>
              <a:ext uri="{FF2B5EF4-FFF2-40B4-BE49-F238E27FC236}">
                <a16:creationId xmlns:a16="http://schemas.microsoft.com/office/drawing/2014/main" id="{36CBACBD-648A-584F-988C-9ED79804A30A}"/>
              </a:ext>
            </a:extLst>
          </p:cNvPr>
          <p:cNvSpPr>
            <a:spLocks noGrp="1" noRot="1" noChangeAspect="1" noChangeArrowheads="1" noTextEdit="1"/>
          </p:cNvSpPr>
          <p:nvPr>
            <p:ph type="sldImg"/>
          </p:nvPr>
        </p:nvSpPr>
        <p:spPr>
          <a:xfrm>
            <a:off x="401638" y="696913"/>
            <a:ext cx="6056312" cy="3408362"/>
          </a:xfrm>
          <a:ln w="12700"/>
        </p:spPr>
      </p:sp>
      <p:sp>
        <p:nvSpPr>
          <p:cNvPr id="36867" name="Rectangle 3">
            <a:extLst>
              <a:ext uri="{FF2B5EF4-FFF2-40B4-BE49-F238E27FC236}">
                <a16:creationId xmlns:a16="http://schemas.microsoft.com/office/drawing/2014/main" id="{0B08F1C2-BACE-6A4F-A0CE-A15174717DA4}"/>
              </a:ext>
            </a:extLst>
          </p:cNvPr>
          <p:cNvSpPr>
            <a:spLocks noGrp="1" noChangeArrowheads="1"/>
          </p:cNvSpPr>
          <p:nvPr>
            <p:ph type="body" idx="1"/>
          </p:nvPr>
        </p:nvSpPr>
        <p:spPr>
          <a:xfrm>
            <a:off x="914400" y="4375150"/>
            <a:ext cx="5029200" cy="40751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72" tIns="48437" rIns="96872" bIns="48437"/>
          <a:lstStyle/>
          <a:p>
            <a:pPr eaLnBrk="1" hangingPunct="1"/>
            <a:endParaRPr lang="en-MX" altLang="en-MX">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5893565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40C4AEBA-223E-F648-9A69-1529D548381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AE219A3B-ABD7-344A-8E28-3F828CCFAC61}" type="slidenum">
              <a:rPr lang="en-US" altLang="en-MX" sz="1200"/>
              <a:pPr eaLnBrk="1" hangingPunct="1"/>
              <a:t>49</a:t>
            </a:fld>
            <a:endParaRPr lang="en-US" altLang="en-MX" sz="1200"/>
          </a:p>
        </p:txBody>
      </p:sp>
      <p:sp>
        <p:nvSpPr>
          <p:cNvPr id="38914" name="Rectangle 2">
            <a:extLst>
              <a:ext uri="{FF2B5EF4-FFF2-40B4-BE49-F238E27FC236}">
                <a16:creationId xmlns:a16="http://schemas.microsoft.com/office/drawing/2014/main" id="{E0189E9E-CAC1-324B-93C0-E3A31AC74575}"/>
              </a:ext>
            </a:extLst>
          </p:cNvPr>
          <p:cNvSpPr>
            <a:spLocks noGrp="1" noRot="1" noChangeAspect="1" noChangeArrowheads="1" noTextEdit="1"/>
          </p:cNvSpPr>
          <p:nvPr>
            <p:ph type="sldImg"/>
          </p:nvPr>
        </p:nvSpPr>
        <p:spPr>
          <a:xfrm>
            <a:off x="401638" y="696913"/>
            <a:ext cx="6056312" cy="3408362"/>
          </a:xfrm>
          <a:ln w="12700"/>
        </p:spPr>
      </p:sp>
      <p:sp>
        <p:nvSpPr>
          <p:cNvPr id="38915" name="Rectangle 3">
            <a:extLst>
              <a:ext uri="{FF2B5EF4-FFF2-40B4-BE49-F238E27FC236}">
                <a16:creationId xmlns:a16="http://schemas.microsoft.com/office/drawing/2014/main" id="{5B3D2BA7-2EFD-2447-8D1D-B3C4D41A0CB6}"/>
              </a:ext>
            </a:extLst>
          </p:cNvPr>
          <p:cNvSpPr>
            <a:spLocks noGrp="1" noChangeArrowheads="1"/>
          </p:cNvSpPr>
          <p:nvPr>
            <p:ph type="body" idx="1"/>
          </p:nvPr>
        </p:nvSpPr>
        <p:spPr>
          <a:xfrm>
            <a:off x="914400" y="4375150"/>
            <a:ext cx="5029200" cy="40751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72" tIns="48437" rIns="96872" bIns="48437"/>
          <a:lstStyle/>
          <a:p>
            <a:pPr eaLnBrk="1" hangingPunct="1"/>
            <a:endParaRPr lang="en-MX" altLang="en-MX">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7217914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79F7AC5E-8A71-7E45-A682-F038EFDDF39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AB4B82FF-9F86-CF4E-BD42-50DC9A5EDA0B}" type="slidenum">
              <a:rPr lang="en-US" altLang="en-MX" sz="1200"/>
              <a:pPr eaLnBrk="1" hangingPunct="1"/>
              <a:t>50</a:t>
            </a:fld>
            <a:endParaRPr lang="en-US" altLang="en-MX" sz="1200"/>
          </a:p>
        </p:txBody>
      </p:sp>
      <p:sp>
        <p:nvSpPr>
          <p:cNvPr id="40962" name="Rectangle 2">
            <a:extLst>
              <a:ext uri="{FF2B5EF4-FFF2-40B4-BE49-F238E27FC236}">
                <a16:creationId xmlns:a16="http://schemas.microsoft.com/office/drawing/2014/main" id="{11B2611C-EE5E-2442-9FB7-67B0C3535B72}"/>
              </a:ext>
            </a:extLst>
          </p:cNvPr>
          <p:cNvSpPr>
            <a:spLocks noGrp="1" noRot="1" noChangeAspect="1" noChangeArrowheads="1" noTextEdit="1"/>
          </p:cNvSpPr>
          <p:nvPr>
            <p:ph type="sldImg"/>
          </p:nvPr>
        </p:nvSpPr>
        <p:spPr>
          <a:xfrm>
            <a:off x="401638" y="696913"/>
            <a:ext cx="6056312" cy="3408362"/>
          </a:xfrm>
          <a:ln w="12700"/>
        </p:spPr>
      </p:sp>
      <p:sp>
        <p:nvSpPr>
          <p:cNvPr id="40963" name="Rectangle 3">
            <a:extLst>
              <a:ext uri="{FF2B5EF4-FFF2-40B4-BE49-F238E27FC236}">
                <a16:creationId xmlns:a16="http://schemas.microsoft.com/office/drawing/2014/main" id="{DCDE78AE-0C41-AB4B-B4AE-B124074742DC}"/>
              </a:ext>
            </a:extLst>
          </p:cNvPr>
          <p:cNvSpPr>
            <a:spLocks noGrp="1" noChangeArrowheads="1"/>
          </p:cNvSpPr>
          <p:nvPr>
            <p:ph type="body" idx="1"/>
          </p:nvPr>
        </p:nvSpPr>
        <p:spPr>
          <a:xfrm>
            <a:off x="914400" y="4375150"/>
            <a:ext cx="5029200" cy="40751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72" tIns="48437" rIns="96872" bIns="48437"/>
          <a:lstStyle/>
          <a:p>
            <a:pPr eaLnBrk="1" hangingPunct="1"/>
            <a:endParaRPr lang="en-MX" altLang="en-MX">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8392717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a:extLst>
              <a:ext uri="{FF2B5EF4-FFF2-40B4-BE49-F238E27FC236}">
                <a16:creationId xmlns:a16="http://schemas.microsoft.com/office/drawing/2014/main" id="{35577A37-11ED-9246-8E12-7716F8FC804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660BC06E-9BA9-1C4A-BF99-86F92547EA9E}" type="slidenum">
              <a:rPr lang="en-US" altLang="en-MX" sz="1200"/>
              <a:pPr eaLnBrk="1" hangingPunct="1"/>
              <a:t>52</a:t>
            </a:fld>
            <a:endParaRPr lang="en-US" altLang="en-MX" sz="1200"/>
          </a:p>
        </p:txBody>
      </p:sp>
      <p:sp>
        <p:nvSpPr>
          <p:cNvPr id="44034" name="Rectangle 2">
            <a:extLst>
              <a:ext uri="{FF2B5EF4-FFF2-40B4-BE49-F238E27FC236}">
                <a16:creationId xmlns:a16="http://schemas.microsoft.com/office/drawing/2014/main" id="{489966F3-EC23-E446-BFD3-F89F5EA5B762}"/>
              </a:ext>
            </a:extLst>
          </p:cNvPr>
          <p:cNvSpPr>
            <a:spLocks noGrp="1" noRot="1" noChangeAspect="1" noChangeArrowheads="1" noTextEdit="1"/>
          </p:cNvSpPr>
          <p:nvPr>
            <p:ph type="sldImg"/>
          </p:nvPr>
        </p:nvSpPr>
        <p:spPr>
          <a:xfrm>
            <a:off x="401638" y="696913"/>
            <a:ext cx="6056312" cy="3408362"/>
          </a:xfrm>
          <a:ln w="12700"/>
        </p:spPr>
      </p:sp>
      <p:sp>
        <p:nvSpPr>
          <p:cNvPr id="44035" name="Rectangle 3">
            <a:extLst>
              <a:ext uri="{FF2B5EF4-FFF2-40B4-BE49-F238E27FC236}">
                <a16:creationId xmlns:a16="http://schemas.microsoft.com/office/drawing/2014/main" id="{A6E638FC-C8AB-6B4D-850E-079FB4696A14}"/>
              </a:ext>
            </a:extLst>
          </p:cNvPr>
          <p:cNvSpPr>
            <a:spLocks noGrp="1" noChangeArrowheads="1"/>
          </p:cNvSpPr>
          <p:nvPr>
            <p:ph type="body" idx="1"/>
          </p:nvPr>
        </p:nvSpPr>
        <p:spPr>
          <a:xfrm>
            <a:off x="914400" y="4375150"/>
            <a:ext cx="5029200" cy="40751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72" tIns="48437" rIns="96872" bIns="48437"/>
          <a:lstStyle/>
          <a:p>
            <a:pPr eaLnBrk="1" hangingPunct="1"/>
            <a:endParaRPr lang="en-MX" altLang="en-MX">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1237235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7">
            <a:extLst>
              <a:ext uri="{FF2B5EF4-FFF2-40B4-BE49-F238E27FC236}">
                <a16:creationId xmlns:a16="http://schemas.microsoft.com/office/drawing/2014/main" id="{9A04D1C3-82CA-2E41-A95C-42589E46196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61827AFE-2067-664E-AD14-6E8F76991AE1}" type="slidenum">
              <a:rPr lang="en-US" altLang="en-MX" sz="1200"/>
              <a:pPr eaLnBrk="1" hangingPunct="1"/>
              <a:t>53</a:t>
            </a:fld>
            <a:endParaRPr lang="en-US" altLang="en-MX" sz="1200"/>
          </a:p>
        </p:txBody>
      </p:sp>
      <p:sp>
        <p:nvSpPr>
          <p:cNvPr id="46082" name="Rectangle 2">
            <a:extLst>
              <a:ext uri="{FF2B5EF4-FFF2-40B4-BE49-F238E27FC236}">
                <a16:creationId xmlns:a16="http://schemas.microsoft.com/office/drawing/2014/main" id="{3E1E7276-839E-D943-9653-D30537189333}"/>
              </a:ext>
            </a:extLst>
          </p:cNvPr>
          <p:cNvSpPr>
            <a:spLocks noGrp="1" noRot="1" noChangeAspect="1" noChangeArrowheads="1" noTextEdit="1"/>
          </p:cNvSpPr>
          <p:nvPr>
            <p:ph type="sldImg"/>
          </p:nvPr>
        </p:nvSpPr>
        <p:spPr>
          <a:xfrm>
            <a:off x="401638" y="696913"/>
            <a:ext cx="6056312" cy="3408362"/>
          </a:xfrm>
          <a:ln w="12700"/>
        </p:spPr>
      </p:sp>
      <p:sp>
        <p:nvSpPr>
          <p:cNvPr id="46083" name="Rectangle 3">
            <a:extLst>
              <a:ext uri="{FF2B5EF4-FFF2-40B4-BE49-F238E27FC236}">
                <a16:creationId xmlns:a16="http://schemas.microsoft.com/office/drawing/2014/main" id="{BA3E9C66-4C8D-5F47-A90A-BADA0460488C}"/>
              </a:ext>
            </a:extLst>
          </p:cNvPr>
          <p:cNvSpPr>
            <a:spLocks noGrp="1" noChangeArrowheads="1"/>
          </p:cNvSpPr>
          <p:nvPr>
            <p:ph type="body" idx="1"/>
          </p:nvPr>
        </p:nvSpPr>
        <p:spPr>
          <a:xfrm>
            <a:off x="914400" y="4375150"/>
            <a:ext cx="5029200" cy="40751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72" tIns="48437" rIns="96872" bIns="48437"/>
          <a:lstStyle/>
          <a:p>
            <a:pPr eaLnBrk="1" hangingPunct="1"/>
            <a:endParaRPr lang="en-MX" altLang="en-MX">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7294451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a:extLst>
              <a:ext uri="{FF2B5EF4-FFF2-40B4-BE49-F238E27FC236}">
                <a16:creationId xmlns:a16="http://schemas.microsoft.com/office/drawing/2014/main" id="{7723EEEF-2757-B94A-A2FB-8AA2DA6E2B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49A2C57E-F800-074A-A4E9-4DB406F653B8}" type="slidenum">
              <a:rPr lang="en-US" altLang="en-MX" sz="1200"/>
              <a:pPr eaLnBrk="1" hangingPunct="1"/>
              <a:t>54</a:t>
            </a:fld>
            <a:endParaRPr lang="en-US" altLang="en-MX" sz="1200"/>
          </a:p>
        </p:txBody>
      </p:sp>
      <p:sp>
        <p:nvSpPr>
          <p:cNvPr id="48130" name="Rectangle 2">
            <a:extLst>
              <a:ext uri="{FF2B5EF4-FFF2-40B4-BE49-F238E27FC236}">
                <a16:creationId xmlns:a16="http://schemas.microsoft.com/office/drawing/2014/main" id="{AC0E6C32-8C74-734A-BC57-1BDC0C5CD071}"/>
              </a:ext>
            </a:extLst>
          </p:cNvPr>
          <p:cNvSpPr>
            <a:spLocks noGrp="1" noRot="1" noChangeAspect="1" noChangeArrowheads="1" noTextEdit="1"/>
          </p:cNvSpPr>
          <p:nvPr>
            <p:ph type="sldImg"/>
          </p:nvPr>
        </p:nvSpPr>
        <p:spPr>
          <a:xfrm>
            <a:off x="401638" y="696913"/>
            <a:ext cx="6056312" cy="3408362"/>
          </a:xfrm>
          <a:ln w="12700"/>
        </p:spPr>
      </p:sp>
      <p:sp>
        <p:nvSpPr>
          <p:cNvPr id="48131" name="Rectangle 3">
            <a:extLst>
              <a:ext uri="{FF2B5EF4-FFF2-40B4-BE49-F238E27FC236}">
                <a16:creationId xmlns:a16="http://schemas.microsoft.com/office/drawing/2014/main" id="{ADC584BE-1A48-AB42-B893-84971FE5CD86}"/>
              </a:ext>
            </a:extLst>
          </p:cNvPr>
          <p:cNvSpPr>
            <a:spLocks noGrp="1" noChangeArrowheads="1"/>
          </p:cNvSpPr>
          <p:nvPr>
            <p:ph type="body" idx="1"/>
          </p:nvPr>
        </p:nvSpPr>
        <p:spPr>
          <a:xfrm>
            <a:off x="914400" y="4375150"/>
            <a:ext cx="5029200" cy="40751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72" tIns="48437" rIns="96872" bIns="48437"/>
          <a:lstStyle/>
          <a:p>
            <a:pPr eaLnBrk="1" hangingPunct="1"/>
            <a:endParaRPr lang="en-MX" altLang="en-MX">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9804050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FACE6B44-611A-D54B-BA71-3E93DA8E96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BB8F0C2C-219B-D64A-9326-543F30EDD5E7}" type="slidenum">
              <a:rPr lang="en-US" altLang="en-MX" sz="1200"/>
              <a:pPr eaLnBrk="1" hangingPunct="1"/>
              <a:t>55</a:t>
            </a:fld>
            <a:endParaRPr lang="en-US" altLang="en-MX" sz="1200"/>
          </a:p>
        </p:txBody>
      </p:sp>
      <p:sp>
        <p:nvSpPr>
          <p:cNvPr id="50178" name="Rectangle 2">
            <a:extLst>
              <a:ext uri="{FF2B5EF4-FFF2-40B4-BE49-F238E27FC236}">
                <a16:creationId xmlns:a16="http://schemas.microsoft.com/office/drawing/2014/main" id="{F6237B2F-F4A8-E640-A352-62C2DA4203E1}"/>
              </a:ext>
            </a:extLst>
          </p:cNvPr>
          <p:cNvSpPr>
            <a:spLocks noGrp="1" noRot="1" noChangeAspect="1" noChangeArrowheads="1" noTextEdit="1"/>
          </p:cNvSpPr>
          <p:nvPr>
            <p:ph type="sldImg"/>
          </p:nvPr>
        </p:nvSpPr>
        <p:spPr>
          <a:xfrm>
            <a:off x="401638" y="696913"/>
            <a:ext cx="6056312" cy="3408362"/>
          </a:xfrm>
          <a:ln w="12700"/>
        </p:spPr>
      </p:sp>
      <p:sp>
        <p:nvSpPr>
          <p:cNvPr id="50179" name="Rectangle 3">
            <a:extLst>
              <a:ext uri="{FF2B5EF4-FFF2-40B4-BE49-F238E27FC236}">
                <a16:creationId xmlns:a16="http://schemas.microsoft.com/office/drawing/2014/main" id="{9A76FE4E-6721-7842-BC93-88ED91D31C9E}"/>
              </a:ext>
            </a:extLst>
          </p:cNvPr>
          <p:cNvSpPr>
            <a:spLocks noGrp="1" noChangeArrowheads="1"/>
          </p:cNvSpPr>
          <p:nvPr>
            <p:ph type="body" idx="1"/>
          </p:nvPr>
        </p:nvSpPr>
        <p:spPr>
          <a:xfrm>
            <a:off x="914400" y="4375150"/>
            <a:ext cx="5029200" cy="40751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72" tIns="48437" rIns="96872" bIns="48437"/>
          <a:lstStyle/>
          <a:p>
            <a:pPr eaLnBrk="1" hangingPunct="1"/>
            <a:endParaRPr lang="en-MX" altLang="en-MX">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40399337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a:extLst>
              <a:ext uri="{FF2B5EF4-FFF2-40B4-BE49-F238E27FC236}">
                <a16:creationId xmlns:a16="http://schemas.microsoft.com/office/drawing/2014/main" id="{0C2F52BA-4343-4041-8D8B-7394D93C75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1C82CB88-2B4C-F441-9A9D-A1E4A2311A03}" type="slidenum">
              <a:rPr lang="en-US" altLang="en-MX" sz="1200"/>
              <a:pPr eaLnBrk="1" hangingPunct="1"/>
              <a:t>56</a:t>
            </a:fld>
            <a:endParaRPr lang="en-US" altLang="en-MX" sz="1200"/>
          </a:p>
        </p:txBody>
      </p:sp>
      <p:sp>
        <p:nvSpPr>
          <p:cNvPr id="52226" name="Rectangle 2">
            <a:extLst>
              <a:ext uri="{FF2B5EF4-FFF2-40B4-BE49-F238E27FC236}">
                <a16:creationId xmlns:a16="http://schemas.microsoft.com/office/drawing/2014/main" id="{CD294A99-1541-534B-9D59-4EF23D4A4C20}"/>
              </a:ext>
            </a:extLst>
          </p:cNvPr>
          <p:cNvSpPr>
            <a:spLocks noGrp="1" noRot="1" noChangeAspect="1" noChangeArrowheads="1" noTextEdit="1"/>
          </p:cNvSpPr>
          <p:nvPr>
            <p:ph type="sldImg"/>
          </p:nvPr>
        </p:nvSpPr>
        <p:spPr>
          <a:xfrm>
            <a:off x="381000" y="687388"/>
            <a:ext cx="6096000" cy="3429000"/>
          </a:xfrm>
          <a:ln/>
        </p:spPr>
      </p:sp>
      <p:sp>
        <p:nvSpPr>
          <p:cNvPr id="52227" name="Rectangle 3">
            <a:extLst>
              <a:ext uri="{FF2B5EF4-FFF2-40B4-BE49-F238E27FC236}">
                <a16:creationId xmlns:a16="http://schemas.microsoft.com/office/drawing/2014/main" id="{B7F625C6-D1E5-C545-B07D-AADA38ED2EB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204" tIns="48102" rIns="96204" bIns="48102"/>
          <a:lstStyle/>
          <a:p>
            <a:pPr eaLnBrk="1" hangingPunct="1"/>
            <a:endParaRPr lang="en-MX" altLang="en-MX">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1574575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a:extLst>
              <a:ext uri="{FF2B5EF4-FFF2-40B4-BE49-F238E27FC236}">
                <a16:creationId xmlns:a16="http://schemas.microsoft.com/office/drawing/2014/main" id="{12951804-1DF3-614A-B93F-77F3AB5B54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7781E990-BC9C-8549-8B85-3DA0142E6A1A}" type="slidenum">
              <a:rPr lang="en-US" altLang="en-MX" sz="1200"/>
              <a:pPr eaLnBrk="1" hangingPunct="1"/>
              <a:t>57</a:t>
            </a:fld>
            <a:endParaRPr lang="en-US" altLang="en-MX" sz="1200"/>
          </a:p>
        </p:txBody>
      </p:sp>
      <p:sp>
        <p:nvSpPr>
          <p:cNvPr id="54274" name="Rectangle 2">
            <a:extLst>
              <a:ext uri="{FF2B5EF4-FFF2-40B4-BE49-F238E27FC236}">
                <a16:creationId xmlns:a16="http://schemas.microsoft.com/office/drawing/2014/main" id="{30AAAFE6-60C9-2D4D-8DD1-4F262A519B7D}"/>
              </a:ext>
            </a:extLst>
          </p:cNvPr>
          <p:cNvSpPr>
            <a:spLocks noGrp="1" noRot="1" noChangeAspect="1" noChangeArrowheads="1" noTextEdit="1"/>
          </p:cNvSpPr>
          <p:nvPr>
            <p:ph type="sldImg"/>
          </p:nvPr>
        </p:nvSpPr>
        <p:spPr>
          <a:xfrm>
            <a:off x="381000" y="687388"/>
            <a:ext cx="6096000" cy="3429000"/>
          </a:xfrm>
          <a:ln/>
        </p:spPr>
      </p:sp>
      <p:sp>
        <p:nvSpPr>
          <p:cNvPr id="54275" name="Rectangle 3">
            <a:extLst>
              <a:ext uri="{FF2B5EF4-FFF2-40B4-BE49-F238E27FC236}">
                <a16:creationId xmlns:a16="http://schemas.microsoft.com/office/drawing/2014/main" id="{0F86BEAD-639B-1B41-8A35-5D8611E8B66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204" tIns="48102" rIns="96204" bIns="48102"/>
          <a:lstStyle/>
          <a:p>
            <a:pPr eaLnBrk="1" hangingPunct="1"/>
            <a:endParaRPr lang="en-MX" altLang="en-MX">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54864115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7">
            <a:extLst>
              <a:ext uri="{FF2B5EF4-FFF2-40B4-BE49-F238E27FC236}">
                <a16:creationId xmlns:a16="http://schemas.microsoft.com/office/drawing/2014/main" id="{7AEE4752-1EEC-1046-849D-98FC87E422E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F6092314-C3A6-1F42-9A0A-863C6821A091}" type="slidenum">
              <a:rPr lang="en-US" altLang="en-MX" sz="1200"/>
              <a:pPr eaLnBrk="1" hangingPunct="1"/>
              <a:t>58</a:t>
            </a:fld>
            <a:endParaRPr lang="en-US" altLang="en-MX" sz="1200"/>
          </a:p>
        </p:txBody>
      </p:sp>
      <p:sp>
        <p:nvSpPr>
          <p:cNvPr id="56322" name="Rectangle 2">
            <a:extLst>
              <a:ext uri="{FF2B5EF4-FFF2-40B4-BE49-F238E27FC236}">
                <a16:creationId xmlns:a16="http://schemas.microsoft.com/office/drawing/2014/main" id="{2E1FD442-890B-C240-838C-33BD472CF296}"/>
              </a:ext>
            </a:extLst>
          </p:cNvPr>
          <p:cNvSpPr>
            <a:spLocks noGrp="1" noRot="1" noChangeAspect="1" noChangeArrowheads="1" noTextEdit="1"/>
          </p:cNvSpPr>
          <p:nvPr>
            <p:ph type="sldImg"/>
          </p:nvPr>
        </p:nvSpPr>
        <p:spPr>
          <a:xfrm>
            <a:off x="381000" y="687388"/>
            <a:ext cx="6096000" cy="3429000"/>
          </a:xfrm>
          <a:ln/>
        </p:spPr>
      </p:sp>
      <p:sp>
        <p:nvSpPr>
          <p:cNvPr id="56323" name="Rectangle 3">
            <a:extLst>
              <a:ext uri="{FF2B5EF4-FFF2-40B4-BE49-F238E27FC236}">
                <a16:creationId xmlns:a16="http://schemas.microsoft.com/office/drawing/2014/main" id="{CF4AAE3D-3B31-ED48-83BC-38485EB141F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204" tIns="48102" rIns="96204" bIns="48102"/>
          <a:lstStyle/>
          <a:p>
            <a:pPr eaLnBrk="1" hangingPunct="1"/>
            <a:endParaRPr lang="en-MX" altLang="en-MX">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95330234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293F6FEF-2F20-0643-B9EF-8FA4024A893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452C03CF-20B1-3441-B28A-546795535580}" type="slidenum">
              <a:rPr lang="en-US" altLang="en-MX" sz="1200"/>
              <a:pPr eaLnBrk="1" hangingPunct="1"/>
              <a:t>59</a:t>
            </a:fld>
            <a:endParaRPr lang="en-US" altLang="en-MX" sz="1200"/>
          </a:p>
        </p:txBody>
      </p:sp>
      <p:sp>
        <p:nvSpPr>
          <p:cNvPr id="58370" name="Rectangle 2">
            <a:extLst>
              <a:ext uri="{FF2B5EF4-FFF2-40B4-BE49-F238E27FC236}">
                <a16:creationId xmlns:a16="http://schemas.microsoft.com/office/drawing/2014/main" id="{10AB520A-267A-5940-9C9F-C7E3B1335A95}"/>
              </a:ext>
            </a:extLst>
          </p:cNvPr>
          <p:cNvSpPr>
            <a:spLocks noGrp="1" noRot="1" noChangeAspect="1" noChangeArrowheads="1" noTextEdit="1"/>
          </p:cNvSpPr>
          <p:nvPr>
            <p:ph type="sldImg"/>
          </p:nvPr>
        </p:nvSpPr>
        <p:spPr>
          <a:xfrm>
            <a:off x="381000" y="687388"/>
            <a:ext cx="6096000" cy="3429000"/>
          </a:xfrm>
          <a:ln/>
        </p:spPr>
      </p:sp>
      <p:sp>
        <p:nvSpPr>
          <p:cNvPr id="58371" name="Rectangle 3">
            <a:extLst>
              <a:ext uri="{FF2B5EF4-FFF2-40B4-BE49-F238E27FC236}">
                <a16:creationId xmlns:a16="http://schemas.microsoft.com/office/drawing/2014/main" id="{EE0BF40F-C1ED-B84E-B4C6-F25BCBD6BF2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204" tIns="48102" rIns="96204" bIns="48102"/>
          <a:lstStyle/>
          <a:p>
            <a:pPr eaLnBrk="1" hangingPunct="1"/>
            <a:endParaRPr lang="en-MX" altLang="en-MX">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52821642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a:extLst>
              <a:ext uri="{FF2B5EF4-FFF2-40B4-BE49-F238E27FC236}">
                <a16:creationId xmlns:a16="http://schemas.microsoft.com/office/drawing/2014/main" id="{0A5BFC2D-D144-6C40-B6EA-5042DC20B11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300F155E-292A-0441-B234-68AA3981CA73}" type="slidenum">
              <a:rPr lang="en-US" altLang="en-MX" sz="1200"/>
              <a:pPr eaLnBrk="1" hangingPunct="1"/>
              <a:t>60</a:t>
            </a:fld>
            <a:endParaRPr lang="en-US" altLang="en-MX" sz="1200"/>
          </a:p>
        </p:txBody>
      </p:sp>
      <p:sp>
        <p:nvSpPr>
          <p:cNvPr id="60418" name="Rectangle 2">
            <a:extLst>
              <a:ext uri="{FF2B5EF4-FFF2-40B4-BE49-F238E27FC236}">
                <a16:creationId xmlns:a16="http://schemas.microsoft.com/office/drawing/2014/main" id="{7CFE70CC-2D7E-9D42-9768-0EFED528B904}"/>
              </a:ext>
            </a:extLst>
          </p:cNvPr>
          <p:cNvSpPr>
            <a:spLocks noGrp="1" noRot="1" noChangeAspect="1" noChangeArrowheads="1" noTextEdit="1"/>
          </p:cNvSpPr>
          <p:nvPr>
            <p:ph type="sldImg"/>
          </p:nvPr>
        </p:nvSpPr>
        <p:spPr>
          <a:xfrm>
            <a:off x="381000" y="687388"/>
            <a:ext cx="6096000" cy="3429000"/>
          </a:xfrm>
          <a:ln/>
        </p:spPr>
      </p:sp>
      <p:sp>
        <p:nvSpPr>
          <p:cNvPr id="60419" name="Rectangle 3">
            <a:extLst>
              <a:ext uri="{FF2B5EF4-FFF2-40B4-BE49-F238E27FC236}">
                <a16:creationId xmlns:a16="http://schemas.microsoft.com/office/drawing/2014/main" id="{128A88E6-1B65-9E46-9EC8-E22E9BEDEF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204" tIns="48102" rIns="96204" bIns="48102"/>
          <a:lstStyle/>
          <a:p>
            <a:pPr eaLnBrk="1" hangingPunct="1"/>
            <a:endParaRPr lang="en-MX" altLang="en-MX">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173581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a:extLst>
              <a:ext uri="{FF2B5EF4-FFF2-40B4-BE49-F238E27FC236}">
                <a16:creationId xmlns:a16="http://schemas.microsoft.com/office/drawing/2014/main" id="{0CEBD18D-EF4C-F342-9965-E2EBCA83817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6CDA340C-0D8D-5140-9130-A7A3B068192B}" type="slidenum">
              <a:rPr lang="en-US" altLang="en-MX" sz="1200"/>
              <a:pPr eaLnBrk="1" hangingPunct="1"/>
              <a:t>61</a:t>
            </a:fld>
            <a:endParaRPr lang="en-US" altLang="en-MX" sz="1200"/>
          </a:p>
        </p:txBody>
      </p:sp>
      <p:sp>
        <p:nvSpPr>
          <p:cNvPr id="62466" name="Rectangle 2">
            <a:extLst>
              <a:ext uri="{FF2B5EF4-FFF2-40B4-BE49-F238E27FC236}">
                <a16:creationId xmlns:a16="http://schemas.microsoft.com/office/drawing/2014/main" id="{7D0D2C4A-B209-C846-B8F2-640C2F25C164}"/>
              </a:ext>
            </a:extLst>
          </p:cNvPr>
          <p:cNvSpPr>
            <a:spLocks noGrp="1" noRot="1" noChangeAspect="1" noChangeArrowheads="1" noTextEdit="1"/>
          </p:cNvSpPr>
          <p:nvPr>
            <p:ph type="sldImg"/>
          </p:nvPr>
        </p:nvSpPr>
        <p:spPr>
          <a:xfrm>
            <a:off x="381000" y="687388"/>
            <a:ext cx="6096000" cy="3429000"/>
          </a:xfrm>
          <a:ln/>
        </p:spPr>
      </p:sp>
      <p:sp>
        <p:nvSpPr>
          <p:cNvPr id="62467" name="Rectangle 3">
            <a:extLst>
              <a:ext uri="{FF2B5EF4-FFF2-40B4-BE49-F238E27FC236}">
                <a16:creationId xmlns:a16="http://schemas.microsoft.com/office/drawing/2014/main" id="{D924E8DB-57B1-DD49-9B24-4340A5E8EC6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204" tIns="48102" rIns="96204" bIns="48102"/>
          <a:lstStyle/>
          <a:p>
            <a:pPr eaLnBrk="1" hangingPunct="1"/>
            <a:endParaRPr lang="en-MX" altLang="en-MX">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9410388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a:extLst>
              <a:ext uri="{FF2B5EF4-FFF2-40B4-BE49-F238E27FC236}">
                <a16:creationId xmlns:a16="http://schemas.microsoft.com/office/drawing/2014/main" id="{363107E8-2412-B148-A6A2-5086EABF79C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2C55E73B-BFB9-1742-A50B-38665042C5D7}" type="slidenum">
              <a:rPr lang="en-US" altLang="en-MX" sz="1200"/>
              <a:pPr eaLnBrk="1" hangingPunct="1"/>
              <a:t>62</a:t>
            </a:fld>
            <a:endParaRPr lang="en-US" altLang="en-MX" sz="1200"/>
          </a:p>
        </p:txBody>
      </p:sp>
      <p:sp>
        <p:nvSpPr>
          <p:cNvPr id="64514" name="Rectangle 2">
            <a:extLst>
              <a:ext uri="{FF2B5EF4-FFF2-40B4-BE49-F238E27FC236}">
                <a16:creationId xmlns:a16="http://schemas.microsoft.com/office/drawing/2014/main" id="{6AEFBF23-C75D-0E48-BD69-56E0E0706DC0}"/>
              </a:ext>
            </a:extLst>
          </p:cNvPr>
          <p:cNvSpPr>
            <a:spLocks noGrp="1" noRot="1" noChangeAspect="1" noChangeArrowheads="1" noTextEdit="1"/>
          </p:cNvSpPr>
          <p:nvPr>
            <p:ph type="sldImg"/>
          </p:nvPr>
        </p:nvSpPr>
        <p:spPr>
          <a:xfrm>
            <a:off x="381000" y="687388"/>
            <a:ext cx="6096000" cy="3429000"/>
          </a:xfrm>
          <a:ln/>
        </p:spPr>
      </p:sp>
      <p:sp>
        <p:nvSpPr>
          <p:cNvPr id="64515" name="Rectangle 3">
            <a:extLst>
              <a:ext uri="{FF2B5EF4-FFF2-40B4-BE49-F238E27FC236}">
                <a16:creationId xmlns:a16="http://schemas.microsoft.com/office/drawing/2014/main" id="{9E759B4F-5DD0-B943-8B8A-8242EB70EB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204" tIns="48102" rIns="96204" bIns="48102"/>
          <a:lstStyle/>
          <a:p>
            <a:pPr eaLnBrk="1" hangingPunct="1"/>
            <a:endParaRPr lang="en-MX" altLang="en-MX">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9245958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a:extLst>
              <a:ext uri="{FF2B5EF4-FFF2-40B4-BE49-F238E27FC236}">
                <a16:creationId xmlns:a16="http://schemas.microsoft.com/office/drawing/2014/main" id="{4757F508-929C-234D-974B-4F8EE6A2B10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1EFCBED7-7280-8140-8FDE-C2DF7A96068A}" type="slidenum">
              <a:rPr lang="en-US" altLang="en-MX" sz="1200"/>
              <a:pPr eaLnBrk="1" hangingPunct="1"/>
              <a:t>63</a:t>
            </a:fld>
            <a:endParaRPr lang="en-US" altLang="en-MX" sz="1200"/>
          </a:p>
        </p:txBody>
      </p:sp>
      <p:sp>
        <p:nvSpPr>
          <p:cNvPr id="66562" name="Rectangle 2">
            <a:extLst>
              <a:ext uri="{FF2B5EF4-FFF2-40B4-BE49-F238E27FC236}">
                <a16:creationId xmlns:a16="http://schemas.microsoft.com/office/drawing/2014/main" id="{8DE54C49-9D8F-0C45-B73B-C91350EC1B2F}"/>
              </a:ext>
            </a:extLst>
          </p:cNvPr>
          <p:cNvSpPr>
            <a:spLocks noGrp="1" noRot="1" noChangeAspect="1" noChangeArrowheads="1" noTextEdit="1"/>
          </p:cNvSpPr>
          <p:nvPr>
            <p:ph type="sldImg"/>
          </p:nvPr>
        </p:nvSpPr>
        <p:spPr>
          <a:xfrm>
            <a:off x="381000" y="687388"/>
            <a:ext cx="6096000" cy="3429000"/>
          </a:xfrm>
          <a:ln/>
        </p:spPr>
      </p:sp>
      <p:sp>
        <p:nvSpPr>
          <p:cNvPr id="66563" name="Rectangle 3">
            <a:extLst>
              <a:ext uri="{FF2B5EF4-FFF2-40B4-BE49-F238E27FC236}">
                <a16:creationId xmlns:a16="http://schemas.microsoft.com/office/drawing/2014/main" id="{ACC4D0D4-B637-2A48-842F-A8B7CDE81EE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204" tIns="48102" rIns="96204" bIns="48102"/>
          <a:lstStyle/>
          <a:p>
            <a:pPr eaLnBrk="1" hangingPunct="1"/>
            <a:endParaRPr lang="en-MX" altLang="en-MX">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85801340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a:extLst>
              <a:ext uri="{FF2B5EF4-FFF2-40B4-BE49-F238E27FC236}">
                <a16:creationId xmlns:a16="http://schemas.microsoft.com/office/drawing/2014/main" id="{7FA5A507-F31A-434B-B83F-11DFC9A9E68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6322C769-645D-E347-B7C2-15E441DB7313}" type="slidenum">
              <a:rPr lang="en-US" altLang="en-MX" sz="1200"/>
              <a:pPr eaLnBrk="1" hangingPunct="1"/>
              <a:t>64</a:t>
            </a:fld>
            <a:endParaRPr lang="en-US" altLang="en-MX" sz="1200"/>
          </a:p>
        </p:txBody>
      </p:sp>
      <p:sp>
        <p:nvSpPr>
          <p:cNvPr id="68610" name="Rectangle 2">
            <a:extLst>
              <a:ext uri="{FF2B5EF4-FFF2-40B4-BE49-F238E27FC236}">
                <a16:creationId xmlns:a16="http://schemas.microsoft.com/office/drawing/2014/main" id="{177868CF-DA4A-B544-A4D8-F9DB51E3D602}"/>
              </a:ext>
            </a:extLst>
          </p:cNvPr>
          <p:cNvSpPr>
            <a:spLocks noGrp="1" noRot="1" noChangeAspect="1" noChangeArrowheads="1" noTextEdit="1"/>
          </p:cNvSpPr>
          <p:nvPr>
            <p:ph type="sldImg"/>
          </p:nvPr>
        </p:nvSpPr>
        <p:spPr>
          <a:xfrm>
            <a:off x="381000" y="687388"/>
            <a:ext cx="6096000" cy="3429000"/>
          </a:xfrm>
          <a:ln/>
        </p:spPr>
      </p:sp>
      <p:sp>
        <p:nvSpPr>
          <p:cNvPr id="68611" name="Rectangle 3">
            <a:extLst>
              <a:ext uri="{FF2B5EF4-FFF2-40B4-BE49-F238E27FC236}">
                <a16:creationId xmlns:a16="http://schemas.microsoft.com/office/drawing/2014/main" id="{3FF10404-3FAD-224C-9299-8021631A3E9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204" tIns="48102" rIns="96204" bIns="48102"/>
          <a:lstStyle/>
          <a:p>
            <a:pPr eaLnBrk="1" hangingPunct="1"/>
            <a:endParaRPr lang="en-MX" altLang="en-MX">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46563651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994B5990-DBF5-6344-B34C-B73CE4EE60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0629B779-36F0-4443-BE59-9E581964678F}" type="slidenum">
              <a:rPr lang="en-US" altLang="en-MX" sz="1200"/>
              <a:pPr eaLnBrk="1" hangingPunct="1"/>
              <a:t>65</a:t>
            </a:fld>
            <a:endParaRPr lang="en-US" altLang="en-MX" sz="1200"/>
          </a:p>
        </p:txBody>
      </p:sp>
      <p:sp>
        <p:nvSpPr>
          <p:cNvPr id="70658" name="Rectangle 2">
            <a:extLst>
              <a:ext uri="{FF2B5EF4-FFF2-40B4-BE49-F238E27FC236}">
                <a16:creationId xmlns:a16="http://schemas.microsoft.com/office/drawing/2014/main" id="{71A06660-3976-3142-A846-390CC19C28B7}"/>
              </a:ext>
            </a:extLst>
          </p:cNvPr>
          <p:cNvSpPr>
            <a:spLocks noGrp="1" noRot="1" noChangeAspect="1" noChangeArrowheads="1" noTextEdit="1"/>
          </p:cNvSpPr>
          <p:nvPr>
            <p:ph type="sldImg"/>
          </p:nvPr>
        </p:nvSpPr>
        <p:spPr>
          <a:xfrm>
            <a:off x="381000" y="687388"/>
            <a:ext cx="6096000" cy="3429000"/>
          </a:xfrm>
          <a:ln/>
        </p:spPr>
      </p:sp>
      <p:sp>
        <p:nvSpPr>
          <p:cNvPr id="70659" name="Rectangle 3">
            <a:extLst>
              <a:ext uri="{FF2B5EF4-FFF2-40B4-BE49-F238E27FC236}">
                <a16:creationId xmlns:a16="http://schemas.microsoft.com/office/drawing/2014/main" id="{122D022A-BF12-FC4F-AB80-89CE7A9CE35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204" tIns="48102" rIns="96204" bIns="48102"/>
          <a:lstStyle/>
          <a:p>
            <a:pPr eaLnBrk="1" hangingPunct="1"/>
            <a:endParaRPr lang="en-MX" altLang="en-MX">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155354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7">
            <a:extLst>
              <a:ext uri="{FF2B5EF4-FFF2-40B4-BE49-F238E27FC236}">
                <a16:creationId xmlns:a16="http://schemas.microsoft.com/office/drawing/2014/main" id="{04D3A89F-9075-B94D-AF4A-6835B0B0343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DC606F51-9C6B-C145-90A8-793DD240437C}" type="slidenum">
              <a:rPr lang="en-US" altLang="en-MX" sz="1200"/>
              <a:pPr eaLnBrk="1" hangingPunct="1"/>
              <a:t>66</a:t>
            </a:fld>
            <a:endParaRPr lang="en-US" altLang="en-MX" sz="1200"/>
          </a:p>
        </p:txBody>
      </p:sp>
      <p:sp>
        <p:nvSpPr>
          <p:cNvPr id="72706" name="Rectangle 2">
            <a:extLst>
              <a:ext uri="{FF2B5EF4-FFF2-40B4-BE49-F238E27FC236}">
                <a16:creationId xmlns:a16="http://schemas.microsoft.com/office/drawing/2014/main" id="{23AF2088-4684-6143-96F8-616909890641}"/>
              </a:ext>
            </a:extLst>
          </p:cNvPr>
          <p:cNvSpPr>
            <a:spLocks noGrp="1" noRot="1" noChangeAspect="1" noChangeArrowheads="1" noTextEdit="1"/>
          </p:cNvSpPr>
          <p:nvPr>
            <p:ph type="sldImg"/>
          </p:nvPr>
        </p:nvSpPr>
        <p:spPr>
          <a:xfrm>
            <a:off x="401638" y="696913"/>
            <a:ext cx="6056312" cy="3408362"/>
          </a:xfrm>
          <a:ln w="12700"/>
        </p:spPr>
      </p:sp>
      <p:sp>
        <p:nvSpPr>
          <p:cNvPr id="72707" name="Rectangle 3">
            <a:extLst>
              <a:ext uri="{FF2B5EF4-FFF2-40B4-BE49-F238E27FC236}">
                <a16:creationId xmlns:a16="http://schemas.microsoft.com/office/drawing/2014/main" id="{C9B3EEF7-63FF-614F-94FE-3213355FB077}"/>
              </a:ext>
            </a:extLst>
          </p:cNvPr>
          <p:cNvSpPr>
            <a:spLocks noGrp="1" noChangeArrowheads="1"/>
          </p:cNvSpPr>
          <p:nvPr>
            <p:ph type="body" idx="1"/>
          </p:nvPr>
        </p:nvSpPr>
        <p:spPr>
          <a:xfrm>
            <a:off x="914400" y="4375150"/>
            <a:ext cx="5029200" cy="40751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72" tIns="48437" rIns="96872" bIns="48437"/>
          <a:lstStyle/>
          <a:p>
            <a:pPr eaLnBrk="1" hangingPunct="1"/>
            <a:endParaRPr lang="en-MX" altLang="en-MX">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52175748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7">
            <a:extLst>
              <a:ext uri="{FF2B5EF4-FFF2-40B4-BE49-F238E27FC236}">
                <a16:creationId xmlns:a16="http://schemas.microsoft.com/office/drawing/2014/main" id="{C9A40196-0B3A-084F-8AB0-3EDA99F53F5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67E845C3-34AA-3647-908D-4D0E5C154348}" type="slidenum">
              <a:rPr lang="en-US" altLang="en-MX" sz="1200"/>
              <a:pPr eaLnBrk="1" hangingPunct="1"/>
              <a:t>67</a:t>
            </a:fld>
            <a:endParaRPr lang="en-US" altLang="en-MX" sz="1200"/>
          </a:p>
        </p:txBody>
      </p:sp>
      <p:sp>
        <p:nvSpPr>
          <p:cNvPr id="74754" name="Rectangle 2">
            <a:extLst>
              <a:ext uri="{FF2B5EF4-FFF2-40B4-BE49-F238E27FC236}">
                <a16:creationId xmlns:a16="http://schemas.microsoft.com/office/drawing/2014/main" id="{ED15C8B3-12D2-F441-A5A0-7C5CFDDEA1F2}"/>
              </a:ext>
            </a:extLst>
          </p:cNvPr>
          <p:cNvSpPr>
            <a:spLocks noGrp="1" noRot="1" noChangeAspect="1" noChangeArrowheads="1" noTextEdit="1"/>
          </p:cNvSpPr>
          <p:nvPr>
            <p:ph type="sldImg"/>
          </p:nvPr>
        </p:nvSpPr>
        <p:spPr>
          <a:xfrm>
            <a:off x="381000" y="687388"/>
            <a:ext cx="6096000" cy="3429000"/>
          </a:xfrm>
          <a:ln/>
        </p:spPr>
      </p:sp>
      <p:sp>
        <p:nvSpPr>
          <p:cNvPr id="74755" name="Rectangle 3">
            <a:extLst>
              <a:ext uri="{FF2B5EF4-FFF2-40B4-BE49-F238E27FC236}">
                <a16:creationId xmlns:a16="http://schemas.microsoft.com/office/drawing/2014/main" id="{51E84872-5737-524E-867B-37BF677DE69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204" tIns="48102" rIns="96204" bIns="48102"/>
          <a:lstStyle/>
          <a:p>
            <a:pPr eaLnBrk="1" hangingPunct="1"/>
            <a:endParaRPr lang="en-MX" altLang="en-MX">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06478625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7">
            <a:extLst>
              <a:ext uri="{FF2B5EF4-FFF2-40B4-BE49-F238E27FC236}">
                <a16:creationId xmlns:a16="http://schemas.microsoft.com/office/drawing/2014/main" id="{3D6D4BCF-E546-8A4B-961E-BB7C477F6B4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90507118-3B26-534D-8164-7CC930828988}" type="slidenum">
              <a:rPr lang="en-US" altLang="en-MX" sz="1200"/>
              <a:pPr eaLnBrk="1" hangingPunct="1"/>
              <a:t>68</a:t>
            </a:fld>
            <a:endParaRPr lang="en-US" altLang="en-MX" sz="1200"/>
          </a:p>
        </p:txBody>
      </p:sp>
      <p:sp>
        <p:nvSpPr>
          <p:cNvPr id="76802" name="Rectangle 2">
            <a:extLst>
              <a:ext uri="{FF2B5EF4-FFF2-40B4-BE49-F238E27FC236}">
                <a16:creationId xmlns:a16="http://schemas.microsoft.com/office/drawing/2014/main" id="{2A044EDB-9FD5-104D-BCDD-31953F6897B0}"/>
              </a:ext>
            </a:extLst>
          </p:cNvPr>
          <p:cNvSpPr>
            <a:spLocks noGrp="1" noRot="1" noChangeAspect="1" noChangeArrowheads="1" noTextEdit="1"/>
          </p:cNvSpPr>
          <p:nvPr>
            <p:ph type="sldImg"/>
          </p:nvPr>
        </p:nvSpPr>
        <p:spPr>
          <a:xfrm>
            <a:off x="381000" y="687388"/>
            <a:ext cx="6096000" cy="3429000"/>
          </a:xfrm>
          <a:ln/>
        </p:spPr>
      </p:sp>
      <p:sp>
        <p:nvSpPr>
          <p:cNvPr id="76803" name="Rectangle 3">
            <a:extLst>
              <a:ext uri="{FF2B5EF4-FFF2-40B4-BE49-F238E27FC236}">
                <a16:creationId xmlns:a16="http://schemas.microsoft.com/office/drawing/2014/main" id="{BC36A7B9-1FF0-D24D-95DB-E99291B95E7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204" tIns="48102" rIns="96204" bIns="48102"/>
          <a:lstStyle/>
          <a:p>
            <a:pPr eaLnBrk="1" hangingPunct="1"/>
            <a:endParaRPr lang="en-MX" altLang="en-MX">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405141067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7">
            <a:extLst>
              <a:ext uri="{FF2B5EF4-FFF2-40B4-BE49-F238E27FC236}">
                <a16:creationId xmlns:a16="http://schemas.microsoft.com/office/drawing/2014/main" id="{C93DAF76-3397-3447-8BEC-15F8AFC3899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D8005FF-B7F7-5440-9831-4AF908363D65}" type="slidenum">
              <a:rPr lang="en-US" altLang="en-MX" sz="1200"/>
              <a:pPr eaLnBrk="1" hangingPunct="1"/>
              <a:t>69</a:t>
            </a:fld>
            <a:endParaRPr lang="en-US" altLang="en-MX" sz="1200"/>
          </a:p>
        </p:txBody>
      </p:sp>
      <p:sp>
        <p:nvSpPr>
          <p:cNvPr id="78850" name="Rectangle 2">
            <a:extLst>
              <a:ext uri="{FF2B5EF4-FFF2-40B4-BE49-F238E27FC236}">
                <a16:creationId xmlns:a16="http://schemas.microsoft.com/office/drawing/2014/main" id="{C253BE93-1440-BD49-A949-2E2A9D612DDF}"/>
              </a:ext>
            </a:extLst>
          </p:cNvPr>
          <p:cNvSpPr>
            <a:spLocks noGrp="1" noRot="1" noChangeAspect="1" noChangeArrowheads="1" noTextEdit="1"/>
          </p:cNvSpPr>
          <p:nvPr>
            <p:ph type="sldImg"/>
          </p:nvPr>
        </p:nvSpPr>
        <p:spPr>
          <a:xfrm>
            <a:off x="381000" y="687388"/>
            <a:ext cx="6096000" cy="3429000"/>
          </a:xfrm>
          <a:ln/>
        </p:spPr>
      </p:sp>
      <p:sp>
        <p:nvSpPr>
          <p:cNvPr id="78851" name="Rectangle 3">
            <a:extLst>
              <a:ext uri="{FF2B5EF4-FFF2-40B4-BE49-F238E27FC236}">
                <a16:creationId xmlns:a16="http://schemas.microsoft.com/office/drawing/2014/main" id="{1D5F01BD-3DE1-A842-A055-8F29B8FE058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204" tIns="48102" rIns="96204" bIns="48102"/>
          <a:lstStyle/>
          <a:p>
            <a:pPr eaLnBrk="1" hangingPunct="1"/>
            <a:endParaRPr lang="en-MX" altLang="en-MX">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93114575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7">
            <a:extLst>
              <a:ext uri="{FF2B5EF4-FFF2-40B4-BE49-F238E27FC236}">
                <a16:creationId xmlns:a16="http://schemas.microsoft.com/office/drawing/2014/main" id="{5AE8657A-C23D-2741-93F3-9472B8BA54B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45764C8E-7768-7B41-91DB-C0BB1BCE5590}" type="slidenum">
              <a:rPr lang="en-US" altLang="en-MX" sz="1200"/>
              <a:pPr eaLnBrk="1" hangingPunct="1"/>
              <a:t>70</a:t>
            </a:fld>
            <a:endParaRPr lang="en-US" altLang="en-MX" sz="1200"/>
          </a:p>
        </p:txBody>
      </p:sp>
      <p:sp>
        <p:nvSpPr>
          <p:cNvPr id="80898" name="Rectangle 2">
            <a:extLst>
              <a:ext uri="{FF2B5EF4-FFF2-40B4-BE49-F238E27FC236}">
                <a16:creationId xmlns:a16="http://schemas.microsoft.com/office/drawing/2014/main" id="{F8EA32B0-7DDC-7A42-A46E-28ADC95D302F}"/>
              </a:ext>
            </a:extLst>
          </p:cNvPr>
          <p:cNvSpPr>
            <a:spLocks noGrp="1" noRot="1" noChangeAspect="1" noChangeArrowheads="1" noTextEdit="1"/>
          </p:cNvSpPr>
          <p:nvPr>
            <p:ph type="sldImg"/>
          </p:nvPr>
        </p:nvSpPr>
        <p:spPr>
          <a:xfrm>
            <a:off x="381000" y="687388"/>
            <a:ext cx="6096000" cy="3429000"/>
          </a:xfrm>
          <a:ln/>
        </p:spPr>
      </p:sp>
      <p:sp>
        <p:nvSpPr>
          <p:cNvPr id="80899" name="Rectangle 3">
            <a:extLst>
              <a:ext uri="{FF2B5EF4-FFF2-40B4-BE49-F238E27FC236}">
                <a16:creationId xmlns:a16="http://schemas.microsoft.com/office/drawing/2014/main" id="{0BDF5C16-EC8E-5B4B-A3CC-40428FF6B79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204" tIns="48102" rIns="96204" bIns="48102"/>
          <a:lstStyle/>
          <a:p>
            <a:pPr eaLnBrk="1" hangingPunct="1"/>
            <a:endParaRPr lang="en-MX" altLang="en-MX">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601792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7">
            <a:extLst>
              <a:ext uri="{FF2B5EF4-FFF2-40B4-BE49-F238E27FC236}">
                <a16:creationId xmlns:a16="http://schemas.microsoft.com/office/drawing/2014/main" id="{8B92B800-9134-5A46-BE39-F796BFB976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A84B4A09-C6BD-074A-9CB5-724CFABDF579}" type="slidenum">
              <a:rPr lang="en-US" altLang="en-MX" sz="1200"/>
              <a:pPr eaLnBrk="1" hangingPunct="1"/>
              <a:t>71</a:t>
            </a:fld>
            <a:endParaRPr lang="en-US" altLang="en-MX" sz="1200"/>
          </a:p>
        </p:txBody>
      </p:sp>
      <p:sp>
        <p:nvSpPr>
          <p:cNvPr id="82946" name="Rectangle 2">
            <a:extLst>
              <a:ext uri="{FF2B5EF4-FFF2-40B4-BE49-F238E27FC236}">
                <a16:creationId xmlns:a16="http://schemas.microsoft.com/office/drawing/2014/main" id="{7E74C130-8838-2248-BFCE-88ED945E1D83}"/>
              </a:ext>
            </a:extLst>
          </p:cNvPr>
          <p:cNvSpPr>
            <a:spLocks noGrp="1" noRot="1" noChangeAspect="1" noChangeArrowheads="1" noTextEdit="1"/>
          </p:cNvSpPr>
          <p:nvPr>
            <p:ph type="sldImg"/>
          </p:nvPr>
        </p:nvSpPr>
        <p:spPr>
          <a:xfrm>
            <a:off x="358775" y="711200"/>
            <a:ext cx="6140450" cy="3454400"/>
          </a:xfrm>
          <a:ln/>
        </p:spPr>
      </p:sp>
      <p:sp>
        <p:nvSpPr>
          <p:cNvPr id="82947" name="Rectangle 3">
            <a:extLst>
              <a:ext uri="{FF2B5EF4-FFF2-40B4-BE49-F238E27FC236}">
                <a16:creationId xmlns:a16="http://schemas.microsoft.com/office/drawing/2014/main" id="{D42DB52E-FE21-AF4B-9883-2A90255CBE5E}"/>
              </a:ext>
            </a:extLst>
          </p:cNvPr>
          <p:cNvSpPr>
            <a:spLocks noGrp="1" noChangeArrowheads="1"/>
          </p:cNvSpPr>
          <p:nvPr>
            <p:ph type="body" idx="1"/>
          </p:nvPr>
        </p:nvSpPr>
        <p:spPr>
          <a:xfrm>
            <a:off x="906463" y="4370388"/>
            <a:ext cx="5045075" cy="40640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204" tIns="48102" rIns="96204" bIns="48102"/>
          <a:lstStyle/>
          <a:p>
            <a:pPr eaLnBrk="1" hangingPunct="1"/>
            <a:endParaRPr lang="en-MX" altLang="en-MX">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79809042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7">
            <a:extLst>
              <a:ext uri="{FF2B5EF4-FFF2-40B4-BE49-F238E27FC236}">
                <a16:creationId xmlns:a16="http://schemas.microsoft.com/office/drawing/2014/main" id="{8F2F34AF-7D94-E049-8FC2-5E0B73217F4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89A0ADC3-89E0-1442-B670-20DF8912C655}" type="slidenum">
              <a:rPr lang="en-US" altLang="en-MX" sz="1200"/>
              <a:pPr eaLnBrk="1" hangingPunct="1"/>
              <a:t>72</a:t>
            </a:fld>
            <a:endParaRPr lang="en-US" altLang="en-MX" sz="1200"/>
          </a:p>
        </p:txBody>
      </p:sp>
      <p:sp>
        <p:nvSpPr>
          <p:cNvPr id="84994" name="Rectangle 2">
            <a:extLst>
              <a:ext uri="{FF2B5EF4-FFF2-40B4-BE49-F238E27FC236}">
                <a16:creationId xmlns:a16="http://schemas.microsoft.com/office/drawing/2014/main" id="{7C4BAAF3-E6D7-1749-AE28-4136F4D85D60}"/>
              </a:ext>
            </a:extLst>
          </p:cNvPr>
          <p:cNvSpPr>
            <a:spLocks noGrp="1" noRot="1" noChangeAspect="1" noChangeArrowheads="1" noTextEdit="1"/>
          </p:cNvSpPr>
          <p:nvPr>
            <p:ph type="sldImg"/>
          </p:nvPr>
        </p:nvSpPr>
        <p:spPr>
          <a:xfrm>
            <a:off x="381000" y="687388"/>
            <a:ext cx="6096000" cy="3429000"/>
          </a:xfrm>
          <a:ln/>
        </p:spPr>
      </p:sp>
      <p:sp>
        <p:nvSpPr>
          <p:cNvPr id="84995" name="Rectangle 3">
            <a:extLst>
              <a:ext uri="{FF2B5EF4-FFF2-40B4-BE49-F238E27FC236}">
                <a16:creationId xmlns:a16="http://schemas.microsoft.com/office/drawing/2014/main" id="{EBF0DFEE-3791-6941-91D5-F9CF03765EB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204" tIns="48102" rIns="96204" bIns="48102"/>
          <a:lstStyle/>
          <a:p>
            <a:pPr eaLnBrk="1" hangingPunct="1"/>
            <a:endParaRPr lang="en-MX" altLang="en-MX">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428535530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7">
            <a:extLst>
              <a:ext uri="{FF2B5EF4-FFF2-40B4-BE49-F238E27FC236}">
                <a16:creationId xmlns:a16="http://schemas.microsoft.com/office/drawing/2014/main" id="{4D845F64-DF62-1446-BD56-00245C1E8B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B1574845-9C27-2F42-B075-8E58A4849874}" type="slidenum">
              <a:rPr lang="en-US" altLang="en-MX" sz="1200"/>
              <a:pPr eaLnBrk="1" hangingPunct="1"/>
              <a:t>73</a:t>
            </a:fld>
            <a:endParaRPr lang="en-US" altLang="en-MX" sz="1200"/>
          </a:p>
        </p:txBody>
      </p:sp>
      <p:sp>
        <p:nvSpPr>
          <p:cNvPr id="87042" name="Rectangle 2">
            <a:extLst>
              <a:ext uri="{FF2B5EF4-FFF2-40B4-BE49-F238E27FC236}">
                <a16:creationId xmlns:a16="http://schemas.microsoft.com/office/drawing/2014/main" id="{06AC20FA-6D2C-B14F-A3AF-DE8F33D07885}"/>
              </a:ext>
            </a:extLst>
          </p:cNvPr>
          <p:cNvSpPr>
            <a:spLocks noGrp="1" noRot="1" noChangeAspect="1" noChangeArrowheads="1" noTextEdit="1"/>
          </p:cNvSpPr>
          <p:nvPr>
            <p:ph type="sldImg"/>
          </p:nvPr>
        </p:nvSpPr>
        <p:spPr>
          <a:xfrm>
            <a:off x="358775" y="711200"/>
            <a:ext cx="6140450" cy="3454400"/>
          </a:xfrm>
          <a:ln/>
        </p:spPr>
      </p:sp>
      <p:sp>
        <p:nvSpPr>
          <p:cNvPr id="87043" name="Rectangle 3">
            <a:extLst>
              <a:ext uri="{FF2B5EF4-FFF2-40B4-BE49-F238E27FC236}">
                <a16:creationId xmlns:a16="http://schemas.microsoft.com/office/drawing/2014/main" id="{29788015-A7F7-7341-88FB-926FAF2B9106}"/>
              </a:ext>
            </a:extLst>
          </p:cNvPr>
          <p:cNvSpPr>
            <a:spLocks noGrp="1" noChangeArrowheads="1"/>
          </p:cNvSpPr>
          <p:nvPr>
            <p:ph type="body" idx="1"/>
          </p:nvPr>
        </p:nvSpPr>
        <p:spPr>
          <a:xfrm>
            <a:off x="906463" y="4370388"/>
            <a:ext cx="5045075" cy="40640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204" tIns="48102" rIns="96204" bIns="48102"/>
          <a:lstStyle/>
          <a:p>
            <a:pPr eaLnBrk="1" hangingPunct="1"/>
            <a:endParaRPr lang="en-MX" altLang="en-MX">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2789171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7">
            <a:extLst>
              <a:ext uri="{FF2B5EF4-FFF2-40B4-BE49-F238E27FC236}">
                <a16:creationId xmlns:a16="http://schemas.microsoft.com/office/drawing/2014/main" id="{AE112A60-8B17-BA42-811B-10048D713F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E2C35CF-B124-C842-8C5A-C2982244218C}" type="slidenum">
              <a:rPr lang="en-US" altLang="en-MX" sz="1200"/>
              <a:pPr eaLnBrk="1" hangingPunct="1"/>
              <a:t>74</a:t>
            </a:fld>
            <a:endParaRPr lang="en-US" altLang="en-MX" sz="1200"/>
          </a:p>
        </p:txBody>
      </p:sp>
      <p:sp>
        <p:nvSpPr>
          <p:cNvPr id="89090" name="Rectangle 2">
            <a:extLst>
              <a:ext uri="{FF2B5EF4-FFF2-40B4-BE49-F238E27FC236}">
                <a16:creationId xmlns:a16="http://schemas.microsoft.com/office/drawing/2014/main" id="{6BDCC5F5-C30A-9646-AF70-642110CC911F}"/>
              </a:ext>
            </a:extLst>
          </p:cNvPr>
          <p:cNvSpPr>
            <a:spLocks noGrp="1" noRot="1" noChangeAspect="1" noChangeArrowheads="1" noTextEdit="1"/>
          </p:cNvSpPr>
          <p:nvPr>
            <p:ph type="sldImg"/>
          </p:nvPr>
        </p:nvSpPr>
        <p:spPr>
          <a:xfrm>
            <a:off x="381000" y="687388"/>
            <a:ext cx="6096000" cy="3429000"/>
          </a:xfrm>
          <a:ln/>
        </p:spPr>
      </p:sp>
      <p:sp>
        <p:nvSpPr>
          <p:cNvPr id="89091" name="Rectangle 3">
            <a:extLst>
              <a:ext uri="{FF2B5EF4-FFF2-40B4-BE49-F238E27FC236}">
                <a16:creationId xmlns:a16="http://schemas.microsoft.com/office/drawing/2014/main" id="{9154CFCD-731A-FE41-BADA-D9CE210B862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204" tIns="48102" rIns="96204" bIns="48102"/>
          <a:lstStyle/>
          <a:p>
            <a:pPr eaLnBrk="1" hangingPunct="1"/>
            <a:endParaRPr lang="en-MX" altLang="en-MX">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49218711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7">
            <a:extLst>
              <a:ext uri="{FF2B5EF4-FFF2-40B4-BE49-F238E27FC236}">
                <a16:creationId xmlns:a16="http://schemas.microsoft.com/office/drawing/2014/main" id="{1FD142D7-80CC-504F-8C5F-A8ED55C450F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E617681A-4551-064D-93B8-9653A080793C}" type="slidenum">
              <a:rPr lang="en-US" altLang="en-MX" sz="1200"/>
              <a:pPr eaLnBrk="1" hangingPunct="1"/>
              <a:t>75</a:t>
            </a:fld>
            <a:endParaRPr lang="en-US" altLang="en-MX" sz="1200"/>
          </a:p>
        </p:txBody>
      </p:sp>
      <p:sp>
        <p:nvSpPr>
          <p:cNvPr id="91138" name="Rectangle 2">
            <a:extLst>
              <a:ext uri="{FF2B5EF4-FFF2-40B4-BE49-F238E27FC236}">
                <a16:creationId xmlns:a16="http://schemas.microsoft.com/office/drawing/2014/main" id="{2BF7B262-27D6-EF41-A086-0CFBFE38507F}"/>
              </a:ext>
            </a:extLst>
          </p:cNvPr>
          <p:cNvSpPr>
            <a:spLocks noGrp="1" noRot="1" noChangeAspect="1" noChangeArrowheads="1" noTextEdit="1"/>
          </p:cNvSpPr>
          <p:nvPr>
            <p:ph type="sldImg"/>
          </p:nvPr>
        </p:nvSpPr>
        <p:spPr>
          <a:xfrm>
            <a:off x="358775" y="711200"/>
            <a:ext cx="6140450" cy="3454400"/>
          </a:xfrm>
          <a:ln/>
        </p:spPr>
      </p:sp>
      <p:sp>
        <p:nvSpPr>
          <p:cNvPr id="91139" name="Rectangle 3">
            <a:extLst>
              <a:ext uri="{FF2B5EF4-FFF2-40B4-BE49-F238E27FC236}">
                <a16:creationId xmlns:a16="http://schemas.microsoft.com/office/drawing/2014/main" id="{EBB22B27-EB82-1B44-8972-C9E2821E7B24}"/>
              </a:ext>
            </a:extLst>
          </p:cNvPr>
          <p:cNvSpPr>
            <a:spLocks noGrp="1" noChangeArrowheads="1"/>
          </p:cNvSpPr>
          <p:nvPr>
            <p:ph type="body" idx="1"/>
          </p:nvPr>
        </p:nvSpPr>
        <p:spPr>
          <a:xfrm>
            <a:off x="906463" y="4370388"/>
            <a:ext cx="5045075" cy="40640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204" tIns="48102" rIns="96204" bIns="48102"/>
          <a:lstStyle/>
          <a:p>
            <a:pPr eaLnBrk="1" hangingPunct="1"/>
            <a:endParaRPr lang="en-MX" altLang="en-MX">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40627644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7">
            <a:extLst>
              <a:ext uri="{FF2B5EF4-FFF2-40B4-BE49-F238E27FC236}">
                <a16:creationId xmlns:a16="http://schemas.microsoft.com/office/drawing/2014/main" id="{2DD7458F-837C-BE46-8171-496A516B891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7392F914-BD6C-5642-A63D-D9B37532E3D2}" type="slidenum">
              <a:rPr lang="en-US" altLang="en-MX" sz="1200"/>
              <a:pPr eaLnBrk="1" hangingPunct="1"/>
              <a:t>78</a:t>
            </a:fld>
            <a:endParaRPr lang="en-US" altLang="en-MX" sz="1200"/>
          </a:p>
        </p:txBody>
      </p:sp>
      <p:sp>
        <p:nvSpPr>
          <p:cNvPr id="95234" name="Rectangle 2">
            <a:extLst>
              <a:ext uri="{FF2B5EF4-FFF2-40B4-BE49-F238E27FC236}">
                <a16:creationId xmlns:a16="http://schemas.microsoft.com/office/drawing/2014/main" id="{947FE00D-E349-7442-9FDC-C7165A9EB099}"/>
              </a:ext>
            </a:extLst>
          </p:cNvPr>
          <p:cNvSpPr>
            <a:spLocks noGrp="1" noRot="1" noChangeAspect="1" noChangeArrowheads="1" noTextEdit="1"/>
          </p:cNvSpPr>
          <p:nvPr>
            <p:ph type="sldImg"/>
          </p:nvPr>
        </p:nvSpPr>
        <p:spPr>
          <a:xfrm>
            <a:off x="381000" y="687388"/>
            <a:ext cx="6096000" cy="3429000"/>
          </a:xfrm>
          <a:ln/>
        </p:spPr>
      </p:sp>
      <p:sp>
        <p:nvSpPr>
          <p:cNvPr id="95235" name="Rectangle 3">
            <a:extLst>
              <a:ext uri="{FF2B5EF4-FFF2-40B4-BE49-F238E27FC236}">
                <a16:creationId xmlns:a16="http://schemas.microsoft.com/office/drawing/2014/main" id="{123C97D4-96E5-9A42-9980-11D22B6C0A9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204" tIns="48102" rIns="96204" bIns="48102"/>
          <a:lstStyle/>
          <a:p>
            <a:pPr eaLnBrk="1" hangingPunct="1"/>
            <a:endParaRPr lang="en-MX" altLang="en-MX">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98989812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7">
            <a:extLst>
              <a:ext uri="{FF2B5EF4-FFF2-40B4-BE49-F238E27FC236}">
                <a16:creationId xmlns:a16="http://schemas.microsoft.com/office/drawing/2014/main" id="{EEFBEFA9-11FC-3B49-A562-F44CDF4437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A2BC8ACE-4E95-AC41-8FF3-76CC83C587CC}" type="slidenum">
              <a:rPr lang="en-US" altLang="en-MX" sz="1200"/>
              <a:pPr eaLnBrk="1" hangingPunct="1"/>
              <a:t>79</a:t>
            </a:fld>
            <a:endParaRPr lang="en-US" altLang="en-MX" sz="1200"/>
          </a:p>
        </p:txBody>
      </p:sp>
      <p:sp>
        <p:nvSpPr>
          <p:cNvPr id="97282" name="Rectangle 2">
            <a:extLst>
              <a:ext uri="{FF2B5EF4-FFF2-40B4-BE49-F238E27FC236}">
                <a16:creationId xmlns:a16="http://schemas.microsoft.com/office/drawing/2014/main" id="{79CD5C3A-C8F0-864B-8EA0-7D8C46E222F8}"/>
              </a:ext>
            </a:extLst>
          </p:cNvPr>
          <p:cNvSpPr>
            <a:spLocks noGrp="1" noRot="1" noChangeAspect="1" noChangeArrowheads="1" noTextEdit="1"/>
          </p:cNvSpPr>
          <p:nvPr>
            <p:ph type="sldImg"/>
          </p:nvPr>
        </p:nvSpPr>
        <p:spPr>
          <a:xfrm>
            <a:off x="381000" y="687388"/>
            <a:ext cx="6096000" cy="3429000"/>
          </a:xfrm>
          <a:ln/>
        </p:spPr>
      </p:sp>
      <p:sp>
        <p:nvSpPr>
          <p:cNvPr id="97283" name="Rectangle 3">
            <a:extLst>
              <a:ext uri="{FF2B5EF4-FFF2-40B4-BE49-F238E27FC236}">
                <a16:creationId xmlns:a16="http://schemas.microsoft.com/office/drawing/2014/main" id="{ACF293A4-49F0-C146-8B77-5B10D9E05AF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204" tIns="48102" rIns="96204" bIns="48102"/>
          <a:lstStyle/>
          <a:p>
            <a:pPr eaLnBrk="1" hangingPunct="1"/>
            <a:endParaRPr lang="en-MX" altLang="en-MX">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64161610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7">
            <a:extLst>
              <a:ext uri="{FF2B5EF4-FFF2-40B4-BE49-F238E27FC236}">
                <a16:creationId xmlns:a16="http://schemas.microsoft.com/office/drawing/2014/main" id="{6C7C6575-BED9-1243-B0B5-8A395F243F1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513B0D36-62A2-2946-A4DF-6E7F3F418FB6}" type="slidenum">
              <a:rPr lang="en-US" altLang="en-MX" sz="1200"/>
              <a:pPr eaLnBrk="1" hangingPunct="1"/>
              <a:t>80</a:t>
            </a:fld>
            <a:endParaRPr lang="en-US" altLang="en-MX" sz="1200"/>
          </a:p>
        </p:txBody>
      </p:sp>
      <p:sp>
        <p:nvSpPr>
          <p:cNvPr id="99330" name="Rectangle 2">
            <a:extLst>
              <a:ext uri="{FF2B5EF4-FFF2-40B4-BE49-F238E27FC236}">
                <a16:creationId xmlns:a16="http://schemas.microsoft.com/office/drawing/2014/main" id="{001BBC7B-EF34-E44B-82C6-DD1696A3F68F}"/>
              </a:ext>
            </a:extLst>
          </p:cNvPr>
          <p:cNvSpPr>
            <a:spLocks noGrp="1" noRot="1" noChangeAspect="1" noChangeArrowheads="1" noTextEdit="1"/>
          </p:cNvSpPr>
          <p:nvPr>
            <p:ph type="sldImg"/>
          </p:nvPr>
        </p:nvSpPr>
        <p:spPr>
          <a:xfrm>
            <a:off x="381000" y="687388"/>
            <a:ext cx="6096000" cy="3429000"/>
          </a:xfrm>
          <a:ln/>
        </p:spPr>
      </p:sp>
      <p:sp>
        <p:nvSpPr>
          <p:cNvPr id="99331" name="Rectangle 3">
            <a:extLst>
              <a:ext uri="{FF2B5EF4-FFF2-40B4-BE49-F238E27FC236}">
                <a16:creationId xmlns:a16="http://schemas.microsoft.com/office/drawing/2014/main" id="{BACE2232-CFC8-7341-9660-36DFF485029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204" tIns="48102" rIns="96204" bIns="48102"/>
          <a:lstStyle/>
          <a:p>
            <a:pPr eaLnBrk="1" hangingPunct="1"/>
            <a:endParaRPr lang="en-MX" altLang="en-MX">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09411510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Slide Image Placeholder 1">
            <a:extLst>
              <a:ext uri="{FF2B5EF4-FFF2-40B4-BE49-F238E27FC236}">
                <a16:creationId xmlns:a16="http://schemas.microsoft.com/office/drawing/2014/main" id="{1A9B6808-DF58-6247-99DB-96F0AD757FDC}"/>
              </a:ext>
            </a:extLst>
          </p:cNvPr>
          <p:cNvSpPr>
            <a:spLocks noGrp="1" noRot="1" noChangeAspect="1" noTextEdit="1"/>
          </p:cNvSpPr>
          <p:nvPr>
            <p:ph type="sldImg"/>
          </p:nvPr>
        </p:nvSpPr>
        <p:spPr>
          <a:ln/>
        </p:spPr>
      </p:sp>
      <p:sp>
        <p:nvSpPr>
          <p:cNvPr id="101378" name="Notes Placeholder 2">
            <a:extLst>
              <a:ext uri="{FF2B5EF4-FFF2-40B4-BE49-F238E27FC236}">
                <a16:creationId xmlns:a16="http://schemas.microsoft.com/office/drawing/2014/main" id="{3CFE08D1-C5CD-4949-A87E-C3AC2A68AF4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MX" altLang="en-MX">
              <a:latin typeface="Arial" panose="020B0604020202020204" pitchFamily="34" charset="0"/>
              <a:ea typeface="ＭＳ Ｐゴシック" panose="020B0600070205080204" pitchFamily="34" charset="-128"/>
            </a:endParaRPr>
          </a:p>
        </p:txBody>
      </p:sp>
      <p:sp>
        <p:nvSpPr>
          <p:cNvPr id="101379" name="Slide Number Placeholder 3">
            <a:extLst>
              <a:ext uri="{FF2B5EF4-FFF2-40B4-BE49-F238E27FC236}">
                <a16:creationId xmlns:a16="http://schemas.microsoft.com/office/drawing/2014/main" id="{9705B0D6-C7BD-0D46-9F40-1596E9BDD32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2ACC0674-7998-9247-895D-C75735093AF3}" type="slidenum">
              <a:rPr lang="en-US" altLang="en-MX" sz="1200"/>
              <a:pPr eaLnBrk="1" hangingPunct="1"/>
              <a:t>81</a:t>
            </a:fld>
            <a:endParaRPr lang="en-US" altLang="en-MX" sz="1200"/>
          </a:p>
        </p:txBody>
      </p:sp>
    </p:spTree>
    <p:extLst>
      <p:ext uri="{BB962C8B-B14F-4D97-AF65-F5344CB8AC3E}">
        <p14:creationId xmlns:p14="http://schemas.microsoft.com/office/powerpoint/2010/main" val="373188564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Slide Image Placeholder 1">
            <a:extLst>
              <a:ext uri="{FF2B5EF4-FFF2-40B4-BE49-F238E27FC236}">
                <a16:creationId xmlns:a16="http://schemas.microsoft.com/office/drawing/2014/main" id="{9E73E934-7156-FB41-8D48-F15FB6980511}"/>
              </a:ext>
            </a:extLst>
          </p:cNvPr>
          <p:cNvSpPr>
            <a:spLocks noGrp="1" noRot="1" noChangeAspect="1" noTextEdit="1"/>
          </p:cNvSpPr>
          <p:nvPr>
            <p:ph type="sldImg"/>
          </p:nvPr>
        </p:nvSpPr>
        <p:spPr>
          <a:ln/>
        </p:spPr>
      </p:sp>
      <p:sp>
        <p:nvSpPr>
          <p:cNvPr id="103426" name="Notes Placeholder 2">
            <a:extLst>
              <a:ext uri="{FF2B5EF4-FFF2-40B4-BE49-F238E27FC236}">
                <a16:creationId xmlns:a16="http://schemas.microsoft.com/office/drawing/2014/main" id="{B05333C0-0B7C-5B4B-83DB-57AE36BD33D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MX" altLang="en-MX">
              <a:latin typeface="Arial" panose="020B0604020202020204" pitchFamily="34" charset="0"/>
              <a:ea typeface="ＭＳ Ｐゴシック" panose="020B0600070205080204" pitchFamily="34" charset="-128"/>
            </a:endParaRPr>
          </a:p>
        </p:txBody>
      </p:sp>
      <p:sp>
        <p:nvSpPr>
          <p:cNvPr id="103427" name="Slide Number Placeholder 3">
            <a:extLst>
              <a:ext uri="{FF2B5EF4-FFF2-40B4-BE49-F238E27FC236}">
                <a16:creationId xmlns:a16="http://schemas.microsoft.com/office/drawing/2014/main" id="{15107E11-F19E-7D42-B58E-CBC06F76289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AA84DC04-B8B3-B04A-8F0C-03EA5D8603A3}" type="slidenum">
              <a:rPr lang="en-US" altLang="en-MX" sz="1200"/>
              <a:pPr eaLnBrk="1" hangingPunct="1"/>
              <a:t>82</a:t>
            </a:fld>
            <a:endParaRPr lang="en-US" altLang="en-MX" sz="1200"/>
          </a:p>
        </p:txBody>
      </p:sp>
    </p:spTree>
    <p:extLst>
      <p:ext uri="{BB962C8B-B14F-4D97-AF65-F5344CB8AC3E}">
        <p14:creationId xmlns:p14="http://schemas.microsoft.com/office/powerpoint/2010/main" val="238221732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7">
            <a:extLst>
              <a:ext uri="{FF2B5EF4-FFF2-40B4-BE49-F238E27FC236}">
                <a16:creationId xmlns:a16="http://schemas.microsoft.com/office/drawing/2014/main" id="{978F203D-027F-3E45-8C3C-BC97255D752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00131AB8-ADF5-6046-A571-80B6C991473B}" type="slidenum">
              <a:rPr lang="en-US" altLang="en-MX" sz="1200"/>
              <a:pPr eaLnBrk="1" hangingPunct="1"/>
              <a:t>83</a:t>
            </a:fld>
            <a:endParaRPr lang="en-US" altLang="en-MX" sz="1200"/>
          </a:p>
        </p:txBody>
      </p:sp>
      <p:sp>
        <p:nvSpPr>
          <p:cNvPr id="105474" name="Rectangle 2">
            <a:extLst>
              <a:ext uri="{FF2B5EF4-FFF2-40B4-BE49-F238E27FC236}">
                <a16:creationId xmlns:a16="http://schemas.microsoft.com/office/drawing/2014/main" id="{21F91531-AAEC-4C43-B61E-9CEA94B8D83A}"/>
              </a:ext>
            </a:extLst>
          </p:cNvPr>
          <p:cNvSpPr>
            <a:spLocks noGrp="1" noRot="1" noChangeAspect="1" noChangeArrowheads="1" noTextEdit="1"/>
          </p:cNvSpPr>
          <p:nvPr>
            <p:ph type="sldImg"/>
          </p:nvPr>
        </p:nvSpPr>
        <p:spPr>
          <a:xfrm>
            <a:off x="381000" y="687388"/>
            <a:ext cx="6096000" cy="3429000"/>
          </a:xfrm>
          <a:ln/>
        </p:spPr>
      </p:sp>
      <p:sp>
        <p:nvSpPr>
          <p:cNvPr id="105475" name="Rectangle 3">
            <a:extLst>
              <a:ext uri="{FF2B5EF4-FFF2-40B4-BE49-F238E27FC236}">
                <a16:creationId xmlns:a16="http://schemas.microsoft.com/office/drawing/2014/main" id="{0EEFDC25-BFE5-E848-A48D-D69398B3537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204" tIns="48102" rIns="96204" bIns="48102"/>
          <a:lstStyle/>
          <a:p>
            <a:pPr eaLnBrk="1" hangingPunct="1"/>
            <a:endParaRPr lang="en-MX" altLang="en-MX">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402473023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61BE9F3B-6CC7-D04C-8917-D92438372A0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fld id="{A9FB486D-69BE-DE45-A02A-EC281B9710BC}" type="slidenum">
              <a:rPr lang="en-US" altLang="en-MX" sz="1200" b="0"/>
              <a:pPr/>
              <a:t>87</a:t>
            </a:fld>
            <a:endParaRPr lang="en-US" altLang="en-MX" sz="1200" b="0"/>
          </a:p>
        </p:txBody>
      </p:sp>
      <p:sp>
        <p:nvSpPr>
          <p:cNvPr id="46083" name="Rectangle 2">
            <a:extLst>
              <a:ext uri="{FF2B5EF4-FFF2-40B4-BE49-F238E27FC236}">
                <a16:creationId xmlns:a16="http://schemas.microsoft.com/office/drawing/2014/main" id="{74BD383E-13AC-624A-A99E-C16533E3D83E}"/>
              </a:ext>
            </a:extLst>
          </p:cNvPr>
          <p:cNvSpPr>
            <a:spLocks noGrp="1" noRot="1" noChangeAspect="1" noChangeArrowheads="1" noTextEdit="1"/>
          </p:cNvSpPr>
          <p:nvPr>
            <p:ph type="sldImg"/>
          </p:nvPr>
        </p:nvSpPr>
        <p:spPr>
          <a:xfrm>
            <a:off x="382588" y="685800"/>
            <a:ext cx="6096000" cy="3429000"/>
          </a:xfrm>
          <a:ln/>
        </p:spPr>
      </p:sp>
      <p:sp>
        <p:nvSpPr>
          <p:cNvPr id="46084" name="Rectangle 3">
            <a:extLst>
              <a:ext uri="{FF2B5EF4-FFF2-40B4-BE49-F238E27FC236}">
                <a16:creationId xmlns:a16="http://schemas.microsoft.com/office/drawing/2014/main" id="{A9D1D6D3-AB33-3245-AE72-AF16CDDCD3C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999" tIns="45500" rIns="90999" bIns="45500"/>
          <a:lstStyle/>
          <a:p>
            <a:endParaRPr lang="en-MX" altLang="en-MX"/>
          </a:p>
        </p:txBody>
      </p:sp>
    </p:spTree>
    <p:extLst>
      <p:ext uri="{BB962C8B-B14F-4D97-AF65-F5344CB8AC3E}">
        <p14:creationId xmlns:p14="http://schemas.microsoft.com/office/powerpoint/2010/main" val="397681619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61BE9F3B-6CC7-D04C-8917-D92438372A0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fld id="{A9FB486D-69BE-DE45-A02A-EC281B9710BC}" type="slidenum">
              <a:rPr lang="en-US" altLang="en-MX" sz="1200" b="0"/>
              <a:pPr/>
              <a:t>88</a:t>
            </a:fld>
            <a:endParaRPr lang="en-US" altLang="en-MX" sz="1200" b="0"/>
          </a:p>
        </p:txBody>
      </p:sp>
      <p:sp>
        <p:nvSpPr>
          <p:cNvPr id="46083" name="Rectangle 2">
            <a:extLst>
              <a:ext uri="{FF2B5EF4-FFF2-40B4-BE49-F238E27FC236}">
                <a16:creationId xmlns:a16="http://schemas.microsoft.com/office/drawing/2014/main" id="{74BD383E-13AC-624A-A99E-C16533E3D83E}"/>
              </a:ext>
            </a:extLst>
          </p:cNvPr>
          <p:cNvSpPr>
            <a:spLocks noGrp="1" noRot="1" noChangeAspect="1" noChangeArrowheads="1" noTextEdit="1"/>
          </p:cNvSpPr>
          <p:nvPr>
            <p:ph type="sldImg"/>
          </p:nvPr>
        </p:nvSpPr>
        <p:spPr>
          <a:xfrm>
            <a:off x="382588" y="685800"/>
            <a:ext cx="6096000" cy="3429000"/>
          </a:xfrm>
          <a:ln/>
        </p:spPr>
      </p:sp>
      <p:sp>
        <p:nvSpPr>
          <p:cNvPr id="46084" name="Rectangle 3">
            <a:extLst>
              <a:ext uri="{FF2B5EF4-FFF2-40B4-BE49-F238E27FC236}">
                <a16:creationId xmlns:a16="http://schemas.microsoft.com/office/drawing/2014/main" id="{A9D1D6D3-AB33-3245-AE72-AF16CDDCD3C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999" tIns="45500" rIns="90999" bIns="45500"/>
          <a:lstStyle/>
          <a:p>
            <a:endParaRPr lang="en-MX" altLang="en-MX"/>
          </a:p>
        </p:txBody>
      </p:sp>
    </p:spTree>
    <p:extLst>
      <p:ext uri="{BB962C8B-B14F-4D97-AF65-F5344CB8AC3E}">
        <p14:creationId xmlns:p14="http://schemas.microsoft.com/office/powerpoint/2010/main" val="64517692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4E5937D1-05BF-EA4F-9AEB-87646645810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fld id="{0F36845C-3176-1840-B8C1-88268D2B5A46}" type="slidenum">
              <a:rPr lang="en-US" altLang="en-MX" sz="1200" b="0"/>
              <a:pPr/>
              <a:t>89</a:t>
            </a:fld>
            <a:endParaRPr lang="en-US" altLang="en-MX" sz="1200" b="0"/>
          </a:p>
        </p:txBody>
      </p:sp>
      <p:sp>
        <p:nvSpPr>
          <p:cNvPr id="47107" name="Rectangle 2">
            <a:extLst>
              <a:ext uri="{FF2B5EF4-FFF2-40B4-BE49-F238E27FC236}">
                <a16:creationId xmlns:a16="http://schemas.microsoft.com/office/drawing/2014/main" id="{DB49A7A5-A929-B54C-8DBC-1839A294B773}"/>
              </a:ext>
            </a:extLst>
          </p:cNvPr>
          <p:cNvSpPr>
            <a:spLocks noGrp="1" noRot="1" noChangeAspect="1" noChangeArrowheads="1" noTextEdit="1"/>
          </p:cNvSpPr>
          <p:nvPr>
            <p:ph type="sldImg"/>
          </p:nvPr>
        </p:nvSpPr>
        <p:spPr>
          <a:xfrm>
            <a:off x="385763" y="685800"/>
            <a:ext cx="6064250" cy="3411538"/>
          </a:xfrm>
          <a:ln w="12700" cap="flat">
            <a:solidFill>
              <a:schemeClr val="tx1"/>
            </a:solidFill>
          </a:ln>
        </p:spPr>
      </p:sp>
      <p:sp>
        <p:nvSpPr>
          <p:cNvPr id="47108" name="Rectangle 3">
            <a:extLst>
              <a:ext uri="{FF2B5EF4-FFF2-40B4-BE49-F238E27FC236}">
                <a16:creationId xmlns:a16="http://schemas.microsoft.com/office/drawing/2014/main" id="{61671729-EA79-5546-9381-5A78EC3587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31" tIns="45817" rIns="91631" bIns="45817"/>
          <a:lstStyle/>
          <a:p>
            <a:endParaRPr lang="en-MX" altLang="en-MX"/>
          </a:p>
        </p:txBody>
      </p:sp>
    </p:spTree>
    <p:extLst>
      <p:ext uri="{BB962C8B-B14F-4D97-AF65-F5344CB8AC3E}">
        <p14:creationId xmlns:p14="http://schemas.microsoft.com/office/powerpoint/2010/main" val="35372199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2E68ABD4-C537-7641-BA18-4879280980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fld id="{83D8A4E5-7523-EB49-BDCC-60690ED9380E}" type="slidenum">
              <a:rPr lang="en-US" altLang="en-MX" sz="1200" b="0"/>
              <a:pPr/>
              <a:t>90</a:t>
            </a:fld>
            <a:endParaRPr lang="en-US" altLang="en-MX" sz="1200" b="0"/>
          </a:p>
        </p:txBody>
      </p:sp>
      <p:sp>
        <p:nvSpPr>
          <p:cNvPr id="48131" name="Rectangle 2">
            <a:extLst>
              <a:ext uri="{FF2B5EF4-FFF2-40B4-BE49-F238E27FC236}">
                <a16:creationId xmlns:a16="http://schemas.microsoft.com/office/drawing/2014/main" id="{4E33EE02-758F-C444-9070-4AB8E4E67451}"/>
              </a:ext>
            </a:extLst>
          </p:cNvPr>
          <p:cNvSpPr>
            <a:spLocks noGrp="1" noRot="1" noChangeAspect="1" noChangeArrowheads="1" noTextEdit="1"/>
          </p:cNvSpPr>
          <p:nvPr>
            <p:ph type="sldImg"/>
          </p:nvPr>
        </p:nvSpPr>
        <p:spPr>
          <a:xfrm>
            <a:off x="385763" y="685800"/>
            <a:ext cx="6064250" cy="3411538"/>
          </a:xfrm>
          <a:ln w="12700" cap="flat">
            <a:solidFill>
              <a:schemeClr val="tx1"/>
            </a:solidFill>
          </a:ln>
        </p:spPr>
      </p:sp>
      <p:sp>
        <p:nvSpPr>
          <p:cNvPr id="48132" name="Rectangle 3">
            <a:extLst>
              <a:ext uri="{FF2B5EF4-FFF2-40B4-BE49-F238E27FC236}">
                <a16:creationId xmlns:a16="http://schemas.microsoft.com/office/drawing/2014/main" id="{D8B7C04F-1FB1-264A-879B-259BE95F85A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31" tIns="45817" rIns="91631" bIns="45817"/>
          <a:lstStyle/>
          <a:p>
            <a:endParaRPr lang="en-MX" altLang="en-MX"/>
          </a:p>
        </p:txBody>
      </p:sp>
    </p:spTree>
    <p:extLst>
      <p:ext uri="{BB962C8B-B14F-4D97-AF65-F5344CB8AC3E}">
        <p14:creationId xmlns:p14="http://schemas.microsoft.com/office/powerpoint/2010/main" val="378321480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407098E3-A873-2841-92B7-584C6DFD5D8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fld id="{52D08A78-6661-C840-BD9C-32FB956618E0}" type="slidenum">
              <a:rPr lang="en-US" altLang="en-MX" sz="1200" b="0"/>
              <a:pPr/>
              <a:t>91</a:t>
            </a:fld>
            <a:endParaRPr lang="en-US" altLang="en-MX" sz="1200" b="0"/>
          </a:p>
        </p:txBody>
      </p:sp>
      <p:sp>
        <p:nvSpPr>
          <p:cNvPr id="49155" name="Rectangle 2">
            <a:extLst>
              <a:ext uri="{FF2B5EF4-FFF2-40B4-BE49-F238E27FC236}">
                <a16:creationId xmlns:a16="http://schemas.microsoft.com/office/drawing/2014/main" id="{089C4613-DFF8-A743-8AF4-0E08D2F6746C}"/>
              </a:ext>
            </a:extLst>
          </p:cNvPr>
          <p:cNvSpPr>
            <a:spLocks noGrp="1" noRot="1" noChangeAspect="1" noChangeArrowheads="1" noTextEdit="1"/>
          </p:cNvSpPr>
          <p:nvPr>
            <p:ph type="sldImg"/>
          </p:nvPr>
        </p:nvSpPr>
        <p:spPr>
          <a:xfrm>
            <a:off x="360363" y="711200"/>
            <a:ext cx="6138862" cy="3454400"/>
          </a:xfrm>
          <a:ln/>
        </p:spPr>
      </p:sp>
      <p:sp>
        <p:nvSpPr>
          <p:cNvPr id="49156" name="Rectangle 3">
            <a:extLst>
              <a:ext uri="{FF2B5EF4-FFF2-40B4-BE49-F238E27FC236}">
                <a16:creationId xmlns:a16="http://schemas.microsoft.com/office/drawing/2014/main" id="{368AEB8F-D2A2-9247-94D7-A12C48590D13}"/>
              </a:ext>
            </a:extLst>
          </p:cNvPr>
          <p:cNvSpPr>
            <a:spLocks noGrp="1" noChangeArrowheads="1"/>
          </p:cNvSpPr>
          <p:nvPr>
            <p:ph type="body" idx="1"/>
          </p:nvPr>
        </p:nvSpPr>
        <p:spPr>
          <a:xfrm>
            <a:off x="908050" y="4368800"/>
            <a:ext cx="5041900" cy="40640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999" tIns="45500" rIns="90999" bIns="45500"/>
          <a:lstStyle/>
          <a:p>
            <a:endParaRPr lang="en-MX" altLang="en-MX"/>
          </a:p>
        </p:txBody>
      </p:sp>
    </p:spTree>
    <p:extLst>
      <p:ext uri="{BB962C8B-B14F-4D97-AF65-F5344CB8AC3E}">
        <p14:creationId xmlns:p14="http://schemas.microsoft.com/office/powerpoint/2010/main" val="374574771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407098E3-A873-2841-92B7-584C6DFD5D8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fld id="{52D08A78-6661-C840-BD9C-32FB956618E0}" type="slidenum">
              <a:rPr lang="en-US" altLang="en-MX" sz="1200" b="0"/>
              <a:pPr/>
              <a:t>92</a:t>
            </a:fld>
            <a:endParaRPr lang="en-US" altLang="en-MX" sz="1200" b="0"/>
          </a:p>
        </p:txBody>
      </p:sp>
      <p:sp>
        <p:nvSpPr>
          <p:cNvPr id="49155" name="Rectangle 2">
            <a:extLst>
              <a:ext uri="{FF2B5EF4-FFF2-40B4-BE49-F238E27FC236}">
                <a16:creationId xmlns:a16="http://schemas.microsoft.com/office/drawing/2014/main" id="{089C4613-DFF8-A743-8AF4-0E08D2F6746C}"/>
              </a:ext>
            </a:extLst>
          </p:cNvPr>
          <p:cNvSpPr>
            <a:spLocks noGrp="1" noRot="1" noChangeAspect="1" noChangeArrowheads="1" noTextEdit="1"/>
          </p:cNvSpPr>
          <p:nvPr>
            <p:ph type="sldImg"/>
          </p:nvPr>
        </p:nvSpPr>
        <p:spPr>
          <a:xfrm>
            <a:off x="360363" y="711200"/>
            <a:ext cx="6138862" cy="3454400"/>
          </a:xfrm>
          <a:ln/>
        </p:spPr>
      </p:sp>
      <p:sp>
        <p:nvSpPr>
          <p:cNvPr id="49156" name="Rectangle 3">
            <a:extLst>
              <a:ext uri="{FF2B5EF4-FFF2-40B4-BE49-F238E27FC236}">
                <a16:creationId xmlns:a16="http://schemas.microsoft.com/office/drawing/2014/main" id="{368AEB8F-D2A2-9247-94D7-A12C48590D13}"/>
              </a:ext>
            </a:extLst>
          </p:cNvPr>
          <p:cNvSpPr>
            <a:spLocks noGrp="1" noChangeArrowheads="1"/>
          </p:cNvSpPr>
          <p:nvPr>
            <p:ph type="body" idx="1"/>
          </p:nvPr>
        </p:nvSpPr>
        <p:spPr>
          <a:xfrm>
            <a:off x="908050" y="4368800"/>
            <a:ext cx="5041900" cy="40640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999" tIns="45500" rIns="90999" bIns="45500"/>
          <a:lstStyle/>
          <a:p>
            <a:endParaRPr lang="en-MX" altLang="en-MX"/>
          </a:p>
        </p:txBody>
      </p:sp>
    </p:spTree>
    <p:extLst>
      <p:ext uri="{BB962C8B-B14F-4D97-AF65-F5344CB8AC3E}">
        <p14:creationId xmlns:p14="http://schemas.microsoft.com/office/powerpoint/2010/main" val="375764362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63C9D1BC-C4DF-4F4E-8677-C59941B7147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fld id="{A5A571F3-8481-9E40-BA34-10E793860237}" type="slidenum">
              <a:rPr lang="en-US" altLang="en-MX" sz="1200" b="0"/>
              <a:pPr/>
              <a:t>93</a:t>
            </a:fld>
            <a:endParaRPr lang="en-US" altLang="en-MX" sz="1200" b="0"/>
          </a:p>
        </p:txBody>
      </p:sp>
      <p:sp>
        <p:nvSpPr>
          <p:cNvPr id="51203" name="Rectangle 2">
            <a:extLst>
              <a:ext uri="{FF2B5EF4-FFF2-40B4-BE49-F238E27FC236}">
                <a16:creationId xmlns:a16="http://schemas.microsoft.com/office/drawing/2014/main" id="{EFCEB38F-2C4D-8E4F-9647-965C96E6CA4E}"/>
              </a:ext>
            </a:extLst>
          </p:cNvPr>
          <p:cNvSpPr>
            <a:spLocks noGrp="1" noRot="1" noChangeAspect="1" noChangeArrowheads="1" noTextEdit="1"/>
          </p:cNvSpPr>
          <p:nvPr>
            <p:ph type="sldImg"/>
          </p:nvPr>
        </p:nvSpPr>
        <p:spPr>
          <a:xfrm>
            <a:off x="360363" y="711200"/>
            <a:ext cx="6138862" cy="3454400"/>
          </a:xfrm>
          <a:ln/>
        </p:spPr>
      </p:sp>
      <p:sp>
        <p:nvSpPr>
          <p:cNvPr id="51204" name="Rectangle 3">
            <a:extLst>
              <a:ext uri="{FF2B5EF4-FFF2-40B4-BE49-F238E27FC236}">
                <a16:creationId xmlns:a16="http://schemas.microsoft.com/office/drawing/2014/main" id="{EC5EB108-5B28-BA49-AAC3-5A6A379C83DB}"/>
              </a:ext>
            </a:extLst>
          </p:cNvPr>
          <p:cNvSpPr>
            <a:spLocks noGrp="1" noChangeArrowheads="1"/>
          </p:cNvSpPr>
          <p:nvPr>
            <p:ph type="body" idx="1"/>
          </p:nvPr>
        </p:nvSpPr>
        <p:spPr>
          <a:xfrm>
            <a:off x="908050" y="4368800"/>
            <a:ext cx="5041900" cy="40640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999" tIns="45500" rIns="90999" bIns="45500"/>
          <a:lstStyle/>
          <a:p>
            <a:endParaRPr lang="en-MX" altLang="en-MX"/>
          </a:p>
        </p:txBody>
      </p:sp>
    </p:spTree>
    <p:extLst>
      <p:ext uri="{BB962C8B-B14F-4D97-AF65-F5344CB8AC3E}">
        <p14:creationId xmlns:p14="http://schemas.microsoft.com/office/powerpoint/2010/main" val="388209813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407098E3-A873-2841-92B7-584C6DFD5D8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fld id="{52D08A78-6661-C840-BD9C-32FB956618E0}" type="slidenum">
              <a:rPr lang="en-US" altLang="en-MX" sz="1200" b="0"/>
              <a:pPr/>
              <a:t>94</a:t>
            </a:fld>
            <a:endParaRPr lang="en-US" altLang="en-MX" sz="1200" b="0"/>
          </a:p>
        </p:txBody>
      </p:sp>
      <p:sp>
        <p:nvSpPr>
          <p:cNvPr id="49155" name="Rectangle 2">
            <a:extLst>
              <a:ext uri="{FF2B5EF4-FFF2-40B4-BE49-F238E27FC236}">
                <a16:creationId xmlns:a16="http://schemas.microsoft.com/office/drawing/2014/main" id="{089C4613-DFF8-A743-8AF4-0E08D2F6746C}"/>
              </a:ext>
            </a:extLst>
          </p:cNvPr>
          <p:cNvSpPr>
            <a:spLocks noGrp="1" noRot="1" noChangeAspect="1" noChangeArrowheads="1" noTextEdit="1"/>
          </p:cNvSpPr>
          <p:nvPr>
            <p:ph type="sldImg"/>
          </p:nvPr>
        </p:nvSpPr>
        <p:spPr>
          <a:xfrm>
            <a:off x="360363" y="711200"/>
            <a:ext cx="6138862" cy="3454400"/>
          </a:xfrm>
          <a:ln/>
        </p:spPr>
      </p:sp>
      <p:sp>
        <p:nvSpPr>
          <p:cNvPr id="49156" name="Rectangle 3">
            <a:extLst>
              <a:ext uri="{FF2B5EF4-FFF2-40B4-BE49-F238E27FC236}">
                <a16:creationId xmlns:a16="http://schemas.microsoft.com/office/drawing/2014/main" id="{368AEB8F-D2A2-9247-94D7-A12C48590D13}"/>
              </a:ext>
            </a:extLst>
          </p:cNvPr>
          <p:cNvSpPr>
            <a:spLocks noGrp="1" noChangeArrowheads="1"/>
          </p:cNvSpPr>
          <p:nvPr>
            <p:ph type="body" idx="1"/>
          </p:nvPr>
        </p:nvSpPr>
        <p:spPr>
          <a:xfrm>
            <a:off x="908050" y="4368800"/>
            <a:ext cx="5041900" cy="40640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999" tIns="45500" rIns="90999" bIns="45500"/>
          <a:lstStyle/>
          <a:p>
            <a:endParaRPr lang="en-MX" altLang="en-MX"/>
          </a:p>
        </p:txBody>
      </p:sp>
    </p:spTree>
    <p:extLst>
      <p:ext uri="{BB962C8B-B14F-4D97-AF65-F5344CB8AC3E}">
        <p14:creationId xmlns:p14="http://schemas.microsoft.com/office/powerpoint/2010/main" val="143379223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47F06774-368A-DB4C-8AB7-BAEE1CACC66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fld id="{5353E44A-3B16-424A-951A-4F36FB93A114}" type="slidenum">
              <a:rPr lang="en-US" altLang="en-MX" sz="1200" b="0"/>
              <a:pPr/>
              <a:t>95</a:t>
            </a:fld>
            <a:endParaRPr lang="en-US" altLang="en-MX" sz="1200" b="0"/>
          </a:p>
        </p:txBody>
      </p:sp>
      <p:sp>
        <p:nvSpPr>
          <p:cNvPr id="53251" name="Rectangle 2">
            <a:extLst>
              <a:ext uri="{FF2B5EF4-FFF2-40B4-BE49-F238E27FC236}">
                <a16:creationId xmlns:a16="http://schemas.microsoft.com/office/drawing/2014/main" id="{E92D91E2-1D6F-4E45-9A8A-C0E5A18A908C}"/>
              </a:ext>
            </a:extLst>
          </p:cNvPr>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53252" name="Rectangle 3">
            <a:extLst>
              <a:ext uri="{FF2B5EF4-FFF2-40B4-BE49-F238E27FC236}">
                <a16:creationId xmlns:a16="http://schemas.microsoft.com/office/drawing/2014/main" id="{3EFC02F9-0C3D-A94C-B3D5-0090EDD8B5BE}"/>
              </a:ext>
            </a:extLst>
          </p:cNvPr>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31" tIns="45817" rIns="91631" bIns="45817" anchor="b"/>
          <a:lstStyle>
            <a:lvl1pPr defTabSz="909638">
              <a:defRPr sz="2000" b="1">
                <a:solidFill>
                  <a:schemeClr val="tx1"/>
                </a:solidFill>
                <a:latin typeface="Times New Roman" panose="02020603050405020304" pitchFamily="18" charset="0"/>
              </a:defRPr>
            </a:lvl1pPr>
            <a:lvl2pPr marL="742950" indent="-285750" defTabSz="909638">
              <a:defRPr sz="2000" b="1">
                <a:solidFill>
                  <a:schemeClr val="tx1"/>
                </a:solidFill>
                <a:latin typeface="Times New Roman" panose="02020603050405020304" pitchFamily="18" charset="0"/>
              </a:defRPr>
            </a:lvl2pPr>
            <a:lvl3pPr marL="1143000" indent="-228600" defTabSz="909638">
              <a:defRPr sz="2000" b="1">
                <a:solidFill>
                  <a:schemeClr val="tx1"/>
                </a:solidFill>
                <a:latin typeface="Times New Roman" panose="02020603050405020304" pitchFamily="18" charset="0"/>
              </a:defRPr>
            </a:lvl3pPr>
            <a:lvl4pPr marL="1600200" indent="-228600" defTabSz="909638">
              <a:defRPr sz="2000" b="1">
                <a:solidFill>
                  <a:schemeClr val="tx1"/>
                </a:solidFill>
                <a:latin typeface="Times New Roman" panose="02020603050405020304" pitchFamily="18" charset="0"/>
              </a:defRPr>
            </a:lvl4pPr>
            <a:lvl5pPr marL="2057400" indent="-228600" defTabSz="909638">
              <a:defRPr sz="2000" b="1">
                <a:solidFill>
                  <a:schemeClr val="tx1"/>
                </a:solidFill>
                <a:latin typeface="Times New Roman" panose="02020603050405020304" pitchFamily="18" charset="0"/>
              </a:defRPr>
            </a:lvl5pPr>
            <a:lvl6pPr marL="2514600" indent="-228600" defTabSz="909638"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defTabSz="909638"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defTabSz="909638"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defTabSz="909638" eaLnBrk="0" fontAlgn="base" hangingPunct="0">
              <a:spcBef>
                <a:spcPct val="0"/>
              </a:spcBef>
              <a:spcAft>
                <a:spcPct val="0"/>
              </a:spcAft>
              <a:defRPr sz="2000" b="1">
                <a:solidFill>
                  <a:schemeClr val="tx1"/>
                </a:solidFill>
                <a:latin typeface="Times New Roman" panose="02020603050405020304" pitchFamily="18" charset="0"/>
              </a:defRPr>
            </a:lvl9pPr>
          </a:lstStyle>
          <a:p>
            <a:pPr algn="r"/>
            <a:r>
              <a:rPr lang="en-US" altLang="en-MX" sz="1200" b="0"/>
              <a:t>4</a:t>
            </a:r>
          </a:p>
        </p:txBody>
      </p:sp>
      <p:sp>
        <p:nvSpPr>
          <p:cNvPr id="53253" name="Rectangle 4">
            <a:extLst>
              <a:ext uri="{FF2B5EF4-FFF2-40B4-BE49-F238E27FC236}">
                <a16:creationId xmlns:a16="http://schemas.microsoft.com/office/drawing/2014/main" id="{F4EC6C71-472C-F840-924F-F61D4FE3C9C8}"/>
              </a:ext>
            </a:extLst>
          </p:cNvPr>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53254" name="Rectangle 5">
            <a:extLst>
              <a:ext uri="{FF2B5EF4-FFF2-40B4-BE49-F238E27FC236}">
                <a16:creationId xmlns:a16="http://schemas.microsoft.com/office/drawing/2014/main" id="{BE9A2CC8-FD92-BD49-AEBC-B13C99C3C506}"/>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53255" name="Rectangle 6">
            <a:extLst>
              <a:ext uri="{FF2B5EF4-FFF2-40B4-BE49-F238E27FC236}">
                <a16:creationId xmlns:a16="http://schemas.microsoft.com/office/drawing/2014/main" id="{F9958CF0-397B-D341-A154-A16F4079D078}"/>
              </a:ext>
            </a:extLst>
          </p:cNvPr>
          <p:cNvSpPr>
            <a:spLocks noGrp="1" noRot="1" noChangeAspect="1" noChangeArrowheads="1" noTextEdit="1"/>
          </p:cNvSpPr>
          <p:nvPr>
            <p:ph type="sldImg"/>
          </p:nvPr>
        </p:nvSpPr>
        <p:spPr>
          <a:xfrm>
            <a:off x="406400" y="679450"/>
            <a:ext cx="6046788" cy="3402013"/>
          </a:xfrm>
          <a:ln w="12700" cap="flat"/>
        </p:spPr>
      </p:sp>
      <p:sp>
        <p:nvSpPr>
          <p:cNvPr id="53256" name="Rectangle 7">
            <a:extLst>
              <a:ext uri="{FF2B5EF4-FFF2-40B4-BE49-F238E27FC236}">
                <a16:creationId xmlns:a16="http://schemas.microsoft.com/office/drawing/2014/main" id="{063636D5-FDFE-BB41-975B-A8C9D0658E29}"/>
              </a:ext>
            </a:extLst>
          </p:cNvPr>
          <p:cNvSpPr>
            <a:spLocks noGrp="1" noChangeArrowheads="1"/>
          </p:cNvSpPr>
          <p:nvPr>
            <p:ph type="body" idx="1"/>
          </p:nvPr>
        </p:nvSpPr>
        <p:spPr>
          <a:xfrm>
            <a:off x="381000" y="4343400"/>
            <a:ext cx="60198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31" tIns="45817" rIns="91631" bIns="45817"/>
          <a:lstStyle/>
          <a:p>
            <a:pPr defTabSz="962025">
              <a:spcBef>
                <a:spcPts val="525"/>
              </a:spcBef>
              <a:spcAft>
                <a:spcPts val="525"/>
              </a:spcAft>
            </a:pPr>
            <a:endParaRPr lang="en-MX" altLang="en-MX" sz="2500"/>
          </a:p>
        </p:txBody>
      </p:sp>
    </p:spTree>
    <p:extLst>
      <p:ext uri="{BB962C8B-B14F-4D97-AF65-F5344CB8AC3E}">
        <p14:creationId xmlns:p14="http://schemas.microsoft.com/office/powerpoint/2010/main" val="145346319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D4E1037E-02BD-DE47-87E9-4D39FEC6297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fld id="{303A6AAB-269E-6345-AD15-B14FC9DA8A2E}" type="slidenum">
              <a:rPr lang="en-US" altLang="en-MX" sz="1200" b="0"/>
              <a:pPr/>
              <a:t>96</a:t>
            </a:fld>
            <a:endParaRPr lang="en-US" altLang="en-MX" sz="1200" b="0"/>
          </a:p>
        </p:txBody>
      </p:sp>
      <p:sp>
        <p:nvSpPr>
          <p:cNvPr id="54275" name="Rectangle 2">
            <a:extLst>
              <a:ext uri="{FF2B5EF4-FFF2-40B4-BE49-F238E27FC236}">
                <a16:creationId xmlns:a16="http://schemas.microsoft.com/office/drawing/2014/main" id="{C33B5E7F-297C-874A-A429-0DE1E66E47AD}"/>
              </a:ext>
            </a:extLst>
          </p:cNvPr>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54276" name="Rectangle 3">
            <a:extLst>
              <a:ext uri="{FF2B5EF4-FFF2-40B4-BE49-F238E27FC236}">
                <a16:creationId xmlns:a16="http://schemas.microsoft.com/office/drawing/2014/main" id="{E24B9E4E-B185-FE41-8076-CCA796B8B5F7}"/>
              </a:ext>
            </a:extLst>
          </p:cNvPr>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31" tIns="45817" rIns="91631" bIns="45817" anchor="b"/>
          <a:lstStyle>
            <a:lvl1pPr defTabSz="909638">
              <a:defRPr sz="2000" b="1">
                <a:solidFill>
                  <a:schemeClr val="tx1"/>
                </a:solidFill>
                <a:latin typeface="Times New Roman" panose="02020603050405020304" pitchFamily="18" charset="0"/>
              </a:defRPr>
            </a:lvl1pPr>
            <a:lvl2pPr marL="742950" indent="-285750" defTabSz="909638">
              <a:defRPr sz="2000" b="1">
                <a:solidFill>
                  <a:schemeClr val="tx1"/>
                </a:solidFill>
                <a:latin typeface="Times New Roman" panose="02020603050405020304" pitchFamily="18" charset="0"/>
              </a:defRPr>
            </a:lvl2pPr>
            <a:lvl3pPr marL="1143000" indent="-228600" defTabSz="909638">
              <a:defRPr sz="2000" b="1">
                <a:solidFill>
                  <a:schemeClr val="tx1"/>
                </a:solidFill>
                <a:latin typeface="Times New Roman" panose="02020603050405020304" pitchFamily="18" charset="0"/>
              </a:defRPr>
            </a:lvl3pPr>
            <a:lvl4pPr marL="1600200" indent="-228600" defTabSz="909638">
              <a:defRPr sz="2000" b="1">
                <a:solidFill>
                  <a:schemeClr val="tx1"/>
                </a:solidFill>
                <a:latin typeface="Times New Roman" panose="02020603050405020304" pitchFamily="18" charset="0"/>
              </a:defRPr>
            </a:lvl4pPr>
            <a:lvl5pPr marL="2057400" indent="-228600" defTabSz="909638">
              <a:defRPr sz="2000" b="1">
                <a:solidFill>
                  <a:schemeClr val="tx1"/>
                </a:solidFill>
                <a:latin typeface="Times New Roman" panose="02020603050405020304" pitchFamily="18" charset="0"/>
              </a:defRPr>
            </a:lvl5pPr>
            <a:lvl6pPr marL="2514600" indent="-228600" defTabSz="909638"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defTabSz="909638"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defTabSz="909638"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defTabSz="909638" eaLnBrk="0" fontAlgn="base" hangingPunct="0">
              <a:spcBef>
                <a:spcPct val="0"/>
              </a:spcBef>
              <a:spcAft>
                <a:spcPct val="0"/>
              </a:spcAft>
              <a:defRPr sz="2000" b="1">
                <a:solidFill>
                  <a:schemeClr val="tx1"/>
                </a:solidFill>
                <a:latin typeface="Times New Roman" panose="02020603050405020304" pitchFamily="18" charset="0"/>
              </a:defRPr>
            </a:lvl9pPr>
          </a:lstStyle>
          <a:p>
            <a:pPr algn="r"/>
            <a:r>
              <a:rPr lang="en-US" altLang="en-MX" sz="1200" b="0"/>
              <a:t>4</a:t>
            </a:r>
          </a:p>
        </p:txBody>
      </p:sp>
      <p:sp>
        <p:nvSpPr>
          <p:cNvPr id="54277" name="Rectangle 4">
            <a:extLst>
              <a:ext uri="{FF2B5EF4-FFF2-40B4-BE49-F238E27FC236}">
                <a16:creationId xmlns:a16="http://schemas.microsoft.com/office/drawing/2014/main" id="{31C81D84-04E6-3D40-BFA4-0CA6B0964667}"/>
              </a:ext>
            </a:extLst>
          </p:cNvPr>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54278" name="Rectangle 5">
            <a:extLst>
              <a:ext uri="{FF2B5EF4-FFF2-40B4-BE49-F238E27FC236}">
                <a16:creationId xmlns:a16="http://schemas.microsoft.com/office/drawing/2014/main" id="{FA1C4898-7CBE-0D43-ADA8-0E25F36DD5DC}"/>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54279" name="Rectangle 6">
            <a:extLst>
              <a:ext uri="{FF2B5EF4-FFF2-40B4-BE49-F238E27FC236}">
                <a16:creationId xmlns:a16="http://schemas.microsoft.com/office/drawing/2014/main" id="{C523C10E-3122-BB4F-B704-2787EEDBCFEB}"/>
              </a:ext>
            </a:extLst>
          </p:cNvPr>
          <p:cNvSpPr>
            <a:spLocks noGrp="1" noRot="1" noChangeAspect="1" noChangeArrowheads="1" noTextEdit="1"/>
          </p:cNvSpPr>
          <p:nvPr>
            <p:ph type="sldImg"/>
          </p:nvPr>
        </p:nvSpPr>
        <p:spPr>
          <a:xfrm>
            <a:off x="406400" y="679450"/>
            <a:ext cx="6046788" cy="3402013"/>
          </a:xfrm>
          <a:ln w="12700" cap="flat"/>
        </p:spPr>
      </p:sp>
      <p:sp>
        <p:nvSpPr>
          <p:cNvPr id="54280" name="Rectangle 7">
            <a:extLst>
              <a:ext uri="{FF2B5EF4-FFF2-40B4-BE49-F238E27FC236}">
                <a16:creationId xmlns:a16="http://schemas.microsoft.com/office/drawing/2014/main" id="{5EBE725D-FF8B-4446-A472-40722B72F638}"/>
              </a:ext>
            </a:extLst>
          </p:cNvPr>
          <p:cNvSpPr>
            <a:spLocks noGrp="1" noChangeArrowheads="1"/>
          </p:cNvSpPr>
          <p:nvPr>
            <p:ph type="body" idx="1"/>
          </p:nvPr>
        </p:nvSpPr>
        <p:spPr>
          <a:xfrm>
            <a:off x="381000" y="4343400"/>
            <a:ext cx="60198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31" tIns="45817" rIns="91631" bIns="45817"/>
          <a:lstStyle/>
          <a:p>
            <a:pPr defTabSz="962025">
              <a:spcBef>
                <a:spcPts val="525"/>
              </a:spcBef>
              <a:spcAft>
                <a:spcPts val="525"/>
              </a:spcAft>
            </a:pPr>
            <a:endParaRPr lang="en-MX" altLang="en-MX" sz="2500"/>
          </a:p>
        </p:txBody>
      </p:sp>
    </p:spTree>
    <p:extLst>
      <p:ext uri="{BB962C8B-B14F-4D97-AF65-F5344CB8AC3E}">
        <p14:creationId xmlns:p14="http://schemas.microsoft.com/office/powerpoint/2010/main" val="127093680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D1644DEA-0CE9-094A-B395-F562ECBD554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fld id="{9DF931B2-41F6-8544-834D-C81CBE211204}" type="slidenum">
              <a:rPr lang="en-US" altLang="en-MX" sz="1200" b="0"/>
              <a:pPr/>
              <a:t>98</a:t>
            </a:fld>
            <a:endParaRPr lang="en-US" altLang="en-MX" sz="1200" b="0"/>
          </a:p>
        </p:txBody>
      </p:sp>
      <p:sp>
        <p:nvSpPr>
          <p:cNvPr id="55299" name="Rectangle 2">
            <a:extLst>
              <a:ext uri="{FF2B5EF4-FFF2-40B4-BE49-F238E27FC236}">
                <a16:creationId xmlns:a16="http://schemas.microsoft.com/office/drawing/2014/main" id="{CDFDF825-6DA5-A640-8807-F3E2ECD84FDF}"/>
              </a:ext>
            </a:extLst>
          </p:cNvPr>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55300" name="Rectangle 3">
            <a:extLst>
              <a:ext uri="{FF2B5EF4-FFF2-40B4-BE49-F238E27FC236}">
                <a16:creationId xmlns:a16="http://schemas.microsoft.com/office/drawing/2014/main" id="{18ECF82E-3B52-CE4C-81D3-D1ECB5E57D8D}"/>
              </a:ext>
            </a:extLst>
          </p:cNvPr>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31" tIns="45817" rIns="91631" bIns="45817" anchor="b"/>
          <a:lstStyle>
            <a:lvl1pPr defTabSz="909638">
              <a:defRPr sz="2000" b="1">
                <a:solidFill>
                  <a:schemeClr val="tx1"/>
                </a:solidFill>
                <a:latin typeface="Times New Roman" panose="02020603050405020304" pitchFamily="18" charset="0"/>
              </a:defRPr>
            </a:lvl1pPr>
            <a:lvl2pPr marL="742950" indent="-285750" defTabSz="909638">
              <a:defRPr sz="2000" b="1">
                <a:solidFill>
                  <a:schemeClr val="tx1"/>
                </a:solidFill>
                <a:latin typeface="Times New Roman" panose="02020603050405020304" pitchFamily="18" charset="0"/>
              </a:defRPr>
            </a:lvl2pPr>
            <a:lvl3pPr marL="1143000" indent="-228600" defTabSz="909638">
              <a:defRPr sz="2000" b="1">
                <a:solidFill>
                  <a:schemeClr val="tx1"/>
                </a:solidFill>
                <a:latin typeface="Times New Roman" panose="02020603050405020304" pitchFamily="18" charset="0"/>
              </a:defRPr>
            </a:lvl3pPr>
            <a:lvl4pPr marL="1600200" indent="-228600" defTabSz="909638">
              <a:defRPr sz="2000" b="1">
                <a:solidFill>
                  <a:schemeClr val="tx1"/>
                </a:solidFill>
                <a:latin typeface="Times New Roman" panose="02020603050405020304" pitchFamily="18" charset="0"/>
              </a:defRPr>
            </a:lvl4pPr>
            <a:lvl5pPr marL="2057400" indent="-228600" defTabSz="909638">
              <a:defRPr sz="2000" b="1">
                <a:solidFill>
                  <a:schemeClr val="tx1"/>
                </a:solidFill>
                <a:latin typeface="Times New Roman" panose="02020603050405020304" pitchFamily="18" charset="0"/>
              </a:defRPr>
            </a:lvl5pPr>
            <a:lvl6pPr marL="2514600" indent="-228600" defTabSz="909638"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defTabSz="909638"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defTabSz="909638"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defTabSz="909638" eaLnBrk="0" fontAlgn="base" hangingPunct="0">
              <a:spcBef>
                <a:spcPct val="0"/>
              </a:spcBef>
              <a:spcAft>
                <a:spcPct val="0"/>
              </a:spcAft>
              <a:defRPr sz="2000" b="1">
                <a:solidFill>
                  <a:schemeClr val="tx1"/>
                </a:solidFill>
                <a:latin typeface="Times New Roman" panose="02020603050405020304" pitchFamily="18" charset="0"/>
              </a:defRPr>
            </a:lvl9pPr>
          </a:lstStyle>
          <a:p>
            <a:pPr algn="r"/>
            <a:r>
              <a:rPr lang="en-US" altLang="en-MX" sz="1200" b="0"/>
              <a:t>6</a:t>
            </a:r>
          </a:p>
        </p:txBody>
      </p:sp>
      <p:sp>
        <p:nvSpPr>
          <p:cNvPr id="55301" name="Rectangle 4">
            <a:extLst>
              <a:ext uri="{FF2B5EF4-FFF2-40B4-BE49-F238E27FC236}">
                <a16:creationId xmlns:a16="http://schemas.microsoft.com/office/drawing/2014/main" id="{51CCDDBA-46B8-3748-966F-602D853A9BC5}"/>
              </a:ext>
            </a:extLst>
          </p:cNvPr>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55302" name="Rectangle 5">
            <a:extLst>
              <a:ext uri="{FF2B5EF4-FFF2-40B4-BE49-F238E27FC236}">
                <a16:creationId xmlns:a16="http://schemas.microsoft.com/office/drawing/2014/main" id="{29E1EDA7-5D82-514A-ACC5-2301A56B7D48}"/>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55303" name="Rectangle 6">
            <a:extLst>
              <a:ext uri="{FF2B5EF4-FFF2-40B4-BE49-F238E27FC236}">
                <a16:creationId xmlns:a16="http://schemas.microsoft.com/office/drawing/2014/main" id="{4D26CF8C-6536-0A4E-B869-1B5CA54EADE8}"/>
              </a:ext>
            </a:extLst>
          </p:cNvPr>
          <p:cNvSpPr>
            <a:spLocks noGrp="1" noRot="1" noChangeAspect="1" noChangeArrowheads="1" noTextEdit="1"/>
          </p:cNvSpPr>
          <p:nvPr>
            <p:ph type="sldImg"/>
          </p:nvPr>
        </p:nvSpPr>
        <p:spPr>
          <a:xfrm>
            <a:off x="406400" y="679450"/>
            <a:ext cx="6046788" cy="3402013"/>
          </a:xfrm>
          <a:ln w="12700" cap="flat"/>
        </p:spPr>
      </p:sp>
      <p:sp>
        <p:nvSpPr>
          <p:cNvPr id="55304" name="Rectangle 7">
            <a:extLst>
              <a:ext uri="{FF2B5EF4-FFF2-40B4-BE49-F238E27FC236}">
                <a16:creationId xmlns:a16="http://schemas.microsoft.com/office/drawing/2014/main" id="{F424D601-252D-AB4C-9898-C1B49C5961A9}"/>
              </a:ext>
            </a:extLst>
          </p:cNvPr>
          <p:cNvSpPr>
            <a:spLocks noGrp="1" noChangeArrowheads="1"/>
          </p:cNvSpPr>
          <p:nvPr>
            <p:ph type="body" idx="1"/>
          </p:nvPr>
        </p:nvSpPr>
        <p:spPr>
          <a:xfrm>
            <a:off x="2097088" y="4306888"/>
            <a:ext cx="3846512" cy="41576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31" tIns="45817" rIns="91631" bIns="45817"/>
          <a:lstStyle/>
          <a:p>
            <a:pPr defTabSz="962025">
              <a:spcBef>
                <a:spcPct val="0"/>
              </a:spcBef>
            </a:pPr>
            <a:r>
              <a:rPr lang="en-US" altLang="en-MX">
                <a:solidFill>
                  <a:srgbClr val="000000"/>
                </a:solidFill>
              </a:rPr>
              <a:t>A set of policies</a:t>
            </a:r>
          </a:p>
          <a:p>
            <a:pPr marL="481013" lvl="1" defTabSz="962025">
              <a:spcBef>
                <a:spcPct val="0"/>
              </a:spcBef>
            </a:pPr>
            <a:r>
              <a:rPr lang="en-US" altLang="en-MX">
                <a:solidFill>
                  <a:srgbClr val="000000"/>
                </a:solidFill>
              </a:rPr>
              <a:t>net cost</a:t>
            </a:r>
          </a:p>
          <a:p>
            <a:pPr marL="481013" lvl="1" defTabSz="962025">
              <a:spcBef>
                <a:spcPct val="0"/>
              </a:spcBef>
            </a:pPr>
            <a:r>
              <a:rPr lang="en-US" altLang="en-MX">
                <a:solidFill>
                  <a:srgbClr val="000000"/>
                </a:solidFill>
              </a:rPr>
              <a:t>net effectiveness</a:t>
            </a:r>
          </a:p>
          <a:p>
            <a:pPr defTabSz="962025">
              <a:spcBef>
                <a:spcPct val="0"/>
              </a:spcBef>
            </a:pPr>
            <a:r>
              <a:rPr lang="en-US" altLang="en-MX">
                <a:solidFill>
                  <a:srgbClr val="000000"/>
                </a:solidFill>
              </a:rPr>
              <a:t>A health objective</a:t>
            </a:r>
          </a:p>
          <a:p>
            <a:pPr defTabSz="962025">
              <a:spcBef>
                <a:spcPct val="0"/>
              </a:spcBef>
            </a:pPr>
            <a:r>
              <a:rPr lang="en-US" altLang="en-MX">
                <a:solidFill>
                  <a:srgbClr val="000000"/>
                </a:solidFill>
              </a:rPr>
              <a:t>A constrained resource</a:t>
            </a:r>
          </a:p>
          <a:p>
            <a:pPr defTabSz="962025">
              <a:spcBef>
                <a:spcPct val="0"/>
              </a:spcBef>
            </a:pPr>
            <a:r>
              <a:rPr lang="en-US" altLang="en-MX">
                <a:solidFill>
                  <a:srgbClr val="000000"/>
                </a:solidFill>
              </a:rPr>
              <a:t>Which get funding?</a:t>
            </a:r>
          </a:p>
          <a:p>
            <a:pPr defTabSz="962025">
              <a:spcBef>
                <a:spcPct val="0"/>
              </a:spcBef>
            </a:pPr>
            <a:r>
              <a:rPr lang="en-US" altLang="en-MX">
                <a:solidFill>
                  <a:srgbClr val="000000"/>
                </a:solidFill>
              </a:rPr>
              <a:t>Which do not?</a:t>
            </a:r>
          </a:p>
          <a:p>
            <a:pPr defTabSz="962025">
              <a:spcBef>
                <a:spcPct val="0"/>
              </a:spcBef>
            </a:pPr>
            <a:endParaRPr lang="en-US" altLang="en-MX" sz="2600"/>
          </a:p>
        </p:txBody>
      </p:sp>
    </p:spTree>
    <p:extLst>
      <p:ext uri="{BB962C8B-B14F-4D97-AF65-F5344CB8AC3E}">
        <p14:creationId xmlns:p14="http://schemas.microsoft.com/office/powerpoint/2010/main" val="199155751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EDC30C43-9AD6-2947-BBB5-028F808F75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fld id="{AA06F9FE-2198-314A-9D75-194E65EC708F}" type="slidenum">
              <a:rPr lang="en-US" altLang="en-MX" sz="1200" b="0"/>
              <a:pPr/>
              <a:t>99</a:t>
            </a:fld>
            <a:endParaRPr lang="en-US" altLang="en-MX" sz="1200" b="0"/>
          </a:p>
        </p:txBody>
      </p:sp>
      <p:sp>
        <p:nvSpPr>
          <p:cNvPr id="56323" name="Rectangle 2">
            <a:extLst>
              <a:ext uri="{FF2B5EF4-FFF2-40B4-BE49-F238E27FC236}">
                <a16:creationId xmlns:a16="http://schemas.microsoft.com/office/drawing/2014/main" id="{D7D731F9-1383-1C45-8082-C21339358BB9}"/>
              </a:ext>
            </a:extLst>
          </p:cNvPr>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56324" name="Rectangle 3">
            <a:extLst>
              <a:ext uri="{FF2B5EF4-FFF2-40B4-BE49-F238E27FC236}">
                <a16:creationId xmlns:a16="http://schemas.microsoft.com/office/drawing/2014/main" id="{28F318AD-9276-6C48-9FA4-88397A3D3AC1}"/>
              </a:ext>
            </a:extLst>
          </p:cNvPr>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31" tIns="45817" rIns="91631" bIns="45817" anchor="b"/>
          <a:lstStyle>
            <a:lvl1pPr defTabSz="909638">
              <a:defRPr sz="2000" b="1">
                <a:solidFill>
                  <a:schemeClr val="tx1"/>
                </a:solidFill>
                <a:latin typeface="Times New Roman" panose="02020603050405020304" pitchFamily="18" charset="0"/>
              </a:defRPr>
            </a:lvl1pPr>
            <a:lvl2pPr marL="742950" indent="-285750" defTabSz="909638">
              <a:defRPr sz="2000" b="1">
                <a:solidFill>
                  <a:schemeClr val="tx1"/>
                </a:solidFill>
                <a:latin typeface="Times New Roman" panose="02020603050405020304" pitchFamily="18" charset="0"/>
              </a:defRPr>
            </a:lvl2pPr>
            <a:lvl3pPr marL="1143000" indent="-228600" defTabSz="909638">
              <a:defRPr sz="2000" b="1">
                <a:solidFill>
                  <a:schemeClr val="tx1"/>
                </a:solidFill>
                <a:latin typeface="Times New Roman" panose="02020603050405020304" pitchFamily="18" charset="0"/>
              </a:defRPr>
            </a:lvl3pPr>
            <a:lvl4pPr marL="1600200" indent="-228600" defTabSz="909638">
              <a:defRPr sz="2000" b="1">
                <a:solidFill>
                  <a:schemeClr val="tx1"/>
                </a:solidFill>
                <a:latin typeface="Times New Roman" panose="02020603050405020304" pitchFamily="18" charset="0"/>
              </a:defRPr>
            </a:lvl4pPr>
            <a:lvl5pPr marL="2057400" indent="-228600" defTabSz="909638">
              <a:defRPr sz="2000" b="1">
                <a:solidFill>
                  <a:schemeClr val="tx1"/>
                </a:solidFill>
                <a:latin typeface="Times New Roman" panose="02020603050405020304" pitchFamily="18" charset="0"/>
              </a:defRPr>
            </a:lvl5pPr>
            <a:lvl6pPr marL="2514600" indent="-228600" defTabSz="909638"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defTabSz="909638"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defTabSz="909638"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defTabSz="909638" eaLnBrk="0" fontAlgn="base" hangingPunct="0">
              <a:spcBef>
                <a:spcPct val="0"/>
              </a:spcBef>
              <a:spcAft>
                <a:spcPct val="0"/>
              </a:spcAft>
              <a:defRPr sz="2000" b="1">
                <a:solidFill>
                  <a:schemeClr val="tx1"/>
                </a:solidFill>
                <a:latin typeface="Times New Roman" panose="02020603050405020304" pitchFamily="18" charset="0"/>
              </a:defRPr>
            </a:lvl9pPr>
          </a:lstStyle>
          <a:p>
            <a:pPr algn="r"/>
            <a:r>
              <a:rPr lang="en-US" altLang="en-MX" sz="1200" b="0"/>
              <a:t>8</a:t>
            </a:r>
          </a:p>
        </p:txBody>
      </p:sp>
      <p:sp>
        <p:nvSpPr>
          <p:cNvPr id="56325" name="Rectangle 4">
            <a:extLst>
              <a:ext uri="{FF2B5EF4-FFF2-40B4-BE49-F238E27FC236}">
                <a16:creationId xmlns:a16="http://schemas.microsoft.com/office/drawing/2014/main" id="{242295C1-260D-F941-9075-FE5951D5FD28}"/>
              </a:ext>
            </a:extLst>
          </p:cNvPr>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56326" name="Rectangle 5">
            <a:extLst>
              <a:ext uri="{FF2B5EF4-FFF2-40B4-BE49-F238E27FC236}">
                <a16:creationId xmlns:a16="http://schemas.microsoft.com/office/drawing/2014/main" id="{691E98EA-81F0-0840-A279-03B7A222A3B2}"/>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56327" name="Rectangle 6">
            <a:extLst>
              <a:ext uri="{FF2B5EF4-FFF2-40B4-BE49-F238E27FC236}">
                <a16:creationId xmlns:a16="http://schemas.microsoft.com/office/drawing/2014/main" id="{6C2E4354-3865-274E-953B-854CE7019D9E}"/>
              </a:ext>
            </a:extLst>
          </p:cNvPr>
          <p:cNvSpPr>
            <a:spLocks noGrp="1" noRot="1" noChangeAspect="1" noChangeArrowheads="1" noTextEdit="1"/>
          </p:cNvSpPr>
          <p:nvPr>
            <p:ph type="sldImg"/>
          </p:nvPr>
        </p:nvSpPr>
        <p:spPr>
          <a:xfrm>
            <a:off x="406400" y="679450"/>
            <a:ext cx="6046788" cy="3402013"/>
          </a:xfrm>
          <a:ln w="12700" cap="flat"/>
        </p:spPr>
      </p:sp>
      <p:sp>
        <p:nvSpPr>
          <p:cNvPr id="56328" name="Rectangle 7">
            <a:extLst>
              <a:ext uri="{FF2B5EF4-FFF2-40B4-BE49-F238E27FC236}">
                <a16:creationId xmlns:a16="http://schemas.microsoft.com/office/drawing/2014/main" id="{1CF280E9-FAFC-354B-9EC6-8B9B6AA91312}"/>
              </a:ext>
            </a:extLst>
          </p:cNvPr>
          <p:cNvSpPr>
            <a:spLocks noGrp="1" noChangeArrowheads="1"/>
          </p:cNvSpPr>
          <p:nvPr>
            <p:ph type="body" idx="1"/>
          </p:nvPr>
        </p:nvSpPr>
        <p:spPr>
          <a:xfrm>
            <a:off x="914400" y="4306888"/>
            <a:ext cx="5029200" cy="41576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31" tIns="45817" rIns="91631" bIns="45817"/>
          <a:lstStyle/>
          <a:p>
            <a:pPr defTabSz="962025">
              <a:spcBef>
                <a:spcPct val="0"/>
              </a:spcBef>
            </a:pPr>
            <a:endParaRPr lang="en-MX" altLang="en-MX" sz="2500"/>
          </a:p>
        </p:txBody>
      </p:sp>
    </p:spTree>
    <p:extLst>
      <p:ext uri="{BB962C8B-B14F-4D97-AF65-F5344CB8AC3E}">
        <p14:creationId xmlns:p14="http://schemas.microsoft.com/office/powerpoint/2010/main" val="132880282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5CC694F2-4AB5-764E-8C95-8739EA75EC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fld id="{5F8E87F5-A521-2940-8EF2-C87F96E4E24F}" type="slidenum">
              <a:rPr lang="en-US" altLang="en-MX" sz="1200" b="0"/>
              <a:pPr/>
              <a:t>100</a:t>
            </a:fld>
            <a:endParaRPr lang="en-US" altLang="en-MX" sz="1200" b="0"/>
          </a:p>
        </p:txBody>
      </p:sp>
      <p:sp>
        <p:nvSpPr>
          <p:cNvPr id="57347" name="Rectangle 2">
            <a:extLst>
              <a:ext uri="{FF2B5EF4-FFF2-40B4-BE49-F238E27FC236}">
                <a16:creationId xmlns:a16="http://schemas.microsoft.com/office/drawing/2014/main" id="{BFFB48FC-EDF4-7346-8E59-24BA29E808D4}"/>
              </a:ext>
            </a:extLst>
          </p:cNvPr>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57348" name="Rectangle 3">
            <a:extLst>
              <a:ext uri="{FF2B5EF4-FFF2-40B4-BE49-F238E27FC236}">
                <a16:creationId xmlns:a16="http://schemas.microsoft.com/office/drawing/2014/main" id="{C6672D0A-8DC9-1840-9846-BE0C9EE47AA3}"/>
              </a:ext>
            </a:extLst>
          </p:cNvPr>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31" tIns="45817" rIns="91631" bIns="45817" anchor="b"/>
          <a:lstStyle>
            <a:lvl1pPr defTabSz="909638">
              <a:defRPr sz="2000" b="1">
                <a:solidFill>
                  <a:schemeClr val="tx1"/>
                </a:solidFill>
                <a:latin typeface="Times New Roman" panose="02020603050405020304" pitchFamily="18" charset="0"/>
              </a:defRPr>
            </a:lvl1pPr>
            <a:lvl2pPr marL="742950" indent="-285750" defTabSz="909638">
              <a:defRPr sz="2000" b="1">
                <a:solidFill>
                  <a:schemeClr val="tx1"/>
                </a:solidFill>
                <a:latin typeface="Times New Roman" panose="02020603050405020304" pitchFamily="18" charset="0"/>
              </a:defRPr>
            </a:lvl2pPr>
            <a:lvl3pPr marL="1143000" indent="-228600" defTabSz="909638">
              <a:defRPr sz="2000" b="1">
                <a:solidFill>
                  <a:schemeClr val="tx1"/>
                </a:solidFill>
                <a:latin typeface="Times New Roman" panose="02020603050405020304" pitchFamily="18" charset="0"/>
              </a:defRPr>
            </a:lvl3pPr>
            <a:lvl4pPr marL="1600200" indent="-228600" defTabSz="909638">
              <a:defRPr sz="2000" b="1">
                <a:solidFill>
                  <a:schemeClr val="tx1"/>
                </a:solidFill>
                <a:latin typeface="Times New Roman" panose="02020603050405020304" pitchFamily="18" charset="0"/>
              </a:defRPr>
            </a:lvl4pPr>
            <a:lvl5pPr marL="2057400" indent="-228600" defTabSz="909638">
              <a:defRPr sz="2000" b="1">
                <a:solidFill>
                  <a:schemeClr val="tx1"/>
                </a:solidFill>
                <a:latin typeface="Times New Roman" panose="02020603050405020304" pitchFamily="18" charset="0"/>
              </a:defRPr>
            </a:lvl5pPr>
            <a:lvl6pPr marL="2514600" indent="-228600" defTabSz="909638"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defTabSz="909638"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defTabSz="909638"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defTabSz="909638" eaLnBrk="0" fontAlgn="base" hangingPunct="0">
              <a:spcBef>
                <a:spcPct val="0"/>
              </a:spcBef>
              <a:spcAft>
                <a:spcPct val="0"/>
              </a:spcAft>
              <a:defRPr sz="2000" b="1">
                <a:solidFill>
                  <a:schemeClr val="tx1"/>
                </a:solidFill>
                <a:latin typeface="Times New Roman" panose="02020603050405020304" pitchFamily="18" charset="0"/>
              </a:defRPr>
            </a:lvl9pPr>
          </a:lstStyle>
          <a:p>
            <a:pPr algn="r"/>
            <a:r>
              <a:rPr lang="en-US" altLang="en-MX" sz="1200" b="0"/>
              <a:t>9</a:t>
            </a:r>
          </a:p>
        </p:txBody>
      </p:sp>
      <p:sp>
        <p:nvSpPr>
          <p:cNvPr id="57349" name="Rectangle 4">
            <a:extLst>
              <a:ext uri="{FF2B5EF4-FFF2-40B4-BE49-F238E27FC236}">
                <a16:creationId xmlns:a16="http://schemas.microsoft.com/office/drawing/2014/main" id="{123AA214-E6E4-5C44-97A0-0BCACE1CBAA0}"/>
              </a:ext>
            </a:extLst>
          </p:cNvPr>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57350" name="Rectangle 5">
            <a:extLst>
              <a:ext uri="{FF2B5EF4-FFF2-40B4-BE49-F238E27FC236}">
                <a16:creationId xmlns:a16="http://schemas.microsoft.com/office/drawing/2014/main" id="{69FB1B91-46BC-F84B-A4F9-18420169C5CB}"/>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57351" name="Rectangle 6">
            <a:extLst>
              <a:ext uri="{FF2B5EF4-FFF2-40B4-BE49-F238E27FC236}">
                <a16:creationId xmlns:a16="http://schemas.microsoft.com/office/drawing/2014/main" id="{5E111BC4-C683-AA49-A8E9-CF9377397FCE}"/>
              </a:ext>
            </a:extLst>
          </p:cNvPr>
          <p:cNvSpPr>
            <a:spLocks noGrp="1" noRot="1" noChangeAspect="1" noChangeArrowheads="1" noTextEdit="1"/>
          </p:cNvSpPr>
          <p:nvPr>
            <p:ph type="sldImg"/>
          </p:nvPr>
        </p:nvSpPr>
        <p:spPr>
          <a:xfrm>
            <a:off x="406400" y="679450"/>
            <a:ext cx="6046788" cy="3402013"/>
          </a:xfrm>
          <a:ln w="12700" cap="flat"/>
        </p:spPr>
      </p:sp>
      <p:sp>
        <p:nvSpPr>
          <p:cNvPr id="57352" name="Rectangle 7">
            <a:extLst>
              <a:ext uri="{FF2B5EF4-FFF2-40B4-BE49-F238E27FC236}">
                <a16:creationId xmlns:a16="http://schemas.microsoft.com/office/drawing/2014/main" id="{AFC7C6D9-3A40-8745-94A9-546F44E21133}"/>
              </a:ext>
            </a:extLst>
          </p:cNvPr>
          <p:cNvSpPr>
            <a:spLocks noGrp="1" noChangeArrowheads="1"/>
          </p:cNvSpPr>
          <p:nvPr>
            <p:ph type="body" idx="1"/>
          </p:nvPr>
        </p:nvSpPr>
        <p:spPr>
          <a:xfrm>
            <a:off x="914400" y="4306888"/>
            <a:ext cx="5029200" cy="41576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31" tIns="45817" rIns="91631" bIns="45817"/>
          <a:lstStyle/>
          <a:p>
            <a:pPr defTabSz="962025">
              <a:spcBef>
                <a:spcPct val="0"/>
              </a:spcBef>
            </a:pPr>
            <a:endParaRPr lang="en-MX" altLang="en-MX" sz="2500"/>
          </a:p>
        </p:txBody>
      </p:sp>
    </p:spTree>
    <p:extLst>
      <p:ext uri="{BB962C8B-B14F-4D97-AF65-F5344CB8AC3E}">
        <p14:creationId xmlns:p14="http://schemas.microsoft.com/office/powerpoint/2010/main" val="111762666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5A3CDDAC-225B-0242-AC65-122AE66F8D9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fld id="{470C0D8A-AD68-C442-AF4F-85F2C373CF1D}" type="slidenum">
              <a:rPr lang="en-US" altLang="en-MX" sz="1200" b="0"/>
              <a:pPr/>
              <a:t>101</a:t>
            </a:fld>
            <a:endParaRPr lang="en-US" altLang="en-MX" sz="1200" b="0"/>
          </a:p>
        </p:txBody>
      </p:sp>
      <p:sp>
        <p:nvSpPr>
          <p:cNvPr id="58371" name="Rectangle 2">
            <a:extLst>
              <a:ext uri="{FF2B5EF4-FFF2-40B4-BE49-F238E27FC236}">
                <a16:creationId xmlns:a16="http://schemas.microsoft.com/office/drawing/2014/main" id="{7F1170FF-5327-E84E-BAD9-EFACE099883F}"/>
              </a:ext>
            </a:extLst>
          </p:cNvPr>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58372" name="Rectangle 3">
            <a:extLst>
              <a:ext uri="{FF2B5EF4-FFF2-40B4-BE49-F238E27FC236}">
                <a16:creationId xmlns:a16="http://schemas.microsoft.com/office/drawing/2014/main" id="{117D4D95-CD40-714B-B148-28410D12FAE7}"/>
              </a:ext>
            </a:extLst>
          </p:cNvPr>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31" tIns="45817" rIns="91631" bIns="45817" anchor="b"/>
          <a:lstStyle>
            <a:lvl1pPr defTabSz="909638">
              <a:defRPr sz="2000" b="1">
                <a:solidFill>
                  <a:schemeClr val="tx1"/>
                </a:solidFill>
                <a:latin typeface="Times New Roman" panose="02020603050405020304" pitchFamily="18" charset="0"/>
              </a:defRPr>
            </a:lvl1pPr>
            <a:lvl2pPr marL="742950" indent="-285750" defTabSz="909638">
              <a:defRPr sz="2000" b="1">
                <a:solidFill>
                  <a:schemeClr val="tx1"/>
                </a:solidFill>
                <a:latin typeface="Times New Roman" panose="02020603050405020304" pitchFamily="18" charset="0"/>
              </a:defRPr>
            </a:lvl2pPr>
            <a:lvl3pPr marL="1143000" indent="-228600" defTabSz="909638">
              <a:defRPr sz="2000" b="1">
                <a:solidFill>
                  <a:schemeClr val="tx1"/>
                </a:solidFill>
                <a:latin typeface="Times New Roman" panose="02020603050405020304" pitchFamily="18" charset="0"/>
              </a:defRPr>
            </a:lvl3pPr>
            <a:lvl4pPr marL="1600200" indent="-228600" defTabSz="909638">
              <a:defRPr sz="2000" b="1">
                <a:solidFill>
                  <a:schemeClr val="tx1"/>
                </a:solidFill>
                <a:latin typeface="Times New Roman" panose="02020603050405020304" pitchFamily="18" charset="0"/>
              </a:defRPr>
            </a:lvl4pPr>
            <a:lvl5pPr marL="2057400" indent="-228600" defTabSz="909638">
              <a:defRPr sz="2000" b="1">
                <a:solidFill>
                  <a:schemeClr val="tx1"/>
                </a:solidFill>
                <a:latin typeface="Times New Roman" panose="02020603050405020304" pitchFamily="18" charset="0"/>
              </a:defRPr>
            </a:lvl5pPr>
            <a:lvl6pPr marL="2514600" indent="-228600" defTabSz="909638"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defTabSz="909638"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defTabSz="909638"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defTabSz="909638" eaLnBrk="0" fontAlgn="base" hangingPunct="0">
              <a:spcBef>
                <a:spcPct val="0"/>
              </a:spcBef>
              <a:spcAft>
                <a:spcPct val="0"/>
              </a:spcAft>
              <a:defRPr sz="2000" b="1">
                <a:solidFill>
                  <a:schemeClr val="tx1"/>
                </a:solidFill>
                <a:latin typeface="Times New Roman" panose="02020603050405020304" pitchFamily="18" charset="0"/>
              </a:defRPr>
            </a:lvl9pPr>
          </a:lstStyle>
          <a:p>
            <a:pPr algn="r"/>
            <a:r>
              <a:rPr lang="en-US" altLang="en-MX" sz="1200" b="0"/>
              <a:t>10</a:t>
            </a:r>
          </a:p>
        </p:txBody>
      </p:sp>
      <p:sp>
        <p:nvSpPr>
          <p:cNvPr id="58373" name="Rectangle 4">
            <a:extLst>
              <a:ext uri="{FF2B5EF4-FFF2-40B4-BE49-F238E27FC236}">
                <a16:creationId xmlns:a16="http://schemas.microsoft.com/office/drawing/2014/main" id="{83281B0E-F832-1140-8BA7-A503F2D504FE}"/>
              </a:ext>
            </a:extLst>
          </p:cNvPr>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58374" name="Rectangle 5">
            <a:extLst>
              <a:ext uri="{FF2B5EF4-FFF2-40B4-BE49-F238E27FC236}">
                <a16:creationId xmlns:a16="http://schemas.microsoft.com/office/drawing/2014/main" id="{6F37041A-2690-D04E-9610-40C5780907B9}"/>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58375" name="Rectangle 6">
            <a:extLst>
              <a:ext uri="{FF2B5EF4-FFF2-40B4-BE49-F238E27FC236}">
                <a16:creationId xmlns:a16="http://schemas.microsoft.com/office/drawing/2014/main" id="{C5F137B8-25A3-7C42-97B5-F6B94BC22620}"/>
              </a:ext>
            </a:extLst>
          </p:cNvPr>
          <p:cNvSpPr>
            <a:spLocks noGrp="1" noRot="1" noChangeAspect="1" noChangeArrowheads="1" noTextEdit="1"/>
          </p:cNvSpPr>
          <p:nvPr>
            <p:ph type="sldImg"/>
          </p:nvPr>
        </p:nvSpPr>
        <p:spPr>
          <a:xfrm>
            <a:off x="406400" y="679450"/>
            <a:ext cx="6046788" cy="3402013"/>
          </a:xfrm>
          <a:ln w="12700" cap="flat"/>
        </p:spPr>
      </p:sp>
      <p:sp>
        <p:nvSpPr>
          <p:cNvPr id="58376" name="Rectangle 7">
            <a:extLst>
              <a:ext uri="{FF2B5EF4-FFF2-40B4-BE49-F238E27FC236}">
                <a16:creationId xmlns:a16="http://schemas.microsoft.com/office/drawing/2014/main" id="{BE907498-AF54-2C4E-87CE-D483A641D744}"/>
              </a:ext>
            </a:extLst>
          </p:cNvPr>
          <p:cNvSpPr>
            <a:spLocks noGrp="1" noChangeArrowheads="1"/>
          </p:cNvSpPr>
          <p:nvPr>
            <p:ph type="body" idx="1"/>
          </p:nvPr>
        </p:nvSpPr>
        <p:spPr>
          <a:xfrm>
            <a:off x="914400" y="4306888"/>
            <a:ext cx="5029200" cy="41576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31" tIns="45817" rIns="91631" bIns="45817"/>
          <a:lstStyle/>
          <a:p>
            <a:pPr defTabSz="962025">
              <a:spcBef>
                <a:spcPct val="0"/>
              </a:spcBef>
            </a:pPr>
            <a:endParaRPr lang="en-MX" altLang="en-MX" sz="2500"/>
          </a:p>
        </p:txBody>
      </p:sp>
    </p:spTree>
    <p:extLst>
      <p:ext uri="{BB962C8B-B14F-4D97-AF65-F5344CB8AC3E}">
        <p14:creationId xmlns:p14="http://schemas.microsoft.com/office/powerpoint/2010/main" val="359042688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E001C631-C509-6D4E-B150-DABFEC9DD22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fld id="{49AEA677-C638-424B-9951-F485D9A3E00B}" type="slidenum">
              <a:rPr lang="en-US" altLang="en-MX" sz="1200" b="0"/>
              <a:pPr/>
              <a:t>102</a:t>
            </a:fld>
            <a:endParaRPr lang="en-US" altLang="en-MX" sz="1200" b="0"/>
          </a:p>
        </p:txBody>
      </p:sp>
      <p:sp>
        <p:nvSpPr>
          <p:cNvPr id="59395" name="Rectangle 2">
            <a:extLst>
              <a:ext uri="{FF2B5EF4-FFF2-40B4-BE49-F238E27FC236}">
                <a16:creationId xmlns:a16="http://schemas.microsoft.com/office/drawing/2014/main" id="{DCEF2C6A-6AEC-4140-AC03-B2DFE0F60FE2}"/>
              </a:ext>
            </a:extLst>
          </p:cNvPr>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59396" name="Rectangle 3">
            <a:extLst>
              <a:ext uri="{FF2B5EF4-FFF2-40B4-BE49-F238E27FC236}">
                <a16:creationId xmlns:a16="http://schemas.microsoft.com/office/drawing/2014/main" id="{6F598517-0FB4-0D42-86DE-599BD67F0F89}"/>
              </a:ext>
            </a:extLst>
          </p:cNvPr>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31" tIns="45817" rIns="91631" bIns="45817" anchor="b"/>
          <a:lstStyle>
            <a:lvl1pPr defTabSz="909638">
              <a:defRPr sz="2000" b="1">
                <a:solidFill>
                  <a:schemeClr val="tx1"/>
                </a:solidFill>
                <a:latin typeface="Times New Roman" panose="02020603050405020304" pitchFamily="18" charset="0"/>
              </a:defRPr>
            </a:lvl1pPr>
            <a:lvl2pPr marL="742950" indent="-285750" defTabSz="909638">
              <a:defRPr sz="2000" b="1">
                <a:solidFill>
                  <a:schemeClr val="tx1"/>
                </a:solidFill>
                <a:latin typeface="Times New Roman" panose="02020603050405020304" pitchFamily="18" charset="0"/>
              </a:defRPr>
            </a:lvl2pPr>
            <a:lvl3pPr marL="1143000" indent="-228600" defTabSz="909638">
              <a:defRPr sz="2000" b="1">
                <a:solidFill>
                  <a:schemeClr val="tx1"/>
                </a:solidFill>
                <a:latin typeface="Times New Roman" panose="02020603050405020304" pitchFamily="18" charset="0"/>
              </a:defRPr>
            </a:lvl3pPr>
            <a:lvl4pPr marL="1600200" indent="-228600" defTabSz="909638">
              <a:defRPr sz="2000" b="1">
                <a:solidFill>
                  <a:schemeClr val="tx1"/>
                </a:solidFill>
                <a:latin typeface="Times New Roman" panose="02020603050405020304" pitchFamily="18" charset="0"/>
              </a:defRPr>
            </a:lvl4pPr>
            <a:lvl5pPr marL="2057400" indent="-228600" defTabSz="909638">
              <a:defRPr sz="2000" b="1">
                <a:solidFill>
                  <a:schemeClr val="tx1"/>
                </a:solidFill>
                <a:latin typeface="Times New Roman" panose="02020603050405020304" pitchFamily="18" charset="0"/>
              </a:defRPr>
            </a:lvl5pPr>
            <a:lvl6pPr marL="2514600" indent="-228600" defTabSz="909638"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defTabSz="909638"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defTabSz="909638"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defTabSz="909638" eaLnBrk="0" fontAlgn="base" hangingPunct="0">
              <a:spcBef>
                <a:spcPct val="0"/>
              </a:spcBef>
              <a:spcAft>
                <a:spcPct val="0"/>
              </a:spcAft>
              <a:defRPr sz="2000" b="1">
                <a:solidFill>
                  <a:schemeClr val="tx1"/>
                </a:solidFill>
                <a:latin typeface="Times New Roman" panose="02020603050405020304" pitchFamily="18" charset="0"/>
              </a:defRPr>
            </a:lvl9pPr>
          </a:lstStyle>
          <a:p>
            <a:pPr algn="r"/>
            <a:r>
              <a:rPr lang="en-US" altLang="en-MX" sz="1200" b="0"/>
              <a:t>10</a:t>
            </a:r>
          </a:p>
        </p:txBody>
      </p:sp>
      <p:sp>
        <p:nvSpPr>
          <p:cNvPr id="59397" name="Rectangle 4">
            <a:extLst>
              <a:ext uri="{FF2B5EF4-FFF2-40B4-BE49-F238E27FC236}">
                <a16:creationId xmlns:a16="http://schemas.microsoft.com/office/drawing/2014/main" id="{0C66A055-ED09-A846-A83A-DBB139EF4F2B}"/>
              </a:ext>
            </a:extLst>
          </p:cNvPr>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59398" name="Rectangle 5">
            <a:extLst>
              <a:ext uri="{FF2B5EF4-FFF2-40B4-BE49-F238E27FC236}">
                <a16:creationId xmlns:a16="http://schemas.microsoft.com/office/drawing/2014/main" id="{91FC6F45-6C47-2740-911B-7BDD32BFB0D1}"/>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59399" name="Rectangle 6">
            <a:extLst>
              <a:ext uri="{FF2B5EF4-FFF2-40B4-BE49-F238E27FC236}">
                <a16:creationId xmlns:a16="http://schemas.microsoft.com/office/drawing/2014/main" id="{1119AC39-005B-7446-9816-45EF18D6B3E7}"/>
              </a:ext>
            </a:extLst>
          </p:cNvPr>
          <p:cNvSpPr>
            <a:spLocks noGrp="1" noRot="1" noChangeAspect="1" noChangeArrowheads="1" noTextEdit="1"/>
          </p:cNvSpPr>
          <p:nvPr>
            <p:ph type="sldImg"/>
          </p:nvPr>
        </p:nvSpPr>
        <p:spPr>
          <a:xfrm>
            <a:off x="406400" y="679450"/>
            <a:ext cx="6046788" cy="3402013"/>
          </a:xfrm>
          <a:ln w="12700" cap="flat"/>
        </p:spPr>
      </p:sp>
      <p:sp>
        <p:nvSpPr>
          <p:cNvPr id="59400" name="Rectangle 7">
            <a:extLst>
              <a:ext uri="{FF2B5EF4-FFF2-40B4-BE49-F238E27FC236}">
                <a16:creationId xmlns:a16="http://schemas.microsoft.com/office/drawing/2014/main" id="{B949D240-77D1-6F44-80DB-CB243B020191}"/>
              </a:ext>
            </a:extLst>
          </p:cNvPr>
          <p:cNvSpPr>
            <a:spLocks noGrp="1" noChangeArrowheads="1"/>
          </p:cNvSpPr>
          <p:nvPr>
            <p:ph type="body" idx="1"/>
          </p:nvPr>
        </p:nvSpPr>
        <p:spPr>
          <a:xfrm>
            <a:off x="914400" y="4306888"/>
            <a:ext cx="5029200" cy="41576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31" tIns="45817" rIns="91631" bIns="45817"/>
          <a:lstStyle/>
          <a:p>
            <a:pPr defTabSz="962025">
              <a:spcBef>
                <a:spcPct val="0"/>
              </a:spcBef>
            </a:pPr>
            <a:endParaRPr lang="en-MX" altLang="en-MX" sz="2500"/>
          </a:p>
        </p:txBody>
      </p:sp>
    </p:spTree>
    <p:extLst>
      <p:ext uri="{BB962C8B-B14F-4D97-AF65-F5344CB8AC3E}">
        <p14:creationId xmlns:p14="http://schemas.microsoft.com/office/powerpoint/2010/main" val="196093578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D1A211B4-09C0-A247-A409-AB9C9BE8DB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fld id="{FEA93237-E45D-B04D-A474-78406B6304EB}" type="slidenum">
              <a:rPr lang="en-US" altLang="en-MX" sz="1200" b="0"/>
              <a:pPr/>
              <a:t>103</a:t>
            </a:fld>
            <a:endParaRPr lang="en-US" altLang="en-MX" sz="1200" b="0"/>
          </a:p>
        </p:txBody>
      </p:sp>
      <p:sp>
        <p:nvSpPr>
          <p:cNvPr id="60419" name="Rectangle 2">
            <a:extLst>
              <a:ext uri="{FF2B5EF4-FFF2-40B4-BE49-F238E27FC236}">
                <a16:creationId xmlns:a16="http://schemas.microsoft.com/office/drawing/2014/main" id="{1BD76018-B893-A04E-9CFF-B5B4BED7AA29}"/>
              </a:ext>
            </a:extLst>
          </p:cNvPr>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60420" name="Rectangle 3">
            <a:extLst>
              <a:ext uri="{FF2B5EF4-FFF2-40B4-BE49-F238E27FC236}">
                <a16:creationId xmlns:a16="http://schemas.microsoft.com/office/drawing/2014/main" id="{D64C9C6F-2A3B-DF4D-A150-4BDEB01CD56D}"/>
              </a:ext>
            </a:extLst>
          </p:cNvPr>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31" tIns="45817" rIns="91631" bIns="45817" anchor="b"/>
          <a:lstStyle>
            <a:lvl1pPr defTabSz="909638">
              <a:defRPr sz="2000" b="1">
                <a:solidFill>
                  <a:schemeClr val="tx1"/>
                </a:solidFill>
                <a:latin typeface="Times New Roman" panose="02020603050405020304" pitchFamily="18" charset="0"/>
              </a:defRPr>
            </a:lvl1pPr>
            <a:lvl2pPr marL="742950" indent="-285750" defTabSz="909638">
              <a:defRPr sz="2000" b="1">
                <a:solidFill>
                  <a:schemeClr val="tx1"/>
                </a:solidFill>
                <a:latin typeface="Times New Roman" panose="02020603050405020304" pitchFamily="18" charset="0"/>
              </a:defRPr>
            </a:lvl2pPr>
            <a:lvl3pPr marL="1143000" indent="-228600" defTabSz="909638">
              <a:defRPr sz="2000" b="1">
                <a:solidFill>
                  <a:schemeClr val="tx1"/>
                </a:solidFill>
                <a:latin typeface="Times New Roman" panose="02020603050405020304" pitchFamily="18" charset="0"/>
              </a:defRPr>
            </a:lvl3pPr>
            <a:lvl4pPr marL="1600200" indent="-228600" defTabSz="909638">
              <a:defRPr sz="2000" b="1">
                <a:solidFill>
                  <a:schemeClr val="tx1"/>
                </a:solidFill>
                <a:latin typeface="Times New Roman" panose="02020603050405020304" pitchFamily="18" charset="0"/>
              </a:defRPr>
            </a:lvl4pPr>
            <a:lvl5pPr marL="2057400" indent="-228600" defTabSz="909638">
              <a:defRPr sz="2000" b="1">
                <a:solidFill>
                  <a:schemeClr val="tx1"/>
                </a:solidFill>
                <a:latin typeface="Times New Roman" panose="02020603050405020304" pitchFamily="18" charset="0"/>
              </a:defRPr>
            </a:lvl5pPr>
            <a:lvl6pPr marL="2514600" indent="-228600" defTabSz="909638"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defTabSz="909638"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defTabSz="909638"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defTabSz="909638" eaLnBrk="0" fontAlgn="base" hangingPunct="0">
              <a:spcBef>
                <a:spcPct val="0"/>
              </a:spcBef>
              <a:spcAft>
                <a:spcPct val="0"/>
              </a:spcAft>
              <a:defRPr sz="2000" b="1">
                <a:solidFill>
                  <a:schemeClr val="tx1"/>
                </a:solidFill>
                <a:latin typeface="Times New Roman" panose="02020603050405020304" pitchFamily="18" charset="0"/>
              </a:defRPr>
            </a:lvl9pPr>
          </a:lstStyle>
          <a:p>
            <a:pPr algn="r"/>
            <a:r>
              <a:rPr lang="en-US" altLang="en-MX" sz="1200" b="0"/>
              <a:t>10</a:t>
            </a:r>
          </a:p>
        </p:txBody>
      </p:sp>
      <p:sp>
        <p:nvSpPr>
          <p:cNvPr id="60421" name="Rectangle 4">
            <a:extLst>
              <a:ext uri="{FF2B5EF4-FFF2-40B4-BE49-F238E27FC236}">
                <a16:creationId xmlns:a16="http://schemas.microsoft.com/office/drawing/2014/main" id="{20DFBB4F-094F-8048-95EA-39D48DD70CCF}"/>
              </a:ext>
            </a:extLst>
          </p:cNvPr>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60422" name="Rectangle 5">
            <a:extLst>
              <a:ext uri="{FF2B5EF4-FFF2-40B4-BE49-F238E27FC236}">
                <a16:creationId xmlns:a16="http://schemas.microsoft.com/office/drawing/2014/main" id="{9A919CEC-143F-4C45-8A1D-67435B5587C4}"/>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60423" name="Rectangle 6">
            <a:extLst>
              <a:ext uri="{FF2B5EF4-FFF2-40B4-BE49-F238E27FC236}">
                <a16:creationId xmlns:a16="http://schemas.microsoft.com/office/drawing/2014/main" id="{03334903-159B-B142-B415-2CBA4225D490}"/>
              </a:ext>
            </a:extLst>
          </p:cNvPr>
          <p:cNvSpPr>
            <a:spLocks noGrp="1" noRot="1" noChangeAspect="1" noChangeArrowheads="1" noTextEdit="1"/>
          </p:cNvSpPr>
          <p:nvPr>
            <p:ph type="sldImg"/>
          </p:nvPr>
        </p:nvSpPr>
        <p:spPr>
          <a:xfrm>
            <a:off x="406400" y="679450"/>
            <a:ext cx="6046788" cy="3402013"/>
          </a:xfrm>
          <a:ln w="12700" cap="flat"/>
        </p:spPr>
      </p:sp>
      <p:sp>
        <p:nvSpPr>
          <p:cNvPr id="60424" name="Rectangle 7">
            <a:extLst>
              <a:ext uri="{FF2B5EF4-FFF2-40B4-BE49-F238E27FC236}">
                <a16:creationId xmlns:a16="http://schemas.microsoft.com/office/drawing/2014/main" id="{43B88A63-291F-6546-96EA-396C0CF0F852}"/>
              </a:ext>
            </a:extLst>
          </p:cNvPr>
          <p:cNvSpPr>
            <a:spLocks noGrp="1" noChangeArrowheads="1"/>
          </p:cNvSpPr>
          <p:nvPr>
            <p:ph type="body" idx="1"/>
          </p:nvPr>
        </p:nvSpPr>
        <p:spPr>
          <a:xfrm>
            <a:off x="914400" y="4306888"/>
            <a:ext cx="5029200" cy="41576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31" tIns="45817" rIns="91631" bIns="45817"/>
          <a:lstStyle/>
          <a:p>
            <a:pPr defTabSz="962025">
              <a:spcBef>
                <a:spcPct val="0"/>
              </a:spcBef>
            </a:pPr>
            <a:endParaRPr lang="en-MX" altLang="en-MX" sz="2500"/>
          </a:p>
        </p:txBody>
      </p:sp>
    </p:spTree>
    <p:extLst>
      <p:ext uri="{BB962C8B-B14F-4D97-AF65-F5344CB8AC3E}">
        <p14:creationId xmlns:p14="http://schemas.microsoft.com/office/powerpoint/2010/main" val="44256987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D73701C1-12CA-A448-8285-3DDAADBEB6E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fld id="{FB53097F-D4E7-5548-90CF-24308B1C9BAC}" type="slidenum">
              <a:rPr lang="en-US" altLang="en-MX" sz="1200" b="0"/>
              <a:pPr/>
              <a:t>104</a:t>
            </a:fld>
            <a:endParaRPr lang="en-US" altLang="en-MX" sz="1200" b="0"/>
          </a:p>
        </p:txBody>
      </p:sp>
      <p:sp>
        <p:nvSpPr>
          <p:cNvPr id="61443" name="Rectangle 2">
            <a:extLst>
              <a:ext uri="{FF2B5EF4-FFF2-40B4-BE49-F238E27FC236}">
                <a16:creationId xmlns:a16="http://schemas.microsoft.com/office/drawing/2014/main" id="{69E91F49-D865-A647-A68E-23A1C6E7621D}"/>
              </a:ext>
            </a:extLst>
          </p:cNvPr>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61444" name="Rectangle 3">
            <a:extLst>
              <a:ext uri="{FF2B5EF4-FFF2-40B4-BE49-F238E27FC236}">
                <a16:creationId xmlns:a16="http://schemas.microsoft.com/office/drawing/2014/main" id="{15D38117-E90C-DF43-84D2-63A74D9D8214}"/>
              </a:ext>
            </a:extLst>
          </p:cNvPr>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31" tIns="45817" rIns="91631" bIns="45817" anchor="b"/>
          <a:lstStyle>
            <a:lvl1pPr defTabSz="909638">
              <a:defRPr sz="2000" b="1">
                <a:solidFill>
                  <a:schemeClr val="tx1"/>
                </a:solidFill>
                <a:latin typeface="Times New Roman" panose="02020603050405020304" pitchFamily="18" charset="0"/>
              </a:defRPr>
            </a:lvl1pPr>
            <a:lvl2pPr marL="742950" indent="-285750" defTabSz="909638">
              <a:defRPr sz="2000" b="1">
                <a:solidFill>
                  <a:schemeClr val="tx1"/>
                </a:solidFill>
                <a:latin typeface="Times New Roman" panose="02020603050405020304" pitchFamily="18" charset="0"/>
              </a:defRPr>
            </a:lvl2pPr>
            <a:lvl3pPr marL="1143000" indent="-228600" defTabSz="909638">
              <a:defRPr sz="2000" b="1">
                <a:solidFill>
                  <a:schemeClr val="tx1"/>
                </a:solidFill>
                <a:latin typeface="Times New Roman" panose="02020603050405020304" pitchFamily="18" charset="0"/>
              </a:defRPr>
            </a:lvl3pPr>
            <a:lvl4pPr marL="1600200" indent="-228600" defTabSz="909638">
              <a:defRPr sz="2000" b="1">
                <a:solidFill>
                  <a:schemeClr val="tx1"/>
                </a:solidFill>
                <a:latin typeface="Times New Roman" panose="02020603050405020304" pitchFamily="18" charset="0"/>
              </a:defRPr>
            </a:lvl4pPr>
            <a:lvl5pPr marL="2057400" indent="-228600" defTabSz="909638">
              <a:defRPr sz="2000" b="1">
                <a:solidFill>
                  <a:schemeClr val="tx1"/>
                </a:solidFill>
                <a:latin typeface="Times New Roman" panose="02020603050405020304" pitchFamily="18" charset="0"/>
              </a:defRPr>
            </a:lvl5pPr>
            <a:lvl6pPr marL="2514600" indent="-228600" defTabSz="909638"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defTabSz="909638"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defTabSz="909638"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defTabSz="909638" eaLnBrk="0" fontAlgn="base" hangingPunct="0">
              <a:spcBef>
                <a:spcPct val="0"/>
              </a:spcBef>
              <a:spcAft>
                <a:spcPct val="0"/>
              </a:spcAft>
              <a:defRPr sz="2000" b="1">
                <a:solidFill>
                  <a:schemeClr val="tx1"/>
                </a:solidFill>
                <a:latin typeface="Times New Roman" panose="02020603050405020304" pitchFamily="18" charset="0"/>
              </a:defRPr>
            </a:lvl9pPr>
          </a:lstStyle>
          <a:p>
            <a:pPr algn="r"/>
            <a:r>
              <a:rPr lang="en-US" altLang="en-MX" sz="1200" b="0"/>
              <a:t>10</a:t>
            </a:r>
          </a:p>
        </p:txBody>
      </p:sp>
      <p:sp>
        <p:nvSpPr>
          <p:cNvPr id="61445" name="Rectangle 4">
            <a:extLst>
              <a:ext uri="{FF2B5EF4-FFF2-40B4-BE49-F238E27FC236}">
                <a16:creationId xmlns:a16="http://schemas.microsoft.com/office/drawing/2014/main" id="{3CBB4D7E-B52C-0346-8331-07BA2A1CAC4C}"/>
              </a:ext>
            </a:extLst>
          </p:cNvPr>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61446" name="Rectangle 5">
            <a:extLst>
              <a:ext uri="{FF2B5EF4-FFF2-40B4-BE49-F238E27FC236}">
                <a16:creationId xmlns:a16="http://schemas.microsoft.com/office/drawing/2014/main" id="{DEE50EF0-A27D-694A-AD23-D1E13611CCB8}"/>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61447" name="Rectangle 6">
            <a:extLst>
              <a:ext uri="{FF2B5EF4-FFF2-40B4-BE49-F238E27FC236}">
                <a16:creationId xmlns:a16="http://schemas.microsoft.com/office/drawing/2014/main" id="{5105CA0C-56E8-2844-BA2A-F37FFF2DCED5}"/>
              </a:ext>
            </a:extLst>
          </p:cNvPr>
          <p:cNvSpPr>
            <a:spLocks noGrp="1" noRot="1" noChangeAspect="1" noChangeArrowheads="1" noTextEdit="1"/>
          </p:cNvSpPr>
          <p:nvPr>
            <p:ph type="sldImg"/>
          </p:nvPr>
        </p:nvSpPr>
        <p:spPr>
          <a:xfrm>
            <a:off x="406400" y="679450"/>
            <a:ext cx="6046788" cy="3402013"/>
          </a:xfrm>
          <a:ln w="12700" cap="flat"/>
        </p:spPr>
      </p:sp>
      <p:sp>
        <p:nvSpPr>
          <p:cNvPr id="61448" name="Rectangle 7">
            <a:extLst>
              <a:ext uri="{FF2B5EF4-FFF2-40B4-BE49-F238E27FC236}">
                <a16:creationId xmlns:a16="http://schemas.microsoft.com/office/drawing/2014/main" id="{343BCAD5-F0F1-5E4E-A156-82E5F5EFA421}"/>
              </a:ext>
            </a:extLst>
          </p:cNvPr>
          <p:cNvSpPr>
            <a:spLocks noGrp="1" noChangeArrowheads="1"/>
          </p:cNvSpPr>
          <p:nvPr>
            <p:ph type="body" idx="1"/>
          </p:nvPr>
        </p:nvSpPr>
        <p:spPr>
          <a:xfrm>
            <a:off x="914400" y="4306888"/>
            <a:ext cx="5029200" cy="41576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31" tIns="45817" rIns="91631" bIns="45817"/>
          <a:lstStyle/>
          <a:p>
            <a:pPr defTabSz="962025">
              <a:spcBef>
                <a:spcPct val="0"/>
              </a:spcBef>
            </a:pPr>
            <a:endParaRPr lang="en-MX" altLang="en-MX" sz="2500"/>
          </a:p>
        </p:txBody>
      </p:sp>
    </p:spTree>
    <p:extLst>
      <p:ext uri="{BB962C8B-B14F-4D97-AF65-F5344CB8AC3E}">
        <p14:creationId xmlns:p14="http://schemas.microsoft.com/office/powerpoint/2010/main" val="398614547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E44A4778-D5F1-9B45-969D-F80ED49AD7C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fld id="{344A28D3-4914-284E-BD4C-CE868DA9EE77}" type="slidenum">
              <a:rPr lang="en-US" altLang="en-MX" sz="1200" b="0"/>
              <a:pPr/>
              <a:t>105</a:t>
            </a:fld>
            <a:endParaRPr lang="en-US" altLang="en-MX" sz="1200" b="0"/>
          </a:p>
        </p:txBody>
      </p:sp>
      <p:sp>
        <p:nvSpPr>
          <p:cNvPr id="62467" name="Rectangle 2">
            <a:extLst>
              <a:ext uri="{FF2B5EF4-FFF2-40B4-BE49-F238E27FC236}">
                <a16:creationId xmlns:a16="http://schemas.microsoft.com/office/drawing/2014/main" id="{03B519F3-682B-254B-876D-C59A15FCE9E2}"/>
              </a:ext>
            </a:extLst>
          </p:cNvPr>
          <p:cNvSpPr>
            <a:spLocks noGrp="1" noRot="1" noChangeAspect="1" noChangeArrowheads="1" noTextEdit="1"/>
          </p:cNvSpPr>
          <p:nvPr>
            <p:ph type="sldImg"/>
          </p:nvPr>
        </p:nvSpPr>
        <p:spPr>
          <a:xfrm>
            <a:off x="360363" y="711200"/>
            <a:ext cx="6138862" cy="3454400"/>
          </a:xfrm>
          <a:ln/>
        </p:spPr>
      </p:sp>
      <p:sp>
        <p:nvSpPr>
          <p:cNvPr id="62468" name="Rectangle 3">
            <a:extLst>
              <a:ext uri="{FF2B5EF4-FFF2-40B4-BE49-F238E27FC236}">
                <a16:creationId xmlns:a16="http://schemas.microsoft.com/office/drawing/2014/main" id="{94766F3E-7251-CB4F-9990-3FD748F16904}"/>
              </a:ext>
            </a:extLst>
          </p:cNvPr>
          <p:cNvSpPr>
            <a:spLocks noGrp="1" noChangeArrowheads="1"/>
          </p:cNvSpPr>
          <p:nvPr>
            <p:ph type="body" idx="1"/>
          </p:nvPr>
        </p:nvSpPr>
        <p:spPr>
          <a:xfrm>
            <a:off x="908050" y="4368800"/>
            <a:ext cx="5041900" cy="40640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999" tIns="45500" rIns="90999" bIns="45500"/>
          <a:lstStyle/>
          <a:p>
            <a:endParaRPr lang="en-MX" altLang="en-MX"/>
          </a:p>
        </p:txBody>
      </p:sp>
    </p:spTree>
    <p:extLst>
      <p:ext uri="{BB962C8B-B14F-4D97-AF65-F5344CB8AC3E}">
        <p14:creationId xmlns:p14="http://schemas.microsoft.com/office/powerpoint/2010/main" val="136206104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BD773CCC-953A-E246-A38A-7DB69010A50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fld id="{4F66D0AF-A39C-B84C-8FE2-A3616C32FEEE}" type="slidenum">
              <a:rPr lang="en-US" altLang="en-MX" sz="1200" b="0"/>
              <a:pPr/>
              <a:t>107</a:t>
            </a:fld>
            <a:endParaRPr lang="en-US" altLang="en-MX" sz="1200" b="0"/>
          </a:p>
        </p:txBody>
      </p:sp>
      <p:sp>
        <p:nvSpPr>
          <p:cNvPr id="63491" name="Rectangle 2">
            <a:extLst>
              <a:ext uri="{FF2B5EF4-FFF2-40B4-BE49-F238E27FC236}">
                <a16:creationId xmlns:a16="http://schemas.microsoft.com/office/drawing/2014/main" id="{83D6F86D-B539-0E45-89CC-959AF1FBDEDF}"/>
              </a:ext>
            </a:extLst>
          </p:cNvPr>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63492" name="Rectangle 3">
            <a:extLst>
              <a:ext uri="{FF2B5EF4-FFF2-40B4-BE49-F238E27FC236}">
                <a16:creationId xmlns:a16="http://schemas.microsoft.com/office/drawing/2014/main" id="{7E555CF9-178B-394C-9535-574345C1B2F4}"/>
              </a:ext>
            </a:extLst>
          </p:cNvPr>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31" tIns="45817" rIns="91631" bIns="45817" anchor="b"/>
          <a:lstStyle>
            <a:lvl1pPr defTabSz="909638">
              <a:defRPr sz="2000" b="1">
                <a:solidFill>
                  <a:schemeClr val="tx1"/>
                </a:solidFill>
                <a:latin typeface="Times New Roman" panose="02020603050405020304" pitchFamily="18" charset="0"/>
              </a:defRPr>
            </a:lvl1pPr>
            <a:lvl2pPr marL="742950" indent="-285750" defTabSz="909638">
              <a:defRPr sz="2000" b="1">
                <a:solidFill>
                  <a:schemeClr val="tx1"/>
                </a:solidFill>
                <a:latin typeface="Times New Roman" panose="02020603050405020304" pitchFamily="18" charset="0"/>
              </a:defRPr>
            </a:lvl2pPr>
            <a:lvl3pPr marL="1143000" indent="-228600" defTabSz="909638">
              <a:defRPr sz="2000" b="1">
                <a:solidFill>
                  <a:schemeClr val="tx1"/>
                </a:solidFill>
                <a:latin typeface="Times New Roman" panose="02020603050405020304" pitchFamily="18" charset="0"/>
              </a:defRPr>
            </a:lvl3pPr>
            <a:lvl4pPr marL="1600200" indent="-228600" defTabSz="909638">
              <a:defRPr sz="2000" b="1">
                <a:solidFill>
                  <a:schemeClr val="tx1"/>
                </a:solidFill>
                <a:latin typeface="Times New Roman" panose="02020603050405020304" pitchFamily="18" charset="0"/>
              </a:defRPr>
            </a:lvl4pPr>
            <a:lvl5pPr marL="2057400" indent="-228600" defTabSz="909638">
              <a:defRPr sz="2000" b="1">
                <a:solidFill>
                  <a:schemeClr val="tx1"/>
                </a:solidFill>
                <a:latin typeface="Times New Roman" panose="02020603050405020304" pitchFamily="18" charset="0"/>
              </a:defRPr>
            </a:lvl5pPr>
            <a:lvl6pPr marL="2514600" indent="-228600" defTabSz="909638"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defTabSz="909638"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defTabSz="909638"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defTabSz="909638" eaLnBrk="0" fontAlgn="base" hangingPunct="0">
              <a:spcBef>
                <a:spcPct val="0"/>
              </a:spcBef>
              <a:spcAft>
                <a:spcPct val="0"/>
              </a:spcAft>
              <a:defRPr sz="2000" b="1">
                <a:solidFill>
                  <a:schemeClr val="tx1"/>
                </a:solidFill>
                <a:latin typeface="Times New Roman" panose="02020603050405020304" pitchFamily="18" charset="0"/>
              </a:defRPr>
            </a:lvl9pPr>
          </a:lstStyle>
          <a:p>
            <a:pPr algn="r"/>
            <a:r>
              <a:rPr lang="en-US" altLang="en-MX" sz="1200" b="0"/>
              <a:t>10</a:t>
            </a:r>
          </a:p>
        </p:txBody>
      </p:sp>
      <p:sp>
        <p:nvSpPr>
          <p:cNvPr id="63493" name="Rectangle 4">
            <a:extLst>
              <a:ext uri="{FF2B5EF4-FFF2-40B4-BE49-F238E27FC236}">
                <a16:creationId xmlns:a16="http://schemas.microsoft.com/office/drawing/2014/main" id="{48D479F4-351D-E54D-9A1F-4BB30CC8757B}"/>
              </a:ext>
            </a:extLst>
          </p:cNvPr>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63494" name="Rectangle 5">
            <a:extLst>
              <a:ext uri="{FF2B5EF4-FFF2-40B4-BE49-F238E27FC236}">
                <a16:creationId xmlns:a16="http://schemas.microsoft.com/office/drawing/2014/main" id="{74D3B8C1-8D39-1740-AB5B-BDA0847FB951}"/>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63495" name="Rectangle 6">
            <a:extLst>
              <a:ext uri="{FF2B5EF4-FFF2-40B4-BE49-F238E27FC236}">
                <a16:creationId xmlns:a16="http://schemas.microsoft.com/office/drawing/2014/main" id="{E2A6777A-E8AB-1543-973A-E9711C8598FB}"/>
              </a:ext>
            </a:extLst>
          </p:cNvPr>
          <p:cNvSpPr>
            <a:spLocks noGrp="1" noRot="1" noChangeAspect="1" noChangeArrowheads="1" noTextEdit="1"/>
          </p:cNvSpPr>
          <p:nvPr>
            <p:ph type="sldImg"/>
          </p:nvPr>
        </p:nvSpPr>
        <p:spPr>
          <a:xfrm>
            <a:off x="406400" y="679450"/>
            <a:ext cx="6046788" cy="3402013"/>
          </a:xfrm>
          <a:ln w="12700" cap="flat"/>
        </p:spPr>
      </p:sp>
      <p:sp>
        <p:nvSpPr>
          <p:cNvPr id="63496" name="Rectangle 7">
            <a:extLst>
              <a:ext uri="{FF2B5EF4-FFF2-40B4-BE49-F238E27FC236}">
                <a16:creationId xmlns:a16="http://schemas.microsoft.com/office/drawing/2014/main" id="{A51BE420-796F-B34B-B880-DD3F84988E9F}"/>
              </a:ext>
            </a:extLst>
          </p:cNvPr>
          <p:cNvSpPr>
            <a:spLocks noGrp="1" noChangeArrowheads="1"/>
          </p:cNvSpPr>
          <p:nvPr>
            <p:ph type="body" idx="1"/>
          </p:nvPr>
        </p:nvSpPr>
        <p:spPr>
          <a:xfrm>
            <a:off x="914400" y="4306888"/>
            <a:ext cx="5029200" cy="41576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31" tIns="45817" rIns="91631" bIns="45817"/>
          <a:lstStyle/>
          <a:p>
            <a:pPr defTabSz="962025">
              <a:spcBef>
                <a:spcPct val="0"/>
              </a:spcBef>
            </a:pPr>
            <a:endParaRPr lang="en-MX" altLang="en-MX" sz="2500"/>
          </a:p>
        </p:txBody>
      </p:sp>
    </p:spTree>
    <p:extLst>
      <p:ext uri="{BB962C8B-B14F-4D97-AF65-F5344CB8AC3E}">
        <p14:creationId xmlns:p14="http://schemas.microsoft.com/office/powerpoint/2010/main" val="65245171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8CB14030-E6BB-0148-B100-0D5C6C7A75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fld id="{21AC3016-AD52-C84C-9832-C56618F6EE78}" type="slidenum">
              <a:rPr lang="en-US" altLang="en-MX" sz="1200" b="0"/>
              <a:pPr/>
              <a:t>108</a:t>
            </a:fld>
            <a:endParaRPr lang="en-US" altLang="en-MX" sz="1200" b="0"/>
          </a:p>
        </p:txBody>
      </p:sp>
      <p:sp>
        <p:nvSpPr>
          <p:cNvPr id="64515" name="Rectangle 2">
            <a:extLst>
              <a:ext uri="{FF2B5EF4-FFF2-40B4-BE49-F238E27FC236}">
                <a16:creationId xmlns:a16="http://schemas.microsoft.com/office/drawing/2014/main" id="{5FF575B7-0BEB-504A-AF99-BB62B4993BCE}"/>
              </a:ext>
            </a:extLst>
          </p:cNvPr>
          <p:cNvSpPr>
            <a:spLocks noGrp="1" noRot="1" noChangeAspect="1" noChangeArrowheads="1" noTextEdit="1"/>
          </p:cNvSpPr>
          <p:nvPr>
            <p:ph type="sldImg"/>
          </p:nvPr>
        </p:nvSpPr>
        <p:spPr>
          <a:xfrm>
            <a:off x="400050" y="696913"/>
            <a:ext cx="6061075" cy="3409950"/>
          </a:xfrm>
          <a:ln w="12700">
            <a:solidFill>
              <a:schemeClr val="tx1"/>
            </a:solidFill>
          </a:ln>
        </p:spPr>
      </p:sp>
      <p:sp>
        <p:nvSpPr>
          <p:cNvPr id="64516" name="Rectangle 3">
            <a:extLst>
              <a:ext uri="{FF2B5EF4-FFF2-40B4-BE49-F238E27FC236}">
                <a16:creationId xmlns:a16="http://schemas.microsoft.com/office/drawing/2014/main" id="{F84B2756-49A6-2D4C-8D18-03BDD76457E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31" tIns="45817" rIns="91631" bIns="45817"/>
          <a:lstStyle/>
          <a:p>
            <a:endParaRPr lang="en-MX" altLang="en-MX"/>
          </a:p>
        </p:txBody>
      </p:sp>
    </p:spTree>
    <p:extLst>
      <p:ext uri="{BB962C8B-B14F-4D97-AF65-F5344CB8AC3E}">
        <p14:creationId xmlns:p14="http://schemas.microsoft.com/office/powerpoint/2010/main" val="322560453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0E04F427-C3F5-5D42-AA5D-3163A41B6A3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fld id="{0857D56E-53DF-9649-902C-3AFDA6C72FBE}" type="slidenum">
              <a:rPr lang="en-US" altLang="en-MX" sz="1200" b="0"/>
              <a:pPr/>
              <a:t>109</a:t>
            </a:fld>
            <a:endParaRPr lang="en-US" altLang="en-MX" sz="1200" b="0"/>
          </a:p>
        </p:txBody>
      </p:sp>
      <p:sp>
        <p:nvSpPr>
          <p:cNvPr id="65539" name="Rectangle 2">
            <a:extLst>
              <a:ext uri="{FF2B5EF4-FFF2-40B4-BE49-F238E27FC236}">
                <a16:creationId xmlns:a16="http://schemas.microsoft.com/office/drawing/2014/main" id="{BE598C1E-7DAF-AC4E-A777-6B30BC793C27}"/>
              </a:ext>
            </a:extLst>
          </p:cNvPr>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65540" name="Rectangle 3">
            <a:extLst>
              <a:ext uri="{FF2B5EF4-FFF2-40B4-BE49-F238E27FC236}">
                <a16:creationId xmlns:a16="http://schemas.microsoft.com/office/drawing/2014/main" id="{5F54022B-133B-A446-853C-23BB5CCC2529}"/>
              </a:ext>
            </a:extLst>
          </p:cNvPr>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31" tIns="45817" rIns="91631" bIns="45817" anchor="b"/>
          <a:lstStyle>
            <a:lvl1pPr defTabSz="909638">
              <a:defRPr sz="2000" b="1">
                <a:solidFill>
                  <a:schemeClr val="tx1"/>
                </a:solidFill>
                <a:latin typeface="Times New Roman" panose="02020603050405020304" pitchFamily="18" charset="0"/>
              </a:defRPr>
            </a:lvl1pPr>
            <a:lvl2pPr marL="742950" indent="-285750" defTabSz="909638">
              <a:defRPr sz="2000" b="1">
                <a:solidFill>
                  <a:schemeClr val="tx1"/>
                </a:solidFill>
                <a:latin typeface="Times New Roman" panose="02020603050405020304" pitchFamily="18" charset="0"/>
              </a:defRPr>
            </a:lvl2pPr>
            <a:lvl3pPr marL="1143000" indent="-228600" defTabSz="909638">
              <a:defRPr sz="2000" b="1">
                <a:solidFill>
                  <a:schemeClr val="tx1"/>
                </a:solidFill>
                <a:latin typeface="Times New Roman" panose="02020603050405020304" pitchFamily="18" charset="0"/>
              </a:defRPr>
            </a:lvl3pPr>
            <a:lvl4pPr marL="1600200" indent="-228600" defTabSz="909638">
              <a:defRPr sz="2000" b="1">
                <a:solidFill>
                  <a:schemeClr val="tx1"/>
                </a:solidFill>
                <a:latin typeface="Times New Roman" panose="02020603050405020304" pitchFamily="18" charset="0"/>
              </a:defRPr>
            </a:lvl4pPr>
            <a:lvl5pPr marL="2057400" indent="-228600" defTabSz="909638">
              <a:defRPr sz="2000" b="1">
                <a:solidFill>
                  <a:schemeClr val="tx1"/>
                </a:solidFill>
                <a:latin typeface="Times New Roman" panose="02020603050405020304" pitchFamily="18" charset="0"/>
              </a:defRPr>
            </a:lvl5pPr>
            <a:lvl6pPr marL="2514600" indent="-228600" defTabSz="909638"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defTabSz="909638"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defTabSz="909638"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defTabSz="909638" eaLnBrk="0" fontAlgn="base" hangingPunct="0">
              <a:spcBef>
                <a:spcPct val="0"/>
              </a:spcBef>
              <a:spcAft>
                <a:spcPct val="0"/>
              </a:spcAft>
              <a:defRPr sz="2000" b="1">
                <a:solidFill>
                  <a:schemeClr val="tx1"/>
                </a:solidFill>
                <a:latin typeface="Times New Roman" panose="02020603050405020304" pitchFamily="18" charset="0"/>
              </a:defRPr>
            </a:lvl9pPr>
          </a:lstStyle>
          <a:p>
            <a:pPr algn="r"/>
            <a:r>
              <a:rPr lang="en-US" altLang="en-MX" sz="1200" b="0"/>
              <a:t>4</a:t>
            </a:r>
          </a:p>
        </p:txBody>
      </p:sp>
      <p:sp>
        <p:nvSpPr>
          <p:cNvPr id="65541" name="Rectangle 4">
            <a:extLst>
              <a:ext uri="{FF2B5EF4-FFF2-40B4-BE49-F238E27FC236}">
                <a16:creationId xmlns:a16="http://schemas.microsoft.com/office/drawing/2014/main" id="{574F7602-8FD4-CD46-8021-F420DEAE0155}"/>
              </a:ext>
            </a:extLst>
          </p:cNvPr>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65542" name="Rectangle 5">
            <a:extLst>
              <a:ext uri="{FF2B5EF4-FFF2-40B4-BE49-F238E27FC236}">
                <a16:creationId xmlns:a16="http://schemas.microsoft.com/office/drawing/2014/main" id="{D120E996-0EC2-224B-8D2F-40FC0E8CF616}"/>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65543" name="Rectangle 6">
            <a:extLst>
              <a:ext uri="{FF2B5EF4-FFF2-40B4-BE49-F238E27FC236}">
                <a16:creationId xmlns:a16="http://schemas.microsoft.com/office/drawing/2014/main" id="{0C8BF402-E1D5-DA48-95DA-4E250ADA63DF}"/>
              </a:ext>
            </a:extLst>
          </p:cNvPr>
          <p:cNvSpPr>
            <a:spLocks noGrp="1" noRot="1" noChangeAspect="1" noChangeArrowheads="1" noTextEdit="1"/>
          </p:cNvSpPr>
          <p:nvPr>
            <p:ph type="sldImg"/>
          </p:nvPr>
        </p:nvSpPr>
        <p:spPr>
          <a:xfrm>
            <a:off x="406400" y="679450"/>
            <a:ext cx="6046788" cy="3402013"/>
          </a:xfrm>
          <a:ln w="12700" cap="flat"/>
        </p:spPr>
      </p:sp>
      <p:sp>
        <p:nvSpPr>
          <p:cNvPr id="65544" name="Rectangle 7">
            <a:extLst>
              <a:ext uri="{FF2B5EF4-FFF2-40B4-BE49-F238E27FC236}">
                <a16:creationId xmlns:a16="http://schemas.microsoft.com/office/drawing/2014/main" id="{8F5934D8-957D-964D-843E-FEC610AF7B0A}"/>
              </a:ext>
            </a:extLst>
          </p:cNvPr>
          <p:cNvSpPr>
            <a:spLocks noGrp="1" noChangeArrowheads="1"/>
          </p:cNvSpPr>
          <p:nvPr>
            <p:ph type="body" idx="1"/>
          </p:nvPr>
        </p:nvSpPr>
        <p:spPr>
          <a:xfrm>
            <a:off x="381000" y="4343400"/>
            <a:ext cx="60198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31" tIns="45817" rIns="91631" bIns="45817"/>
          <a:lstStyle/>
          <a:p>
            <a:pPr>
              <a:spcBef>
                <a:spcPts val="500"/>
              </a:spcBef>
              <a:spcAft>
                <a:spcPts val="500"/>
              </a:spcAft>
            </a:pPr>
            <a:endParaRPr lang="en-US" altLang="en-MX" sz="2400"/>
          </a:p>
          <a:p>
            <a:pPr>
              <a:spcBef>
                <a:spcPts val="500"/>
              </a:spcBef>
              <a:spcAft>
                <a:spcPts val="500"/>
              </a:spcAft>
            </a:pPr>
            <a:endParaRPr lang="en-US" altLang="en-MX" sz="2400"/>
          </a:p>
        </p:txBody>
      </p:sp>
    </p:spTree>
    <p:extLst>
      <p:ext uri="{BB962C8B-B14F-4D97-AF65-F5344CB8AC3E}">
        <p14:creationId xmlns:p14="http://schemas.microsoft.com/office/powerpoint/2010/main" val="136302588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9A6C8785-14E6-8047-95B4-C2172003507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fld id="{09BF521C-66F8-924F-8DA4-F0CD1D809AE7}" type="slidenum">
              <a:rPr lang="en-US" altLang="en-MX" sz="1200" b="0"/>
              <a:pPr/>
              <a:t>111</a:t>
            </a:fld>
            <a:endParaRPr lang="en-US" altLang="en-MX" sz="1200" b="0"/>
          </a:p>
        </p:txBody>
      </p:sp>
      <p:sp>
        <p:nvSpPr>
          <p:cNvPr id="66563" name="Rectangle 2">
            <a:extLst>
              <a:ext uri="{FF2B5EF4-FFF2-40B4-BE49-F238E27FC236}">
                <a16:creationId xmlns:a16="http://schemas.microsoft.com/office/drawing/2014/main" id="{D3B89D49-7460-BE4E-9E13-DF4D3C92B4B0}"/>
              </a:ext>
            </a:extLst>
          </p:cNvPr>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66564" name="Rectangle 3">
            <a:extLst>
              <a:ext uri="{FF2B5EF4-FFF2-40B4-BE49-F238E27FC236}">
                <a16:creationId xmlns:a16="http://schemas.microsoft.com/office/drawing/2014/main" id="{EBC62379-2FE0-CD48-A9DE-7194AAC75545}"/>
              </a:ext>
            </a:extLst>
          </p:cNvPr>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31" tIns="45817" rIns="91631" bIns="45817" anchor="b"/>
          <a:lstStyle>
            <a:lvl1pPr defTabSz="909638">
              <a:defRPr sz="2000" b="1">
                <a:solidFill>
                  <a:schemeClr val="tx1"/>
                </a:solidFill>
                <a:latin typeface="Times New Roman" panose="02020603050405020304" pitchFamily="18" charset="0"/>
              </a:defRPr>
            </a:lvl1pPr>
            <a:lvl2pPr marL="742950" indent="-285750" defTabSz="909638">
              <a:defRPr sz="2000" b="1">
                <a:solidFill>
                  <a:schemeClr val="tx1"/>
                </a:solidFill>
                <a:latin typeface="Times New Roman" panose="02020603050405020304" pitchFamily="18" charset="0"/>
              </a:defRPr>
            </a:lvl2pPr>
            <a:lvl3pPr marL="1143000" indent="-228600" defTabSz="909638">
              <a:defRPr sz="2000" b="1">
                <a:solidFill>
                  <a:schemeClr val="tx1"/>
                </a:solidFill>
                <a:latin typeface="Times New Roman" panose="02020603050405020304" pitchFamily="18" charset="0"/>
              </a:defRPr>
            </a:lvl3pPr>
            <a:lvl4pPr marL="1600200" indent="-228600" defTabSz="909638">
              <a:defRPr sz="2000" b="1">
                <a:solidFill>
                  <a:schemeClr val="tx1"/>
                </a:solidFill>
                <a:latin typeface="Times New Roman" panose="02020603050405020304" pitchFamily="18" charset="0"/>
              </a:defRPr>
            </a:lvl4pPr>
            <a:lvl5pPr marL="2057400" indent="-228600" defTabSz="909638">
              <a:defRPr sz="2000" b="1">
                <a:solidFill>
                  <a:schemeClr val="tx1"/>
                </a:solidFill>
                <a:latin typeface="Times New Roman" panose="02020603050405020304" pitchFamily="18" charset="0"/>
              </a:defRPr>
            </a:lvl5pPr>
            <a:lvl6pPr marL="2514600" indent="-228600" defTabSz="909638"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defTabSz="909638"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defTabSz="909638"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defTabSz="909638" eaLnBrk="0" fontAlgn="base" hangingPunct="0">
              <a:spcBef>
                <a:spcPct val="0"/>
              </a:spcBef>
              <a:spcAft>
                <a:spcPct val="0"/>
              </a:spcAft>
              <a:defRPr sz="2000" b="1">
                <a:solidFill>
                  <a:schemeClr val="tx1"/>
                </a:solidFill>
                <a:latin typeface="Times New Roman" panose="02020603050405020304" pitchFamily="18" charset="0"/>
              </a:defRPr>
            </a:lvl9pPr>
          </a:lstStyle>
          <a:p>
            <a:pPr algn="r"/>
            <a:r>
              <a:rPr lang="en-US" altLang="en-MX" sz="1200" b="0"/>
              <a:t>10</a:t>
            </a:r>
          </a:p>
        </p:txBody>
      </p:sp>
      <p:sp>
        <p:nvSpPr>
          <p:cNvPr id="66565" name="Rectangle 4">
            <a:extLst>
              <a:ext uri="{FF2B5EF4-FFF2-40B4-BE49-F238E27FC236}">
                <a16:creationId xmlns:a16="http://schemas.microsoft.com/office/drawing/2014/main" id="{FEB20A12-5465-A147-BA8F-BF7FAABD0CD5}"/>
              </a:ext>
            </a:extLst>
          </p:cNvPr>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66566" name="Rectangle 5">
            <a:extLst>
              <a:ext uri="{FF2B5EF4-FFF2-40B4-BE49-F238E27FC236}">
                <a16:creationId xmlns:a16="http://schemas.microsoft.com/office/drawing/2014/main" id="{2E64C79D-EE8D-FE4E-8752-1E8EC04FAB66}"/>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66567" name="Rectangle 6">
            <a:extLst>
              <a:ext uri="{FF2B5EF4-FFF2-40B4-BE49-F238E27FC236}">
                <a16:creationId xmlns:a16="http://schemas.microsoft.com/office/drawing/2014/main" id="{A4A0E18A-349F-A54F-9756-68A24687E42E}"/>
              </a:ext>
            </a:extLst>
          </p:cNvPr>
          <p:cNvSpPr>
            <a:spLocks noGrp="1" noRot="1" noChangeAspect="1" noChangeArrowheads="1" noTextEdit="1"/>
          </p:cNvSpPr>
          <p:nvPr>
            <p:ph type="sldImg"/>
          </p:nvPr>
        </p:nvSpPr>
        <p:spPr>
          <a:xfrm>
            <a:off x="406400" y="679450"/>
            <a:ext cx="6046788" cy="3402013"/>
          </a:xfrm>
          <a:ln w="12700" cap="flat"/>
        </p:spPr>
      </p:sp>
      <p:sp>
        <p:nvSpPr>
          <p:cNvPr id="66568" name="Rectangle 7">
            <a:extLst>
              <a:ext uri="{FF2B5EF4-FFF2-40B4-BE49-F238E27FC236}">
                <a16:creationId xmlns:a16="http://schemas.microsoft.com/office/drawing/2014/main" id="{0EA12954-6C5A-5F41-B66D-94ED626B036C}"/>
              </a:ext>
            </a:extLst>
          </p:cNvPr>
          <p:cNvSpPr>
            <a:spLocks noGrp="1" noChangeArrowheads="1"/>
          </p:cNvSpPr>
          <p:nvPr>
            <p:ph type="body" idx="1"/>
          </p:nvPr>
        </p:nvSpPr>
        <p:spPr>
          <a:xfrm>
            <a:off x="914400" y="4306888"/>
            <a:ext cx="5029200" cy="41576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31" tIns="45817" rIns="91631" bIns="45817"/>
          <a:lstStyle/>
          <a:p>
            <a:pPr>
              <a:lnSpc>
                <a:spcPct val="80000"/>
              </a:lnSpc>
              <a:spcBef>
                <a:spcPct val="0"/>
              </a:spcBef>
            </a:pPr>
            <a:r>
              <a:rPr lang="en-US" altLang="en-MX"/>
              <a:t>Best you can do is D,E,F,C and 24/27A</a:t>
            </a:r>
          </a:p>
          <a:p>
            <a:pPr>
              <a:lnSpc>
                <a:spcPct val="80000"/>
              </a:lnSpc>
              <a:spcBef>
                <a:spcPct val="0"/>
              </a:spcBef>
            </a:pPr>
            <a:r>
              <a:rPr lang="en-US" altLang="en-MX"/>
              <a:t>Cost=180</a:t>
            </a:r>
          </a:p>
          <a:p>
            <a:pPr>
              <a:lnSpc>
                <a:spcPct val="80000"/>
              </a:lnSpc>
              <a:spcBef>
                <a:spcPct val="0"/>
              </a:spcBef>
            </a:pPr>
            <a:r>
              <a:rPr lang="en-US" altLang="en-MX"/>
              <a:t>Benefit 261.7</a:t>
            </a:r>
          </a:p>
          <a:p>
            <a:pPr>
              <a:lnSpc>
                <a:spcPct val="80000"/>
              </a:lnSpc>
              <a:spcBef>
                <a:spcPct val="0"/>
              </a:spcBef>
            </a:pPr>
            <a:r>
              <a:rPr lang="en-US" altLang="en-MX"/>
              <a:t>Threshold=0.9</a:t>
            </a:r>
          </a:p>
          <a:p>
            <a:pPr>
              <a:lnSpc>
                <a:spcPct val="80000"/>
              </a:lnSpc>
              <a:spcBef>
                <a:spcPct val="0"/>
              </a:spcBef>
            </a:pPr>
            <a:r>
              <a:rPr lang="en-US" altLang="en-MX"/>
              <a:t>In the absence of any other programs the best you can do is 261.7 given this budget constraint.</a:t>
            </a:r>
          </a:p>
          <a:p>
            <a:pPr>
              <a:lnSpc>
                <a:spcPct val="80000"/>
              </a:lnSpc>
              <a:spcBef>
                <a:spcPct val="0"/>
              </a:spcBef>
            </a:pPr>
            <a:endParaRPr lang="en-US" altLang="en-MX"/>
          </a:p>
          <a:p>
            <a:pPr>
              <a:lnSpc>
                <a:spcPct val="80000"/>
              </a:lnSpc>
              <a:spcBef>
                <a:spcPct val="0"/>
              </a:spcBef>
            </a:pPr>
            <a:r>
              <a:rPr lang="en-US" altLang="en-MX" u="sng"/>
              <a:t>Threshold Ratio:</a:t>
            </a:r>
          </a:p>
          <a:p>
            <a:pPr>
              <a:lnSpc>
                <a:spcPct val="80000"/>
              </a:lnSpc>
              <a:spcBef>
                <a:spcPct val="10000"/>
              </a:spcBef>
              <a:spcAft>
                <a:spcPct val="30000"/>
              </a:spcAft>
              <a:buFontTx/>
              <a:buChar char="•"/>
            </a:pPr>
            <a:r>
              <a:rPr lang="en-US" altLang="en-MX">
                <a:solidFill>
                  <a:srgbClr val="000000"/>
                </a:solidFill>
              </a:rPr>
              <a:t>Cost-effectiveness ratio of the last included program selected before budget exhausted</a:t>
            </a:r>
          </a:p>
          <a:p>
            <a:pPr>
              <a:lnSpc>
                <a:spcPct val="80000"/>
              </a:lnSpc>
              <a:spcBef>
                <a:spcPct val="10000"/>
              </a:spcBef>
              <a:spcAft>
                <a:spcPct val="30000"/>
              </a:spcAft>
              <a:buFontTx/>
              <a:buChar char="•"/>
            </a:pPr>
            <a:r>
              <a:rPr lang="en-US" altLang="en-MX">
                <a:solidFill>
                  <a:srgbClr val="000000"/>
                </a:solidFill>
              </a:rPr>
              <a:t>Represents the standard against which programs that make claims against the budget can be judged</a:t>
            </a:r>
          </a:p>
          <a:p>
            <a:pPr>
              <a:lnSpc>
                <a:spcPct val="80000"/>
              </a:lnSpc>
              <a:spcBef>
                <a:spcPct val="20000"/>
              </a:spcBef>
              <a:buFontTx/>
              <a:buChar char="•"/>
            </a:pPr>
            <a:r>
              <a:rPr lang="en-US" altLang="en-MX">
                <a:solidFill>
                  <a:srgbClr val="000000"/>
                </a:solidFill>
              </a:rPr>
              <a:t>Shadow price of an explicit budget constraint</a:t>
            </a:r>
          </a:p>
          <a:p>
            <a:pPr>
              <a:lnSpc>
                <a:spcPct val="80000"/>
              </a:lnSpc>
              <a:spcBef>
                <a:spcPct val="20000"/>
              </a:spcBef>
              <a:buFontTx/>
              <a:buChar char="•"/>
            </a:pPr>
            <a:r>
              <a:rPr lang="en-US" altLang="en-MX">
                <a:solidFill>
                  <a:srgbClr val="000000"/>
                </a:solidFill>
              </a:rPr>
              <a:t>Opportunity cost in the absence of an explicit budget constraint</a:t>
            </a:r>
          </a:p>
          <a:p>
            <a:pPr>
              <a:lnSpc>
                <a:spcPct val="80000"/>
              </a:lnSpc>
              <a:spcBef>
                <a:spcPct val="20000"/>
              </a:spcBef>
              <a:buFontTx/>
              <a:buChar char="•"/>
            </a:pPr>
            <a:r>
              <a:rPr lang="en-US" altLang="en-MX">
                <a:solidFill>
                  <a:srgbClr val="000000"/>
                </a:solidFill>
              </a:rPr>
              <a:t>Comparison with other health programs</a:t>
            </a:r>
          </a:p>
          <a:p>
            <a:pPr>
              <a:lnSpc>
                <a:spcPct val="80000"/>
              </a:lnSpc>
              <a:spcBef>
                <a:spcPct val="20000"/>
              </a:spcBef>
              <a:buFontTx/>
              <a:buChar char="•"/>
            </a:pPr>
            <a:r>
              <a:rPr lang="en-US" altLang="en-MX">
                <a:solidFill>
                  <a:srgbClr val="000000"/>
                </a:solidFill>
              </a:rPr>
              <a:t>Inference of cost-effectiveness criteria from prior decisions</a:t>
            </a:r>
          </a:p>
          <a:p>
            <a:pPr>
              <a:lnSpc>
                <a:spcPct val="80000"/>
              </a:lnSpc>
              <a:spcBef>
                <a:spcPct val="20000"/>
              </a:spcBef>
              <a:buFontTx/>
              <a:buChar char="•"/>
            </a:pPr>
            <a:r>
              <a:rPr lang="en-US" altLang="en-MX">
                <a:solidFill>
                  <a:srgbClr val="000000"/>
                </a:solidFill>
              </a:rPr>
              <a:t>Cost-benefit methods</a:t>
            </a:r>
          </a:p>
          <a:p>
            <a:pPr>
              <a:lnSpc>
                <a:spcPct val="80000"/>
              </a:lnSpc>
              <a:spcBef>
                <a:spcPct val="20000"/>
              </a:spcBef>
              <a:buFontTx/>
              <a:buChar char="•"/>
            </a:pPr>
            <a:r>
              <a:rPr lang="en-US" altLang="en-MX">
                <a:solidFill>
                  <a:srgbClr val="000000"/>
                </a:solidFill>
              </a:rPr>
              <a:t>Rules of thumb</a:t>
            </a:r>
          </a:p>
          <a:p>
            <a:pPr>
              <a:lnSpc>
                <a:spcPct val="80000"/>
              </a:lnSpc>
              <a:spcBef>
                <a:spcPct val="10000"/>
              </a:spcBef>
              <a:spcAft>
                <a:spcPct val="30000"/>
              </a:spcAft>
              <a:buFontTx/>
              <a:buChar char="•"/>
            </a:pPr>
            <a:endParaRPr lang="en-US" altLang="en-MX">
              <a:solidFill>
                <a:srgbClr val="000000"/>
              </a:solidFill>
            </a:endParaRPr>
          </a:p>
          <a:p>
            <a:pPr>
              <a:lnSpc>
                <a:spcPct val="80000"/>
              </a:lnSpc>
              <a:spcBef>
                <a:spcPct val="10000"/>
              </a:spcBef>
              <a:spcAft>
                <a:spcPct val="30000"/>
              </a:spcAft>
            </a:pPr>
            <a:endParaRPr lang="en-US" altLang="en-MX">
              <a:solidFill>
                <a:srgbClr val="000000"/>
              </a:solidFill>
            </a:endParaRPr>
          </a:p>
        </p:txBody>
      </p:sp>
    </p:spTree>
    <p:extLst>
      <p:ext uri="{BB962C8B-B14F-4D97-AF65-F5344CB8AC3E}">
        <p14:creationId xmlns:p14="http://schemas.microsoft.com/office/powerpoint/2010/main" val="174462005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7918902D-CDE1-494F-A200-F1F5F372B48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fld id="{2B265B7F-B315-314B-884D-0023C01D3C72}" type="slidenum">
              <a:rPr lang="en-US" altLang="en-MX" sz="1200" b="0"/>
              <a:pPr/>
              <a:t>114</a:t>
            </a:fld>
            <a:endParaRPr lang="en-US" altLang="en-MX" sz="1200" b="0"/>
          </a:p>
        </p:txBody>
      </p:sp>
      <p:sp>
        <p:nvSpPr>
          <p:cNvPr id="67587" name="Rectangle 2">
            <a:extLst>
              <a:ext uri="{FF2B5EF4-FFF2-40B4-BE49-F238E27FC236}">
                <a16:creationId xmlns:a16="http://schemas.microsoft.com/office/drawing/2014/main" id="{EA02BBE5-82F1-7D49-8E2C-FEDAF668AD9D}"/>
              </a:ext>
            </a:extLst>
          </p:cNvPr>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67588" name="Rectangle 3">
            <a:extLst>
              <a:ext uri="{FF2B5EF4-FFF2-40B4-BE49-F238E27FC236}">
                <a16:creationId xmlns:a16="http://schemas.microsoft.com/office/drawing/2014/main" id="{739FC17C-E34A-274A-A55E-A4CB65B40E1A}"/>
              </a:ext>
            </a:extLst>
          </p:cNvPr>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31" tIns="45817" rIns="91631" bIns="45817" anchor="b"/>
          <a:lstStyle>
            <a:lvl1pPr defTabSz="909638">
              <a:defRPr sz="2000" b="1">
                <a:solidFill>
                  <a:schemeClr val="tx1"/>
                </a:solidFill>
                <a:latin typeface="Times New Roman" panose="02020603050405020304" pitchFamily="18" charset="0"/>
              </a:defRPr>
            </a:lvl1pPr>
            <a:lvl2pPr marL="742950" indent="-285750" defTabSz="909638">
              <a:defRPr sz="2000" b="1">
                <a:solidFill>
                  <a:schemeClr val="tx1"/>
                </a:solidFill>
                <a:latin typeface="Times New Roman" panose="02020603050405020304" pitchFamily="18" charset="0"/>
              </a:defRPr>
            </a:lvl2pPr>
            <a:lvl3pPr marL="1143000" indent="-228600" defTabSz="909638">
              <a:defRPr sz="2000" b="1">
                <a:solidFill>
                  <a:schemeClr val="tx1"/>
                </a:solidFill>
                <a:latin typeface="Times New Roman" panose="02020603050405020304" pitchFamily="18" charset="0"/>
              </a:defRPr>
            </a:lvl3pPr>
            <a:lvl4pPr marL="1600200" indent="-228600" defTabSz="909638">
              <a:defRPr sz="2000" b="1">
                <a:solidFill>
                  <a:schemeClr val="tx1"/>
                </a:solidFill>
                <a:latin typeface="Times New Roman" panose="02020603050405020304" pitchFamily="18" charset="0"/>
              </a:defRPr>
            </a:lvl4pPr>
            <a:lvl5pPr marL="2057400" indent="-228600" defTabSz="909638">
              <a:defRPr sz="2000" b="1">
                <a:solidFill>
                  <a:schemeClr val="tx1"/>
                </a:solidFill>
                <a:latin typeface="Times New Roman" panose="02020603050405020304" pitchFamily="18" charset="0"/>
              </a:defRPr>
            </a:lvl5pPr>
            <a:lvl6pPr marL="2514600" indent="-228600" defTabSz="909638"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defTabSz="909638"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defTabSz="909638"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defTabSz="909638" eaLnBrk="0" fontAlgn="base" hangingPunct="0">
              <a:spcBef>
                <a:spcPct val="0"/>
              </a:spcBef>
              <a:spcAft>
                <a:spcPct val="0"/>
              </a:spcAft>
              <a:defRPr sz="2000" b="1">
                <a:solidFill>
                  <a:schemeClr val="tx1"/>
                </a:solidFill>
                <a:latin typeface="Times New Roman" panose="02020603050405020304" pitchFamily="18" charset="0"/>
              </a:defRPr>
            </a:lvl9pPr>
          </a:lstStyle>
          <a:p>
            <a:pPr algn="r"/>
            <a:r>
              <a:rPr lang="en-US" altLang="en-MX" sz="1200" b="0"/>
              <a:t>10</a:t>
            </a:r>
          </a:p>
        </p:txBody>
      </p:sp>
      <p:sp>
        <p:nvSpPr>
          <p:cNvPr id="67589" name="Rectangle 4">
            <a:extLst>
              <a:ext uri="{FF2B5EF4-FFF2-40B4-BE49-F238E27FC236}">
                <a16:creationId xmlns:a16="http://schemas.microsoft.com/office/drawing/2014/main" id="{3BA3797F-AC2B-3E42-8FE2-A806B20A0827}"/>
              </a:ext>
            </a:extLst>
          </p:cNvPr>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67590" name="Rectangle 5">
            <a:extLst>
              <a:ext uri="{FF2B5EF4-FFF2-40B4-BE49-F238E27FC236}">
                <a16:creationId xmlns:a16="http://schemas.microsoft.com/office/drawing/2014/main" id="{C1BD06FB-5085-6847-B446-EA60EBA653A8}"/>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67591" name="Rectangle 6">
            <a:extLst>
              <a:ext uri="{FF2B5EF4-FFF2-40B4-BE49-F238E27FC236}">
                <a16:creationId xmlns:a16="http://schemas.microsoft.com/office/drawing/2014/main" id="{0024823C-535C-674A-962B-BA4A8C711F91}"/>
              </a:ext>
            </a:extLst>
          </p:cNvPr>
          <p:cNvSpPr>
            <a:spLocks noGrp="1" noRot="1" noChangeAspect="1" noChangeArrowheads="1" noTextEdit="1"/>
          </p:cNvSpPr>
          <p:nvPr>
            <p:ph type="sldImg"/>
          </p:nvPr>
        </p:nvSpPr>
        <p:spPr>
          <a:xfrm>
            <a:off x="406400" y="679450"/>
            <a:ext cx="6046788" cy="3402013"/>
          </a:xfrm>
          <a:ln w="12700" cap="flat"/>
        </p:spPr>
      </p:sp>
      <p:sp>
        <p:nvSpPr>
          <p:cNvPr id="67592" name="Rectangle 7">
            <a:extLst>
              <a:ext uri="{FF2B5EF4-FFF2-40B4-BE49-F238E27FC236}">
                <a16:creationId xmlns:a16="http://schemas.microsoft.com/office/drawing/2014/main" id="{C71238A4-700A-6842-92FF-874E6537C037}"/>
              </a:ext>
            </a:extLst>
          </p:cNvPr>
          <p:cNvSpPr>
            <a:spLocks noGrp="1" noChangeArrowheads="1"/>
          </p:cNvSpPr>
          <p:nvPr>
            <p:ph type="body" idx="1"/>
          </p:nvPr>
        </p:nvSpPr>
        <p:spPr>
          <a:xfrm>
            <a:off x="914400" y="4306888"/>
            <a:ext cx="5029200" cy="41576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31" tIns="45817" rIns="91631" bIns="45817"/>
          <a:lstStyle/>
          <a:p>
            <a:pPr>
              <a:spcBef>
                <a:spcPct val="0"/>
              </a:spcBef>
            </a:pPr>
            <a:r>
              <a:rPr lang="en-US" altLang="en-MX"/>
              <a:t>H4 : Add in the program with the “lowest CE ratio”: Best we can do is 277.2</a:t>
            </a:r>
          </a:p>
          <a:p>
            <a:pPr>
              <a:spcBef>
                <a:spcPct val="0"/>
              </a:spcBef>
            </a:pPr>
            <a:endParaRPr lang="en-US" altLang="en-MX" i="1"/>
          </a:p>
          <a:p>
            <a:pPr>
              <a:spcBef>
                <a:spcPct val="0"/>
              </a:spcBef>
            </a:pPr>
            <a:endParaRPr lang="en-US" altLang="en-MX"/>
          </a:p>
          <a:p>
            <a:pPr>
              <a:spcBef>
                <a:spcPct val="0"/>
              </a:spcBef>
            </a:pPr>
            <a:r>
              <a:rPr lang="en-US" altLang="en-MX"/>
              <a:t>Order of trial and error method:</a:t>
            </a:r>
          </a:p>
          <a:p>
            <a:pPr>
              <a:spcBef>
                <a:spcPct val="0"/>
              </a:spcBef>
            </a:pPr>
            <a:r>
              <a:rPr lang="en-US" altLang="en-MX"/>
              <a:t>H4 277.2</a:t>
            </a:r>
          </a:p>
          <a:p>
            <a:pPr>
              <a:spcBef>
                <a:spcPct val="0"/>
              </a:spcBef>
            </a:pPr>
            <a:r>
              <a:rPr lang="en-US" altLang="en-MX"/>
              <a:t>H3 266.2</a:t>
            </a:r>
          </a:p>
          <a:p>
            <a:pPr>
              <a:spcBef>
                <a:spcPct val="0"/>
              </a:spcBef>
            </a:pPr>
            <a:r>
              <a:rPr lang="en-US" altLang="en-MX"/>
              <a:t>H2 280</a:t>
            </a:r>
          </a:p>
          <a:p>
            <a:pPr>
              <a:spcBef>
                <a:spcPct val="0"/>
              </a:spcBef>
            </a:pPr>
            <a:endParaRPr lang="en-US" altLang="en-MX"/>
          </a:p>
          <a:p>
            <a:pPr>
              <a:spcBef>
                <a:spcPct val="0"/>
              </a:spcBef>
            </a:pPr>
            <a:endParaRPr lang="en-US" altLang="en-MX"/>
          </a:p>
        </p:txBody>
      </p:sp>
    </p:spTree>
    <p:extLst>
      <p:ext uri="{BB962C8B-B14F-4D97-AF65-F5344CB8AC3E}">
        <p14:creationId xmlns:p14="http://schemas.microsoft.com/office/powerpoint/2010/main" val="313375941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34FE6CCC-CCBB-5941-803C-57E5F63A070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fld id="{8F250F25-19A8-4D47-A167-219B995223FB}" type="slidenum">
              <a:rPr lang="en-US" altLang="en-MX" sz="1200" b="0"/>
              <a:pPr/>
              <a:t>115</a:t>
            </a:fld>
            <a:endParaRPr lang="en-US" altLang="en-MX" sz="1200" b="0"/>
          </a:p>
        </p:txBody>
      </p:sp>
      <p:sp>
        <p:nvSpPr>
          <p:cNvPr id="68611" name="Rectangle 2">
            <a:extLst>
              <a:ext uri="{FF2B5EF4-FFF2-40B4-BE49-F238E27FC236}">
                <a16:creationId xmlns:a16="http://schemas.microsoft.com/office/drawing/2014/main" id="{8D595172-307B-BE4D-96C6-BED92F8736E8}"/>
              </a:ext>
            </a:extLst>
          </p:cNvPr>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68612" name="Rectangle 3">
            <a:extLst>
              <a:ext uri="{FF2B5EF4-FFF2-40B4-BE49-F238E27FC236}">
                <a16:creationId xmlns:a16="http://schemas.microsoft.com/office/drawing/2014/main" id="{2491ED91-DA7F-4749-96EA-A0E0DA07BA61}"/>
              </a:ext>
            </a:extLst>
          </p:cNvPr>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31" tIns="45817" rIns="91631" bIns="45817" anchor="b"/>
          <a:lstStyle>
            <a:lvl1pPr defTabSz="909638">
              <a:defRPr sz="2000" b="1">
                <a:solidFill>
                  <a:schemeClr val="tx1"/>
                </a:solidFill>
                <a:latin typeface="Times New Roman" panose="02020603050405020304" pitchFamily="18" charset="0"/>
              </a:defRPr>
            </a:lvl1pPr>
            <a:lvl2pPr marL="742950" indent="-285750" defTabSz="909638">
              <a:defRPr sz="2000" b="1">
                <a:solidFill>
                  <a:schemeClr val="tx1"/>
                </a:solidFill>
                <a:latin typeface="Times New Roman" panose="02020603050405020304" pitchFamily="18" charset="0"/>
              </a:defRPr>
            </a:lvl2pPr>
            <a:lvl3pPr marL="1143000" indent="-228600" defTabSz="909638">
              <a:defRPr sz="2000" b="1">
                <a:solidFill>
                  <a:schemeClr val="tx1"/>
                </a:solidFill>
                <a:latin typeface="Times New Roman" panose="02020603050405020304" pitchFamily="18" charset="0"/>
              </a:defRPr>
            </a:lvl3pPr>
            <a:lvl4pPr marL="1600200" indent="-228600" defTabSz="909638">
              <a:defRPr sz="2000" b="1">
                <a:solidFill>
                  <a:schemeClr val="tx1"/>
                </a:solidFill>
                <a:latin typeface="Times New Roman" panose="02020603050405020304" pitchFamily="18" charset="0"/>
              </a:defRPr>
            </a:lvl4pPr>
            <a:lvl5pPr marL="2057400" indent="-228600" defTabSz="909638">
              <a:defRPr sz="2000" b="1">
                <a:solidFill>
                  <a:schemeClr val="tx1"/>
                </a:solidFill>
                <a:latin typeface="Times New Roman" panose="02020603050405020304" pitchFamily="18" charset="0"/>
              </a:defRPr>
            </a:lvl5pPr>
            <a:lvl6pPr marL="2514600" indent="-228600" defTabSz="909638"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defTabSz="909638"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defTabSz="909638"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defTabSz="909638" eaLnBrk="0" fontAlgn="base" hangingPunct="0">
              <a:spcBef>
                <a:spcPct val="0"/>
              </a:spcBef>
              <a:spcAft>
                <a:spcPct val="0"/>
              </a:spcAft>
              <a:defRPr sz="2000" b="1">
                <a:solidFill>
                  <a:schemeClr val="tx1"/>
                </a:solidFill>
                <a:latin typeface="Times New Roman" panose="02020603050405020304" pitchFamily="18" charset="0"/>
              </a:defRPr>
            </a:lvl9pPr>
          </a:lstStyle>
          <a:p>
            <a:pPr algn="r"/>
            <a:r>
              <a:rPr lang="en-US" altLang="en-MX" sz="1200" b="0"/>
              <a:t>10</a:t>
            </a:r>
          </a:p>
        </p:txBody>
      </p:sp>
      <p:sp>
        <p:nvSpPr>
          <p:cNvPr id="68613" name="Rectangle 4">
            <a:extLst>
              <a:ext uri="{FF2B5EF4-FFF2-40B4-BE49-F238E27FC236}">
                <a16:creationId xmlns:a16="http://schemas.microsoft.com/office/drawing/2014/main" id="{A61B802C-CB3D-0F41-96D3-7731A8C7395D}"/>
              </a:ext>
            </a:extLst>
          </p:cNvPr>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68614" name="Rectangle 5">
            <a:extLst>
              <a:ext uri="{FF2B5EF4-FFF2-40B4-BE49-F238E27FC236}">
                <a16:creationId xmlns:a16="http://schemas.microsoft.com/office/drawing/2014/main" id="{145C63C5-6FDB-AC4B-9CE5-7F8819002A8C}"/>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68615" name="Rectangle 6">
            <a:extLst>
              <a:ext uri="{FF2B5EF4-FFF2-40B4-BE49-F238E27FC236}">
                <a16:creationId xmlns:a16="http://schemas.microsoft.com/office/drawing/2014/main" id="{EA7E387E-FE54-4541-85CF-E3F21DC7F43D}"/>
              </a:ext>
            </a:extLst>
          </p:cNvPr>
          <p:cNvSpPr>
            <a:spLocks noGrp="1" noRot="1" noChangeAspect="1" noChangeArrowheads="1" noTextEdit="1"/>
          </p:cNvSpPr>
          <p:nvPr>
            <p:ph type="sldImg"/>
          </p:nvPr>
        </p:nvSpPr>
        <p:spPr>
          <a:xfrm>
            <a:off x="406400" y="679450"/>
            <a:ext cx="6046788" cy="3402013"/>
          </a:xfrm>
          <a:ln w="12700" cap="flat"/>
        </p:spPr>
      </p:sp>
      <p:sp>
        <p:nvSpPr>
          <p:cNvPr id="68616" name="Rectangle 7">
            <a:extLst>
              <a:ext uri="{FF2B5EF4-FFF2-40B4-BE49-F238E27FC236}">
                <a16:creationId xmlns:a16="http://schemas.microsoft.com/office/drawing/2014/main" id="{96B2C18E-A568-F746-90BA-7551947246C6}"/>
              </a:ext>
            </a:extLst>
          </p:cNvPr>
          <p:cNvSpPr>
            <a:spLocks noGrp="1" noChangeArrowheads="1"/>
          </p:cNvSpPr>
          <p:nvPr>
            <p:ph type="body" idx="1"/>
          </p:nvPr>
        </p:nvSpPr>
        <p:spPr>
          <a:xfrm>
            <a:off x="914400" y="4306888"/>
            <a:ext cx="5029200" cy="41576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31" tIns="45817" rIns="91631" bIns="45817"/>
          <a:lstStyle/>
          <a:p>
            <a:pPr>
              <a:spcBef>
                <a:spcPct val="0"/>
              </a:spcBef>
            </a:pPr>
            <a:r>
              <a:rPr lang="en-US" altLang="en-MX"/>
              <a:t>H3 : Add in the program with the “CE ratio closest to the threshold”: Best we can do is 266.25</a:t>
            </a:r>
          </a:p>
        </p:txBody>
      </p:sp>
    </p:spTree>
    <p:extLst>
      <p:ext uri="{BB962C8B-B14F-4D97-AF65-F5344CB8AC3E}">
        <p14:creationId xmlns:p14="http://schemas.microsoft.com/office/powerpoint/2010/main" val="11750127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79DD597D-4AFB-624F-8575-6D688663437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fld id="{067FD07F-9002-E644-A58B-22AAFACE2139}" type="slidenum">
              <a:rPr lang="en-US" altLang="en-MX" sz="1200" b="0"/>
              <a:pPr/>
              <a:t>116</a:t>
            </a:fld>
            <a:endParaRPr lang="en-US" altLang="en-MX" sz="1200" b="0"/>
          </a:p>
        </p:txBody>
      </p:sp>
      <p:sp>
        <p:nvSpPr>
          <p:cNvPr id="69635" name="Rectangle 2">
            <a:extLst>
              <a:ext uri="{FF2B5EF4-FFF2-40B4-BE49-F238E27FC236}">
                <a16:creationId xmlns:a16="http://schemas.microsoft.com/office/drawing/2014/main" id="{8FA1B2FD-B196-564F-AFA2-B30DED5B362A}"/>
              </a:ext>
            </a:extLst>
          </p:cNvPr>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69636" name="Rectangle 3">
            <a:extLst>
              <a:ext uri="{FF2B5EF4-FFF2-40B4-BE49-F238E27FC236}">
                <a16:creationId xmlns:a16="http://schemas.microsoft.com/office/drawing/2014/main" id="{F3A08F2D-9DC2-2443-B098-792D7F08FA02}"/>
              </a:ext>
            </a:extLst>
          </p:cNvPr>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31" tIns="45817" rIns="91631" bIns="45817" anchor="b"/>
          <a:lstStyle>
            <a:lvl1pPr defTabSz="909638">
              <a:defRPr sz="2000" b="1">
                <a:solidFill>
                  <a:schemeClr val="tx1"/>
                </a:solidFill>
                <a:latin typeface="Times New Roman" panose="02020603050405020304" pitchFamily="18" charset="0"/>
              </a:defRPr>
            </a:lvl1pPr>
            <a:lvl2pPr marL="742950" indent="-285750" defTabSz="909638">
              <a:defRPr sz="2000" b="1">
                <a:solidFill>
                  <a:schemeClr val="tx1"/>
                </a:solidFill>
                <a:latin typeface="Times New Roman" panose="02020603050405020304" pitchFamily="18" charset="0"/>
              </a:defRPr>
            </a:lvl2pPr>
            <a:lvl3pPr marL="1143000" indent="-228600" defTabSz="909638">
              <a:defRPr sz="2000" b="1">
                <a:solidFill>
                  <a:schemeClr val="tx1"/>
                </a:solidFill>
                <a:latin typeface="Times New Roman" panose="02020603050405020304" pitchFamily="18" charset="0"/>
              </a:defRPr>
            </a:lvl3pPr>
            <a:lvl4pPr marL="1600200" indent="-228600" defTabSz="909638">
              <a:defRPr sz="2000" b="1">
                <a:solidFill>
                  <a:schemeClr val="tx1"/>
                </a:solidFill>
                <a:latin typeface="Times New Roman" panose="02020603050405020304" pitchFamily="18" charset="0"/>
              </a:defRPr>
            </a:lvl4pPr>
            <a:lvl5pPr marL="2057400" indent="-228600" defTabSz="909638">
              <a:defRPr sz="2000" b="1">
                <a:solidFill>
                  <a:schemeClr val="tx1"/>
                </a:solidFill>
                <a:latin typeface="Times New Roman" panose="02020603050405020304" pitchFamily="18" charset="0"/>
              </a:defRPr>
            </a:lvl5pPr>
            <a:lvl6pPr marL="2514600" indent="-228600" defTabSz="909638"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defTabSz="909638"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defTabSz="909638"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defTabSz="909638" eaLnBrk="0" fontAlgn="base" hangingPunct="0">
              <a:spcBef>
                <a:spcPct val="0"/>
              </a:spcBef>
              <a:spcAft>
                <a:spcPct val="0"/>
              </a:spcAft>
              <a:defRPr sz="2000" b="1">
                <a:solidFill>
                  <a:schemeClr val="tx1"/>
                </a:solidFill>
                <a:latin typeface="Times New Roman" panose="02020603050405020304" pitchFamily="18" charset="0"/>
              </a:defRPr>
            </a:lvl9pPr>
          </a:lstStyle>
          <a:p>
            <a:pPr algn="r"/>
            <a:r>
              <a:rPr lang="en-US" altLang="en-MX" sz="1200" b="0"/>
              <a:t>10</a:t>
            </a:r>
          </a:p>
        </p:txBody>
      </p:sp>
      <p:sp>
        <p:nvSpPr>
          <p:cNvPr id="69637" name="Rectangle 4">
            <a:extLst>
              <a:ext uri="{FF2B5EF4-FFF2-40B4-BE49-F238E27FC236}">
                <a16:creationId xmlns:a16="http://schemas.microsoft.com/office/drawing/2014/main" id="{35C7F879-2901-4D43-92F1-51793D585BD3}"/>
              </a:ext>
            </a:extLst>
          </p:cNvPr>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69638" name="Rectangle 5">
            <a:extLst>
              <a:ext uri="{FF2B5EF4-FFF2-40B4-BE49-F238E27FC236}">
                <a16:creationId xmlns:a16="http://schemas.microsoft.com/office/drawing/2014/main" id="{0688A7DC-1887-1545-BDF2-26CB3F7838ED}"/>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69639" name="Rectangle 6">
            <a:extLst>
              <a:ext uri="{FF2B5EF4-FFF2-40B4-BE49-F238E27FC236}">
                <a16:creationId xmlns:a16="http://schemas.microsoft.com/office/drawing/2014/main" id="{C608461F-FAA0-7947-B7C0-1D6FDEA42AF0}"/>
              </a:ext>
            </a:extLst>
          </p:cNvPr>
          <p:cNvSpPr>
            <a:spLocks noGrp="1" noRot="1" noChangeAspect="1" noChangeArrowheads="1" noTextEdit="1"/>
          </p:cNvSpPr>
          <p:nvPr>
            <p:ph type="sldImg"/>
          </p:nvPr>
        </p:nvSpPr>
        <p:spPr>
          <a:xfrm>
            <a:off x="406400" y="679450"/>
            <a:ext cx="6046788" cy="3402013"/>
          </a:xfrm>
          <a:ln w="12700" cap="flat"/>
        </p:spPr>
      </p:sp>
      <p:sp>
        <p:nvSpPr>
          <p:cNvPr id="69640" name="Rectangle 7">
            <a:extLst>
              <a:ext uri="{FF2B5EF4-FFF2-40B4-BE49-F238E27FC236}">
                <a16:creationId xmlns:a16="http://schemas.microsoft.com/office/drawing/2014/main" id="{D362D720-2413-C54D-8481-9CEBE1CD09FE}"/>
              </a:ext>
            </a:extLst>
          </p:cNvPr>
          <p:cNvSpPr>
            <a:spLocks noGrp="1" noChangeArrowheads="1"/>
          </p:cNvSpPr>
          <p:nvPr>
            <p:ph type="body" idx="1"/>
          </p:nvPr>
        </p:nvSpPr>
        <p:spPr>
          <a:xfrm>
            <a:off x="914400" y="4306888"/>
            <a:ext cx="5029200" cy="41576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31" tIns="45817" rIns="91631" bIns="45817"/>
          <a:lstStyle/>
          <a:p>
            <a:pPr>
              <a:spcBef>
                <a:spcPct val="0"/>
              </a:spcBef>
            </a:pPr>
            <a:r>
              <a:rPr lang="en-US" altLang="en-MX"/>
              <a:t>H2 Best we can do is 280</a:t>
            </a:r>
          </a:p>
        </p:txBody>
      </p:sp>
    </p:spTree>
    <p:extLst>
      <p:ext uri="{BB962C8B-B14F-4D97-AF65-F5344CB8AC3E}">
        <p14:creationId xmlns:p14="http://schemas.microsoft.com/office/powerpoint/2010/main" val="130276907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FFBF8E5F-D9D0-4C4A-9D73-FC4DC07CD8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fld id="{3E0A640A-4A46-A345-BDDD-ED7B0F4F0307}" type="slidenum">
              <a:rPr lang="en-US" altLang="en-MX" sz="1200" b="0"/>
              <a:pPr/>
              <a:t>118</a:t>
            </a:fld>
            <a:endParaRPr lang="en-US" altLang="en-MX" sz="1200" b="0"/>
          </a:p>
        </p:txBody>
      </p:sp>
      <p:sp>
        <p:nvSpPr>
          <p:cNvPr id="70659" name="Rectangle 2">
            <a:extLst>
              <a:ext uri="{FF2B5EF4-FFF2-40B4-BE49-F238E27FC236}">
                <a16:creationId xmlns:a16="http://schemas.microsoft.com/office/drawing/2014/main" id="{4E0064C1-24C8-F442-9F41-8A3F878051B8}"/>
              </a:ext>
            </a:extLst>
          </p:cNvPr>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70660" name="Rectangle 3">
            <a:extLst>
              <a:ext uri="{FF2B5EF4-FFF2-40B4-BE49-F238E27FC236}">
                <a16:creationId xmlns:a16="http://schemas.microsoft.com/office/drawing/2014/main" id="{3AF86C59-8936-E242-80F7-58008764D6E6}"/>
              </a:ext>
            </a:extLst>
          </p:cNvPr>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31" tIns="45817" rIns="91631" bIns="45817" anchor="b"/>
          <a:lstStyle>
            <a:lvl1pPr defTabSz="909638">
              <a:defRPr sz="2000" b="1">
                <a:solidFill>
                  <a:schemeClr val="tx1"/>
                </a:solidFill>
                <a:latin typeface="Times New Roman" panose="02020603050405020304" pitchFamily="18" charset="0"/>
              </a:defRPr>
            </a:lvl1pPr>
            <a:lvl2pPr marL="742950" indent="-285750" defTabSz="909638">
              <a:defRPr sz="2000" b="1">
                <a:solidFill>
                  <a:schemeClr val="tx1"/>
                </a:solidFill>
                <a:latin typeface="Times New Roman" panose="02020603050405020304" pitchFamily="18" charset="0"/>
              </a:defRPr>
            </a:lvl2pPr>
            <a:lvl3pPr marL="1143000" indent="-228600" defTabSz="909638">
              <a:defRPr sz="2000" b="1">
                <a:solidFill>
                  <a:schemeClr val="tx1"/>
                </a:solidFill>
                <a:latin typeface="Times New Roman" panose="02020603050405020304" pitchFamily="18" charset="0"/>
              </a:defRPr>
            </a:lvl3pPr>
            <a:lvl4pPr marL="1600200" indent="-228600" defTabSz="909638">
              <a:defRPr sz="2000" b="1">
                <a:solidFill>
                  <a:schemeClr val="tx1"/>
                </a:solidFill>
                <a:latin typeface="Times New Roman" panose="02020603050405020304" pitchFamily="18" charset="0"/>
              </a:defRPr>
            </a:lvl4pPr>
            <a:lvl5pPr marL="2057400" indent="-228600" defTabSz="909638">
              <a:defRPr sz="2000" b="1">
                <a:solidFill>
                  <a:schemeClr val="tx1"/>
                </a:solidFill>
                <a:latin typeface="Times New Roman" panose="02020603050405020304" pitchFamily="18" charset="0"/>
              </a:defRPr>
            </a:lvl5pPr>
            <a:lvl6pPr marL="2514600" indent="-228600" defTabSz="909638"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defTabSz="909638"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defTabSz="909638"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defTabSz="909638" eaLnBrk="0" fontAlgn="base" hangingPunct="0">
              <a:spcBef>
                <a:spcPct val="0"/>
              </a:spcBef>
              <a:spcAft>
                <a:spcPct val="0"/>
              </a:spcAft>
              <a:defRPr sz="2000" b="1">
                <a:solidFill>
                  <a:schemeClr val="tx1"/>
                </a:solidFill>
                <a:latin typeface="Times New Roman" panose="02020603050405020304" pitchFamily="18" charset="0"/>
              </a:defRPr>
            </a:lvl9pPr>
          </a:lstStyle>
          <a:p>
            <a:pPr algn="r"/>
            <a:r>
              <a:rPr lang="en-US" altLang="en-MX" sz="1200" b="0"/>
              <a:t>10</a:t>
            </a:r>
          </a:p>
        </p:txBody>
      </p:sp>
      <p:sp>
        <p:nvSpPr>
          <p:cNvPr id="70661" name="Rectangle 4">
            <a:extLst>
              <a:ext uri="{FF2B5EF4-FFF2-40B4-BE49-F238E27FC236}">
                <a16:creationId xmlns:a16="http://schemas.microsoft.com/office/drawing/2014/main" id="{9C5B7E6B-FD21-6F4E-B05B-DC68558B4A22}"/>
              </a:ext>
            </a:extLst>
          </p:cNvPr>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70662" name="Rectangle 5">
            <a:extLst>
              <a:ext uri="{FF2B5EF4-FFF2-40B4-BE49-F238E27FC236}">
                <a16:creationId xmlns:a16="http://schemas.microsoft.com/office/drawing/2014/main" id="{FDDF70D7-6EF8-204D-8AA5-4AF4AEE7DB88}"/>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70663" name="Rectangle 6">
            <a:extLst>
              <a:ext uri="{FF2B5EF4-FFF2-40B4-BE49-F238E27FC236}">
                <a16:creationId xmlns:a16="http://schemas.microsoft.com/office/drawing/2014/main" id="{CBAA4309-3AEE-714F-A733-02220445EA58}"/>
              </a:ext>
            </a:extLst>
          </p:cNvPr>
          <p:cNvSpPr>
            <a:spLocks noGrp="1" noRot="1" noChangeAspect="1" noChangeArrowheads="1" noTextEdit="1"/>
          </p:cNvSpPr>
          <p:nvPr>
            <p:ph type="sldImg"/>
          </p:nvPr>
        </p:nvSpPr>
        <p:spPr>
          <a:xfrm>
            <a:off x="423863" y="711200"/>
            <a:ext cx="6046787" cy="3402013"/>
          </a:xfrm>
          <a:ln w="12700" cap="flat"/>
        </p:spPr>
      </p:sp>
      <p:sp>
        <p:nvSpPr>
          <p:cNvPr id="70664" name="Rectangle 7">
            <a:extLst>
              <a:ext uri="{FF2B5EF4-FFF2-40B4-BE49-F238E27FC236}">
                <a16:creationId xmlns:a16="http://schemas.microsoft.com/office/drawing/2014/main" id="{0A02748B-C052-EF4C-B397-8E45444B0B51}"/>
              </a:ext>
            </a:extLst>
          </p:cNvPr>
          <p:cNvSpPr>
            <a:spLocks noGrp="1" noChangeArrowheads="1"/>
          </p:cNvSpPr>
          <p:nvPr>
            <p:ph type="body" idx="1"/>
          </p:nvPr>
        </p:nvSpPr>
        <p:spPr>
          <a:xfrm>
            <a:off x="914400" y="4306888"/>
            <a:ext cx="5029200" cy="41576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31" tIns="45817" rIns="91631" bIns="45817"/>
          <a:lstStyle/>
          <a:p>
            <a:pPr marL="457200" indent="-457200">
              <a:spcBef>
                <a:spcPct val="0"/>
              </a:spcBef>
            </a:pPr>
            <a:r>
              <a:rPr lang="en-US" altLang="en-MX" u="sng"/>
              <a:t>Steps</a:t>
            </a:r>
          </a:p>
          <a:p>
            <a:pPr marL="457200" indent="-457200">
              <a:spcBef>
                <a:spcPct val="0"/>
              </a:spcBef>
            </a:pPr>
            <a:r>
              <a:rPr lang="en-US" altLang="en-MX"/>
              <a:t>1. Rule out strongly dominated options</a:t>
            </a:r>
          </a:p>
          <a:p>
            <a:pPr marL="457200" indent="-457200">
              <a:spcBef>
                <a:spcPct val="0"/>
              </a:spcBef>
            </a:pPr>
            <a:r>
              <a:rPr lang="en-US" altLang="en-MX"/>
              <a:t>2. Reorder from lowest to highest total costs such that the remaining options sequentially cost more and deliver more. Question: Are the benefits worth the costs? </a:t>
            </a:r>
          </a:p>
          <a:p>
            <a:pPr marL="457200" indent="-457200">
              <a:spcBef>
                <a:spcPct val="0"/>
              </a:spcBef>
            </a:pPr>
            <a:r>
              <a:rPr lang="en-US" altLang="en-MX"/>
              <a:t>3. Calculate the incremental CE ratios and look at the pattern. To calculate the FIRST CE ratio need to answer the question: What is the baseline comparator? Is there a no cost and no benefit “do nothing” option? (State the assumption we are making here)</a:t>
            </a:r>
          </a:p>
          <a:p>
            <a:pPr marL="457200" indent="-457200">
              <a:spcBef>
                <a:spcPct val="0"/>
              </a:spcBef>
            </a:pPr>
            <a:r>
              <a:rPr lang="en-US" altLang="en-MX"/>
              <a:t>4. What do you notice about the incremental CE ratio of H3? Define weak dominance. Rule out weakly dominated options.</a:t>
            </a:r>
          </a:p>
          <a:p>
            <a:pPr marL="457200" indent="-457200">
              <a:spcBef>
                <a:spcPct val="0"/>
              </a:spcBef>
            </a:pPr>
            <a:r>
              <a:rPr lang="en-US" altLang="en-MX"/>
              <a:t>5. Recalculate the CE ratios</a:t>
            </a:r>
          </a:p>
          <a:p>
            <a:pPr marL="457200" indent="-457200">
              <a:spcBef>
                <a:spcPct val="0"/>
              </a:spcBef>
            </a:pPr>
            <a:endParaRPr lang="en-US" altLang="en-MX"/>
          </a:p>
        </p:txBody>
      </p:sp>
    </p:spTree>
    <p:extLst>
      <p:ext uri="{BB962C8B-B14F-4D97-AF65-F5344CB8AC3E}">
        <p14:creationId xmlns:p14="http://schemas.microsoft.com/office/powerpoint/2010/main" val="421026112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5871C449-AE17-4D42-8AB3-FE6C3F9F846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fld id="{0D110C6D-6360-FF42-89EB-57CA1C1E815C}" type="slidenum">
              <a:rPr lang="en-US" altLang="en-MX" sz="1200" b="0"/>
              <a:pPr/>
              <a:t>119</a:t>
            </a:fld>
            <a:endParaRPr lang="en-US" altLang="en-MX" sz="1200" b="0"/>
          </a:p>
        </p:txBody>
      </p:sp>
      <p:sp>
        <p:nvSpPr>
          <p:cNvPr id="71683" name="Rectangle 2">
            <a:extLst>
              <a:ext uri="{FF2B5EF4-FFF2-40B4-BE49-F238E27FC236}">
                <a16:creationId xmlns:a16="http://schemas.microsoft.com/office/drawing/2014/main" id="{4657F772-2741-B642-BFB1-99A65D2FB131}"/>
              </a:ext>
            </a:extLst>
          </p:cNvPr>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71684" name="Rectangle 3">
            <a:extLst>
              <a:ext uri="{FF2B5EF4-FFF2-40B4-BE49-F238E27FC236}">
                <a16:creationId xmlns:a16="http://schemas.microsoft.com/office/drawing/2014/main" id="{926FFF92-6294-314D-A643-DC2194F61502}"/>
              </a:ext>
            </a:extLst>
          </p:cNvPr>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31" tIns="45817" rIns="91631" bIns="45817" anchor="b"/>
          <a:lstStyle>
            <a:lvl1pPr defTabSz="909638">
              <a:defRPr sz="2000" b="1">
                <a:solidFill>
                  <a:schemeClr val="tx1"/>
                </a:solidFill>
                <a:latin typeface="Times New Roman" panose="02020603050405020304" pitchFamily="18" charset="0"/>
              </a:defRPr>
            </a:lvl1pPr>
            <a:lvl2pPr marL="742950" indent="-285750" defTabSz="909638">
              <a:defRPr sz="2000" b="1">
                <a:solidFill>
                  <a:schemeClr val="tx1"/>
                </a:solidFill>
                <a:latin typeface="Times New Roman" panose="02020603050405020304" pitchFamily="18" charset="0"/>
              </a:defRPr>
            </a:lvl2pPr>
            <a:lvl3pPr marL="1143000" indent="-228600" defTabSz="909638">
              <a:defRPr sz="2000" b="1">
                <a:solidFill>
                  <a:schemeClr val="tx1"/>
                </a:solidFill>
                <a:latin typeface="Times New Roman" panose="02020603050405020304" pitchFamily="18" charset="0"/>
              </a:defRPr>
            </a:lvl3pPr>
            <a:lvl4pPr marL="1600200" indent="-228600" defTabSz="909638">
              <a:defRPr sz="2000" b="1">
                <a:solidFill>
                  <a:schemeClr val="tx1"/>
                </a:solidFill>
                <a:latin typeface="Times New Roman" panose="02020603050405020304" pitchFamily="18" charset="0"/>
              </a:defRPr>
            </a:lvl4pPr>
            <a:lvl5pPr marL="2057400" indent="-228600" defTabSz="909638">
              <a:defRPr sz="2000" b="1">
                <a:solidFill>
                  <a:schemeClr val="tx1"/>
                </a:solidFill>
                <a:latin typeface="Times New Roman" panose="02020603050405020304" pitchFamily="18" charset="0"/>
              </a:defRPr>
            </a:lvl5pPr>
            <a:lvl6pPr marL="2514600" indent="-228600" defTabSz="909638"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defTabSz="909638"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defTabSz="909638"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defTabSz="909638" eaLnBrk="0" fontAlgn="base" hangingPunct="0">
              <a:spcBef>
                <a:spcPct val="0"/>
              </a:spcBef>
              <a:spcAft>
                <a:spcPct val="0"/>
              </a:spcAft>
              <a:defRPr sz="2000" b="1">
                <a:solidFill>
                  <a:schemeClr val="tx1"/>
                </a:solidFill>
                <a:latin typeface="Times New Roman" panose="02020603050405020304" pitchFamily="18" charset="0"/>
              </a:defRPr>
            </a:lvl9pPr>
          </a:lstStyle>
          <a:p>
            <a:pPr algn="r"/>
            <a:r>
              <a:rPr lang="en-US" altLang="en-MX" sz="1200" b="0"/>
              <a:t>10</a:t>
            </a:r>
          </a:p>
        </p:txBody>
      </p:sp>
      <p:sp>
        <p:nvSpPr>
          <p:cNvPr id="71685" name="Rectangle 4">
            <a:extLst>
              <a:ext uri="{FF2B5EF4-FFF2-40B4-BE49-F238E27FC236}">
                <a16:creationId xmlns:a16="http://schemas.microsoft.com/office/drawing/2014/main" id="{16F76FF4-1BCF-9D4D-ADDC-B4F3EC336472}"/>
              </a:ext>
            </a:extLst>
          </p:cNvPr>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71686" name="Rectangle 5">
            <a:extLst>
              <a:ext uri="{FF2B5EF4-FFF2-40B4-BE49-F238E27FC236}">
                <a16:creationId xmlns:a16="http://schemas.microsoft.com/office/drawing/2014/main" id="{969B35FE-4BDA-CA46-A91D-36A6F634E53A}"/>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71687" name="Rectangle 6">
            <a:extLst>
              <a:ext uri="{FF2B5EF4-FFF2-40B4-BE49-F238E27FC236}">
                <a16:creationId xmlns:a16="http://schemas.microsoft.com/office/drawing/2014/main" id="{4279F553-FC60-174E-BE48-47219C618F97}"/>
              </a:ext>
            </a:extLst>
          </p:cNvPr>
          <p:cNvSpPr>
            <a:spLocks noGrp="1" noRot="1" noChangeAspect="1" noChangeArrowheads="1" noTextEdit="1"/>
          </p:cNvSpPr>
          <p:nvPr>
            <p:ph type="sldImg"/>
          </p:nvPr>
        </p:nvSpPr>
        <p:spPr>
          <a:xfrm>
            <a:off x="423863" y="711200"/>
            <a:ext cx="6046787" cy="3402013"/>
          </a:xfrm>
          <a:ln w="12700" cap="flat"/>
        </p:spPr>
      </p:sp>
      <p:sp>
        <p:nvSpPr>
          <p:cNvPr id="71688" name="Rectangle 7">
            <a:extLst>
              <a:ext uri="{FF2B5EF4-FFF2-40B4-BE49-F238E27FC236}">
                <a16:creationId xmlns:a16="http://schemas.microsoft.com/office/drawing/2014/main" id="{ECFB5467-4605-D341-B85D-B86AE9EBE9BB}"/>
              </a:ext>
            </a:extLst>
          </p:cNvPr>
          <p:cNvSpPr>
            <a:spLocks noGrp="1" noChangeArrowheads="1"/>
          </p:cNvSpPr>
          <p:nvPr>
            <p:ph type="body" idx="1"/>
          </p:nvPr>
        </p:nvSpPr>
        <p:spPr>
          <a:xfrm>
            <a:off x="914400" y="4306888"/>
            <a:ext cx="5029200" cy="41576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31" tIns="45817" rIns="91631" bIns="45817"/>
          <a:lstStyle/>
          <a:p>
            <a:pPr marL="457200" indent="-457200">
              <a:spcBef>
                <a:spcPct val="0"/>
              </a:spcBef>
            </a:pPr>
            <a:r>
              <a:rPr lang="en-US" altLang="en-MX" u="sng"/>
              <a:t>Steps</a:t>
            </a:r>
          </a:p>
          <a:p>
            <a:pPr marL="457200" indent="-457200">
              <a:spcBef>
                <a:spcPct val="0"/>
              </a:spcBef>
            </a:pPr>
            <a:r>
              <a:rPr lang="en-US" altLang="en-MX"/>
              <a:t>1. Rule out strongly dominated options</a:t>
            </a:r>
          </a:p>
          <a:p>
            <a:pPr marL="457200" indent="-457200">
              <a:spcBef>
                <a:spcPct val="0"/>
              </a:spcBef>
            </a:pPr>
            <a:r>
              <a:rPr lang="en-US" altLang="en-MX"/>
              <a:t>2. Reorder from lowest to highest total costs such that the remaining options sequentially cost more and deliver more. Question: Are the benefits worth the costs? </a:t>
            </a:r>
          </a:p>
          <a:p>
            <a:pPr marL="457200" indent="-457200">
              <a:spcBef>
                <a:spcPct val="0"/>
              </a:spcBef>
            </a:pPr>
            <a:r>
              <a:rPr lang="en-US" altLang="en-MX"/>
              <a:t>3. Calculate the incremental CE ratios and look at the pattern. To calculate the FIRST CE ratio need to answer the question: What is the baseline comparator? Is there a no cost and no benefit “do nothing” option? (State the assumption we are making here)</a:t>
            </a:r>
          </a:p>
          <a:p>
            <a:pPr marL="457200" indent="-457200">
              <a:spcBef>
                <a:spcPct val="0"/>
              </a:spcBef>
            </a:pPr>
            <a:r>
              <a:rPr lang="en-US" altLang="en-MX"/>
              <a:t>4. What do you notice about the incremental CE ratio of H3? Define weak dominance. Rule out weakly dominated options.</a:t>
            </a:r>
          </a:p>
          <a:p>
            <a:pPr marL="457200" indent="-457200">
              <a:spcBef>
                <a:spcPct val="0"/>
              </a:spcBef>
            </a:pPr>
            <a:r>
              <a:rPr lang="en-US" altLang="en-MX"/>
              <a:t>5. Recalculate the CE ratios</a:t>
            </a:r>
          </a:p>
          <a:p>
            <a:pPr marL="457200" indent="-457200">
              <a:spcBef>
                <a:spcPct val="0"/>
              </a:spcBef>
            </a:pPr>
            <a:endParaRPr lang="en-US" altLang="en-MX"/>
          </a:p>
        </p:txBody>
      </p:sp>
    </p:spTree>
    <p:extLst>
      <p:ext uri="{BB962C8B-B14F-4D97-AF65-F5344CB8AC3E}">
        <p14:creationId xmlns:p14="http://schemas.microsoft.com/office/powerpoint/2010/main" val="76749076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8BBFC59A-BC23-A248-997F-5E25A20C30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fld id="{8F258A77-55E3-8546-8470-044F1E6D074E}" type="slidenum">
              <a:rPr lang="en-US" altLang="en-MX" sz="1200" b="0"/>
              <a:pPr/>
              <a:t>120</a:t>
            </a:fld>
            <a:endParaRPr lang="en-US" altLang="en-MX" sz="1200" b="0"/>
          </a:p>
        </p:txBody>
      </p:sp>
      <p:sp>
        <p:nvSpPr>
          <p:cNvPr id="72707" name="Rectangle 2">
            <a:extLst>
              <a:ext uri="{FF2B5EF4-FFF2-40B4-BE49-F238E27FC236}">
                <a16:creationId xmlns:a16="http://schemas.microsoft.com/office/drawing/2014/main" id="{27811F1C-2F2A-4640-9EFE-6CE9523F3638}"/>
              </a:ext>
            </a:extLst>
          </p:cNvPr>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72708" name="Rectangle 3">
            <a:extLst>
              <a:ext uri="{FF2B5EF4-FFF2-40B4-BE49-F238E27FC236}">
                <a16:creationId xmlns:a16="http://schemas.microsoft.com/office/drawing/2014/main" id="{B37A2C32-98D9-3D45-97B0-D00D68DCB51A}"/>
              </a:ext>
            </a:extLst>
          </p:cNvPr>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31" tIns="45817" rIns="91631" bIns="45817" anchor="b"/>
          <a:lstStyle>
            <a:lvl1pPr defTabSz="909638">
              <a:defRPr sz="2000" b="1">
                <a:solidFill>
                  <a:schemeClr val="tx1"/>
                </a:solidFill>
                <a:latin typeface="Times New Roman" panose="02020603050405020304" pitchFamily="18" charset="0"/>
              </a:defRPr>
            </a:lvl1pPr>
            <a:lvl2pPr marL="742950" indent="-285750" defTabSz="909638">
              <a:defRPr sz="2000" b="1">
                <a:solidFill>
                  <a:schemeClr val="tx1"/>
                </a:solidFill>
                <a:latin typeface="Times New Roman" panose="02020603050405020304" pitchFamily="18" charset="0"/>
              </a:defRPr>
            </a:lvl2pPr>
            <a:lvl3pPr marL="1143000" indent="-228600" defTabSz="909638">
              <a:defRPr sz="2000" b="1">
                <a:solidFill>
                  <a:schemeClr val="tx1"/>
                </a:solidFill>
                <a:latin typeface="Times New Roman" panose="02020603050405020304" pitchFamily="18" charset="0"/>
              </a:defRPr>
            </a:lvl3pPr>
            <a:lvl4pPr marL="1600200" indent="-228600" defTabSz="909638">
              <a:defRPr sz="2000" b="1">
                <a:solidFill>
                  <a:schemeClr val="tx1"/>
                </a:solidFill>
                <a:latin typeface="Times New Roman" panose="02020603050405020304" pitchFamily="18" charset="0"/>
              </a:defRPr>
            </a:lvl4pPr>
            <a:lvl5pPr marL="2057400" indent="-228600" defTabSz="909638">
              <a:defRPr sz="2000" b="1">
                <a:solidFill>
                  <a:schemeClr val="tx1"/>
                </a:solidFill>
                <a:latin typeface="Times New Roman" panose="02020603050405020304" pitchFamily="18" charset="0"/>
              </a:defRPr>
            </a:lvl5pPr>
            <a:lvl6pPr marL="2514600" indent="-228600" defTabSz="909638"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defTabSz="909638"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defTabSz="909638"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defTabSz="909638" eaLnBrk="0" fontAlgn="base" hangingPunct="0">
              <a:spcBef>
                <a:spcPct val="0"/>
              </a:spcBef>
              <a:spcAft>
                <a:spcPct val="0"/>
              </a:spcAft>
              <a:defRPr sz="2000" b="1">
                <a:solidFill>
                  <a:schemeClr val="tx1"/>
                </a:solidFill>
                <a:latin typeface="Times New Roman" panose="02020603050405020304" pitchFamily="18" charset="0"/>
              </a:defRPr>
            </a:lvl9pPr>
          </a:lstStyle>
          <a:p>
            <a:pPr algn="r"/>
            <a:r>
              <a:rPr lang="en-US" altLang="en-MX" sz="1200" b="0"/>
              <a:t>10</a:t>
            </a:r>
          </a:p>
        </p:txBody>
      </p:sp>
      <p:sp>
        <p:nvSpPr>
          <p:cNvPr id="72709" name="Rectangle 4">
            <a:extLst>
              <a:ext uri="{FF2B5EF4-FFF2-40B4-BE49-F238E27FC236}">
                <a16:creationId xmlns:a16="http://schemas.microsoft.com/office/drawing/2014/main" id="{77555505-2D62-3647-AFD9-03E77D1C3CED}"/>
              </a:ext>
            </a:extLst>
          </p:cNvPr>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72710" name="Rectangle 5">
            <a:extLst>
              <a:ext uri="{FF2B5EF4-FFF2-40B4-BE49-F238E27FC236}">
                <a16:creationId xmlns:a16="http://schemas.microsoft.com/office/drawing/2014/main" id="{5920BC21-5FB8-2647-9B70-0030CFF635BA}"/>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72711" name="Rectangle 6">
            <a:extLst>
              <a:ext uri="{FF2B5EF4-FFF2-40B4-BE49-F238E27FC236}">
                <a16:creationId xmlns:a16="http://schemas.microsoft.com/office/drawing/2014/main" id="{AE812A8E-CED0-784A-88F0-348754CC7DF6}"/>
              </a:ext>
            </a:extLst>
          </p:cNvPr>
          <p:cNvSpPr>
            <a:spLocks noGrp="1" noRot="1" noChangeAspect="1" noChangeArrowheads="1" noTextEdit="1"/>
          </p:cNvSpPr>
          <p:nvPr>
            <p:ph type="sldImg"/>
          </p:nvPr>
        </p:nvSpPr>
        <p:spPr>
          <a:xfrm>
            <a:off x="406400" y="679450"/>
            <a:ext cx="6046788" cy="3402013"/>
          </a:xfrm>
          <a:ln w="12700" cap="flat"/>
        </p:spPr>
      </p:sp>
      <p:sp>
        <p:nvSpPr>
          <p:cNvPr id="72712" name="Rectangle 7">
            <a:extLst>
              <a:ext uri="{FF2B5EF4-FFF2-40B4-BE49-F238E27FC236}">
                <a16:creationId xmlns:a16="http://schemas.microsoft.com/office/drawing/2014/main" id="{9B1AFB20-6396-CF4C-86B1-42A4AA31181D}"/>
              </a:ext>
            </a:extLst>
          </p:cNvPr>
          <p:cNvSpPr>
            <a:spLocks noGrp="1" noChangeArrowheads="1"/>
          </p:cNvSpPr>
          <p:nvPr>
            <p:ph type="body" idx="1"/>
          </p:nvPr>
        </p:nvSpPr>
        <p:spPr>
          <a:xfrm>
            <a:off x="914400" y="4306888"/>
            <a:ext cx="5029200" cy="41576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31" tIns="45817" rIns="91631" bIns="45817"/>
          <a:lstStyle/>
          <a:p>
            <a:pPr>
              <a:spcBef>
                <a:spcPct val="0"/>
              </a:spcBef>
            </a:pPr>
            <a:r>
              <a:rPr lang="en-US" altLang="en-MX"/>
              <a:t>H3 eliminated by weak dominance</a:t>
            </a:r>
          </a:p>
          <a:p>
            <a:pPr>
              <a:spcBef>
                <a:spcPct val="0"/>
              </a:spcBef>
            </a:pPr>
            <a:r>
              <a:rPr lang="en-US" altLang="en-MX"/>
              <a:t>Recalculate incremental ratios</a:t>
            </a:r>
          </a:p>
          <a:p>
            <a:pPr>
              <a:spcBef>
                <a:spcPct val="0"/>
              </a:spcBef>
            </a:pPr>
            <a:r>
              <a:rPr lang="en-US" altLang="en-MX"/>
              <a:t>These are the ratios to compare to the threshold</a:t>
            </a:r>
          </a:p>
        </p:txBody>
      </p:sp>
    </p:spTree>
    <p:extLst>
      <p:ext uri="{BB962C8B-B14F-4D97-AF65-F5344CB8AC3E}">
        <p14:creationId xmlns:p14="http://schemas.microsoft.com/office/powerpoint/2010/main" val="80616471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18FE2D04-51DC-334E-8A8B-5BC5D8EFB9B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fld id="{AC89D636-026D-A746-BE47-65686998CF8F}" type="slidenum">
              <a:rPr lang="en-US" altLang="en-MX" sz="1200" b="0"/>
              <a:pPr/>
              <a:t>121</a:t>
            </a:fld>
            <a:endParaRPr lang="en-US" altLang="en-MX" sz="1200" b="0"/>
          </a:p>
        </p:txBody>
      </p:sp>
      <p:sp>
        <p:nvSpPr>
          <p:cNvPr id="73731" name="Rectangle 2">
            <a:extLst>
              <a:ext uri="{FF2B5EF4-FFF2-40B4-BE49-F238E27FC236}">
                <a16:creationId xmlns:a16="http://schemas.microsoft.com/office/drawing/2014/main" id="{EADD56F0-D374-2347-B161-EF4854A24C2A}"/>
              </a:ext>
            </a:extLst>
          </p:cNvPr>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73732" name="Rectangle 3">
            <a:extLst>
              <a:ext uri="{FF2B5EF4-FFF2-40B4-BE49-F238E27FC236}">
                <a16:creationId xmlns:a16="http://schemas.microsoft.com/office/drawing/2014/main" id="{4821E64E-3CD6-FA4A-A5FB-A7E71F154FC8}"/>
              </a:ext>
            </a:extLst>
          </p:cNvPr>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31" tIns="45817" rIns="91631" bIns="45817" anchor="b"/>
          <a:lstStyle>
            <a:lvl1pPr defTabSz="909638">
              <a:defRPr sz="2000" b="1">
                <a:solidFill>
                  <a:schemeClr val="tx1"/>
                </a:solidFill>
                <a:latin typeface="Times New Roman" panose="02020603050405020304" pitchFamily="18" charset="0"/>
              </a:defRPr>
            </a:lvl1pPr>
            <a:lvl2pPr marL="742950" indent="-285750" defTabSz="909638">
              <a:defRPr sz="2000" b="1">
                <a:solidFill>
                  <a:schemeClr val="tx1"/>
                </a:solidFill>
                <a:latin typeface="Times New Roman" panose="02020603050405020304" pitchFamily="18" charset="0"/>
              </a:defRPr>
            </a:lvl2pPr>
            <a:lvl3pPr marL="1143000" indent="-228600" defTabSz="909638">
              <a:defRPr sz="2000" b="1">
                <a:solidFill>
                  <a:schemeClr val="tx1"/>
                </a:solidFill>
                <a:latin typeface="Times New Roman" panose="02020603050405020304" pitchFamily="18" charset="0"/>
              </a:defRPr>
            </a:lvl3pPr>
            <a:lvl4pPr marL="1600200" indent="-228600" defTabSz="909638">
              <a:defRPr sz="2000" b="1">
                <a:solidFill>
                  <a:schemeClr val="tx1"/>
                </a:solidFill>
                <a:latin typeface="Times New Roman" panose="02020603050405020304" pitchFamily="18" charset="0"/>
              </a:defRPr>
            </a:lvl4pPr>
            <a:lvl5pPr marL="2057400" indent="-228600" defTabSz="909638">
              <a:defRPr sz="2000" b="1">
                <a:solidFill>
                  <a:schemeClr val="tx1"/>
                </a:solidFill>
                <a:latin typeface="Times New Roman" panose="02020603050405020304" pitchFamily="18" charset="0"/>
              </a:defRPr>
            </a:lvl5pPr>
            <a:lvl6pPr marL="2514600" indent="-228600" defTabSz="909638"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defTabSz="909638"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defTabSz="909638"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defTabSz="909638" eaLnBrk="0" fontAlgn="base" hangingPunct="0">
              <a:spcBef>
                <a:spcPct val="0"/>
              </a:spcBef>
              <a:spcAft>
                <a:spcPct val="0"/>
              </a:spcAft>
              <a:defRPr sz="2000" b="1">
                <a:solidFill>
                  <a:schemeClr val="tx1"/>
                </a:solidFill>
                <a:latin typeface="Times New Roman" panose="02020603050405020304" pitchFamily="18" charset="0"/>
              </a:defRPr>
            </a:lvl9pPr>
          </a:lstStyle>
          <a:p>
            <a:pPr algn="r"/>
            <a:r>
              <a:rPr lang="en-US" altLang="en-MX" sz="1200" b="0"/>
              <a:t>10</a:t>
            </a:r>
          </a:p>
        </p:txBody>
      </p:sp>
      <p:sp>
        <p:nvSpPr>
          <p:cNvPr id="73733" name="Rectangle 4">
            <a:extLst>
              <a:ext uri="{FF2B5EF4-FFF2-40B4-BE49-F238E27FC236}">
                <a16:creationId xmlns:a16="http://schemas.microsoft.com/office/drawing/2014/main" id="{71A88C22-3B55-8540-918F-1279B40EA3CF}"/>
              </a:ext>
            </a:extLst>
          </p:cNvPr>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73734" name="Rectangle 5">
            <a:extLst>
              <a:ext uri="{FF2B5EF4-FFF2-40B4-BE49-F238E27FC236}">
                <a16:creationId xmlns:a16="http://schemas.microsoft.com/office/drawing/2014/main" id="{C594F0AC-CA84-CB46-BAC2-1169FB20B856}"/>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73735" name="Rectangle 6">
            <a:extLst>
              <a:ext uri="{FF2B5EF4-FFF2-40B4-BE49-F238E27FC236}">
                <a16:creationId xmlns:a16="http://schemas.microsoft.com/office/drawing/2014/main" id="{17992E85-E5C7-9544-8D18-18E5ED35268D}"/>
              </a:ext>
            </a:extLst>
          </p:cNvPr>
          <p:cNvSpPr>
            <a:spLocks noGrp="1" noRot="1" noChangeAspect="1" noChangeArrowheads="1" noTextEdit="1"/>
          </p:cNvSpPr>
          <p:nvPr>
            <p:ph type="sldImg"/>
          </p:nvPr>
        </p:nvSpPr>
        <p:spPr>
          <a:xfrm>
            <a:off x="406400" y="679450"/>
            <a:ext cx="6046788" cy="3402013"/>
          </a:xfrm>
          <a:ln w="12700" cap="flat"/>
        </p:spPr>
      </p:sp>
      <p:sp>
        <p:nvSpPr>
          <p:cNvPr id="73736" name="Rectangle 7">
            <a:extLst>
              <a:ext uri="{FF2B5EF4-FFF2-40B4-BE49-F238E27FC236}">
                <a16:creationId xmlns:a16="http://schemas.microsoft.com/office/drawing/2014/main" id="{6C046764-11DA-8848-B63D-96DA6B851DC6}"/>
              </a:ext>
            </a:extLst>
          </p:cNvPr>
          <p:cNvSpPr>
            <a:spLocks noGrp="1" noChangeArrowheads="1"/>
          </p:cNvSpPr>
          <p:nvPr>
            <p:ph type="body" idx="1"/>
          </p:nvPr>
        </p:nvSpPr>
        <p:spPr>
          <a:xfrm>
            <a:off x="914400" y="4306888"/>
            <a:ext cx="5029200" cy="41576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31" tIns="45817" rIns="91631" bIns="45817"/>
          <a:lstStyle/>
          <a:p>
            <a:pPr>
              <a:spcBef>
                <a:spcPct val="0"/>
              </a:spcBef>
            </a:pPr>
            <a:r>
              <a:rPr lang="en-US" altLang="en-MX"/>
              <a:t>H3 eliminated by weak dominance</a:t>
            </a:r>
          </a:p>
          <a:p>
            <a:pPr>
              <a:spcBef>
                <a:spcPct val="0"/>
              </a:spcBef>
            </a:pPr>
            <a:r>
              <a:rPr lang="en-US" altLang="en-MX"/>
              <a:t>Recalculate incremental ratios</a:t>
            </a:r>
          </a:p>
          <a:p>
            <a:pPr>
              <a:spcBef>
                <a:spcPct val="0"/>
              </a:spcBef>
            </a:pPr>
            <a:r>
              <a:rPr lang="en-US" altLang="en-MX"/>
              <a:t>These are the ratios to compare to the threshold</a:t>
            </a:r>
          </a:p>
        </p:txBody>
      </p:sp>
    </p:spTree>
    <p:extLst>
      <p:ext uri="{BB962C8B-B14F-4D97-AF65-F5344CB8AC3E}">
        <p14:creationId xmlns:p14="http://schemas.microsoft.com/office/powerpoint/2010/main" val="193570065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0EA3E598-1620-8F47-A4E1-0819DA1EBF6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fld id="{676E45F3-5132-2944-ACDC-A046070DC92C}" type="slidenum">
              <a:rPr lang="en-US" altLang="en-MX" sz="1200" b="0"/>
              <a:pPr/>
              <a:t>122</a:t>
            </a:fld>
            <a:endParaRPr lang="en-US" altLang="en-MX" sz="1200" b="0"/>
          </a:p>
        </p:txBody>
      </p:sp>
      <p:sp>
        <p:nvSpPr>
          <p:cNvPr id="74755" name="Rectangle 2">
            <a:extLst>
              <a:ext uri="{FF2B5EF4-FFF2-40B4-BE49-F238E27FC236}">
                <a16:creationId xmlns:a16="http://schemas.microsoft.com/office/drawing/2014/main" id="{BFD3EB4F-7BE7-CA4B-A99C-DE855EC39FA5}"/>
              </a:ext>
            </a:extLst>
          </p:cNvPr>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74756" name="Rectangle 3">
            <a:extLst>
              <a:ext uri="{FF2B5EF4-FFF2-40B4-BE49-F238E27FC236}">
                <a16:creationId xmlns:a16="http://schemas.microsoft.com/office/drawing/2014/main" id="{205EB610-6E67-D744-91D1-4C3C31860EB9}"/>
              </a:ext>
            </a:extLst>
          </p:cNvPr>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31" tIns="45817" rIns="91631" bIns="45817" anchor="b"/>
          <a:lstStyle>
            <a:lvl1pPr defTabSz="909638">
              <a:defRPr sz="2000" b="1">
                <a:solidFill>
                  <a:schemeClr val="tx1"/>
                </a:solidFill>
                <a:latin typeface="Times New Roman" panose="02020603050405020304" pitchFamily="18" charset="0"/>
              </a:defRPr>
            </a:lvl1pPr>
            <a:lvl2pPr marL="742950" indent="-285750" defTabSz="909638">
              <a:defRPr sz="2000" b="1">
                <a:solidFill>
                  <a:schemeClr val="tx1"/>
                </a:solidFill>
                <a:latin typeface="Times New Roman" panose="02020603050405020304" pitchFamily="18" charset="0"/>
              </a:defRPr>
            </a:lvl2pPr>
            <a:lvl3pPr marL="1143000" indent="-228600" defTabSz="909638">
              <a:defRPr sz="2000" b="1">
                <a:solidFill>
                  <a:schemeClr val="tx1"/>
                </a:solidFill>
                <a:latin typeface="Times New Roman" panose="02020603050405020304" pitchFamily="18" charset="0"/>
              </a:defRPr>
            </a:lvl3pPr>
            <a:lvl4pPr marL="1600200" indent="-228600" defTabSz="909638">
              <a:defRPr sz="2000" b="1">
                <a:solidFill>
                  <a:schemeClr val="tx1"/>
                </a:solidFill>
                <a:latin typeface="Times New Roman" panose="02020603050405020304" pitchFamily="18" charset="0"/>
              </a:defRPr>
            </a:lvl4pPr>
            <a:lvl5pPr marL="2057400" indent="-228600" defTabSz="909638">
              <a:defRPr sz="2000" b="1">
                <a:solidFill>
                  <a:schemeClr val="tx1"/>
                </a:solidFill>
                <a:latin typeface="Times New Roman" panose="02020603050405020304" pitchFamily="18" charset="0"/>
              </a:defRPr>
            </a:lvl5pPr>
            <a:lvl6pPr marL="2514600" indent="-228600" defTabSz="909638"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defTabSz="909638"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defTabSz="909638"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defTabSz="909638" eaLnBrk="0" fontAlgn="base" hangingPunct="0">
              <a:spcBef>
                <a:spcPct val="0"/>
              </a:spcBef>
              <a:spcAft>
                <a:spcPct val="0"/>
              </a:spcAft>
              <a:defRPr sz="2000" b="1">
                <a:solidFill>
                  <a:schemeClr val="tx1"/>
                </a:solidFill>
                <a:latin typeface="Times New Roman" panose="02020603050405020304" pitchFamily="18" charset="0"/>
              </a:defRPr>
            </a:lvl9pPr>
          </a:lstStyle>
          <a:p>
            <a:pPr algn="r"/>
            <a:r>
              <a:rPr lang="en-US" altLang="en-MX" sz="1200" b="0"/>
              <a:t>10</a:t>
            </a:r>
          </a:p>
        </p:txBody>
      </p:sp>
      <p:sp>
        <p:nvSpPr>
          <p:cNvPr id="74757" name="Rectangle 4">
            <a:extLst>
              <a:ext uri="{FF2B5EF4-FFF2-40B4-BE49-F238E27FC236}">
                <a16:creationId xmlns:a16="http://schemas.microsoft.com/office/drawing/2014/main" id="{7781B35D-4A5D-1944-BEFE-EA5700990999}"/>
              </a:ext>
            </a:extLst>
          </p:cNvPr>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74758" name="Rectangle 5">
            <a:extLst>
              <a:ext uri="{FF2B5EF4-FFF2-40B4-BE49-F238E27FC236}">
                <a16:creationId xmlns:a16="http://schemas.microsoft.com/office/drawing/2014/main" id="{21003263-DF87-6845-B1DD-CBE48945C8CA}"/>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74759" name="Rectangle 6">
            <a:extLst>
              <a:ext uri="{FF2B5EF4-FFF2-40B4-BE49-F238E27FC236}">
                <a16:creationId xmlns:a16="http://schemas.microsoft.com/office/drawing/2014/main" id="{93C82ADA-5E36-FC46-85E6-96AF568C20A8}"/>
              </a:ext>
            </a:extLst>
          </p:cNvPr>
          <p:cNvSpPr>
            <a:spLocks noGrp="1" noRot="1" noChangeAspect="1" noChangeArrowheads="1" noTextEdit="1"/>
          </p:cNvSpPr>
          <p:nvPr>
            <p:ph type="sldImg"/>
          </p:nvPr>
        </p:nvSpPr>
        <p:spPr>
          <a:xfrm>
            <a:off x="406400" y="679450"/>
            <a:ext cx="6046788" cy="3402013"/>
          </a:xfrm>
          <a:ln w="12700" cap="flat"/>
        </p:spPr>
      </p:sp>
      <p:sp>
        <p:nvSpPr>
          <p:cNvPr id="74760" name="Rectangle 7">
            <a:extLst>
              <a:ext uri="{FF2B5EF4-FFF2-40B4-BE49-F238E27FC236}">
                <a16:creationId xmlns:a16="http://schemas.microsoft.com/office/drawing/2014/main" id="{127F316D-D380-2C4F-A818-EAE95450CCB6}"/>
              </a:ext>
            </a:extLst>
          </p:cNvPr>
          <p:cNvSpPr>
            <a:spLocks noGrp="1" noChangeArrowheads="1"/>
          </p:cNvSpPr>
          <p:nvPr>
            <p:ph type="body" idx="1"/>
          </p:nvPr>
        </p:nvSpPr>
        <p:spPr>
          <a:xfrm>
            <a:off x="914400" y="4306888"/>
            <a:ext cx="5029200" cy="41576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31" tIns="45817" rIns="91631" bIns="45817"/>
          <a:lstStyle/>
          <a:p>
            <a:pPr>
              <a:spcBef>
                <a:spcPct val="0"/>
              </a:spcBef>
            </a:pPr>
            <a:r>
              <a:rPr lang="en-US" altLang="en-MX"/>
              <a:t>H2 Best we can do is 280</a:t>
            </a:r>
          </a:p>
        </p:txBody>
      </p:sp>
    </p:spTree>
    <p:extLst>
      <p:ext uri="{BB962C8B-B14F-4D97-AF65-F5344CB8AC3E}">
        <p14:creationId xmlns:p14="http://schemas.microsoft.com/office/powerpoint/2010/main" val="293501593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4C11C902-71B1-5041-B2B1-DC57361565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fld id="{A691043A-9757-B342-9DAA-EC2939273A7E}" type="slidenum">
              <a:rPr lang="en-US" altLang="en-MX" sz="1200" b="0"/>
              <a:pPr/>
              <a:t>123</a:t>
            </a:fld>
            <a:endParaRPr lang="en-US" altLang="en-MX" sz="1200" b="0"/>
          </a:p>
        </p:txBody>
      </p:sp>
      <p:sp>
        <p:nvSpPr>
          <p:cNvPr id="75779" name="Rectangle 2">
            <a:extLst>
              <a:ext uri="{FF2B5EF4-FFF2-40B4-BE49-F238E27FC236}">
                <a16:creationId xmlns:a16="http://schemas.microsoft.com/office/drawing/2014/main" id="{169E452E-A9D2-7E42-A6BA-EDFF62296709}"/>
              </a:ext>
            </a:extLst>
          </p:cNvPr>
          <p:cNvSpPr>
            <a:spLocks noGrp="1" noRot="1" noChangeAspect="1" noChangeArrowheads="1" noTextEdit="1"/>
          </p:cNvSpPr>
          <p:nvPr>
            <p:ph type="sldImg"/>
          </p:nvPr>
        </p:nvSpPr>
        <p:spPr>
          <a:xfrm>
            <a:off x="382588" y="685800"/>
            <a:ext cx="6096000" cy="3429000"/>
          </a:xfrm>
          <a:ln/>
        </p:spPr>
      </p:sp>
      <p:sp>
        <p:nvSpPr>
          <p:cNvPr id="75780" name="Rectangle 3">
            <a:extLst>
              <a:ext uri="{FF2B5EF4-FFF2-40B4-BE49-F238E27FC236}">
                <a16:creationId xmlns:a16="http://schemas.microsoft.com/office/drawing/2014/main" id="{680ACABA-83E7-4046-ADA5-5799D444EC0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999" tIns="45500" rIns="90999" bIns="45500"/>
          <a:lstStyle/>
          <a:p>
            <a:r>
              <a:rPr lang="en-US" altLang="en-MX">
                <a:cs typeface="Times New Roman" panose="02020603050405020304" pitchFamily="18" charset="0"/>
              </a:rPr>
              <a:t>The cost-effectiveness of moving from one screening strategy to a more costly alternative is represented by the difference in cost divided by the difference in life expectancy associated with the two strategies.  Strategies lying on the efficiency curve dominate those lying to the left of the curve because they are more effective, and either cost less or have a more attractive cost-effectiveness ratio, than the next best strategy.  An incremental cost-effectiveness ratio is calculated for each nondominated strategy. What do the slopes represent? The slope of the line connecting the two screening strategies under comparison is the incremental CE ratio; this slope will be flatter when the net gain in life expectancy per dollar is greater. (Realize when the efficiency curve is plotted with cost on the x axis the slope will be steeper when the net gain in LE per dollar is greater and the inverse of the slope is the CE ratio)</a:t>
            </a:r>
            <a:r>
              <a:rPr lang="en-US" altLang="en-MX"/>
              <a:t> </a:t>
            </a:r>
          </a:p>
          <a:p>
            <a:endParaRPr lang="en-US" altLang="en-MX"/>
          </a:p>
          <a:p>
            <a:r>
              <a:rPr lang="en-US" altLang="en-MX"/>
              <a:t>Slopes represent incremental cost-effectiveness ratios</a:t>
            </a:r>
          </a:p>
          <a:p>
            <a:r>
              <a:rPr lang="en-US" altLang="en-MX"/>
              <a:t>South (low cost) and East (high benefit) is desirable – Efficient Frontier</a:t>
            </a:r>
          </a:p>
          <a:p>
            <a:r>
              <a:rPr lang="en-US" altLang="en-MX"/>
              <a:t>Points to the left of the curve are dominated</a:t>
            </a:r>
          </a:p>
          <a:p>
            <a:r>
              <a:rPr lang="en-US" altLang="en-MX"/>
              <a:t>Strong dominance: H5 costs more than H2 but delivers less benefit</a:t>
            </a:r>
          </a:p>
          <a:p>
            <a:r>
              <a:rPr lang="en-US" altLang="en-MX"/>
              <a:t>Weak dominance: Combination of H2 and H1 delivers greater benefit than H3 at the same cost</a:t>
            </a:r>
          </a:p>
          <a:p>
            <a:endParaRPr lang="en-US" altLang="en-MX"/>
          </a:p>
        </p:txBody>
      </p:sp>
    </p:spTree>
    <p:extLst>
      <p:ext uri="{BB962C8B-B14F-4D97-AF65-F5344CB8AC3E}">
        <p14:creationId xmlns:p14="http://schemas.microsoft.com/office/powerpoint/2010/main" val="3992526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E7ECAF50-EC6B-9548-8A0E-8E4B19D1DD6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fld id="{867DC810-2E70-A949-8A0E-415D378C07D8}" type="slidenum">
              <a:rPr lang="en-US" altLang="en-MX" sz="1200" b="0"/>
              <a:pPr/>
              <a:t>124</a:t>
            </a:fld>
            <a:endParaRPr lang="en-US" altLang="en-MX" sz="1200" b="0"/>
          </a:p>
        </p:txBody>
      </p:sp>
      <p:sp>
        <p:nvSpPr>
          <p:cNvPr id="76803" name="Rectangle 2">
            <a:extLst>
              <a:ext uri="{FF2B5EF4-FFF2-40B4-BE49-F238E27FC236}">
                <a16:creationId xmlns:a16="http://schemas.microsoft.com/office/drawing/2014/main" id="{F00E1026-8867-B14D-B823-15B76C42D5D9}"/>
              </a:ext>
            </a:extLst>
          </p:cNvPr>
          <p:cNvSpPr>
            <a:spLocks noGrp="1" noRot="1" noChangeAspect="1" noChangeArrowheads="1" noTextEdit="1"/>
          </p:cNvSpPr>
          <p:nvPr>
            <p:ph type="sldImg"/>
          </p:nvPr>
        </p:nvSpPr>
        <p:spPr>
          <a:xfrm>
            <a:off x="382588" y="685800"/>
            <a:ext cx="6096000" cy="3429000"/>
          </a:xfrm>
          <a:ln/>
        </p:spPr>
      </p:sp>
      <p:sp>
        <p:nvSpPr>
          <p:cNvPr id="76804" name="Rectangle 3">
            <a:extLst>
              <a:ext uri="{FF2B5EF4-FFF2-40B4-BE49-F238E27FC236}">
                <a16:creationId xmlns:a16="http://schemas.microsoft.com/office/drawing/2014/main" id="{532632B4-0DC7-084D-BCF3-FE5FD3490BC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999" tIns="45500" rIns="90999" bIns="45500"/>
          <a:lstStyle/>
          <a:p>
            <a:r>
              <a:rPr lang="en-US" altLang="en-MX">
                <a:cs typeface="Times New Roman" panose="02020603050405020304" pitchFamily="18" charset="0"/>
              </a:rPr>
              <a:t>The cost-effectiveness of moving from one screening strategy to a more costly alternative is represented by the difference in cost divided by the difference in life expectancy associated with the two strategies.  Strategies lying on the efficiency curve dominate those lying to the left of the curve because they are more effective, and either cost less or have a more attractive cost-effectiveness ratio, than the next best strategy.  An incremental cost-effectiveness ratio is calculated for each nondominated strategy. What do the slopes represent? The slope of the line connecting the two screening strategies under comparison is the incremental CE ratio; this slope will be flatter when the net gain in life expectancy per dollar is greater. (Realize when the efficiency curve is plotted with cost on the x axis the slope will be steeper when the net gain in LE per dollar is greater and the inverse of the slope is the CE ratio)</a:t>
            </a:r>
            <a:r>
              <a:rPr lang="en-US" altLang="en-MX"/>
              <a:t> </a:t>
            </a:r>
          </a:p>
          <a:p>
            <a:endParaRPr lang="en-US" altLang="en-MX"/>
          </a:p>
          <a:p>
            <a:r>
              <a:rPr lang="en-US" altLang="en-MX"/>
              <a:t>Slopes represent incremental cost-effectiveness ratios</a:t>
            </a:r>
          </a:p>
          <a:p>
            <a:r>
              <a:rPr lang="en-US" altLang="en-MX"/>
              <a:t>South (low cost) and East (high benefit) is desirable – Efficient Frontier</a:t>
            </a:r>
          </a:p>
          <a:p>
            <a:r>
              <a:rPr lang="en-US" altLang="en-MX"/>
              <a:t>Points to the left of the curve are dominated</a:t>
            </a:r>
          </a:p>
          <a:p>
            <a:r>
              <a:rPr lang="en-US" altLang="en-MX"/>
              <a:t>Strong dominance: H5 costs more than H2 but delivers less benefit</a:t>
            </a:r>
          </a:p>
          <a:p>
            <a:r>
              <a:rPr lang="en-US" altLang="en-MX"/>
              <a:t>Weak dominance: Combination of H2 and H1 delivers greater benefit than H3 at the same cost</a:t>
            </a:r>
          </a:p>
          <a:p>
            <a:endParaRPr lang="en-US" altLang="en-MX"/>
          </a:p>
          <a:p>
            <a:endParaRPr lang="en-US" altLang="en-MX"/>
          </a:p>
        </p:txBody>
      </p:sp>
    </p:spTree>
    <p:extLst>
      <p:ext uri="{BB962C8B-B14F-4D97-AF65-F5344CB8AC3E}">
        <p14:creationId xmlns:p14="http://schemas.microsoft.com/office/powerpoint/2010/main" val="268219413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4394FBB4-27F4-3841-9604-C628766BD3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fld id="{2475E120-6E38-0B4E-A056-B8BE341568CF}" type="slidenum">
              <a:rPr lang="en-US" altLang="en-MX" sz="1200" b="0"/>
              <a:pPr/>
              <a:t>125</a:t>
            </a:fld>
            <a:endParaRPr lang="en-US" altLang="en-MX" sz="1200" b="0"/>
          </a:p>
        </p:txBody>
      </p:sp>
      <p:sp>
        <p:nvSpPr>
          <p:cNvPr id="77827" name="Rectangle 2">
            <a:extLst>
              <a:ext uri="{FF2B5EF4-FFF2-40B4-BE49-F238E27FC236}">
                <a16:creationId xmlns:a16="http://schemas.microsoft.com/office/drawing/2014/main" id="{CF09766A-B02D-6F48-A8AB-392769939E86}"/>
              </a:ext>
            </a:extLst>
          </p:cNvPr>
          <p:cNvSpPr>
            <a:spLocks noGrp="1" noRot="1" noChangeAspect="1" noChangeArrowheads="1" noTextEdit="1"/>
          </p:cNvSpPr>
          <p:nvPr>
            <p:ph type="sldImg"/>
          </p:nvPr>
        </p:nvSpPr>
        <p:spPr>
          <a:xfrm>
            <a:off x="382588" y="685800"/>
            <a:ext cx="6096000" cy="3429000"/>
          </a:xfrm>
          <a:ln/>
        </p:spPr>
      </p:sp>
      <p:sp>
        <p:nvSpPr>
          <p:cNvPr id="77828" name="Rectangle 3">
            <a:extLst>
              <a:ext uri="{FF2B5EF4-FFF2-40B4-BE49-F238E27FC236}">
                <a16:creationId xmlns:a16="http://schemas.microsoft.com/office/drawing/2014/main" id="{7DE58598-CFCC-BD4E-8E80-D707765B0DC3}"/>
              </a:ext>
            </a:extLst>
          </p:cNvPr>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MX" altLang="en-MX"/>
          </a:p>
        </p:txBody>
      </p:sp>
    </p:spTree>
    <p:extLst>
      <p:ext uri="{BB962C8B-B14F-4D97-AF65-F5344CB8AC3E}">
        <p14:creationId xmlns:p14="http://schemas.microsoft.com/office/powerpoint/2010/main" val="322932081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55DD571E-1E51-0F4D-8C77-AFD11EF9F36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fld id="{6CF49926-C104-2843-B4E0-BA347B7D98C9}" type="slidenum">
              <a:rPr lang="en-US" altLang="en-MX" sz="1200" b="0"/>
              <a:pPr/>
              <a:t>126</a:t>
            </a:fld>
            <a:endParaRPr lang="en-US" altLang="en-MX" sz="1200" b="0"/>
          </a:p>
        </p:txBody>
      </p:sp>
      <p:sp>
        <p:nvSpPr>
          <p:cNvPr id="78851" name="Rectangle 2">
            <a:extLst>
              <a:ext uri="{FF2B5EF4-FFF2-40B4-BE49-F238E27FC236}">
                <a16:creationId xmlns:a16="http://schemas.microsoft.com/office/drawing/2014/main" id="{5976D564-8037-E74D-B7D8-27C144B39575}"/>
              </a:ext>
            </a:extLst>
          </p:cNvPr>
          <p:cNvSpPr>
            <a:spLocks noGrp="1" noRot="1" noChangeAspect="1" noChangeArrowheads="1" noTextEdit="1"/>
          </p:cNvSpPr>
          <p:nvPr>
            <p:ph type="sldImg"/>
          </p:nvPr>
        </p:nvSpPr>
        <p:spPr>
          <a:xfrm>
            <a:off x="382588" y="685800"/>
            <a:ext cx="6096000" cy="3429000"/>
          </a:xfrm>
          <a:ln/>
        </p:spPr>
      </p:sp>
      <p:sp>
        <p:nvSpPr>
          <p:cNvPr id="78852" name="Rectangle 3">
            <a:extLst>
              <a:ext uri="{FF2B5EF4-FFF2-40B4-BE49-F238E27FC236}">
                <a16:creationId xmlns:a16="http://schemas.microsoft.com/office/drawing/2014/main" id="{7611FEAB-31B8-014A-B174-8EE3028C644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999" tIns="45500" rIns="90999" bIns="45500"/>
          <a:lstStyle/>
          <a:p>
            <a:r>
              <a:rPr lang="en-US" altLang="en-MX" dirty="0"/>
              <a:t>Must state the threshold a priori</a:t>
            </a:r>
          </a:p>
          <a:p>
            <a:endParaRPr lang="en-US" altLang="en-MX" dirty="0"/>
          </a:p>
          <a:p>
            <a:pPr>
              <a:spcBef>
                <a:spcPct val="0"/>
              </a:spcBef>
            </a:pPr>
            <a:r>
              <a:rPr lang="en-US" altLang="en-MX" u="sng" dirty="0"/>
              <a:t>Threshold Ratio:</a:t>
            </a:r>
          </a:p>
          <a:p>
            <a:pPr>
              <a:spcBef>
                <a:spcPct val="10000"/>
              </a:spcBef>
              <a:spcAft>
                <a:spcPct val="30000"/>
              </a:spcAft>
              <a:buFontTx/>
              <a:buChar char="•"/>
            </a:pPr>
            <a:r>
              <a:rPr lang="en-US" altLang="en-MX" dirty="0">
                <a:solidFill>
                  <a:srgbClr val="000000"/>
                </a:solidFill>
              </a:rPr>
              <a:t>Cost-effectiveness ratio of the last included program selected before budget exhausted</a:t>
            </a:r>
          </a:p>
          <a:p>
            <a:pPr>
              <a:spcBef>
                <a:spcPct val="10000"/>
              </a:spcBef>
              <a:spcAft>
                <a:spcPct val="30000"/>
              </a:spcAft>
              <a:buFontTx/>
              <a:buChar char="•"/>
            </a:pPr>
            <a:r>
              <a:rPr lang="en-US" altLang="en-MX" dirty="0">
                <a:solidFill>
                  <a:srgbClr val="000000"/>
                </a:solidFill>
              </a:rPr>
              <a:t>Represents the standard against which programs that make claims against the budget can be judged</a:t>
            </a:r>
          </a:p>
          <a:p>
            <a:pPr>
              <a:spcBef>
                <a:spcPct val="20000"/>
              </a:spcBef>
              <a:buFontTx/>
              <a:buChar char="•"/>
            </a:pPr>
            <a:r>
              <a:rPr lang="en-US" altLang="en-MX" dirty="0">
                <a:solidFill>
                  <a:srgbClr val="000000"/>
                </a:solidFill>
              </a:rPr>
              <a:t>Shadow price of an explicit budget constraint</a:t>
            </a:r>
          </a:p>
          <a:p>
            <a:pPr>
              <a:spcBef>
                <a:spcPct val="20000"/>
              </a:spcBef>
              <a:buFontTx/>
              <a:buChar char="•"/>
            </a:pPr>
            <a:r>
              <a:rPr lang="en-US" altLang="en-MX" dirty="0">
                <a:solidFill>
                  <a:srgbClr val="000000"/>
                </a:solidFill>
              </a:rPr>
              <a:t>Opportunity cost in the absence of an explicit budget constraint</a:t>
            </a:r>
          </a:p>
          <a:p>
            <a:pPr>
              <a:spcBef>
                <a:spcPct val="20000"/>
              </a:spcBef>
              <a:buFontTx/>
              <a:buChar char="•"/>
            </a:pPr>
            <a:r>
              <a:rPr lang="en-US" altLang="en-MX" dirty="0">
                <a:solidFill>
                  <a:srgbClr val="000000"/>
                </a:solidFill>
              </a:rPr>
              <a:t>Comparison with other health programs</a:t>
            </a:r>
          </a:p>
          <a:p>
            <a:pPr>
              <a:spcBef>
                <a:spcPct val="20000"/>
              </a:spcBef>
              <a:buFontTx/>
              <a:buChar char="•"/>
            </a:pPr>
            <a:r>
              <a:rPr lang="en-US" altLang="en-MX" dirty="0">
                <a:solidFill>
                  <a:srgbClr val="000000"/>
                </a:solidFill>
              </a:rPr>
              <a:t>Inference of cost-effectiveness criteria from prior decisions</a:t>
            </a:r>
          </a:p>
          <a:p>
            <a:pPr>
              <a:spcBef>
                <a:spcPct val="20000"/>
              </a:spcBef>
              <a:buFontTx/>
              <a:buChar char="•"/>
            </a:pPr>
            <a:r>
              <a:rPr lang="en-US" altLang="en-MX" dirty="0">
                <a:solidFill>
                  <a:srgbClr val="000000"/>
                </a:solidFill>
              </a:rPr>
              <a:t>Cost-benefit methods</a:t>
            </a:r>
          </a:p>
          <a:p>
            <a:pPr>
              <a:spcBef>
                <a:spcPct val="20000"/>
              </a:spcBef>
              <a:buFontTx/>
              <a:buChar char="•"/>
            </a:pPr>
            <a:r>
              <a:rPr lang="en-US" altLang="en-MX" dirty="0">
                <a:solidFill>
                  <a:srgbClr val="000000"/>
                </a:solidFill>
              </a:rPr>
              <a:t>Rules of thumb</a:t>
            </a:r>
          </a:p>
          <a:p>
            <a:pPr>
              <a:spcBef>
                <a:spcPct val="10000"/>
              </a:spcBef>
              <a:spcAft>
                <a:spcPct val="30000"/>
              </a:spcAft>
            </a:pPr>
            <a:endParaRPr lang="en-US" altLang="en-MX" dirty="0"/>
          </a:p>
          <a:p>
            <a:r>
              <a:rPr lang="en-US" altLang="en-MX" dirty="0"/>
              <a:t>There are particular advantages to not having a ratio to deal with as the result of analysis when conducting uncertainty analyses</a:t>
            </a:r>
          </a:p>
          <a:p>
            <a:endParaRPr lang="en-US" altLang="en-MX" dirty="0"/>
          </a:p>
        </p:txBody>
      </p:sp>
    </p:spTree>
    <p:extLst>
      <p:ext uri="{BB962C8B-B14F-4D97-AF65-F5344CB8AC3E}">
        <p14:creationId xmlns:p14="http://schemas.microsoft.com/office/powerpoint/2010/main" val="1593378666"/>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59837FAB-09B2-DD41-9997-BE7F2F68A61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fld id="{EEC011BD-6678-494C-8BF6-3F630A4A0E7B}" type="slidenum">
              <a:rPr lang="en-US" altLang="en-MX" sz="1200" b="0"/>
              <a:pPr/>
              <a:t>127</a:t>
            </a:fld>
            <a:endParaRPr lang="en-US" altLang="en-MX" sz="1200" b="0"/>
          </a:p>
        </p:txBody>
      </p:sp>
      <p:sp>
        <p:nvSpPr>
          <p:cNvPr id="79875" name="Rectangle 2">
            <a:extLst>
              <a:ext uri="{FF2B5EF4-FFF2-40B4-BE49-F238E27FC236}">
                <a16:creationId xmlns:a16="http://schemas.microsoft.com/office/drawing/2014/main" id="{CF991ABF-196B-DF45-B1C5-E18C69271557}"/>
              </a:ext>
            </a:extLst>
          </p:cNvPr>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79876" name="Rectangle 3">
            <a:extLst>
              <a:ext uri="{FF2B5EF4-FFF2-40B4-BE49-F238E27FC236}">
                <a16:creationId xmlns:a16="http://schemas.microsoft.com/office/drawing/2014/main" id="{497357F9-46A3-9C41-859D-ED08C7FCE4E8}"/>
              </a:ext>
            </a:extLst>
          </p:cNvPr>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31" tIns="45817" rIns="91631" bIns="45817" anchor="b"/>
          <a:lstStyle>
            <a:lvl1pPr defTabSz="909638">
              <a:defRPr sz="2000" b="1">
                <a:solidFill>
                  <a:schemeClr val="tx1"/>
                </a:solidFill>
                <a:latin typeface="Times New Roman" panose="02020603050405020304" pitchFamily="18" charset="0"/>
              </a:defRPr>
            </a:lvl1pPr>
            <a:lvl2pPr marL="742950" indent="-285750" defTabSz="909638">
              <a:defRPr sz="2000" b="1">
                <a:solidFill>
                  <a:schemeClr val="tx1"/>
                </a:solidFill>
                <a:latin typeface="Times New Roman" panose="02020603050405020304" pitchFamily="18" charset="0"/>
              </a:defRPr>
            </a:lvl2pPr>
            <a:lvl3pPr marL="1143000" indent="-228600" defTabSz="909638">
              <a:defRPr sz="2000" b="1">
                <a:solidFill>
                  <a:schemeClr val="tx1"/>
                </a:solidFill>
                <a:latin typeface="Times New Roman" panose="02020603050405020304" pitchFamily="18" charset="0"/>
              </a:defRPr>
            </a:lvl3pPr>
            <a:lvl4pPr marL="1600200" indent="-228600" defTabSz="909638">
              <a:defRPr sz="2000" b="1">
                <a:solidFill>
                  <a:schemeClr val="tx1"/>
                </a:solidFill>
                <a:latin typeface="Times New Roman" panose="02020603050405020304" pitchFamily="18" charset="0"/>
              </a:defRPr>
            </a:lvl4pPr>
            <a:lvl5pPr marL="2057400" indent="-228600" defTabSz="909638">
              <a:defRPr sz="2000" b="1">
                <a:solidFill>
                  <a:schemeClr val="tx1"/>
                </a:solidFill>
                <a:latin typeface="Times New Roman" panose="02020603050405020304" pitchFamily="18" charset="0"/>
              </a:defRPr>
            </a:lvl5pPr>
            <a:lvl6pPr marL="2514600" indent="-228600" defTabSz="909638"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defTabSz="909638"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defTabSz="909638"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defTabSz="909638" eaLnBrk="0" fontAlgn="base" hangingPunct="0">
              <a:spcBef>
                <a:spcPct val="0"/>
              </a:spcBef>
              <a:spcAft>
                <a:spcPct val="0"/>
              </a:spcAft>
              <a:defRPr sz="2000" b="1">
                <a:solidFill>
                  <a:schemeClr val="tx1"/>
                </a:solidFill>
                <a:latin typeface="Times New Roman" panose="02020603050405020304" pitchFamily="18" charset="0"/>
              </a:defRPr>
            </a:lvl9pPr>
          </a:lstStyle>
          <a:p>
            <a:pPr algn="r"/>
            <a:r>
              <a:rPr lang="en-US" altLang="en-MX" sz="1200" b="0"/>
              <a:t>10</a:t>
            </a:r>
          </a:p>
        </p:txBody>
      </p:sp>
      <p:sp>
        <p:nvSpPr>
          <p:cNvPr id="79877" name="Rectangle 4">
            <a:extLst>
              <a:ext uri="{FF2B5EF4-FFF2-40B4-BE49-F238E27FC236}">
                <a16:creationId xmlns:a16="http://schemas.microsoft.com/office/drawing/2014/main" id="{4D2D3F00-321F-0B47-B266-8766E62AD88E}"/>
              </a:ext>
            </a:extLst>
          </p:cNvPr>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79878" name="Rectangle 5">
            <a:extLst>
              <a:ext uri="{FF2B5EF4-FFF2-40B4-BE49-F238E27FC236}">
                <a16:creationId xmlns:a16="http://schemas.microsoft.com/office/drawing/2014/main" id="{365A37AA-0B6A-014B-854C-F28CD28C7C24}"/>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79879" name="Rectangle 6">
            <a:extLst>
              <a:ext uri="{FF2B5EF4-FFF2-40B4-BE49-F238E27FC236}">
                <a16:creationId xmlns:a16="http://schemas.microsoft.com/office/drawing/2014/main" id="{52B92ED0-D203-9942-87C7-1457F1EFF87E}"/>
              </a:ext>
            </a:extLst>
          </p:cNvPr>
          <p:cNvSpPr>
            <a:spLocks noGrp="1" noRot="1" noChangeAspect="1" noChangeArrowheads="1" noTextEdit="1"/>
          </p:cNvSpPr>
          <p:nvPr>
            <p:ph type="sldImg"/>
          </p:nvPr>
        </p:nvSpPr>
        <p:spPr>
          <a:xfrm>
            <a:off x="406400" y="679450"/>
            <a:ext cx="6046788" cy="3402013"/>
          </a:xfrm>
          <a:ln w="12700" cap="flat"/>
        </p:spPr>
      </p:sp>
      <p:sp>
        <p:nvSpPr>
          <p:cNvPr id="79880" name="Rectangle 7">
            <a:extLst>
              <a:ext uri="{FF2B5EF4-FFF2-40B4-BE49-F238E27FC236}">
                <a16:creationId xmlns:a16="http://schemas.microsoft.com/office/drawing/2014/main" id="{EE41C870-404F-9145-84F6-E1E470FC9553}"/>
              </a:ext>
            </a:extLst>
          </p:cNvPr>
          <p:cNvSpPr>
            <a:spLocks noGrp="1" noChangeArrowheads="1"/>
          </p:cNvSpPr>
          <p:nvPr>
            <p:ph type="body" idx="1"/>
          </p:nvPr>
        </p:nvSpPr>
        <p:spPr>
          <a:xfrm>
            <a:off x="914400" y="4306888"/>
            <a:ext cx="5029200" cy="41576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31" tIns="45817" rIns="91631" bIns="45817"/>
          <a:lstStyle/>
          <a:p>
            <a:pPr>
              <a:spcBef>
                <a:spcPct val="0"/>
              </a:spcBef>
            </a:pPr>
            <a:r>
              <a:rPr lang="en-US" altLang="en-MX"/>
              <a:t>Maximize the “net imputed value”</a:t>
            </a:r>
          </a:p>
          <a:p>
            <a:pPr>
              <a:spcBef>
                <a:spcPct val="0"/>
              </a:spcBef>
            </a:pPr>
            <a:r>
              <a:rPr lang="en-US" altLang="en-MX"/>
              <a:t>= [threshold cost per unit benefit * benefits] – [cost]</a:t>
            </a:r>
          </a:p>
          <a:p>
            <a:pPr>
              <a:spcBef>
                <a:spcPct val="0"/>
              </a:spcBef>
            </a:pPr>
            <a:r>
              <a:rPr lang="en-US" altLang="en-MX"/>
              <a:t>= [implicit value of benefits] – [costs]</a:t>
            </a:r>
          </a:p>
          <a:p>
            <a:pPr>
              <a:spcBef>
                <a:spcPct val="0"/>
              </a:spcBef>
            </a:pPr>
            <a:r>
              <a:rPr lang="en-US" altLang="en-MX"/>
              <a:t>H1 (0.9)(80)-(60)=12</a:t>
            </a:r>
          </a:p>
          <a:p>
            <a:pPr>
              <a:spcBef>
                <a:spcPct val="0"/>
              </a:spcBef>
            </a:pPr>
            <a:r>
              <a:rPr lang="en-US" altLang="en-MX"/>
              <a:t>H2 (0.9)(65)-(40)=18.5</a:t>
            </a:r>
          </a:p>
          <a:p>
            <a:pPr>
              <a:spcBef>
                <a:spcPct val="0"/>
              </a:spcBef>
            </a:pPr>
            <a:r>
              <a:rPr lang="en-US" altLang="en-MX"/>
              <a:t>H3		=8</a:t>
            </a:r>
          </a:p>
          <a:p>
            <a:pPr>
              <a:spcBef>
                <a:spcPct val="0"/>
              </a:spcBef>
            </a:pPr>
            <a:r>
              <a:rPr lang="en-US" altLang="en-MX"/>
              <a:t>H4		=14</a:t>
            </a:r>
          </a:p>
          <a:p>
            <a:pPr>
              <a:spcBef>
                <a:spcPct val="0"/>
              </a:spcBef>
            </a:pPr>
            <a:r>
              <a:rPr lang="en-US" altLang="en-MX"/>
              <a:t>H5		=9</a:t>
            </a:r>
          </a:p>
          <a:p>
            <a:pPr>
              <a:spcBef>
                <a:spcPct val="0"/>
              </a:spcBef>
            </a:pPr>
            <a:endParaRPr lang="en-US" altLang="en-MX"/>
          </a:p>
        </p:txBody>
      </p:sp>
    </p:spTree>
    <p:extLst>
      <p:ext uri="{BB962C8B-B14F-4D97-AF65-F5344CB8AC3E}">
        <p14:creationId xmlns:p14="http://schemas.microsoft.com/office/powerpoint/2010/main" val="1081543748"/>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AB6835DF-D90E-1C4A-B762-5A697733C4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fld id="{FD53EBD7-DB03-1B42-B02C-892547F67E2F}" type="slidenum">
              <a:rPr lang="en-US" altLang="en-MX" sz="1200" b="0">
                <a:latin typeface="Times New Roman" panose="02020603050405020304" pitchFamily="18" charset="0"/>
              </a:rPr>
              <a:pPr/>
              <a:t>129</a:t>
            </a:fld>
            <a:endParaRPr lang="en-US" altLang="en-MX" sz="1200" b="0">
              <a:latin typeface="Times New Roman" panose="02020603050405020304" pitchFamily="18" charset="0"/>
            </a:endParaRPr>
          </a:p>
        </p:txBody>
      </p:sp>
      <p:sp>
        <p:nvSpPr>
          <p:cNvPr id="39939" name="Rectangle 2">
            <a:extLst>
              <a:ext uri="{FF2B5EF4-FFF2-40B4-BE49-F238E27FC236}">
                <a16:creationId xmlns:a16="http://schemas.microsoft.com/office/drawing/2014/main" id="{5195EED2-8336-1346-819C-F8A28B41503D}"/>
              </a:ext>
            </a:extLst>
          </p:cNvPr>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39940" name="Rectangle 3">
            <a:extLst>
              <a:ext uri="{FF2B5EF4-FFF2-40B4-BE49-F238E27FC236}">
                <a16:creationId xmlns:a16="http://schemas.microsoft.com/office/drawing/2014/main" id="{7617A638-8F31-7A4D-BDA1-8DC5B6FF1D28}"/>
              </a:ext>
            </a:extLst>
          </p:cNvPr>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6" tIns="46034" rIns="92066" bIns="46034" anchor="b"/>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r"/>
            <a:r>
              <a:rPr lang="en-US" altLang="en-MX" sz="1200" b="0">
                <a:latin typeface="Times New Roman" panose="02020603050405020304" pitchFamily="18" charset="0"/>
              </a:rPr>
              <a:t>4</a:t>
            </a:r>
          </a:p>
        </p:txBody>
      </p:sp>
      <p:sp>
        <p:nvSpPr>
          <p:cNvPr id="39941" name="Rectangle 4">
            <a:extLst>
              <a:ext uri="{FF2B5EF4-FFF2-40B4-BE49-F238E27FC236}">
                <a16:creationId xmlns:a16="http://schemas.microsoft.com/office/drawing/2014/main" id="{F24456C3-0914-4544-85B5-B8EB057BF5B8}"/>
              </a:ext>
            </a:extLst>
          </p:cNvPr>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39942" name="Rectangle 5">
            <a:extLst>
              <a:ext uri="{FF2B5EF4-FFF2-40B4-BE49-F238E27FC236}">
                <a16:creationId xmlns:a16="http://schemas.microsoft.com/office/drawing/2014/main" id="{0F076D51-3413-AA46-9124-A51AAB1EF22B}"/>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39943" name="Rectangle 6">
            <a:extLst>
              <a:ext uri="{FF2B5EF4-FFF2-40B4-BE49-F238E27FC236}">
                <a16:creationId xmlns:a16="http://schemas.microsoft.com/office/drawing/2014/main" id="{EB6F3756-E8FA-1B4B-8719-1BDAFD98BC0D}"/>
              </a:ext>
            </a:extLst>
          </p:cNvPr>
          <p:cNvSpPr>
            <a:spLocks noGrp="1" noRot="1" noChangeAspect="1" noChangeArrowheads="1" noTextEdit="1"/>
          </p:cNvSpPr>
          <p:nvPr>
            <p:ph type="sldImg"/>
          </p:nvPr>
        </p:nvSpPr>
        <p:spPr>
          <a:xfrm>
            <a:off x="406400" y="679450"/>
            <a:ext cx="6046788" cy="3402013"/>
          </a:xfrm>
          <a:ln w="12700" cap="flat"/>
        </p:spPr>
      </p:sp>
      <p:sp>
        <p:nvSpPr>
          <p:cNvPr id="39944" name="Rectangle 7">
            <a:extLst>
              <a:ext uri="{FF2B5EF4-FFF2-40B4-BE49-F238E27FC236}">
                <a16:creationId xmlns:a16="http://schemas.microsoft.com/office/drawing/2014/main" id="{26D28B72-7704-7A43-B91E-D6B553F97052}"/>
              </a:ext>
            </a:extLst>
          </p:cNvPr>
          <p:cNvSpPr>
            <a:spLocks noGrp="1" noChangeArrowheads="1"/>
          </p:cNvSpPr>
          <p:nvPr>
            <p:ph type="body" idx="1"/>
          </p:nvPr>
        </p:nvSpPr>
        <p:spPr>
          <a:xfrm>
            <a:off x="381000" y="4343400"/>
            <a:ext cx="60198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6" tIns="46034" rIns="92066" bIns="46034"/>
          <a:lstStyle/>
          <a:p>
            <a:pPr defTabSz="966788">
              <a:spcBef>
                <a:spcPts val="525"/>
              </a:spcBef>
              <a:spcAft>
                <a:spcPts val="525"/>
              </a:spcAft>
            </a:pPr>
            <a:endParaRPr lang="en-US" altLang="en-MX" sz="2500"/>
          </a:p>
          <a:p>
            <a:pPr defTabSz="966788">
              <a:spcBef>
                <a:spcPts val="525"/>
              </a:spcBef>
              <a:spcAft>
                <a:spcPts val="525"/>
              </a:spcAft>
            </a:pPr>
            <a:endParaRPr lang="en-US" altLang="en-MX" sz="2500"/>
          </a:p>
        </p:txBody>
      </p:sp>
    </p:spTree>
    <p:extLst>
      <p:ext uri="{BB962C8B-B14F-4D97-AF65-F5344CB8AC3E}">
        <p14:creationId xmlns:p14="http://schemas.microsoft.com/office/powerpoint/2010/main" val="4246475949"/>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F23BCCCF-1AC5-0943-85A5-3651E60F232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fld id="{02A99A31-8AC0-0C46-A272-492E0C5CC5DF}" type="slidenum">
              <a:rPr lang="en-US" altLang="en-MX" sz="1200" b="0">
                <a:latin typeface="Times New Roman" panose="02020603050405020304" pitchFamily="18" charset="0"/>
              </a:rPr>
              <a:pPr/>
              <a:t>130</a:t>
            </a:fld>
            <a:endParaRPr lang="en-US" altLang="en-MX" sz="1200" b="0">
              <a:latin typeface="Times New Roman" panose="02020603050405020304" pitchFamily="18" charset="0"/>
            </a:endParaRPr>
          </a:p>
        </p:txBody>
      </p:sp>
      <p:sp>
        <p:nvSpPr>
          <p:cNvPr id="40963" name="Rectangle 2">
            <a:extLst>
              <a:ext uri="{FF2B5EF4-FFF2-40B4-BE49-F238E27FC236}">
                <a16:creationId xmlns:a16="http://schemas.microsoft.com/office/drawing/2014/main" id="{52298A64-A541-1F47-9B95-90C2ED456F41}"/>
              </a:ext>
            </a:extLst>
          </p:cNvPr>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40964" name="Rectangle 3">
            <a:extLst>
              <a:ext uri="{FF2B5EF4-FFF2-40B4-BE49-F238E27FC236}">
                <a16:creationId xmlns:a16="http://schemas.microsoft.com/office/drawing/2014/main" id="{DCAED373-C931-264D-BC0E-592B3AD276BD}"/>
              </a:ext>
            </a:extLst>
          </p:cNvPr>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6" tIns="46034" rIns="92066" bIns="46034" anchor="b"/>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r"/>
            <a:r>
              <a:rPr lang="en-US" altLang="en-MX" sz="1200" b="0">
                <a:latin typeface="Times New Roman" panose="02020603050405020304" pitchFamily="18" charset="0"/>
              </a:rPr>
              <a:t>4</a:t>
            </a:r>
          </a:p>
        </p:txBody>
      </p:sp>
      <p:sp>
        <p:nvSpPr>
          <p:cNvPr id="40965" name="Rectangle 4">
            <a:extLst>
              <a:ext uri="{FF2B5EF4-FFF2-40B4-BE49-F238E27FC236}">
                <a16:creationId xmlns:a16="http://schemas.microsoft.com/office/drawing/2014/main" id="{71EDB772-6104-FD45-8466-6D2BEC2FCA94}"/>
              </a:ext>
            </a:extLst>
          </p:cNvPr>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40966" name="Rectangle 5">
            <a:extLst>
              <a:ext uri="{FF2B5EF4-FFF2-40B4-BE49-F238E27FC236}">
                <a16:creationId xmlns:a16="http://schemas.microsoft.com/office/drawing/2014/main" id="{EFA68B20-DE6D-8342-AE6A-3993C76F4902}"/>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40967" name="Rectangle 6">
            <a:extLst>
              <a:ext uri="{FF2B5EF4-FFF2-40B4-BE49-F238E27FC236}">
                <a16:creationId xmlns:a16="http://schemas.microsoft.com/office/drawing/2014/main" id="{BBF6D35B-C056-7940-BABF-0A834C5953B9}"/>
              </a:ext>
            </a:extLst>
          </p:cNvPr>
          <p:cNvSpPr>
            <a:spLocks noGrp="1" noRot="1" noChangeAspect="1" noChangeArrowheads="1" noTextEdit="1"/>
          </p:cNvSpPr>
          <p:nvPr>
            <p:ph type="sldImg"/>
          </p:nvPr>
        </p:nvSpPr>
        <p:spPr>
          <a:xfrm>
            <a:off x="406400" y="679450"/>
            <a:ext cx="6046788" cy="3402013"/>
          </a:xfrm>
          <a:ln w="12700" cap="flat"/>
        </p:spPr>
      </p:sp>
      <p:sp>
        <p:nvSpPr>
          <p:cNvPr id="40968" name="Rectangle 7">
            <a:extLst>
              <a:ext uri="{FF2B5EF4-FFF2-40B4-BE49-F238E27FC236}">
                <a16:creationId xmlns:a16="http://schemas.microsoft.com/office/drawing/2014/main" id="{7A8642D2-CCE1-DD49-A03E-A56F07514AF5}"/>
              </a:ext>
            </a:extLst>
          </p:cNvPr>
          <p:cNvSpPr>
            <a:spLocks noGrp="1" noChangeArrowheads="1"/>
          </p:cNvSpPr>
          <p:nvPr>
            <p:ph type="body" idx="1"/>
          </p:nvPr>
        </p:nvSpPr>
        <p:spPr>
          <a:xfrm>
            <a:off x="381000" y="4343400"/>
            <a:ext cx="60198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6" tIns="46034" rIns="92066" bIns="46034"/>
          <a:lstStyle/>
          <a:p>
            <a:pPr defTabSz="966788">
              <a:spcBef>
                <a:spcPts val="525"/>
              </a:spcBef>
              <a:spcAft>
                <a:spcPts val="525"/>
              </a:spcAft>
            </a:pPr>
            <a:endParaRPr lang="en-US" altLang="en-MX" sz="2500"/>
          </a:p>
          <a:p>
            <a:pPr defTabSz="966788">
              <a:spcBef>
                <a:spcPts val="525"/>
              </a:spcBef>
              <a:spcAft>
                <a:spcPts val="525"/>
              </a:spcAft>
            </a:pPr>
            <a:endParaRPr lang="en-US" altLang="en-MX" sz="2500"/>
          </a:p>
        </p:txBody>
      </p:sp>
    </p:spTree>
    <p:extLst>
      <p:ext uri="{BB962C8B-B14F-4D97-AF65-F5344CB8AC3E}">
        <p14:creationId xmlns:p14="http://schemas.microsoft.com/office/powerpoint/2010/main" val="78608937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7F43F5D2-7E0C-9F40-BF9E-7C8FF5356DD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fld id="{2E1F8A54-86DC-5944-9CC3-6128CE8807EF}" type="slidenum">
              <a:rPr lang="en-US" altLang="en-MX" sz="1200" b="0">
                <a:latin typeface="Times New Roman" panose="02020603050405020304" pitchFamily="18" charset="0"/>
              </a:rPr>
              <a:pPr/>
              <a:t>131</a:t>
            </a:fld>
            <a:endParaRPr lang="en-US" altLang="en-MX" sz="1200" b="0">
              <a:latin typeface="Times New Roman" panose="02020603050405020304" pitchFamily="18" charset="0"/>
            </a:endParaRPr>
          </a:p>
        </p:txBody>
      </p:sp>
      <p:sp>
        <p:nvSpPr>
          <p:cNvPr id="41987" name="Rectangle 2">
            <a:extLst>
              <a:ext uri="{FF2B5EF4-FFF2-40B4-BE49-F238E27FC236}">
                <a16:creationId xmlns:a16="http://schemas.microsoft.com/office/drawing/2014/main" id="{E5B3B5AD-134E-184F-83E3-73494675FF1D}"/>
              </a:ext>
            </a:extLst>
          </p:cNvPr>
          <p:cNvSpPr>
            <a:spLocks noGrp="1" noRot="1" noChangeAspect="1" noChangeArrowheads="1" noTextEdit="1"/>
          </p:cNvSpPr>
          <p:nvPr>
            <p:ph type="sldImg"/>
          </p:nvPr>
        </p:nvSpPr>
        <p:spPr>
          <a:xfrm>
            <a:off x="382588" y="685800"/>
            <a:ext cx="6096000" cy="3429000"/>
          </a:xfrm>
          <a:ln/>
        </p:spPr>
      </p:sp>
      <p:sp>
        <p:nvSpPr>
          <p:cNvPr id="41988" name="Rectangle 3">
            <a:extLst>
              <a:ext uri="{FF2B5EF4-FFF2-40B4-BE49-F238E27FC236}">
                <a16:creationId xmlns:a16="http://schemas.microsoft.com/office/drawing/2014/main" id="{B5A302EE-B896-744A-81D2-8C57DFE6F3A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MX" altLang="en-MX"/>
          </a:p>
        </p:txBody>
      </p:sp>
    </p:spTree>
    <p:extLst>
      <p:ext uri="{BB962C8B-B14F-4D97-AF65-F5344CB8AC3E}">
        <p14:creationId xmlns:p14="http://schemas.microsoft.com/office/powerpoint/2010/main" val="421991452"/>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31CAB7DE-4033-F543-A742-97C31897AC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fld id="{51F15140-911A-3241-B756-3C5571F45808}" type="slidenum">
              <a:rPr lang="en-US" altLang="en-MX" sz="1200" b="0">
                <a:latin typeface="Times New Roman" panose="02020603050405020304" pitchFamily="18" charset="0"/>
              </a:rPr>
              <a:pPr/>
              <a:t>132</a:t>
            </a:fld>
            <a:endParaRPr lang="en-US" altLang="en-MX" sz="1200" b="0">
              <a:latin typeface="Times New Roman" panose="02020603050405020304" pitchFamily="18" charset="0"/>
            </a:endParaRPr>
          </a:p>
        </p:txBody>
      </p:sp>
      <p:sp>
        <p:nvSpPr>
          <p:cNvPr id="43011" name="Rectangle 2">
            <a:extLst>
              <a:ext uri="{FF2B5EF4-FFF2-40B4-BE49-F238E27FC236}">
                <a16:creationId xmlns:a16="http://schemas.microsoft.com/office/drawing/2014/main" id="{44D23E0F-6032-DD40-8584-C5AA0A32C68A}"/>
              </a:ext>
            </a:extLst>
          </p:cNvPr>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43012" name="Rectangle 3">
            <a:extLst>
              <a:ext uri="{FF2B5EF4-FFF2-40B4-BE49-F238E27FC236}">
                <a16:creationId xmlns:a16="http://schemas.microsoft.com/office/drawing/2014/main" id="{7BB88A01-69CE-1A4E-9DD1-D229EE39E5B6}"/>
              </a:ext>
            </a:extLst>
          </p:cNvPr>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6" tIns="46034" rIns="92066" bIns="46034" anchor="b"/>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r"/>
            <a:r>
              <a:rPr lang="en-US" altLang="en-MX" sz="1200" b="0">
                <a:latin typeface="Times New Roman" panose="02020603050405020304" pitchFamily="18" charset="0"/>
              </a:rPr>
              <a:t>10</a:t>
            </a:r>
          </a:p>
        </p:txBody>
      </p:sp>
      <p:sp>
        <p:nvSpPr>
          <p:cNvPr id="43013" name="Rectangle 4">
            <a:extLst>
              <a:ext uri="{FF2B5EF4-FFF2-40B4-BE49-F238E27FC236}">
                <a16:creationId xmlns:a16="http://schemas.microsoft.com/office/drawing/2014/main" id="{AB9BB2A8-6733-2E4C-8213-D4612AC9BC86}"/>
              </a:ext>
            </a:extLst>
          </p:cNvPr>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43014" name="Rectangle 5">
            <a:extLst>
              <a:ext uri="{FF2B5EF4-FFF2-40B4-BE49-F238E27FC236}">
                <a16:creationId xmlns:a16="http://schemas.microsoft.com/office/drawing/2014/main" id="{6710097F-3846-7544-AE83-5A8BCE691048}"/>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43015" name="Rectangle 6">
            <a:extLst>
              <a:ext uri="{FF2B5EF4-FFF2-40B4-BE49-F238E27FC236}">
                <a16:creationId xmlns:a16="http://schemas.microsoft.com/office/drawing/2014/main" id="{7539E20F-F6D2-D24F-982D-9986A459753B}"/>
              </a:ext>
            </a:extLst>
          </p:cNvPr>
          <p:cNvSpPr>
            <a:spLocks noGrp="1" noRot="1" noChangeAspect="1" noChangeArrowheads="1" noTextEdit="1"/>
          </p:cNvSpPr>
          <p:nvPr>
            <p:ph type="sldImg"/>
          </p:nvPr>
        </p:nvSpPr>
        <p:spPr>
          <a:xfrm>
            <a:off x="406400" y="679450"/>
            <a:ext cx="6046788" cy="3402013"/>
          </a:xfrm>
          <a:ln w="12700" cap="flat"/>
        </p:spPr>
      </p:sp>
      <p:sp>
        <p:nvSpPr>
          <p:cNvPr id="43016" name="Rectangle 7">
            <a:extLst>
              <a:ext uri="{FF2B5EF4-FFF2-40B4-BE49-F238E27FC236}">
                <a16:creationId xmlns:a16="http://schemas.microsoft.com/office/drawing/2014/main" id="{0461A00A-FF50-6F43-AAB7-824E952E49B0}"/>
              </a:ext>
            </a:extLst>
          </p:cNvPr>
          <p:cNvSpPr>
            <a:spLocks noGrp="1" noChangeArrowheads="1"/>
          </p:cNvSpPr>
          <p:nvPr>
            <p:ph type="body" idx="1"/>
          </p:nvPr>
        </p:nvSpPr>
        <p:spPr>
          <a:xfrm>
            <a:off x="914400" y="4306888"/>
            <a:ext cx="5029200" cy="41576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6" tIns="46034" rIns="92066" bIns="46034"/>
          <a:lstStyle/>
          <a:p>
            <a:pPr defTabSz="966788">
              <a:spcBef>
                <a:spcPct val="0"/>
              </a:spcBef>
            </a:pPr>
            <a:r>
              <a:rPr lang="en-US" altLang="en-MX" sz="2500"/>
              <a:t>Best you can do is D,E,F,C and 24/27A</a:t>
            </a:r>
          </a:p>
          <a:p>
            <a:pPr defTabSz="966788">
              <a:spcBef>
                <a:spcPct val="0"/>
              </a:spcBef>
            </a:pPr>
            <a:r>
              <a:rPr lang="en-US" altLang="en-MX" sz="2500"/>
              <a:t>Cost=180</a:t>
            </a:r>
          </a:p>
          <a:p>
            <a:pPr defTabSz="966788">
              <a:spcBef>
                <a:spcPct val="0"/>
              </a:spcBef>
            </a:pPr>
            <a:r>
              <a:rPr lang="en-US" altLang="en-MX" sz="2500"/>
              <a:t>Benefit 261.7</a:t>
            </a:r>
          </a:p>
          <a:p>
            <a:pPr defTabSz="966788">
              <a:spcBef>
                <a:spcPct val="0"/>
              </a:spcBef>
            </a:pPr>
            <a:r>
              <a:rPr lang="en-US" altLang="en-MX" sz="2500"/>
              <a:t>Threshold=0.9</a:t>
            </a:r>
          </a:p>
          <a:p>
            <a:pPr defTabSz="966788">
              <a:spcBef>
                <a:spcPct val="0"/>
              </a:spcBef>
            </a:pPr>
            <a:r>
              <a:rPr lang="en-US" altLang="en-MX" sz="2500"/>
              <a:t>In the absence of any other programs the best you can do is 261.7 given this budget constraint.</a:t>
            </a:r>
          </a:p>
          <a:p>
            <a:pPr defTabSz="966788">
              <a:spcBef>
                <a:spcPct val="0"/>
              </a:spcBef>
            </a:pPr>
            <a:endParaRPr lang="en-US" altLang="en-MX" sz="2500"/>
          </a:p>
          <a:p>
            <a:pPr defTabSz="966788">
              <a:spcBef>
                <a:spcPct val="0"/>
              </a:spcBef>
            </a:pPr>
            <a:r>
              <a:rPr lang="en-US" altLang="en-MX" sz="2500" u="sng"/>
              <a:t>Threshold Ratio:</a:t>
            </a:r>
          </a:p>
          <a:p>
            <a:pPr defTabSz="966788">
              <a:spcBef>
                <a:spcPct val="10000"/>
              </a:spcBef>
              <a:spcAft>
                <a:spcPct val="30000"/>
              </a:spcAft>
              <a:buFontTx/>
              <a:buChar char="•"/>
            </a:pPr>
            <a:r>
              <a:rPr lang="en-US" altLang="en-MX" sz="2500">
                <a:solidFill>
                  <a:srgbClr val="000000"/>
                </a:solidFill>
              </a:rPr>
              <a:t>Cost-effectiveness ratio of the last included program selected before budget exhausted</a:t>
            </a:r>
          </a:p>
          <a:p>
            <a:pPr defTabSz="966788">
              <a:spcBef>
                <a:spcPct val="10000"/>
              </a:spcBef>
              <a:spcAft>
                <a:spcPct val="30000"/>
              </a:spcAft>
              <a:buFontTx/>
              <a:buChar char="•"/>
            </a:pPr>
            <a:r>
              <a:rPr lang="en-US" altLang="en-MX" sz="2500">
                <a:solidFill>
                  <a:srgbClr val="000000"/>
                </a:solidFill>
              </a:rPr>
              <a:t>Represents the standard against which programs that make claims against the budget can be judged</a:t>
            </a:r>
          </a:p>
          <a:p>
            <a:pPr defTabSz="966788">
              <a:spcBef>
                <a:spcPct val="20000"/>
              </a:spcBef>
              <a:buFontTx/>
              <a:buChar char="•"/>
            </a:pPr>
            <a:r>
              <a:rPr lang="en-US" altLang="en-MX" sz="2500">
                <a:solidFill>
                  <a:srgbClr val="000000"/>
                </a:solidFill>
              </a:rPr>
              <a:t>Shadow price of an explicit budget constraint</a:t>
            </a:r>
          </a:p>
          <a:p>
            <a:pPr defTabSz="966788">
              <a:spcBef>
                <a:spcPct val="20000"/>
              </a:spcBef>
              <a:buFontTx/>
              <a:buChar char="•"/>
            </a:pPr>
            <a:r>
              <a:rPr lang="en-US" altLang="en-MX" sz="2500">
                <a:solidFill>
                  <a:srgbClr val="000000"/>
                </a:solidFill>
              </a:rPr>
              <a:t>Opportunity cost in the absence of an explicit budget constraint</a:t>
            </a:r>
          </a:p>
          <a:p>
            <a:pPr defTabSz="966788">
              <a:spcBef>
                <a:spcPct val="20000"/>
              </a:spcBef>
              <a:buFontTx/>
              <a:buChar char="•"/>
            </a:pPr>
            <a:r>
              <a:rPr lang="en-US" altLang="en-MX" sz="2500">
                <a:solidFill>
                  <a:srgbClr val="000000"/>
                </a:solidFill>
              </a:rPr>
              <a:t>Comparison with other health programs</a:t>
            </a:r>
          </a:p>
          <a:p>
            <a:pPr defTabSz="966788">
              <a:spcBef>
                <a:spcPct val="20000"/>
              </a:spcBef>
              <a:buFontTx/>
              <a:buChar char="•"/>
            </a:pPr>
            <a:r>
              <a:rPr lang="en-US" altLang="en-MX" sz="2500">
                <a:solidFill>
                  <a:srgbClr val="000000"/>
                </a:solidFill>
              </a:rPr>
              <a:t>Inference of cost-effectiveness criteria from prior decisions</a:t>
            </a:r>
          </a:p>
          <a:p>
            <a:pPr defTabSz="966788">
              <a:spcBef>
                <a:spcPct val="20000"/>
              </a:spcBef>
              <a:buFontTx/>
              <a:buChar char="•"/>
            </a:pPr>
            <a:r>
              <a:rPr lang="en-US" altLang="en-MX" sz="2500">
                <a:solidFill>
                  <a:srgbClr val="000000"/>
                </a:solidFill>
              </a:rPr>
              <a:t>Cost-benefit methods</a:t>
            </a:r>
          </a:p>
          <a:p>
            <a:pPr defTabSz="966788">
              <a:spcBef>
                <a:spcPct val="20000"/>
              </a:spcBef>
              <a:buFontTx/>
              <a:buChar char="•"/>
            </a:pPr>
            <a:r>
              <a:rPr lang="en-US" altLang="en-MX" sz="2500">
                <a:solidFill>
                  <a:srgbClr val="000000"/>
                </a:solidFill>
              </a:rPr>
              <a:t>Rules of thumb</a:t>
            </a:r>
          </a:p>
          <a:p>
            <a:pPr defTabSz="966788">
              <a:spcBef>
                <a:spcPct val="10000"/>
              </a:spcBef>
              <a:spcAft>
                <a:spcPct val="30000"/>
              </a:spcAft>
              <a:buFontTx/>
              <a:buChar char="•"/>
            </a:pPr>
            <a:endParaRPr lang="en-US" altLang="en-MX" sz="2500">
              <a:solidFill>
                <a:srgbClr val="000000"/>
              </a:solidFill>
            </a:endParaRPr>
          </a:p>
        </p:txBody>
      </p:sp>
    </p:spTree>
    <p:extLst>
      <p:ext uri="{BB962C8B-B14F-4D97-AF65-F5344CB8AC3E}">
        <p14:creationId xmlns:p14="http://schemas.microsoft.com/office/powerpoint/2010/main" val="2964477339"/>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E645326B-D9D4-4348-ABFF-C18D3B4C019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fld id="{66923141-7CB0-DF4D-A8A5-ECDE36CF5E2E}" type="slidenum">
              <a:rPr lang="en-US" altLang="en-MX" sz="1200" b="0">
                <a:latin typeface="Times New Roman" panose="02020603050405020304" pitchFamily="18" charset="0"/>
              </a:rPr>
              <a:pPr/>
              <a:t>133</a:t>
            </a:fld>
            <a:endParaRPr lang="en-US" altLang="en-MX" sz="1200" b="0">
              <a:latin typeface="Times New Roman" panose="02020603050405020304" pitchFamily="18" charset="0"/>
            </a:endParaRPr>
          </a:p>
        </p:txBody>
      </p:sp>
      <p:sp>
        <p:nvSpPr>
          <p:cNvPr id="44035" name="Rectangle 2">
            <a:extLst>
              <a:ext uri="{FF2B5EF4-FFF2-40B4-BE49-F238E27FC236}">
                <a16:creationId xmlns:a16="http://schemas.microsoft.com/office/drawing/2014/main" id="{C85A7C81-79C0-BC41-9D54-5DE7658C893E}"/>
              </a:ext>
            </a:extLst>
          </p:cNvPr>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44036" name="Rectangle 3">
            <a:extLst>
              <a:ext uri="{FF2B5EF4-FFF2-40B4-BE49-F238E27FC236}">
                <a16:creationId xmlns:a16="http://schemas.microsoft.com/office/drawing/2014/main" id="{36B5A414-1BD2-BE4E-8DF5-1E5FB521C783}"/>
              </a:ext>
            </a:extLst>
          </p:cNvPr>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6" tIns="46034" rIns="92066" bIns="46034" anchor="b"/>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r"/>
            <a:r>
              <a:rPr lang="en-US" altLang="en-MX" sz="1200" b="0">
                <a:latin typeface="Times New Roman" panose="02020603050405020304" pitchFamily="18" charset="0"/>
              </a:rPr>
              <a:t>10</a:t>
            </a:r>
          </a:p>
        </p:txBody>
      </p:sp>
      <p:sp>
        <p:nvSpPr>
          <p:cNvPr id="44037" name="Rectangle 4">
            <a:extLst>
              <a:ext uri="{FF2B5EF4-FFF2-40B4-BE49-F238E27FC236}">
                <a16:creationId xmlns:a16="http://schemas.microsoft.com/office/drawing/2014/main" id="{BBE4F7BD-1AAF-B344-AA31-815BA7B6DA25}"/>
              </a:ext>
            </a:extLst>
          </p:cNvPr>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44038" name="Rectangle 5">
            <a:extLst>
              <a:ext uri="{FF2B5EF4-FFF2-40B4-BE49-F238E27FC236}">
                <a16:creationId xmlns:a16="http://schemas.microsoft.com/office/drawing/2014/main" id="{420E090A-3443-9A42-A23E-2D22A9E6EF52}"/>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44039" name="Rectangle 6">
            <a:extLst>
              <a:ext uri="{FF2B5EF4-FFF2-40B4-BE49-F238E27FC236}">
                <a16:creationId xmlns:a16="http://schemas.microsoft.com/office/drawing/2014/main" id="{8E7CE9E8-0CA3-BF46-A477-8127B17BC288}"/>
              </a:ext>
            </a:extLst>
          </p:cNvPr>
          <p:cNvSpPr>
            <a:spLocks noGrp="1" noRot="1" noChangeAspect="1" noChangeArrowheads="1" noTextEdit="1"/>
          </p:cNvSpPr>
          <p:nvPr>
            <p:ph type="sldImg"/>
          </p:nvPr>
        </p:nvSpPr>
        <p:spPr>
          <a:xfrm>
            <a:off x="406400" y="679450"/>
            <a:ext cx="6046788" cy="3402013"/>
          </a:xfrm>
          <a:ln w="12700" cap="flat"/>
        </p:spPr>
      </p:sp>
      <p:sp>
        <p:nvSpPr>
          <p:cNvPr id="44040" name="Rectangle 7">
            <a:extLst>
              <a:ext uri="{FF2B5EF4-FFF2-40B4-BE49-F238E27FC236}">
                <a16:creationId xmlns:a16="http://schemas.microsoft.com/office/drawing/2014/main" id="{7FB11143-141A-454A-A152-FEF3FB949CF3}"/>
              </a:ext>
            </a:extLst>
          </p:cNvPr>
          <p:cNvSpPr>
            <a:spLocks noGrp="1" noChangeArrowheads="1"/>
          </p:cNvSpPr>
          <p:nvPr>
            <p:ph type="body" idx="1"/>
          </p:nvPr>
        </p:nvSpPr>
        <p:spPr>
          <a:xfrm>
            <a:off x="914400" y="4306888"/>
            <a:ext cx="5029200" cy="41576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6" tIns="46034" rIns="92066" bIns="46034"/>
          <a:lstStyle/>
          <a:p>
            <a:pPr defTabSz="966788">
              <a:spcBef>
                <a:spcPct val="0"/>
              </a:spcBef>
            </a:pPr>
            <a:r>
              <a:rPr lang="en-US" altLang="en-MX" sz="1300"/>
              <a:t>Consider the following set of mutually exclusive alternatives.</a:t>
            </a:r>
          </a:p>
          <a:p>
            <a:pPr defTabSz="966788">
              <a:spcBef>
                <a:spcPct val="0"/>
              </a:spcBef>
            </a:pPr>
            <a:r>
              <a:rPr lang="en-US" altLang="en-MX" sz="1300"/>
              <a:t>Should you implement one of these H programs? Which one?</a:t>
            </a:r>
          </a:p>
          <a:p>
            <a:pPr defTabSz="966788">
              <a:spcBef>
                <a:spcPct val="0"/>
              </a:spcBef>
            </a:pPr>
            <a:endParaRPr lang="en-US" altLang="en-MX" sz="1300"/>
          </a:p>
          <a:p>
            <a:pPr defTabSz="966788">
              <a:spcBef>
                <a:spcPct val="0"/>
              </a:spcBef>
            </a:pPr>
            <a:endParaRPr lang="en-US" altLang="en-MX" sz="1300"/>
          </a:p>
        </p:txBody>
      </p:sp>
    </p:spTree>
    <p:extLst>
      <p:ext uri="{BB962C8B-B14F-4D97-AF65-F5344CB8AC3E}">
        <p14:creationId xmlns:p14="http://schemas.microsoft.com/office/powerpoint/2010/main" val="646168904"/>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8CD43FFB-AA73-D643-940B-E5234D21EBC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fld id="{0FF965E3-2CF2-7E40-8C48-09AC32DA783A}" type="slidenum">
              <a:rPr lang="en-US" altLang="en-MX" sz="1200" b="0">
                <a:latin typeface="Times New Roman" panose="02020603050405020304" pitchFamily="18" charset="0"/>
              </a:rPr>
              <a:pPr/>
              <a:t>134</a:t>
            </a:fld>
            <a:endParaRPr lang="en-US" altLang="en-MX" sz="1200" b="0">
              <a:latin typeface="Times New Roman" panose="02020603050405020304" pitchFamily="18" charset="0"/>
            </a:endParaRPr>
          </a:p>
        </p:txBody>
      </p:sp>
      <p:sp>
        <p:nvSpPr>
          <p:cNvPr id="45059" name="Rectangle 2">
            <a:extLst>
              <a:ext uri="{FF2B5EF4-FFF2-40B4-BE49-F238E27FC236}">
                <a16:creationId xmlns:a16="http://schemas.microsoft.com/office/drawing/2014/main" id="{E4A2868D-435B-E14D-9D7A-6214EE0DFB1D}"/>
              </a:ext>
            </a:extLst>
          </p:cNvPr>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45060" name="Rectangle 3">
            <a:extLst>
              <a:ext uri="{FF2B5EF4-FFF2-40B4-BE49-F238E27FC236}">
                <a16:creationId xmlns:a16="http://schemas.microsoft.com/office/drawing/2014/main" id="{1AD8C582-EA1D-1F4D-9960-6AC1C6EAA4AB}"/>
              </a:ext>
            </a:extLst>
          </p:cNvPr>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6" tIns="46034" rIns="92066" bIns="46034" anchor="b"/>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r"/>
            <a:r>
              <a:rPr lang="en-US" altLang="en-MX" sz="1200" b="0">
                <a:latin typeface="Times New Roman" panose="02020603050405020304" pitchFamily="18" charset="0"/>
              </a:rPr>
              <a:t>10</a:t>
            </a:r>
          </a:p>
        </p:txBody>
      </p:sp>
      <p:sp>
        <p:nvSpPr>
          <p:cNvPr id="45061" name="Rectangle 4">
            <a:extLst>
              <a:ext uri="{FF2B5EF4-FFF2-40B4-BE49-F238E27FC236}">
                <a16:creationId xmlns:a16="http://schemas.microsoft.com/office/drawing/2014/main" id="{88666CA0-B93E-9144-BC3E-26946FD03F89}"/>
              </a:ext>
            </a:extLst>
          </p:cNvPr>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45062" name="Rectangle 5">
            <a:extLst>
              <a:ext uri="{FF2B5EF4-FFF2-40B4-BE49-F238E27FC236}">
                <a16:creationId xmlns:a16="http://schemas.microsoft.com/office/drawing/2014/main" id="{78428CAA-BE32-814A-AEBB-329795F63445}"/>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45063" name="Rectangle 6">
            <a:extLst>
              <a:ext uri="{FF2B5EF4-FFF2-40B4-BE49-F238E27FC236}">
                <a16:creationId xmlns:a16="http://schemas.microsoft.com/office/drawing/2014/main" id="{A59E7463-A9AB-CF46-B39C-FB641D3AF6E1}"/>
              </a:ext>
            </a:extLst>
          </p:cNvPr>
          <p:cNvSpPr>
            <a:spLocks noGrp="1" noRot="1" noChangeAspect="1" noChangeArrowheads="1" noTextEdit="1"/>
          </p:cNvSpPr>
          <p:nvPr>
            <p:ph type="sldImg"/>
          </p:nvPr>
        </p:nvSpPr>
        <p:spPr>
          <a:xfrm>
            <a:off x="406400" y="679450"/>
            <a:ext cx="6046788" cy="3402013"/>
          </a:xfrm>
          <a:ln w="12700" cap="flat"/>
        </p:spPr>
      </p:sp>
      <p:sp>
        <p:nvSpPr>
          <p:cNvPr id="45064" name="Rectangle 7">
            <a:extLst>
              <a:ext uri="{FF2B5EF4-FFF2-40B4-BE49-F238E27FC236}">
                <a16:creationId xmlns:a16="http://schemas.microsoft.com/office/drawing/2014/main" id="{DEC85B83-F7F1-A94A-B752-DE90CEB02D5C}"/>
              </a:ext>
            </a:extLst>
          </p:cNvPr>
          <p:cNvSpPr>
            <a:spLocks noGrp="1" noChangeArrowheads="1"/>
          </p:cNvSpPr>
          <p:nvPr>
            <p:ph type="body" idx="1"/>
          </p:nvPr>
        </p:nvSpPr>
        <p:spPr>
          <a:xfrm>
            <a:off x="914400" y="4306888"/>
            <a:ext cx="5029200" cy="41576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6" tIns="46034" rIns="92066" bIns="46034"/>
          <a:lstStyle/>
          <a:p>
            <a:pPr marL="482600" indent="-482600" defTabSz="966788">
              <a:spcBef>
                <a:spcPct val="0"/>
              </a:spcBef>
            </a:pPr>
            <a:r>
              <a:rPr lang="en-US" altLang="en-MX" sz="2500" dirty="0"/>
              <a:t>1. Here are the original set of programs we considered last session; recall we calculated CE ratios, re-ordered them in order of lowest to highest CE ratios and spent up to the budget constraint of $180; the cumulative benefit we were able to purchase was 261.7. The question is can we do better with adding an alternative from the set of H program choices.</a:t>
            </a:r>
          </a:p>
          <a:p>
            <a:pPr marL="482600" indent="-482600" defTabSz="966788">
              <a:spcBef>
                <a:spcPct val="0"/>
              </a:spcBef>
            </a:pPr>
            <a:r>
              <a:rPr lang="en-US" altLang="en-MX" sz="2500" dirty="0"/>
              <a:t>2. The new “mutually exclusive” or “competing alternatives” are shown as H1 –H5.</a:t>
            </a:r>
          </a:p>
          <a:p>
            <a:pPr marL="482600" indent="-482600" defTabSz="966788">
              <a:spcBef>
                <a:spcPct val="0"/>
              </a:spcBef>
            </a:pPr>
            <a:r>
              <a:rPr lang="en-US" altLang="en-MX" sz="2500" dirty="0"/>
              <a:t>3. I have calculated the CE ratios for you. Lets try adding them in one at a time using a trial and error method and keep track of the cumulative benefits we are able to purchase given this budget constraint.</a:t>
            </a:r>
          </a:p>
          <a:p>
            <a:pPr marL="482600" indent="-482600" defTabSz="966788">
              <a:spcBef>
                <a:spcPct val="0"/>
              </a:spcBef>
            </a:pPr>
            <a:r>
              <a:rPr lang="en-US" altLang="en-MX" sz="2500" dirty="0"/>
              <a:t>4. Try H4, which has the lowest CE ratio. </a:t>
            </a:r>
            <a:r>
              <a:rPr lang="en-US" altLang="en-MX" sz="2500" i="1" dirty="0"/>
              <a:t>(Two top suggestions from the class might include using the lowest ratio or using H3 which has the ratio closest to the threshold – although NOT incremental ratios)</a:t>
            </a:r>
          </a:p>
          <a:p>
            <a:pPr marL="482600" indent="-482600" defTabSz="966788">
              <a:spcBef>
                <a:spcPct val="0"/>
              </a:spcBef>
            </a:pPr>
            <a:endParaRPr lang="en-US" altLang="en-MX" sz="2500" i="1" dirty="0"/>
          </a:p>
          <a:p>
            <a:pPr marL="482600" indent="-482600" defTabSz="966788">
              <a:spcBef>
                <a:spcPct val="0"/>
              </a:spcBef>
            </a:pPr>
            <a:endParaRPr lang="en-US" altLang="en-MX" sz="2500" dirty="0"/>
          </a:p>
          <a:p>
            <a:pPr marL="482600" indent="-482600" defTabSz="966788">
              <a:spcBef>
                <a:spcPct val="0"/>
              </a:spcBef>
            </a:pPr>
            <a:r>
              <a:rPr lang="en-US" altLang="en-MX" sz="2500" dirty="0"/>
              <a:t>Order of trial and error method:</a:t>
            </a:r>
          </a:p>
          <a:p>
            <a:pPr marL="482600" indent="-482600" defTabSz="966788">
              <a:spcBef>
                <a:spcPct val="0"/>
              </a:spcBef>
            </a:pPr>
            <a:r>
              <a:rPr lang="en-US" altLang="en-MX" sz="2500" dirty="0"/>
              <a:t>H4 277.2</a:t>
            </a:r>
          </a:p>
          <a:p>
            <a:pPr marL="482600" indent="-482600" defTabSz="966788">
              <a:spcBef>
                <a:spcPct val="0"/>
              </a:spcBef>
            </a:pPr>
            <a:r>
              <a:rPr lang="en-US" altLang="en-MX" sz="2500" dirty="0"/>
              <a:t>H3 266.2</a:t>
            </a:r>
          </a:p>
          <a:p>
            <a:pPr marL="482600" indent="-482600" defTabSz="966788">
              <a:spcBef>
                <a:spcPct val="0"/>
              </a:spcBef>
            </a:pPr>
            <a:r>
              <a:rPr lang="en-US" altLang="en-MX" sz="2500" dirty="0"/>
              <a:t>H2 280</a:t>
            </a:r>
          </a:p>
        </p:txBody>
      </p:sp>
    </p:spTree>
    <p:extLst>
      <p:ext uri="{BB962C8B-B14F-4D97-AF65-F5344CB8AC3E}">
        <p14:creationId xmlns:p14="http://schemas.microsoft.com/office/powerpoint/2010/main" val="250295295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936B7F70-D8B6-4F41-9CBB-BFF6BD777EF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fld id="{D1D21730-40F3-C14A-9417-80790849949C}" type="slidenum">
              <a:rPr lang="en-US" altLang="en-MX" sz="1200" b="0">
                <a:latin typeface="Times New Roman" panose="02020603050405020304" pitchFamily="18" charset="0"/>
              </a:rPr>
              <a:pPr/>
              <a:t>136</a:t>
            </a:fld>
            <a:endParaRPr lang="en-US" altLang="en-MX" sz="1200" b="0">
              <a:latin typeface="Times New Roman" panose="02020603050405020304" pitchFamily="18" charset="0"/>
            </a:endParaRPr>
          </a:p>
        </p:txBody>
      </p:sp>
      <p:sp>
        <p:nvSpPr>
          <p:cNvPr id="46083" name="Rectangle 2">
            <a:extLst>
              <a:ext uri="{FF2B5EF4-FFF2-40B4-BE49-F238E27FC236}">
                <a16:creationId xmlns:a16="http://schemas.microsoft.com/office/drawing/2014/main" id="{AED06BBE-B525-EB48-B7D0-2A098B7610B4}"/>
              </a:ext>
            </a:extLst>
          </p:cNvPr>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46084" name="Rectangle 3">
            <a:extLst>
              <a:ext uri="{FF2B5EF4-FFF2-40B4-BE49-F238E27FC236}">
                <a16:creationId xmlns:a16="http://schemas.microsoft.com/office/drawing/2014/main" id="{BE3261EB-F686-824B-BD1A-CC064E6B4912}"/>
              </a:ext>
            </a:extLst>
          </p:cNvPr>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6" tIns="46034" rIns="92066" bIns="46034" anchor="b"/>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r"/>
            <a:r>
              <a:rPr lang="en-US" altLang="en-MX" sz="1200" b="0">
                <a:latin typeface="Times New Roman" panose="02020603050405020304" pitchFamily="18" charset="0"/>
              </a:rPr>
              <a:t>10</a:t>
            </a:r>
          </a:p>
        </p:txBody>
      </p:sp>
      <p:sp>
        <p:nvSpPr>
          <p:cNvPr id="46085" name="Rectangle 4">
            <a:extLst>
              <a:ext uri="{FF2B5EF4-FFF2-40B4-BE49-F238E27FC236}">
                <a16:creationId xmlns:a16="http://schemas.microsoft.com/office/drawing/2014/main" id="{B5C53046-EA72-854F-9DFF-C7E8E704FFAA}"/>
              </a:ext>
            </a:extLst>
          </p:cNvPr>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46086" name="Rectangle 5">
            <a:extLst>
              <a:ext uri="{FF2B5EF4-FFF2-40B4-BE49-F238E27FC236}">
                <a16:creationId xmlns:a16="http://schemas.microsoft.com/office/drawing/2014/main" id="{282AEB7B-3C83-164F-A379-B4C02D853032}"/>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46087" name="Rectangle 6">
            <a:extLst>
              <a:ext uri="{FF2B5EF4-FFF2-40B4-BE49-F238E27FC236}">
                <a16:creationId xmlns:a16="http://schemas.microsoft.com/office/drawing/2014/main" id="{75625B8C-BC1D-4B4E-9227-50265968505B}"/>
              </a:ext>
            </a:extLst>
          </p:cNvPr>
          <p:cNvSpPr>
            <a:spLocks noGrp="1" noRot="1" noChangeAspect="1" noChangeArrowheads="1" noTextEdit="1"/>
          </p:cNvSpPr>
          <p:nvPr>
            <p:ph type="sldImg"/>
          </p:nvPr>
        </p:nvSpPr>
        <p:spPr>
          <a:xfrm>
            <a:off x="423863" y="711200"/>
            <a:ext cx="6046787" cy="3402013"/>
          </a:xfrm>
          <a:ln w="12700" cap="flat"/>
        </p:spPr>
      </p:sp>
      <p:sp>
        <p:nvSpPr>
          <p:cNvPr id="46088" name="Rectangle 7">
            <a:extLst>
              <a:ext uri="{FF2B5EF4-FFF2-40B4-BE49-F238E27FC236}">
                <a16:creationId xmlns:a16="http://schemas.microsoft.com/office/drawing/2014/main" id="{1D7A8B99-0666-E847-9B95-4A6C741B9DEF}"/>
              </a:ext>
            </a:extLst>
          </p:cNvPr>
          <p:cNvSpPr>
            <a:spLocks noGrp="1" noChangeArrowheads="1"/>
          </p:cNvSpPr>
          <p:nvPr>
            <p:ph type="body" idx="1"/>
          </p:nvPr>
        </p:nvSpPr>
        <p:spPr>
          <a:xfrm>
            <a:off x="914400" y="4306888"/>
            <a:ext cx="5029200" cy="41576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6" tIns="46034" rIns="92066" bIns="46034"/>
          <a:lstStyle/>
          <a:p>
            <a:pPr marL="482600" indent="-482600" defTabSz="966788">
              <a:spcBef>
                <a:spcPct val="0"/>
              </a:spcBef>
            </a:pPr>
            <a:r>
              <a:rPr lang="en-US" altLang="en-MX" sz="1300" u="sng"/>
              <a:t>Steps</a:t>
            </a:r>
          </a:p>
          <a:p>
            <a:pPr marL="482600" indent="-482600" defTabSz="966788">
              <a:spcBef>
                <a:spcPct val="0"/>
              </a:spcBef>
            </a:pPr>
            <a:r>
              <a:rPr lang="en-US" altLang="en-MX" sz="1300"/>
              <a:t>1. Rule out strongly dominated options</a:t>
            </a:r>
          </a:p>
          <a:p>
            <a:pPr marL="482600" indent="-482600" defTabSz="966788">
              <a:spcBef>
                <a:spcPct val="0"/>
              </a:spcBef>
            </a:pPr>
            <a:r>
              <a:rPr lang="en-US" altLang="en-MX" sz="1300"/>
              <a:t>2. Reorder from lowest to highest total costs such that the remaining options sequentially cost more and deliver more. Question: Are the benefits worth the costs? </a:t>
            </a:r>
          </a:p>
          <a:p>
            <a:pPr marL="482600" indent="-482600" defTabSz="966788">
              <a:spcBef>
                <a:spcPct val="0"/>
              </a:spcBef>
            </a:pPr>
            <a:r>
              <a:rPr lang="en-US" altLang="en-MX" sz="1300"/>
              <a:t>3. Calculate the incremental CE ratios and look at the pattern. To calculate the FIRST CE ratio need to answer the question: What is the baseline comparator? Is there a no cost and no benefit “do nothing” option? (State the assumption we are making here)</a:t>
            </a:r>
          </a:p>
          <a:p>
            <a:pPr marL="482600" indent="-482600" defTabSz="966788">
              <a:spcBef>
                <a:spcPct val="0"/>
              </a:spcBef>
            </a:pPr>
            <a:r>
              <a:rPr lang="en-US" altLang="en-MX" sz="1300"/>
              <a:t>4. What do you notice about the incremental CE ratio of H3? Define weak dominance. Rule out weakly dominated options.</a:t>
            </a:r>
          </a:p>
          <a:p>
            <a:pPr marL="482600" indent="-482600" defTabSz="966788">
              <a:spcBef>
                <a:spcPct val="0"/>
              </a:spcBef>
            </a:pPr>
            <a:r>
              <a:rPr lang="en-US" altLang="en-MX" sz="1300"/>
              <a:t>5. Recalculate the CE ratios</a:t>
            </a:r>
          </a:p>
        </p:txBody>
      </p:sp>
    </p:spTree>
    <p:extLst>
      <p:ext uri="{BB962C8B-B14F-4D97-AF65-F5344CB8AC3E}">
        <p14:creationId xmlns:p14="http://schemas.microsoft.com/office/powerpoint/2010/main" val="3207861744"/>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5C0630E6-B6C9-A84D-B031-D445838E375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fld id="{A0476837-6789-8349-B93E-8285730D48F1}" type="slidenum">
              <a:rPr lang="en-US" altLang="en-MX" sz="1200" b="0">
                <a:latin typeface="Times New Roman" panose="02020603050405020304" pitchFamily="18" charset="0"/>
              </a:rPr>
              <a:pPr/>
              <a:t>137</a:t>
            </a:fld>
            <a:endParaRPr lang="en-US" altLang="en-MX" sz="1200" b="0">
              <a:latin typeface="Times New Roman" panose="02020603050405020304" pitchFamily="18" charset="0"/>
            </a:endParaRPr>
          </a:p>
        </p:txBody>
      </p:sp>
      <p:sp>
        <p:nvSpPr>
          <p:cNvPr id="47107" name="Rectangle 2">
            <a:extLst>
              <a:ext uri="{FF2B5EF4-FFF2-40B4-BE49-F238E27FC236}">
                <a16:creationId xmlns:a16="http://schemas.microsoft.com/office/drawing/2014/main" id="{09239C4E-7C8B-A845-97DC-B74BEC6133AA}"/>
              </a:ext>
            </a:extLst>
          </p:cNvPr>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47108" name="Rectangle 3">
            <a:extLst>
              <a:ext uri="{FF2B5EF4-FFF2-40B4-BE49-F238E27FC236}">
                <a16:creationId xmlns:a16="http://schemas.microsoft.com/office/drawing/2014/main" id="{939F7C54-4DC6-7F4F-A084-16B215CF0F0E}"/>
              </a:ext>
            </a:extLst>
          </p:cNvPr>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6" tIns="46034" rIns="92066" bIns="46034" anchor="b"/>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r"/>
            <a:r>
              <a:rPr lang="en-US" altLang="en-MX" sz="1200" b="0">
                <a:latin typeface="Times New Roman" panose="02020603050405020304" pitchFamily="18" charset="0"/>
              </a:rPr>
              <a:t>10</a:t>
            </a:r>
          </a:p>
        </p:txBody>
      </p:sp>
      <p:sp>
        <p:nvSpPr>
          <p:cNvPr id="47109" name="Rectangle 4">
            <a:extLst>
              <a:ext uri="{FF2B5EF4-FFF2-40B4-BE49-F238E27FC236}">
                <a16:creationId xmlns:a16="http://schemas.microsoft.com/office/drawing/2014/main" id="{4EAB4489-7F13-AD4C-A1AA-EC53D844F935}"/>
              </a:ext>
            </a:extLst>
          </p:cNvPr>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47110" name="Rectangle 5">
            <a:extLst>
              <a:ext uri="{FF2B5EF4-FFF2-40B4-BE49-F238E27FC236}">
                <a16:creationId xmlns:a16="http://schemas.microsoft.com/office/drawing/2014/main" id="{157E4D70-0D40-A14C-ADBB-B10B308342E9}"/>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47111" name="Rectangle 6">
            <a:extLst>
              <a:ext uri="{FF2B5EF4-FFF2-40B4-BE49-F238E27FC236}">
                <a16:creationId xmlns:a16="http://schemas.microsoft.com/office/drawing/2014/main" id="{99E608FF-5E40-B446-9940-DC54F4BA4BD5}"/>
              </a:ext>
            </a:extLst>
          </p:cNvPr>
          <p:cNvSpPr>
            <a:spLocks noGrp="1" noRot="1" noChangeAspect="1" noChangeArrowheads="1" noTextEdit="1"/>
          </p:cNvSpPr>
          <p:nvPr>
            <p:ph type="sldImg"/>
          </p:nvPr>
        </p:nvSpPr>
        <p:spPr>
          <a:xfrm>
            <a:off x="423863" y="711200"/>
            <a:ext cx="6046787" cy="3402013"/>
          </a:xfrm>
          <a:ln w="12700" cap="flat"/>
        </p:spPr>
      </p:sp>
      <p:sp>
        <p:nvSpPr>
          <p:cNvPr id="47112" name="Rectangle 7">
            <a:extLst>
              <a:ext uri="{FF2B5EF4-FFF2-40B4-BE49-F238E27FC236}">
                <a16:creationId xmlns:a16="http://schemas.microsoft.com/office/drawing/2014/main" id="{C890ADA6-47B5-5043-9359-4DEC9942180B}"/>
              </a:ext>
            </a:extLst>
          </p:cNvPr>
          <p:cNvSpPr>
            <a:spLocks noGrp="1" noChangeArrowheads="1"/>
          </p:cNvSpPr>
          <p:nvPr>
            <p:ph type="body" idx="1"/>
          </p:nvPr>
        </p:nvSpPr>
        <p:spPr>
          <a:xfrm>
            <a:off x="914400" y="4306888"/>
            <a:ext cx="5029200" cy="41576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6" tIns="46034" rIns="92066" bIns="46034"/>
          <a:lstStyle/>
          <a:p>
            <a:pPr marL="482600" indent="-482600" defTabSz="966788">
              <a:spcBef>
                <a:spcPct val="0"/>
              </a:spcBef>
            </a:pPr>
            <a:r>
              <a:rPr lang="en-US" altLang="en-MX" sz="1300" u="sng"/>
              <a:t>Steps</a:t>
            </a:r>
          </a:p>
          <a:p>
            <a:pPr marL="482600" indent="-482600" defTabSz="966788">
              <a:spcBef>
                <a:spcPct val="0"/>
              </a:spcBef>
            </a:pPr>
            <a:r>
              <a:rPr lang="en-US" altLang="en-MX" sz="1300"/>
              <a:t>1. Rule out strongly dominated options</a:t>
            </a:r>
          </a:p>
          <a:p>
            <a:pPr marL="482600" indent="-482600" defTabSz="966788">
              <a:spcBef>
                <a:spcPct val="0"/>
              </a:spcBef>
            </a:pPr>
            <a:r>
              <a:rPr lang="en-US" altLang="en-MX" sz="1300"/>
              <a:t>2. Reorder from lowest to highest total costs such that the remaining options sequentially cost more and deliver more. Question: Are the benefits worth the costs? </a:t>
            </a:r>
          </a:p>
          <a:p>
            <a:pPr marL="482600" indent="-482600" defTabSz="966788">
              <a:spcBef>
                <a:spcPct val="0"/>
              </a:spcBef>
            </a:pPr>
            <a:r>
              <a:rPr lang="en-US" altLang="en-MX" sz="1300"/>
              <a:t>3. Calculate the incremental CE ratios and look at the pattern. To calculate the FIRST CE ratio need to answer the question: What is the baseline comparator? Is there a no cost and no benefit “do nothing” option? (State the assumption we are making here)</a:t>
            </a:r>
          </a:p>
          <a:p>
            <a:pPr marL="482600" indent="-482600" defTabSz="966788">
              <a:spcBef>
                <a:spcPct val="0"/>
              </a:spcBef>
            </a:pPr>
            <a:r>
              <a:rPr lang="en-US" altLang="en-MX" sz="1300"/>
              <a:t>4. What do you notice about the incremental CE ratio of H3? Define weak dominance. Rule out weakly dominated options.</a:t>
            </a:r>
          </a:p>
          <a:p>
            <a:pPr marL="482600" indent="-482600" defTabSz="966788">
              <a:spcBef>
                <a:spcPct val="0"/>
              </a:spcBef>
            </a:pPr>
            <a:r>
              <a:rPr lang="en-US" altLang="en-MX" sz="1300"/>
              <a:t>5. Recalculate the CE ratios</a:t>
            </a:r>
          </a:p>
        </p:txBody>
      </p:sp>
    </p:spTree>
    <p:extLst>
      <p:ext uri="{BB962C8B-B14F-4D97-AF65-F5344CB8AC3E}">
        <p14:creationId xmlns:p14="http://schemas.microsoft.com/office/powerpoint/2010/main" val="2183756957"/>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0933B80F-0EA8-E746-91B1-B3AE1E3D06C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fld id="{94525B7C-0CD3-6D4F-8E47-BF29FDBE9710}" type="slidenum">
              <a:rPr lang="en-US" altLang="en-MX" sz="1200" b="0">
                <a:latin typeface="Times New Roman" panose="02020603050405020304" pitchFamily="18" charset="0"/>
              </a:rPr>
              <a:pPr/>
              <a:t>138</a:t>
            </a:fld>
            <a:endParaRPr lang="en-US" altLang="en-MX" sz="1200" b="0">
              <a:latin typeface="Times New Roman" panose="02020603050405020304" pitchFamily="18" charset="0"/>
            </a:endParaRPr>
          </a:p>
        </p:txBody>
      </p:sp>
      <p:sp>
        <p:nvSpPr>
          <p:cNvPr id="48131" name="Rectangle 2">
            <a:extLst>
              <a:ext uri="{FF2B5EF4-FFF2-40B4-BE49-F238E27FC236}">
                <a16:creationId xmlns:a16="http://schemas.microsoft.com/office/drawing/2014/main" id="{57B4543B-13B5-C245-9108-2112113BED94}"/>
              </a:ext>
            </a:extLst>
          </p:cNvPr>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48132" name="Rectangle 3">
            <a:extLst>
              <a:ext uri="{FF2B5EF4-FFF2-40B4-BE49-F238E27FC236}">
                <a16:creationId xmlns:a16="http://schemas.microsoft.com/office/drawing/2014/main" id="{6ED154D9-BE60-F64C-B3C4-0C265A3C0B48}"/>
              </a:ext>
            </a:extLst>
          </p:cNvPr>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6" tIns="46034" rIns="92066" bIns="46034" anchor="b"/>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r"/>
            <a:r>
              <a:rPr lang="en-US" altLang="en-MX" sz="1200" b="0">
                <a:latin typeface="Times New Roman" panose="02020603050405020304" pitchFamily="18" charset="0"/>
              </a:rPr>
              <a:t>10</a:t>
            </a:r>
          </a:p>
        </p:txBody>
      </p:sp>
      <p:sp>
        <p:nvSpPr>
          <p:cNvPr id="48133" name="Rectangle 4">
            <a:extLst>
              <a:ext uri="{FF2B5EF4-FFF2-40B4-BE49-F238E27FC236}">
                <a16:creationId xmlns:a16="http://schemas.microsoft.com/office/drawing/2014/main" id="{CB0CADB1-F3B3-064F-A326-D0FC7E3F666E}"/>
              </a:ext>
            </a:extLst>
          </p:cNvPr>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48134" name="Rectangle 5">
            <a:extLst>
              <a:ext uri="{FF2B5EF4-FFF2-40B4-BE49-F238E27FC236}">
                <a16:creationId xmlns:a16="http://schemas.microsoft.com/office/drawing/2014/main" id="{A22CABB5-1328-3E41-949A-AAA85AB974D5}"/>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48135" name="Rectangle 6">
            <a:extLst>
              <a:ext uri="{FF2B5EF4-FFF2-40B4-BE49-F238E27FC236}">
                <a16:creationId xmlns:a16="http://schemas.microsoft.com/office/drawing/2014/main" id="{35F5C99C-1853-F74F-8A0D-E47EFBE29C10}"/>
              </a:ext>
            </a:extLst>
          </p:cNvPr>
          <p:cNvSpPr>
            <a:spLocks noGrp="1" noRot="1" noChangeAspect="1" noChangeArrowheads="1" noTextEdit="1"/>
          </p:cNvSpPr>
          <p:nvPr>
            <p:ph type="sldImg"/>
          </p:nvPr>
        </p:nvSpPr>
        <p:spPr>
          <a:xfrm>
            <a:off x="423863" y="711200"/>
            <a:ext cx="6046787" cy="3402013"/>
          </a:xfrm>
          <a:ln w="12700" cap="flat"/>
        </p:spPr>
      </p:sp>
      <p:sp>
        <p:nvSpPr>
          <p:cNvPr id="48136" name="Rectangle 7">
            <a:extLst>
              <a:ext uri="{FF2B5EF4-FFF2-40B4-BE49-F238E27FC236}">
                <a16:creationId xmlns:a16="http://schemas.microsoft.com/office/drawing/2014/main" id="{6016675F-1640-B740-8ECA-4A127084CBFF}"/>
              </a:ext>
            </a:extLst>
          </p:cNvPr>
          <p:cNvSpPr>
            <a:spLocks noGrp="1" noChangeArrowheads="1"/>
          </p:cNvSpPr>
          <p:nvPr>
            <p:ph type="body" idx="1"/>
          </p:nvPr>
        </p:nvSpPr>
        <p:spPr>
          <a:xfrm>
            <a:off x="914400" y="4306888"/>
            <a:ext cx="5029200" cy="41576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6" tIns="46034" rIns="92066" bIns="46034"/>
          <a:lstStyle/>
          <a:p>
            <a:pPr defTabSz="966788">
              <a:spcBef>
                <a:spcPct val="0"/>
              </a:spcBef>
            </a:pPr>
            <a:r>
              <a:rPr lang="en-US" altLang="en-MX" sz="1300" u="sng"/>
              <a:t>Steps</a:t>
            </a:r>
          </a:p>
          <a:p>
            <a:pPr defTabSz="966788">
              <a:spcBef>
                <a:spcPct val="0"/>
              </a:spcBef>
            </a:pPr>
            <a:r>
              <a:rPr lang="en-US" altLang="en-MX" sz="1300"/>
              <a:t>1. Rule out strongly dominated options</a:t>
            </a:r>
          </a:p>
          <a:p>
            <a:pPr defTabSz="966788">
              <a:spcBef>
                <a:spcPct val="0"/>
              </a:spcBef>
            </a:pPr>
            <a:r>
              <a:rPr lang="en-US" altLang="en-MX" sz="1300"/>
              <a:t>2. Reorder from lowest to highest total costs such that the remaining options sequentially cost more and deliver more. Question: Are the benefits worth the costs? </a:t>
            </a:r>
          </a:p>
          <a:p>
            <a:pPr defTabSz="966788">
              <a:spcBef>
                <a:spcPct val="0"/>
              </a:spcBef>
            </a:pPr>
            <a:r>
              <a:rPr lang="en-US" altLang="en-MX" sz="1300"/>
              <a:t>3. Calculate the incremental CE ratios and look at the pattern. To calculate the FIRST CE ratio need to answer the question: What is the baseline comparator? Is there a no cost and no benefit “do nothing” option? (State the assumption we are making here)</a:t>
            </a:r>
          </a:p>
          <a:p>
            <a:pPr defTabSz="966788">
              <a:spcBef>
                <a:spcPct val="0"/>
              </a:spcBef>
            </a:pPr>
            <a:r>
              <a:rPr lang="en-US" altLang="en-MX" sz="1300"/>
              <a:t>4. What do you notice about the incremental CE ratio of H3? Define weak dominance. Rule out weakly dominated options.</a:t>
            </a:r>
          </a:p>
          <a:p>
            <a:pPr defTabSz="966788">
              <a:spcBef>
                <a:spcPct val="0"/>
              </a:spcBef>
            </a:pPr>
            <a:r>
              <a:rPr lang="en-US" altLang="en-MX" sz="1300"/>
              <a:t>5. Recalculate the CE ratios</a:t>
            </a:r>
          </a:p>
          <a:p>
            <a:pPr defTabSz="966788">
              <a:spcBef>
                <a:spcPct val="0"/>
              </a:spcBef>
            </a:pPr>
            <a:endParaRPr lang="en-US" altLang="en-MX" sz="1300"/>
          </a:p>
        </p:txBody>
      </p:sp>
    </p:spTree>
    <p:extLst>
      <p:ext uri="{BB962C8B-B14F-4D97-AF65-F5344CB8AC3E}">
        <p14:creationId xmlns:p14="http://schemas.microsoft.com/office/powerpoint/2010/main" val="713574276"/>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221819D4-3815-8947-83BA-5D9E0A9218E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fld id="{98645AC0-FD30-7D47-9F02-98D98D70BC5B}" type="slidenum">
              <a:rPr lang="en-US" altLang="en-MX" sz="1200" b="0">
                <a:latin typeface="Times New Roman" panose="02020603050405020304" pitchFamily="18" charset="0"/>
              </a:rPr>
              <a:pPr/>
              <a:t>139</a:t>
            </a:fld>
            <a:endParaRPr lang="en-US" altLang="en-MX" sz="1200" b="0">
              <a:latin typeface="Times New Roman" panose="02020603050405020304" pitchFamily="18" charset="0"/>
            </a:endParaRPr>
          </a:p>
        </p:txBody>
      </p:sp>
      <p:sp>
        <p:nvSpPr>
          <p:cNvPr id="49155" name="Rectangle 2">
            <a:extLst>
              <a:ext uri="{FF2B5EF4-FFF2-40B4-BE49-F238E27FC236}">
                <a16:creationId xmlns:a16="http://schemas.microsoft.com/office/drawing/2014/main" id="{BCE11349-0EBA-244A-8D5E-64AB35122C1C}"/>
              </a:ext>
            </a:extLst>
          </p:cNvPr>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49156" name="Rectangle 3">
            <a:extLst>
              <a:ext uri="{FF2B5EF4-FFF2-40B4-BE49-F238E27FC236}">
                <a16:creationId xmlns:a16="http://schemas.microsoft.com/office/drawing/2014/main" id="{90476E3B-782F-764D-9B73-08C534CB3F69}"/>
              </a:ext>
            </a:extLst>
          </p:cNvPr>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6" tIns="46034" rIns="92066" bIns="46034" anchor="b"/>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r"/>
            <a:r>
              <a:rPr lang="en-US" altLang="en-MX" sz="1200" b="0">
                <a:latin typeface="Times New Roman" panose="02020603050405020304" pitchFamily="18" charset="0"/>
              </a:rPr>
              <a:t>10</a:t>
            </a:r>
          </a:p>
        </p:txBody>
      </p:sp>
      <p:sp>
        <p:nvSpPr>
          <p:cNvPr id="49157" name="Rectangle 4">
            <a:extLst>
              <a:ext uri="{FF2B5EF4-FFF2-40B4-BE49-F238E27FC236}">
                <a16:creationId xmlns:a16="http://schemas.microsoft.com/office/drawing/2014/main" id="{85DBADFA-DB19-784F-B4BB-7BD74789ECE9}"/>
              </a:ext>
            </a:extLst>
          </p:cNvPr>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49158" name="Rectangle 5">
            <a:extLst>
              <a:ext uri="{FF2B5EF4-FFF2-40B4-BE49-F238E27FC236}">
                <a16:creationId xmlns:a16="http://schemas.microsoft.com/office/drawing/2014/main" id="{6A000E09-18F4-DD40-A4EB-B8A64ABBD148}"/>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49159" name="Rectangle 6">
            <a:extLst>
              <a:ext uri="{FF2B5EF4-FFF2-40B4-BE49-F238E27FC236}">
                <a16:creationId xmlns:a16="http://schemas.microsoft.com/office/drawing/2014/main" id="{8A2FE26B-C77E-C448-91B3-3AB3DC3A439A}"/>
              </a:ext>
            </a:extLst>
          </p:cNvPr>
          <p:cNvSpPr>
            <a:spLocks noGrp="1" noRot="1" noChangeAspect="1" noChangeArrowheads="1" noTextEdit="1"/>
          </p:cNvSpPr>
          <p:nvPr>
            <p:ph type="sldImg"/>
          </p:nvPr>
        </p:nvSpPr>
        <p:spPr>
          <a:xfrm>
            <a:off x="423863" y="711200"/>
            <a:ext cx="6046787" cy="3402013"/>
          </a:xfrm>
          <a:ln w="12700" cap="flat"/>
        </p:spPr>
      </p:sp>
      <p:sp>
        <p:nvSpPr>
          <p:cNvPr id="49160" name="Rectangle 7">
            <a:extLst>
              <a:ext uri="{FF2B5EF4-FFF2-40B4-BE49-F238E27FC236}">
                <a16:creationId xmlns:a16="http://schemas.microsoft.com/office/drawing/2014/main" id="{2E31C807-7312-AC40-87C7-37C237EE1728}"/>
              </a:ext>
            </a:extLst>
          </p:cNvPr>
          <p:cNvSpPr>
            <a:spLocks noGrp="1" noChangeArrowheads="1"/>
          </p:cNvSpPr>
          <p:nvPr>
            <p:ph type="body" idx="1"/>
          </p:nvPr>
        </p:nvSpPr>
        <p:spPr>
          <a:xfrm>
            <a:off x="914400" y="4306888"/>
            <a:ext cx="5029200" cy="41576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6" tIns="46034" rIns="92066" bIns="46034"/>
          <a:lstStyle/>
          <a:p>
            <a:pPr defTabSz="966788">
              <a:spcBef>
                <a:spcPct val="0"/>
              </a:spcBef>
            </a:pPr>
            <a:r>
              <a:rPr lang="en-US" altLang="en-MX" sz="1300" u="sng"/>
              <a:t>Steps</a:t>
            </a:r>
          </a:p>
          <a:p>
            <a:pPr defTabSz="966788">
              <a:spcBef>
                <a:spcPct val="0"/>
              </a:spcBef>
            </a:pPr>
            <a:r>
              <a:rPr lang="en-US" altLang="en-MX" sz="1300"/>
              <a:t>1. Rule out strongly dominated options</a:t>
            </a:r>
          </a:p>
          <a:p>
            <a:pPr defTabSz="966788">
              <a:spcBef>
                <a:spcPct val="0"/>
              </a:spcBef>
            </a:pPr>
            <a:r>
              <a:rPr lang="en-US" altLang="en-MX" sz="1300"/>
              <a:t>2. Reorder from lowest to highest total costs such that the remaining options sequentially cost more and deliver more. Question: Are the benefits worth the costs? </a:t>
            </a:r>
          </a:p>
          <a:p>
            <a:pPr defTabSz="966788">
              <a:spcBef>
                <a:spcPct val="0"/>
              </a:spcBef>
            </a:pPr>
            <a:r>
              <a:rPr lang="en-US" altLang="en-MX" sz="1300"/>
              <a:t>3. Calculate the incremental CE ratios and look at the pattern. To calculate the FIRST CE ratio need to answer the question: What is the baseline comparator? Is there a no cost and no benefit “do nothing” option? (State the assumption we are making here)</a:t>
            </a:r>
          </a:p>
          <a:p>
            <a:pPr defTabSz="966788">
              <a:spcBef>
                <a:spcPct val="0"/>
              </a:spcBef>
            </a:pPr>
            <a:r>
              <a:rPr lang="en-US" altLang="en-MX" sz="1300"/>
              <a:t>4. What do you notice about the incremental CE ratio of H3? Define weak dominance. Rule out weakly dominated options.</a:t>
            </a:r>
          </a:p>
          <a:p>
            <a:pPr defTabSz="966788">
              <a:spcBef>
                <a:spcPct val="0"/>
              </a:spcBef>
            </a:pPr>
            <a:r>
              <a:rPr lang="en-US" altLang="en-MX" sz="1300"/>
              <a:t>5. Recalculate the CE ratios</a:t>
            </a:r>
          </a:p>
          <a:p>
            <a:pPr defTabSz="966788">
              <a:spcBef>
                <a:spcPct val="0"/>
              </a:spcBef>
            </a:pPr>
            <a:endParaRPr lang="en-US" altLang="en-MX" sz="1300"/>
          </a:p>
        </p:txBody>
      </p:sp>
    </p:spTree>
    <p:extLst>
      <p:ext uri="{BB962C8B-B14F-4D97-AF65-F5344CB8AC3E}">
        <p14:creationId xmlns:p14="http://schemas.microsoft.com/office/powerpoint/2010/main" val="1831245794"/>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945AF483-E82D-BC41-B0EA-7757F42FEBF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fld id="{26E506E0-8E4D-534F-AD26-0FBCF58843FC}" type="slidenum">
              <a:rPr lang="en-US" altLang="en-MX" sz="1200" b="0">
                <a:latin typeface="Times New Roman" panose="02020603050405020304" pitchFamily="18" charset="0"/>
              </a:rPr>
              <a:pPr/>
              <a:t>140</a:t>
            </a:fld>
            <a:endParaRPr lang="en-US" altLang="en-MX" sz="1200" b="0">
              <a:latin typeface="Times New Roman" panose="02020603050405020304" pitchFamily="18" charset="0"/>
            </a:endParaRPr>
          </a:p>
        </p:txBody>
      </p:sp>
      <p:sp>
        <p:nvSpPr>
          <p:cNvPr id="50179" name="Rectangle 2">
            <a:extLst>
              <a:ext uri="{FF2B5EF4-FFF2-40B4-BE49-F238E27FC236}">
                <a16:creationId xmlns:a16="http://schemas.microsoft.com/office/drawing/2014/main" id="{79C4F21E-5070-2745-92FE-B8F431CEFE73}"/>
              </a:ext>
            </a:extLst>
          </p:cNvPr>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50180" name="Rectangle 3">
            <a:extLst>
              <a:ext uri="{FF2B5EF4-FFF2-40B4-BE49-F238E27FC236}">
                <a16:creationId xmlns:a16="http://schemas.microsoft.com/office/drawing/2014/main" id="{066A0092-8F7C-DC4C-A7BF-908B25F4DCA2}"/>
              </a:ext>
            </a:extLst>
          </p:cNvPr>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6" tIns="46034" rIns="92066" bIns="46034" anchor="b"/>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r"/>
            <a:r>
              <a:rPr lang="en-US" altLang="en-MX" sz="1200" b="0">
                <a:latin typeface="Times New Roman" panose="02020603050405020304" pitchFamily="18" charset="0"/>
              </a:rPr>
              <a:t>10</a:t>
            </a:r>
          </a:p>
        </p:txBody>
      </p:sp>
      <p:sp>
        <p:nvSpPr>
          <p:cNvPr id="50181" name="Rectangle 4">
            <a:extLst>
              <a:ext uri="{FF2B5EF4-FFF2-40B4-BE49-F238E27FC236}">
                <a16:creationId xmlns:a16="http://schemas.microsoft.com/office/drawing/2014/main" id="{CC64ACE6-C6C3-114F-B80F-FB816E185C45}"/>
              </a:ext>
            </a:extLst>
          </p:cNvPr>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50182" name="Rectangle 5">
            <a:extLst>
              <a:ext uri="{FF2B5EF4-FFF2-40B4-BE49-F238E27FC236}">
                <a16:creationId xmlns:a16="http://schemas.microsoft.com/office/drawing/2014/main" id="{2565C47C-7BFB-AB4C-B6C9-BB576E133AA2}"/>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50183" name="Rectangle 6">
            <a:extLst>
              <a:ext uri="{FF2B5EF4-FFF2-40B4-BE49-F238E27FC236}">
                <a16:creationId xmlns:a16="http://schemas.microsoft.com/office/drawing/2014/main" id="{6D17601C-FC0A-7D4F-971E-AA56D85ADB6B}"/>
              </a:ext>
            </a:extLst>
          </p:cNvPr>
          <p:cNvSpPr>
            <a:spLocks noGrp="1" noRot="1" noChangeAspect="1" noChangeArrowheads="1" noTextEdit="1"/>
          </p:cNvSpPr>
          <p:nvPr>
            <p:ph type="sldImg"/>
          </p:nvPr>
        </p:nvSpPr>
        <p:spPr>
          <a:xfrm>
            <a:off x="406400" y="679450"/>
            <a:ext cx="6046788" cy="3402013"/>
          </a:xfrm>
          <a:ln w="12700" cap="flat"/>
        </p:spPr>
      </p:sp>
      <p:sp>
        <p:nvSpPr>
          <p:cNvPr id="50184" name="Rectangle 7">
            <a:extLst>
              <a:ext uri="{FF2B5EF4-FFF2-40B4-BE49-F238E27FC236}">
                <a16:creationId xmlns:a16="http://schemas.microsoft.com/office/drawing/2014/main" id="{78716636-7A50-964B-9D9C-C39F602DBD88}"/>
              </a:ext>
            </a:extLst>
          </p:cNvPr>
          <p:cNvSpPr>
            <a:spLocks noGrp="1" noChangeArrowheads="1"/>
          </p:cNvSpPr>
          <p:nvPr>
            <p:ph type="body" idx="1"/>
          </p:nvPr>
        </p:nvSpPr>
        <p:spPr>
          <a:xfrm>
            <a:off x="914400" y="4306888"/>
            <a:ext cx="5029200" cy="41576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6" tIns="46034" rIns="92066" bIns="46034"/>
          <a:lstStyle/>
          <a:p>
            <a:pPr defTabSz="966788">
              <a:spcBef>
                <a:spcPct val="0"/>
              </a:spcBef>
            </a:pPr>
            <a:r>
              <a:rPr lang="en-US" altLang="en-MX" sz="2500"/>
              <a:t>H3 eliminated by weak dominance</a:t>
            </a:r>
          </a:p>
          <a:p>
            <a:pPr defTabSz="966788">
              <a:spcBef>
                <a:spcPct val="0"/>
              </a:spcBef>
            </a:pPr>
            <a:r>
              <a:rPr lang="en-US" altLang="en-MX" sz="2500"/>
              <a:t>Recalculate incremental ratios</a:t>
            </a:r>
          </a:p>
          <a:p>
            <a:pPr defTabSz="966788">
              <a:spcBef>
                <a:spcPct val="0"/>
              </a:spcBef>
            </a:pPr>
            <a:r>
              <a:rPr lang="en-US" altLang="en-MX" sz="2500"/>
              <a:t>These are the ratios to compare to the threshold</a:t>
            </a:r>
          </a:p>
        </p:txBody>
      </p:sp>
    </p:spTree>
    <p:extLst>
      <p:ext uri="{BB962C8B-B14F-4D97-AF65-F5344CB8AC3E}">
        <p14:creationId xmlns:p14="http://schemas.microsoft.com/office/powerpoint/2010/main" val="2147517897"/>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A19F8C0A-DB2B-EF44-AAC1-0FE41E35D37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fld id="{BB5EC087-6F33-4440-A615-F3A7B7BE49D8}" type="slidenum">
              <a:rPr lang="en-US" altLang="en-MX" sz="1200" b="0">
                <a:latin typeface="Times New Roman" panose="02020603050405020304" pitchFamily="18" charset="0"/>
              </a:rPr>
              <a:pPr/>
              <a:t>141</a:t>
            </a:fld>
            <a:endParaRPr lang="en-US" altLang="en-MX" sz="1200" b="0">
              <a:latin typeface="Times New Roman" panose="02020603050405020304" pitchFamily="18" charset="0"/>
            </a:endParaRPr>
          </a:p>
        </p:txBody>
      </p:sp>
      <p:sp>
        <p:nvSpPr>
          <p:cNvPr id="51203" name="Rectangle 2">
            <a:extLst>
              <a:ext uri="{FF2B5EF4-FFF2-40B4-BE49-F238E27FC236}">
                <a16:creationId xmlns:a16="http://schemas.microsoft.com/office/drawing/2014/main" id="{0DCAD15B-550D-9D48-BF4D-0A57DE850CFA}"/>
              </a:ext>
            </a:extLst>
          </p:cNvPr>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51204" name="Rectangle 3">
            <a:extLst>
              <a:ext uri="{FF2B5EF4-FFF2-40B4-BE49-F238E27FC236}">
                <a16:creationId xmlns:a16="http://schemas.microsoft.com/office/drawing/2014/main" id="{08A111A5-1EE0-7049-941E-4C9A99697DC7}"/>
              </a:ext>
            </a:extLst>
          </p:cNvPr>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31" tIns="45817" rIns="91631" bIns="45817" anchor="b"/>
          <a:lstStyle>
            <a:lvl1pPr defTabSz="909638">
              <a:defRPr sz="2000" b="1">
                <a:solidFill>
                  <a:schemeClr val="tx1"/>
                </a:solidFill>
                <a:latin typeface="Arial" panose="020B0604020202020204" pitchFamily="34" charset="0"/>
              </a:defRPr>
            </a:lvl1pPr>
            <a:lvl2pPr marL="742950" indent="-285750" defTabSz="909638">
              <a:defRPr sz="2000" b="1">
                <a:solidFill>
                  <a:schemeClr val="tx1"/>
                </a:solidFill>
                <a:latin typeface="Arial" panose="020B0604020202020204" pitchFamily="34" charset="0"/>
              </a:defRPr>
            </a:lvl2pPr>
            <a:lvl3pPr marL="1143000" indent="-228600" defTabSz="909638">
              <a:defRPr sz="2000" b="1">
                <a:solidFill>
                  <a:schemeClr val="tx1"/>
                </a:solidFill>
                <a:latin typeface="Arial" panose="020B0604020202020204" pitchFamily="34" charset="0"/>
              </a:defRPr>
            </a:lvl3pPr>
            <a:lvl4pPr marL="1600200" indent="-228600" defTabSz="909638">
              <a:defRPr sz="2000" b="1">
                <a:solidFill>
                  <a:schemeClr val="tx1"/>
                </a:solidFill>
                <a:latin typeface="Arial" panose="020B0604020202020204" pitchFamily="34" charset="0"/>
              </a:defRPr>
            </a:lvl4pPr>
            <a:lvl5pPr marL="2057400" indent="-228600" defTabSz="909638">
              <a:defRPr sz="2000" b="1">
                <a:solidFill>
                  <a:schemeClr val="tx1"/>
                </a:solidFill>
                <a:latin typeface="Arial" panose="020B0604020202020204" pitchFamily="34" charset="0"/>
              </a:defRPr>
            </a:lvl5pPr>
            <a:lvl6pPr marL="2514600" indent="-228600" defTabSz="909638" eaLnBrk="0" fontAlgn="base" hangingPunct="0">
              <a:spcBef>
                <a:spcPct val="0"/>
              </a:spcBef>
              <a:spcAft>
                <a:spcPct val="0"/>
              </a:spcAft>
              <a:defRPr sz="2000" b="1">
                <a:solidFill>
                  <a:schemeClr val="tx1"/>
                </a:solidFill>
                <a:latin typeface="Arial" panose="020B0604020202020204" pitchFamily="34" charset="0"/>
              </a:defRPr>
            </a:lvl6pPr>
            <a:lvl7pPr marL="2971800" indent="-228600" defTabSz="909638" eaLnBrk="0" fontAlgn="base" hangingPunct="0">
              <a:spcBef>
                <a:spcPct val="0"/>
              </a:spcBef>
              <a:spcAft>
                <a:spcPct val="0"/>
              </a:spcAft>
              <a:defRPr sz="2000" b="1">
                <a:solidFill>
                  <a:schemeClr val="tx1"/>
                </a:solidFill>
                <a:latin typeface="Arial" panose="020B0604020202020204" pitchFamily="34" charset="0"/>
              </a:defRPr>
            </a:lvl7pPr>
            <a:lvl8pPr marL="3429000" indent="-228600" defTabSz="909638" eaLnBrk="0" fontAlgn="base" hangingPunct="0">
              <a:spcBef>
                <a:spcPct val="0"/>
              </a:spcBef>
              <a:spcAft>
                <a:spcPct val="0"/>
              </a:spcAft>
              <a:defRPr sz="2000" b="1">
                <a:solidFill>
                  <a:schemeClr val="tx1"/>
                </a:solidFill>
                <a:latin typeface="Arial" panose="020B0604020202020204" pitchFamily="34" charset="0"/>
              </a:defRPr>
            </a:lvl8pPr>
            <a:lvl9pPr marL="3886200" indent="-228600" defTabSz="909638" eaLnBrk="0" fontAlgn="base" hangingPunct="0">
              <a:spcBef>
                <a:spcPct val="0"/>
              </a:spcBef>
              <a:spcAft>
                <a:spcPct val="0"/>
              </a:spcAft>
              <a:defRPr sz="2000" b="1">
                <a:solidFill>
                  <a:schemeClr val="tx1"/>
                </a:solidFill>
                <a:latin typeface="Arial" panose="020B0604020202020204" pitchFamily="34" charset="0"/>
              </a:defRPr>
            </a:lvl9pPr>
          </a:lstStyle>
          <a:p>
            <a:pPr algn="r"/>
            <a:r>
              <a:rPr lang="en-US" altLang="en-MX" sz="1200" b="0">
                <a:latin typeface="Times New Roman" panose="02020603050405020304" pitchFamily="18" charset="0"/>
              </a:rPr>
              <a:t>10</a:t>
            </a:r>
          </a:p>
        </p:txBody>
      </p:sp>
      <p:sp>
        <p:nvSpPr>
          <p:cNvPr id="51205" name="Rectangle 4">
            <a:extLst>
              <a:ext uri="{FF2B5EF4-FFF2-40B4-BE49-F238E27FC236}">
                <a16:creationId xmlns:a16="http://schemas.microsoft.com/office/drawing/2014/main" id="{1647D473-0F3D-9D46-BF0C-4839A2CB8D0F}"/>
              </a:ext>
            </a:extLst>
          </p:cNvPr>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51206" name="Rectangle 5">
            <a:extLst>
              <a:ext uri="{FF2B5EF4-FFF2-40B4-BE49-F238E27FC236}">
                <a16:creationId xmlns:a16="http://schemas.microsoft.com/office/drawing/2014/main" id="{78D0ED13-16B1-2A49-82F2-0437D40A308B}"/>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51207" name="Rectangle 6">
            <a:extLst>
              <a:ext uri="{FF2B5EF4-FFF2-40B4-BE49-F238E27FC236}">
                <a16:creationId xmlns:a16="http://schemas.microsoft.com/office/drawing/2014/main" id="{A575CD96-E888-6342-9159-26E91544A9F9}"/>
              </a:ext>
            </a:extLst>
          </p:cNvPr>
          <p:cNvSpPr>
            <a:spLocks noGrp="1" noRot="1" noChangeAspect="1" noChangeArrowheads="1" noTextEdit="1"/>
          </p:cNvSpPr>
          <p:nvPr>
            <p:ph type="sldImg"/>
          </p:nvPr>
        </p:nvSpPr>
        <p:spPr>
          <a:xfrm>
            <a:off x="406400" y="679450"/>
            <a:ext cx="6046788" cy="3402013"/>
          </a:xfrm>
          <a:ln w="12700" cap="flat"/>
        </p:spPr>
      </p:sp>
      <p:sp>
        <p:nvSpPr>
          <p:cNvPr id="51208" name="Rectangle 7">
            <a:extLst>
              <a:ext uri="{FF2B5EF4-FFF2-40B4-BE49-F238E27FC236}">
                <a16:creationId xmlns:a16="http://schemas.microsoft.com/office/drawing/2014/main" id="{CDA94B82-FC7E-114C-9D1F-3454737AF02A}"/>
              </a:ext>
            </a:extLst>
          </p:cNvPr>
          <p:cNvSpPr>
            <a:spLocks noGrp="1" noChangeArrowheads="1"/>
          </p:cNvSpPr>
          <p:nvPr>
            <p:ph type="body" idx="1"/>
          </p:nvPr>
        </p:nvSpPr>
        <p:spPr>
          <a:xfrm>
            <a:off x="914400" y="4306888"/>
            <a:ext cx="5029200" cy="41576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31" tIns="45817" rIns="91631" bIns="45817"/>
          <a:lstStyle/>
          <a:p>
            <a:pPr>
              <a:spcBef>
                <a:spcPct val="0"/>
              </a:spcBef>
            </a:pPr>
            <a:r>
              <a:rPr lang="en-US" altLang="en-MX"/>
              <a:t>H2 Best we can do is 280</a:t>
            </a:r>
          </a:p>
        </p:txBody>
      </p:sp>
    </p:spTree>
    <p:extLst>
      <p:ext uri="{BB962C8B-B14F-4D97-AF65-F5344CB8AC3E}">
        <p14:creationId xmlns:p14="http://schemas.microsoft.com/office/powerpoint/2010/main" val="253429178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BDF56452-7CC6-EE44-9FCD-6CC6416889C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fld id="{30927FBA-3DD6-484F-A060-A3A9CA91F8C8}" type="slidenum">
              <a:rPr lang="en-US" altLang="en-MX" sz="1200" b="0">
                <a:latin typeface="Times New Roman" panose="02020603050405020304" pitchFamily="18" charset="0"/>
              </a:rPr>
              <a:pPr/>
              <a:t>142</a:t>
            </a:fld>
            <a:endParaRPr lang="en-US" altLang="en-MX" sz="1200" b="0">
              <a:latin typeface="Times New Roman" panose="02020603050405020304" pitchFamily="18" charset="0"/>
            </a:endParaRPr>
          </a:p>
        </p:txBody>
      </p:sp>
      <p:sp>
        <p:nvSpPr>
          <p:cNvPr id="52227" name="Rectangle 2">
            <a:extLst>
              <a:ext uri="{FF2B5EF4-FFF2-40B4-BE49-F238E27FC236}">
                <a16:creationId xmlns:a16="http://schemas.microsoft.com/office/drawing/2014/main" id="{DF87C1E4-E78C-954F-97EC-B7CB4EC0930D}"/>
              </a:ext>
            </a:extLst>
          </p:cNvPr>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52228" name="Rectangle 3">
            <a:extLst>
              <a:ext uri="{FF2B5EF4-FFF2-40B4-BE49-F238E27FC236}">
                <a16:creationId xmlns:a16="http://schemas.microsoft.com/office/drawing/2014/main" id="{D1D17D40-668F-F944-A0DC-C3C6E21196DA}"/>
              </a:ext>
            </a:extLst>
          </p:cNvPr>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6" tIns="46034" rIns="92066" bIns="46034" anchor="b"/>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r"/>
            <a:r>
              <a:rPr lang="en-US" altLang="en-MX" sz="1200" b="0">
                <a:latin typeface="Times New Roman" panose="02020603050405020304" pitchFamily="18" charset="0"/>
              </a:rPr>
              <a:t>10</a:t>
            </a:r>
          </a:p>
        </p:txBody>
      </p:sp>
      <p:sp>
        <p:nvSpPr>
          <p:cNvPr id="52229" name="Rectangle 4">
            <a:extLst>
              <a:ext uri="{FF2B5EF4-FFF2-40B4-BE49-F238E27FC236}">
                <a16:creationId xmlns:a16="http://schemas.microsoft.com/office/drawing/2014/main" id="{16393C70-6839-5E46-98D3-207F9844D819}"/>
              </a:ext>
            </a:extLst>
          </p:cNvPr>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52230" name="Rectangle 5">
            <a:extLst>
              <a:ext uri="{FF2B5EF4-FFF2-40B4-BE49-F238E27FC236}">
                <a16:creationId xmlns:a16="http://schemas.microsoft.com/office/drawing/2014/main" id="{62684D66-E056-7147-A441-903AF630AEC7}"/>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52231" name="Rectangle 6">
            <a:extLst>
              <a:ext uri="{FF2B5EF4-FFF2-40B4-BE49-F238E27FC236}">
                <a16:creationId xmlns:a16="http://schemas.microsoft.com/office/drawing/2014/main" id="{8714AC56-7FAC-2E48-9C38-3DC4EC2BE4EA}"/>
              </a:ext>
            </a:extLst>
          </p:cNvPr>
          <p:cNvSpPr>
            <a:spLocks noGrp="1" noRot="1" noChangeAspect="1" noChangeArrowheads="1" noTextEdit="1"/>
          </p:cNvSpPr>
          <p:nvPr>
            <p:ph type="sldImg"/>
          </p:nvPr>
        </p:nvSpPr>
        <p:spPr>
          <a:xfrm>
            <a:off x="406400" y="679450"/>
            <a:ext cx="6046788" cy="3402013"/>
          </a:xfrm>
          <a:ln w="12700" cap="flat"/>
        </p:spPr>
      </p:sp>
      <p:sp>
        <p:nvSpPr>
          <p:cNvPr id="52232" name="Rectangle 7">
            <a:extLst>
              <a:ext uri="{FF2B5EF4-FFF2-40B4-BE49-F238E27FC236}">
                <a16:creationId xmlns:a16="http://schemas.microsoft.com/office/drawing/2014/main" id="{3F39BC59-8EB9-324C-9D81-55FC6F08CD96}"/>
              </a:ext>
            </a:extLst>
          </p:cNvPr>
          <p:cNvSpPr>
            <a:spLocks noGrp="1" noChangeArrowheads="1"/>
          </p:cNvSpPr>
          <p:nvPr>
            <p:ph type="body" idx="1"/>
          </p:nvPr>
        </p:nvSpPr>
        <p:spPr>
          <a:xfrm>
            <a:off x="914400" y="4306888"/>
            <a:ext cx="5029200" cy="41576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6" tIns="46034" rIns="92066" bIns="46034"/>
          <a:lstStyle/>
          <a:p>
            <a:pPr defTabSz="966788">
              <a:spcBef>
                <a:spcPct val="0"/>
              </a:spcBef>
            </a:pPr>
            <a:r>
              <a:rPr lang="en-US" altLang="en-MX" sz="2500"/>
              <a:t>Threshold was 0.9 without the H program. So our best option is to use H2</a:t>
            </a:r>
          </a:p>
        </p:txBody>
      </p:sp>
    </p:spTree>
    <p:extLst>
      <p:ext uri="{BB962C8B-B14F-4D97-AF65-F5344CB8AC3E}">
        <p14:creationId xmlns:p14="http://schemas.microsoft.com/office/powerpoint/2010/main" val="331990042"/>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26C0FD87-A728-CB42-80C7-C99CF1F0387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fld id="{5B662D63-820D-844C-AEBC-629C80BBD85A}" type="slidenum">
              <a:rPr lang="en-US" altLang="en-MX" sz="1200" b="0">
                <a:latin typeface="Times New Roman" panose="02020603050405020304" pitchFamily="18" charset="0"/>
              </a:rPr>
              <a:pPr/>
              <a:t>143</a:t>
            </a:fld>
            <a:endParaRPr lang="en-US" altLang="en-MX" sz="1200" b="0">
              <a:latin typeface="Times New Roman" panose="02020603050405020304" pitchFamily="18" charset="0"/>
            </a:endParaRPr>
          </a:p>
        </p:txBody>
      </p:sp>
      <p:sp>
        <p:nvSpPr>
          <p:cNvPr id="53251" name="Rectangle 2">
            <a:extLst>
              <a:ext uri="{FF2B5EF4-FFF2-40B4-BE49-F238E27FC236}">
                <a16:creationId xmlns:a16="http://schemas.microsoft.com/office/drawing/2014/main" id="{F9FE2FC3-7172-1D4E-9A67-A6A76CD8DD0A}"/>
              </a:ext>
            </a:extLst>
          </p:cNvPr>
          <p:cNvSpPr>
            <a:spLocks noGrp="1" noRot="1" noChangeAspect="1" noChangeArrowheads="1" noTextEdit="1"/>
          </p:cNvSpPr>
          <p:nvPr>
            <p:ph type="sldImg"/>
          </p:nvPr>
        </p:nvSpPr>
        <p:spPr>
          <a:xfrm>
            <a:off x="382588" y="685800"/>
            <a:ext cx="6096000" cy="3429000"/>
          </a:xfrm>
          <a:ln/>
        </p:spPr>
      </p:sp>
      <p:sp>
        <p:nvSpPr>
          <p:cNvPr id="53252" name="Rectangle 3">
            <a:extLst>
              <a:ext uri="{FF2B5EF4-FFF2-40B4-BE49-F238E27FC236}">
                <a16:creationId xmlns:a16="http://schemas.microsoft.com/office/drawing/2014/main" id="{31BDC47E-5EFF-F34F-8801-A54ED698BEB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MX" dirty="0">
                <a:cs typeface="Times New Roman" panose="02020603050405020304" pitchFamily="18" charset="0"/>
              </a:rPr>
              <a:t>The cost-effectiveness of moving from one screening strategy to a more costly alternative is represented by the difference in cost divided by the difference in life expectancy associated with the two strategies.  Strategies lying on the efficiency curve dominate those lying to the left of the curve because they are more effective, and either cost less or have a more attractive cost-effectiveness ratio, than the next best strategy.  An incremental cost-effectiveness ratio is calculated for each nondominated strategy. What do the slopes represent? The slope of the line connecting the two screening strategies under comparison is the incremental CE ratio; this slope will be flatter when the net gain in life expectancy per dollar is greater. (Realize when the efficiency curve is plotted with cost on the x axis the slope will be steeper when the net gain in LE per dollar is greater and the inverse of the slope is the CE ratio)</a:t>
            </a:r>
            <a:r>
              <a:rPr lang="en-US" altLang="en-MX" dirty="0"/>
              <a:t> </a:t>
            </a:r>
          </a:p>
          <a:p>
            <a:endParaRPr lang="en-US" altLang="en-MX" dirty="0"/>
          </a:p>
          <a:p>
            <a:r>
              <a:rPr lang="en-US" altLang="en-MX" dirty="0"/>
              <a:t>Slopes represent incremental cost-effectiveness ratios</a:t>
            </a:r>
          </a:p>
          <a:p>
            <a:r>
              <a:rPr lang="en-US" altLang="en-MX" dirty="0"/>
              <a:t>South (low cost) and East (high benefit) is desirable – Efficient Frontier</a:t>
            </a:r>
          </a:p>
          <a:p>
            <a:r>
              <a:rPr lang="en-US" altLang="en-MX" dirty="0"/>
              <a:t>Points to the left of the curve are dominated</a:t>
            </a:r>
          </a:p>
          <a:p>
            <a:r>
              <a:rPr lang="en-US" altLang="en-MX" dirty="0"/>
              <a:t>Strong dominance: H5 costs more than H2 but delivers less benefit</a:t>
            </a:r>
          </a:p>
          <a:p>
            <a:r>
              <a:rPr lang="en-US" altLang="en-MX" dirty="0"/>
              <a:t>Weak dominance: Combination of H2 and H1 delivers greater benefit than H3 at the same cost</a:t>
            </a:r>
          </a:p>
          <a:p>
            <a:endParaRPr lang="en-US" altLang="en-MX" dirty="0"/>
          </a:p>
        </p:txBody>
      </p:sp>
    </p:spTree>
    <p:extLst>
      <p:ext uri="{BB962C8B-B14F-4D97-AF65-F5344CB8AC3E}">
        <p14:creationId xmlns:p14="http://schemas.microsoft.com/office/powerpoint/2010/main" val="2983429125"/>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6664DEE3-2B45-A644-9CBE-C6C4D86BF22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fld id="{024F2F7C-4D9E-E74C-A69C-48477669CA2E}" type="slidenum">
              <a:rPr lang="en-US" altLang="en-MX" sz="1200" b="0">
                <a:latin typeface="Times New Roman" panose="02020603050405020304" pitchFamily="18" charset="0"/>
              </a:rPr>
              <a:pPr/>
              <a:t>144</a:t>
            </a:fld>
            <a:endParaRPr lang="en-US" altLang="en-MX" sz="1200" b="0">
              <a:latin typeface="Times New Roman" panose="02020603050405020304" pitchFamily="18" charset="0"/>
            </a:endParaRPr>
          </a:p>
        </p:txBody>
      </p:sp>
      <p:sp>
        <p:nvSpPr>
          <p:cNvPr id="54275" name="Rectangle 2">
            <a:extLst>
              <a:ext uri="{FF2B5EF4-FFF2-40B4-BE49-F238E27FC236}">
                <a16:creationId xmlns:a16="http://schemas.microsoft.com/office/drawing/2014/main" id="{ED7CCDCA-A43C-D94B-8FA6-D132D7CFD9EE}"/>
              </a:ext>
            </a:extLst>
          </p:cNvPr>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54276" name="Rectangle 3">
            <a:extLst>
              <a:ext uri="{FF2B5EF4-FFF2-40B4-BE49-F238E27FC236}">
                <a16:creationId xmlns:a16="http://schemas.microsoft.com/office/drawing/2014/main" id="{2912C090-5E34-394A-9607-79569A8FF6CB}"/>
              </a:ext>
            </a:extLst>
          </p:cNvPr>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6" tIns="46034" rIns="92066" bIns="46034" anchor="b"/>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r"/>
            <a:r>
              <a:rPr lang="en-US" altLang="en-MX" sz="1200" b="0">
                <a:latin typeface="Times New Roman" panose="02020603050405020304" pitchFamily="18" charset="0"/>
              </a:rPr>
              <a:t>10</a:t>
            </a:r>
          </a:p>
        </p:txBody>
      </p:sp>
      <p:sp>
        <p:nvSpPr>
          <p:cNvPr id="54277" name="Rectangle 4">
            <a:extLst>
              <a:ext uri="{FF2B5EF4-FFF2-40B4-BE49-F238E27FC236}">
                <a16:creationId xmlns:a16="http://schemas.microsoft.com/office/drawing/2014/main" id="{7EB831D5-D2B8-3A40-A334-CE2B2BCD73E3}"/>
              </a:ext>
            </a:extLst>
          </p:cNvPr>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54278" name="Rectangle 5">
            <a:extLst>
              <a:ext uri="{FF2B5EF4-FFF2-40B4-BE49-F238E27FC236}">
                <a16:creationId xmlns:a16="http://schemas.microsoft.com/office/drawing/2014/main" id="{AEBCE563-20D7-EC4A-8942-19BAF014FEC0}"/>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54279" name="Rectangle 6">
            <a:extLst>
              <a:ext uri="{FF2B5EF4-FFF2-40B4-BE49-F238E27FC236}">
                <a16:creationId xmlns:a16="http://schemas.microsoft.com/office/drawing/2014/main" id="{8830993F-70B1-8D45-AE7E-CE76518395E4}"/>
              </a:ext>
            </a:extLst>
          </p:cNvPr>
          <p:cNvSpPr>
            <a:spLocks noGrp="1" noRot="1" noChangeAspect="1" noChangeArrowheads="1" noTextEdit="1"/>
          </p:cNvSpPr>
          <p:nvPr>
            <p:ph type="sldImg"/>
          </p:nvPr>
        </p:nvSpPr>
        <p:spPr>
          <a:xfrm>
            <a:off x="406400" y="679450"/>
            <a:ext cx="6046788" cy="3402013"/>
          </a:xfrm>
          <a:ln w="12700" cap="flat"/>
        </p:spPr>
      </p:sp>
      <p:sp>
        <p:nvSpPr>
          <p:cNvPr id="54280" name="Rectangle 7">
            <a:extLst>
              <a:ext uri="{FF2B5EF4-FFF2-40B4-BE49-F238E27FC236}">
                <a16:creationId xmlns:a16="http://schemas.microsoft.com/office/drawing/2014/main" id="{8473BF0C-A2AE-2E4C-BD23-32AFE27D28CC}"/>
              </a:ext>
            </a:extLst>
          </p:cNvPr>
          <p:cNvSpPr>
            <a:spLocks noGrp="1" noChangeArrowheads="1"/>
          </p:cNvSpPr>
          <p:nvPr>
            <p:ph type="body" idx="1"/>
          </p:nvPr>
        </p:nvSpPr>
        <p:spPr>
          <a:xfrm>
            <a:off x="914400" y="4306888"/>
            <a:ext cx="5029200" cy="41576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6" tIns="46034" rIns="92066" bIns="46034"/>
          <a:lstStyle/>
          <a:p>
            <a:pPr defTabSz="966788">
              <a:spcBef>
                <a:spcPct val="0"/>
              </a:spcBef>
            </a:pPr>
            <a:endParaRPr lang="en-MX" altLang="en-MX" sz="2500"/>
          </a:p>
        </p:txBody>
      </p:sp>
    </p:spTree>
    <p:extLst>
      <p:ext uri="{BB962C8B-B14F-4D97-AF65-F5344CB8AC3E}">
        <p14:creationId xmlns:p14="http://schemas.microsoft.com/office/powerpoint/2010/main" val="2488755155"/>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F1D1AD04-6561-4B43-AFFE-508DCD8EC96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fld id="{895A60CB-08DE-8543-B765-28FEED9D6F03}" type="slidenum">
              <a:rPr lang="en-US" altLang="en-MX" sz="1200" b="0">
                <a:latin typeface="Times New Roman" panose="02020603050405020304" pitchFamily="18" charset="0"/>
              </a:rPr>
              <a:pPr/>
              <a:t>145</a:t>
            </a:fld>
            <a:endParaRPr lang="en-US" altLang="en-MX" sz="1200" b="0">
              <a:latin typeface="Times New Roman" panose="02020603050405020304" pitchFamily="18" charset="0"/>
            </a:endParaRPr>
          </a:p>
        </p:txBody>
      </p:sp>
      <p:sp>
        <p:nvSpPr>
          <p:cNvPr id="55299" name="Rectangle 2">
            <a:extLst>
              <a:ext uri="{FF2B5EF4-FFF2-40B4-BE49-F238E27FC236}">
                <a16:creationId xmlns:a16="http://schemas.microsoft.com/office/drawing/2014/main" id="{3CAAD833-AEA4-7743-8295-C34B8B2933C1}"/>
              </a:ext>
            </a:extLst>
          </p:cNvPr>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55300" name="Rectangle 3">
            <a:extLst>
              <a:ext uri="{FF2B5EF4-FFF2-40B4-BE49-F238E27FC236}">
                <a16:creationId xmlns:a16="http://schemas.microsoft.com/office/drawing/2014/main" id="{F501F98C-6186-9C48-87BC-0CBBDBDBF0D6}"/>
              </a:ext>
            </a:extLst>
          </p:cNvPr>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6" tIns="46034" rIns="92066" bIns="46034" anchor="b"/>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r"/>
            <a:r>
              <a:rPr lang="en-US" altLang="en-MX" sz="1200" b="0">
                <a:latin typeface="Times New Roman" panose="02020603050405020304" pitchFamily="18" charset="0"/>
              </a:rPr>
              <a:t>10</a:t>
            </a:r>
          </a:p>
        </p:txBody>
      </p:sp>
      <p:sp>
        <p:nvSpPr>
          <p:cNvPr id="55301" name="Rectangle 4">
            <a:extLst>
              <a:ext uri="{FF2B5EF4-FFF2-40B4-BE49-F238E27FC236}">
                <a16:creationId xmlns:a16="http://schemas.microsoft.com/office/drawing/2014/main" id="{755C19DE-3D71-714A-B2DC-9E8E8B52DF40}"/>
              </a:ext>
            </a:extLst>
          </p:cNvPr>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55302" name="Rectangle 5">
            <a:extLst>
              <a:ext uri="{FF2B5EF4-FFF2-40B4-BE49-F238E27FC236}">
                <a16:creationId xmlns:a16="http://schemas.microsoft.com/office/drawing/2014/main" id="{12D5C715-7EB3-CD44-9856-55EEDABC5527}"/>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55303" name="Rectangle 6">
            <a:extLst>
              <a:ext uri="{FF2B5EF4-FFF2-40B4-BE49-F238E27FC236}">
                <a16:creationId xmlns:a16="http://schemas.microsoft.com/office/drawing/2014/main" id="{79433814-CEF9-B74C-93B2-168171DD105B}"/>
              </a:ext>
            </a:extLst>
          </p:cNvPr>
          <p:cNvSpPr>
            <a:spLocks noGrp="1" noRot="1" noChangeAspect="1" noChangeArrowheads="1" noTextEdit="1"/>
          </p:cNvSpPr>
          <p:nvPr>
            <p:ph type="sldImg"/>
          </p:nvPr>
        </p:nvSpPr>
        <p:spPr>
          <a:xfrm>
            <a:off x="406400" y="679450"/>
            <a:ext cx="6046788" cy="3402013"/>
          </a:xfrm>
          <a:ln w="12700" cap="flat"/>
        </p:spPr>
      </p:sp>
      <p:sp>
        <p:nvSpPr>
          <p:cNvPr id="55304" name="Rectangle 7">
            <a:extLst>
              <a:ext uri="{FF2B5EF4-FFF2-40B4-BE49-F238E27FC236}">
                <a16:creationId xmlns:a16="http://schemas.microsoft.com/office/drawing/2014/main" id="{84C36BEF-A3F1-A044-835F-CB7E408A430B}"/>
              </a:ext>
            </a:extLst>
          </p:cNvPr>
          <p:cNvSpPr>
            <a:spLocks noGrp="1" noChangeArrowheads="1"/>
          </p:cNvSpPr>
          <p:nvPr>
            <p:ph type="body" idx="1"/>
          </p:nvPr>
        </p:nvSpPr>
        <p:spPr>
          <a:xfrm>
            <a:off x="914400" y="4306888"/>
            <a:ext cx="5029200" cy="41576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6" tIns="46034" rIns="92066" bIns="46034"/>
          <a:lstStyle/>
          <a:p>
            <a:pPr defTabSz="966788">
              <a:spcBef>
                <a:spcPct val="0"/>
              </a:spcBef>
            </a:pPr>
            <a:endParaRPr lang="en-MX" altLang="en-MX" sz="2500"/>
          </a:p>
        </p:txBody>
      </p:sp>
    </p:spTree>
    <p:extLst>
      <p:ext uri="{BB962C8B-B14F-4D97-AF65-F5344CB8AC3E}">
        <p14:creationId xmlns:p14="http://schemas.microsoft.com/office/powerpoint/2010/main" val="3752160648"/>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A5373D0F-BD7E-C74C-A866-A50597FDA7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fld id="{32359260-708E-6B45-A6E5-3CD1C75BF1C6}" type="slidenum">
              <a:rPr lang="en-US" altLang="en-MX" sz="1200" b="0">
                <a:latin typeface="Times New Roman" panose="02020603050405020304" pitchFamily="18" charset="0"/>
              </a:rPr>
              <a:pPr/>
              <a:t>146</a:t>
            </a:fld>
            <a:endParaRPr lang="en-US" altLang="en-MX" sz="1200" b="0">
              <a:latin typeface="Times New Roman" panose="02020603050405020304" pitchFamily="18" charset="0"/>
            </a:endParaRPr>
          </a:p>
        </p:txBody>
      </p:sp>
      <p:sp>
        <p:nvSpPr>
          <p:cNvPr id="56323" name="Rectangle 2">
            <a:extLst>
              <a:ext uri="{FF2B5EF4-FFF2-40B4-BE49-F238E27FC236}">
                <a16:creationId xmlns:a16="http://schemas.microsoft.com/office/drawing/2014/main" id="{6C929B3B-2714-5743-B95D-5BE02C2590DB}"/>
              </a:ext>
            </a:extLst>
          </p:cNvPr>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56324" name="Rectangle 3">
            <a:extLst>
              <a:ext uri="{FF2B5EF4-FFF2-40B4-BE49-F238E27FC236}">
                <a16:creationId xmlns:a16="http://schemas.microsoft.com/office/drawing/2014/main" id="{F8CF685C-F4AB-444D-885E-83EA5A47618B}"/>
              </a:ext>
            </a:extLst>
          </p:cNvPr>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6" tIns="46034" rIns="92066" bIns="46034" anchor="b"/>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r"/>
            <a:r>
              <a:rPr lang="en-US" altLang="en-MX" sz="1200" b="0">
                <a:latin typeface="Times New Roman" panose="02020603050405020304" pitchFamily="18" charset="0"/>
              </a:rPr>
              <a:t>10</a:t>
            </a:r>
          </a:p>
        </p:txBody>
      </p:sp>
      <p:sp>
        <p:nvSpPr>
          <p:cNvPr id="56325" name="Rectangle 4">
            <a:extLst>
              <a:ext uri="{FF2B5EF4-FFF2-40B4-BE49-F238E27FC236}">
                <a16:creationId xmlns:a16="http://schemas.microsoft.com/office/drawing/2014/main" id="{DEC3E354-45F1-0043-88D4-DF44BD6E0EE8}"/>
              </a:ext>
            </a:extLst>
          </p:cNvPr>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56326" name="Rectangle 5">
            <a:extLst>
              <a:ext uri="{FF2B5EF4-FFF2-40B4-BE49-F238E27FC236}">
                <a16:creationId xmlns:a16="http://schemas.microsoft.com/office/drawing/2014/main" id="{F9C72474-1797-5141-8A2E-DC519798AD32}"/>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56327" name="Rectangle 6">
            <a:extLst>
              <a:ext uri="{FF2B5EF4-FFF2-40B4-BE49-F238E27FC236}">
                <a16:creationId xmlns:a16="http://schemas.microsoft.com/office/drawing/2014/main" id="{92736402-9E56-A14C-BBC6-05277326BD94}"/>
              </a:ext>
            </a:extLst>
          </p:cNvPr>
          <p:cNvSpPr>
            <a:spLocks noGrp="1" noRot="1" noChangeAspect="1" noChangeArrowheads="1" noTextEdit="1"/>
          </p:cNvSpPr>
          <p:nvPr>
            <p:ph type="sldImg"/>
          </p:nvPr>
        </p:nvSpPr>
        <p:spPr>
          <a:xfrm>
            <a:off x="406400" y="679450"/>
            <a:ext cx="6046788" cy="3402013"/>
          </a:xfrm>
          <a:ln w="12700" cap="flat"/>
        </p:spPr>
      </p:sp>
      <p:sp>
        <p:nvSpPr>
          <p:cNvPr id="56328" name="Rectangle 7">
            <a:extLst>
              <a:ext uri="{FF2B5EF4-FFF2-40B4-BE49-F238E27FC236}">
                <a16:creationId xmlns:a16="http://schemas.microsoft.com/office/drawing/2014/main" id="{6C76BCFB-2777-B646-AD11-4C2E4D2E434B}"/>
              </a:ext>
            </a:extLst>
          </p:cNvPr>
          <p:cNvSpPr>
            <a:spLocks noGrp="1" noChangeArrowheads="1"/>
          </p:cNvSpPr>
          <p:nvPr>
            <p:ph type="body" idx="1"/>
          </p:nvPr>
        </p:nvSpPr>
        <p:spPr>
          <a:xfrm>
            <a:off x="914400" y="4306888"/>
            <a:ext cx="5029200" cy="41576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6" tIns="46034" rIns="92066" bIns="46034"/>
          <a:lstStyle/>
          <a:p>
            <a:pPr defTabSz="966788">
              <a:spcBef>
                <a:spcPct val="0"/>
              </a:spcBef>
            </a:pPr>
            <a:endParaRPr lang="en-MX" altLang="en-MX" sz="2500"/>
          </a:p>
        </p:txBody>
      </p:sp>
    </p:spTree>
    <p:extLst>
      <p:ext uri="{BB962C8B-B14F-4D97-AF65-F5344CB8AC3E}">
        <p14:creationId xmlns:p14="http://schemas.microsoft.com/office/powerpoint/2010/main" val="1916241287"/>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B1860CDA-C4FA-C04B-8FF8-86B2A44E6D8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fld id="{AA3B4ED8-C80A-644B-B22C-7A4757C98EED}" type="slidenum">
              <a:rPr lang="en-US" altLang="en-MX" sz="1200" b="0">
                <a:latin typeface="Times New Roman" panose="02020603050405020304" pitchFamily="18" charset="0"/>
              </a:rPr>
              <a:pPr/>
              <a:t>147</a:t>
            </a:fld>
            <a:endParaRPr lang="en-US" altLang="en-MX" sz="1200" b="0">
              <a:latin typeface="Times New Roman" panose="02020603050405020304" pitchFamily="18" charset="0"/>
            </a:endParaRPr>
          </a:p>
        </p:txBody>
      </p:sp>
      <p:sp>
        <p:nvSpPr>
          <p:cNvPr id="57347" name="Rectangle 2">
            <a:extLst>
              <a:ext uri="{FF2B5EF4-FFF2-40B4-BE49-F238E27FC236}">
                <a16:creationId xmlns:a16="http://schemas.microsoft.com/office/drawing/2014/main" id="{D5E80D63-5878-3540-80FF-9763010916B4}"/>
              </a:ext>
            </a:extLst>
          </p:cNvPr>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57348" name="Rectangle 3">
            <a:extLst>
              <a:ext uri="{FF2B5EF4-FFF2-40B4-BE49-F238E27FC236}">
                <a16:creationId xmlns:a16="http://schemas.microsoft.com/office/drawing/2014/main" id="{C9DD7CF7-BEF1-D642-B100-5AE065E1A550}"/>
              </a:ext>
            </a:extLst>
          </p:cNvPr>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6" tIns="46034" rIns="92066" bIns="46034" anchor="b"/>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r"/>
            <a:r>
              <a:rPr lang="en-US" altLang="en-MX" sz="1200" b="0">
                <a:latin typeface="Times New Roman" panose="02020603050405020304" pitchFamily="18" charset="0"/>
              </a:rPr>
              <a:t>10</a:t>
            </a:r>
          </a:p>
        </p:txBody>
      </p:sp>
      <p:sp>
        <p:nvSpPr>
          <p:cNvPr id="57349" name="Rectangle 4">
            <a:extLst>
              <a:ext uri="{FF2B5EF4-FFF2-40B4-BE49-F238E27FC236}">
                <a16:creationId xmlns:a16="http://schemas.microsoft.com/office/drawing/2014/main" id="{450E6D7E-869D-E54B-AFDA-AC46934C69E7}"/>
              </a:ext>
            </a:extLst>
          </p:cNvPr>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57350" name="Rectangle 5">
            <a:extLst>
              <a:ext uri="{FF2B5EF4-FFF2-40B4-BE49-F238E27FC236}">
                <a16:creationId xmlns:a16="http://schemas.microsoft.com/office/drawing/2014/main" id="{88E2FD99-E6A9-B649-9A0F-CD8C1F2ABAA3}"/>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57351" name="Rectangle 6">
            <a:extLst>
              <a:ext uri="{FF2B5EF4-FFF2-40B4-BE49-F238E27FC236}">
                <a16:creationId xmlns:a16="http://schemas.microsoft.com/office/drawing/2014/main" id="{7287A5EE-FFDA-2243-8FF4-19922A3ACDD8}"/>
              </a:ext>
            </a:extLst>
          </p:cNvPr>
          <p:cNvSpPr>
            <a:spLocks noGrp="1" noRot="1" noChangeAspect="1" noChangeArrowheads="1" noTextEdit="1"/>
          </p:cNvSpPr>
          <p:nvPr>
            <p:ph type="sldImg"/>
          </p:nvPr>
        </p:nvSpPr>
        <p:spPr>
          <a:xfrm>
            <a:off x="406400" y="679450"/>
            <a:ext cx="6046788" cy="3402013"/>
          </a:xfrm>
          <a:ln w="12700" cap="flat"/>
        </p:spPr>
      </p:sp>
      <p:sp>
        <p:nvSpPr>
          <p:cNvPr id="57352" name="Rectangle 7">
            <a:extLst>
              <a:ext uri="{FF2B5EF4-FFF2-40B4-BE49-F238E27FC236}">
                <a16:creationId xmlns:a16="http://schemas.microsoft.com/office/drawing/2014/main" id="{EA2DA0B9-997B-494C-B841-4748AEE854A0}"/>
              </a:ext>
            </a:extLst>
          </p:cNvPr>
          <p:cNvSpPr>
            <a:spLocks noGrp="1" noChangeArrowheads="1"/>
          </p:cNvSpPr>
          <p:nvPr>
            <p:ph type="body" idx="1"/>
          </p:nvPr>
        </p:nvSpPr>
        <p:spPr>
          <a:xfrm>
            <a:off x="914400" y="4306888"/>
            <a:ext cx="5029200" cy="41576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6" tIns="46034" rIns="92066" bIns="46034"/>
          <a:lstStyle/>
          <a:p>
            <a:pPr defTabSz="966788">
              <a:spcBef>
                <a:spcPct val="0"/>
              </a:spcBef>
            </a:pPr>
            <a:endParaRPr lang="en-MX" altLang="en-MX" sz="2500"/>
          </a:p>
        </p:txBody>
      </p:sp>
    </p:spTree>
    <p:extLst>
      <p:ext uri="{BB962C8B-B14F-4D97-AF65-F5344CB8AC3E}">
        <p14:creationId xmlns:p14="http://schemas.microsoft.com/office/powerpoint/2010/main" val="3746223820"/>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FA6B5B57-DC8F-F54C-92D7-A9763596EC9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fld id="{AB37A5F2-B291-6947-9377-B3ADF482D6FE}" type="slidenum">
              <a:rPr lang="en-US" altLang="en-MX" sz="1200" b="0">
                <a:latin typeface="Times New Roman" panose="02020603050405020304" pitchFamily="18" charset="0"/>
              </a:rPr>
              <a:pPr/>
              <a:t>149</a:t>
            </a:fld>
            <a:endParaRPr lang="en-US" altLang="en-MX" sz="1200" b="0">
              <a:latin typeface="Times New Roman" panose="02020603050405020304" pitchFamily="18" charset="0"/>
            </a:endParaRPr>
          </a:p>
        </p:txBody>
      </p:sp>
      <p:sp>
        <p:nvSpPr>
          <p:cNvPr id="58371" name="Rectangle 2">
            <a:extLst>
              <a:ext uri="{FF2B5EF4-FFF2-40B4-BE49-F238E27FC236}">
                <a16:creationId xmlns:a16="http://schemas.microsoft.com/office/drawing/2014/main" id="{93F07F2B-80CB-7845-8106-AFA955DAF6C5}"/>
              </a:ext>
            </a:extLst>
          </p:cNvPr>
          <p:cNvSpPr>
            <a:spLocks noGrp="1" noRot="1" noChangeAspect="1" noChangeArrowheads="1" noTextEdit="1"/>
          </p:cNvSpPr>
          <p:nvPr>
            <p:ph type="sldImg"/>
          </p:nvPr>
        </p:nvSpPr>
        <p:spPr>
          <a:xfrm>
            <a:off x="382588" y="685800"/>
            <a:ext cx="6096000" cy="3429000"/>
          </a:xfrm>
          <a:ln/>
        </p:spPr>
      </p:sp>
      <p:sp>
        <p:nvSpPr>
          <p:cNvPr id="58372" name="Rectangle 3">
            <a:extLst>
              <a:ext uri="{FF2B5EF4-FFF2-40B4-BE49-F238E27FC236}">
                <a16:creationId xmlns:a16="http://schemas.microsoft.com/office/drawing/2014/main" id="{8F42073F-87D4-AD43-8B87-CF77F086592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MX"/>
              <a:t>“Marginal Return”: Equivalent to the slope of the line that defines the efficient frontier as it approaches the intervention</a:t>
            </a:r>
          </a:p>
          <a:p>
            <a:endParaRPr lang="en-US" altLang="en-MX"/>
          </a:p>
        </p:txBody>
      </p:sp>
    </p:spTree>
    <p:extLst>
      <p:ext uri="{BB962C8B-B14F-4D97-AF65-F5344CB8AC3E}">
        <p14:creationId xmlns:p14="http://schemas.microsoft.com/office/powerpoint/2010/main" val="2481178384"/>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EC8BC53E-2CE4-2945-B6A3-6CD8AB8505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fld id="{BF57944F-B970-BE4C-8D63-C9FFB1BAC9A8}" type="slidenum">
              <a:rPr lang="en-US" altLang="en-MX" sz="1200" b="0">
                <a:latin typeface="Times New Roman" panose="02020603050405020304" pitchFamily="18" charset="0"/>
              </a:rPr>
              <a:pPr/>
              <a:t>156</a:t>
            </a:fld>
            <a:endParaRPr lang="en-US" altLang="en-MX" sz="1200" b="0">
              <a:latin typeface="Times New Roman" panose="02020603050405020304" pitchFamily="18" charset="0"/>
            </a:endParaRPr>
          </a:p>
        </p:txBody>
      </p:sp>
      <p:sp>
        <p:nvSpPr>
          <p:cNvPr id="59395" name="Rectangle 2">
            <a:extLst>
              <a:ext uri="{FF2B5EF4-FFF2-40B4-BE49-F238E27FC236}">
                <a16:creationId xmlns:a16="http://schemas.microsoft.com/office/drawing/2014/main" id="{18A5D6E7-36F5-8143-B40E-598CE3914C10}"/>
              </a:ext>
            </a:extLst>
          </p:cNvPr>
          <p:cNvSpPr>
            <a:spLocks noGrp="1" noRot="1" noChangeAspect="1" noChangeArrowheads="1" noTextEdit="1"/>
          </p:cNvSpPr>
          <p:nvPr>
            <p:ph type="sldImg"/>
          </p:nvPr>
        </p:nvSpPr>
        <p:spPr>
          <a:xfrm>
            <a:off x="382588" y="685800"/>
            <a:ext cx="6096000" cy="3429000"/>
          </a:xfrm>
          <a:ln/>
        </p:spPr>
      </p:sp>
      <p:sp>
        <p:nvSpPr>
          <p:cNvPr id="59396" name="Rectangle 3">
            <a:extLst>
              <a:ext uri="{FF2B5EF4-FFF2-40B4-BE49-F238E27FC236}">
                <a16:creationId xmlns:a16="http://schemas.microsoft.com/office/drawing/2014/main" id="{FCEF508F-53CF-3D43-A9ED-A16ADDE015D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MX" sz="1400"/>
              <a:t>Y+,  no treatment 		0.80</a:t>
            </a:r>
          </a:p>
          <a:p>
            <a:r>
              <a:rPr lang="en-US" altLang="en-MX" sz="1400"/>
              <a:t>Y+,  treatment		0.90</a:t>
            </a:r>
          </a:p>
          <a:p>
            <a:r>
              <a:rPr lang="en-US" altLang="en-MX" sz="1400"/>
              <a:t>Y-,  no treatment		1.00</a:t>
            </a:r>
          </a:p>
          <a:p>
            <a:r>
              <a:rPr lang="en-US" altLang="en-MX" sz="1400"/>
              <a:t>Y-,  treatment		0.99</a:t>
            </a:r>
          </a:p>
        </p:txBody>
      </p:sp>
    </p:spTree>
    <p:extLst>
      <p:ext uri="{BB962C8B-B14F-4D97-AF65-F5344CB8AC3E}">
        <p14:creationId xmlns:p14="http://schemas.microsoft.com/office/powerpoint/2010/main" val="239552786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AFA7845D-776E-4748-89B7-88492A1FD7D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fld id="{AC96B2F7-CF39-2D4F-AD83-A9B09DE4D81F}" type="slidenum">
              <a:rPr lang="en-US" altLang="en-MX" sz="1200" b="0">
                <a:latin typeface="Times New Roman" panose="02020603050405020304" pitchFamily="18" charset="0"/>
              </a:rPr>
              <a:pPr/>
              <a:t>157</a:t>
            </a:fld>
            <a:endParaRPr lang="en-US" altLang="en-MX" sz="1200" b="0">
              <a:latin typeface="Times New Roman" panose="02020603050405020304" pitchFamily="18" charset="0"/>
            </a:endParaRPr>
          </a:p>
        </p:txBody>
      </p:sp>
      <p:sp>
        <p:nvSpPr>
          <p:cNvPr id="60419" name="Rectangle 2">
            <a:extLst>
              <a:ext uri="{FF2B5EF4-FFF2-40B4-BE49-F238E27FC236}">
                <a16:creationId xmlns:a16="http://schemas.microsoft.com/office/drawing/2014/main" id="{AD3A6713-237E-1040-A865-B69073971FB3}"/>
              </a:ext>
            </a:extLst>
          </p:cNvPr>
          <p:cNvSpPr>
            <a:spLocks noGrp="1" noRot="1" noChangeAspect="1" noChangeArrowheads="1" noTextEdit="1"/>
          </p:cNvSpPr>
          <p:nvPr>
            <p:ph type="sldImg"/>
          </p:nvPr>
        </p:nvSpPr>
        <p:spPr>
          <a:xfrm>
            <a:off x="382588" y="685800"/>
            <a:ext cx="6096000" cy="3429000"/>
          </a:xfrm>
          <a:ln/>
        </p:spPr>
      </p:sp>
      <p:sp>
        <p:nvSpPr>
          <p:cNvPr id="60420" name="Rectangle 3">
            <a:extLst>
              <a:ext uri="{FF2B5EF4-FFF2-40B4-BE49-F238E27FC236}">
                <a16:creationId xmlns:a16="http://schemas.microsoft.com/office/drawing/2014/main" id="{D130BD2B-B53C-864E-B6F8-E677E1808F7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MX" sz="1400" i="1"/>
              <a:t>Variable		Cost</a:t>
            </a:r>
          </a:p>
          <a:p>
            <a:r>
              <a:rPr lang="en-US" altLang="en-MX" sz="1400"/>
              <a:t>No treatment	$0</a:t>
            </a:r>
          </a:p>
          <a:p>
            <a:r>
              <a:rPr lang="en-US" altLang="en-MX" sz="1400"/>
              <a:t>Treatment		$20,000</a:t>
            </a:r>
          </a:p>
          <a:p>
            <a:r>
              <a:rPr lang="en-US" altLang="en-MX" sz="1400"/>
              <a:t>Test 1		$20</a:t>
            </a:r>
          </a:p>
          <a:p>
            <a:r>
              <a:rPr lang="en-US" altLang="en-MX" sz="1400"/>
              <a:t>Test 2		$1,000</a:t>
            </a:r>
          </a:p>
          <a:p>
            <a:endParaRPr lang="en-US" altLang="en-MX" sz="1400"/>
          </a:p>
          <a:p>
            <a:r>
              <a:rPr lang="en-US" altLang="en-MX" sz="1400" i="1"/>
              <a:t>Test	Sensitivity	Specificity</a:t>
            </a:r>
          </a:p>
          <a:p>
            <a:r>
              <a:rPr lang="en-US" altLang="en-MX" sz="1400"/>
              <a:t>Test 1	.90		.95	</a:t>
            </a:r>
          </a:p>
          <a:p>
            <a:r>
              <a:rPr lang="en-US" altLang="en-MX" sz="1400"/>
              <a:t>Test 2	1.0		1.0</a:t>
            </a:r>
          </a:p>
        </p:txBody>
      </p:sp>
    </p:spTree>
    <p:extLst>
      <p:ext uri="{BB962C8B-B14F-4D97-AF65-F5344CB8AC3E}">
        <p14:creationId xmlns:p14="http://schemas.microsoft.com/office/powerpoint/2010/main" val="4127525368"/>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ABD6EC94-B8E6-9046-B632-733E58E7DF8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fld id="{8AC56033-AC76-AD40-8BE0-B748E1037C0A}" type="slidenum">
              <a:rPr lang="en-US" altLang="en-MX" sz="1200" b="0">
                <a:latin typeface="Times New Roman" panose="02020603050405020304" pitchFamily="18" charset="0"/>
              </a:rPr>
              <a:pPr/>
              <a:t>158</a:t>
            </a:fld>
            <a:endParaRPr lang="en-US" altLang="en-MX" sz="1200" b="0">
              <a:latin typeface="Times New Roman" panose="02020603050405020304" pitchFamily="18" charset="0"/>
            </a:endParaRPr>
          </a:p>
        </p:txBody>
      </p:sp>
      <p:sp>
        <p:nvSpPr>
          <p:cNvPr id="61443" name="Rectangle 2">
            <a:extLst>
              <a:ext uri="{FF2B5EF4-FFF2-40B4-BE49-F238E27FC236}">
                <a16:creationId xmlns:a16="http://schemas.microsoft.com/office/drawing/2014/main" id="{26E284CE-FFCB-4A43-BF32-DD1485CA3B90}"/>
              </a:ext>
            </a:extLst>
          </p:cNvPr>
          <p:cNvSpPr>
            <a:spLocks noGrp="1" noRot="1" noChangeAspect="1" noChangeArrowheads="1" noTextEdit="1"/>
          </p:cNvSpPr>
          <p:nvPr>
            <p:ph type="sldImg"/>
          </p:nvPr>
        </p:nvSpPr>
        <p:spPr>
          <a:xfrm>
            <a:off x="382588" y="685800"/>
            <a:ext cx="6096000" cy="3429000"/>
          </a:xfrm>
          <a:ln/>
        </p:spPr>
      </p:sp>
      <p:sp>
        <p:nvSpPr>
          <p:cNvPr id="61444" name="Rectangle 3">
            <a:extLst>
              <a:ext uri="{FF2B5EF4-FFF2-40B4-BE49-F238E27FC236}">
                <a16:creationId xmlns:a16="http://schemas.microsoft.com/office/drawing/2014/main" id="{8CC415D8-5FB5-7444-993F-DF1174E9657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MX" altLang="en-MX"/>
          </a:p>
        </p:txBody>
      </p:sp>
    </p:spTree>
    <p:extLst>
      <p:ext uri="{BB962C8B-B14F-4D97-AF65-F5344CB8AC3E}">
        <p14:creationId xmlns:p14="http://schemas.microsoft.com/office/powerpoint/2010/main" val="2156243443"/>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CDAE0F86-EAC0-A94A-AB90-92ED0F4CE48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fld id="{EFE50C5A-3D8F-3E41-B794-27B09D7E74BE}" type="slidenum">
              <a:rPr lang="en-US" altLang="en-MX" sz="1200" b="0">
                <a:latin typeface="Times New Roman" panose="02020603050405020304" pitchFamily="18" charset="0"/>
              </a:rPr>
              <a:pPr/>
              <a:t>159</a:t>
            </a:fld>
            <a:endParaRPr lang="en-US" altLang="en-MX" sz="1200" b="0">
              <a:latin typeface="Times New Roman" panose="02020603050405020304" pitchFamily="18" charset="0"/>
            </a:endParaRPr>
          </a:p>
        </p:txBody>
      </p:sp>
      <p:sp>
        <p:nvSpPr>
          <p:cNvPr id="62467" name="Rectangle 2">
            <a:extLst>
              <a:ext uri="{FF2B5EF4-FFF2-40B4-BE49-F238E27FC236}">
                <a16:creationId xmlns:a16="http://schemas.microsoft.com/office/drawing/2014/main" id="{9C59A749-9622-9F45-9A10-EE01C9043A3A}"/>
              </a:ext>
            </a:extLst>
          </p:cNvPr>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62468" name="Rectangle 3">
            <a:extLst>
              <a:ext uri="{FF2B5EF4-FFF2-40B4-BE49-F238E27FC236}">
                <a16:creationId xmlns:a16="http://schemas.microsoft.com/office/drawing/2014/main" id="{3A2351FE-8340-F54E-84BC-769ABA950E11}"/>
              </a:ext>
            </a:extLst>
          </p:cNvPr>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6" tIns="46034" rIns="92066" bIns="46034" anchor="b"/>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r"/>
            <a:r>
              <a:rPr lang="en-US" altLang="en-MX" sz="1200" b="0">
                <a:latin typeface="Times New Roman" panose="02020603050405020304" pitchFamily="18" charset="0"/>
              </a:rPr>
              <a:t>10</a:t>
            </a:r>
          </a:p>
        </p:txBody>
      </p:sp>
      <p:sp>
        <p:nvSpPr>
          <p:cNvPr id="62469" name="Rectangle 4">
            <a:extLst>
              <a:ext uri="{FF2B5EF4-FFF2-40B4-BE49-F238E27FC236}">
                <a16:creationId xmlns:a16="http://schemas.microsoft.com/office/drawing/2014/main" id="{82614103-2454-4545-9E30-07079ADC3550}"/>
              </a:ext>
            </a:extLst>
          </p:cNvPr>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62470" name="Rectangle 5">
            <a:extLst>
              <a:ext uri="{FF2B5EF4-FFF2-40B4-BE49-F238E27FC236}">
                <a16:creationId xmlns:a16="http://schemas.microsoft.com/office/drawing/2014/main" id="{CF05BC23-1BB6-654C-A645-A61B42C78B80}"/>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62471" name="Rectangle 6">
            <a:extLst>
              <a:ext uri="{FF2B5EF4-FFF2-40B4-BE49-F238E27FC236}">
                <a16:creationId xmlns:a16="http://schemas.microsoft.com/office/drawing/2014/main" id="{D9EDA756-D579-AB47-AA18-F31B6C41DB87}"/>
              </a:ext>
            </a:extLst>
          </p:cNvPr>
          <p:cNvSpPr>
            <a:spLocks noGrp="1" noRot="1" noChangeAspect="1" noChangeArrowheads="1" noTextEdit="1"/>
          </p:cNvSpPr>
          <p:nvPr>
            <p:ph type="sldImg"/>
          </p:nvPr>
        </p:nvSpPr>
        <p:spPr>
          <a:xfrm>
            <a:off x="406400" y="679450"/>
            <a:ext cx="6046788" cy="3402013"/>
          </a:xfrm>
          <a:ln w="12700" cap="flat"/>
        </p:spPr>
      </p:sp>
      <p:sp>
        <p:nvSpPr>
          <p:cNvPr id="62472" name="Rectangle 7">
            <a:extLst>
              <a:ext uri="{FF2B5EF4-FFF2-40B4-BE49-F238E27FC236}">
                <a16:creationId xmlns:a16="http://schemas.microsoft.com/office/drawing/2014/main" id="{3C9F0741-C5EE-5E44-92AB-4FF855EFDE4B}"/>
              </a:ext>
            </a:extLst>
          </p:cNvPr>
          <p:cNvSpPr>
            <a:spLocks noGrp="1" noChangeArrowheads="1"/>
          </p:cNvSpPr>
          <p:nvPr>
            <p:ph type="body" idx="1"/>
          </p:nvPr>
        </p:nvSpPr>
        <p:spPr>
          <a:xfrm>
            <a:off x="914400" y="4306888"/>
            <a:ext cx="5029200" cy="41576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6" tIns="46034" rIns="92066" bIns="46034"/>
          <a:lstStyle/>
          <a:p>
            <a:pPr marL="966788" lvl="2" defTabSz="966788">
              <a:spcBef>
                <a:spcPct val="20000"/>
              </a:spcBef>
            </a:pPr>
            <a:r>
              <a:rPr lang="en-US" altLang="en-MX" sz="1300" u="sng"/>
              <a:t>Strategy	Cost ($)	Effect		Delta Cost	 Delta Effect	  CE Ratio</a:t>
            </a:r>
            <a:r>
              <a:rPr lang="en-US" altLang="en-MX" sz="1300"/>
              <a:t>	</a:t>
            </a:r>
          </a:p>
          <a:p>
            <a:pPr defTabSz="966788">
              <a:spcBef>
                <a:spcPct val="20000"/>
              </a:spcBef>
            </a:pPr>
            <a:r>
              <a:rPr lang="en-US" altLang="en-MX" sz="1300"/>
              <a:t>	No Treat	0		.998			</a:t>
            </a:r>
          </a:p>
          <a:p>
            <a:pPr defTabSz="966788">
              <a:spcBef>
                <a:spcPct val="20000"/>
              </a:spcBef>
            </a:pPr>
            <a:r>
              <a:rPr lang="en-US" altLang="en-MX" sz="1300"/>
              <a:t>	Test 1	1,190		.9984		1190		.0004		  2.975 M per LS</a:t>
            </a:r>
          </a:p>
          <a:p>
            <a:pPr defTabSz="966788">
              <a:spcBef>
                <a:spcPct val="20000"/>
              </a:spcBef>
            </a:pPr>
            <a:r>
              <a:rPr lang="en-US" altLang="en-MX" sz="1300"/>
              <a:t>	Treat		20,000	.9891			</a:t>
            </a:r>
          </a:p>
          <a:p>
            <a:pPr defTabSz="966788">
              <a:spcBef>
                <a:spcPct val="20000"/>
              </a:spcBef>
            </a:pPr>
            <a:r>
              <a:rPr lang="en-US" altLang="en-MX" sz="1300"/>
              <a:t>					</a:t>
            </a:r>
          </a:p>
        </p:txBody>
      </p:sp>
    </p:spTree>
    <p:extLst>
      <p:ext uri="{BB962C8B-B14F-4D97-AF65-F5344CB8AC3E}">
        <p14:creationId xmlns:p14="http://schemas.microsoft.com/office/powerpoint/2010/main" val="750347858"/>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6DD98CA2-C800-464B-97C4-86A14DE6660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fld id="{7EB15752-DC4E-0D4B-AB95-8E2D7203E7EA}" type="slidenum">
              <a:rPr lang="en-US" altLang="en-MX" sz="1200" b="0">
                <a:latin typeface="Times New Roman" panose="02020603050405020304" pitchFamily="18" charset="0"/>
              </a:rPr>
              <a:pPr/>
              <a:t>160</a:t>
            </a:fld>
            <a:endParaRPr lang="en-US" altLang="en-MX" sz="1200" b="0">
              <a:latin typeface="Times New Roman" panose="02020603050405020304" pitchFamily="18" charset="0"/>
            </a:endParaRPr>
          </a:p>
        </p:txBody>
      </p:sp>
      <p:sp>
        <p:nvSpPr>
          <p:cNvPr id="63491" name="Rectangle 2">
            <a:extLst>
              <a:ext uri="{FF2B5EF4-FFF2-40B4-BE49-F238E27FC236}">
                <a16:creationId xmlns:a16="http://schemas.microsoft.com/office/drawing/2014/main" id="{FCFB5C4D-951C-6543-AAD1-CB4DFF3FCBBD}"/>
              </a:ext>
            </a:extLst>
          </p:cNvPr>
          <p:cNvSpPr>
            <a:spLocks noGrp="1" noRot="1" noChangeAspect="1" noChangeArrowheads="1" noTextEdit="1"/>
          </p:cNvSpPr>
          <p:nvPr>
            <p:ph type="sldImg"/>
          </p:nvPr>
        </p:nvSpPr>
        <p:spPr>
          <a:xfrm>
            <a:off x="382588" y="685800"/>
            <a:ext cx="6096000" cy="3429000"/>
          </a:xfrm>
          <a:ln/>
        </p:spPr>
      </p:sp>
      <p:sp>
        <p:nvSpPr>
          <p:cNvPr id="63492" name="Rectangle 3">
            <a:extLst>
              <a:ext uri="{FF2B5EF4-FFF2-40B4-BE49-F238E27FC236}">
                <a16:creationId xmlns:a16="http://schemas.microsoft.com/office/drawing/2014/main" id="{5B86806F-F6CC-284E-BB33-67B0CA9F588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MX" altLang="en-MX"/>
          </a:p>
        </p:txBody>
      </p:sp>
    </p:spTree>
    <p:extLst>
      <p:ext uri="{BB962C8B-B14F-4D97-AF65-F5344CB8AC3E}">
        <p14:creationId xmlns:p14="http://schemas.microsoft.com/office/powerpoint/2010/main" val="3417890124"/>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163340F9-E248-BB43-83B0-9E28353AEA8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fld id="{37F6ADD1-0B11-E34B-975D-1008CBC150BD}" type="slidenum">
              <a:rPr lang="en-US" altLang="en-MX" sz="1200" b="0">
                <a:latin typeface="Times New Roman" panose="02020603050405020304" pitchFamily="18" charset="0"/>
              </a:rPr>
              <a:pPr/>
              <a:t>162</a:t>
            </a:fld>
            <a:endParaRPr lang="en-US" altLang="en-MX" sz="1200" b="0">
              <a:latin typeface="Times New Roman" panose="02020603050405020304" pitchFamily="18" charset="0"/>
            </a:endParaRPr>
          </a:p>
        </p:txBody>
      </p:sp>
      <p:sp>
        <p:nvSpPr>
          <p:cNvPr id="64515" name="Rectangle 2">
            <a:extLst>
              <a:ext uri="{FF2B5EF4-FFF2-40B4-BE49-F238E27FC236}">
                <a16:creationId xmlns:a16="http://schemas.microsoft.com/office/drawing/2014/main" id="{32D66605-314C-D849-A6F3-0410FD1B4D14}"/>
              </a:ext>
            </a:extLst>
          </p:cNvPr>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64516" name="Rectangle 3">
            <a:extLst>
              <a:ext uri="{FF2B5EF4-FFF2-40B4-BE49-F238E27FC236}">
                <a16:creationId xmlns:a16="http://schemas.microsoft.com/office/drawing/2014/main" id="{4216E166-B3DC-2A49-B168-A291D525B365}"/>
              </a:ext>
            </a:extLst>
          </p:cNvPr>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6" tIns="46034" rIns="92066" bIns="46034" anchor="b"/>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r"/>
            <a:r>
              <a:rPr lang="en-US" altLang="en-MX" sz="1200" b="0">
                <a:latin typeface="Times New Roman" panose="02020603050405020304" pitchFamily="18" charset="0"/>
              </a:rPr>
              <a:t>10</a:t>
            </a:r>
          </a:p>
        </p:txBody>
      </p:sp>
      <p:sp>
        <p:nvSpPr>
          <p:cNvPr id="64517" name="Rectangle 4">
            <a:extLst>
              <a:ext uri="{FF2B5EF4-FFF2-40B4-BE49-F238E27FC236}">
                <a16:creationId xmlns:a16="http://schemas.microsoft.com/office/drawing/2014/main" id="{B8005C20-2122-0942-B1CC-7BF49E8232B1}"/>
              </a:ext>
            </a:extLst>
          </p:cNvPr>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64518" name="Rectangle 5">
            <a:extLst>
              <a:ext uri="{FF2B5EF4-FFF2-40B4-BE49-F238E27FC236}">
                <a16:creationId xmlns:a16="http://schemas.microsoft.com/office/drawing/2014/main" id="{DAB19626-0FB5-B744-BE8F-4C4222EB84C5}"/>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64519" name="Rectangle 6">
            <a:extLst>
              <a:ext uri="{FF2B5EF4-FFF2-40B4-BE49-F238E27FC236}">
                <a16:creationId xmlns:a16="http://schemas.microsoft.com/office/drawing/2014/main" id="{5450A356-C68E-8745-B06C-F14003D641B7}"/>
              </a:ext>
            </a:extLst>
          </p:cNvPr>
          <p:cNvSpPr>
            <a:spLocks noGrp="1" noRot="1" noChangeAspect="1" noChangeArrowheads="1" noTextEdit="1"/>
          </p:cNvSpPr>
          <p:nvPr>
            <p:ph type="sldImg"/>
          </p:nvPr>
        </p:nvSpPr>
        <p:spPr>
          <a:xfrm>
            <a:off x="406400" y="679450"/>
            <a:ext cx="6046788" cy="3402013"/>
          </a:xfrm>
          <a:ln w="12700" cap="flat"/>
        </p:spPr>
      </p:sp>
      <p:sp>
        <p:nvSpPr>
          <p:cNvPr id="64520" name="Rectangle 7">
            <a:extLst>
              <a:ext uri="{FF2B5EF4-FFF2-40B4-BE49-F238E27FC236}">
                <a16:creationId xmlns:a16="http://schemas.microsoft.com/office/drawing/2014/main" id="{316471D1-8F69-484E-A424-1B5D61FA4AEB}"/>
              </a:ext>
            </a:extLst>
          </p:cNvPr>
          <p:cNvSpPr>
            <a:spLocks noGrp="1" noChangeArrowheads="1"/>
          </p:cNvSpPr>
          <p:nvPr>
            <p:ph type="body" idx="1"/>
          </p:nvPr>
        </p:nvSpPr>
        <p:spPr>
          <a:xfrm>
            <a:off x="914400" y="4306888"/>
            <a:ext cx="5029200" cy="41576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6" tIns="46034" rIns="92066" bIns="46034"/>
          <a:lstStyle/>
          <a:p>
            <a:pPr defTabSz="966788">
              <a:spcBef>
                <a:spcPct val="0"/>
              </a:spcBef>
            </a:pPr>
            <a:endParaRPr lang="en-MX" altLang="en-MX" sz="2500"/>
          </a:p>
        </p:txBody>
      </p:sp>
    </p:spTree>
    <p:extLst>
      <p:ext uri="{BB962C8B-B14F-4D97-AF65-F5344CB8AC3E}">
        <p14:creationId xmlns:p14="http://schemas.microsoft.com/office/powerpoint/2010/main" val="12312083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00704-9FC7-8A49-A4A5-7A978825465C}"/>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MX" dirty="0"/>
          </a:p>
        </p:txBody>
      </p:sp>
      <p:sp>
        <p:nvSpPr>
          <p:cNvPr id="3" name="Subtitle 2">
            <a:extLst>
              <a:ext uri="{FF2B5EF4-FFF2-40B4-BE49-F238E27FC236}">
                <a16:creationId xmlns:a16="http://schemas.microsoft.com/office/drawing/2014/main" id="{215BB113-AF21-0E47-A8EB-E3095D15F5B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X"/>
          </a:p>
        </p:txBody>
      </p:sp>
      <p:sp>
        <p:nvSpPr>
          <p:cNvPr id="4" name="Date Placeholder 3">
            <a:extLst>
              <a:ext uri="{FF2B5EF4-FFF2-40B4-BE49-F238E27FC236}">
                <a16:creationId xmlns:a16="http://schemas.microsoft.com/office/drawing/2014/main" id="{DEE0FA13-70C2-2340-95F9-1927DC7CE5A0}"/>
              </a:ext>
            </a:extLst>
          </p:cNvPr>
          <p:cNvSpPr>
            <a:spLocks noGrp="1"/>
          </p:cNvSpPr>
          <p:nvPr>
            <p:ph type="dt" sz="half" idx="10"/>
          </p:nvPr>
        </p:nvSpPr>
        <p:spPr/>
        <p:txBody>
          <a:bodyPr/>
          <a:lstStyle/>
          <a:p>
            <a:fld id="{3FEE7B01-5249-2444-84F6-876844C50715}" type="datetimeFigureOut">
              <a:rPr lang="en-MX" smtClean="0"/>
              <a:t>10/29/25</a:t>
            </a:fld>
            <a:endParaRPr lang="en-MX"/>
          </a:p>
        </p:txBody>
      </p:sp>
      <p:sp>
        <p:nvSpPr>
          <p:cNvPr id="5" name="Footer Placeholder 4">
            <a:extLst>
              <a:ext uri="{FF2B5EF4-FFF2-40B4-BE49-F238E27FC236}">
                <a16:creationId xmlns:a16="http://schemas.microsoft.com/office/drawing/2014/main" id="{430A59D7-6978-7A43-85AA-A0DB03962301}"/>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AC939578-B193-8D4A-ADD8-D950002255D5}"/>
              </a:ext>
            </a:extLst>
          </p:cNvPr>
          <p:cNvSpPr>
            <a:spLocks noGrp="1"/>
          </p:cNvSpPr>
          <p:nvPr>
            <p:ph type="sldNum" sz="quarter" idx="12"/>
          </p:nvPr>
        </p:nvSpPr>
        <p:spPr/>
        <p:txBody>
          <a:bodyPr/>
          <a:lstStyle/>
          <a:p>
            <a:fld id="{58F84426-94D3-F942-9F7D-C35C0C290897}" type="slidenum">
              <a:rPr lang="en-MX" smtClean="0"/>
              <a:t>‹#›</a:t>
            </a:fld>
            <a:endParaRPr lang="en-MX"/>
          </a:p>
        </p:txBody>
      </p:sp>
    </p:spTree>
    <p:extLst>
      <p:ext uri="{BB962C8B-B14F-4D97-AF65-F5344CB8AC3E}">
        <p14:creationId xmlns:p14="http://schemas.microsoft.com/office/powerpoint/2010/main" val="14148403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3CAA6-6EDC-1D40-90F6-1298DBDB91FE}"/>
              </a:ext>
            </a:extLst>
          </p:cNvPr>
          <p:cNvSpPr>
            <a:spLocks noGrp="1"/>
          </p:cNvSpPr>
          <p:nvPr>
            <p:ph type="title"/>
          </p:nvPr>
        </p:nvSpPr>
        <p:spPr/>
        <p:txBody>
          <a:bodyPr/>
          <a:lstStyle/>
          <a:p>
            <a:r>
              <a:rPr lang="en-US" dirty="0"/>
              <a:t>Click to edit Master title style</a:t>
            </a:r>
            <a:endParaRPr lang="en-MX" dirty="0"/>
          </a:p>
        </p:txBody>
      </p:sp>
      <p:sp>
        <p:nvSpPr>
          <p:cNvPr id="3" name="Content Placeholder 2">
            <a:extLst>
              <a:ext uri="{FF2B5EF4-FFF2-40B4-BE49-F238E27FC236}">
                <a16:creationId xmlns:a16="http://schemas.microsoft.com/office/drawing/2014/main" id="{F37862F3-0266-D74B-9918-63CD8DBC093F}"/>
              </a:ext>
            </a:extLst>
          </p:cNvPr>
          <p:cNvSpPr>
            <a:spLocks noGrp="1"/>
          </p:cNvSpPr>
          <p:nvPr>
            <p:ph idx="1"/>
          </p:nvPr>
        </p:nvSpPr>
        <p:spPr/>
        <p:txBody>
          <a:bodyPr/>
          <a:lstStyle>
            <a:lvl1pPr>
              <a:defRPr sz="3200"/>
            </a:lvl1pPr>
            <a:lvl2pPr>
              <a:defRPr sz="2800"/>
            </a:lvl2pPr>
            <a:lvl3pPr>
              <a:defRPr sz="2400"/>
            </a:lvl3pPr>
            <a:lvl4pPr>
              <a:defRPr sz="22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MX" dirty="0"/>
          </a:p>
        </p:txBody>
      </p:sp>
      <p:sp>
        <p:nvSpPr>
          <p:cNvPr id="4" name="Date Placeholder 3">
            <a:extLst>
              <a:ext uri="{FF2B5EF4-FFF2-40B4-BE49-F238E27FC236}">
                <a16:creationId xmlns:a16="http://schemas.microsoft.com/office/drawing/2014/main" id="{D9655E76-9DD8-EB43-9395-B26657BED27C}"/>
              </a:ext>
            </a:extLst>
          </p:cNvPr>
          <p:cNvSpPr>
            <a:spLocks noGrp="1"/>
          </p:cNvSpPr>
          <p:nvPr>
            <p:ph type="dt" sz="half" idx="10"/>
          </p:nvPr>
        </p:nvSpPr>
        <p:spPr/>
        <p:txBody>
          <a:bodyPr/>
          <a:lstStyle/>
          <a:p>
            <a:fld id="{3FEE7B01-5249-2444-84F6-876844C50715}" type="datetimeFigureOut">
              <a:rPr lang="en-MX" smtClean="0"/>
              <a:t>10/29/25</a:t>
            </a:fld>
            <a:endParaRPr lang="en-MX"/>
          </a:p>
        </p:txBody>
      </p:sp>
      <p:sp>
        <p:nvSpPr>
          <p:cNvPr id="5" name="Footer Placeholder 4">
            <a:extLst>
              <a:ext uri="{FF2B5EF4-FFF2-40B4-BE49-F238E27FC236}">
                <a16:creationId xmlns:a16="http://schemas.microsoft.com/office/drawing/2014/main" id="{5F6031D8-DE70-C642-8E0B-8D0FA18E87EC}"/>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C7D9E0BF-4E07-4C4F-A30C-D3D1BE786B56}"/>
              </a:ext>
            </a:extLst>
          </p:cNvPr>
          <p:cNvSpPr>
            <a:spLocks noGrp="1"/>
          </p:cNvSpPr>
          <p:nvPr>
            <p:ph type="sldNum" sz="quarter" idx="12"/>
          </p:nvPr>
        </p:nvSpPr>
        <p:spPr/>
        <p:txBody>
          <a:bodyPr/>
          <a:lstStyle/>
          <a:p>
            <a:fld id="{58F84426-94D3-F942-9F7D-C35C0C290897}" type="slidenum">
              <a:rPr lang="en-MX" smtClean="0"/>
              <a:t>‹#›</a:t>
            </a:fld>
            <a:endParaRPr lang="en-MX"/>
          </a:p>
        </p:txBody>
      </p:sp>
    </p:spTree>
    <p:extLst>
      <p:ext uri="{BB962C8B-B14F-4D97-AF65-F5344CB8AC3E}">
        <p14:creationId xmlns:p14="http://schemas.microsoft.com/office/powerpoint/2010/main" val="34135863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C2935-C814-3A40-BDC1-B8A0DF4B5EC0}"/>
              </a:ext>
            </a:extLst>
          </p:cNvPr>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endParaRPr lang="en-MX" dirty="0"/>
          </a:p>
        </p:txBody>
      </p:sp>
      <p:sp>
        <p:nvSpPr>
          <p:cNvPr id="3" name="Text Placeholder 2">
            <a:extLst>
              <a:ext uri="{FF2B5EF4-FFF2-40B4-BE49-F238E27FC236}">
                <a16:creationId xmlns:a16="http://schemas.microsoft.com/office/drawing/2014/main" id="{03BA629E-E2AC-A243-8FE9-649BAAFF466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032BC89-149D-CD40-8BCA-AF6FD03C4D47}"/>
              </a:ext>
            </a:extLst>
          </p:cNvPr>
          <p:cNvSpPr>
            <a:spLocks noGrp="1"/>
          </p:cNvSpPr>
          <p:nvPr>
            <p:ph type="dt" sz="half" idx="10"/>
          </p:nvPr>
        </p:nvSpPr>
        <p:spPr/>
        <p:txBody>
          <a:bodyPr/>
          <a:lstStyle/>
          <a:p>
            <a:fld id="{3FEE7B01-5249-2444-84F6-876844C50715}" type="datetimeFigureOut">
              <a:rPr lang="en-MX" smtClean="0"/>
              <a:t>10/29/25</a:t>
            </a:fld>
            <a:endParaRPr lang="en-MX"/>
          </a:p>
        </p:txBody>
      </p:sp>
      <p:sp>
        <p:nvSpPr>
          <p:cNvPr id="5" name="Footer Placeholder 4">
            <a:extLst>
              <a:ext uri="{FF2B5EF4-FFF2-40B4-BE49-F238E27FC236}">
                <a16:creationId xmlns:a16="http://schemas.microsoft.com/office/drawing/2014/main" id="{095E1822-A3D7-EE44-BCE9-1AF09C9716B6}"/>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CB9D22CB-35BD-504C-B289-2264FCEF8762}"/>
              </a:ext>
            </a:extLst>
          </p:cNvPr>
          <p:cNvSpPr>
            <a:spLocks noGrp="1"/>
          </p:cNvSpPr>
          <p:nvPr>
            <p:ph type="sldNum" sz="quarter" idx="12"/>
          </p:nvPr>
        </p:nvSpPr>
        <p:spPr/>
        <p:txBody>
          <a:bodyPr/>
          <a:lstStyle/>
          <a:p>
            <a:fld id="{58F84426-94D3-F942-9F7D-C35C0C290897}" type="slidenum">
              <a:rPr lang="en-MX" smtClean="0"/>
              <a:t>‹#›</a:t>
            </a:fld>
            <a:endParaRPr lang="en-MX"/>
          </a:p>
        </p:txBody>
      </p:sp>
    </p:spTree>
    <p:extLst>
      <p:ext uri="{BB962C8B-B14F-4D97-AF65-F5344CB8AC3E}">
        <p14:creationId xmlns:p14="http://schemas.microsoft.com/office/powerpoint/2010/main" val="1201508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F1126-89C6-E948-A11E-CC58B6C6B4A0}"/>
              </a:ext>
            </a:extLst>
          </p:cNvPr>
          <p:cNvSpPr>
            <a:spLocks noGrp="1"/>
          </p:cNvSpPr>
          <p:nvPr>
            <p:ph type="title"/>
          </p:nvPr>
        </p:nvSpPr>
        <p:spPr/>
        <p:txBody>
          <a:bodyPr/>
          <a:lstStyle/>
          <a:p>
            <a:r>
              <a:rPr lang="en-US"/>
              <a:t>Click to edit Master title style</a:t>
            </a:r>
            <a:endParaRPr lang="en-MX"/>
          </a:p>
        </p:txBody>
      </p:sp>
      <p:sp>
        <p:nvSpPr>
          <p:cNvPr id="3" name="Content Placeholder 2">
            <a:extLst>
              <a:ext uri="{FF2B5EF4-FFF2-40B4-BE49-F238E27FC236}">
                <a16:creationId xmlns:a16="http://schemas.microsoft.com/office/drawing/2014/main" id="{798D7829-7B88-D94D-8756-0D99EC4572A2}"/>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MX" dirty="0"/>
          </a:p>
        </p:txBody>
      </p:sp>
      <p:sp>
        <p:nvSpPr>
          <p:cNvPr id="4" name="Content Placeholder 3">
            <a:extLst>
              <a:ext uri="{FF2B5EF4-FFF2-40B4-BE49-F238E27FC236}">
                <a16:creationId xmlns:a16="http://schemas.microsoft.com/office/drawing/2014/main" id="{977B8A41-8464-C64E-8A80-72DCB48FAD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5" name="Date Placeholder 4">
            <a:extLst>
              <a:ext uri="{FF2B5EF4-FFF2-40B4-BE49-F238E27FC236}">
                <a16:creationId xmlns:a16="http://schemas.microsoft.com/office/drawing/2014/main" id="{9E268970-AF1A-C146-914A-79BB7AEB67B2}"/>
              </a:ext>
            </a:extLst>
          </p:cNvPr>
          <p:cNvSpPr>
            <a:spLocks noGrp="1"/>
          </p:cNvSpPr>
          <p:nvPr>
            <p:ph type="dt" sz="half" idx="10"/>
          </p:nvPr>
        </p:nvSpPr>
        <p:spPr/>
        <p:txBody>
          <a:bodyPr/>
          <a:lstStyle/>
          <a:p>
            <a:fld id="{3FEE7B01-5249-2444-84F6-876844C50715}" type="datetimeFigureOut">
              <a:rPr lang="en-MX" smtClean="0"/>
              <a:t>10/29/25</a:t>
            </a:fld>
            <a:endParaRPr lang="en-MX"/>
          </a:p>
        </p:txBody>
      </p:sp>
      <p:sp>
        <p:nvSpPr>
          <p:cNvPr id="6" name="Footer Placeholder 5">
            <a:extLst>
              <a:ext uri="{FF2B5EF4-FFF2-40B4-BE49-F238E27FC236}">
                <a16:creationId xmlns:a16="http://schemas.microsoft.com/office/drawing/2014/main" id="{27FA375F-497E-544F-9712-34CBA29E8B47}"/>
              </a:ext>
            </a:extLst>
          </p:cNvPr>
          <p:cNvSpPr>
            <a:spLocks noGrp="1"/>
          </p:cNvSpPr>
          <p:nvPr>
            <p:ph type="ftr" sz="quarter" idx="11"/>
          </p:nvPr>
        </p:nvSpPr>
        <p:spPr/>
        <p:txBody>
          <a:bodyPr/>
          <a:lstStyle/>
          <a:p>
            <a:endParaRPr lang="en-MX"/>
          </a:p>
        </p:txBody>
      </p:sp>
      <p:sp>
        <p:nvSpPr>
          <p:cNvPr id="7" name="Slide Number Placeholder 6">
            <a:extLst>
              <a:ext uri="{FF2B5EF4-FFF2-40B4-BE49-F238E27FC236}">
                <a16:creationId xmlns:a16="http://schemas.microsoft.com/office/drawing/2014/main" id="{D4BDF402-01DB-8540-ADC4-CE41A78DF551}"/>
              </a:ext>
            </a:extLst>
          </p:cNvPr>
          <p:cNvSpPr>
            <a:spLocks noGrp="1"/>
          </p:cNvSpPr>
          <p:nvPr>
            <p:ph type="sldNum" sz="quarter" idx="12"/>
          </p:nvPr>
        </p:nvSpPr>
        <p:spPr/>
        <p:txBody>
          <a:bodyPr/>
          <a:lstStyle/>
          <a:p>
            <a:fld id="{58F84426-94D3-F942-9F7D-C35C0C290897}" type="slidenum">
              <a:rPr lang="en-MX" smtClean="0"/>
              <a:t>‹#›</a:t>
            </a:fld>
            <a:endParaRPr lang="en-MX"/>
          </a:p>
        </p:txBody>
      </p:sp>
    </p:spTree>
    <p:extLst>
      <p:ext uri="{BB962C8B-B14F-4D97-AF65-F5344CB8AC3E}">
        <p14:creationId xmlns:p14="http://schemas.microsoft.com/office/powerpoint/2010/main" val="851758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A5F91-5CAD-BB40-9F49-8FAAE8403952}"/>
              </a:ext>
            </a:extLst>
          </p:cNvPr>
          <p:cNvSpPr>
            <a:spLocks noGrp="1"/>
          </p:cNvSpPr>
          <p:nvPr>
            <p:ph type="title"/>
          </p:nvPr>
        </p:nvSpPr>
        <p:spPr>
          <a:xfrm>
            <a:off x="839788" y="365125"/>
            <a:ext cx="10515600" cy="1325563"/>
          </a:xfrm>
        </p:spPr>
        <p:txBody>
          <a:bodyPr/>
          <a:lstStyle/>
          <a:p>
            <a:r>
              <a:rPr lang="en-US"/>
              <a:t>Click to edit Master title style</a:t>
            </a:r>
            <a:endParaRPr lang="en-MX"/>
          </a:p>
        </p:txBody>
      </p:sp>
      <p:sp>
        <p:nvSpPr>
          <p:cNvPr id="3" name="Text Placeholder 2">
            <a:extLst>
              <a:ext uri="{FF2B5EF4-FFF2-40B4-BE49-F238E27FC236}">
                <a16:creationId xmlns:a16="http://schemas.microsoft.com/office/drawing/2014/main" id="{99E81C39-7F67-714B-83C7-657954049E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445AE61-6876-B34D-B2A9-EFED399150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5" name="Text Placeholder 4">
            <a:extLst>
              <a:ext uri="{FF2B5EF4-FFF2-40B4-BE49-F238E27FC236}">
                <a16:creationId xmlns:a16="http://schemas.microsoft.com/office/drawing/2014/main" id="{EB6B547D-73D6-314C-9E91-F4B23FFFC4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E8892BD-DB4A-8B44-9C75-935681D18E6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7" name="Date Placeholder 6">
            <a:extLst>
              <a:ext uri="{FF2B5EF4-FFF2-40B4-BE49-F238E27FC236}">
                <a16:creationId xmlns:a16="http://schemas.microsoft.com/office/drawing/2014/main" id="{DADAC922-7AAB-2047-8A25-7481CABFA716}"/>
              </a:ext>
            </a:extLst>
          </p:cNvPr>
          <p:cNvSpPr>
            <a:spLocks noGrp="1"/>
          </p:cNvSpPr>
          <p:nvPr>
            <p:ph type="dt" sz="half" idx="10"/>
          </p:nvPr>
        </p:nvSpPr>
        <p:spPr/>
        <p:txBody>
          <a:bodyPr/>
          <a:lstStyle/>
          <a:p>
            <a:fld id="{3FEE7B01-5249-2444-84F6-876844C50715}" type="datetimeFigureOut">
              <a:rPr lang="en-MX" smtClean="0"/>
              <a:t>10/29/25</a:t>
            </a:fld>
            <a:endParaRPr lang="en-MX"/>
          </a:p>
        </p:txBody>
      </p:sp>
      <p:sp>
        <p:nvSpPr>
          <p:cNvPr id="8" name="Footer Placeholder 7">
            <a:extLst>
              <a:ext uri="{FF2B5EF4-FFF2-40B4-BE49-F238E27FC236}">
                <a16:creationId xmlns:a16="http://schemas.microsoft.com/office/drawing/2014/main" id="{F66C5A75-55FD-4548-9E96-FB413DF6EDA4}"/>
              </a:ext>
            </a:extLst>
          </p:cNvPr>
          <p:cNvSpPr>
            <a:spLocks noGrp="1"/>
          </p:cNvSpPr>
          <p:nvPr>
            <p:ph type="ftr" sz="quarter" idx="11"/>
          </p:nvPr>
        </p:nvSpPr>
        <p:spPr/>
        <p:txBody>
          <a:bodyPr/>
          <a:lstStyle/>
          <a:p>
            <a:endParaRPr lang="en-MX"/>
          </a:p>
        </p:txBody>
      </p:sp>
      <p:sp>
        <p:nvSpPr>
          <p:cNvPr id="9" name="Slide Number Placeholder 8">
            <a:extLst>
              <a:ext uri="{FF2B5EF4-FFF2-40B4-BE49-F238E27FC236}">
                <a16:creationId xmlns:a16="http://schemas.microsoft.com/office/drawing/2014/main" id="{C8E3A9CC-42D4-7B4B-9C1A-6215BC22641B}"/>
              </a:ext>
            </a:extLst>
          </p:cNvPr>
          <p:cNvSpPr>
            <a:spLocks noGrp="1"/>
          </p:cNvSpPr>
          <p:nvPr>
            <p:ph type="sldNum" sz="quarter" idx="12"/>
          </p:nvPr>
        </p:nvSpPr>
        <p:spPr/>
        <p:txBody>
          <a:bodyPr/>
          <a:lstStyle/>
          <a:p>
            <a:fld id="{58F84426-94D3-F942-9F7D-C35C0C290897}" type="slidenum">
              <a:rPr lang="en-MX" smtClean="0"/>
              <a:t>‹#›</a:t>
            </a:fld>
            <a:endParaRPr lang="en-MX"/>
          </a:p>
        </p:txBody>
      </p:sp>
    </p:spTree>
    <p:extLst>
      <p:ext uri="{BB962C8B-B14F-4D97-AF65-F5344CB8AC3E}">
        <p14:creationId xmlns:p14="http://schemas.microsoft.com/office/powerpoint/2010/main" val="3983153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6589B-CE9D-3E40-B869-2DED7BCBC5BA}"/>
              </a:ext>
            </a:extLst>
          </p:cNvPr>
          <p:cNvSpPr>
            <a:spLocks noGrp="1"/>
          </p:cNvSpPr>
          <p:nvPr>
            <p:ph type="title"/>
          </p:nvPr>
        </p:nvSpPr>
        <p:spPr/>
        <p:txBody>
          <a:bodyPr/>
          <a:lstStyle/>
          <a:p>
            <a:r>
              <a:rPr lang="en-US"/>
              <a:t>Click to edit Master title style</a:t>
            </a:r>
            <a:endParaRPr lang="en-MX"/>
          </a:p>
        </p:txBody>
      </p:sp>
      <p:sp>
        <p:nvSpPr>
          <p:cNvPr id="3" name="Date Placeholder 2">
            <a:extLst>
              <a:ext uri="{FF2B5EF4-FFF2-40B4-BE49-F238E27FC236}">
                <a16:creationId xmlns:a16="http://schemas.microsoft.com/office/drawing/2014/main" id="{4B6CAABF-75D9-7943-8B52-69D2038A3BC5}"/>
              </a:ext>
            </a:extLst>
          </p:cNvPr>
          <p:cNvSpPr>
            <a:spLocks noGrp="1"/>
          </p:cNvSpPr>
          <p:nvPr>
            <p:ph type="dt" sz="half" idx="10"/>
          </p:nvPr>
        </p:nvSpPr>
        <p:spPr/>
        <p:txBody>
          <a:bodyPr/>
          <a:lstStyle/>
          <a:p>
            <a:fld id="{3FEE7B01-5249-2444-84F6-876844C50715}" type="datetimeFigureOut">
              <a:rPr lang="en-MX" smtClean="0"/>
              <a:t>10/29/25</a:t>
            </a:fld>
            <a:endParaRPr lang="en-MX"/>
          </a:p>
        </p:txBody>
      </p:sp>
      <p:sp>
        <p:nvSpPr>
          <p:cNvPr id="4" name="Footer Placeholder 3">
            <a:extLst>
              <a:ext uri="{FF2B5EF4-FFF2-40B4-BE49-F238E27FC236}">
                <a16:creationId xmlns:a16="http://schemas.microsoft.com/office/drawing/2014/main" id="{B96BE464-D0AE-DD4D-9599-C586AA6BCE2C}"/>
              </a:ext>
            </a:extLst>
          </p:cNvPr>
          <p:cNvSpPr>
            <a:spLocks noGrp="1"/>
          </p:cNvSpPr>
          <p:nvPr>
            <p:ph type="ftr" sz="quarter" idx="11"/>
          </p:nvPr>
        </p:nvSpPr>
        <p:spPr/>
        <p:txBody>
          <a:bodyPr/>
          <a:lstStyle/>
          <a:p>
            <a:endParaRPr lang="en-MX"/>
          </a:p>
        </p:txBody>
      </p:sp>
      <p:sp>
        <p:nvSpPr>
          <p:cNvPr id="5" name="Slide Number Placeholder 4">
            <a:extLst>
              <a:ext uri="{FF2B5EF4-FFF2-40B4-BE49-F238E27FC236}">
                <a16:creationId xmlns:a16="http://schemas.microsoft.com/office/drawing/2014/main" id="{89DF8548-7F32-EC49-8A57-EB0BD8B0FD69}"/>
              </a:ext>
            </a:extLst>
          </p:cNvPr>
          <p:cNvSpPr>
            <a:spLocks noGrp="1"/>
          </p:cNvSpPr>
          <p:nvPr>
            <p:ph type="sldNum" sz="quarter" idx="12"/>
          </p:nvPr>
        </p:nvSpPr>
        <p:spPr/>
        <p:txBody>
          <a:bodyPr/>
          <a:lstStyle/>
          <a:p>
            <a:fld id="{58F84426-94D3-F942-9F7D-C35C0C290897}" type="slidenum">
              <a:rPr lang="en-MX" smtClean="0"/>
              <a:t>‹#›</a:t>
            </a:fld>
            <a:endParaRPr lang="en-MX"/>
          </a:p>
        </p:txBody>
      </p:sp>
    </p:spTree>
    <p:extLst>
      <p:ext uri="{BB962C8B-B14F-4D97-AF65-F5344CB8AC3E}">
        <p14:creationId xmlns:p14="http://schemas.microsoft.com/office/powerpoint/2010/main" val="26604106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5B9FC8-8B26-4D46-B974-E361691C168D}"/>
              </a:ext>
            </a:extLst>
          </p:cNvPr>
          <p:cNvSpPr>
            <a:spLocks noGrp="1"/>
          </p:cNvSpPr>
          <p:nvPr>
            <p:ph type="dt" sz="half" idx="10"/>
          </p:nvPr>
        </p:nvSpPr>
        <p:spPr/>
        <p:txBody>
          <a:bodyPr/>
          <a:lstStyle/>
          <a:p>
            <a:fld id="{3FEE7B01-5249-2444-84F6-876844C50715}" type="datetimeFigureOut">
              <a:rPr lang="en-MX" smtClean="0"/>
              <a:t>10/29/25</a:t>
            </a:fld>
            <a:endParaRPr lang="en-MX"/>
          </a:p>
        </p:txBody>
      </p:sp>
      <p:sp>
        <p:nvSpPr>
          <p:cNvPr id="3" name="Footer Placeholder 2">
            <a:extLst>
              <a:ext uri="{FF2B5EF4-FFF2-40B4-BE49-F238E27FC236}">
                <a16:creationId xmlns:a16="http://schemas.microsoft.com/office/drawing/2014/main" id="{88531FA8-9E30-2144-837D-419976A3E216}"/>
              </a:ext>
            </a:extLst>
          </p:cNvPr>
          <p:cNvSpPr>
            <a:spLocks noGrp="1"/>
          </p:cNvSpPr>
          <p:nvPr>
            <p:ph type="ftr" sz="quarter" idx="11"/>
          </p:nvPr>
        </p:nvSpPr>
        <p:spPr/>
        <p:txBody>
          <a:bodyPr/>
          <a:lstStyle/>
          <a:p>
            <a:endParaRPr lang="en-MX"/>
          </a:p>
        </p:txBody>
      </p:sp>
      <p:sp>
        <p:nvSpPr>
          <p:cNvPr id="4" name="Slide Number Placeholder 3">
            <a:extLst>
              <a:ext uri="{FF2B5EF4-FFF2-40B4-BE49-F238E27FC236}">
                <a16:creationId xmlns:a16="http://schemas.microsoft.com/office/drawing/2014/main" id="{60A2FA53-43F0-D14A-8377-62AFE7DF4CD2}"/>
              </a:ext>
            </a:extLst>
          </p:cNvPr>
          <p:cNvSpPr>
            <a:spLocks noGrp="1"/>
          </p:cNvSpPr>
          <p:nvPr>
            <p:ph type="sldNum" sz="quarter" idx="12"/>
          </p:nvPr>
        </p:nvSpPr>
        <p:spPr/>
        <p:txBody>
          <a:bodyPr/>
          <a:lstStyle/>
          <a:p>
            <a:fld id="{58F84426-94D3-F942-9F7D-C35C0C290897}" type="slidenum">
              <a:rPr lang="en-MX" smtClean="0"/>
              <a:t>‹#›</a:t>
            </a:fld>
            <a:endParaRPr lang="en-MX"/>
          </a:p>
        </p:txBody>
      </p:sp>
    </p:spTree>
    <p:extLst>
      <p:ext uri="{BB962C8B-B14F-4D97-AF65-F5344CB8AC3E}">
        <p14:creationId xmlns:p14="http://schemas.microsoft.com/office/powerpoint/2010/main" val="31175231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1D15A-9DC1-3C43-8467-F9E6F65748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X"/>
          </a:p>
        </p:txBody>
      </p:sp>
      <p:sp>
        <p:nvSpPr>
          <p:cNvPr id="3" name="Content Placeholder 2">
            <a:extLst>
              <a:ext uri="{FF2B5EF4-FFF2-40B4-BE49-F238E27FC236}">
                <a16:creationId xmlns:a16="http://schemas.microsoft.com/office/drawing/2014/main" id="{93B93A97-A697-4044-82D7-748722E854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Text Placeholder 3">
            <a:extLst>
              <a:ext uri="{FF2B5EF4-FFF2-40B4-BE49-F238E27FC236}">
                <a16:creationId xmlns:a16="http://schemas.microsoft.com/office/drawing/2014/main" id="{8CC0546A-B557-724A-B4E6-DC6BA9A6AF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C161C5-F688-6B40-8B6E-71E10C7AD41D}"/>
              </a:ext>
            </a:extLst>
          </p:cNvPr>
          <p:cNvSpPr>
            <a:spLocks noGrp="1"/>
          </p:cNvSpPr>
          <p:nvPr>
            <p:ph type="dt" sz="half" idx="10"/>
          </p:nvPr>
        </p:nvSpPr>
        <p:spPr/>
        <p:txBody>
          <a:bodyPr/>
          <a:lstStyle/>
          <a:p>
            <a:fld id="{3FEE7B01-5249-2444-84F6-876844C50715}" type="datetimeFigureOut">
              <a:rPr lang="en-MX" smtClean="0"/>
              <a:t>10/29/25</a:t>
            </a:fld>
            <a:endParaRPr lang="en-MX"/>
          </a:p>
        </p:txBody>
      </p:sp>
      <p:sp>
        <p:nvSpPr>
          <p:cNvPr id="6" name="Footer Placeholder 5">
            <a:extLst>
              <a:ext uri="{FF2B5EF4-FFF2-40B4-BE49-F238E27FC236}">
                <a16:creationId xmlns:a16="http://schemas.microsoft.com/office/drawing/2014/main" id="{29AF9B87-9612-BD4B-8005-F3316561A334}"/>
              </a:ext>
            </a:extLst>
          </p:cNvPr>
          <p:cNvSpPr>
            <a:spLocks noGrp="1"/>
          </p:cNvSpPr>
          <p:nvPr>
            <p:ph type="ftr" sz="quarter" idx="11"/>
          </p:nvPr>
        </p:nvSpPr>
        <p:spPr/>
        <p:txBody>
          <a:bodyPr/>
          <a:lstStyle/>
          <a:p>
            <a:endParaRPr lang="en-MX"/>
          </a:p>
        </p:txBody>
      </p:sp>
      <p:sp>
        <p:nvSpPr>
          <p:cNvPr id="7" name="Slide Number Placeholder 6">
            <a:extLst>
              <a:ext uri="{FF2B5EF4-FFF2-40B4-BE49-F238E27FC236}">
                <a16:creationId xmlns:a16="http://schemas.microsoft.com/office/drawing/2014/main" id="{117CA0C8-898F-0D42-8281-4B67AAA62C14}"/>
              </a:ext>
            </a:extLst>
          </p:cNvPr>
          <p:cNvSpPr>
            <a:spLocks noGrp="1"/>
          </p:cNvSpPr>
          <p:nvPr>
            <p:ph type="sldNum" sz="quarter" idx="12"/>
          </p:nvPr>
        </p:nvSpPr>
        <p:spPr/>
        <p:txBody>
          <a:bodyPr/>
          <a:lstStyle/>
          <a:p>
            <a:fld id="{58F84426-94D3-F942-9F7D-C35C0C290897}" type="slidenum">
              <a:rPr lang="en-MX" smtClean="0"/>
              <a:t>‹#›</a:t>
            </a:fld>
            <a:endParaRPr lang="en-MX"/>
          </a:p>
        </p:txBody>
      </p:sp>
    </p:spTree>
    <p:extLst>
      <p:ext uri="{BB962C8B-B14F-4D97-AF65-F5344CB8AC3E}">
        <p14:creationId xmlns:p14="http://schemas.microsoft.com/office/powerpoint/2010/main" val="9968522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A257E-56C7-244D-9671-5DE62C1DF8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X"/>
          </a:p>
        </p:txBody>
      </p:sp>
      <p:sp>
        <p:nvSpPr>
          <p:cNvPr id="3" name="Picture Placeholder 2">
            <a:extLst>
              <a:ext uri="{FF2B5EF4-FFF2-40B4-BE49-F238E27FC236}">
                <a16:creationId xmlns:a16="http://schemas.microsoft.com/office/drawing/2014/main" id="{FC362F37-42DD-C042-B1A0-7A5650F9C6D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MX"/>
          </a:p>
        </p:txBody>
      </p:sp>
      <p:sp>
        <p:nvSpPr>
          <p:cNvPr id="4" name="Text Placeholder 3">
            <a:extLst>
              <a:ext uri="{FF2B5EF4-FFF2-40B4-BE49-F238E27FC236}">
                <a16:creationId xmlns:a16="http://schemas.microsoft.com/office/drawing/2014/main" id="{94FB50CC-CD53-C949-9735-E0AA29531C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1171F2-B635-354E-83C5-FFE1DB5FCB29}"/>
              </a:ext>
            </a:extLst>
          </p:cNvPr>
          <p:cNvSpPr>
            <a:spLocks noGrp="1"/>
          </p:cNvSpPr>
          <p:nvPr>
            <p:ph type="dt" sz="half" idx="10"/>
          </p:nvPr>
        </p:nvSpPr>
        <p:spPr/>
        <p:txBody>
          <a:bodyPr/>
          <a:lstStyle/>
          <a:p>
            <a:fld id="{3FEE7B01-5249-2444-84F6-876844C50715}" type="datetimeFigureOut">
              <a:rPr lang="en-MX" smtClean="0"/>
              <a:t>10/29/25</a:t>
            </a:fld>
            <a:endParaRPr lang="en-MX"/>
          </a:p>
        </p:txBody>
      </p:sp>
      <p:sp>
        <p:nvSpPr>
          <p:cNvPr id="6" name="Footer Placeholder 5">
            <a:extLst>
              <a:ext uri="{FF2B5EF4-FFF2-40B4-BE49-F238E27FC236}">
                <a16:creationId xmlns:a16="http://schemas.microsoft.com/office/drawing/2014/main" id="{6FD12CC3-DA6D-6A47-A74C-6C9C3B63D907}"/>
              </a:ext>
            </a:extLst>
          </p:cNvPr>
          <p:cNvSpPr>
            <a:spLocks noGrp="1"/>
          </p:cNvSpPr>
          <p:nvPr>
            <p:ph type="ftr" sz="quarter" idx="11"/>
          </p:nvPr>
        </p:nvSpPr>
        <p:spPr/>
        <p:txBody>
          <a:bodyPr/>
          <a:lstStyle/>
          <a:p>
            <a:endParaRPr lang="en-MX"/>
          </a:p>
        </p:txBody>
      </p:sp>
      <p:sp>
        <p:nvSpPr>
          <p:cNvPr id="7" name="Slide Number Placeholder 6">
            <a:extLst>
              <a:ext uri="{FF2B5EF4-FFF2-40B4-BE49-F238E27FC236}">
                <a16:creationId xmlns:a16="http://schemas.microsoft.com/office/drawing/2014/main" id="{7D36A04A-FFA5-424E-AF43-C7C714482676}"/>
              </a:ext>
            </a:extLst>
          </p:cNvPr>
          <p:cNvSpPr>
            <a:spLocks noGrp="1"/>
          </p:cNvSpPr>
          <p:nvPr>
            <p:ph type="sldNum" sz="quarter" idx="12"/>
          </p:nvPr>
        </p:nvSpPr>
        <p:spPr/>
        <p:txBody>
          <a:bodyPr/>
          <a:lstStyle/>
          <a:p>
            <a:fld id="{58F84426-94D3-F942-9F7D-C35C0C290897}" type="slidenum">
              <a:rPr lang="en-MX" smtClean="0"/>
              <a:t>‹#›</a:t>
            </a:fld>
            <a:endParaRPr lang="en-MX"/>
          </a:p>
        </p:txBody>
      </p:sp>
    </p:spTree>
    <p:extLst>
      <p:ext uri="{BB962C8B-B14F-4D97-AF65-F5344CB8AC3E}">
        <p14:creationId xmlns:p14="http://schemas.microsoft.com/office/powerpoint/2010/main" val="3951146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F9D19-4FB4-B840-B3EA-CCF24CC51D38}"/>
              </a:ext>
            </a:extLst>
          </p:cNvPr>
          <p:cNvSpPr>
            <a:spLocks noGrp="1"/>
          </p:cNvSpPr>
          <p:nvPr>
            <p:ph type="title"/>
          </p:nvPr>
        </p:nvSpPr>
        <p:spPr/>
        <p:txBody>
          <a:bodyPr/>
          <a:lstStyle/>
          <a:p>
            <a:r>
              <a:rPr lang="en-US"/>
              <a:t>Click to edit Master title style</a:t>
            </a:r>
            <a:endParaRPr lang="en-MX"/>
          </a:p>
        </p:txBody>
      </p:sp>
      <p:sp>
        <p:nvSpPr>
          <p:cNvPr id="3" name="Vertical Text Placeholder 2">
            <a:extLst>
              <a:ext uri="{FF2B5EF4-FFF2-40B4-BE49-F238E27FC236}">
                <a16:creationId xmlns:a16="http://schemas.microsoft.com/office/drawing/2014/main" id="{7436C37F-B9B0-0642-A2AA-950D46D8351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Date Placeholder 3">
            <a:extLst>
              <a:ext uri="{FF2B5EF4-FFF2-40B4-BE49-F238E27FC236}">
                <a16:creationId xmlns:a16="http://schemas.microsoft.com/office/drawing/2014/main" id="{9F96870C-9D28-7E4E-A561-087B0054C254}"/>
              </a:ext>
            </a:extLst>
          </p:cNvPr>
          <p:cNvSpPr>
            <a:spLocks noGrp="1"/>
          </p:cNvSpPr>
          <p:nvPr>
            <p:ph type="dt" sz="half" idx="10"/>
          </p:nvPr>
        </p:nvSpPr>
        <p:spPr/>
        <p:txBody>
          <a:bodyPr/>
          <a:lstStyle/>
          <a:p>
            <a:fld id="{3FEE7B01-5249-2444-84F6-876844C50715}" type="datetimeFigureOut">
              <a:rPr lang="en-MX" smtClean="0"/>
              <a:t>10/29/25</a:t>
            </a:fld>
            <a:endParaRPr lang="en-MX"/>
          </a:p>
        </p:txBody>
      </p:sp>
      <p:sp>
        <p:nvSpPr>
          <p:cNvPr id="5" name="Footer Placeholder 4">
            <a:extLst>
              <a:ext uri="{FF2B5EF4-FFF2-40B4-BE49-F238E27FC236}">
                <a16:creationId xmlns:a16="http://schemas.microsoft.com/office/drawing/2014/main" id="{B6D098A9-86FF-334B-A5F7-AD173397AE1E}"/>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6E53FB7C-5EE2-BE49-964E-51F1C450B1F7}"/>
              </a:ext>
            </a:extLst>
          </p:cNvPr>
          <p:cNvSpPr>
            <a:spLocks noGrp="1"/>
          </p:cNvSpPr>
          <p:nvPr>
            <p:ph type="sldNum" sz="quarter" idx="12"/>
          </p:nvPr>
        </p:nvSpPr>
        <p:spPr/>
        <p:txBody>
          <a:bodyPr/>
          <a:lstStyle/>
          <a:p>
            <a:fld id="{58F84426-94D3-F942-9F7D-C35C0C290897}" type="slidenum">
              <a:rPr lang="en-MX" smtClean="0"/>
              <a:t>‹#›</a:t>
            </a:fld>
            <a:endParaRPr lang="en-MX"/>
          </a:p>
        </p:txBody>
      </p:sp>
    </p:spTree>
    <p:extLst>
      <p:ext uri="{BB962C8B-B14F-4D97-AF65-F5344CB8AC3E}">
        <p14:creationId xmlns:p14="http://schemas.microsoft.com/office/powerpoint/2010/main" val="26101564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557AF4-EC69-6B4F-8DA5-7BD6D3D85AE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MX"/>
          </a:p>
        </p:txBody>
      </p:sp>
      <p:sp>
        <p:nvSpPr>
          <p:cNvPr id="3" name="Vertical Text Placeholder 2">
            <a:extLst>
              <a:ext uri="{FF2B5EF4-FFF2-40B4-BE49-F238E27FC236}">
                <a16:creationId xmlns:a16="http://schemas.microsoft.com/office/drawing/2014/main" id="{C1BC8B2B-968B-1047-90EA-E167D2A946D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Date Placeholder 3">
            <a:extLst>
              <a:ext uri="{FF2B5EF4-FFF2-40B4-BE49-F238E27FC236}">
                <a16:creationId xmlns:a16="http://schemas.microsoft.com/office/drawing/2014/main" id="{3E5AA360-BFC2-D14D-8B62-1669020E1D80}"/>
              </a:ext>
            </a:extLst>
          </p:cNvPr>
          <p:cNvSpPr>
            <a:spLocks noGrp="1"/>
          </p:cNvSpPr>
          <p:nvPr>
            <p:ph type="dt" sz="half" idx="10"/>
          </p:nvPr>
        </p:nvSpPr>
        <p:spPr/>
        <p:txBody>
          <a:bodyPr/>
          <a:lstStyle/>
          <a:p>
            <a:fld id="{3FEE7B01-5249-2444-84F6-876844C50715}" type="datetimeFigureOut">
              <a:rPr lang="en-MX" smtClean="0"/>
              <a:t>10/29/25</a:t>
            </a:fld>
            <a:endParaRPr lang="en-MX"/>
          </a:p>
        </p:txBody>
      </p:sp>
      <p:sp>
        <p:nvSpPr>
          <p:cNvPr id="5" name="Footer Placeholder 4">
            <a:extLst>
              <a:ext uri="{FF2B5EF4-FFF2-40B4-BE49-F238E27FC236}">
                <a16:creationId xmlns:a16="http://schemas.microsoft.com/office/drawing/2014/main" id="{C2611AB9-E2EF-CD4B-8753-86FF534E08E4}"/>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83725C54-60D4-654F-B374-097636829396}"/>
              </a:ext>
            </a:extLst>
          </p:cNvPr>
          <p:cNvSpPr>
            <a:spLocks noGrp="1"/>
          </p:cNvSpPr>
          <p:nvPr>
            <p:ph type="sldNum" sz="quarter" idx="12"/>
          </p:nvPr>
        </p:nvSpPr>
        <p:spPr/>
        <p:txBody>
          <a:bodyPr/>
          <a:lstStyle/>
          <a:p>
            <a:fld id="{58F84426-94D3-F942-9F7D-C35C0C290897}" type="slidenum">
              <a:rPr lang="en-MX" smtClean="0"/>
              <a:t>‹#›</a:t>
            </a:fld>
            <a:endParaRPr lang="en-MX"/>
          </a:p>
        </p:txBody>
      </p:sp>
    </p:spTree>
    <p:extLst>
      <p:ext uri="{BB962C8B-B14F-4D97-AF65-F5344CB8AC3E}">
        <p14:creationId xmlns:p14="http://schemas.microsoft.com/office/powerpoint/2010/main" val="40861067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09600" y="6245225"/>
            <a:ext cx="2844800" cy="476250"/>
          </a:xfrm>
        </p:spPr>
        <p:txBody>
          <a:bodyPr/>
          <a:lstStyle>
            <a:lvl1pPr>
              <a:defRPr/>
            </a:lvl1pPr>
          </a:lstStyle>
          <a:p>
            <a:endParaRPr lang="en-US"/>
          </a:p>
        </p:txBody>
      </p:sp>
      <p:sp>
        <p:nvSpPr>
          <p:cNvPr id="6" name="Footer Placeholder 5"/>
          <p:cNvSpPr>
            <a:spLocks noGrp="1"/>
          </p:cNvSpPr>
          <p:nvPr>
            <p:ph type="ftr" sz="quarter" idx="11"/>
          </p:nvPr>
        </p:nvSpPr>
        <p:spPr>
          <a:xfrm>
            <a:off x="4165600" y="6245225"/>
            <a:ext cx="3860800" cy="476250"/>
          </a:xfrm>
        </p:spPr>
        <p:txBody>
          <a:bodyPr/>
          <a:lstStyle>
            <a:lvl1pPr>
              <a:defRPr/>
            </a:lvl1pPr>
          </a:lstStyle>
          <a:p>
            <a:endParaRPr lang="en-US"/>
          </a:p>
        </p:txBody>
      </p:sp>
      <p:sp>
        <p:nvSpPr>
          <p:cNvPr id="7" name="Slide Number Placeholder 6"/>
          <p:cNvSpPr>
            <a:spLocks noGrp="1"/>
          </p:cNvSpPr>
          <p:nvPr>
            <p:ph type="sldNum" sz="quarter" idx="12"/>
          </p:nvPr>
        </p:nvSpPr>
        <p:spPr>
          <a:xfrm>
            <a:off x="8737600" y="6245225"/>
            <a:ext cx="2844800" cy="476250"/>
          </a:xfrm>
        </p:spPr>
        <p:txBody>
          <a:bodyPr/>
          <a:lstStyle>
            <a:lvl1pPr>
              <a:defRPr/>
            </a:lvl1pPr>
          </a:lstStyle>
          <a:p>
            <a:fld id="{265CBB17-E5AA-4D8B-8B9C-996F89657109}" type="slidenum">
              <a:rPr lang="en-US"/>
              <a:pPr/>
              <a:t>‹#›</a:t>
            </a:fld>
            <a:endParaRPr lang="en-US"/>
          </a:p>
        </p:txBody>
      </p:sp>
    </p:spTree>
    <p:extLst>
      <p:ext uri="{BB962C8B-B14F-4D97-AF65-F5344CB8AC3E}">
        <p14:creationId xmlns:p14="http://schemas.microsoft.com/office/powerpoint/2010/main" val="29144366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73E144-9558-D849-8846-8FF265D4C6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MX" dirty="0"/>
          </a:p>
        </p:txBody>
      </p:sp>
      <p:sp>
        <p:nvSpPr>
          <p:cNvPr id="3" name="Text Placeholder 2">
            <a:extLst>
              <a:ext uri="{FF2B5EF4-FFF2-40B4-BE49-F238E27FC236}">
                <a16:creationId xmlns:a16="http://schemas.microsoft.com/office/drawing/2014/main" id="{B29C61CD-56EE-FC41-9601-F3255F9B50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MX" dirty="0"/>
          </a:p>
        </p:txBody>
      </p:sp>
      <p:sp>
        <p:nvSpPr>
          <p:cNvPr id="4" name="Date Placeholder 3">
            <a:extLst>
              <a:ext uri="{FF2B5EF4-FFF2-40B4-BE49-F238E27FC236}">
                <a16:creationId xmlns:a16="http://schemas.microsoft.com/office/drawing/2014/main" id="{E3AF4ECB-0FF9-D34D-9B4B-374D514E01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EE7B01-5249-2444-84F6-876844C50715}" type="datetimeFigureOut">
              <a:rPr lang="en-MX" smtClean="0"/>
              <a:t>10/29/25</a:t>
            </a:fld>
            <a:endParaRPr lang="en-MX"/>
          </a:p>
        </p:txBody>
      </p:sp>
      <p:sp>
        <p:nvSpPr>
          <p:cNvPr id="5" name="Footer Placeholder 4">
            <a:extLst>
              <a:ext uri="{FF2B5EF4-FFF2-40B4-BE49-F238E27FC236}">
                <a16:creationId xmlns:a16="http://schemas.microsoft.com/office/drawing/2014/main" id="{5710FC73-6EF6-EC4F-818F-1AF00402FB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MX"/>
          </a:p>
        </p:txBody>
      </p:sp>
      <p:sp>
        <p:nvSpPr>
          <p:cNvPr id="6" name="Slide Number Placeholder 5">
            <a:extLst>
              <a:ext uri="{FF2B5EF4-FFF2-40B4-BE49-F238E27FC236}">
                <a16:creationId xmlns:a16="http://schemas.microsoft.com/office/drawing/2014/main" id="{3D2CBBC2-147D-0341-9E26-CAF158C2C7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F84426-94D3-F942-9F7D-C35C0C290897}" type="slidenum">
              <a:rPr lang="en-MX" smtClean="0"/>
              <a:t>‹#›</a:t>
            </a:fld>
            <a:endParaRPr lang="en-MX"/>
          </a:p>
        </p:txBody>
      </p:sp>
    </p:spTree>
    <p:extLst>
      <p:ext uri="{BB962C8B-B14F-4D97-AF65-F5344CB8AC3E}">
        <p14:creationId xmlns:p14="http://schemas.microsoft.com/office/powerpoint/2010/main" val="9636145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fontAlgn="base" latinLnBrk="0" hangingPunct="1">
        <a:lnSpc>
          <a:spcPct val="90000"/>
        </a:lnSpc>
        <a:spcBef>
          <a:spcPct val="0"/>
        </a:spcBef>
        <a:spcAft>
          <a:spcPct val="0"/>
        </a:spcAft>
        <a:buNone/>
        <a:defRPr lang="en-MX" sz="4400" b="1" kern="1200" dirty="0">
          <a:solidFill>
            <a:srgbClr val="990033"/>
          </a:solidFill>
          <a:effectLst>
            <a:outerShdw blurRad="38100" dist="38100" dir="2700000" algn="tl">
              <a:srgbClr val="C0C0C0"/>
            </a:outerShdw>
          </a:effectLst>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e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2.emf"/></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63.xml"/><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emf"/></Relationships>
</file>

<file path=ppt/slides/_rels/slide9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9.emf"/></Relationships>
</file>

<file path=ppt/slides/_rels/slide10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6.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6.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6.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6.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6.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6.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6.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ED31D-938F-A448-B46B-8468FB03CB94}"/>
              </a:ext>
            </a:extLst>
          </p:cNvPr>
          <p:cNvSpPr>
            <a:spLocks noGrp="1"/>
          </p:cNvSpPr>
          <p:nvPr>
            <p:ph type="ctrTitle"/>
          </p:nvPr>
        </p:nvSpPr>
        <p:spPr>
          <a:xfrm>
            <a:off x="426720" y="1122363"/>
            <a:ext cx="11338560" cy="2387600"/>
          </a:xfrm>
        </p:spPr>
        <p:txBody>
          <a:bodyPr>
            <a:normAutofit/>
          </a:bodyPr>
          <a:lstStyle/>
          <a:p>
            <a:pPr fontAlgn="base">
              <a:spcAft>
                <a:spcPct val="0"/>
              </a:spcAft>
            </a:pPr>
            <a:r>
              <a:rPr lang="en-US" sz="8000" b="1" dirty="0">
                <a:solidFill>
                  <a:srgbClr val="990033"/>
                </a:solidFill>
                <a:effectLst>
                  <a:outerShdw blurRad="38100" dist="38100" dir="2700000" algn="tl">
                    <a:srgbClr val="C0C0C0"/>
                  </a:outerShdw>
                </a:effectLst>
              </a:rPr>
              <a:t>Decision Analysis &amp; </a:t>
            </a:r>
            <a:br>
              <a:rPr lang="en-US" sz="8000" b="1" dirty="0">
                <a:solidFill>
                  <a:srgbClr val="990033"/>
                </a:solidFill>
                <a:effectLst>
                  <a:outerShdw blurRad="38100" dist="38100" dir="2700000" algn="tl">
                    <a:srgbClr val="C0C0C0"/>
                  </a:outerShdw>
                </a:effectLst>
              </a:rPr>
            </a:br>
            <a:r>
              <a:rPr lang="en-US" sz="8000" b="1" dirty="0">
                <a:solidFill>
                  <a:srgbClr val="990033"/>
                </a:solidFill>
                <a:effectLst>
                  <a:outerShdw blurRad="38100" dist="38100" dir="2700000" algn="tl">
                    <a:srgbClr val="C0C0C0"/>
                  </a:outerShdw>
                </a:effectLst>
              </a:rPr>
              <a:t>Cost-Effectiveness Analysis</a:t>
            </a:r>
            <a:endParaRPr lang="en-MX" sz="8000" b="1" dirty="0">
              <a:solidFill>
                <a:srgbClr val="990033"/>
              </a:solidFill>
              <a:effectLst>
                <a:outerShdw blurRad="38100" dist="38100" dir="2700000" algn="tl">
                  <a:srgbClr val="C0C0C0"/>
                </a:outerShdw>
              </a:effectLst>
            </a:endParaRPr>
          </a:p>
        </p:txBody>
      </p:sp>
      <p:sp>
        <p:nvSpPr>
          <p:cNvPr id="3" name="Subtitle 2">
            <a:extLst>
              <a:ext uri="{FF2B5EF4-FFF2-40B4-BE49-F238E27FC236}">
                <a16:creationId xmlns:a16="http://schemas.microsoft.com/office/drawing/2014/main" id="{206E0499-B02D-F946-8B2C-523C0C400B37}"/>
              </a:ext>
            </a:extLst>
          </p:cNvPr>
          <p:cNvSpPr>
            <a:spLocks noGrp="1"/>
          </p:cNvSpPr>
          <p:nvPr>
            <p:ph type="subTitle" idx="1"/>
          </p:nvPr>
        </p:nvSpPr>
        <p:spPr/>
        <p:txBody>
          <a:bodyPr>
            <a:normAutofit/>
          </a:bodyPr>
          <a:lstStyle/>
          <a:p>
            <a:r>
              <a:rPr lang="es-ES" sz="3200" dirty="0"/>
              <a:t>Day 1</a:t>
            </a:r>
            <a:endParaRPr lang="en-MX" sz="3200" dirty="0"/>
          </a:p>
        </p:txBody>
      </p:sp>
    </p:spTree>
    <p:extLst>
      <p:ext uri="{BB962C8B-B14F-4D97-AF65-F5344CB8AC3E}">
        <p14:creationId xmlns:p14="http://schemas.microsoft.com/office/powerpoint/2010/main" val="8846841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04968-3925-7640-B10E-88A408564C43}"/>
              </a:ext>
            </a:extLst>
          </p:cNvPr>
          <p:cNvSpPr>
            <a:spLocks noGrp="1"/>
          </p:cNvSpPr>
          <p:nvPr>
            <p:ph type="title"/>
          </p:nvPr>
        </p:nvSpPr>
        <p:spPr/>
        <p:txBody>
          <a:bodyPr/>
          <a:lstStyle/>
          <a:p>
            <a:r>
              <a:rPr lang="es-ES" dirty="0" err="1"/>
              <a:t>Decision</a:t>
            </a:r>
            <a:r>
              <a:rPr lang="es-ES" dirty="0"/>
              <a:t> </a:t>
            </a:r>
            <a:r>
              <a:rPr lang="es-ES" dirty="0" err="1"/>
              <a:t>analysis</a:t>
            </a:r>
            <a:endParaRPr lang="en-MX" dirty="0"/>
          </a:p>
        </p:txBody>
      </p:sp>
      <p:sp>
        <p:nvSpPr>
          <p:cNvPr id="3" name="Text Placeholder 2">
            <a:extLst>
              <a:ext uri="{FF2B5EF4-FFF2-40B4-BE49-F238E27FC236}">
                <a16:creationId xmlns:a16="http://schemas.microsoft.com/office/drawing/2014/main" id="{95012145-5F1F-7147-813E-711AE7756F46}"/>
              </a:ext>
            </a:extLst>
          </p:cNvPr>
          <p:cNvSpPr>
            <a:spLocks noGrp="1"/>
          </p:cNvSpPr>
          <p:nvPr>
            <p:ph type="body" idx="1"/>
          </p:nvPr>
        </p:nvSpPr>
        <p:spPr/>
        <p:txBody>
          <a:bodyPr/>
          <a:lstStyle/>
          <a:p>
            <a:endParaRPr lang="en-MX"/>
          </a:p>
        </p:txBody>
      </p:sp>
    </p:spTree>
    <p:extLst>
      <p:ext uri="{BB962C8B-B14F-4D97-AF65-F5344CB8AC3E}">
        <p14:creationId xmlns:p14="http://schemas.microsoft.com/office/powerpoint/2010/main" val="19505083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1A5C0-6486-4C44-AA5A-048D43012391}"/>
              </a:ext>
            </a:extLst>
          </p:cNvPr>
          <p:cNvSpPr>
            <a:spLocks noGrp="1"/>
          </p:cNvSpPr>
          <p:nvPr>
            <p:ph type="title"/>
          </p:nvPr>
        </p:nvSpPr>
        <p:spPr/>
        <p:txBody>
          <a:bodyPr>
            <a:normAutofit/>
          </a:bodyPr>
          <a:lstStyle/>
          <a:p>
            <a:pPr fontAlgn="base">
              <a:spcAft>
                <a:spcPct val="0"/>
              </a:spcAft>
            </a:pPr>
            <a:r>
              <a:rPr lang="en-MX" b="1" dirty="0">
                <a:solidFill>
                  <a:srgbClr val="990033"/>
                </a:solidFill>
                <a:effectLst>
                  <a:outerShdw blurRad="38100" dist="38100" dir="2700000" algn="tl">
                    <a:srgbClr val="C0C0C0"/>
                  </a:outerShdw>
                </a:effectLst>
              </a:rPr>
              <a:t>Overview</a:t>
            </a:r>
          </a:p>
        </p:txBody>
      </p:sp>
      <p:sp>
        <p:nvSpPr>
          <p:cNvPr id="3" name="Content Placeholder 2">
            <a:extLst>
              <a:ext uri="{FF2B5EF4-FFF2-40B4-BE49-F238E27FC236}">
                <a16:creationId xmlns:a16="http://schemas.microsoft.com/office/drawing/2014/main" id="{8624BCFD-BAA0-EB42-8CE9-3FA2EE448540}"/>
              </a:ext>
            </a:extLst>
          </p:cNvPr>
          <p:cNvSpPr>
            <a:spLocks noGrp="1"/>
          </p:cNvSpPr>
          <p:nvPr>
            <p:ph idx="1"/>
          </p:nvPr>
        </p:nvSpPr>
        <p:spPr/>
        <p:txBody>
          <a:bodyPr>
            <a:normAutofit lnSpcReduction="10000"/>
          </a:bodyPr>
          <a:lstStyle/>
          <a:p>
            <a:r>
              <a:rPr lang="en-US" dirty="0"/>
              <a:t>Decision Analysis</a:t>
            </a:r>
          </a:p>
          <a:p>
            <a:pPr lvl="1"/>
            <a:r>
              <a:rPr lang="en-US" dirty="0"/>
              <a:t>Motivating examples</a:t>
            </a:r>
          </a:p>
          <a:p>
            <a:pPr lvl="1"/>
            <a:r>
              <a:rPr lang="en-US" dirty="0"/>
              <a:t>Introduction to decision science</a:t>
            </a:r>
          </a:p>
          <a:p>
            <a:pPr lvl="1"/>
            <a:r>
              <a:rPr lang="en-US" dirty="0"/>
              <a:t>Key elements of a decision analysis</a:t>
            </a:r>
          </a:p>
          <a:p>
            <a:pPr lvl="1"/>
            <a:r>
              <a:rPr lang="en-US" dirty="0"/>
              <a:t>Probability review, </a:t>
            </a:r>
            <a:r>
              <a:rPr lang="en-US" dirty="0">
                <a:ea typeface="ＭＳ Ｐゴシック" panose="020B0600070205080204" pitchFamily="34" charset="-128"/>
              </a:rPr>
              <a:t>c</a:t>
            </a:r>
            <a:r>
              <a:rPr lang="en-US" altLang="en-MX" dirty="0">
                <a:ea typeface="ＭＳ Ｐゴシック" panose="020B0600070205080204" pitchFamily="34" charset="-128"/>
              </a:rPr>
              <a:t>onditional probability, expected value </a:t>
            </a:r>
          </a:p>
          <a:p>
            <a:pPr lvl="1"/>
            <a:r>
              <a:rPr lang="en-US" altLang="en-MX" dirty="0">
                <a:ea typeface="ＭＳ Ｐゴシック" panose="020B0600070205080204" pitchFamily="34" charset="-128"/>
              </a:rPr>
              <a:t>Construct a decision tree</a:t>
            </a:r>
          </a:p>
          <a:p>
            <a:pPr lvl="1"/>
            <a:r>
              <a:rPr lang="en-US" altLang="en-MX" dirty="0">
                <a:ea typeface="ＭＳ Ｐゴシック" panose="020B0600070205080204" pitchFamily="34" charset="-128"/>
              </a:rPr>
              <a:t>Calculate expected value of alternatives</a:t>
            </a:r>
          </a:p>
          <a:p>
            <a:pPr lvl="1"/>
            <a:r>
              <a:rPr lang="en-US" altLang="en-MX" dirty="0">
                <a:ea typeface="ＭＳ Ｐゴシック" panose="020B0600070205080204" pitchFamily="34" charset="-128"/>
              </a:rPr>
              <a:t>One-way sensitivity analysis</a:t>
            </a:r>
          </a:p>
          <a:p>
            <a:pPr lvl="1"/>
            <a:r>
              <a:rPr lang="en-US" altLang="en-MX" dirty="0">
                <a:ea typeface="ＭＳ Ｐゴシック" panose="020B0600070205080204" pitchFamily="34" charset="-128"/>
              </a:rPr>
              <a:t>Threshold analyses (no treat, test, treat)</a:t>
            </a:r>
          </a:p>
          <a:p>
            <a:pPr lvl="1"/>
            <a:r>
              <a:rPr lang="en-US" altLang="en-MX" dirty="0">
                <a:ea typeface="ＭＳ Ｐゴシック" panose="020B0600070205080204" pitchFamily="34" charset="-128"/>
              </a:rPr>
              <a:t>Expected value of perfect information</a:t>
            </a:r>
            <a:endParaRPr lang="en-US" dirty="0"/>
          </a:p>
        </p:txBody>
      </p:sp>
    </p:spTree>
    <p:extLst>
      <p:ext uri="{BB962C8B-B14F-4D97-AF65-F5344CB8AC3E}">
        <p14:creationId xmlns:p14="http://schemas.microsoft.com/office/powerpoint/2010/main" val="24443875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F50D0-A275-2D49-B2A6-D685BD62A39D}"/>
              </a:ext>
            </a:extLst>
          </p:cNvPr>
          <p:cNvSpPr>
            <a:spLocks noGrp="1"/>
          </p:cNvSpPr>
          <p:nvPr>
            <p:ph type="title"/>
          </p:nvPr>
        </p:nvSpPr>
        <p:spPr/>
        <p:txBody>
          <a:bodyPr/>
          <a:lstStyle/>
          <a:p>
            <a:r>
              <a:rPr lang="en-MX" dirty="0"/>
              <a:t>HPV vaccination</a:t>
            </a:r>
          </a:p>
        </p:txBody>
      </p:sp>
      <p:sp>
        <p:nvSpPr>
          <p:cNvPr id="3" name="Content Placeholder 2">
            <a:extLst>
              <a:ext uri="{FF2B5EF4-FFF2-40B4-BE49-F238E27FC236}">
                <a16:creationId xmlns:a16="http://schemas.microsoft.com/office/drawing/2014/main" id="{FD1955CA-FC50-3243-AF21-97775EB3AF98}"/>
              </a:ext>
            </a:extLst>
          </p:cNvPr>
          <p:cNvSpPr>
            <a:spLocks noGrp="1"/>
          </p:cNvSpPr>
          <p:nvPr>
            <p:ph idx="1"/>
          </p:nvPr>
        </p:nvSpPr>
        <p:spPr/>
        <p:txBody>
          <a:bodyPr/>
          <a:lstStyle/>
          <a:p>
            <a:r>
              <a:rPr lang="en-US" dirty="0"/>
              <a:t>Should children be vaccinated against the human papilloma virus (HPV)? </a:t>
            </a:r>
            <a:endParaRPr lang="en-US" dirty="0">
              <a:effectLst/>
            </a:endParaRPr>
          </a:p>
          <a:p>
            <a:pPr marL="0" indent="0">
              <a:buNone/>
            </a:pPr>
            <a:r>
              <a:rPr lang="en-US" dirty="0"/>
              <a:t>	– Should </a:t>
            </a:r>
            <a:r>
              <a:rPr lang="en-US" i="1" dirty="0"/>
              <a:t>my </a:t>
            </a:r>
            <a:r>
              <a:rPr lang="en-US" dirty="0"/>
              <a:t>child?</a:t>
            </a:r>
            <a:br>
              <a:rPr lang="en-US" dirty="0"/>
            </a:br>
            <a:r>
              <a:rPr lang="en-US" dirty="0"/>
              <a:t>	– Should it be mandatory? </a:t>
            </a:r>
            <a:endParaRPr lang="en-US" dirty="0">
              <a:effectLst/>
            </a:endParaRPr>
          </a:p>
          <a:p>
            <a:endParaRPr lang="en-MX" dirty="0"/>
          </a:p>
        </p:txBody>
      </p:sp>
    </p:spTree>
    <p:extLst>
      <p:ext uri="{BB962C8B-B14F-4D97-AF65-F5344CB8AC3E}">
        <p14:creationId xmlns:p14="http://schemas.microsoft.com/office/powerpoint/2010/main" val="25061728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F50D0-A275-2D49-B2A6-D685BD62A39D}"/>
              </a:ext>
            </a:extLst>
          </p:cNvPr>
          <p:cNvSpPr>
            <a:spLocks noGrp="1"/>
          </p:cNvSpPr>
          <p:nvPr>
            <p:ph type="title"/>
          </p:nvPr>
        </p:nvSpPr>
        <p:spPr/>
        <p:txBody>
          <a:bodyPr/>
          <a:lstStyle/>
          <a:p>
            <a:r>
              <a:rPr lang="en-MX" dirty="0"/>
              <a:t>HPV vaccination</a:t>
            </a:r>
          </a:p>
        </p:txBody>
      </p:sp>
      <p:sp>
        <p:nvSpPr>
          <p:cNvPr id="3" name="Content Placeholder 2">
            <a:extLst>
              <a:ext uri="{FF2B5EF4-FFF2-40B4-BE49-F238E27FC236}">
                <a16:creationId xmlns:a16="http://schemas.microsoft.com/office/drawing/2014/main" id="{FD1955CA-FC50-3243-AF21-97775EB3AF98}"/>
              </a:ext>
            </a:extLst>
          </p:cNvPr>
          <p:cNvSpPr>
            <a:spLocks noGrp="1"/>
          </p:cNvSpPr>
          <p:nvPr>
            <p:ph idx="1"/>
          </p:nvPr>
        </p:nvSpPr>
        <p:spPr>
          <a:xfrm>
            <a:off x="838200" y="1825625"/>
            <a:ext cx="10515600" cy="1325563"/>
          </a:xfrm>
        </p:spPr>
        <p:txBody>
          <a:bodyPr/>
          <a:lstStyle/>
          <a:p>
            <a:r>
              <a:rPr lang="en-US" dirty="0"/>
              <a:t>Should children be vaccinated against the human papilloma virus (HPV)? </a:t>
            </a:r>
            <a:endParaRPr lang="en-US" dirty="0">
              <a:effectLst/>
            </a:endParaRPr>
          </a:p>
          <a:p>
            <a:pPr marL="0" indent="0">
              <a:buNone/>
            </a:pPr>
            <a:endParaRPr lang="en-MX" dirty="0"/>
          </a:p>
        </p:txBody>
      </p:sp>
      <p:sp>
        <p:nvSpPr>
          <p:cNvPr id="4" name="Rectangle 3">
            <a:extLst>
              <a:ext uri="{FF2B5EF4-FFF2-40B4-BE49-F238E27FC236}">
                <a16:creationId xmlns:a16="http://schemas.microsoft.com/office/drawing/2014/main" id="{9B11FFDD-FF2B-0F41-B1A3-F486A7E0C58E}"/>
              </a:ext>
            </a:extLst>
          </p:cNvPr>
          <p:cNvSpPr/>
          <p:nvPr/>
        </p:nvSpPr>
        <p:spPr>
          <a:xfrm>
            <a:off x="838200" y="2737317"/>
            <a:ext cx="5443330" cy="2308324"/>
          </a:xfrm>
          <a:prstGeom prst="rect">
            <a:avLst/>
          </a:prstGeom>
        </p:spPr>
        <p:txBody>
          <a:bodyPr wrap="square">
            <a:spAutoFit/>
          </a:bodyPr>
          <a:lstStyle/>
          <a:p>
            <a:r>
              <a:rPr lang="en-US" sz="2400" dirty="0">
                <a:effectLst/>
                <a:latin typeface="Constantia" panose="02030602050306030303" pitchFamily="18" charset="0"/>
              </a:rPr>
              <a:t>“Ninety‐five percent of women who are infected with HPV never, ever get cervical cancer. It seemed very odd to be mandating something for which 95 percent of infections never amount to anything." </a:t>
            </a:r>
            <a:endParaRPr lang="en-US" sz="6000" dirty="0">
              <a:effectLst/>
            </a:endParaRPr>
          </a:p>
        </p:txBody>
      </p:sp>
      <p:sp>
        <p:nvSpPr>
          <p:cNvPr id="5" name="Rectangle 4">
            <a:extLst>
              <a:ext uri="{FF2B5EF4-FFF2-40B4-BE49-F238E27FC236}">
                <a16:creationId xmlns:a16="http://schemas.microsoft.com/office/drawing/2014/main" id="{0099E17D-F544-6149-A165-69D55623B150}"/>
              </a:ext>
            </a:extLst>
          </p:cNvPr>
          <p:cNvSpPr/>
          <p:nvPr/>
        </p:nvSpPr>
        <p:spPr>
          <a:xfrm>
            <a:off x="7454348" y="2737317"/>
            <a:ext cx="3899452" cy="2308324"/>
          </a:xfrm>
          <a:prstGeom prst="rect">
            <a:avLst/>
          </a:prstGeom>
        </p:spPr>
        <p:txBody>
          <a:bodyPr wrap="square">
            <a:spAutoFit/>
          </a:bodyPr>
          <a:lstStyle/>
          <a:p>
            <a:r>
              <a:rPr lang="en-US" sz="2400" dirty="0">
                <a:effectLst/>
                <a:latin typeface="Constantia" panose="02030602050306030303" pitchFamily="18" charset="0"/>
              </a:rPr>
              <a:t>“If in 20 years time, my daughter...develops cervical cancer, and I didn't give her the vaccine, I'm going to be looking pretty hard in the mirror at myself.” </a:t>
            </a:r>
            <a:endParaRPr lang="en-US" sz="6000" dirty="0">
              <a:effectLst/>
            </a:endParaRPr>
          </a:p>
        </p:txBody>
      </p:sp>
      <p:sp>
        <p:nvSpPr>
          <p:cNvPr id="6" name="Rectangle 5">
            <a:extLst>
              <a:ext uri="{FF2B5EF4-FFF2-40B4-BE49-F238E27FC236}">
                <a16:creationId xmlns:a16="http://schemas.microsoft.com/office/drawing/2014/main" id="{B1063AB7-E593-D641-9E2A-BD253531B02B}"/>
              </a:ext>
            </a:extLst>
          </p:cNvPr>
          <p:cNvSpPr/>
          <p:nvPr/>
        </p:nvSpPr>
        <p:spPr>
          <a:xfrm>
            <a:off x="1641915" y="5269348"/>
            <a:ext cx="8908169" cy="830997"/>
          </a:xfrm>
          <a:prstGeom prst="rect">
            <a:avLst/>
          </a:prstGeom>
        </p:spPr>
        <p:txBody>
          <a:bodyPr wrap="square">
            <a:spAutoFit/>
          </a:bodyPr>
          <a:lstStyle/>
          <a:p>
            <a:pPr algn="ctr"/>
            <a:r>
              <a:rPr lang="en-US" sz="2400" dirty="0">
                <a:effectLst/>
                <a:latin typeface="Constantia" panose="02030602050306030303" pitchFamily="18" charset="0"/>
              </a:rPr>
              <a:t>“My daughter is so not sexually active that it seems very premature to even think about protecting her from cervical cancer.” </a:t>
            </a:r>
            <a:endParaRPr lang="en-US" sz="6000" dirty="0">
              <a:effectLst/>
            </a:endParaRPr>
          </a:p>
        </p:txBody>
      </p:sp>
      <p:sp>
        <p:nvSpPr>
          <p:cNvPr id="7" name="Rectangle 6">
            <a:extLst>
              <a:ext uri="{FF2B5EF4-FFF2-40B4-BE49-F238E27FC236}">
                <a16:creationId xmlns:a16="http://schemas.microsoft.com/office/drawing/2014/main" id="{5AC733EA-5E7B-CD4B-89B0-F283BB3B5EF0}"/>
              </a:ext>
            </a:extLst>
          </p:cNvPr>
          <p:cNvSpPr/>
          <p:nvPr/>
        </p:nvSpPr>
        <p:spPr>
          <a:xfrm>
            <a:off x="1641915" y="6180411"/>
            <a:ext cx="8908169" cy="523220"/>
          </a:xfrm>
          <a:prstGeom prst="rect">
            <a:avLst/>
          </a:prstGeom>
        </p:spPr>
        <p:txBody>
          <a:bodyPr wrap="square">
            <a:spAutoFit/>
          </a:bodyPr>
          <a:lstStyle/>
          <a:p>
            <a:pPr algn="ctr"/>
            <a:r>
              <a:rPr lang="en-US" sz="1400" dirty="0">
                <a:effectLst/>
                <a:latin typeface="Calibri" panose="020F0502020204030204" pitchFamily="34" charset="0"/>
              </a:rPr>
              <a:t>“HPV Vaccine: The Science Behind The Controversy”, Richard Knox, NPR News, Sept. 19, 2011 </a:t>
            </a:r>
            <a:endParaRPr lang="en-US" sz="4000" dirty="0">
              <a:effectLst/>
            </a:endParaRPr>
          </a:p>
          <a:p>
            <a:pPr algn="ctr"/>
            <a:r>
              <a:rPr lang="en-US" sz="1400" dirty="0">
                <a:solidFill>
                  <a:srgbClr val="00A0D3"/>
                </a:solidFill>
                <a:effectLst/>
                <a:latin typeface="Calibri" panose="020F0502020204030204" pitchFamily="34" charset="0"/>
              </a:rPr>
              <a:t>http://</a:t>
            </a:r>
            <a:r>
              <a:rPr lang="en-US" sz="1400" dirty="0" err="1">
                <a:solidFill>
                  <a:srgbClr val="00A0D3"/>
                </a:solidFill>
                <a:effectLst/>
                <a:latin typeface="Calibri" panose="020F0502020204030204" pitchFamily="34" charset="0"/>
              </a:rPr>
              <a:t>www.npr.org</a:t>
            </a:r>
            <a:r>
              <a:rPr lang="en-US" sz="1400" dirty="0">
                <a:solidFill>
                  <a:srgbClr val="00A0D3"/>
                </a:solidFill>
                <a:effectLst/>
                <a:latin typeface="Calibri" panose="020F0502020204030204" pitchFamily="34" charset="0"/>
              </a:rPr>
              <a:t>/2011/09/19/140543977/</a:t>
            </a:r>
            <a:r>
              <a:rPr lang="en-US" sz="1400" dirty="0" err="1">
                <a:solidFill>
                  <a:srgbClr val="00A0D3"/>
                </a:solidFill>
                <a:effectLst/>
                <a:latin typeface="Calibri" panose="020F0502020204030204" pitchFamily="34" charset="0"/>
              </a:rPr>
              <a:t>hpv</a:t>
            </a:r>
            <a:r>
              <a:rPr lang="en-US" sz="1400" dirty="0">
                <a:solidFill>
                  <a:srgbClr val="00A0D3"/>
                </a:solidFill>
                <a:effectLst/>
                <a:latin typeface="Calibri" panose="020F0502020204030204" pitchFamily="34" charset="0"/>
              </a:rPr>
              <a:t>‐vaccine‐the‐science‐behind‐the‐controversy </a:t>
            </a:r>
            <a:endParaRPr lang="en-US" sz="4000" dirty="0">
              <a:effectLst/>
            </a:endParaRPr>
          </a:p>
        </p:txBody>
      </p:sp>
    </p:spTree>
    <p:extLst>
      <p:ext uri="{BB962C8B-B14F-4D97-AF65-F5344CB8AC3E}">
        <p14:creationId xmlns:p14="http://schemas.microsoft.com/office/powerpoint/2010/main" val="24426001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F50D0-A275-2D49-B2A6-D685BD62A39D}"/>
              </a:ext>
            </a:extLst>
          </p:cNvPr>
          <p:cNvSpPr>
            <a:spLocks noGrp="1"/>
          </p:cNvSpPr>
          <p:nvPr>
            <p:ph type="title"/>
          </p:nvPr>
        </p:nvSpPr>
        <p:spPr/>
        <p:txBody>
          <a:bodyPr/>
          <a:lstStyle/>
          <a:p>
            <a:r>
              <a:rPr lang="en-MX" dirty="0"/>
              <a:t>PSA screening</a:t>
            </a:r>
          </a:p>
        </p:txBody>
      </p:sp>
      <p:sp>
        <p:nvSpPr>
          <p:cNvPr id="3" name="Content Placeholder 2">
            <a:extLst>
              <a:ext uri="{FF2B5EF4-FFF2-40B4-BE49-F238E27FC236}">
                <a16:creationId xmlns:a16="http://schemas.microsoft.com/office/drawing/2014/main" id="{FD1955CA-FC50-3243-AF21-97775EB3AF98}"/>
              </a:ext>
            </a:extLst>
          </p:cNvPr>
          <p:cNvSpPr>
            <a:spLocks noGrp="1"/>
          </p:cNvSpPr>
          <p:nvPr>
            <p:ph idx="1"/>
          </p:nvPr>
        </p:nvSpPr>
        <p:spPr>
          <a:xfrm>
            <a:off x="838200" y="1825625"/>
            <a:ext cx="10515600" cy="1325563"/>
          </a:xfrm>
        </p:spPr>
        <p:txBody>
          <a:bodyPr/>
          <a:lstStyle/>
          <a:p>
            <a:r>
              <a:rPr lang="en-US" dirty="0"/>
              <a:t>Should men over 50 be routinely offered prostate specific antigen (PSA) testing? </a:t>
            </a:r>
            <a:endParaRPr lang="en-US" dirty="0">
              <a:effectLst/>
            </a:endParaRPr>
          </a:p>
          <a:p>
            <a:pPr marL="0" indent="0">
              <a:buNone/>
            </a:pPr>
            <a:endParaRPr lang="en-MX" dirty="0"/>
          </a:p>
        </p:txBody>
      </p:sp>
      <p:sp>
        <p:nvSpPr>
          <p:cNvPr id="4" name="Rectangle 3">
            <a:extLst>
              <a:ext uri="{FF2B5EF4-FFF2-40B4-BE49-F238E27FC236}">
                <a16:creationId xmlns:a16="http://schemas.microsoft.com/office/drawing/2014/main" id="{9B11FFDD-FF2B-0F41-B1A3-F486A7E0C58E}"/>
              </a:ext>
            </a:extLst>
          </p:cNvPr>
          <p:cNvSpPr/>
          <p:nvPr/>
        </p:nvSpPr>
        <p:spPr>
          <a:xfrm>
            <a:off x="838200" y="2737317"/>
            <a:ext cx="4939747" cy="2308324"/>
          </a:xfrm>
          <a:prstGeom prst="rect">
            <a:avLst/>
          </a:prstGeom>
        </p:spPr>
        <p:txBody>
          <a:bodyPr wrap="square">
            <a:spAutoFit/>
          </a:bodyPr>
          <a:lstStyle/>
          <a:p>
            <a:r>
              <a:rPr lang="en-US" sz="2400" dirty="0"/>
              <a:t>“Prostate cancer remains the second‐leading cause of cancer deaths in American men, but fatalities have dropped by up to 40 percent since the PSA screenings came on the scene nearly two decades ago.” </a:t>
            </a:r>
            <a:endParaRPr lang="en-US" sz="3200" dirty="0">
              <a:effectLst/>
            </a:endParaRPr>
          </a:p>
        </p:txBody>
      </p:sp>
      <p:sp>
        <p:nvSpPr>
          <p:cNvPr id="5" name="Rectangle 4">
            <a:extLst>
              <a:ext uri="{FF2B5EF4-FFF2-40B4-BE49-F238E27FC236}">
                <a16:creationId xmlns:a16="http://schemas.microsoft.com/office/drawing/2014/main" id="{0099E17D-F544-6149-A165-69D55623B150}"/>
              </a:ext>
            </a:extLst>
          </p:cNvPr>
          <p:cNvSpPr/>
          <p:nvPr/>
        </p:nvSpPr>
        <p:spPr>
          <a:xfrm>
            <a:off x="6096000" y="2759587"/>
            <a:ext cx="5761383" cy="2308324"/>
          </a:xfrm>
          <a:prstGeom prst="rect">
            <a:avLst/>
          </a:prstGeom>
        </p:spPr>
        <p:txBody>
          <a:bodyPr wrap="square">
            <a:spAutoFit/>
          </a:bodyPr>
          <a:lstStyle/>
          <a:p>
            <a:r>
              <a:rPr lang="en-US" sz="2400" dirty="0"/>
              <a:t>"Many people assume that if we screen for prostate cancer, that it will give them a lower chance of getting the disease and dying of it. And the outcomes of screening...tend to be relatively modest, but they come with a whole lot of terrible side effects." </a:t>
            </a:r>
            <a:endParaRPr lang="en-US" sz="3200" dirty="0">
              <a:effectLst/>
            </a:endParaRPr>
          </a:p>
        </p:txBody>
      </p:sp>
      <p:sp>
        <p:nvSpPr>
          <p:cNvPr id="6" name="Rectangle 5">
            <a:extLst>
              <a:ext uri="{FF2B5EF4-FFF2-40B4-BE49-F238E27FC236}">
                <a16:creationId xmlns:a16="http://schemas.microsoft.com/office/drawing/2014/main" id="{B1063AB7-E593-D641-9E2A-BD253531B02B}"/>
              </a:ext>
            </a:extLst>
          </p:cNvPr>
          <p:cNvSpPr/>
          <p:nvPr/>
        </p:nvSpPr>
        <p:spPr>
          <a:xfrm>
            <a:off x="334617" y="5067911"/>
            <a:ext cx="11508835" cy="1200329"/>
          </a:xfrm>
          <a:prstGeom prst="rect">
            <a:avLst/>
          </a:prstGeom>
        </p:spPr>
        <p:txBody>
          <a:bodyPr wrap="square">
            <a:spAutoFit/>
          </a:bodyPr>
          <a:lstStyle/>
          <a:p>
            <a:pPr algn="ctr"/>
            <a:r>
              <a:rPr lang="en-US" sz="2400" dirty="0"/>
              <a:t>“The role of the physician should be to provide the patient with enough information so that they can make a medically informed decision, not to deny the patient information because it might scare them." </a:t>
            </a:r>
            <a:endParaRPr lang="en-US" sz="3200" dirty="0">
              <a:effectLst/>
            </a:endParaRPr>
          </a:p>
        </p:txBody>
      </p:sp>
      <p:sp>
        <p:nvSpPr>
          <p:cNvPr id="7" name="Rectangle 6">
            <a:extLst>
              <a:ext uri="{FF2B5EF4-FFF2-40B4-BE49-F238E27FC236}">
                <a16:creationId xmlns:a16="http://schemas.microsoft.com/office/drawing/2014/main" id="{5AC733EA-5E7B-CD4B-89B0-F283BB3B5EF0}"/>
              </a:ext>
            </a:extLst>
          </p:cNvPr>
          <p:cNvSpPr/>
          <p:nvPr/>
        </p:nvSpPr>
        <p:spPr>
          <a:xfrm>
            <a:off x="334617" y="6180411"/>
            <a:ext cx="11433313" cy="646331"/>
          </a:xfrm>
          <a:prstGeom prst="rect">
            <a:avLst/>
          </a:prstGeom>
        </p:spPr>
        <p:txBody>
          <a:bodyPr wrap="square">
            <a:spAutoFit/>
          </a:bodyPr>
          <a:lstStyle/>
          <a:p>
            <a:r>
              <a:rPr lang="en-US" dirty="0"/>
              <a:t>“PSA Testing Controversy Reignites 'Over‐Screening' Debate”, Jason Kane, PBS Newshour’s “The Rundown”, Oct. 17, 2011 </a:t>
            </a:r>
            <a:endParaRPr lang="en-US" sz="1400" dirty="0">
              <a:effectLst/>
            </a:endParaRPr>
          </a:p>
          <a:p>
            <a:r>
              <a:rPr lang="en-US" dirty="0"/>
              <a:t>http://</a:t>
            </a:r>
            <a:r>
              <a:rPr lang="en-US" dirty="0" err="1"/>
              <a:t>www.pbs.org</a:t>
            </a:r>
            <a:r>
              <a:rPr lang="en-US" dirty="0"/>
              <a:t>/</a:t>
            </a:r>
            <a:r>
              <a:rPr lang="en-US" dirty="0" err="1"/>
              <a:t>newshour</a:t>
            </a:r>
            <a:r>
              <a:rPr lang="en-US" dirty="0"/>
              <a:t>/rundown/2011/10/</a:t>
            </a:r>
            <a:r>
              <a:rPr lang="en-US" dirty="0" err="1"/>
              <a:t>psa</a:t>
            </a:r>
            <a:r>
              <a:rPr lang="en-US" dirty="0"/>
              <a:t>‐testing‐controversy‐reignites‐over‐screening‐</a:t>
            </a:r>
            <a:r>
              <a:rPr lang="en-US" dirty="0" err="1"/>
              <a:t>debate.html</a:t>
            </a:r>
            <a:r>
              <a:rPr lang="en-US" dirty="0"/>
              <a:t>  </a:t>
            </a:r>
            <a:endParaRPr lang="en-US" sz="1400" dirty="0">
              <a:effectLst/>
            </a:endParaRPr>
          </a:p>
        </p:txBody>
      </p:sp>
    </p:spTree>
    <p:extLst>
      <p:ext uri="{BB962C8B-B14F-4D97-AF65-F5344CB8AC3E}">
        <p14:creationId xmlns:p14="http://schemas.microsoft.com/office/powerpoint/2010/main" val="32808507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E80E3-B651-5442-8CFB-96707AE60815}"/>
              </a:ext>
            </a:extLst>
          </p:cNvPr>
          <p:cNvSpPr>
            <a:spLocks noGrp="1"/>
          </p:cNvSpPr>
          <p:nvPr>
            <p:ph type="title"/>
          </p:nvPr>
        </p:nvSpPr>
        <p:spPr/>
        <p:txBody>
          <a:bodyPr/>
          <a:lstStyle/>
          <a:p>
            <a:r>
              <a:rPr lang="en-US" dirty="0">
                <a:effectLst/>
              </a:rPr>
              <a:t>Premarital HIV testing </a:t>
            </a:r>
            <a:endParaRPr lang="en-MX" dirty="0"/>
          </a:p>
        </p:txBody>
      </p:sp>
      <p:sp>
        <p:nvSpPr>
          <p:cNvPr id="3" name="Content Placeholder 2">
            <a:extLst>
              <a:ext uri="{FF2B5EF4-FFF2-40B4-BE49-F238E27FC236}">
                <a16:creationId xmlns:a16="http://schemas.microsoft.com/office/drawing/2014/main" id="{9078A1BB-930F-C344-9E9D-E2A518CC71DB}"/>
              </a:ext>
            </a:extLst>
          </p:cNvPr>
          <p:cNvSpPr>
            <a:spLocks noGrp="1"/>
          </p:cNvSpPr>
          <p:nvPr>
            <p:ph idx="1"/>
          </p:nvPr>
        </p:nvSpPr>
        <p:spPr/>
        <p:txBody>
          <a:bodyPr>
            <a:normAutofit fontScale="77500" lnSpcReduction="20000"/>
          </a:bodyPr>
          <a:lstStyle/>
          <a:p>
            <a:r>
              <a:rPr lang="en-US" sz="4100" dirty="0"/>
              <a:t>Premarital HIV testing in Illinois in 1980s </a:t>
            </a:r>
          </a:p>
          <a:p>
            <a:pPr marL="0" indent="0">
              <a:buNone/>
            </a:pPr>
            <a:r>
              <a:rPr lang="en-US" dirty="0"/>
              <a:t>	“If we can prevent even one child from getting AIDS, we should be doing 	it. This is a preventable situation.”</a:t>
            </a:r>
            <a:br>
              <a:rPr lang="en-US" dirty="0"/>
            </a:br>
            <a:r>
              <a:rPr lang="en-US" dirty="0"/>
              <a:t>	– Gov. Thompson (1987, New York Times) </a:t>
            </a:r>
          </a:p>
          <a:p>
            <a:r>
              <a:rPr lang="en-US" sz="4100" dirty="0"/>
              <a:t>Marriage Act amended Jan. 1, 1988</a:t>
            </a:r>
            <a:br>
              <a:rPr lang="en-US" sz="4100" dirty="0"/>
            </a:br>
            <a:r>
              <a:rPr lang="en-US" sz="4100" dirty="0"/>
              <a:t>	</a:t>
            </a:r>
            <a:r>
              <a:rPr lang="en-US" dirty="0"/>
              <a:t>– 22.5% decrease in marriage licenses</a:t>
            </a:r>
            <a:br>
              <a:rPr lang="en-US" dirty="0"/>
            </a:br>
            <a:r>
              <a:rPr lang="en-US" dirty="0"/>
              <a:t>	– 70,846 individuals tested, 8 HIV+ cases identified </a:t>
            </a:r>
          </a:p>
          <a:p>
            <a:pPr lvl="3"/>
            <a:r>
              <a:rPr lang="en-US" sz="2600" dirty="0"/>
              <a:t>Prevalence of 0.011%</a:t>
            </a:r>
          </a:p>
          <a:p>
            <a:pPr marL="0" indent="0">
              <a:buNone/>
            </a:pPr>
            <a:r>
              <a:rPr lang="en-US" dirty="0"/>
              <a:t>	– $2.5 million cost to applicants ($5 million annually) </a:t>
            </a:r>
          </a:p>
          <a:p>
            <a:pPr lvl="3"/>
            <a:r>
              <a:rPr lang="en-US" sz="2600" dirty="0"/>
              <a:t>Annual budget for all HIV‐related activities was $3.5million </a:t>
            </a:r>
          </a:p>
          <a:p>
            <a:r>
              <a:rPr lang="en-US" sz="4100" dirty="0"/>
              <a:t>$312,000 cost per case detected </a:t>
            </a:r>
          </a:p>
          <a:p>
            <a:pPr marL="457200" lvl="1" indent="0">
              <a:buNone/>
            </a:pPr>
            <a:r>
              <a:rPr lang="en-US" dirty="0"/>
              <a:t>	– $2,000 through voluntary and risk‐based screening </a:t>
            </a:r>
          </a:p>
          <a:p>
            <a:endParaRPr lang="en-MX" dirty="0"/>
          </a:p>
        </p:txBody>
      </p:sp>
    </p:spTree>
    <p:extLst>
      <p:ext uri="{BB962C8B-B14F-4D97-AF65-F5344CB8AC3E}">
        <p14:creationId xmlns:p14="http://schemas.microsoft.com/office/powerpoint/2010/main" val="27293650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E80E3-B651-5442-8CFB-96707AE60815}"/>
              </a:ext>
            </a:extLst>
          </p:cNvPr>
          <p:cNvSpPr>
            <a:spLocks noGrp="1"/>
          </p:cNvSpPr>
          <p:nvPr>
            <p:ph type="title"/>
          </p:nvPr>
        </p:nvSpPr>
        <p:spPr/>
        <p:txBody>
          <a:bodyPr/>
          <a:lstStyle/>
          <a:p>
            <a:r>
              <a:rPr lang="en-US" dirty="0">
                <a:effectLst/>
              </a:rPr>
              <a:t>Premarital HIV testing </a:t>
            </a:r>
            <a:endParaRPr lang="en-MX" dirty="0"/>
          </a:p>
        </p:txBody>
      </p:sp>
      <p:sp>
        <p:nvSpPr>
          <p:cNvPr id="3" name="Content Placeholder 2">
            <a:extLst>
              <a:ext uri="{FF2B5EF4-FFF2-40B4-BE49-F238E27FC236}">
                <a16:creationId xmlns:a16="http://schemas.microsoft.com/office/drawing/2014/main" id="{9078A1BB-930F-C344-9E9D-E2A518CC71DB}"/>
              </a:ext>
            </a:extLst>
          </p:cNvPr>
          <p:cNvSpPr>
            <a:spLocks noGrp="1"/>
          </p:cNvSpPr>
          <p:nvPr>
            <p:ph idx="1"/>
          </p:nvPr>
        </p:nvSpPr>
        <p:spPr/>
        <p:txBody>
          <a:bodyPr>
            <a:normAutofit fontScale="77500" lnSpcReduction="20000"/>
          </a:bodyPr>
          <a:lstStyle/>
          <a:p>
            <a:r>
              <a:rPr lang="en-US" sz="4100" dirty="0"/>
              <a:t>Premarital HIV testing in Illinois in 1980s </a:t>
            </a:r>
          </a:p>
          <a:p>
            <a:pPr marL="0" indent="0">
              <a:buNone/>
            </a:pPr>
            <a:r>
              <a:rPr lang="en-US" dirty="0"/>
              <a:t>	“If we can prevent even one child from getting AIDS, we should be doing 	it. This is a preventable situation.”</a:t>
            </a:r>
            <a:br>
              <a:rPr lang="en-US" dirty="0"/>
            </a:br>
            <a:r>
              <a:rPr lang="en-US" dirty="0"/>
              <a:t>	– Gov. Thompson (1987, New York Times) </a:t>
            </a:r>
          </a:p>
          <a:p>
            <a:r>
              <a:rPr lang="en-US" sz="4100" dirty="0"/>
              <a:t>Law was repealed after 18 months</a:t>
            </a:r>
            <a:br>
              <a:rPr lang="en-US" sz="4100" dirty="0"/>
            </a:br>
            <a:r>
              <a:rPr lang="en-US" sz="4100" dirty="0"/>
              <a:t>	</a:t>
            </a:r>
            <a:r>
              <a:rPr lang="en-US" dirty="0"/>
              <a:t>The cost of premarital testing “could have purchased 160 million 	condoms, paid for [HIV treatment] for one year for all persons with 	AIDS in Illinois, or quadrupled the state expenditure on AIDS education”</a:t>
            </a:r>
          </a:p>
          <a:p>
            <a:pPr marL="0" indent="0">
              <a:buNone/>
            </a:pPr>
            <a:r>
              <a:rPr lang="en-US" dirty="0"/>
              <a:t>	– St. Louis Post‐Dispatch, 1988</a:t>
            </a:r>
            <a:r>
              <a:rPr lang="en-US" sz="2600" dirty="0"/>
              <a:t> </a:t>
            </a:r>
          </a:p>
          <a:p>
            <a:r>
              <a:rPr lang="en-US" sz="4100" dirty="0"/>
              <a:t>Not just should we enact a policy or not, but also what could we do instead? </a:t>
            </a:r>
          </a:p>
          <a:p>
            <a:endParaRPr lang="en-MX" dirty="0"/>
          </a:p>
        </p:txBody>
      </p:sp>
    </p:spTree>
    <p:extLst>
      <p:ext uri="{BB962C8B-B14F-4D97-AF65-F5344CB8AC3E}">
        <p14:creationId xmlns:p14="http://schemas.microsoft.com/office/powerpoint/2010/main" val="39880920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p:txBody>
          <a:bodyPr/>
          <a:lstStyle/>
          <a:p>
            <a:r>
              <a:rPr lang="en-US"/>
              <a:t>Game Show Decision</a:t>
            </a:r>
          </a:p>
        </p:txBody>
      </p:sp>
      <p:sp>
        <p:nvSpPr>
          <p:cNvPr id="135171" name="Rectangle 3"/>
          <p:cNvSpPr>
            <a:spLocks noGrp="1" noChangeArrowheads="1"/>
          </p:cNvSpPr>
          <p:nvPr>
            <p:ph type="body" idx="1"/>
          </p:nvPr>
        </p:nvSpPr>
        <p:spPr/>
        <p:txBody>
          <a:bodyPr/>
          <a:lstStyle/>
          <a:p>
            <a:r>
              <a:rPr lang="en-US" dirty="0"/>
              <a:t>You are a contestant on the TV Game Show: </a:t>
            </a:r>
          </a:p>
          <a:p>
            <a:pPr marL="0" indent="0" algn="ctr">
              <a:buNone/>
            </a:pPr>
            <a:r>
              <a:rPr lang="en-US" i="1" dirty="0">
                <a:solidFill>
                  <a:srgbClr val="990033"/>
                </a:solidFill>
                <a:effectLst>
                  <a:outerShdw blurRad="38100" dist="38100" dir="2700000" algn="tl">
                    <a:srgbClr val="C0C0C0"/>
                  </a:outerShdw>
                </a:effectLst>
              </a:rPr>
              <a:t>The Wheel of Money</a:t>
            </a:r>
          </a:p>
          <a:p>
            <a:r>
              <a:rPr lang="en-US" dirty="0"/>
              <a:t>You have a choice between playing one of two games, which dictate your possible winning amounts</a:t>
            </a:r>
          </a:p>
        </p:txBody>
      </p:sp>
    </p:spTree>
    <p:extLst>
      <p:ext uri="{BB962C8B-B14F-4D97-AF65-F5344CB8AC3E}">
        <p14:creationId xmlns:p14="http://schemas.microsoft.com/office/powerpoint/2010/main" val="2361877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6234" name="Group 42"/>
          <p:cNvGrpSpPr>
            <a:grpSpLocks noChangeAspect="1"/>
          </p:cNvGrpSpPr>
          <p:nvPr/>
        </p:nvGrpSpPr>
        <p:grpSpPr bwMode="auto">
          <a:xfrm>
            <a:off x="3505200" y="3276600"/>
            <a:ext cx="4838700" cy="3371850"/>
            <a:chOff x="1248" y="2064"/>
            <a:chExt cx="3048" cy="2124"/>
          </a:xfrm>
        </p:grpSpPr>
        <p:sp>
          <p:nvSpPr>
            <p:cNvPr id="136233" name="AutoShape 41"/>
            <p:cNvSpPr>
              <a:spLocks noChangeAspect="1" noChangeArrowheads="1" noTextEdit="1"/>
            </p:cNvSpPr>
            <p:nvPr/>
          </p:nvSpPr>
          <p:spPr bwMode="auto">
            <a:xfrm>
              <a:off x="1248" y="2064"/>
              <a:ext cx="3048" cy="2124"/>
            </a:xfrm>
            <a:prstGeom prst="rect">
              <a:avLst/>
            </a:prstGeom>
            <a:noFill/>
            <a:ln w="9525">
              <a:noFill/>
              <a:miter lim="800000"/>
              <a:headEnd/>
              <a:tailEnd/>
            </a:ln>
          </p:spPr>
          <p:txBody>
            <a:bodyPr/>
            <a:lstStyle/>
            <a:p>
              <a:endParaRPr lang="en-US"/>
            </a:p>
          </p:txBody>
        </p:sp>
        <p:sp>
          <p:nvSpPr>
            <p:cNvPr id="136235" name="Freeform 43"/>
            <p:cNvSpPr>
              <a:spLocks/>
            </p:cNvSpPr>
            <p:nvPr/>
          </p:nvSpPr>
          <p:spPr bwMode="auto">
            <a:xfrm>
              <a:off x="2766" y="2268"/>
              <a:ext cx="264" cy="852"/>
            </a:xfrm>
            <a:custGeom>
              <a:avLst/>
              <a:gdLst/>
              <a:ahLst/>
              <a:cxnLst>
                <a:cxn ang="0">
                  <a:pos x="44" y="7"/>
                </a:cxn>
                <a:cxn ang="0">
                  <a:pos x="0" y="1"/>
                </a:cxn>
                <a:cxn ang="0">
                  <a:pos x="0" y="1"/>
                </a:cxn>
                <a:cxn ang="0">
                  <a:pos x="0" y="142"/>
                </a:cxn>
                <a:cxn ang="0">
                  <a:pos x="44" y="7"/>
                </a:cxn>
              </a:cxnLst>
              <a:rect l="0" t="0" r="r" b="b"/>
              <a:pathLst>
                <a:path w="44" h="142">
                  <a:moveTo>
                    <a:pt x="44" y="7"/>
                  </a:moveTo>
                  <a:cubicBezTo>
                    <a:pt x="29" y="3"/>
                    <a:pt x="15" y="1"/>
                    <a:pt x="0" y="1"/>
                  </a:cubicBezTo>
                  <a:cubicBezTo>
                    <a:pt x="0" y="0"/>
                    <a:pt x="0" y="1"/>
                    <a:pt x="0" y="1"/>
                  </a:cubicBezTo>
                  <a:lnTo>
                    <a:pt x="0" y="142"/>
                  </a:lnTo>
                  <a:lnTo>
                    <a:pt x="44" y="7"/>
                  </a:lnTo>
                  <a:close/>
                </a:path>
              </a:pathLst>
            </a:custGeom>
            <a:solidFill>
              <a:srgbClr val="FF0000"/>
            </a:solidFill>
            <a:ln w="9525">
              <a:solidFill>
                <a:srgbClr val="000000"/>
              </a:solidFill>
              <a:prstDash val="solid"/>
              <a:round/>
              <a:headEnd/>
              <a:tailEnd/>
            </a:ln>
          </p:spPr>
          <p:txBody>
            <a:bodyPr/>
            <a:lstStyle/>
            <a:p>
              <a:endParaRPr lang="en-US"/>
            </a:p>
          </p:txBody>
        </p:sp>
        <p:sp>
          <p:nvSpPr>
            <p:cNvPr id="136236" name="Freeform 44"/>
            <p:cNvSpPr>
              <a:spLocks/>
            </p:cNvSpPr>
            <p:nvPr/>
          </p:nvSpPr>
          <p:spPr bwMode="auto">
            <a:xfrm>
              <a:off x="2766" y="2310"/>
              <a:ext cx="498" cy="810"/>
            </a:xfrm>
            <a:custGeom>
              <a:avLst/>
              <a:gdLst/>
              <a:ahLst/>
              <a:cxnLst>
                <a:cxn ang="0">
                  <a:pos x="83" y="20"/>
                </a:cxn>
                <a:cxn ang="0">
                  <a:pos x="44" y="0"/>
                </a:cxn>
                <a:cxn ang="0">
                  <a:pos x="0" y="135"/>
                </a:cxn>
                <a:cxn ang="0">
                  <a:pos x="83" y="20"/>
                </a:cxn>
              </a:cxnLst>
              <a:rect l="0" t="0" r="r" b="b"/>
              <a:pathLst>
                <a:path w="83" h="135">
                  <a:moveTo>
                    <a:pt x="83" y="20"/>
                  </a:moveTo>
                  <a:cubicBezTo>
                    <a:pt x="71" y="12"/>
                    <a:pt x="58" y="5"/>
                    <a:pt x="44" y="0"/>
                  </a:cubicBezTo>
                  <a:lnTo>
                    <a:pt x="0" y="135"/>
                  </a:lnTo>
                  <a:lnTo>
                    <a:pt x="83" y="20"/>
                  </a:lnTo>
                  <a:close/>
                </a:path>
              </a:pathLst>
            </a:custGeom>
            <a:solidFill>
              <a:srgbClr val="FFFF00"/>
            </a:solidFill>
            <a:ln w="9525">
              <a:solidFill>
                <a:srgbClr val="000000"/>
              </a:solidFill>
              <a:prstDash val="solid"/>
              <a:round/>
              <a:headEnd/>
              <a:tailEnd/>
            </a:ln>
          </p:spPr>
          <p:txBody>
            <a:bodyPr/>
            <a:lstStyle/>
            <a:p>
              <a:endParaRPr lang="en-US"/>
            </a:p>
          </p:txBody>
        </p:sp>
        <p:sp>
          <p:nvSpPr>
            <p:cNvPr id="136237" name="Freeform 45"/>
            <p:cNvSpPr>
              <a:spLocks/>
            </p:cNvSpPr>
            <p:nvPr/>
          </p:nvSpPr>
          <p:spPr bwMode="auto">
            <a:xfrm>
              <a:off x="2766" y="2430"/>
              <a:ext cx="684" cy="690"/>
            </a:xfrm>
            <a:custGeom>
              <a:avLst/>
              <a:gdLst/>
              <a:ahLst/>
              <a:cxnLst>
                <a:cxn ang="0">
                  <a:pos x="114" y="31"/>
                </a:cxn>
                <a:cxn ang="0">
                  <a:pos x="83" y="0"/>
                </a:cxn>
                <a:cxn ang="0">
                  <a:pos x="0" y="115"/>
                </a:cxn>
                <a:cxn ang="0">
                  <a:pos x="114" y="31"/>
                </a:cxn>
              </a:cxnLst>
              <a:rect l="0" t="0" r="r" b="b"/>
              <a:pathLst>
                <a:path w="114" h="115">
                  <a:moveTo>
                    <a:pt x="114" y="31"/>
                  </a:moveTo>
                  <a:cubicBezTo>
                    <a:pt x="105" y="19"/>
                    <a:pt x="95" y="9"/>
                    <a:pt x="83" y="0"/>
                  </a:cubicBezTo>
                  <a:lnTo>
                    <a:pt x="0" y="115"/>
                  </a:lnTo>
                  <a:lnTo>
                    <a:pt x="114" y="31"/>
                  </a:lnTo>
                  <a:close/>
                </a:path>
              </a:pathLst>
            </a:custGeom>
            <a:solidFill>
              <a:srgbClr val="FF0000"/>
            </a:solidFill>
            <a:ln w="9525">
              <a:solidFill>
                <a:srgbClr val="000000"/>
              </a:solidFill>
              <a:prstDash val="solid"/>
              <a:round/>
              <a:headEnd/>
              <a:tailEnd/>
            </a:ln>
          </p:spPr>
          <p:txBody>
            <a:bodyPr/>
            <a:lstStyle/>
            <a:p>
              <a:endParaRPr lang="en-US"/>
            </a:p>
          </p:txBody>
        </p:sp>
        <p:sp>
          <p:nvSpPr>
            <p:cNvPr id="136238" name="Freeform 46"/>
            <p:cNvSpPr>
              <a:spLocks/>
            </p:cNvSpPr>
            <p:nvPr/>
          </p:nvSpPr>
          <p:spPr bwMode="auto">
            <a:xfrm>
              <a:off x="2766" y="2616"/>
              <a:ext cx="804" cy="504"/>
            </a:xfrm>
            <a:custGeom>
              <a:avLst/>
              <a:gdLst/>
              <a:ahLst/>
              <a:cxnLst>
                <a:cxn ang="0">
                  <a:pos x="134" y="39"/>
                </a:cxn>
                <a:cxn ang="0">
                  <a:pos x="114" y="0"/>
                </a:cxn>
                <a:cxn ang="0">
                  <a:pos x="0" y="84"/>
                </a:cxn>
                <a:cxn ang="0">
                  <a:pos x="134" y="39"/>
                </a:cxn>
              </a:cxnLst>
              <a:rect l="0" t="0" r="r" b="b"/>
              <a:pathLst>
                <a:path w="134" h="84">
                  <a:moveTo>
                    <a:pt x="134" y="39"/>
                  </a:moveTo>
                  <a:cubicBezTo>
                    <a:pt x="130" y="25"/>
                    <a:pt x="123" y="12"/>
                    <a:pt x="114" y="0"/>
                  </a:cubicBezTo>
                  <a:lnTo>
                    <a:pt x="0" y="84"/>
                  </a:lnTo>
                  <a:lnTo>
                    <a:pt x="134" y="39"/>
                  </a:lnTo>
                  <a:close/>
                </a:path>
              </a:pathLst>
            </a:custGeom>
            <a:solidFill>
              <a:srgbClr val="FFFF00"/>
            </a:solidFill>
            <a:ln w="9525">
              <a:solidFill>
                <a:srgbClr val="000000"/>
              </a:solidFill>
              <a:prstDash val="solid"/>
              <a:round/>
              <a:headEnd/>
              <a:tailEnd/>
            </a:ln>
          </p:spPr>
          <p:txBody>
            <a:bodyPr/>
            <a:lstStyle/>
            <a:p>
              <a:endParaRPr lang="en-US"/>
            </a:p>
          </p:txBody>
        </p:sp>
        <p:sp>
          <p:nvSpPr>
            <p:cNvPr id="136239" name="Freeform 47"/>
            <p:cNvSpPr>
              <a:spLocks/>
            </p:cNvSpPr>
            <p:nvPr/>
          </p:nvSpPr>
          <p:spPr bwMode="auto">
            <a:xfrm>
              <a:off x="2766" y="2850"/>
              <a:ext cx="846" cy="270"/>
            </a:xfrm>
            <a:custGeom>
              <a:avLst/>
              <a:gdLst/>
              <a:ahLst/>
              <a:cxnLst>
                <a:cxn ang="0">
                  <a:pos x="141" y="44"/>
                </a:cxn>
                <a:cxn ang="0">
                  <a:pos x="134" y="0"/>
                </a:cxn>
                <a:cxn ang="0">
                  <a:pos x="0" y="45"/>
                </a:cxn>
                <a:cxn ang="0">
                  <a:pos x="141" y="44"/>
                </a:cxn>
              </a:cxnLst>
              <a:rect l="0" t="0" r="r" b="b"/>
              <a:pathLst>
                <a:path w="141" h="45">
                  <a:moveTo>
                    <a:pt x="141" y="44"/>
                  </a:moveTo>
                  <a:cubicBezTo>
                    <a:pt x="141" y="29"/>
                    <a:pt x="139" y="15"/>
                    <a:pt x="134" y="0"/>
                  </a:cubicBezTo>
                  <a:lnTo>
                    <a:pt x="0" y="45"/>
                  </a:lnTo>
                  <a:lnTo>
                    <a:pt x="141" y="44"/>
                  </a:lnTo>
                  <a:close/>
                </a:path>
              </a:pathLst>
            </a:custGeom>
            <a:solidFill>
              <a:srgbClr val="FF0000"/>
            </a:solidFill>
            <a:ln w="9525">
              <a:solidFill>
                <a:srgbClr val="000000"/>
              </a:solidFill>
              <a:prstDash val="solid"/>
              <a:round/>
              <a:headEnd/>
              <a:tailEnd/>
            </a:ln>
          </p:spPr>
          <p:txBody>
            <a:bodyPr/>
            <a:lstStyle/>
            <a:p>
              <a:endParaRPr lang="en-US"/>
            </a:p>
          </p:txBody>
        </p:sp>
        <p:sp>
          <p:nvSpPr>
            <p:cNvPr id="136240" name="Freeform 48"/>
            <p:cNvSpPr>
              <a:spLocks/>
            </p:cNvSpPr>
            <p:nvPr/>
          </p:nvSpPr>
          <p:spPr bwMode="auto">
            <a:xfrm>
              <a:off x="2766" y="3114"/>
              <a:ext cx="852" cy="270"/>
            </a:xfrm>
            <a:custGeom>
              <a:avLst/>
              <a:gdLst/>
              <a:ahLst/>
              <a:cxnLst>
                <a:cxn ang="0">
                  <a:pos x="135" y="45"/>
                </a:cxn>
                <a:cxn ang="0">
                  <a:pos x="142" y="1"/>
                </a:cxn>
                <a:cxn ang="0">
                  <a:pos x="141" y="0"/>
                </a:cxn>
                <a:cxn ang="0">
                  <a:pos x="0" y="1"/>
                </a:cxn>
                <a:cxn ang="0">
                  <a:pos x="135" y="45"/>
                </a:cxn>
              </a:cxnLst>
              <a:rect l="0" t="0" r="r" b="b"/>
              <a:pathLst>
                <a:path w="142" h="45">
                  <a:moveTo>
                    <a:pt x="135" y="45"/>
                  </a:moveTo>
                  <a:cubicBezTo>
                    <a:pt x="139" y="31"/>
                    <a:pt x="142" y="16"/>
                    <a:pt x="142" y="1"/>
                  </a:cubicBezTo>
                  <a:cubicBezTo>
                    <a:pt x="142" y="1"/>
                    <a:pt x="141" y="1"/>
                    <a:pt x="141" y="0"/>
                  </a:cubicBezTo>
                  <a:lnTo>
                    <a:pt x="0" y="1"/>
                  </a:lnTo>
                  <a:lnTo>
                    <a:pt x="135" y="45"/>
                  </a:lnTo>
                  <a:close/>
                </a:path>
              </a:pathLst>
            </a:custGeom>
            <a:solidFill>
              <a:srgbClr val="FFFF00"/>
            </a:solidFill>
            <a:ln w="9525">
              <a:solidFill>
                <a:srgbClr val="000000"/>
              </a:solidFill>
              <a:prstDash val="solid"/>
              <a:round/>
              <a:headEnd/>
              <a:tailEnd/>
            </a:ln>
          </p:spPr>
          <p:txBody>
            <a:bodyPr/>
            <a:lstStyle/>
            <a:p>
              <a:endParaRPr lang="en-US"/>
            </a:p>
          </p:txBody>
        </p:sp>
        <p:sp>
          <p:nvSpPr>
            <p:cNvPr id="136241" name="Freeform 49"/>
            <p:cNvSpPr>
              <a:spLocks/>
            </p:cNvSpPr>
            <p:nvPr/>
          </p:nvSpPr>
          <p:spPr bwMode="auto">
            <a:xfrm>
              <a:off x="2766" y="3120"/>
              <a:ext cx="810" cy="498"/>
            </a:xfrm>
            <a:custGeom>
              <a:avLst/>
              <a:gdLst/>
              <a:ahLst/>
              <a:cxnLst>
                <a:cxn ang="0">
                  <a:pos x="114" y="83"/>
                </a:cxn>
                <a:cxn ang="0">
                  <a:pos x="135" y="44"/>
                </a:cxn>
                <a:cxn ang="0">
                  <a:pos x="0" y="0"/>
                </a:cxn>
                <a:cxn ang="0">
                  <a:pos x="114" y="83"/>
                </a:cxn>
              </a:cxnLst>
              <a:rect l="0" t="0" r="r" b="b"/>
              <a:pathLst>
                <a:path w="135" h="83">
                  <a:moveTo>
                    <a:pt x="114" y="83"/>
                  </a:moveTo>
                  <a:cubicBezTo>
                    <a:pt x="123" y="71"/>
                    <a:pt x="130" y="58"/>
                    <a:pt x="135" y="44"/>
                  </a:cubicBezTo>
                  <a:lnTo>
                    <a:pt x="0" y="0"/>
                  </a:lnTo>
                  <a:lnTo>
                    <a:pt x="114" y="83"/>
                  </a:lnTo>
                  <a:close/>
                </a:path>
              </a:pathLst>
            </a:custGeom>
            <a:solidFill>
              <a:srgbClr val="FF0000"/>
            </a:solidFill>
            <a:ln w="9525">
              <a:solidFill>
                <a:srgbClr val="000000"/>
              </a:solidFill>
              <a:prstDash val="solid"/>
              <a:round/>
              <a:headEnd/>
              <a:tailEnd/>
            </a:ln>
          </p:spPr>
          <p:txBody>
            <a:bodyPr/>
            <a:lstStyle/>
            <a:p>
              <a:endParaRPr lang="en-US"/>
            </a:p>
          </p:txBody>
        </p:sp>
        <p:sp>
          <p:nvSpPr>
            <p:cNvPr id="136242" name="Freeform 50"/>
            <p:cNvSpPr>
              <a:spLocks/>
            </p:cNvSpPr>
            <p:nvPr/>
          </p:nvSpPr>
          <p:spPr bwMode="auto">
            <a:xfrm>
              <a:off x="2766" y="3120"/>
              <a:ext cx="684" cy="684"/>
            </a:xfrm>
            <a:custGeom>
              <a:avLst/>
              <a:gdLst/>
              <a:ahLst/>
              <a:cxnLst>
                <a:cxn ang="0">
                  <a:pos x="83" y="114"/>
                </a:cxn>
                <a:cxn ang="0">
                  <a:pos x="114" y="83"/>
                </a:cxn>
                <a:cxn ang="0">
                  <a:pos x="0" y="0"/>
                </a:cxn>
                <a:cxn ang="0">
                  <a:pos x="83" y="114"/>
                </a:cxn>
              </a:cxnLst>
              <a:rect l="0" t="0" r="r" b="b"/>
              <a:pathLst>
                <a:path w="114" h="114">
                  <a:moveTo>
                    <a:pt x="83" y="114"/>
                  </a:moveTo>
                  <a:cubicBezTo>
                    <a:pt x="95" y="106"/>
                    <a:pt x="106" y="95"/>
                    <a:pt x="114" y="83"/>
                  </a:cubicBezTo>
                  <a:lnTo>
                    <a:pt x="0" y="0"/>
                  </a:lnTo>
                  <a:lnTo>
                    <a:pt x="83" y="114"/>
                  </a:lnTo>
                  <a:close/>
                </a:path>
              </a:pathLst>
            </a:custGeom>
            <a:solidFill>
              <a:srgbClr val="FFFF00"/>
            </a:solidFill>
            <a:ln w="9525">
              <a:solidFill>
                <a:srgbClr val="000000"/>
              </a:solidFill>
              <a:prstDash val="solid"/>
              <a:round/>
              <a:headEnd/>
              <a:tailEnd/>
            </a:ln>
          </p:spPr>
          <p:txBody>
            <a:bodyPr/>
            <a:lstStyle/>
            <a:p>
              <a:endParaRPr lang="en-US"/>
            </a:p>
          </p:txBody>
        </p:sp>
        <p:sp>
          <p:nvSpPr>
            <p:cNvPr id="136243" name="Freeform 51"/>
            <p:cNvSpPr>
              <a:spLocks/>
            </p:cNvSpPr>
            <p:nvPr/>
          </p:nvSpPr>
          <p:spPr bwMode="auto">
            <a:xfrm>
              <a:off x="2766" y="3120"/>
              <a:ext cx="498" cy="810"/>
            </a:xfrm>
            <a:custGeom>
              <a:avLst/>
              <a:gdLst/>
              <a:ahLst/>
              <a:cxnLst>
                <a:cxn ang="0">
                  <a:pos x="44" y="135"/>
                </a:cxn>
                <a:cxn ang="0">
                  <a:pos x="83" y="114"/>
                </a:cxn>
                <a:cxn ang="0">
                  <a:pos x="0" y="0"/>
                </a:cxn>
                <a:cxn ang="0">
                  <a:pos x="44" y="135"/>
                </a:cxn>
              </a:cxnLst>
              <a:rect l="0" t="0" r="r" b="b"/>
              <a:pathLst>
                <a:path w="83" h="135">
                  <a:moveTo>
                    <a:pt x="44" y="135"/>
                  </a:moveTo>
                  <a:cubicBezTo>
                    <a:pt x="58" y="130"/>
                    <a:pt x="71" y="123"/>
                    <a:pt x="83" y="114"/>
                  </a:cubicBezTo>
                  <a:lnTo>
                    <a:pt x="0" y="0"/>
                  </a:lnTo>
                  <a:lnTo>
                    <a:pt x="44" y="135"/>
                  </a:lnTo>
                  <a:close/>
                </a:path>
              </a:pathLst>
            </a:custGeom>
            <a:solidFill>
              <a:srgbClr val="FF0000"/>
            </a:solidFill>
            <a:ln w="9525">
              <a:solidFill>
                <a:srgbClr val="000000"/>
              </a:solidFill>
              <a:prstDash val="solid"/>
              <a:round/>
              <a:headEnd/>
              <a:tailEnd/>
            </a:ln>
          </p:spPr>
          <p:txBody>
            <a:bodyPr/>
            <a:lstStyle/>
            <a:p>
              <a:endParaRPr lang="en-US"/>
            </a:p>
          </p:txBody>
        </p:sp>
        <p:sp>
          <p:nvSpPr>
            <p:cNvPr id="136244" name="Freeform 52"/>
            <p:cNvSpPr>
              <a:spLocks/>
            </p:cNvSpPr>
            <p:nvPr/>
          </p:nvSpPr>
          <p:spPr bwMode="auto">
            <a:xfrm>
              <a:off x="2760" y="3120"/>
              <a:ext cx="270" cy="846"/>
            </a:xfrm>
            <a:custGeom>
              <a:avLst/>
              <a:gdLst/>
              <a:ahLst/>
              <a:cxnLst>
                <a:cxn ang="0">
                  <a:pos x="0" y="141"/>
                </a:cxn>
                <a:cxn ang="0">
                  <a:pos x="1" y="141"/>
                </a:cxn>
                <a:cxn ang="0">
                  <a:pos x="45" y="135"/>
                </a:cxn>
                <a:cxn ang="0">
                  <a:pos x="1" y="0"/>
                </a:cxn>
                <a:cxn ang="0">
                  <a:pos x="0" y="141"/>
                </a:cxn>
              </a:cxnLst>
              <a:rect l="0" t="0" r="r" b="b"/>
              <a:pathLst>
                <a:path w="45" h="141">
                  <a:moveTo>
                    <a:pt x="0" y="141"/>
                  </a:moveTo>
                  <a:cubicBezTo>
                    <a:pt x="1" y="141"/>
                    <a:pt x="1" y="141"/>
                    <a:pt x="1" y="141"/>
                  </a:cubicBezTo>
                  <a:cubicBezTo>
                    <a:pt x="16" y="141"/>
                    <a:pt x="31" y="139"/>
                    <a:pt x="45" y="135"/>
                  </a:cubicBezTo>
                  <a:lnTo>
                    <a:pt x="1" y="0"/>
                  </a:lnTo>
                  <a:lnTo>
                    <a:pt x="0" y="141"/>
                  </a:lnTo>
                  <a:close/>
                </a:path>
              </a:pathLst>
            </a:custGeom>
            <a:solidFill>
              <a:srgbClr val="FFFF00"/>
            </a:solidFill>
            <a:ln w="9525">
              <a:solidFill>
                <a:srgbClr val="000000"/>
              </a:solidFill>
              <a:prstDash val="solid"/>
              <a:round/>
              <a:headEnd/>
              <a:tailEnd/>
            </a:ln>
          </p:spPr>
          <p:txBody>
            <a:bodyPr/>
            <a:lstStyle/>
            <a:p>
              <a:endParaRPr lang="en-US"/>
            </a:p>
          </p:txBody>
        </p:sp>
        <p:sp>
          <p:nvSpPr>
            <p:cNvPr id="136245" name="Freeform 53"/>
            <p:cNvSpPr>
              <a:spLocks/>
            </p:cNvSpPr>
            <p:nvPr/>
          </p:nvSpPr>
          <p:spPr bwMode="auto">
            <a:xfrm>
              <a:off x="2496" y="3120"/>
              <a:ext cx="270" cy="846"/>
            </a:xfrm>
            <a:custGeom>
              <a:avLst/>
              <a:gdLst/>
              <a:ahLst/>
              <a:cxnLst>
                <a:cxn ang="0">
                  <a:pos x="0" y="134"/>
                </a:cxn>
                <a:cxn ang="0">
                  <a:pos x="44" y="141"/>
                </a:cxn>
                <a:cxn ang="0">
                  <a:pos x="45" y="0"/>
                </a:cxn>
                <a:cxn ang="0">
                  <a:pos x="0" y="134"/>
                </a:cxn>
              </a:cxnLst>
              <a:rect l="0" t="0" r="r" b="b"/>
              <a:pathLst>
                <a:path w="45" h="141">
                  <a:moveTo>
                    <a:pt x="0" y="134"/>
                  </a:moveTo>
                  <a:cubicBezTo>
                    <a:pt x="15" y="139"/>
                    <a:pt x="29" y="141"/>
                    <a:pt x="44" y="141"/>
                  </a:cubicBezTo>
                  <a:lnTo>
                    <a:pt x="45" y="0"/>
                  </a:lnTo>
                  <a:lnTo>
                    <a:pt x="0" y="134"/>
                  </a:lnTo>
                  <a:close/>
                </a:path>
              </a:pathLst>
            </a:custGeom>
            <a:solidFill>
              <a:srgbClr val="FF0000"/>
            </a:solidFill>
            <a:ln w="9525">
              <a:solidFill>
                <a:srgbClr val="000000"/>
              </a:solidFill>
              <a:prstDash val="solid"/>
              <a:round/>
              <a:headEnd/>
              <a:tailEnd/>
            </a:ln>
          </p:spPr>
          <p:txBody>
            <a:bodyPr/>
            <a:lstStyle/>
            <a:p>
              <a:endParaRPr lang="en-US"/>
            </a:p>
          </p:txBody>
        </p:sp>
        <p:sp>
          <p:nvSpPr>
            <p:cNvPr id="136246" name="Freeform 54"/>
            <p:cNvSpPr>
              <a:spLocks/>
            </p:cNvSpPr>
            <p:nvPr/>
          </p:nvSpPr>
          <p:spPr bwMode="auto">
            <a:xfrm>
              <a:off x="2262" y="3120"/>
              <a:ext cx="504" cy="804"/>
            </a:xfrm>
            <a:custGeom>
              <a:avLst/>
              <a:gdLst/>
              <a:ahLst/>
              <a:cxnLst>
                <a:cxn ang="0">
                  <a:pos x="0" y="114"/>
                </a:cxn>
                <a:cxn ang="0">
                  <a:pos x="39" y="134"/>
                </a:cxn>
                <a:cxn ang="0">
                  <a:pos x="84" y="0"/>
                </a:cxn>
                <a:cxn ang="0">
                  <a:pos x="0" y="114"/>
                </a:cxn>
              </a:cxnLst>
              <a:rect l="0" t="0" r="r" b="b"/>
              <a:pathLst>
                <a:path w="84" h="134">
                  <a:moveTo>
                    <a:pt x="0" y="114"/>
                  </a:moveTo>
                  <a:cubicBezTo>
                    <a:pt x="12" y="123"/>
                    <a:pt x="25" y="130"/>
                    <a:pt x="39" y="134"/>
                  </a:cubicBezTo>
                  <a:lnTo>
                    <a:pt x="84" y="0"/>
                  </a:lnTo>
                  <a:lnTo>
                    <a:pt x="0" y="114"/>
                  </a:lnTo>
                  <a:close/>
                </a:path>
              </a:pathLst>
            </a:custGeom>
            <a:solidFill>
              <a:srgbClr val="FFFF00"/>
            </a:solidFill>
            <a:ln w="9525">
              <a:solidFill>
                <a:srgbClr val="000000"/>
              </a:solidFill>
              <a:prstDash val="solid"/>
              <a:round/>
              <a:headEnd/>
              <a:tailEnd/>
            </a:ln>
          </p:spPr>
          <p:txBody>
            <a:bodyPr/>
            <a:lstStyle/>
            <a:p>
              <a:endParaRPr lang="en-US"/>
            </a:p>
          </p:txBody>
        </p:sp>
        <p:sp>
          <p:nvSpPr>
            <p:cNvPr id="136247" name="Freeform 55"/>
            <p:cNvSpPr>
              <a:spLocks/>
            </p:cNvSpPr>
            <p:nvPr/>
          </p:nvSpPr>
          <p:spPr bwMode="auto">
            <a:xfrm>
              <a:off x="2076" y="3120"/>
              <a:ext cx="690" cy="684"/>
            </a:xfrm>
            <a:custGeom>
              <a:avLst/>
              <a:gdLst/>
              <a:ahLst/>
              <a:cxnLst>
                <a:cxn ang="0">
                  <a:pos x="0" y="83"/>
                </a:cxn>
                <a:cxn ang="0">
                  <a:pos x="31" y="114"/>
                </a:cxn>
                <a:cxn ang="0">
                  <a:pos x="115" y="0"/>
                </a:cxn>
                <a:cxn ang="0">
                  <a:pos x="0" y="83"/>
                </a:cxn>
              </a:cxnLst>
              <a:rect l="0" t="0" r="r" b="b"/>
              <a:pathLst>
                <a:path w="115" h="114">
                  <a:moveTo>
                    <a:pt x="0" y="83"/>
                  </a:moveTo>
                  <a:cubicBezTo>
                    <a:pt x="9" y="95"/>
                    <a:pt x="19" y="105"/>
                    <a:pt x="31" y="114"/>
                  </a:cubicBezTo>
                  <a:lnTo>
                    <a:pt x="115" y="0"/>
                  </a:lnTo>
                  <a:lnTo>
                    <a:pt x="0" y="83"/>
                  </a:lnTo>
                  <a:close/>
                </a:path>
              </a:pathLst>
            </a:custGeom>
            <a:solidFill>
              <a:srgbClr val="FF0000"/>
            </a:solidFill>
            <a:ln w="9525">
              <a:solidFill>
                <a:srgbClr val="000000"/>
              </a:solidFill>
              <a:prstDash val="solid"/>
              <a:round/>
              <a:headEnd/>
              <a:tailEnd/>
            </a:ln>
          </p:spPr>
          <p:txBody>
            <a:bodyPr/>
            <a:lstStyle/>
            <a:p>
              <a:endParaRPr lang="en-US"/>
            </a:p>
          </p:txBody>
        </p:sp>
        <p:sp>
          <p:nvSpPr>
            <p:cNvPr id="136248" name="Freeform 56"/>
            <p:cNvSpPr>
              <a:spLocks/>
            </p:cNvSpPr>
            <p:nvPr/>
          </p:nvSpPr>
          <p:spPr bwMode="auto">
            <a:xfrm>
              <a:off x="1956" y="3120"/>
              <a:ext cx="810" cy="498"/>
            </a:xfrm>
            <a:custGeom>
              <a:avLst/>
              <a:gdLst/>
              <a:ahLst/>
              <a:cxnLst>
                <a:cxn ang="0">
                  <a:pos x="0" y="44"/>
                </a:cxn>
                <a:cxn ang="0">
                  <a:pos x="20" y="83"/>
                </a:cxn>
                <a:cxn ang="0">
                  <a:pos x="135" y="0"/>
                </a:cxn>
                <a:cxn ang="0">
                  <a:pos x="0" y="44"/>
                </a:cxn>
              </a:cxnLst>
              <a:rect l="0" t="0" r="r" b="b"/>
              <a:pathLst>
                <a:path w="135" h="83">
                  <a:moveTo>
                    <a:pt x="0" y="44"/>
                  </a:moveTo>
                  <a:cubicBezTo>
                    <a:pt x="5" y="58"/>
                    <a:pt x="12" y="71"/>
                    <a:pt x="20" y="83"/>
                  </a:cubicBezTo>
                  <a:lnTo>
                    <a:pt x="135" y="0"/>
                  </a:lnTo>
                  <a:lnTo>
                    <a:pt x="0" y="44"/>
                  </a:lnTo>
                  <a:close/>
                </a:path>
              </a:pathLst>
            </a:custGeom>
            <a:solidFill>
              <a:srgbClr val="FFFF00"/>
            </a:solidFill>
            <a:ln w="9525">
              <a:solidFill>
                <a:srgbClr val="000000"/>
              </a:solidFill>
              <a:prstDash val="solid"/>
              <a:round/>
              <a:headEnd/>
              <a:tailEnd/>
            </a:ln>
          </p:spPr>
          <p:txBody>
            <a:bodyPr/>
            <a:lstStyle/>
            <a:p>
              <a:endParaRPr lang="en-US"/>
            </a:p>
          </p:txBody>
        </p:sp>
        <p:sp>
          <p:nvSpPr>
            <p:cNvPr id="136249" name="Freeform 57"/>
            <p:cNvSpPr>
              <a:spLocks/>
            </p:cNvSpPr>
            <p:nvPr/>
          </p:nvSpPr>
          <p:spPr bwMode="auto">
            <a:xfrm>
              <a:off x="1914" y="3120"/>
              <a:ext cx="852" cy="264"/>
            </a:xfrm>
            <a:custGeom>
              <a:avLst/>
              <a:gdLst/>
              <a:ahLst/>
              <a:cxnLst>
                <a:cxn ang="0">
                  <a:pos x="1" y="0"/>
                </a:cxn>
                <a:cxn ang="0">
                  <a:pos x="1" y="0"/>
                </a:cxn>
                <a:cxn ang="0">
                  <a:pos x="7" y="44"/>
                </a:cxn>
                <a:cxn ang="0">
                  <a:pos x="142" y="0"/>
                </a:cxn>
                <a:cxn ang="0">
                  <a:pos x="1" y="0"/>
                </a:cxn>
              </a:cxnLst>
              <a:rect l="0" t="0" r="r" b="b"/>
              <a:pathLst>
                <a:path w="142" h="44">
                  <a:moveTo>
                    <a:pt x="1" y="0"/>
                  </a:moveTo>
                  <a:cubicBezTo>
                    <a:pt x="1" y="0"/>
                    <a:pt x="1" y="0"/>
                    <a:pt x="1" y="0"/>
                  </a:cubicBezTo>
                  <a:cubicBezTo>
                    <a:pt x="0" y="15"/>
                    <a:pt x="3" y="29"/>
                    <a:pt x="7" y="44"/>
                  </a:cubicBezTo>
                  <a:lnTo>
                    <a:pt x="142" y="0"/>
                  </a:lnTo>
                  <a:lnTo>
                    <a:pt x="1" y="0"/>
                  </a:lnTo>
                  <a:close/>
                </a:path>
              </a:pathLst>
            </a:custGeom>
            <a:solidFill>
              <a:srgbClr val="FF0000"/>
            </a:solidFill>
            <a:ln w="9525">
              <a:solidFill>
                <a:srgbClr val="000000"/>
              </a:solidFill>
              <a:prstDash val="solid"/>
              <a:round/>
              <a:headEnd/>
              <a:tailEnd/>
            </a:ln>
          </p:spPr>
          <p:txBody>
            <a:bodyPr/>
            <a:lstStyle/>
            <a:p>
              <a:endParaRPr lang="en-US"/>
            </a:p>
          </p:txBody>
        </p:sp>
        <p:sp>
          <p:nvSpPr>
            <p:cNvPr id="136250" name="Freeform 58"/>
            <p:cNvSpPr>
              <a:spLocks/>
            </p:cNvSpPr>
            <p:nvPr/>
          </p:nvSpPr>
          <p:spPr bwMode="auto">
            <a:xfrm>
              <a:off x="1920" y="2856"/>
              <a:ext cx="846" cy="264"/>
            </a:xfrm>
            <a:custGeom>
              <a:avLst/>
              <a:gdLst/>
              <a:ahLst/>
              <a:cxnLst>
                <a:cxn ang="0">
                  <a:pos x="7" y="0"/>
                </a:cxn>
                <a:cxn ang="0">
                  <a:pos x="0" y="44"/>
                </a:cxn>
                <a:cxn ang="0">
                  <a:pos x="141" y="44"/>
                </a:cxn>
                <a:cxn ang="0">
                  <a:pos x="7" y="0"/>
                </a:cxn>
              </a:cxnLst>
              <a:rect l="0" t="0" r="r" b="b"/>
              <a:pathLst>
                <a:path w="141" h="44">
                  <a:moveTo>
                    <a:pt x="7" y="0"/>
                  </a:moveTo>
                  <a:cubicBezTo>
                    <a:pt x="2" y="14"/>
                    <a:pt x="0" y="29"/>
                    <a:pt x="0" y="44"/>
                  </a:cubicBezTo>
                  <a:lnTo>
                    <a:pt x="141" y="44"/>
                  </a:lnTo>
                  <a:lnTo>
                    <a:pt x="7" y="0"/>
                  </a:lnTo>
                  <a:close/>
                </a:path>
              </a:pathLst>
            </a:custGeom>
            <a:solidFill>
              <a:srgbClr val="FFFF00"/>
            </a:solidFill>
            <a:ln w="9525">
              <a:solidFill>
                <a:srgbClr val="000000"/>
              </a:solidFill>
              <a:prstDash val="solid"/>
              <a:round/>
              <a:headEnd/>
              <a:tailEnd/>
            </a:ln>
          </p:spPr>
          <p:txBody>
            <a:bodyPr/>
            <a:lstStyle/>
            <a:p>
              <a:endParaRPr lang="en-US"/>
            </a:p>
          </p:txBody>
        </p:sp>
        <p:sp>
          <p:nvSpPr>
            <p:cNvPr id="136251" name="Freeform 59"/>
            <p:cNvSpPr>
              <a:spLocks/>
            </p:cNvSpPr>
            <p:nvPr/>
          </p:nvSpPr>
          <p:spPr bwMode="auto">
            <a:xfrm>
              <a:off x="1962" y="2622"/>
              <a:ext cx="804" cy="498"/>
            </a:xfrm>
            <a:custGeom>
              <a:avLst/>
              <a:gdLst/>
              <a:ahLst/>
              <a:cxnLst>
                <a:cxn ang="0">
                  <a:pos x="20" y="0"/>
                </a:cxn>
                <a:cxn ang="0">
                  <a:pos x="0" y="39"/>
                </a:cxn>
                <a:cxn ang="0">
                  <a:pos x="134" y="83"/>
                </a:cxn>
                <a:cxn ang="0">
                  <a:pos x="20" y="0"/>
                </a:cxn>
              </a:cxnLst>
              <a:rect l="0" t="0" r="r" b="b"/>
              <a:pathLst>
                <a:path w="134" h="83">
                  <a:moveTo>
                    <a:pt x="20" y="0"/>
                  </a:moveTo>
                  <a:cubicBezTo>
                    <a:pt x="11" y="11"/>
                    <a:pt x="4" y="25"/>
                    <a:pt x="0" y="39"/>
                  </a:cubicBezTo>
                  <a:lnTo>
                    <a:pt x="134" y="83"/>
                  </a:lnTo>
                  <a:lnTo>
                    <a:pt x="20" y="0"/>
                  </a:lnTo>
                  <a:close/>
                </a:path>
              </a:pathLst>
            </a:custGeom>
            <a:solidFill>
              <a:srgbClr val="FF0000"/>
            </a:solidFill>
            <a:ln w="9525">
              <a:solidFill>
                <a:srgbClr val="000000"/>
              </a:solidFill>
              <a:prstDash val="solid"/>
              <a:round/>
              <a:headEnd/>
              <a:tailEnd/>
            </a:ln>
          </p:spPr>
          <p:txBody>
            <a:bodyPr/>
            <a:lstStyle/>
            <a:p>
              <a:endParaRPr lang="en-US"/>
            </a:p>
          </p:txBody>
        </p:sp>
        <p:sp>
          <p:nvSpPr>
            <p:cNvPr id="136252" name="Freeform 60"/>
            <p:cNvSpPr>
              <a:spLocks/>
            </p:cNvSpPr>
            <p:nvPr/>
          </p:nvSpPr>
          <p:spPr bwMode="auto">
            <a:xfrm>
              <a:off x="2082" y="2436"/>
              <a:ext cx="684" cy="684"/>
            </a:xfrm>
            <a:custGeom>
              <a:avLst/>
              <a:gdLst/>
              <a:ahLst/>
              <a:cxnLst>
                <a:cxn ang="0">
                  <a:pos x="31" y="0"/>
                </a:cxn>
                <a:cxn ang="0">
                  <a:pos x="0" y="31"/>
                </a:cxn>
                <a:cxn ang="0">
                  <a:pos x="114" y="114"/>
                </a:cxn>
                <a:cxn ang="0">
                  <a:pos x="31" y="0"/>
                </a:cxn>
              </a:cxnLst>
              <a:rect l="0" t="0" r="r" b="b"/>
              <a:pathLst>
                <a:path w="114" h="114">
                  <a:moveTo>
                    <a:pt x="31" y="0"/>
                  </a:moveTo>
                  <a:cubicBezTo>
                    <a:pt x="19" y="8"/>
                    <a:pt x="8" y="19"/>
                    <a:pt x="0" y="31"/>
                  </a:cubicBezTo>
                  <a:lnTo>
                    <a:pt x="114" y="114"/>
                  </a:lnTo>
                  <a:lnTo>
                    <a:pt x="31" y="0"/>
                  </a:lnTo>
                  <a:close/>
                </a:path>
              </a:pathLst>
            </a:custGeom>
            <a:solidFill>
              <a:srgbClr val="FFFF00"/>
            </a:solidFill>
            <a:ln w="9525">
              <a:solidFill>
                <a:srgbClr val="000000"/>
              </a:solidFill>
              <a:prstDash val="solid"/>
              <a:round/>
              <a:headEnd/>
              <a:tailEnd/>
            </a:ln>
          </p:spPr>
          <p:txBody>
            <a:bodyPr/>
            <a:lstStyle/>
            <a:p>
              <a:endParaRPr lang="en-US"/>
            </a:p>
          </p:txBody>
        </p:sp>
        <p:sp>
          <p:nvSpPr>
            <p:cNvPr id="136253" name="Freeform 61"/>
            <p:cNvSpPr>
              <a:spLocks/>
            </p:cNvSpPr>
            <p:nvPr/>
          </p:nvSpPr>
          <p:spPr bwMode="auto">
            <a:xfrm>
              <a:off x="2268" y="2316"/>
              <a:ext cx="498" cy="804"/>
            </a:xfrm>
            <a:custGeom>
              <a:avLst/>
              <a:gdLst/>
              <a:ahLst/>
              <a:cxnLst>
                <a:cxn ang="0">
                  <a:pos x="39" y="0"/>
                </a:cxn>
                <a:cxn ang="0">
                  <a:pos x="0" y="20"/>
                </a:cxn>
                <a:cxn ang="0">
                  <a:pos x="83" y="134"/>
                </a:cxn>
                <a:cxn ang="0">
                  <a:pos x="39" y="0"/>
                </a:cxn>
              </a:cxnLst>
              <a:rect l="0" t="0" r="r" b="b"/>
              <a:pathLst>
                <a:path w="83" h="134">
                  <a:moveTo>
                    <a:pt x="39" y="0"/>
                  </a:moveTo>
                  <a:cubicBezTo>
                    <a:pt x="25" y="4"/>
                    <a:pt x="11" y="11"/>
                    <a:pt x="0" y="20"/>
                  </a:cubicBezTo>
                  <a:lnTo>
                    <a:pt x="83" y="134"/>
                  </a:lnTo>
                  <a:lnTo>
                    <a:pt x="39" y="0"/>
                  </a:lnTo>
                  <a:close/>
                </a:path>
              </a:pathLst>
            </a:custGeom>
            <a:solidFill>
              <a:srgbClr val="FF0000"/>
            </a:solidFill>
            <a:ln w="9525">
              <a:solidFill>
                <a:srgbClr val="000000"/>
              </a:solidFill>
              <a:prstDash val="solid"/>
              <a:round/>
              <a:headEnd/>
              <a:tailEnd/>
            </a:ln>
          </p:spPr>
          <p:txBody>
            <a:bodyPr/>
            <a:lstStyle/>
            <a:p>
              <a:endParaRPr lang="en-US"/>
            </a:p>
          </p:txBody>
        </p:sp>
        <p:sp>
          <p:nvSpPr>
            <p:cNvPr id="136254" name="Freeform 62"/>
            <p:cNvSpPr>
              <a:spLocks/>
            </p:cNvSpPr>
            <p:nvPr/>
          </p:nvSpPr>
          <p:spPr bwMode="auto">
            <a:xfrm>
              <a:off x="2502" y="2274"/>
              <a:ext cx="264" cy="846"/>
            </a:xfrm>
            <a:custGeom>
              <a:avLst/>
              <a:gdLst/>
              <a:ahLst/>
              <a:cxnLst>
                <a:cxn ang="0">
                  <a:pos x="44" y="0"/>
                </a:cxn>
                <a:cxn ang="0">
                  <a:pos x="0" y="7"/>
                </a:cxn>
                <a:cxn ang="0">
                  <a:pos x="44" y="141"/>
                </a:cxn>
                <a:cxn ang="0">
                  <a:pos x="44" y="0"/>
                </a:cxn>
              </a:cxnLst>
              <a:rect l="0" t="0" r="r" b="b"/>
              <a:pathLst>
                <a:path w="44" h="141">
                  <a:moveTo>
                    <a:pt x="44" y="0"/>
                  </a:moveTo>
                  <a:cubicBezTo>
                    <a:pt x="29" y="0"/>
                    <a:pt x="14" y="2"/>
                    <a:pt x="0" y="7"/>
                  </a:cubicBezTo>
                  <a:lnTo>
                    <a:pt x="44" y="141"/>
                  </a:lnTo>
                  <a:lnTo>
                    <a:pt x="44" y="0"/>
                  </a:lnTo>
                  <a:close/>
                </a:path>
              </a:pathLst>
            </a:custGeom>
            <a:solidFill>
              <a:srgbClr val="FFFF00"/>
            </a:solidFill>
            <a:ln w="9525">
              <a:solidFill>
                <a:srgbClr val="000000"/>
              </a:solidFill>
              <a:prstDash val="solid"/>
              <a:round/>
              <a:headEnd/>
              <a:tailEnd/>
            </a:ln>
          </p:spPr>
          <p:txBody>
            <a:bodyPr/>
            <a:lstStyle/>
            <a:p>
              <a:endParaRPr lang="en-US"/>
            </a:p>
          </p:txBody>
        </p:sp>
      </p:grpSp>
      <p:sp>
        <p:nvSpPr>
          <p:cNvPr id="136198" name="Rectangle 6"/>
          <p:cNvSpPr>
            <a:spLocks noGrp="1" noChangeArrowheads="1"/>
          </p:cNvSpPr>
          <p:nvPr>
            <p:ph type="title"/>
          </p:nvPr>
        </p:nvSpPr>
        <p:spPr/>
        <p:txBody>
          <a:bodyPr/>
          <a:lstStyle/>
          <a:p>
            <a:r>
              <a:rPr lang="en-US"/>
              <a:t>Do you choose Game A or Game B?</a:t>
            </a:r>
          </a:p>
        </p:txBody>
      </p:sp>
      <p:sp>
        <p:nvSpPr>
          <p:cNvPr id="136201" name="AutoShape 9"/>
          <p:cNvSpPr>
            <a:spLocks noChangeArrowheads="1"/>
          </p:cNvSpPr>
          <p:nvPr/>
        </p:nvSpPr>
        <p:spPr bwMode="auto">
          <a:xfrm>
            <a:off x="4111625" y="4868863"/>
            <a:ext cx="533400" cy="152400"/>
          </a:xfrm>
          <a:prstGeom prst="homePlate">
            <a:avLst>
              <a:gd name="adj" fmla="val 87500"/>
            </a:avLst>
          </a:prstGeom>
          <a:solidFill>
            <a:schemeClr val="tx2"/>
          </a:solidFill>
          <a:ln w="9525">
            <a:solidFill>
              <a:schemeClr val="tx1"/>
            </a:solidFill>
            <a:miter lim="800000"/>
            <a:headEnd/>
            <a:tailEnd/>
          </a:ln>
          <a:effectLst/>
        </p:spPr>
        <p:txBody>
          <a:bodyPr wrap="none" anchor="ctr"/>
          <a:lstStyle/>
          <a:p>
            <a:pPr algn="ctr"/>
            <a:endParaRPr lang="en-US"/>
          </a:p>
        </p:txBody>
      </p:sp>
      <p:sp>
        <p:nvSpPr>
          <p:cNvPr id="136205" name="Text Box 13"/>
          <p:cNvSpPr txBox="1">
            <a:spLocks noChangeArrowheads="1"/>
          </p:cNvSpPr>
          <p:nvPr/>
        </p:nvSpPr>
        <p:spPr bwMode="auto">
          <a:xfrm>
            <a:off x="2622550" y="2438401"/>
            <a:ext cx="1720664" cy="1372683"/>
          </a:xfrm>
          <a:prstGeom prst="rect">
            <a:avLst/>
          </a:prstGeom>
          <a:noFill/>
          <a:ln w="9525">
            <a:noFill/>
            <a:miter lim="800000"/>
            <a:headEnd/>
            <a:tailEnd/>
          </a:ln>
          <a:effectLst/>
        </p:spPr>
        <p:txBody>
          <a:bodyPr wrap="none">
            <a:spAutoFit/>
          </a:bodyPr>
          <a:lstStyle/>
          <a:p>
            <a:pPr marL="169863" indent="-169863">
              <a:spcBef>
                <a:spcPct val="15000"/>
              </a:spcBef>
            </a:pPr>
            <a:r>
              <a:rPr lang="en-US" sz="2800" b="1" u="sng">
                <a:solidFill>
                  <a:srgbClr val="333399"/>
                </a:solidFill>
              </a:rPr>
              <a:t>Game A</a:t>
            </a:r>
          </a:p>
          <a:p>
            <a:pPr marL="169863" indent="-169863">
              <a:spcBef>
                <a:spcPct val="15000"/>
              </a:spcBef>
              <a:buClr>
                <a:srgbClr val="333399"/>
              </a:buClr>
              <a:buFontTx/>
              <a:buChar char="•"/>
            </a:pPr>
            <a:r>
              <a:rPr lang="en-US" sz="2400"/>
              <a:t>Red=$400</a:t>
            </a:r>
          </a:p>
          <a:p>
            <a:pPr marL="169863" indent="-169863">
              <a:spcBef>
                <a:spcPct val="15000"/>
              </a:spcBef>
              <a:buClr>
                <a:srgbClr val="333399"/>
              </a:buClr>
              <a:buFontTx/>
              <a:buChar char="•"/>
            </a:pPr>
            <a:r>
              <a:rPr lang="en-US" sz="2400"/>
              <a:t>Gold=$600</a:t>
            </a:r>
          </a:p>
        </p:txBody>
      </p:sp>
      <p:sp>
        <p:nvSpPr>
          <p:cNvPr id="136206" name="Text Box 14"/>
          <p:cNvSpPr txBox="1">
            <a:spLocks noChangeArrowheads="1"/>
          </p:cNvSpPr>
          <p:nvPr/>
        </p:nvSpPr>
        <p:spPr bwMode="auto">
          <a:xfrm>
            <a:off x="7467601" y="2438401"/>
            <a:ext cx="1876155" cy="1372683"/>
          </a:xfrm>
          <a:prstGeom prst="rect">
            <a:avLst/>
          </a:prstGeom>
          <a:noFill/>
          <a:ln w="9525">
            <a:noFill/>
            <a:miter lim="800000"/>
            <a:headEnd/>
            <a:tailEnd/>
          </a:ln>
          <a:effectLst/>
        </p:spPr>
        <p:txBody>
          <a:bodyPr wrap="none">
            <a:spAutoFit/>
          </a:bodyPr>
          <a:lstStyle/>
          <a:p>
            <a:pPr marL="169863" indent="-169863">
              <a:spcBef>
                <a:spcPct val="15000"/>
              </a:spcBef>
            </a:pPr>
            <a:r>
              <a:rPr lang="en-US" sz="2800" b="1" u="sng">
                <a:solidFill>
                  <a:srgbClr val="333399"/>
                </a:solidFill>
              </a:rPr>
              <a:t>Game B</a:t>
            </a:r>
          </a:p>
          <a:p>
            <a:pPr marL="169863" indent="-169863">
              <a:spcBef>
                <a:spcPct val="15000"/>
              </a:spcBef>
              <a:buClr>
                <a:srgbClr val="333399"/>
              </a:buClr>
              <a:buFontTx/>
              <a:buChar char="•"/>
            </a:pPr>
            <a:r>
              <a:rPr lang="en-US" sz="2400"/>
              <a:t>Red=$100</a:t>
            </a:r>
          </a:p>
          <a:p>
            <a:pPr marL="169863" indent="-169863">
              <a:spcBef>
                <a:spcPct val="15000"/>
              </a:spcBef>
              <a:buClr>
                <a:srgbClr val="333399"/>
              </a:buClr>
              <a:buFontTx/>
              <a:buChar char="•"/>
            </a:pPr>
            <a:r>
              <a:rPr lang="en-US" sz="2400"/>
              <a:t>Gold=$1000</a:t>
            </a:r>
          </a:p>
        </p:txBody>
      </p:sp>
      <p:sp>
        <p:nvSpPr>
          <p:cNvPr id="136230" name="Text Box 38"/>
          <p:cNvSpPr txBox="1">
            <a:spLocks noChangeArrowheads="1"/>
          </p:cNvSpPr>
          <p:nvPr/>
        </p:nvSpPr>
        <p:spPr bwMode="auto">
          <a:xfrm>
            <a:off x="2133600" y="1219200"/>
            <a:ext cx="7696200" cy="1371600"/>
          </a:xfrm>
          <a:prstGeom prst="rect">
            <a:avLst/>
          </a:prstGeom>
          <a:noFill/>
          <a:ln w="9525">
            <a:noFill/>
            <a:miter lim="800000"/>
            <a:headEnd/>
            <a:tailEnd/>
          </a:ln>
          <a:effectLst/>
        </p:spPr>
        <p:txBody>
          <a:bodyPr/>
          <a:lstStyle/>
          <a:p>
            <a:pPr algn="ctr"/>
            <a:r>
              <a:rPr lang="en-US" sz="2800" dirty="0"/>
              <a:t>Spin the wheel and your prize depends on the game you select and the color on the wheel.</a:t>
            </a:r>
          </a:p>
        </p:txBody>
      </p:sp>
    </p:spTree>
    <p:extLst>
      <p:ext uri="{BB962C8B-B14F-4D97-AF65-F5344CB8AC3E}">
        <p14:creationId xmlns:p14="http://schemas.microsoft.com/office/powerpoint/2010/main" val="9924217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7" name="Rectangle 9"/>
          <p:cNvSpPr>
            <a:spLocks noGrp="1" noChangeArrowheads="1"/>
          </p:cNvSpPr>
          <p:nvPr>
            <p:ph type="title"/>
          </p:nvPr>
        </p:nvSpPr>
        <p:spPr/>
        <p:txBody>
          <a:bodyPr/>
          <a:lstStyle/>
          <a:p>
            <a:r>
              <a:rPr lang="en-US"/>
              <a:t>Decision Tree for Game Show</a:t>
            </a:r>
          </a:p>
        </p:txBody>
      </p:sp>
      <p:sp>
        <p:nvSpPr>
          <p:cNvPr id="130062" name="AutoShape 14"/>
          <p:cNvSpPr>
            <a:spLocks noChangeAspect="1" noChangeArrowheads="1" noTextEdit="1"/>
          </p:cNvSpPr>
          <p:nvPr/>
        </p:nvSpPr>
        <p:spPr bwMode="auto">
          <a:xfrm>
            <a:off x="2227263" y="1492250"/>
            <a:ext cx="7620000" cy="4216400"/>
          </a:xfrm>
          <a:prstGeom prst="rect">
            <a:avLst/>
          </a:prstGeom>
          <a:noFill/>
          <a:ln w="9525">
            <a:noFill/>
            <a:miter lim="800000"/>
            <a:headEnd/>
            <a:tailEnd/>
          </a:ln>
        </p:spPr>
        <p:txBody>
          <a:bodyPr/>
          <a:lstStyle/>
          <a:p>
            <a:endParaRPr lang="en-US"/>
          </a:p>
        </p:txBody>
      </p:sp>
      <p:sp>
        <p:nvSpPr>
          <p:cNvPr id="130064" name="Line 16"/>
          <p:cNvSpPr>
            <a:spLocks noChangeShapeType="1"/>
          </p:cNvSpPr>
          <p:nvPr/>
        </p:nvSpPr>
        <p:spPr bwMode="auto">
          <a:xfrm>
            <a:off x="6481764" y="2324100"/>
            <a:ext cx="2022475" cy="1588"/>
          </a:xfrm>
          <a:prstGeom prst="line">
            <a:avLst/>
          </a:prstGeom>
          <a:noFill/>
          <a:ln w="19050">
            <a:solidFill>
              <a:srgbClr val="000000"/>
            </a:solidFill>
            <a:round/>
            <a:headEnd/>
            <a:tailEnd/>
          </a:ln>
        </p:spPr>
        <p:txBody>
          <a:bodyPr/>
          <a:lstStyle/>
          <a:p>
            <a:endParaRPr lang="en-US"/>
          </a:p>
        </p:txBody>
      </p:sp>
      <p:sp>
        <p:nvSpPr>
          <p:cNvPr id="130065" name="Freeform 17"/>
          <p:cNvSpPr>
            <a:spLocks/>
          </p:cNvSpPr>
          <p:nvPr/>
        </p:nvSpPr>
        <p:spPr bwMode="auto">
          <a:xfrm>
            <a:off x="8504238" y="2211388"/>
            <a:ext cx="207962" cy="227012"/>
          </a:xfrm>
          <a:custGeom>
            <a:avLst/>
            <a:gdLst/>
            <a:ahLst/>
            <a:cxnLst>
              <a:cxn ang="0">
                <a:pos x="0" y="71"/>
              </a:cxn>
              <a:cxn ang="0">
                <a:pos x="131" y="0"/>
              </a:cxn>
              <a:cxn ang="0">
                <a:pos x="131" y="143"/>
              </a:cxn>
              <a:cxn ang="0">
                <a:pos x="0" y="71"/>
              </a:cxn>
            </a:cxnLst>
            <a:rect l="0" t="0" r="r" b="b"/>
            <a:pathLst>
              <a:path w="131" h="143">
                <a:moveTo>
                  <a:pt x="0" y="71"/>
                </a:moveTo>
                <a:lnTo>
                  <a:pt x="131" y="0"/>
                </a:lnTo>
                <a:lnTo>
                  <a:pt x="131" y="143"/>
                </a:lnTo>
                <a:lnTo>
                  <a:pt x="0" y="71"/>
                </a:lnTo>
                <a:close/>
              </a:path>
            </a:pathLst>
          </a:custGeom>
          <a:solidFill>
            <a:srgbClr val="FFFFFF"/>
          </a:solidFill>
          <a:ln w="19050">
            <a:solidFill>
              <a:srgbClr val="FF0000"/>
            </a:solidFill>
            <a:prstDash val="solid"/>
            <a:round/>
            <a:headEnd/>
            <a:tailEnd/>
          </a:ln>
        </p:spPr>
        <p:txBody>
          <a:bodyPr/>
          <a:lstStyle/>
          <a:p>
            <a:endParaRPr lang="en-US"/>
          </a:p>
        </p:txBody>
      </p:sp>
      <p:sp>
        <p:nvSpPr>
          <p:cNvPr id="130066" name="Rectangle 18"/>
          <p:cNvSpPr>
            <a:spLocks noChangeArrowheads="1"/>
          </p:cNvSpPr>
          <p:nvPr/>
        </p:nvSpPr>
        <p:spPr bwMode="auto">
          <a:xfrm>
            <a:off x="6481764" y="1946276"/>
            <a:ext cx="1728807" cy="384721"/>
          </a:xfrm>
          <a:prstGeom prst="rect">
            <a:avLst/>
          </a:prstGeom>
          <a:noFill/>
          <a:ln w="9525">
            <a:noFill/>
            <a:miter lim="800000"/>
            <a:headEnd/>
            <a:tailEnd/>
          </a:ln>
        </p:spPr>
        <p:txBody>
          <a:bodyPr wrap="none" lIns="0" tIns="0" rIns="0" bIns="0">
            <a:spAutoFit/>
          </a:bodyPr>
          <a:lstStyle/>
          <a:p>
            <a:r>
              <a:rPr lang="en-US" sz="2500">
                <a:solidFill>
                  <a:srgbClr val="000000"/>
                </a:solidFill>
              </a:rPr>
              <a:t>Lands on Red</a:t>
            </a:r>
            <a:endParaRPr lang="en-US"/>
          </a:p>
        </p:txBody>
      </p:sp>
      <p:sp>
        <p:nvSpPr>
          <p:cNvPr id="130067" name="Rectangle 19"/>
          <p:cNvSpPr>
            <a:spLocks noChangeArrowheads="1"/>
          </p:cNvSpPr>
          <p:nvPr/>
        </p:nvSpPr>
        <p:spPr bwMode="auto">
          <a:xfrm>
            <a:off x="7124700" y="2400301"/>
            <a:ext cx="666016" cy="384721"/>
          </a:xfrm>
          <a:prstGeom prst="rect">
            <a:avLst/>
          </a:prstGeom>
          <a:noFill/>
          <a:ln w="9525">
            <a:noFill/>
            <a:miter lim="800000"/>
            <a:headEnd/>
            <a:tailEnd/>
          </a:ln>
        </p:spPr>
        <p:txBody>
          <a:bodyPr wrap="none" lIns="0" tIns="0" rIns="0" bIns="0">
            <a:spAutoFit/>
          </a:bodyPr>
          <a:lstStyle/>
          <a:p>
            <a:r>
              <a:rPr lang="en-US" sz="2500">
                <a:solidFill>
                  <a:srgbClr val="000000"/>
                </a:solidFill>
              </a:rPr>
              <a:t>pRed</a:t>
            </a:r>
            <a:endParaRPr lang="en-US"/>
          </a:p>
        </p:txBody>
      </p:sp>
      <p:sp>
        <p:nvSpPr>
          <p:cNvPr id="130068" name="Rectangle 20"/>
          <p:cNvSpPr>
            <a:spLocks noChangeArrowheads="1"/>
          </p:cNvSpPr>
          <p:nvPr/>
        </p:nvSpPr>
        <p:spPr bwMode="auto">
          <a:xfrm>
            <a:off x="8883651" y="2154238"/>
            <a:ext cx="811213" cy="381000"/>
          </a:xfrm>
          <a:prstGeom prst="rect">
            <a:avLst/>
          </a:prstGeom>
          <a:noFill/>
          <a:ln w="9525">
            <a:noFill/>
            <a:miter lim="800000"/>
            <a:headEnd/>
            <a:tailEnd/>
          </a:ln>
        </p:spPr>
        <p:txBody>
          <a:bodyPr lIns="0" tIns="0" rIns="0" bIns="0">
            <a:spAutoFit/>
          </a:bodyPr>
          <a:lstStyle/>
          <a:p>
            <a:r>
              <a:rPr lang="en-US" sz="2500">
                <a:solidFill>
                  <a:srgbClr val="000000"/>
                </a:solidFill>
              </a:rPr>
              <a:t>$400</a:t>
            </a:r>
            <a:endParaRPr lang="en-US"/>
          </a:p>
        </p:txBody>
      </p:sp>
      <p:sp>
        <p:nvSpPr>
          <p:cNvPr id="130069" name="Line 21"/>
          <p:cNvSpPr>
            <a:spLocks noChangeShapeType="1"/>
          </p:cNvSpPr>
          <p:nvPr/>
        </p:nvSpPr>
        <p:spPr bwMode="auto">
          <a:xfrm>
            <a:off x="6481764" y="3175000"/>
            <a:ext cx="2022475" cy="1588"/>
          </a:xfrm>
          <a:prstGeom prst="line">
            <a:avLst/>
          </a:prstGeom>
          <a:noFill/>
          <a:ln w="19050">
            <a:solidFill>
              <a:srgbClr val="000000"/>
            </a:solidFill>
            <a:round/>
            <a:headEnd/>
            <a:tailEnd/>
          </a:ln>
        </p:spPr>
        <p:txBody>
          <a:bodyPr/>
          <a:lstStyle/>
          <a:p>
            <a:endParaRPr lang="en-US"/>
          </a:p>
        </p:txBody>
      </p:sp>
      <p:sp>
        <p:nvSpPr>
          <p:cNvPr id="130070" name="Freeform 22"/>
          <p:cNvSpPr>
            <a:spLocks/>
          </p:cNvSpPr>
          <p:nvPr/>
        </p:nvSpPr>
        <p:spPr bwMode="auto">
          <a:xfrm>
            <a:off x="8504238" y="3062289"/>
            <a:ext cx="207962" cy="225425"/>
          </a:xfrm>
          <a:custGeom>
            <a:avLst/>
            <a:gdLst/>
            <a:ahLst/>
            <a:cxnLst>
              <a:cxn ang="0">
                <a:pos x="0" y="71"/>
              </a:cxn>
              <a:cxn ang="0">
                <a:pos x="131" y="0"/>
              </a:cxn>
              <a:cxn ang="0">
                <a:pos x="131" y="142"/>
              </a:cxn>
              <a:cxn ang="0">
                <a:pos x="0" y="71"/>
              </a:cxn>
            </a:cxnLst>
            <a:rect l="0" t="0" r="r" b="b"/>
            <a:pathLst>
              <a:path w="131" h="142">
                <a:moveTo>
                  <a:pt x="0" y="71"/>
                </a:moveTo>
                <a:lnTo>
                  <a:pt x="131" y="0"/>
                </a:lnTo>
                <a:lnTo>
                  <a:pt x="131" y="142"/>
                </a:lnTo>
                <a:lnTo>
                  <a:pt x="0" y="71"/>
                </a:lnTo>
                <a:close/>
              </a:path>
            </a:pathLst>
          </a:custGeom>
          <a:solidFill>
            <a:srgbClr val="FFFFFF"/>
          </a:solidFill>
          <a:ln w="19050">
            <a:solidFill>
              <a:srgbClr val="FF0000"/>
            </a:solidFill>
            <a:prstDash val="solid"/>
            <a:round/>
            <a:headEnd/>
            <a:tailEnd/>
          </a:ln>
        </p:spPr>
        <p:txBody>
          <a:bodyPr/>
          <a:lstStyle/>
          <a:p>
            <a:endParaRPr lang="en-US"/>
          </a:p>
        </p:txBody>
      </p:sp>
      <p:sp>
        <p:nvSpPr>
          <p:cNvPr id="130071" name="Rectangle 23"/>
          <p:cNvSpPr>
            <a:spLocks noChangeArrowheads="1"/>
          </p:cNvSpPr>
          <p:nvPr/>
        </p:nvSpPr>
        <p:spPr bwMode="auto">
          <a:xfrm>
            <a:off x="6481764" y="2778126"/>
            <a:ext cx="1843453" cy="384721"/>
          </a:xfrm>
          <a:prstGeom prst="rect">
            <a:avLst/>
          </a:prstGeom>
          <a:noFill/>
          <a:ln w="9525">
            <a:noFill/>
            <a:miter lim="800000"/>
            <a:headEnd/>
            <a:tailEnd/>
          </a:ln>
        </p:spPr>
        <p:txBody>
          <a:bodyPr wrap="none" lIns="0" tIns="0" rIns="0" bIns="0">
            <a:spAutoFit/>
          </a:bodyPr>
          <a:lstStyle/>
          <a:p>
            <a:r>
              <a:rPr lang="en-US" sz="2500">
                <a:solidFill>
                  <a:srgbClr val="000000"/>
                </a:solidFill>
              </a:rPr>
              <a:t>Lands on Gold</a:t>
            </a:r>
            <a:endParaRPr lang="en-US"/>
          </a:p>
        </p:txBody>
      </p:sp>
      <p:sp>
        <p:nvSpPr>
          <p:cNvPr id="130072" name="Rectangle 24"/>
          <p:cNvSpPr>
            <a:spLocks noChangeArrowheads="1"/>
          </p:cNvSpPr>
          <p:nvPr/>
        </p:nvSpPr>
        <p:spPr bwMode="auto">
          <a:xfrm>
            <a:off x="7408863" y="3251201"/>
            <a:ext cx="160300" cy="384721"/>
          </a:xfrm>
          <a:prstGeom prst="rect">
            <a:avLst/>
          </a:prstGeom>
          <a:noFill/>
          <a:ln w="9525">
            <a:noFill/>
            <a:miter lim="800000"/>
            <a:headEnd/>
            <a:tailEnd/>
          </a:ln>
        </p:spPr>
        <p:txBody>
          <a:bodyPr wrap="none" lIns="0" tIns="0" rIns="0" bIns="0">
            <a:spAutoFit/>
          </a:bodyPr>
          <a:lstStyle/>
          <a:p>
            <a:r>
              <a:rPr lang="en-US" sz="2500">
                <a:solidFill>
                  <a:srgbClr val="000000"/>
                </a:solidFill>
              </a:rPr>
              <a:t>#</a:t>
            </a:r>
            <a:endParaRPr lang="en-US"/>
          </a:p>
        </p:txBody>
      </p:sp>
      <p:sp>
        <p:nvSpPr>
          <p:cNvPr id="130073" name="Rectangle 25"/>
          <p:cNvSpPr>
            <a:spLocks noChangeArrowheads="1"/>
          </p:cNvSpPr>
          <p:nvPr/>
        </p:nvSpPr>
        <p:spPr bwMode="auto">
          <a:xfrm>
            <a:off x="8883651" y="3005138"/>
            <a:ext cx="811213" cy="381000"/>
          </a:xfrm>
          <a:prstGeom prst="rect">
            <a:avLst/>
          </a:prstGeom>
          <a:noFill/>
          <a:ln w="9525">
            <a:noFill/>
            <a:miter lim="800000"/>
            <a:headEnd/>
            <a:tailEnd/>
          </a:ln>
        </p:spPr>
        <p:txBody>
          <a:bodyPr lIns="0" tIns="0" rIns="0" bIns="0">
            <a:spAutoFit/>
          </a:bodyPr>
          <a:lstStyle/>
          <a:p>
            <a:r>
              <a:rPr lang="en-US" sz="2500">
                <a:solidFill>
                  <a:srgbClr val="000000"/>
                </a:solidFill>
              </a:rPr>
              <a:t>$600</a:t>
            </a:r>
            <a:endParaRPr lang="en-US"/>
          </a:p>
        </p:txBody>
      </p:sp>
      <p:sp>
        <p:nvSpPr>
          <p:cNvPr id="130074" name="Line 26"/>
          <p:cNvSpPr>
            <a:spLocks noChangeShapeType="1"/>
          </p:cNvSpPr>
          <p:nvPr/>
        </p:nvSpPr>
        <p:spPr bwMode="auto">
          <a:xfrm flipV="1">
            <a:off x="6046789" y="2324101"/>
            <a:ext cx="434975" cy="434975"/>
          </a:xfrm>
          <a:prstGeom prst="line">
            <a:avLst/>
          </a:prstGeom>
          <a:noFill/>
          <a:ln w="19050">
            <a:solidFill>
              <a:srgbClr val="000000"/>
            </a:solidFill>
            <a:round/>
            <a:headEnd/>
            <a:tailEnd/>
          </a:ln>
        </p:spPr>
        <p:txBody>
          <a:bodyPr/>
          <a:lstStyle/>
          <a:p>
            <a:endParaRPr lang="en-US"/>
          </a:p>
        </p:txBody>
      </p:sp>
      <p:sp>
        <p:nvSpPr>
          <p:cNvPr id="130075" name="Line 27"/>
          <p:cNvSpPr>
            <a:spLocks noChangeShapeType="1"/>
          </p:cNvSpPr>
          <p:nvPr/>
        </p:nvSpPr>
        <p:spPr bwMode="auto">
          <a:xfrm>
            <a:off x="6046789" y="2759076"/>
            <a:ext cx="434975" cy="415925"/>
          </a:xfrm>
          <a:prstGeom prst="line">
            <a:avLst/>
          </a:prstGeom>
          <a:noFill/>
          <a:ln w="19050">
            <a:solidFill>
              <a:srgbClr val="000000"/>
            </a:solidFill>
            <a:round/>
            <a:headEnd/>
            <a:tailEnd/>
          </a:ln>
        </p:spPr>
        <p:txBody>
          <a:bodyPr/>
          <a:lstStyle/>
          <a:p>
            <a:endParaRPr lang="en-US"/>
          </a:p>
        </p:txBody>
      </p:sp>
      <p:sp>
        <p:nvSpPr>
          <p:cNvPr id="130076" name="Line 28"/>
          <p:cNvSpPr>
            <a:spLocks noChangeShapeType="1"/>
          </p:cNvSpPr>
          <p:nvPr/>
        </p:nvSpPr>
        <p:spPr bwMode="auto">
          <a:xfrm>
            <a:off x="4572001" y="2759075"/>
            <a:ext cx="1247775" cy="1588"/>
          </a:xfrm>
          <a:prstGeom prst="line">
            <a:avLst/>
          </a:prstGeom>
          <a:noFill/>
          <a:ln w="19050">
            <a:solidFill>
              <a:srgbClr val="000000"/>
            </a:solidFill>
            <a:round/>
            <a:headEnd/>
            <a:tailEnd/>
          </a:ln>
        </p:spPr>
        <p:txBody>
          <a:bodyPr/>
          <a:lstStyle/>
          <a:p>
            <a:endParaRPr lang="en-US"/>
          </a:p>
        </p:txBody>
      </p:sp>
      <p:sp>
        <p:nvSpPr>
          <p:cNvPr id="130077" name="Oval 29"/>
          <p:cNvSpPr>
            <a:spLocks noChangeArrowheads="1"/>
          </p:cNvSpPr>
          <p:nvPr/>
        </p:nvSpPr>
        <p:spPr bwMode="auto">
          <a:xfrm>
            <a:off x="5819776" y="2646364"/>
            <a:ext cx="207963" cy="225425"/>
          </a:xfrm>
          <a:prstGeom prst="ellipse">
            <a:avLst/>
          </a:prstGeom>
          <a:solidFill>
            <a:srgbClr val="FFFFFF"/>
          </a:solidFill>
          <a:ln w="19050">
            <a:solidFill>
              <a:srgbClr val="008000"/>
            </a:solidFill>
            <a:round/>
            <a:headEnd/>
            <a:tailEnd/>
          </a:ln>
        </p:spPr>
        <p:txBody>
          <a:bodyPr/>
          <a:lstStyle/>
          <a:p>
            <a:endParaRPr lang="en-US"/>
          </a:p>
        </p:txBody>
      </p:sp>
      <p:sp>
        <p:nvSpPr>
          <p:cNvPr id="130078" name="Rectangle 30"/>
          <p:cNvSpPr>
            <a:spLocks noChangeArrowheads="1"/>
          </p:cNvSpPr>
          <p:nvPr/>
        </p:nvSpPr>
        <p:spPr bwMode="auto">
          <a:xfrm>
            <a:off x="4572001" y="2362201"/>
            <a:ext cx="1030731" cy="384721"/>
          </a:xfrm>
          <a:prstGeom prst="rect">
            <a:avLst/>
          </a:prstGeom>
          <a:noFill/>
          <a:ln w="9525">
            <a:noFill/>
            <a:miter lim="800000"/>
            <a:headEnd/>
            <a:tailEnd/>
          </a:ln>
        </p:spPr>
        <p:txBody>
          <a:bodyPr wrap="none" lIns="0" tIns="0" rIns="0" bIns="0">
            <a:spAutoFit/>
          </a:bodyPr>
          <a:lstStyle/>
          <a:p>
            <a:r>
              <a:rPr lang="en-US" sz="2500">
                <a:solidFill>
                  <a:srgbClr val="000000"/>
                </a:solidFill>
              </a:rPr>
              <a:t>Game A</a:t>
            </a:r>
            <a:endParaRPr lang="en-US"/>
          </a:p>
        </p:txBody>
      </p:sp>
      <p:sp>
        <p:nvSpPr>
          <p:cNvPr id="130079" name="Line 31"/>
          <p:cNvSpPr>
            <a:spLocks noChangeShapeType="1"/>
          </p:cNvSpPr>
          <p:nvPr/>
        </p:nvSpPr>
        <p:spPr bwMode="auto">
          <a:xfrm>
            <a:off x="6481764" y="4006850"/>
            <a:ext cx="2022475" cy="1588"/>
          </a:xfrm>
          <a:prstGeom prst="line">
            <a:avLst/>
          </a:prstGeom>
          <a:noFill/>
          <a:ln w="19050">
            <a:solidFill>
              <a:srgbClr val="000000"/>
            </a:solidFill>
            <a:round/>
            <a:headEnd/>
            <a:tailEnd/>
          </a:ln>
        </p:spPr>
        <p:txBody>
          <a:bodyPr/>
          <a:lstStyle/>
          <a:p>
            <a:endParaRPr lang="en-US"/>
          </a:p>
        </p:txBody>
      </p:sp>
      <p:sp>
        <p:nvSpPr>
          <p:cNvPr id="130080" name="Freeform 32"/>
          <p:cNvSpPr>
            <a:spLocks/>
          </p:cNvSpPr>
          <p:nvPr/>
        </p:nvSpPr>
        <p:spPr bwMode="auto">
          <a:xfrm>
            <a:off x="8504238" y="3894138"/>
            <a:ext cx="207962" cy="227012"/>
          </a:xfrm>
          <a:custGeom>
            <a:avLst/>
            <a:gdLst/>
            <a:ahLst/>
            <a:cxnLst>
              <a:cxn ang="0">
                <a:pos x="0" y="71"/>
              </a:cxn>
              <a:cxn ang="0">
                <a:pos x="131" y="0"/>
              </a:cxn>
              <a:cxn ang="0">
                <a:pos x="131" y="143"/>
              </a:cxn>
              <a:cxn ang="0">
                <a:pos x="0" y="71"/>
              </a:cxn>
            </a:cxnLst>
            <a:rect l="0" t="0" r="r" b="b"/>
            <a:pathLst>
              <a:path w="131" h="143">
                <a:moveTo>
                  <a:pt x="0" y="71"/>
                </a:moveTo>
                <a:lnTo>
                  <a:pt x="131" y="0"/>
                </a:lnTo>
                <a:lnTo>
                  <a:pt x="131" y="143"/>
                </a:lnTo>
                <a:lnTo>
                  <a:pt x="0" y="71"/>
                </a:lnTo>
                <a:close/>
              </a:path>
            </a:pathLst>
          </a:custGeom>
          <a:solidFill>
            <a:srgbClr val="FFFFFF"/>
          </a:solidFill>
          <a:ln w="19050">
            <a:solidFill>
              <a:srgbClr val="FF0000"/>
            </a:solidFill>
            <a:prstDash val="solid"/>
            <a:round/>
            <a:headEnd/>
            <a:tailEnd/>
          </a:ln>
        </p:spPr>
        <p:txBody>
          <a:bodyPr/>
          <a:lstStyle/>
          <a:p>
            <a:endParaRPr lang="en-US"/>
          </a:p>
        </p:txBody>
      </p:sp>
      <p:sp>
        <p:nvSpPr>
          <p:cNvPr id="130081" name="Rectangle 33"/>
          <p:cNvSpPr>
            <a:spLocks noChangeArrowheads="1"/>
          </p:cNvSpPr>
          <p:nvPr/>
        </p:nvSpPr>
        <p:spPr bwMode="auto">
          <a:xfrm>
            <a:off x="6481764" y="3609976"/>
            <a:ext cx="1728807" cy="384721"/>
          </a:xfrm>
          <a:prstGeom prst="rect">
            <a:avLst/>
          </a:prstGeom>
          <a:noFill/>
          <a:ln w="9525">
            <a:noFill/>
            <a:miter lim="800000"/>
            <a:headEnd/>
            <a:tailEnd/>
          </a:ln>
        </p:spPr>
        <p:txBody>
          <a:bodyPr wrap="none" lIns="0" tIns="0" rIns="0" bIns="0">
            <a:spAutoFit/>
          </a:bodyPr>
          <a:lstStyle/>
          <a:p>
            <a:r>
              <a:rPr lang="en-US" sz="2500">
                <a:solidFill>
                  <a:srgbClr val="000000"/>
                </a:solidFill>
              </a:rPr>
              <a:t>Lands on Red</a:t>
            </a:r>
            <a:endParaRPr lang="en-US"/>
          </a:p>
        </p:txBody>
      </p:sp>
      <p:sp>
        <p:nvSpPr>
          <p:cNvPr id="130082" name="Rectangle 34"/>
          <p:cNvSpPr>
            <a:spLocks noChangeArrowheads="1"/>
          </p:cNvSpPr>
          <p:nvPr/>
        </p:nvSpPr>
        <p:spPr bwMode="auto">
          <a:xfrm>
            <a:off x="7124700" y="4083051"/>
            <a:ext cx="666016" cy="384721"/>
          </a:xfrm>
          <a:prstGeom prst="rect">
            <a:avLst/>
          </a:prstGeom>
          <a:noFill/>
          <a:ln w="9525">
            <a:noFill/>
            <a:miter lim="800000"/>
            <a:headEnd/>
            <a:tailEnd/>
          </a:ln>
        </p:spPr>
        <p:txBody>
          <a:bodyPr wrap="none" lIns="0" tIns="0" rIns="0" bIns="0">
            <a:spAutoFit/>
          </a:bodyPr>
          <a:lstStyle/>
          <a:p>
            <a:r>
              <a:rPr lang="en-US" sz="2500">
                <a:solidFill>
                  <a:srgbClr val="000000"/>
                </a:solidFill>
              </a:rPr>
              <a:t>pRed</a:t>
            </a:r>
            <a:endParaRPr lang="en-US"/>
          </a:p>
        </p:txBody>
      </p:sp>
      <p:sp>
        <p:nvSpPr>
          <p:cNvPr id="130083" name="Rectangle 35"/>
          <p:cNvSpPr>
            <a:spLocks noChangeArrowheads="1"/>
          </p:cNvSpPr>
          <p:nvPr/>
        </p:nvSpPr>
        <p:spPr bwMode="auto">
          <a:xfrm>
            <a:off x="8883651" y="3836988"/>
            <a:ext cx="811213" cy="381000"/>
          </a:xfrm>
          <a:prstGeom prst="rect">
            <a:avLst/>
          </a:prstGeom>
          <a:noFill/>
          <a:ln w="9525">
            <a:noFill/>
            <a:miter lim="800000"/>
            <a:headEnd/>
            <a:tailEnd/>
          </a:ln>
        </p:spPr>
        <p:txBody>
          <a:bodyPr lIns="0" tIns="0" rIns="0" bIns="0">
            <a:spAutoFit/>
          </a:bodyPr>
          <a:lstStyle/>
          <a:p>
            <a:r>
              <a:rPr lang="en-US" sz="2500">
                <a:solidFill>
                  <a:srgbClr val="000000"/>
                </a:solidFill>
              </a:rPr>
              <a:t>$100</a:t>
            </a:r>
            <a:endParaRPr lang="en-US"/>
          </a:p>
        </p:txBody>
      </p:sp>
      <p:sp>
        <p:nvSpPr>
          <p:cNvPr id="130084" name="Line 36"/>
          <p:cNvSpPr>
            <a:spLocks noChangeShapeType="1"/>
          </p:cNvSpPr>
          <p:nvPr/>
        </p:nvSpPr>
        <p:spPr bwMode="auto">
          <a:xfrm>
            <a:off x="6481764" y="4857750"/>
            <a:ext cx="2022475" cy="1588"/>
          </a:xfrm>
          <a:prstGeom prst="line">
            <a:avLst/>
          </a:prstGeom>
          <a:noFill/>
          <a:ln w="19050">
            <a:solidFill>
              <a:srgbClr val="000000"/>
            </a:solidFill>
            <a:round/>
            <a:headEnd/>
            <a:tailEnd/>
          </a:ln>
        </p:spPr>
        <p:txBody>
          <a:bodyPr/>
          <a:lstStyle/>
          <a:p>
            <a:endParaRPr lang="en-US"/>
          </a:p>
        </p:txBody>
      </p:sp>
      <p:sp>
        <p:nvSpPr>
          <p:cNvPr id="130085" name="Freeform 37"/>
          <p:cNvSpPr>
            <a:spLocks/>
          </p:cNvSpPr>
          <p:nvPr/>
        </p:nvSpPr>
        <p:spPr bwMode="auto">
          <a:xfrm>
            <a:off x="8504238" y="4745039"/>
            <a:ext cx="207962" cy="225425"/>
          </a:xfrm>
          <a:custGeom>
            <a:avLst/>
            <a:gdLst/>
            <a:ahLst/>
            <a:cxnLst>
              <a:cxn ang="0">
                <a:pos x="0" y="71"/>
              </a:cxn>
              <a:cxn ang="0">
                <a:pos x="131" y="0"/>
              </a:cxn>
              <a:cxn ang="0">
                <a:pos x="131" y="142"/>
              </a:cxn>
              <a:cxn ang="0">
                <a:pos x="0" y="71"/>
              </a:cxn>
            </a:cxnLst>
            <a:rect l="0" t="0" r="r" b="b"/>
            <a:pathLst>
              <a:path w="131" h="142">
                <a:moveTo>
                  <a:pt x="0" y="71"/>
                </a:moveTo>
                <a:lnTo>
                  <a:pt x="131" y="0"/>
                </a:lnTo>
                <a:lnTo>
                  <a:pt x="131" y="142"/>
                </a:lnTo>
                <a:lnTo>
                  <a:pt x="0" y="71"/>
                </a:lnTo>
                <a:close/>
              </a:path>
            </a:pathLst>
          </a:custGeom>
          <a:solidFill>
            <a:srgbClr val="FFFFFF"/>
          </a:solidFill>
          <a:ln w="19050">
            <a:solidFill>
              <a:srgbClr val="FF0000"/>
            </a:solidFill>
            <a:prstDash val="solid"/>
            <a:round/>
            <a:headEnd/>
            <a:tailEnd/>
          </a:ln>
        </p:spPr>
        <p:txBody>
          <a:bodyPr/>
          <a:lstStyle/>
          <a:p>
            <a:endParaRPr lang="en-US"/>
          </a:p>
        </p:txBody>
      </p:sp>
      <p:sp>
        <p:nvSpPr>
          <p:cNvPr id="130086" name="Rectangle 38"/>
          <p:cNvSpPr>
            <a:spLocks noChangeArrowheads="1"/>
          </p:cNvSpPr>
          <p:nvPr/>
        </p:nvSpPr>
        <p:spPr bwMode="auto">
          <a:xfrm>
            <a:off x="6481764" y="4460876"/>
            <a:ext cx="1843453" cy="384721"/>
          </a:xfrm>
          <a:prstGeom prst="rect">
            <a:avLst/>
          </a:prstGeom>
          <a:noFill/>
          <a:ln w="9525">
            <a:noFill/>
            <a:miter lim="800000"/>
            <a:headEnd/>
            <a:tailEnd/>
          </a:ln>
        </p:spPr>
        <p:txBody>
          <a:bodyPr wrap="none" lIns="0" tIns="0" rIns="0" bIns="0">
            <a:spAutoFit/>
          </a:bodyPr>
          <a:lstStyle/>
          <a:p>
            <a:r>
              <a:rPr lang="en-US" sz="2500">
                <a:solidFill>
                  <a:srgbClr val="000000"/>
                </a:solidFill>
              </a:rPr>
              <a:t>Lands on Gold</a:t>
            </a:r>
            <a:endParaRPr lang="en-US"/>
          </a:p>
        </p:txBody>
      </p:sp>
      <p:sp>
        <p:nvSpPr>
          <p:cNvPr id="130087" name="Rectangle 39"/>
          <p:cNvSpPr>
            <a:spLocks noChangeArrowheads="1"/>
          </p:cNvSpPr>
          <p:nvPr/>
        </p:nvSpPr>
        <p:spPr bwMode="auto">
          <a:xfrm>
            <a:off x="7408863" y="4933951"/>
            <a:ext cx="160300" cy="384721"/>
          </a:xfrm>
          <a:prstGeom prst="rect">
            <a:avLst/>
          </a:prstGeom>
          <a:noFill/>
          <a:ln w="9525">
            <a:noFill/>
            <a:miter lim="800000"/>
            <a:headEnd/>
            <a:tailEnd/>
          </a:ln>
        </p:spPr>
        <p:txBody>
          <a:bodyPr wrap="none" lIns="0" tIns="0" rIns="0" bIns="0">
            <a:spAutoFit/>
          </a:bodyPr>
          <a:lstStyle/>
          <a:p>
            <a:r>
              <a:rPr lang="en-US" sz="2500">
                <a:solidFill>
                  <a:srgbClr val="000000"/>
                </a:solidFill>
              </a:rPr>
              <a:t>#</a:t>
            </a:r>
            <a:endParaRPr lang="en-US"/>
          </a:p>
        </p:txBody>
      </p:sp>
      <p:sp>
        <p:nvSpPr>
          <p:cNvPr id="130088" name="Rectangle 40"/>
          <p:cNvSpPr>
            <a:spLocks noChangeArrowheads="1"/>
          </p:cNvSpPr>
          <p:nvPr/>
        </p:nvSpPr>
        <p:spPr bwMode="auto">
          <a:xfrm>
            <a:off x="8883651" y="4687888"/>
            <a:ext cx="963613" cy="381000"/>
          </a:xfrm>
          <a:prstGeom prst="rect">
            <a:avLst/>
          </a:prstGeom>
          <a:noFill/>
          <a:ln w="9525">
            <a:noFill/>
            <a:miter lim="800000"/>
            <a:headEnd/>
            <a:tailEnd/>
          </a:ln>
        </p:spPr>
        <p:txBody>
          <a:bodyPr lIns="0" tIns="0" rIns="0" bIns="0">
            <a:spAutoFit/>
          </a:bodyPr>
          <a:lstStyle/>
          <a:p>
            <a:r>
              <a:rPr lang="en-US" sz="2500">
                <a:solidFill>
                  <a:srgbClr val="000000"/>
                </a:solidFill>
              </a:rPr>
              <a:t>$1000</a:t>
            </a:r>
            <a:endParaRPr lang="en-US"/>
          </a:p>
        </p:txBody>
      </p:sp>
      <p:sp>
        <p:nvSpPr>
          <p:cNvPr id="130089" name="Line 41"/>
          <p:cNvSpPr>
            <a:spLocks noChangeShapeType="1"/>
          </p:cNvSpPr>
          <p:nvPr/>
        </p:nvSpPr>
        <p:spPr bwMode="auto">
          <a:xfrm flipV="1">
            <a:off x="6046789" y="4006851"/>
            <a:ext cx="434975" cy="434975"/>
          </a:xfrm>
          <a:prstGeom prst="line">
            <a:avLst/>
          </a:prstGeom>
          <a:noFill/>
          <a:ln w="19050">
            <a:solidFill>
              <a:srgbClr val="000000"/>
            </a:solidFill>
            <a:round/>
            <a:headEnd/>
            <a:tailEnd/>
          </a:ln>
        </p:spPr>
        <p:txBody>
          <a:bodyPr/>
          <a:lstStyle/>
          <a:p>
            <a:endParaRPr lang="en-US"/>
          </a:p>
        </p:txBody>
      </p:sp>
      <p:sp>
        <p:nvSpPr>
          <p:cNvPr id="130090" name="Line 42"/>
          <p:cNvSpPr>
            <a:spLocks noChangeShapeType="1"/>
          </p:cNvSpPr>
          <p:nvPr/>
        </p:nvSpPr>
        <p:spPr bwMode="auto">
          <a:xfrm>
            <a:off x="6046789" y="4441826"/>
            <a:ext cx="434975" cy="415925"/>
          </a:xfrm>
          <a:prstGeom prst="line">
            <a:avLst/>
          </a:prstGeom>
          <a:noFill/>
          <a:ln w="19050">
            <a:solidFill>
              <a:srgbClr val="000000"/>
            </a:solidFill>
            <a:round/>
            <a:headEnd/>
            <a:tailEnd/>
          </a:ln>
        </p:spPr>
        <p:txBody>
          <a:bodyPr/>
          <a:lstStyle/>
          <a:p>
            <a:endParaRPr lang="en-US"/>
          </a:p>
        </p:txBody>
      </p:sp>
      <p:sp>
        <p:nvSpPr>
          <p:cNvPr id="130091" name="Line 43"/>
          <p:cNvSpPr>
            <a:spLocks noChangeShapeType="1"/>
          </p:cNvSpPr>
          <p:nvPr/>
        </p:nvSpPr>
        <p:spPr bwMode="auto">
          <a:xfrm>
            <a:off x="4572001" y="4441825"/>
            <a:ext cx="1247775" cy="1588"/>
          </a:xfrm>
          <a:prstGeom prst="line">
            <a:avLst/>
          </a:prstGeom>
          <a:noFill/>
          <a:ln w="19050">
            <a:solidFill>
              <a:srgbClr val="000000"/>
            </a:solidFill>
            <a:round/>
            <a:headEnd/>
            <a:tailEnd/>
          </a:ln>
        </p:spPr>
        <p:txBody>
          <a:bodyPr/>
          <a:lstStyle/>
          <a:p>
            <a:endParaRPr lang="en-US"/>
          </a:p>
        </p:txBody>
      </p:sp>
      <p:sp>
        <p:nvSpPr>
          <p:cNvPr id="130092" name="Oval 44"/>
          <p:cNvSpPr>
            <a:spLocks noChangeArrowheads="1"/>
          </p:cNvSpPr>
          <p:nvPr/>
        </p:nvSpPr>
        <p:spPr bwMode="auto">
          <a:xfrm>
            <a:off x="5819776" y="4329114"/>
            <a:ext cx="207963" cy="225425"/>
          </a:xfrm>
          <a:prstGeom prst="ellipse">
            <a:avLst/>
          </a:prstGeom>
          <a:solidFill>
            <a:srgbClr val="FFFFFF"/>
          </a:solidFill>
          <a:ln w="19050">
            <a:solidFill>
              <a:srgbClr val="008000"/>
            </a:solidFill>
            <a:round/>
            <a:headEnd/>
            <a:tailEnd/>
          </a:ln>
        </p:spPr>
        <p:txBody>
          <a:bodyPr/>
          <a:lstStyle/>
          <a:p>
            <a:endParaRPr lang="en-US"/>
          </a:p>
        </p:txBody>
      </p:sp>
      <p:sp>
        <p:nvSpPr>
          <p:cNvPr id="130093" name="Rectangle 45"/>
          <p:cNvSpPr>
            <a:spLocks noChangeArrowheads="1"/>
          </p:cNvSpPr>
          <p:nvPr/>
        </p:nvSpPr>
        <p:spPr bwMode="auto">
          <a:xfrm>
            <a:off x="4572000" y="4044951"/>
            <a:ext cx="1019510" cy="384721"/>
          </a:xfrm>
          <a:prstGeom prst="rect">
            <a:avLst/>
          </a:prstGeom>
          <a:noFill/>
          <a:ln w="9525">
            <a:noFill/>
            <a:miter lim="800000"/>
            <a:headEnd/>
            <a:tailEnd/>
          </a:ln>
        </p:spPr>
        <p:txBody>
          <a:bodyPr wrap="none" lIns="0" tIns="0" rIns="0" bIns="0">
            <a:spAutoFit/>
          </a:bodyPr>
          <a:lstStyle/>
          <a:p>
            <a:r>
              <a:rPr lang="en-US" sz="2500">
                <a:solidFill>
                  <a:srgbClr val="000000"/>
                </a:solidFill>
              </a:rPr>
              <a:t>Game B</a:t>
            </a:r>
            <a:endParaRPr lang="en-US"/>
          </a:p>
        </p:txBody>
      </p:sp>
      <p:sp>
        <p:nvSpPr>
          <p:cNvPr id="130094" name="Line 46"/>
          <p:cNvSpPr>
            <a:spLocks noChangeShapeType="1"/>
          </p:cNvSpPr>
          <p:nvPr/>
        </p:nvSpPr>
        <p:spPr bwMode="auto">
          <a:xfrm flipV="1">
            <a:off x="4137026" y="2759075"/>
            <a:ext cx="434975" cy="831850"/>
          </a:xfrm>
          <a:prstGeom prst="line">
            <a:avLst/>
          </a:prstGeom>
          <a:noFill/>
          <a:ln w="19050">
            <a:solidFill>
              <a:srgbClr val="000000"/>
            </a:solidFill>
            <a:round/>
            <a:headEnd/>
            <a:tailEnd/>
          </a:ln>
        </p:spPr>
        <p:txBody>
          <a:bodyPr/>
          <a:lstStyle/>
          <a:p>
            <a:endParaRPr lang="en-US"/>
          </a:p>
        </p:txBody>
      </p:sp>
      <p:sp>
        <p:nvSpPr>
          <p:cNvPr id="130095" name="Line 47"/>
          <p:cNvSpPr>
            <a:spLocks noChangeShapeType="1"/>
          </p:cNvSpPr>
          <p:nvPr/>
        </p:nvSpPr>
        <p:spPr bwMode="auto">
          <a:xfrm>
            <a:off x="4137026" y="3590925"/>
            <a:ext cx="434975" cy="850900"/>
          </a:xfrm>
          <a:prstGeom prst="line">
            <a:avLst/>
          </a:prstGeom>
          <a:noFill/>
          <a:ln w="19050">
            <a:solidFill>
              <a:srgbClr val="000000"/>
            </a:solidFill>
            <a:round/>
            <a:headEnd/>
            <a:tailEnd/>
          </a:ln>
        </p:spPr>
        <p:txBody>
          <a:bodyPr/>
          <a:lstStyle/>
          <a:p>
            <a:endParaRPr lang="en-US"/>
          </a:p>
        </p:txBody>
      </p:sp>
      <p:sp>
        <p:nvSpPr>
          <p:cNvPr id="130096" name="Line 48"/>
          <p:cNvSpPr>
            <a:spLocks noChangeShapeType="1"/>
          </p:cNvSpPr>
          <p:nvPr/>
        </p:nvSpPr>
        <p:spPr bwMode="auto">
          <a:xfrm>
            <a:off x="2681289" y="3590925"/>
            <a:ext cx="1228725" cy="1588"/>
          </a:xfrm>
          <a:prstGeom prst="line">
            <a:avLst/>
          </a:prstGeom>
          <a:noFill/>
          <a:ln w="19050">
            <a:solidFill>
              <a:srgbClr val="000000"/>
            </a:solidFill>
            <a:round/>
            <a:headEnd/>
            <a:tailEnd/>
          </a:ln>
        </p:spPr>
        <p:txBody>
          <a:bodyPr/>
          <a:lstStyle/>
          <a:p>
            <a:endParaRPr lang="en-US"/>
          </a:p>
        </p:txBody>
      </p:sp>
      <p:sp>
        <p:nvSpPr>
          <p:cNvPr id="130097" name="Rectangle 49"/>
          <p:cNvSpPr>
            <a:spLocks noChangeArrowheads="1"/>
          </p:cNvSpPr>
          <p:nvPr/>
        </p:nvSpPr>
        <p:spPr bwMode="auto">
          <a:xfrm>
            <a:off x="3910013" y="3478213"/>
            <a:ext cx="207962" cy="227012"/>
          </a:xfrm>
          <a:prstGeom prst="rect">
            <a:avLst/>
          </a:prstGeom>
          <a:solidFill>
            <a:srgbClr val="FFFFFF"/>
          </a:solidFill>
          <a:ln w="19050">
            <a:solidFill>
              <a:srgbClr val="0000FF"/>
            </a:solidFill>
            <a:miter lim="800000"/>
            <a:headEnd/>
            <a:tailEnd/>
          </a:ln>
        </p:spPr>
        <p:txBody>
          <a:bodyPr/>
          <a:lstStyle/>
          <a:p>
            <a:endParaRPr lang="en-US"/>
          </a:p>
        </p:txBody>
      </p:sp>
      <p:sp>
        <p:nvSpPr>
          <p:cNvPr id="130098" name="Rectangle 50"/>
          <p:cNvSpPr>
            <a:spLocks noChangeArrowheads="1"/>
          </p:cNvSpPr>
          <p:nvPr/>
        </p:nvSpPr>
        <p:spPr bwMode="auto">
          <a:xfrm>
            <a:off x="2681288" y="3194051"/>
            <a:ext cx="961802" cy="384721"/>
          </a:xfrm>
          <a:prstGeom prst="rect">
            <a:avLst/>
          </a:prstGeom>
          <a:noFill/>
          <a:ln w="9525">
            <a:noFill/>
            <a:miter lim="800000"/>
            <a:headEnd/>
            <a:tailEnd/>
          </a:ln>
        </p:spPr>
        <p:txBody>
          <a:bodyPr wrap="none" lIns="0" tIns="0" rIns="0" bIns="0">
            <a:spAutoFit/>
          </a:bodyPr>
          <a:lstStyle/>
          <a:p>
            <a:r>
              <a:rPr lang="en-US" sz="2500">
                <a:solidFill>
                  <a:srgbClr val="000000"/>
                </a:solidFill>
              </a:rPr>
              <a:t>Choose</a:t>
            </a:r>
            <a:endParaRPr lang="en-US"/>
          </a:p>
        </p:txBody>
      </p:sp>
      <p:sp>
        <p:nvSpPr>
          <p:cNvPr id="130099" name="Text Box 51"/>
          <p:cNvSpPr txBox="1">
            <a:spLocks noChangeArrowheads="1"/>
          </p:cNvSpPr>
          <p:nvPr/>
        </p:nvSpPr>
        <p:spPr bwMode="auto">
          <a:xfrm>
            <a:off x="2525219" y="5715000"/>
            <a:ext cx="6957417" cy="523220"/>
          </a:xfrm>
          <a:prstGeom prst="rect">
            <a:avLst/>
          </a:prstGeom>
          <a:noFill/>
          <a:ln w="9525">
            <a:noFill/>
            <a:miter lim="800000"/>
            <a:headEnd/>
            <a:tailEnd/>
          </a:ln>
          <a:effectLst/>
        </p:spPr>
        <p:txBody>
          <a:bodyPr wrap="none">
            <a:spAutoFit/>
          </a:bodyPr>
          <a:lstStyle/>
          <a:p>
            <a:pPr algn="ctr"/>
            <a:r>
              <a:rPr lang="en-US" sz="2800" b="1" dirty="0">
                <a:solidFill>
                  <a:srgbClr val="333399"/>
                </a:solidFill>
              </a:rPr>
              <a:t>Objective: Maximize your expected winnings!</a:t>
            </a:r>
          </a:p>
        </p:txBody>
      </p:sp>
    </p:spTree>
    <p:extLst>
      <p:ext uri="{BB962C8B-B14F-4D97-AF65-F5344CB8AC3E}">
        <p14:creationId xmlns:p14="http://schemas.microsoft.com/office/powerpoint/2010/main" val="2219254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00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9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p:txBody>
          <a:bodyPr/>
          <a:lstStyle/>
          <a:p>
            <a:r>
              <a:rPr lang="en-US"/>
              <a:t>Expected Winnings</a:t>
            </a:r>
          </a:p>
        </p:txBody>
      </p:sp>
      <p:sp>
        <p:nvSpPr>
          <p:cNvPr id="144387" name="AutoShape 3"/>
          <p:cNvSpPr>
            <a:spLocks noChangeAspect="1" noChangeArrowheads="1" noTextEdit="1"/>
          </p:cNvSpPr>
          <p:nvPr/>
        </p:nvSpPr>
        <p:spPr bwMode="auto">
          <a:xfrm>
            <a:off x="2209800" y="1752600"/>
            <a:ext cx="7620000" cy="4216400"/>
          </a:xfrm>
          <a:prstGeom prst="rect">
            <a:avLst/>
          </a:prstGeom>
          <a:noFill/>
          <a:ln w="9525">
            <a:noFill/>
            <a:miter lim="800000"/>
            <a:headEnd/>
            <a:tailEnd/>
          </a:ln>
        </p:spPr>
        <p:txBody>
          <a:bodyPr/>
          <a:lstStyle/>
          <a:p>
            <a:endParaRPr lang="en-US"/>
          </a:p>
        </p:txBody>
      </p:sp>
      <p:sp>
        <p:nvSpPr>
          <p:cNvPr id="144388" name="Line 4"/>
          <p:cNvSpPr>
            <a:spLocks noChangeShapeType="1"/>
          </p:cNvSpPr>
          <p:nvPr/>
        </p:nvSpPr>
        <p:spPr bwMode="auto">
          <a:xfrm>
            <a:off x="6464301" y="2584450"/>
            <a:ext cx="2022475" cy="1588"/>
          </a:xfrm>
          <a:prstGeom prst="line">
            <a:avLst/>
          </a:prstGeom>
          <a:noFill/>
          <a:ln w="19050">
            <a:solidFill>
              <a:srgbClr val="000000"/>
            </a:solidFill>
            <a:round/>
            <a:headEnd/>
            <a:tailEnd/>
          </a:ln>
        </p:spPr>
        <p:txBody>
          <a:bodyPr/>
          <a:lstStyle/>
          <a:p>
            <a:endParaRPr lang="en-US"/>
          </a:p>
        </p:txBody>
      </p:sp>
      <p:sp>
        <p:nvSpPr>
          <p:cNvPr id="144389" name="Freeform 5"/>
          <p:cNvSpPr>
            <a:spLocks/>
          </p:cNvSpPr>
          <p:nvPr/>
        </p:nvSpPr>
        <p:spPr bwMode="auto">
          <a:xfrm>
            <a:off x="8486776" y="2471738"/>
            <a:ext cx="207963" cy="227012"/>
          </a:xfrm>
          <a:custGeom>
            <a:avLst/>
            <a:gdLst/>
            <a:ahLst/>
            <a:cxnLst>
              <a:cxn ang="0">
                <a:pos x="0" y="71"/>
              </a:cxn>
              <a:cxn ang="0">
                <a:pos x="131" y="0"/>
              </a:cxn>
              <a:cxn ang="0">
                <a:pos x="131" y="143"/>
              </a:cxn>
              <a:cxn ang="0">
                <a:pos x="0" y="71"/>
              </a:cxn>
            </a:cxnLst>
            <a:rect l="0" t="0" r="r" b="b"/>
            <a:pathLst>
              <a:path w="131" h="143">
                <a:moveTo>
                  <a:pt x="0" y="71"/>
                </a:moveTo>
                <a:lnTo>
                  <a:pt x="131" y="0"/>
                </a:lnTo>
                <a:lnTo>
                  <a:pt x="131" y="143"/>
                </a:lnTo>
                <a:lnTo>
                  <a:pt x="0" y="71"/>
                </a:lnTo>
                <a:close/>
              </a:path>
            </a:pathLst>
          </a:custGeom>
          <a:solidFill>
            <a:srgbClr val="FFFFFF"/>
          </a:solidFill>
          <a:ln w="19050">
            <a:solidFill>
              <a:srgbClr val="FF0000"/>
            </a:solidFill>
            <a:prstDash val="solid"/>
            <a:round/>
            <a:headEnd/>
            <a:tailEnd/>
          </a:ln>
        </p:spPr>
        <p:txBody>
          <a:bodyPr/>
          <a:lstStyle/>
          <a:p>
            <a:endParaRPr lang="en-US"/>
          </a:p>
        </p:txBody>
      </p:sp>
      <p:sp>
        <p:nvSpPr>
          <p:cNvPr id="144390" name="Rectangle 6"/>
          <p:cNvSpPr>
            <a:spLocks noChangeArrowheads="1"/>
          </p:cNvSpPr>
          <p:nvPr/>
        </p:nvSpPr>
        <p:spPr bwMode="auto">
          <a:xfrm>
            <a:off x="6464301" y="2206626"/>
            <a:ext cx="1801775" cy="384721"/>
          </a:xfrm>
          <a:prstGeom prst="rect">
            <a:avLst/>
          </a:prstGeom>
          <a:noFill/>
          <a:ln w="9525">
            <a:noFill/>
            <a:miter lim="800000"/>
            <a:headEnd/>
            <a:tailEnd/>
          </a:ln>
        </p:spPr>
        <p:txBody>
          <a:bodyPr wrap="none" lIns="0" tIns="0" rIns="0" bIns="0">
            <a:spAutoFit/>
          </a:bodyPr>
          <a:lstStyle/>
          <a:p>
            <a:r>
              <a:rPr lang="en-US" sz="2500">
                <a:solidFill>
                  <a:srgbClr val="000000"/>
                </a:solidFill>
              </a:rPr>
              <a:t>Draw Red Ball</a:t>
            </a:r>
            <a:endParaRPr lang="en-US"/>
          </a:p>
        </p:txBody>
      </p:sp>
      <p:sp>
        <p:nvSpPr>
          <p:cNvPr id="144391" name="Rectangle 7"/>
          <p:cNvSpPr>
            <a:spLocks noChangeArrowheads="1"/>
          </p:cNvSpPr>
          <p:nvPr/>
        </p:nvSpPr>
        <p:spPr bwMode="auto">
          <a:xfrm>
            <a:off x="6858001" y="2667001"/>
            <a:ext cx="1230273" cy="384721"/>
          </a:xfrm>
          <a:prstGeom prst="rect">
            <a:avLst/>
          </a:prstGeom>
          <a:noFill/>
          <a:ln w="9525">
            <a:noFill/>
            <a:miter lim="800000"/>
            <a:headEnd/>
            <a:tailEnd/>
          </a:ln>
        </p:spPr>
        <p:txBody>
          <a:bodyPr wrap="none" lIns="0" tIns="0" rIns="0" bIns="0">
            <a:spAutoFit/>
          </a:bodyPr>
          <a:lstStyle/>
          <a:p>
            <a:r>
              <a:rPr lang="en-US" sz="2500">
                <a:solidFill>
                  <a:srgbClr val="000000"/>
                </a:solidFill>
              </a:rPr>
              <a:t>pRed=0.5</a:t>
            </a:r>
            <a:endParaRPr lang="en-US"/>
          </a:p>
        </p:txBody>
      </p:sp>
      <p:sp>
        <p:nvSpPr>
          <p:cNvPr id="144392" name="Rectangle 8"/>
          <p:cNvSpPr>
            <a:spLocks noChangeArrowheads="1"/>
          </p:cNvSpPr>
          <p:nvPr/>
        </p:nvSpPr>
        <p:spPr bwMode="auto">
          <a:xfrm>
            <a:off x="8866188" y="2414588"/>
            <a:ext cx="811212" cy="381000"/>
          </a:xfrm>
          <a:prstGeom prst="rect">
            <a:avLst/>
          </a:prstGeom>
          <a:noFill/>
          <a:ln w="9525">
            <a:noFill/>
            <a:miter lim="800000"/>
            <a:headEnd/>
            <a:tailEnd/>
          </a:ln>
        </p:spPr>
        <p:txBody>
          <a:bodyPr lIns="0" tIns="0" rIns="0" bIns="0">
            <a:spAutoFit/>
          </a:bodyPr>
          <a:lstStyle/>
          <a:p>
            <a:r>
              <a:rPr lang="en-US" sz="2500">
                <a:solidFill>
                  <a:srgbClr val="000000"/>
                </a:solidFill>
              </a:rPr>
              <a:t>$400</a:t>
            </a:r>
            <a:endParaRPr lang="en-US"/>
          </a:p>
        </p:txBody>
      </p:sp>
      <p:sp>
        <p:nvSpPr>
          <p:cNvPr id="144393" name="Line 9"/>
          <p:cNvSpPr>
            <a:spLocks noChangeShapeType="1"/>
          </p:cNvSpPr>
          <p:nvPr/>
        </p:nvSpPr>
        <p:spPr bwMode="auto">
          <a:xfrm>
            <a:off x="6464301" y="3435350"/>
            <a:ext cx="2022475" cy="1588"/>
          </a:xfrm>
          <a:prstGeom prst="line">
            <a:avLst/>
          </a:prstGeom>
          <a:noFill/>
          <a:ln w="19050">
            <a:solidFill>
              <a:srgbClr val="000000"/>
            </a:solidFill>
            <a:round/>
            <a:headEnd/>
            <a:tailEnd/>
          </a:ln>
        </p:spPr>
        <p:txBody>
          <a:bodyPr/>
          <a:lstStyle/>
          <a:p>
            <a:endParaRPr lang="en-US"/>
          </a:p>
        </p:txBody>
      </p:sp>
      <p:sp>
        <p:nvSpPr>
          <p:cNvPr id="144394" name="Freeform 10"/>
          <p:cNvSpPr>
            <a:spLocks/>
          </p:cNvSpPr>
          <p:nvPr/>
        </p:nvSpPr>
        <p:spPr bwMode="auto">
          <a:xfrm>
            <a:off x="8486776" y="3322639"/>
            <a:ext cx="207963" cy="225425"/>
          </a:xfrm>
          <a:custGeom>
            <a:avLst/>
            <a:gdLst/>
            <a:ahLst/>
            <a:cxnLst>
              <a:cxn ang="0">
                <a:pos x="0" y="71"/>
              </a:cxn>
              <a:cxn ang="0">
                <a:pos x="131" y="0"/>
              </a:cxn>
              <a:cxn ang="0">
                <a:pos x="131" y="142"/>
              </a:cxn>
              <a:cxn ang="0">
                <a:pos x="0" y="71"/>
              </a:cxn>
            </a:cxnLst>
            <a:rect l="0" t="0" r="r" b="b"/>
            <a:pathLst>
              <a:path w="131" h="142">
                <a:moveTo>
                  <a:pt x="0" y="71"/>
                </a:moveTo>
                <a:lnTo>
                  <a:pt x="131" y="0"/>
                </a:lnTo>
                <a:lnTo>
                  <a:pt x="131" y="142"/>
                </a:lnTo>
                <a:lnTo>
                  <a:pt x="0" y="71"/>
                </a:lnTo>
                <a:close/>
              </a:path>
            </a:pathLst>
          </a:custGeom>
          <a:solidFill>
            <a:srgbClr val="FFFFFF"/>
          </a:solidFill>
          <a:ln w="19050">
            <a:solidFill>
              <a:srgbClr val="FF0000"/>
            </a:solidFill>
            <a:prstDash val="solid"/>
            <a:round/>
            <a:headEnd/>
            <a:tailEnd/>
          </a:ln>
        </p:spPr>
        <p:txBody>
          <a:bodyPr/>
          <a:lstStyle/>
          <a:p>
            <a:endParaRPr lang="en-US"/>
          </a:p>
        </p:txBody>
      </p:sp>
      <p:sp>
        <p:nvSpPr>
          <p:cNvPr id="144395" name="Rectangle 11"/>
          <p:cNvSpPr>
            <a:spLocks noChangeArrowheads="1"/>
          </p:cNvSpPr>
          <p:nvPr/>
        </p:nvSpPr>
        <p:spPr bwMode="auto">
          <a:xfrm>
            <a:off x="6464300" y="3038476"/>
            <a:ext cx="1916422" cy="384721"/>
          </a:xfrm>
          <a:prstGeom prst="rect">
            <a:avLst/>
          </a:prstGeom>
          <a:noFill/>
          <a:ln w="9525">
            <a:noFill/>
            <a:miter lim="800000"/>
            <a:headEnd/>
            <a:tailEnd/>
          </a:ln>
        </p:spPr>
        <p:txBody>
          <a:bodyPr wrap="none" lIns="0" tIns="0" rIns="0" bIns="0">
            <a:spAutoFit/>
          </a:bodyPr>
          <a:lstStyle/>
          <a:p>
            <a:r>
              <a:rPr lang="en-US" sz="2500">
                <a:solidFill>
                  <a:srgbClr val="000000"/>
                </a:solidFill>
              </a:rPr>
              <a:t>Draw Gold Ball</a:t>
            </a:r>
            <a:endParaRPr lang="en-US"/>
          </a:p>
        </p:txBody>
      </p:sp>
      <p:sp>
        <p:nvSpPr>
          <p:cNvPr id="144396" name="Rectangle 12"/>
          <p:cNvSpPr>
            <a:spLocks noChangeArrowheads="1"/>
          </p:cNvSpPr>
          <p:nvPr/>
        </p:nvSpPr>
        <p:spPr bwMode="auto">
          <a:xfrm>
            <a:off x="7391400" y="3511551"/>
            <a:ext cx="160300" cy="384721"/>
          </a:xfrm>
          <a:prstGeom prst="rect">
            <a:avLst/>
          </a:prstGeom>
          <a:noFill/>
          <a:ln w="9525">
            <a:noFill/>
            <a:miter lim="800000"/>
            <a:headEnd/>
            <a:tailEnd/>
          </a:ln>
        </p:spPr>
        <p:txBody>
          <a:bodyPr wrap="none" lIns="0" tIns="0" rIns="0" bIns="0">
            <a:spAutoFit/>
          </a:bodyPr>
          <a:lstStyle/>
          <a:p>
            <a:r>
              <a:rPr lang="en-US" sz="2500">
                <a:solidFill>
                  <a:srgbClr val="000000"/>
                </a:solidFill>
              </a:rPr>
              <a:t>#</a:t>
            </a:r>
            <a:endParaRPr lang="en-US"/>
          </a:p>
        </p:txBody>
      </p:sp>
      <p:sp>
        <p:nvSpPr>
          <p:cNvPr id="144397" name="Rectangle 13"/>
          <p:cNvSpPr>
            <a:spLocks noChangeArrowheads="1"/>
          </p:cNvSpPr>
          <p:nvPr/>
        </p:nvSpPr>
        <p:spPr bwMode="auto">
          <a:xfrm>
            <a:off x="8866188" y="3265488"/>
            <a:ext cx="811212" cy="381000"/>
          </a:xfrm>
          <a:prstGeom prst="rect">
            <a:avLst/>
          </a:prstGeom>
          <a:noFill/>
          <a:ln w="9525">
            <a:noFill/>
            <a:miter lim="800000"/>
            <a:headEnd/>
            <a:tailEnd/>
          </a:ln>
        </p:spPr>
        <p:txBody>
          <a:bodyPr lIns="0" tIns="0" rIns="0" bIns="0">
            <a:spAutoFit/>
          </a:bodyPr>
          <a:lstStyle/>
          <a:p>
            <a:r>
              <a:rPr lang="en-US" sz="2500">
                <a:solidFill>
                  <a:srgbClr val="000000"/>
                </a:solidFill>
              </a:rPr>
              <a:t>$600</a:t>
            </a:r>
            <a:endParaRPr lang="en-US"/>
          </a:p>
        </p:txBody>
      </p:sp>
      <p:sp>
        <p:nvSpPr>
          <p:cNvPr id="144398" name="Line 14"/>
          <p:cNvSpPr>
            <a:spLocks noChangeShapeType="1"/>
          </p:cNvSpPr>
          <p:nvPr/>
        </p:nvSpPr>
        <p:spPr bwMode="auto">
          <a:xfrm flipV="1">
            <a:off x="6029326" y="2584451"/>
            <a:ext cx="434975" cy="434975"/>
          </a:xfrm>
          <a:prstGeom prst="line">
            <a:avLst/>
          </a:prstGeom>
          <a:noFill/>
          <a:ln w="19050">
            <a:solidFill>
              <a:srgbClr val="000000"/>
            </a:solidFill>
            <a:round/>
            <a:headEnd/>
            <a:tailEnd/>
          </a:ln>
        </p:spPr>
        <p:txBody>
          <a:bodyPr/>
          <a:lstStyle/>
          <a:p>
            <a:endParaRPr lang="en-US"/>
          </a:p>
        </p:txBody>
      </p:sp>
      <p:sp>
        <p:nvSpPr>
          <p:cNvPr id="144399" name="Line 15"/>
          <p:cNvSpPr>
            <a:spLocks noChangeShapeType="1"/>
          </p:cNvSpPr>
          <p:nvPr/>
        </p:nvSpPr>
        <p:spPr bwMode="auto">
          <a:xfrm>
            <a:off x="6029326" y="3019426"/>
            <a:ext cx="434975" cy="415925"/>
          </a:xfrm>
          <a:prstGeom prst="line">
            <a:avLst/>
          </a:prstGeom>
          <a:noFill/>
          <a:ln w="19050">
            <a:solidFill>
              <a:srgbClr val="000000"/>
            </a:solidFill>
            <a:round/>
            <a:headEnd/>
            <a:tailEnd/>
          </a:ln>
        </p:spPr>
        <p:txBody>
          <a:bodyPr/>
          <a:lstStyle/>
          <a:p>
            <a:endParaRPr lang="en-US"/>
          </a:p>
        </p:txBody>
      </p:sp>
      <p:sp>
        <p:nvSpPr>
          <p:cNvPr id="144400" name="Line 16"/>
          <p:cNvSpPr>
            <a:spLocks noChangeShapeType="1"/>
          </p:cNvSpPr>
          <p:nvPr/>
        </p:nvSpPr>
        <p:spPr bwMode="auto">
          <a:xfrm>
            <a:off x="4554539" y="3019425"/>
            <a:ext cx="1247775" cy="1588"/>
          </a:xfrm>
          <a:prstGeom prst="line">
            <a:avLst/>
          </a:prstGeom>
          <a:noFill/>
          <a:ln w="19050">
            <a:solidFill>
              <a:srgbClr val="000000"/>
            </a:solidFill>
            <a:round/>
            <a:headEnd/>
            <a:tailEnd/>
          </a:ln>
        </p:spPr>
        <p:txBody>
          <a:bodyPr/>
          <a:lstStyle/>
          <a:p>
            <a:endParaRPr lang="en-US"/>
          </a:p>
        </p:txBody>
      </p:sp>
      <p:sp>
        <p:nvSpPr>
          <p:cNvPr id="144401" name="Oval 17"/>
          <p:cNvSpPr>
            <a:spLocks noChangeArrowheads="1"/>
          </p:cNvSpPr>
          <p:nvPr/>
        </p:nvSpPr>
        <p:spPr bwMode="auto">
          <a:xfrm>
            <a:off x="5802313" y="2906714"/>
            <a:ext cx="207962" cy="225425"/>
          </a:xfrm>
          <a:prstGeom prst="ellipse">
            <a:avLst/>
          </a:prstGeom>
          <a:solidFill>
            <a:srgbClr val="FFFFFF"/>
          </a:solidFill>
          <a:ln w="19050">
            <a:solidFill>
              <a:srgbClr val="008000"/>
            </a:solidFill>
            <a:round/>
            <a:headEnd/>
            <a:tailEnd/>
          </a:ln>
        </p:spPr>
        <p:txBody>
          <a:bodyPr/>
          <a:lstStyle/>
          <a:p>
            <a:endParaRPr lang="en-US"/>
          </a:p>
        </p:txBody>
      </p:sp>
      <p:sp>
        <p:nvSpPr>
          <p:cNvPr id="144402" name="Rectangle 18"/>
          <p:cNvSpPr>
            <a:spLocks noChangeArrowheads="1"/>
          </p:cNvSpPr>
          <p:nvPr/>
        </p:nvSpPr>
        <p:spPr bwMode="auto">
          <a:xfrm>
            <a:off x="4554539" y="2622551"/>
            <a:ext cx="1030731" cy="384721"/>
          </a:xfrm>
          <a:prstGeom prst="rect">
            <a:avLst/>
          </a:prstGeom>
          <a:noFill/>
          <a:ln w="9525">
            <a:noFill/>
            <a:miter lim="800000"/>
            <a:headEnd/>
            <a:tailEnd/>
          </a:ln>
        </p:spPr>
        <p:txBody>
          <a:bodyPr wrap="none" lIns="0" tIns="0" rIns="0" bIns="0">
            <a:spAutoFit/>
          </a:bodyPr>
          <a:lstStyle/>
          <a:p>
            <a:r>
              <a:rPr lang="en-US" sz="2500">
                <a:solidFill>
                  <a:srgbClr val="000000"/>
                </a:solidFill>
              </a:rPr>
              <a:t>Game A</a:t>
            </a:r>
            <a:endParaRPr lang="en-US"/>
          </a:p>
        </p:txBody>
      </p:sp>
      <p:sp>
        <p:nvSpPr>
          <p:cNvPr id="144403" name="Line 19"/>
          <p:cNvSpPr>
            <a:spLocks noChangeShapeType="1"/>
          </p:cNvSpPr>
          <p:nvPr/>
        </p:nvSpPr>
        <p:spPr bwMode="auto">
          <a:xfrm>
            <a:off x="6464301" y="4267200"/>
            <a:ext cx="2022475" cy="1588"/>
          </a:xfrm>
          <a:prstGeom prst="line">
            <a:avLst/>
          </a:prstGeom>
          <a:noFill/>
          <a:ln w="19050">
            <a:solidFill>
              <a:srgbClr val="000000"/>
            </a:solidFill>
            <a:round/>
            <a:headEnd/>
            <a:tailEnd/>
          </a:ln>
        </p:spPr>
        <p:txBody>
          <a:bodyPr/>
          <a:lstStyle/>
          <a:p>
            <a:endParaRPr lang="en-US"/>
          </a:p>
        </p:txBody>
      </p:sp>
      <p:sp>
        <p:nvSpPr>
          <p:cNvPr id="144404" name="Freeform 20"/>
          <p:cNvSpPr>
            <a:spLocks/>
          </p:cNvSpPr>
          <p:nvPr/>
        </p:nvSpPr>
        <p:spPr bwMode="auto">
          <a:xfrm>
            <a:off x="8486776" y="4154488"/>
            <a:ext cx="207963" cy="227012"/>
          </a:xfrm>
          <a:custGeom>
            <a:avLst/>
            <a:gdLst/>
            <a:ahLst/>
            <a:cxnLst>
              <a:cxn ang="0">
                <a:pos x="0" y="71"/>
              </a:cxn>
              <a:cxn ang="0">
                <a:pos x="131" y="0"/>
              </a:cxn>
              <a:cxn ang="0">
                <a:pos x="131" y="143"/>
              </a:cxn>
              <a:cxn ang="0">
                <a:pos x="0" y="71"/>
              </a:cxn>
            </a:cxnLst>
            <a:rect l="0" t="0" r="r" b="b"/>
            <a:pathLst>
              <a:path w="131" h="143">
                <a:moveTo>
                  <a:pt x="0" y="71"/>
                </a:moveTo>
                <a:lnTo>
                  <a:pt x="131" y="0"/>
                </a:lnTo>
                <a:lnTo>
                  <a:pt x="131" y="143"/>
                </a:lnTo>
                <a:lnTo>
                  <a:pt x="0" y="71"/>
                </a:lnTo>
                <a:close/>
              </a:path>
            </a:pathLst>
          </a:custGeom>
          <a:solidFill>
            <a:srgbClr val="FFFFFF"/>
          </a:solidFill>
          <a:ln w="19050">
            <a:solidFill>
              <a:srgbClr val="FF0000"/>
            </a:solidFill>
            <a:prstDash val="solid"/>
            <a:round/>
            <a:headEnd/>
            <a:tailEnd/>
          </a:ln>
        </p:spPr>
        <p:txBody>
          <a:bodyPr/>
          <a:lstStyle/>
          <a:p>
            <a:endParaRPr lang="en-US"/>
          </a:p>
        </p:txBody>
      </p:sp>
      <p:sp>
        <p:nvSpPr>
          <p:cNvPr id="144405" name="Rectangle 21"/>
          <p:cNvSpPr>
            <a:spLocks noChangeArrowheads="1"/>
          </p:cNvSpPr>
          <p:nvPr/>
        </p:nvSpPr>
        <p:spPr bwMode="auto">
          <a:xfrm>
            <a:off x="6464301" y="3870326"/>
            <a:ext cx="1801775" cy="384721"/>
          </a:xfrm>
          <a:prstGeom prst="rect">
            <a:avLst/>
          </a:prstGeom>
          <a:noFill/>
          <a:ln w="9525">
            <a:noFill/>
            <a:miter lim="800000"/>
            <a:headEnd/>
            <a:tailEnd/>
          </a:ln>
        </p:spPr>
        <p:txBody>
          <a:bodyPr wrap="none" lIns="0" tIns="0" rIns="0" bIns="0">
            <a:spAutoFit/>
          </a:bodyPr>
          <a:lstStyle/>
          <a:p>
            <a:r>
              <a:rPr lang="en-US" sz="2500">
                <a:solidFill>
                  <a:srgbClr val="000000"/>
                </a:solidFill>
              </a:rPr>
              <a:t>Draw Red Ball</a:t>
            </a:r>
            <a:endParaRPr lang="en-US"/>
          </a:p>
        </p:txBody>
      </p:sp>
      <p:sp>
        <p:nvSpPr>
          <p:cNvPr id="144406" name="Rectangle 22"/>
          <p:cNvSpPr>
            <a:spLocks noChangeArrowheads="1"/>
          </p:cNvSpPr>
          <p:nvPr/>
        </p:nvSpPr>
        <p:spPr bwMode="auto">
          <a:xfrm>
            <a:off x="6858001" y="4349751"/>
            <a:ext cx="1230273" cy="384721"/>
          </a:xfrm>
          <a:prstGeom prst="rect">
            <a:avLst/>
          </a:prstGeom>
          <a:noFill/>
          <a:ln w="9525">
            <a:noFill/>
            <a:miter lim="800000"/>
            <a:headEnd/>
            <a:tailEnd/>
          </a:ln>
        </p:spPr>
        <p:txBody>
          <a:bodyPr wrap="none" lIns="0" tIns="0" rIns="0" bIns="0">
            <a:spAutoFit/>
          </a:bodyPr>
          <a:lstStyle/>
          <a:p>
            <a:r>
              <a:rPr lang="en-US" sz="2500">
                <a:solidFill>
                  <a:srgbClr val="000000"/>
                </a:solidFill>
              </a:rPr>
              <a:t>pRed=0.5</a:t>
            </a:r>
            <a:endParaRPr lang="en-US"/>
          </a:p>
        </p:txBody>
      </p:sp>
      <p:sp>
        <p:nvSpPr>
          <p:cNvPr id="144407" name="Rectangle 23"/>
          <p:cNvSpPr>
            <a:spLocks noChangeArrowheads="1"/>
          </p:cNvSpPr>
          <p:nvPr/>
        </p:nvSpPr>
        <p:spPr bwMode="auto">
          <a:xfrm>
            <a:off x="8866188" y="4097338"/>
            <a:ext cx="811212" cy="381000"/>
          </a:xfrm>
          <a:prstGeom prst="rect">
            <a:avLst/>
          </a:prstGeom>
          <a:noFill/>
          <a:ln w="9525">
            <a:noFill/>
            <a:miter lim="800000"/>
            <a:headEnd/>
            <a:tailEnd/>
          </a:ln>
        </p:spPr>
        <p:txBody>
          <a:bodyPr lIns="0" tIns="0" rIns="0" bIns="0">
            <a:spAutoFit/>
          </a:bodyPr>
          <a:lstStyle/>
          <a:p>
            <a:r>
              <a:rPr lang="en-US" sz="2500">
                <a:solidFill>
                  <a:srgbClr val="000000"/>
                </a:solidFill>
              </a:rPr>
              <a:t>$100</a:t>
            </a:r>
            <a:endParaRPr lang="en-US"/>
          </a:p>
        </p:txBody>
      </p:sp>
      <p:sp>
        <p:nvSpPr>
          <p:cNvPr id="144408" name="Line 24"/>
          <p:cNvSpPr>
            <a:spLocks noChangeShapeType="1"/>
          </p:cNvSpPr>
          <p:nvPr/>
        </p:nvSpPr>
        <p:spPr bwMode="auto">
          <a:xfrm>
            <a:off x="6464301" y="5118100"/>
            <a:ext cx="2022475" cy="1588"/>
          </a:xfrm>
          <a:prstGeom prst="line">
            <a:avLst/>
          </a:prstGeom>
          <a:noFill/>
          <a:ln w="19050">
            <a:solidFill>
              <a:srgbClr val="000000"/>
            </a:solidFill>
            <a:round/>
            <a:headEnd/>
            <a:tailEnd/>
          </a:ln>
        </p:spPr>
        <p:txBody>
          <a:bodyPr/>
          <a:lstStyle/>
          <a:p>
            <a:endParaRPr lang="en-US"/>
          </a:p>
        </p:txBody>
      </p:sp>
      <p:sp>
        <p:nvSpPr>
          <p:cNvPr id="144409" name="Freeform 25"/>
          <p:cNvSpPr>
            <a:spLocks/>
          </p:cNvSpPr>
          <p:nvPr/>
        </p:nvSpPr>
        <p:spPr bwMode="auto">
          <a:xfrm>
            <a:off x="8486776" y="5005389"/>
            <a:ext cx="207963" cy="225425"/>
          </a:xfrm>
          <a:custGeom>
            <a:avLst/>
            <a:gdLst/>
            <a:ahLst/>
            <a:cxnLst>
              <a:cxn ang="0">
                <a:pos x="0" y="71"/>
              </a:cxn>
              <a:cxn ang="0">
                <a:pos x="131" y="0"/>
              </a:cxn>
              <a:cxn ang="0">
                <a:pos x="131" y="142"/>
              </a:cxn>
              <a:cxn ang="0">
                <a:pos x="0" y="71"/>
              </a:cxn>
            </a:cxnLst>
            <a:rect l="0" t="0" r="r" b="b"/>
            <a:pathLst>
              <a:path w="131" h="142">
                <a:moveTo>
                  <a:pt x="0" y="71"/>
                </a:moveTo>
                <a:lnTo>
                  <a:pt x="131" y="0"/>
                </a:lnTo>
                <a:lnTo>
                  <a:pt x="131" y="142"/>
                </a:lnTo>
                <a:lnTo>
                  <a:pt x="0" y="71"/>
                </a:lnTo>
                <a:close/>
              </a:path>
            </a:pathLst>
          </a:custGeom>
          <a:solidFill>
            <a:srgbClr val="FFFFFF"/>
          </a:solidFill>
          <a:ln w="19050">
            <a:solidFill>
              <a:srgbClr val="FF0000"/>
            </a:solidFill>
            <a:prstDash val="solid"/>
            <a:round/>
            <a:headEnd/>
            <a:tailEnd/>
          </a:ln>
        </p:spPr>
        <p:txBody>
          <a:bodyPr/>
          <a:lstStyle/>
          <a:p>
            <a:endParaRPr lang="en-US"/>
          </a:p>
        </p:txBody>
      </p:sp>
      <p:sp>
        <p:nvSpPr>
          <p:cNvPr id="144410" name="Rectangle 26"/>
          <p:cNvSpPr>
            <a:spLocks noChangeArrowheads="1"/>
          </p:cNvSpPr>
          <p:nvPr/>
        </p:nvSpPr>
        <p:spPr bwMode="auto">
          <a:xfrm>
            <a:off x="6464300" y="4721226"/>
            <a:ext cx="1916422" cy="384721"/>
          </a:xfrm>
          <a:prstGeom prst="rect">
            <a:avLst/>
          </a:prstGeom>
          <a:noFill/>
          <a:ln w="9525">
            <a:noFill/>
            <a:miter lim="800000"/>
            <a:headEnd/>
            <a:tailEnd/>
          </a:ln>
        </p:spPr>
        <p:txBody>
          <a:bodyPr wrap="none" lIns="0" tIns="0" rIns="0" bIns="0">
            <a:spAutoFit/>
          </a:bodyPr>
          <a:lstStyle/>
          <a:p>
            <a:r>
              <a:rPr lang="en-US" sz="2500">
                <a:solidFill>
                  <a:srgbClr val="000000"/>
                </a:solidFill>
              </a:rPr>
              <a:t>Draw Gold Ball</a:t>
            </a:r>
            <a:endParaRPr lang="en-US"/>
          </a:p>
        </p:txBody>
      </p:sp>
      <p:sp>
        <p:nvSpPr>
          <p:cNvPr id="144411" name="Rectangle 27"/>
          <p:cNvSpPr>
            <a:spLocks noChangeArrowheads="1"/>
          </p:cNvSpPr>
          <p:nvPr/>
        </p:nvSpPr>
        <p:spPr bwMode="auto">
          <a:xfrm>
            <a:off x="7391400" y="5194301"/>
            <a:ext cx="160300" cy="384721"/>
          </a:xfrm>
          <a:prstGeom prst="rect">
            <a:avLst/>
          </a:prstGeom>
          <a:noFill/>
          <a:ln w="9525">
            <a:noFill/>
            <a:miter lim="800000"/>
            <a:headEnd/>
            <a:tailEnd/>
          </a:ln>
        </p:spPr>
        <p:txBody>
          <a:bodyPr wrap="none" lIns="0" tIns="0" rIns="0" bIns="0">
            <a:spAutoFit/>
          </a:bodyPr>
          <a:lstStyle/>
          <a:p>
            <a:r>
              <a:rPr lang="en-US" sz="2500">
                <a:solidFill>
                  <a:srgbClr val="000000"/>
                </a:solidFill>
              </a:rPr>
              <a:t>#</a:t>
            </a:r>
            <a:endParaRPr lang="en-US"/>
          </a:p>
        </p:txBody>
      </p:sp>
      <p:sp>
        <p:nvSpPr>
          <p:cNvPr id="144412" name="Rectangle 28"/>
          <p:cNvSpPr>
            <a:spLocks noChangeArrowheads="1"/>
          </p:cNvSpPr>
          <p:nvPr/>
        </p:nvSpPr>
        <p:spPr bwMode="auto">
          <a:xfrm>
            <a:off x="8866188" y="4948238"/>
            <a:ext cx="963612" cy="381000"/>
          </a:xfrm>
          <a:prstGeom prst="rect">
            <a:avLst/>
          </a:prstGeom>
          <a:noFill/>
          <a:ln w="9525">
            <a:noFill/>
            <a:miter lim="800000"/>
            <a:headEnd/>
            <a:tailEnd/>
          </a:ln>
        </p:spPr>
        <p:txBody>
          <a:bodyPr lIns="0" tIns="0" rIns="0" bIns="0">
            <a:spAutoFit/>
          </a:bodyPr>
          <a:lstStyle/>
          <a:p>
            <a:r>
              <a:rPr lang="en-US" sz="2500">
                <a:solidFill>
                  <a:srgbClr val="000000"/>
                </a:solidFill>
              </a:rPr>
              <a:t>$1000</a:t>
            </a:r>
            <a:endParaRPr lang="en-US"/>
          </a:p>
        </p:txBody>
      </p:sp>
      <p:sp>
        <p:nvSpPr>
          <p:cNvPr id="144413" name="Line 29"/>
          <p:cNvSpPr>
            <a:spLocks noChangeShapeType="1"/>
          </p:cNvSpPr>
          <p:nvPr/>
        </p:nvSpPr>
        <p:spPr bwMode="auto">
          <a:xfrm flipV="1">
            <a:off x="6029326" y="4267201"/>
            <a:ext cx="434975" cy="434975"/>
          </a:xfrm>
          <a:prstGeom prst="line">
            <a:avLst/>
          </a:prstGeom>
          <a:noFill/>
          <a:ln w="19050">
            <a:solidFill>
              <a:srgbClr val="000000"/>
            </a:solidFill>
            <a:round/>
            <a:headEnd/>
            <a:tailEnd/>
          </a:ln>
        </p:spPr>
        <p:txBody>
          <a:bodyPr/>
          <a:lstStyle/>
          <a:p>
            <a:endParaRPr lang="en-US"/>
          </a:p>
        </p:txBody>
      </p:sp>
      <p:sp>
        <p:nvSpPr>
          <p:cNvPr id="144414" name="Line 30"/>
          <p:cNvSpPr>
            <a:spLocks noChangeShapeType="1"/>
          </p:cNvSpPr>
          <p:nvPr/>
        </p:nvSpPr>
        <p:spPr bwMode="auto">
          <a:xfrm>
            <a:off x="6029326" y="4702176"/>
            <a:ext cx="434975" cy="415925"/>
          </a:xfrm>
          <a:prstGeom prst="line">
            <a:avLst/>
          </a:prstGeom>
          <a:noFill/>
          <a:ln w="19050">
            <a:solidFill>
              <a:srgbClr val="000000"/>
            </a:solidFill>
            <a:round/>
            <a:headEnd/>
            <a:tailEnd/>
          </a:ln>
        </p:spPr>
        <p:txBody>
          <a:bodyPr/>
          <a:lstStyle/>
          <a:p>
            <a:endParaRPr lang="en-US"/>
          </a:p>
        </p:txBody>
      </p:sp>
      <p:sp>
        <p:nvSpPr>
          <p:cNvPr id="144415" name="Line 31"/>
          <p:cNvSpPr>
            <a:spLocks noChangeShapeType="1"/>
          </p:cNvSpPr>
          <p:nvPr/>
        </p:nvSpPr>
        <p:spPr bwMode="auto">
          <a:xfrm>
            <a:off x="4554539" y="4702175"/>
            <a:ext cx="1247775" cy="1588"/>
          </a:xfrm>
          <a:prstGeom prst="line">
            <a:avLst/>
          </a:prstGeom>
          <a:noFill/>
          <a:ln w="19050">
            <a:solidFill>
              <a:srgbClr val="000000"/>
            </a:solidFill>
            <a:round/>
            <a:headEnd/>
            <a:tailEnd/>
          </a:ln>
        </p:spPr>
        <p:txBody>
          <a:bodyPr/>
          <a:lstStyle/>
          <a:p>
            <a:endParaRPr lang="en-US"/>
          </a:p>
        </p:txBody>
      </p:sp>
      <p:sp>
        <p:nvSpPr>
          <p:cNvPr id="144416" name="Oval 32"/>
          <p:cNvSpPr>
            <a:spLocks noChangeArrowheads="1"/>
          </p:cNvSpPr>
          <p:nvPr/>
        </p:nvSpPr>
        <p:spPr bwMode="auto">
          <a:xfrm>
            <a:off x="5802313" y="4589464"/>
            <a:ext cx="207962" cy="225425"/>
          </a:xfrm>
          <a:prstGeom prst="ellipse">
            <a:avLst/>
          </a:prstGeom>
          <a:solidFill>
            <a:srgbClr val="FFFFFF"/>
          </a:solidFill>
          <a:ln w="19050">
            <a:solidFill>
              <a:srgbClr val="008000"/>
            </a:solidFill>
            <a:round/>
            <a:headEnd/>
            <a:tailEnd/>
          </a:ln>
        </p:spPr>
        <p:txBody>
          <a:bodyPr/>
          <a:lstStyle/>
          <a:p>
            <a:endParaRPr lang="en-US"/>
          </a:p>
        </p:txBody>
      </p:sp>
      <p:sp>
        <p:nvSpPr>
          <p:cNvPr id="144417" name="Rectangle 33"/>
          <p:cNvSpPr>
            <a:spLocks noChangeArrowheads="1"/>
          </p:cNvSpPr>
          <p:nvPr/>
        </p:nvSpPr>
        <p:spPr bwMode="auto">
          <a:xfrm>
            <a:off x="4554538" y="4305301"/>
            <a:ext cx="1019510" cy="384721"/>
          </a:xfrm>
          <a:prstGeom prst="rect">
            <a:avLst/>
          </a:prstGeom>
          <a:noFill/>
          <a:ln w="9525">
            <a:noFill/>
            <a:miter lim="800000"/>
            <a:headEnd/>
            <a:tailEnd/>
          </a:ln>
        </p:spPr>
        <p:txBody>
          <a:bodyPr wrap="none" lIns="0" tIns="0" rIns="0" bIns="0">
            <a:spAutoFit/>
          </a:bodyPr>
          <a:lstStyle/>
          <a:p>
            <a:r>
              <a:rPr lang="en-US" sz="2500">
                <a:solidFill>
                  <a:srgbClr val="000000"/>
                </a:solidFill>
              </a:rPr>
              <a:t>Game B</a:t>
            </a:r>
            <a:endParaRPr lang="en-US"/>
          </a:p>
        </p:txBody>
      </p:sp>
      <p:sp>
        <p:nvSpPr>
          <p:cNvPr id="144418" name="Line 34"/>
          <p:cNvSpPr>
            <a:spLocks noChangeShapeType="1"/>
          </p:cNvSpPr>
          <p:nvPr/>
        </p:nvSpPr>
        <p:spPr bwMode="auto">
          <a:xfrm flipV="1">
            <a:off x="4119564" y="3019425"/>
            <a:ext cx="434975" cy="831850"/>
          </a:xfrm>
          <a:prstGeom prst="line">
            <a:avLst/>
          </a:prstGeom>
          <a:noFill/>
          <a:ln w="19050">
            <a:solidFill>
              <a:srgbClr val="000000"/>
            </a:solidFill>
            <a:round/>
            <a:headEnd/>
            <a:tailEnd/>
          </a:ln>
        </p:spPr>
        <p:txBody>
          <a:bodyPr/>
          <a:lstStyle/>
          <a:p>
            <a:endParaRPr lang="en-US"/>
          </a:p>
        </p:txBody>
      </p:sp>
      <p:sp>
        <p:nvSpPr>
          <p:cNvPr id="144419" name="Line 35"/>
          <p:cNvSpPr>
            <a:spLocks noChangeShapeType="1"/>
          </p:cNvSpPr>
          <p:nvPr/>
        </p:nvSpPr>
        <p:spPr bwMode="auto">
          <a:xfrm>
            <a:off x="4119564" y="3851275"/>
            <a:ext cx="434975" cy="850900"/>
          </a:xfrm>
          <a:prstGeom prst="line">
            <a:avLst/>
          </a:prstGeom>
          <a:noFill/>
          <a:ln w="19050">
            <a:solidFill>
              <a:srgbClr val="000000"/>
            </a:solidFill>
            <a:round/>
            <a:headEnd/>
            <a:tailEnd/>
          </a:ln>
        </p:spPr>
        <p:txBody>
          <a:bodyPr/>
          <a:lstStyle/>
          <a:p>
            <a:endParaRPr lang="en-US"/>
          </a:p>
        </p:txBody>
      </p:sp>
      <p:sp>
        <p:nvSpPr>
          <p:cNvPr id="144420" name="Line 36"/>
          <p:cNvSpPr>
            <a:spLocks noChangeShapeType="1"/>
          </p:cNvSpPr>
          <p:nvPr/>
        </p:nvSpPr>
        <p:spPr bwMode="auto">
          <a:xfrm>
            <a:off x="2663826" y="3851275"/>
            <a:ext cx="1228725" cy="1588"/>
          </a:xfrm>
          <a:prstGeom prst="line">
            <a:avLst/>
          </a:prstGeom>
          <a:noFill/>
          <a:ln w="19050">
            <a:solidFill>
              <a:srgbClr val="000000"/>
            </a:solidFill>
            <a:round/>
            <a:headEnd/>
            <a:tailEnd/>
          </a:ln>
        </p:spPr>
        <p:txBody>
          <a:bodyPr/>
          <a:lstStyle/>
          <a:p>
            <a:endParaRPr lang="en-US"/>
          </a:p>
        </p:txBody>
      </p:sp>
      <p:sp>
        <p:nvSpPr>
          <p:cNvPr id="144421" name="Rectangle 37"/>
          <p:cNvSpPr>
            <a:spLocks noChangeArrowheads="1"/>
          </p:cNvSpPr>
          <p:nvPr/>
        </p:nvSpPr>
        <p:spPr bwMode="auto">
          <a:xfrm>
            <a:off x="3892551" y="3738563"/>
            <a:ext cx="207963" cy="227012"/>
          </a:xfrm>
          <a:prstGeom prst="rect">
            <a:avLst/>
          </a:prstGeom>
          <a:solidFill>
            <a:srgbClr val="FFFFFF"/>
          </a:solidFill>
          <a:ln w="19050">
            <a:solidFill>
              <a:srgbClr val="0000FF"/>
            </a:solidFill>
            <a:miter lim="800000"/>
            <a:headEnd/>
            <a:tailEnd/>
          </a:ln>
        </p:spPr>
        <p:txBody>
          <a:bodyPr/>
          <a:lstStyle/>
          <a:p>
            <a:endParaRPr lang="en-US"/>
          </a:p>
        </p:txBody>
      </p:sp>
      <p:sp>
        <p:nvSpPr>
          <p:cNvPr id="144422" name="Rectangle 38"/>
          <p:cNvSpPr>
            <a:spLocks noChangeArrowheads="1"/>
          </p:cNvSpPr>
          <p:nvPr/>
        </p:nvSpPr>
        <p:spPr bwMode="auto">
          <a:xfrm>
            <a:off x="2663825" y="3454401"/>
            <a:ext cx="961802" cy="384721"/>
          </a:xfrm>
          <a:prstGeom prst="rect">
            <a:avLst/>
          </a:prstGeom>
          <a:noFill/>
          <a:ln w="9525">
            <a:noFill/>
            <a:miter lim="800000"/>
            <a:headEnd/>
            <a:tailEnd/>
          </a:ln>
        </p:spPr>
        <p:txBody>
          <a:bodyPr wrap="none" lIns="0" tIns="0" rIns="0" bIns="0">
            <a:spAutoFit/>
          </a:bodyPr>
          <a:lstStyle/>
          <a:p>
            <a:r>
              <a:rPr lang="en-US" sz="2500">
                <a:solidFill>
                  <a:srgbClr val="000000"/>
                </a:solidFill>
              </a:rPr>
              <a:t>Choose</a:t>
            </a:r>
            <a:endParaRPr lang="en-US"/>
          </a:p>
        </p:txBody>
      </p:sp>
      <p:sp>
        <p:nvSpPr>
          <p:cNvPr id="144423" name="AutoShape 39"/>
          <p:cNvSpPr>
            <a:spLocks noChangeArrowheads="1"/>
          </p:cNvSpPr>
          <p:nvPr/>
        </p:nvSpPr>
        <p:spPr bwMode="auto">
          <a:xfrm flipH="1">
            <a:off x="3810000" y="1447800"/>
            <a:ext cx="2362200" cy="838200"/>
          </a:xfrm>
          <a:prstGeom prst="wedgeRoundRectCallout">
            <a:avLst>
              <a:gd name="adj1" fmla="val -40528"/>
              <a:gd name="adj2" fmla="val 97157"/>
              <a:gd name="adj3" fmla="val 16667"/>
            </a:avLst>
          </a:prstGeom>
          <a:solidFill>
            <a:srgbClr val="333399"/>
          </a:solidFill>
          <a:ln w="9525">
            <a:solidFill>
              <a:schemeClr val="tx1"/>
            </a:solidFill>
            <a:miter lim="800000"/>
            <a:headEnd/>
            <a:tailEnd/>
          </a:ln>
          <a:effectLst/>
        </p:spPr>
        <p:txBody>
          <a:bodyPr anchor="ctr"/>
          <a:lstStyle/>
          <a:p>
            <a:pPr algn="ctr"/>
            <a:r>
              <a:rPr lang="en-US" sz="2000" b="1">
                <a:solidFill>
                  <a:schemeClr val="bg1"/>
                </a:solidFill>
              </a:rPr>
              <a:t>(0.5)(400) + (0.5)(600) = $500</a:t>
            </a:r>
          </a:p>
        </p:txBody>
      </p:sp>
      <p:sp>
        <p:nvSpPr>
          <p:cNvPr id="144424" name="AutoShape 40"/>
          <p:cNvSpPr>
            <a:spLocks noChangeArrowheads="1"/>
          </p:cNvSpPr>
          <p:nvPr/>
        </p:nvSpPr>
        <p:spPr bwMode="auto">
          <a:xfrm flipH="1">
            <a:off x="3733800" y="5257800"/>
            <a:ext cx="2514600" cy="838200"/>
          </a:xfrm>
          <a:prstGeom prst="wedgeRoundRectCallout">
            <a:avLst>
              <a:gd name="adj1" fmla="val -35231"/>
              <a:gd name="adj2" fmla="val -89208"/>
              <a:gd name="adj3" fmla="val 16667"/>
            </a:avLst>
          </a:prstGeom>
          <a:solidFill>
            <a:srgbClr val="333399"/>
          </a:solidFill>
          <a:ln w="9525">
            <a:solidFill>
              <a:schemeClr val="tx1"/>
            </a:solidFill>
            <a:miter lim="800000"/>
            <a:headEnd/>
            <a:tailEnd/>
          </a:ln>
          <a:effectLst/>
        </p:spPr>
        <p:txBody>
          <a:bodyPr anchor="ctr"/>
          <a:lstStyle/>
          <a:p>
            <a:pPr algn="ctr"/>
            <a:r>
              <a:rPr lang="en-US" sz="2000" b="1">
                <a:solidFill>
                  <a:schemeClr val="bg1"/>
                </a:solidFill>
              </a:rPr>
              <a:t>(0.5)(100) + (0.5)(1000) = $550</a:t>
            </a:r>
          </a:p>
        </p:txBody>
      </p:sp>
    </p:spTree>
    <p:extLst>
      <p:ext uri="{BB962C8B-B14F-4D97-AF65-F5344CB8AC3E}">
        <p14:creationId xmlns:p14="http://schemas.microsoft.com/office/powerpoint/2010/main" val="12201810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p:txBody>
          <a:bodyPr/>
          <a:lstStyle/>
          <a:p>
            <a:r>
              <a:rPr lang="en-US"/>
              <a:t>Investment Decision</a:t>
            </a:r>
          </a:p>
        </p:txBody>
      </p:sp>
      <p:sp>
        <p:nvSpPr>
          <p:cNvPr id="140291" name="AutoShape 3"/>
          <p:cNvSpPr>
            <a:spLocks noChangeAspect="1" noChangeArrowheads="1" noTextEdit="1"/>
          </p:cNvSpPr>
          <p:nvPr/>
        </p:nvSpPr>
        <p:spPr bwMode="auto">
          <a:xfrm>
            <a:off x="2227263" y="2178050"/>
            <a:ext cx="7620000" cy="4216400"/>
          </a:xfrm>
          <a:prstGeom prst="rect">
            <a:avLst/>
          </a:prstGeom>
          <a:noFill/>
          <a:ln w="9525">
            <a:noFill/>
            <a:miter lim="800000"/>
            <a:headEnd/>
            <a:tailEnd/>
          </a:ln>
        </p:spPr>
        <p:txBody>
          <a:bodyPr/>
          <a:lstStyle/>
          <a:p>
            <a:endParaRPr lang="en-US"/>
          </a:p>
        </p:txBody>
      </p:sp>
      <p:sp>
        <p:nvSpPr>
          <p:cNvPr id="140292" name="Line 4"/>
          <p:cNvSpPr>
            <a:spLocks noChangeShapeType="1"/>
          </p:cNvSpPr>
          <p:nvPr/>
        </p:nvSpPr>
        <p:spPr bwMode="auto">
          <a:xfrm>
            <a:off x="6481764" y="3009900"/>
            <a:ext cx="2022475" cy="1588"/>
          </a:xfrm>
          <a:prstGeom prst="line">
            <a:avLst/>
          </a:prstGeom>
          <a:noFill/>
          <a:ln w="19050">
            <a:solidFill>
              <a:srgbClr val="000000"/>
            </a:solidFill>
            <a:round/>
            <a:headEnd/>
            <a:tailEnd/>
          </a:ln>
        </p:spPr>
        <p:txBody>
          <a:bodyPr/>
          <a:lstStyle/>
          <a:p>
            <a:endParaRPr lang="en-US"/>
          </a:p>
        </p:txBody>
      </p:sp>
      <p:sp>
        <p:nvSpPr>
          <p:cNvPr id="140293" name="Freeform 5"/>
          <p:cNvSpPr>
            <a:spLocks/>
          </p:cNvSpPr>
          <p:nvPr/>
        </p:nvSpPr>
        <p:spPr bwMode="auto">
          <a:xfrm>
            <a:off x="8504238" y="2897188"/>
            <a:ext cx="207962" cy="227012"/>
          </a:xfrm>
          <a:custGeom>
            <a:avLst/>
            <a:gdLst/>
            <a:ahLst/>
            <a:cxnLst>
              <a:cxn ang="0">
                <a:pos x="0" y="71"/>
              </a:cxn>
              <a:cxn ang="0">
                <a:pos x="131" y="0"/>
              </a:cxn>
              <a:cxn ang="0">
                <a:pos x="131" y="143"/>
              </a:cxn>
              <a:cxn ang="0">
                <a:pos x="0" y="71"/>
              </a:cxn>
            </a:cxnLst>
            <a:rect l="0" t="0" r="r" b="b"/>
            <a:pathLst>
              <a:path w="131" h="143">
                <a:moveTo>
                  <a:pt x="0" y="71"/>
                </a:moveTo>
                <a:lnTo>
                  <a:pt x="131" y="0"/>
                </a:lnTo>
                <a:lnTo>
                  <a:pt x="131" y="143"/>
                </a:lnTo>
                <a:lnTo>
                  <a:pt x="0" y="71"/>
                </a:lnTo>
                <a:close/>
              </a:path>
            </a:pathLst>
          </a:custGeom>
          <a:solidFill>
            <a:srgbClr val="FFFFFF"/>
          </a:solidFill>
          <a:ln w="19050">
            <a:solidFill>
              <a:srgbClr val="FF0000"/>
            </a:solidFill>
            <a:prstDash val="solid"/>
            <a:round/>
            <a:headEnd/>
            <a:tailEnd/>
          </a:ln>
        </p:spPr>
        <p:txBody>
          <a:bodyPr/>
          <a:lstStyle/>
          <a:p>
            <a:endParaRPr lang="en-US"/>
          </a:p>
        </p:txBody>
      </p:sp>
      <p:sp>
        <p:nvSpPr>
          <p:cNvPr id="140294" name="Rectangle 6"/>
          <p:cNvSpPr>
            <a:spLocks noChangeArrowheads="1"/>
          </p:cNvSpPr>
          <p:nvPr/>
        </p:nvSpPr>
        <p:spPr bwMode="auto">
          <a:xfrm>
            <a:off x="6481764" y="2632076"/>
            <a:ext cx="1671933" cy="384721"/>
          </a:xfrm>
          <a:prstGeom prst="rect">
            <a:avLst/>
          </a:prstGeom>
          <a:noFill/>
          <a:ln w="9525">
            <a:noFill/>
            <a:miter lim="800000"/>
            <a:headEnd/>
            <a:tailEnd/>
          </a:ln>
        </p:spPr>
        <p:txBody>
          <a:bodyPr wrap="none" lIns="0" tIns="0" rIns="0" bIns="0">
            <a:spAutoFit/>
          </a:bodyPr>
          <a:lstStyle/>
          <a:p>
            <a:r>
              <a:rPr lang="en-US" sz="2500">
                <a:solidFill>
                  <a:srgbClr val="000000"/>
                </a:solidFill>
              </a:rPr>
              <a:t>Wild Success</a:t>
            </a:r>
            <a:endParaRPr lang="en-US"/>
          </a:p>
        </p:txBody>
      </p:sp>
      <p:sp>
        <p:nvSpPr>
          <p:cNvPr id="140295" name="Rectangle 7"/>
          <p:cNvSpPr>
            <a:spLocks noChangeArrowheads="1"/>
          </p:cNvSpPr>
          <p:nvPr/>
        </p:nvSpPr>
        <p:spPr bwMode="auto">
          <a:xfrm>
            <a:off x="6761163" y="3086101"/>
            <a:ext cx="1166986" cy="384721"/>
          </a:xfrm>
          <a:prstGeom prst="rect">
            <a:avLst/>
          </a:prstGeom>
          <a:noFill/>
          <a:ln w="9525">
            <a:noFill/>
            <a:miter lim="800000"/>
            <a:headEnd/>
            <a:tailEnd/>
          </a:ln>
        </p:spPr>
        <p:txBody>
          <a:bodyPr wrap="none" lIns="0" tIns="0" rIns="0" bIns="0">
            <a:spAutoFit/>
          </a:bodyPr>
          <a:lstStyle/>
          <a:p>
            <a:r>
              <a:rPr lang="en-US" sz="2500">
                <a:solidFill>
                  <a:srgbClr val="000000"/>
                </a:solidFill>
              </a:rPr>
              <a:t>pSuccess</a:t>
            </a:r>
            <a:endParaRPr lang="en-US"/>
          </a:p>
        </p:txBody>
      </p:sp>
      <p:sp>
        <p:nvSpPr>
          <p:cNvPr id="140296" name="Rectangle 8"/>
          <p:cNvSpPr>
            <a:spLocks noChangeArrowheads="1"/>
          </p:cNvSpPr>
          <p:nvPr/>
        </p:nvSpPr>
        <p:spPr bwMode="auto">
          <a:xfrm>
            <a:off x="8883651" y="2840038"/>
            <a:ext cx="811213" cy="381000"/>
          </a:xfrm>
          <a:prstGeom prst="rect">
            <a:avLst/>
          </a:prstGeom>
          <a:noFill/>
          <a:ln w="9525">
            <a:noFill/>
            <a:miter lim="800000"/>
            <a:headEnd/>
            <a:tailEnd/>
          </a:ln>
        </p:spPr>
        <p:txBody>
          <a:bodyPr lIns="0" tIns="0" rIns="0" bIns="0">
            <a:spAutoFit/>
          </a:bodyPr>
          <a:lstStyle/>
          <a:p>
            <a:r>
              <a:rPr lang="en-US" sz="2500">
                <a:solidFill>
                  <a:srgbClr val="000000"/>
                </a:solidFill>
              </a:rPr>
              <a:t>$*3</a:t>
            </a:r>
            <a:endParaRPr lang="en-US"/>
          </a:p>
        </p:txBody>
      </p:sp>
      <p:sp>
        <p:nvSpPr>
          <p:cNvPr id="140297" name="Line 9"/>
          <p:cNvSpPr>
            <a:spLocks noChangeShapeType="1"/>
          </p:cNvSpPr>
          <p:nvPr/>
        </p:nvSpPr>
        <p:spPr bwMode="auto">
          <a:xfrm>
            <a:off x="6481764" y="3860800"/>
            <a:ext cx="2022475" cy="1588"/>
          </a:xfrm>
          <a:prstGeom prst="line">
            <a:avLst/>
          </a:prstGeom>
          <a:noFill/>
          <a:ln w="19050">
            <a:solidFill>
              <a:srgbClr val="000000"/>
            </a:solidFill>
            <a:round/>
            <a:headEnd/>
            <a:tailEnd/>
          </a:ln>
        </p:spPr>
        <p:txBody>
          <a:bodyPr/>
          <a:lstStyle/>
          <a:p>
            <a:endParaRPr lang="en-US"/>
          </a:p>
        </p:txBody>
      </p:sp>
      <p:sp>
        <p:nvSpPr>
          <p:cNvPr id="140298" name="Freeform 10"/>
          <p:cNvSpPr>
            <a:spLocks/>
          </p:cNvSpPr>
          <p:nvPr/>
        </p:nvSpPr>
        <p:spPr bwMode="auto">
          <a:xfrm>
            <a:off x="8504238" y="3748089"/>
            <a:ext cx="207962" cy="225425"/>
          </a:xfrm>
          <a:custGeom>
            <a:avLst/>
            <a:gdLst/>
            <a:ahLst/>
            <a:cxnLst>
              <a:cxn ang="0">
                <a:pos x="0" y="71"/>
              </a:cxn>
              <a:cxn ang="0">
                <a:pos x="131" y="0"/>
              </a:cxn>
              <a:cxn ang="0">
                <a:pos x="131" y="142"/>
              </a:cxn>
              <a:cxn ang="0">
                <a:pos x="0" y="71"/>
              </a:cxn>
            </a:cxnLst>
            <a:rect l="0" t="0" r="r" b="b"/>
            <a:pathLst>
              <a:path w="131" h="142">
                <a:moveTo>
                  <a:pt x="0" y="71"/>
                </a:moveTo>
                <a:lnTo>
                  <a:pt x="131" y="0"/>
                </a:lnTo>
                <a:lnTo>
                  <a:pt x="131" y="142"/>
                </a:lnTo>
                <a:lnTo>
                  <a:pt x="0" y="71"/>
                </a:lnTo>
                <a:close/>
              </a:path>
            </a:pathLst>
          </a:custGeom>
          <a:solidFill>
            <a:srgbClr val="FFFFFF"/>
          </a:solidFill>
          <a:ln w="19050">
            <a:solidFill>
              <a:srgbClr val="FF0000"/>
            </a:solidFill>
            <a:prstDash val="solid"/>
            <a:round/>
            <a:headEnd/>
            <a:tailEnd/>
          </a:ln>
        </p:spPr>
        <p:txBody>
          <a:bodyPr/>
          <a:lstStyle/>
          <a:p>
            <a:endParaRPr lang="en-US"/>
          </a:p>
        </p:txBody>
      </p:sp>
      <p:sp>
        <p:nvSpPr>
          <p:cNvPr id="140299" name="Rectangle 11"/>
          <p:cNvSpPr>
            <a:spLocks noChangeArrowheads="1"/>
          </p:cNvSpPr>
          <p:nvPr/>
        </p:nvSpPr>
        <p:spPr bwMode="auto">
          <a:xfrm>
            <a:off x="6481764" y="3463926"/>
            <a:ext cx="557845" cy="384721"/>
          </a:xfrm>
          <a:prstGeom prst="rect">
            <a:avLst/>
          </a:prstGeom>
          <a:noFill/>
          <a:ln w="9525">
            <a:noFill/>
            <a:miter lim="800000"/>
            <a:headEnd/>
            <a:tailEnd/>
          </a:ln>
        </p:spPr>
        <p:txBody>
          <a:bodyPr wrap="none" lIns="0" tIns="0" rIns="0" bIns="0">
            <a:spAutoFit/>
          </a:bodyPr>
          <a:lstStyle/>
          <a:p>
            <a:r>
              <a:rPr lang="en-US" sz="2500">
                <a:solidFill>
                  <a:srgbClr val="000000"/>
                </a:solidFill>
              </a:rPr>
              <a:t>Flop</a:t>
            </a:r>
            <a:endParaRPr lang="en-US"/>
          </a:p>
        </p:txBody>
      </p:sp>
      <p:sp>
        <p:nvSpPr>
          <p:cNvPr id="140300" name="Rectangle 12"/>
          <p:cNvSpPr>
            <a:spLocks noChangeArrowheads="1"/>
          </p:cNvSpPr>
          <p:nvPr/>
        </p:nvSpPr>
        <p:spPr bwMode="auto">
          <a:xfrm>
            <a:off x="7408863" y="3937001"/>
            <a:ext cx="160300" cy="384721"/>
          </a:xfrm>
          <a:prstGeom prst="rect">
            <a:avLst/>
          </a:prstGeom>
          <a:noFill/>
          <a:ln w="9525">
            <a:noFill/>
            <a:miter lim="800000"/>
            <a:headEnd/>
            <a:tailEnd/>
          </a:ln>
        </p:spPr>
        <p:txBody>
          <a:bodyPr wrap="none" lIns="0" tIns="0" rIns="0" bIns="0">
            <a:spAutoFit/>
          </a:bodyPr>
          <a:lstStyle/>
          <a:p>
            <a:r>
              <a:rPr lang="en-US" sz="2500">
                <a:solidFill>
                  <a:srgbClr val="000000"/>
                </a:solidFill>
              </a:rPr>
              <a:t>#</a:t>
            </a:r>
            <a:endParaRPr lang="en-US"/>
          </a:p>
        </p:txBody>
      </p:sp>
      <p:sp>
        <p:nvSpPr>
          <p:cNvPr id="140301" name="Rectangle 13"/>
          <p:cNvSpPr>
            <a:spLocks noChangeArrowheads="1"/>
          </p:cNvSpPr>
          <p:nvPr/>
        </p:nvSpPr>
        <p:spPr bwMode="auto">
          <a:xfrm>
            <a:off x="8883651" y="3690938"/>
            <a:ext cx="811213" cy="381000"/>
          </a:xfrm>
          <a:prstGeom prst="rect">
            <a:avLst/>
          </a:prstGeom>
          <a:noFill/>
          <a:ln w="9525">
            <a:noFill/>
            <a:miter lim="800000"/>
            <a:headEnd/>
            <a:tailEnd/>
          </a:ln>
        </p:spPr>
        <p:txBody>
          <a:bodyPr lIns="0" tIns="0" rIns="0" bIns="0">
            <a:spAutoFit/>
          </a:bodyPr>
          <a:lstStyle/>
          <a:p>
            <a:r>
              <a:rPr lang="en-US" sz="2500">
                <a:solidFill>
                  <a:srgbClr val="000000"/>
                </a:solidFill>
              </a:rPr>
              <a:t>$0</a:t>
            </a:r>
            <a:endParaRPr lang="en-US"/>
          </a:p>
        </p:txBody>
      </p:sp>
      <p:sp>
        <p:nvSpPr>
          <p:cNvPr id="140302" name="Line 14"/>
          <p:cNvSpPr>
            <a:spLocks noChangeShapeType="1"/>
          </p:cNvSpPr>
          <p:nvPr/>
        </p:nvSpPr>
        <p:spPr bwMode="auto">
          <a:xfrm flipV="1">
            <a:off x="6046789" y="3009901"/>
            <a:ext cx="434975" cy="434975"/>
          </a:xfrm>
          <a:prstGeom prst="line">
            <a:avLst/>
          </a:prstGeom>
          <a:noFill/>
          <a:ln w="19050">
            <a:solidFill>
              <a:srgbClr val="000000"/>
            </a:solidFill>
            <a:round/>
            <a:headEnd/>
            <a:tailEnd/>
          </a:ln>
        </p:spPr>
        <p:txBody>
          <a:bodyPr/>
          <a:lstStyle/>
          <a:p>
            <a:endParaRPr lang="en-US"/>
          </a:p>
        </p:txBody>
      </p:sp>
      <p:sp>
        <p:nvSpPr>
          <p:cNvPr id="140303" name="Line 15"/>
          <p:cNvSpPr>
            <a:spLocks noChangeShapeType="1"/>
          </p:cNvSpPr>
          <p:nvPr/>
        </p:nvSpPr>
        <p:spPr bwMode="auto">
          <a:xfrm>
            <a:off x="6046789" y="3444876"/>
            <a:ext cx="434975" cy="415925"/>
          </a:xfrm>
          <a:prstGeom prst="line">
            <a:avLst/>
          </a:prstGeom>
          <a:noFill/>
          <a:ln w="19050">
            <a:solidFill>
              <a:srgbClr val="000000"/>
            </a:solidFill>
            <a:round/>
            <a:headEnd/>
            <a:tailEnd/>
          </a:ln>
        </p:spPr>
        <p:txBody>
          <a:bodyPr/>
          <a:lstStyle/>
          <a:p>
            <a:endParaRPr lang="en-US"/>
          </a:p>
        </p:txBody>
      </p:sp>
      <p:sp>
        <p:nvSpPr>
          <p:cNvPr id="140304" name="Line 16"/>
          <p:cNvSpPr>
            <a:spLocks noChangeShapeType="1"/>
          </p:cNvSpPr>
          <p:nvPr/>
        </p:nvSpPr>
        <p:spPr bwMode="auto">
          <a:xfrm>
            <a:off x="4572001" y="3444875"/>
            <a:ext cx="1247775" cy="1588"/>
          </a:xfrm>
          <a:prstGeom prst="line">
            <a:avLst/>
          </a:prstGeom>
          <a:noFill/>
          <a:ln w="19050">
            <a:solidFill>
              <a:srgbClr val="000000"/>
            </a:solidFill>
            <a:round/>
            <a:headEnd/>
            <a:tailEnd/>
          </a:ln>
        </p:spPr>
        <p:txBody>
          <a:bodyPr/>
          <a:lstStyle/>
          <a:p>
            <a:endParaRPr lang="en-US"/>
          </a:p>
        </p:txBody>
      </p:sp>
      <p:sp>
        <p:nvSpPr>
          <p:cNvPr id="140305" name="Oval 17"/>
          <p:cNvSpPr>
            <a:spLocks noChangeArrowheads="1"/>
          </p:cNvSpPr>
          <p:nvPr/>
        </p:nvSpPr>
        <p:spPr bwMode="auto">
          <a:xfrm>
            <a:off x="5819776" y="3332164"/>
            <a:ext cx="207963" cy="225425"/>
          </a:xfrm>
          <a:prstGeom prst="ellipse">
            <a:avLst/>
          </a:prstGeom>
          <a:solidFill>
            <a:srgbClr val="FFFFFF"/>
          </a:solidFill>
          <a:ln w="19050">
            <a:solidFill>
              <a:srgbClr val="008000"/>
            </a:solidFill>
            <a:round/>
            <a:headEnd/>
            <a:tailEnd/>
          </a:ln>
        </p:spPr>
        <p:txBody>
          <a:bodyPr/>
          <a:lstStyle/>
          <a:p>
            <a:endParaRPr lang="en-US"/>
          </a:p>
        </p:txBody>
      </p:sp>
      <p:sp>
        <p:nvSpPr>
          <p:cNvPr id="140306" name="Rectangle 18"/>
          <p:cNvSpPr>
            <a:spLocks noChangeArrowheads="1"/>
          </p:cNvSpPr>
          <p:nvPr/>
        </p:nvSpPr>
        <p:spPr bwMode="auto">
          <a:xfrm>
            <a:off x="4572001" y="3048001"/>
            <a:ext cx="773417" cy="384721"/>
          </a:xfrm>
          <a:prstGeom prst="rect">
            <a:avLst/>
          </a:prstGeom>
          <a:noFill/>
          <a:ln w="9525">
            <a:noFill/>
            <a:miter lim="800000"/>
            <a:headEnd/>
            <a:tailEnd/>
          </a:ln>
        </p:spPr>
        <p:txBody>
          <a:bodyPr wrap="none" lIns="0" tIns="0" rIns="0" bIns="0">
            <a:spAutoFit/>
          </a:bodyPr>
          <a:lstStyle/>
          <a:p>
            <a:r>
              <a:rPr lang="en-US" sz="2500">
                <a:solidFill>
                  <a:srgbClr val="000000"/>
                </a:solidFill>
              </a:rPr>
              <a:t>Invest</a:t>
            </a:r>
            <a:endParaRPr lang="en-US"/>
          </a:p>
        </p:txBody>
      </p:sp>
      <p:sp>
        <p:nvSpPr>
          <p:cNvPr id="140307" name="Line 19"/>
          <p:cNvSpPr>
            <a:spLocks noChangeShapeType="1"/>
          </p:cNvSpPr>
          <p:nvPr/>
        </p:nvSpPr>
        <p:spPr bwMode="auto">
          <a:xfrm>
            <a:off x="6481764" y="4692650"/>
            <a:ext cx="2022475" cy="1588"/>
          </a:xfrm>
          <a:prstGeom prst="line">
            <a:avLst/>
          </a:prstGeom>
          <a:noFill/>
          <a:ln w="19050">
            <a:solidFill>
              <a:srgbClr val="000000"/>
            </a:solidFill>
            <a:round/>
            <a:headEnd/>
            <a:tailEnd/>
          </a:ln>
        </p:spPr>
        <p:txBody>
          <a:bodyPr/>
          <a:lstStyle/>
          <a:p>
            <a:endParaRPr lang="en-US"/>
          </a:p>
        </p:txBody>
      </p:sp>
      <p:sp>
        <p:nvSpPr>
          <p:cNvPr id="140308" name="Freeform 20"/>
          <p:cNvSpPr>
            <a:spLocks/>
          </p:cNvSpPr>
          <p:nvPr/>
        </p:nvSpPr>
        <p:spPr bwMode="auto">
          <a:xfrm>
            <a:off x="8504238" y="4579938"/>
            <a:ext cx="207962" cy="227012"/>
          </a:xfrm>
          <a:custGeom>
            <a:avLst/>
            <a:gdLst/>
            <a:ahLst/>
            <a:cxnLst>
              <a:cxn ang="0">
                <a:pos x="0" y="71"/>
              </a:cxn>
              <a:cxn ang="0">
                <a:pos x="131" y="0"/>
              </a:cxn>
              <a:cxn ang="0">
                <a:pos x="131" y="143"/>
              </a:cxn>
              <a:cxn ang="0">
                <a:pos x="0" y="71"/>
              </a:cxn>
            </a:cxnLst>
            <a:rect l="0" t="0" r="r" b="b"/>
            <a:pathLst>
              <a:path w="131" h="143">
                <a:moveTo>
                  <a:pt x="0" y="71"/>
                </a:moveTo>
                <a:lnTo>
                  <a:pt x="131" y="0"/>
                </a:lnTo>
                <a:lnTo>
                  <a:pt x="131" y="143"/>
                </a:lnTo>
                <a:lnTo>
                  <a:pt x="0" y="71"/>
                </a:lnTo>
                <a:close/>
              </a:path>
            </a:pathLst>
          </a:custGeom>
          <a:solidFill>
            <a:srgbClr val="FFFFFF"/>
          </a:solidFill>
          <a:ln w="19050">
            <a:solidFill>
              <a:srgbClr val="FF0000"/>
            </a:solidFill>
            <a:prstDash val="solid"/>
            <a:round/>
            <a:headEnd/>
            <a:tailEnd/>
          </a:ln>
        </p:spPr>
        <p:txBody>
          <a:bodyPr/>
          <a:lstStyle/>
          <a:p>
            <a:endParaRPr lang="en-US"/>
          </a:p>
        </p:txBody>
      </p:sp>
      <p:sp>
        <p:nvSpPr>
          <p:cNvPr id="140309" name="Rectangle 21"/>
          <p:cNvSpPr>
            <a:spLocks noChangeArrowheads="1"/>
          </p:cNvSpPr>
          <p:nvPr/>
        </p:nvSpPr>
        <p:spPr bwMode="auto">
          <a:xfrm>
            <a:off x="6481764" y="4295776"/>
            <a:ext cx="1671933" cy="384721"/>
          </a:xfrm>
          <a:prstGeom prst="rect">
            <a:avLst/>
          </a:prstGeom>
          <a:noFill/>
          <a:ln w="9525">
            <a:noFill/>
            <a:miter lim="800000"/>
            <a:headEnd/>
            <a:tailEnd/>
          </a:ln>
        </p:spPr>
        <p:txBody>
          <a:bodyPr wrap="none" lIns="0" tIns="0" rIns="0" bIns="0">
            <a:spAutoFit/>
          </a:bodyPr>
          <a:lstStyle/>
          <a:p>
            <a:r>
              <a:rPr lang="en-US" sz="2500">
                <a:solidFill>
                  <a:srgbClr val="000000"/>
                </a:solidFill>
              </a:rPr>
              <a:t>Wild Success</a:t>
            </a:r>
            <a:endParaRPr lang="en-US"/>
          </a:p>
        </p:txBody>
      </p:sp>
      <p:sp>
        <p:nvSpPr>
          <p:cNvPr id="140310" name="Rectangle 22"/>
          <p:cNvSpPr>
            <a:spLocks noChangeArrowheads="1"/>
          </p:cNvSpPr>
          <p:nvPr/>
        </p:nvSpPr>
        <p:spPr bwMode="auto">
          <a:xfrm>
            <a:off x="6761163" y="4768851"/>
            <a:ext cx="1166986" cy="384721"/>
          </a:xfrm>
          <a:prstGeom prst="rect">
            <a:avLst/>
          </a:prstGeom>
          <a:noFill/>
          <a:ln w="9525">
            <a:noFill/>
            <a:miter lim="800000"/>
            <a:headEnd/>
            <a:tailEnd/>
          </a:ln>
        </p:spPr>
        <p:txBody>
          <a:bodyPr wrap="none" lIns="0" tIns="0" rIns="0" bIns="0">
            <a:spAutoFit/>
          </a:bodyPr>
          <a:lstStyle/>
          <a:p>
            <a:r>
              <a:rPr lang="en-US" sz="2500">
                <a:solidFill>
                  <a:srgbClr val="000000"/>
                </a:solidFill>
              </a:rPr>
              <a:t>pSuccess</a:t>
            </a:r>
            <a:endParaRPr lang="en-US"/>
          </a:p>
        </p:txBody>
      </p:sp>
      <p:sp>
        <p:nvSpPr>
          <p:cNvPr id="140311" name="Rectangle 23"/>
          <p:cNvSpPr>
            <a:spLocks noChangeArrowheads="1"/>
          </p:cNvSpPr>
          <p:nvPr/>
        </p:nvSpPr>
        <p:spPr bwMode="auto">
          <a:xfrm>
            <a:off x="8883650" y="4522788"/>
            <a:ext cx="1174750" cy="381000"/>
          </a:xfrm>
          <a:prstGeom prst="rect">
            <a:avLst/>
          </a:prstGeom>
          <a:noFill/>
          <a:ln w="9525">
            <a:noFill/>
            <a:miter lim="800000"/>
            <a:headEnd/>
            <a:tailEnd/>
          </a:ln>
        </p:spPr>
        <p:txBody>
          <a:bodyPr lIns="0" tIns="0" rIns="0" bIns="0">
            <a:spAutoFit/>
          </a:bodyPr>
          <a:lstStyle/>
          <a:p>
            <a:r>
              <a:rPr lang="en-US" sz="2500">
                <a:solidFill>
                  <a:srgbClr val="000000"/>
                </a:solidFill>
              </a:rPr>
              <a:t>$+int</a:t>
            </a:r>
            <a:endParaRPr lang="en-US"/>
          </a:p>
        </p:txBody>
      </p:sp>
      <p:sp>
        <p:nvSpPr>
          <p:cNvPr id="140312" name="Line 24"/>
          <p:cNvSpPr>
            <a:spLocks noChangeShapeType="1"/>
          </p:cNvSpPr>
          <p:nvPr/>
        </p:nvSpPr>
        <p:spPr bwMode="auto">
          <a:xfrm>
            <a:off x="6481764" y="5543550"/>
            <a:ext cx="2022475" cy="1588"/>
          </a:xfrm>
          <a:prstGeom prst="line">
            <a:avLst/>
          </a:prstGeom>
          <a:noFill/>
          <a:ln w="19050">
            <a:solidFill>
              <a:srgbClr val="000000"/>
            </a:solidFill>
            <a:round/>
            <a:headEnd/>
            <a:tailEnd/>
          </a:ln>
        </p:spPr>
        <p:txBody>
          <a:bodyPr/>
          <a:lstStyle/>
          <a:p>
            <a:endParaRPr lang="en-US"/>
          </a:p>
        </p:txBody>
      </p:sp>
      <p:sp>
        <p:nvSpPr>
          <p:cNvPr id="140313" name="Freeform 25"/>
          <p:cNvSpPr>
            <a:spLocks/>
          </p:cNvSpPr>
          <p:nvPr/>
        </p:nvSpPr>
        <p:spPr bwMode="auto">
          <a:xfrm>
            <a:off x="8504238" y="5430839"/>
            <a:ext cx="207962" cy="225425"/>
          </a:xfrm>
          <a:custGeom>
            <a:avLst/>
            <a:gdLst/>
            <a:ahLst/>
            <a:cxnLst>
              <a:cxn ang="0">
                <a:pos x="0" y="71"/>
              </a:cxn>
              <a:cxn ang="0">
                <a:pos x="131" y="0"/>
              </a:cxn>
              <a:cxn ang="0">
                <a:pos x="131" y="142"/>
              </a:cxn>
              <a:cxn ang="0">
                <a:pos x="0" y="71"/>
              </a:cxn>
            </a:cxnLst>
            <a:rect l="0" t="0" r="r" b="b"/>
            <a:pathLst>
              <a:path w="131" h="142">
                <a:moveTo>
                  <a:pt x="0" y="71"/>
                </a:moveTo>
                <a:lnTo>
                  <a:pt x="131" y="0"/>
                </a:lnTo>
                <a:lnTo>
                  <a:pt x="131" y="142"/>
                </a:lnTo>
                <a:lnTo>
                  <a:pt x="0" y="71"/>
                </a:lnTo>
                <a:close/>
              </a:path>
            </a:pathLst>
          </a:custGeom>
          <a:solidFill>
            <a:srgbClr val="FFFFFF"/>
          </a:solidFill>
          <a:ln w="19050">
            <a:solidFill>
              <a:srgbClr val="FF0000"/>
            </a:solidFill>
            <a:prstDash val="solid"/>
            <a:round/>
            <a:headEnd/>
            <a:tailEnd/>
          </a:ln>
        </p:spPr>
        <p:txBody>
          <a:bodyPr/>
          <a:lstStyle/>
          <a:p>
            <a:endParaRPr lang="en-US"/>
          </a:p>
        </p:txBody>
      </p:sp>
      <p:sp>
        <p:nvSpPr>
          <p:cNvPr id="140314" name="Rectangle 26"/>
          <p:cNvSpPr>
            <a:spLocks noChangeArrowheads="1"/>
          </p:cNvSpPr>
          <p:nvPr/>
        </p:nvSpPr>
        <p:spPr bwMode="auto">
          <a:xfrm>
            <a:off x="6481764" y="5146676"/>
            <a:ext cx="557845" cy="384721"/>
          </a:xfrm>
          <a:prstGeom prst="rect">
            <a:avLst/>
          </a:prstGeom>
          <a:noFill/>
          <a:ln w="9525">
            <a:noFill/>
            <a:miter lim="800000"/>
            <a:headEnd/>
            <a:tailEnd/>
          </a:ln>
        </p:spPr>
        <p:txBody>
          <a:bodyPr wrap="none" lIns="0" tIns="0" rIns="0" bIns="0">
            <a:spAutoFit/>
          </a:bodyPr>
          <a:lstStyle/>
          <a:p>
            <a:r>
              <a:rPr lang="en-US" sz="2500">
                <a:solidFill>
                  <a:srgbClr val="000000"/>
                </a:solidFill>
              </a:rPr>
              <a:t>Flop</a:t>
            </a:r>
            <a:endParaRPr lang="en-US"/>
          </a:p>
        </p:txBody>
      </p:sp>
      <p:sp>
        <p:nvSpPr>
          <p:cNvPr id="140315" name="Rectangle 27"/>
          <p:cNvSpPr>
            <a:spLocks noChangeArrowheads="1"/>
          </p:cNvSpPr>
          <p:nvPr/>
        </p:nvSpPr>
        <p:spPr bwMode="auto">
          <a:xfrm>
            <a:off x="7408863" y="5619751"/>
            <a:ext cx="160300" cy="384721"/>
          </a:xfrm>
          <a:prstGeom prst="rect">
            <a:avLst/>
          </a:prstGeom>
          <a:noFill/>
          <a:ln w="9525">
            <a:noFill/>
            <a:miter lim="800000"/>
            <a:headEnd/>
            <a:tailEnd/>
          </a:ln>
        </p:spPr>
        <p:txBody>
          <a:bodyPr wrap="none" lIns="0" tIns="0" rIns="0" bIns="0">
            <a:spAutoFit/>
          </a:bodyPr>
          <a:lstStyle/>
          <a:p>
            <a:r>
              <a:rPr lang="en-US" sz="2500">
                <a:solidFill>
                  <a:srgbClr val="000000"/>
                </a:solidFill>
              </a:rPr>
              <a:t>#</a:t>
            </a:r>
            <a:endParaRPr lang="en-US"/>
          </a:p>
        </p:txBody>
      </p:sp>
      <p:sp>
        <p:nvSpPr>
          <p:cNvPr id="140316" name="Rectangle 28"/>
          <p:cNvSpPr>
            <a:spLocks noChangeArrowheads="1"/>
          </p:cNvSpPr>
          <p:nvPr/>
        </p:nvSpPr>
        <p:spPr bwMode="auto">
          <a:xfrm>
            <a:off x="8883651" y="5373688"/>
            <a:ext cx="963613" cy="381000"/>
          </a:xfrm>
          <a:prstGeom prst="rect">
            <a:avLst/>
          </a:prstGeom>
          <a:noFill/>
          <a:ln w="9525">
            <a:noFill/>
            <a:miter lim="800000"/>
            <a:headEnd/>
            <a:tailEnd/>
          </a:ln>
        </p:spPr>
        <p:txBody>
          <a:bodyPr lIns="0" tIns="0" rIns="0" bIns="0">
            <a:spAutoFit/>
          </a:bodyPr>
          <a:lstStyle/>
          <a:p>
            <a:r>
              <a:rPr lang="en-US" sz="2500">
                <a:solidFill>
                  <a:srgbClr val="000000"/>
                </a:solidFill>
              </a:rPr>
              <a:t>$+int</a:t>
            </a:r>
            <a:endParaRPr lang="en-US"/>
          </a:p>
        </p:txBody>
      </p:sp>
      <p:sp>
        <p:nvSpPr>
          <p:cNvPr id="140317" name="Line 29"/>
          <p:cNvSpPr>
            <a:spLocks noChangeShapeType="1"/>
          </p:cNvSpPr>
          <p:nvPr/>
        </p:nvSpPr>
        <p:spPr bwMode="auto">
          <a:xfrm flipV="1">
            <a:off x="6046789" y="4692651"/>
            <a:ext cx="434975" cy="434975"/>
          </a:xfrm>
          <a:prstGeom prst="line">
            <a:avLst/>
          </a:prstGeom>
          <a:noFill/>
          <a:ln w="19050">
            <a:solidFill>
              <a:srgbClr val="000000"/>
            </a:solidFill>
            <a:round/>
            <a:headEnd/>
            <a:tailEnd/>
          </a:ln>
        </p:spPr>
        <p:txBody>
          <a:bodyPr/>
          <a:lstStyle/>
          <a:p>
            <a:endParaRPr lang="en-US"/>
          </a:p>
        </p:txBody>
      </p:sp>
      <p:sp>
        <p:nvSpPr>
          <p:cNvPr id="140318" name="Line 30"/>
          <p:cNvSpPr>
            <a:spLocks noChangeShapeType="1"/>
          </p:cNvSpPr>
          <p:nvPr/>
        </p:nvSpPr>
        <p:spPr bwMode="auto">
          <a:xfrm>
            <a:off x="6046789" y="5127626"/>
            <a:ext cx="434975" cy="415925"/>
          </a:xfrm>
          <a:prstGeom prst="line">
            <a:avLst/>
          </a:prstGeom>
          <a:noFill/>
          <a:ln w="19050">
            <a:solidFill>
              <a:srgbClr val="000000"/>
            </a:solidFill>
            <a:round/>
            <a:headEnd/>
            <a:tailEnd/>
          </a:ln>
        </p:spPr>
        <p:txBody>
          <a:bodyPr/>
          <a:lstStyle/>
          <a:p>
            <a:endParaRPr lang="en-US"/>
          </a:p>
        </p:txBody>
      </p:sp>
      <p:sp>
        <p:nvSpPr>
          <p:cNvPr id="140319" name="Line 31"/>
          <p:cNvSpPr>
            <a:spLocks noChangeShapeType="1"/>
          </p:cNvSpPr>
          <p:nvPr/>
        </p:nvSpPr>
        <p:spPr bwMode="auto">
          <a:xfrm>
            <a:off x="4572001" y="5127625"/>
            <a:ext cx="1247775" cy="1588"/>
          </a:xfrm>
          <a:prstGeom prst="line">
            <a:avLst/>
          </a:prstGeom>
          <a:noFill/>
          <a:ln w="19050">
            <a:solidFill>
              <a:srgbClr val="000000"/>
            </a:solidFill>
            <a:round/>
            <a:headEnd/>
            <a:tailEnd/>
          </a:ln>
        </p:spPr>
        <p:txBody>
          <a:bodyPr/>
          <a:lstStyle/>
          <a:p>
            <a:endParaRPr lang="en-US"/>
          </a:p>
        </p:txBody>
      </p:sp>
      <p:sp>
        <p:nvSpPr>
          <p:cNvPr id="140320" name="Oval 32"/>
          <p:cNvSpPr>
            <a:spLocks noChangeArrowheads="1"/>
          </p:cNvSpPr>
          <p:nvPr/>
        </p:nvSpPr>
        <p:spPr bwMode="auto">
          <a:xfrm>
            <a:off x="5819776" y="5014914"/>
            <a:ext cx="207963" cy="225425"/>
          </a:xfrm>
          <a:prstGeom prst="ellipse">
            <a:avLst/>
          </a:prstGeom>
          <a:solidFill>
            <a:srgbClr val="FFFFFF"/>
          </a:solidFill>
          <a:ln w="19050">
            <a:solidFill>
              <a:srgbClr val="008000"/>
            </a:solidFill>
            <a:round/>
            <a:headEnd/>
            <a:tailEnd/>
          </a:ln>
        </p:spPr>
        <p:txBody>
          <a:bodyPr/>
          <a:lstStyle/>
          <a:p>
            <a:endParaRPr lang="en-US"/>
          </a:p>
        </p:txBody>
      </p:sp>
      <p:sp>
        <p:nvSpPr>
          <p:cNvPr id="140321" name="Rectangle 33"/>
          <p:cNvSpPr>
            <a:spLocks noChangeArrowheads="1"/>
          </p:cNvSpPr>
          <p:nvPr/>
        </p:nvSpPr>
        <p:spPr bwMode="auto">
          <a:xfrm>
            <a:off x="4648200" y="4341814"/>
            <a:ext cx="881652" cy="769441"/>
          </a:xfrm>
          <a:prstGeom prst="rect">
            <a:avLst/>
          </a:prstGeom>
          <a:noFill/>
          <a:ln w="9525">
            <a:noFill/>
            <a:miter lim="800000"/>
            <a:headEnd/>
            <a:tailEnd/>
          </a:ln>
        </p:spPr>
        <p:txBody>
          <a:bodyPr wrap="none" lIns="0" tIns="0" rIns="0" bIns="0">
            <a:spAutoFit/>
          </a:bodyPr>
          <a:lstStyle/>
          <a:p>
            <a:r>
              <a:rPr lang="en-US" sz="2500">
                <a:solidFill>
                  <a:srgbClr val="000000"/>
                </a:solidFill>
              </a:rPr>
              <a:t>Do not</a:t>
            </a:r>
          </a:p>
          <a:p>
            <a:r>
              <a:rPr lang="en-US" sz="2500">
                <a:solidFill>
                  <a:srgbClr val="000000"/>
                </a:solidFill>
              </a:rPr>
              <a:t>invest</a:t>
            </a:r>
            <a:endParaRPr lang="en-US"/>
          </a:p>
        </p:txBody>
      </p:sp>
      <p:sp>
        <p:nvSpPr>
          <p:cNvPr id="140322" name="Line 34"/>
          <p:cNvSpPr>
            <a:spLocks noChangeShapeType="1"/>
          </p:cNvSpPr>
          <p:nvPr/>
        </p:nvSpPr>
        <p:spPr bwMode="auto">
          <a:xfrm flipV="1">
            <a:off x="4137026" y="3444875"/>
            <a:ext cx="434975" cy="831850"/>
          </a:xfrm>
          <a:prstGeom prst="line">
            <a:avLst/>
          </a:prstGeom>
          <a:noFill/>
          <a:ln w="19050">
            <a:solidFill>
              <a:srgbClr val="000000"/>
            </a:solidFill>
            <a:round/>
            <a:headEnd/>
            <a:tailEnd/>
          </a:ln>
        </p:spPr>
        <p:txBody>
          <a:bodyPr/>
          <a:lstStyle/>
          <a:p>
            <a:endParaRPr lang="en-US"/>
          </a:p>
        </p:txBody>
      </p:sp>
      <p:sp>
        <p:nvSpPr>
          <p:cNvPr id="140323" name="Line 35"/>
          <p:cNvSpPr>
            <a:spLocks noChangeShapeType="1"/>
          </p:cNvSpPr>
          <p:nvPr/>
        </p:nvSpPr>
        <p:spPr bwMode="auto">
          <a:xfrm>
            <a:off x="4137026" y="4276725"/>
            <a:ext cx="434975" cy="850900"/>
          </a:xfrm>
          <a:prstGeom prst="line">
            <a:avLst/>
          </a:prstGeom>
          <a:noFill/>
          <a:ln w="19050">
            <a:solidFill>
              <a:srgbClr val="000000"/>
            </a:solidFill>
            <a:round/>
            <a:headEnd/>
            <a:tailEnd/>
          </a:ln>
        </p:spPr>
        <p:txBody>
          <a:bodyPr/>
          <a:lstStyle/>
          <a:p>
            <a:endParaRPr lang="en-US"/>
          </a:p>
        </p:txBody>
      </p:sp>
      <p:sp>
        <p:nvSpPr>
          <p:cNvPr id="140324" name="Line 36"/>
          <p:cNvSpPr>
            <a:spLocks noChangeShapeType="1"/>
          </p:cNvSpPr>
          <p:nvPr/>
        </p:nvSpPr>
        <p:spPr bwMode="auto">
          <a:xfrm>
            <a:off x="2681289" y="4276725"/>
            <a:ext cx="1228725" cy="1588"/>
          </a:xfrm>
          <a:prstGeom prst="line">
            <a:avLst/>
          </a:prstGeom>
          <a:noFill/>
          <a:ln w="19050">
            <a:solidFill>
              <a:srgbClr val="000000"/>
            </a:solidFill>
            <a:round/>
            <a:headEnd/>
            <a:tailEnd/>
          </a:ln>
        </p:spPr>
        <p:txBody>
          <a:bodyPr/>
          <a:lstStyle/>
          <a:p>
            <a:endParaRPr lang="en-US"/>
          </a:p>
        </p:txBody>
      </p:sp>
      <p:sp>
        <p:nvSpPr>
          <p:cNvPr id="140325" name="Rectangle 37"/>
          <p:cNvSpPr>
            <a:spLocks noChangeArrowheads="1"/>
          </p:cNvSpPr>
          <p:nvPr/>
        </p:nvSpPr>
        <p:spPr bwMode="auto">
          <a:xfrm>
            <a:off x="3910013" y="4164013"/>
            <a:ext cx="207962" cy="227012"/>
          </a:xfrm>
          <a:prstGeom prst="rect">
            <a:avLst/>
          </a:prstGeom>
          <a:solidFill>
            <a:srgbClr val="FFFFFF"/>
          </a:solidFill>
          <a:ln w="19050">
            <a:solidFill>
              <a:srgbClr val="0000FF"/>
            </a:solidFill>
            <a:miter lim="800000"/>
            <a:headEnd/>
            <a:tailEnd/>
          </a:ln>
        </p:spPr>
        <p:txBody>
          <a:bodyPr/>
          <a:lstStyle/>
          <a:p>
            <a:endParaRPr lang="en-US"/>
          </a:p>
        </p:txBody>
      </p:sp>
      <p:sp>
        <p:nvSpPr>
          <p:cNvPr id="140326" name="Rectangle 38"/>
          <p:cNvSpPr>
            <a:spLocks noChangeArrowheads="1"/>
          </p:cNvSpPr>
          <p:nvPr/>
        </p:nvSpPr>
        <p:spPr bwMode="auto">
          <a:xfrm>
            <a:off x="2681288" y="3879851"/>
            <a:ext cx="961802" cy="384721"/>
          </a:xfrm>
          <a:prstGeom prst="rect">
            <a:avLst/>
          </a:prstGeom>
          <a:noFill/>
          <a:ln w="9525">
            <a:noFill/>
            <a:miter lim="800000"/>
            <a:headEnd/>
            <a:tailEnd/>
          </a:ln>
        </p:spPr>
        <p:txBody>
          <a:bodyPr wrap="none" lIns="0" tIns="0" rIns="0" bIns="0">
            <a:spAutoFit/>
          </a:bodyPr>
          <a:lstStyle/>
          <a:p>
            <a:r>
              <a:rPr lang="en-US" sz="2500">
                <a:solidFill>
                  <a:srgbClr val="000000"/>
                </a:solidFill>
              </a:rPr>
              <a:t>Choose</a:t>
            </a:r>
            <a:endParaRPr lang="en-US"/>
          </a:p>
        </p:txBody>
      </p:sp>
      <p:sp>
        <p:nvSpPr>
          <p:cNvPr id="140327" name="Text Box 39"/>
          <p:cNvSpPr txBox="1">
            <a:spLocks noChangeArrowheads="1"/>
          </p:cNvSpPr>
          <p:nvPr/>
        </p:nvSpPr>
        <p:spPr bwMode="auto">
          <a:xfrm>
            <a:off x="2345046" y="1295400"/>
            <a:ext cx="7506670" cy="523220"/>
          </a:xfrm>
          <a:prstGeom prst="rect">
            <a:avLst/>
          </a:prstGeom>
          <a:noFill/>
          <a:ln w="9525">
            <a:noFill/>
            <a:miter lim="800000"/>
            <a:headEnd/>
            <a:tailEnd/>
          </a:ln>
          <a:effectLst/>
        </p:spPr>
        <p:txBody>
          <a:bodyPr wrap="none">
            <a:spAutoFit/>
          </a:bodyPr>
          <a:lstStyle/>
          <a:p>
            <a:pPr algn="ctr"/>
            <a:r>
              <a:rPr lang="en-US" sz="2800" b="1">
                <a:solidFill>
                  <a:srgbClr val="333399"/>
                </a:solidFill>
              </a:rPr>
              <a:t>Do you invest $ in a business or put it in savings? </a:t>
            </a:r>
          </a:p>
        </p:txBody>
      </p:sp>
    </p:spTree>
    <p:extLst>
      <p:ext uri="{BB962C8B-B14F-4D97-AF65-F5344CB8AC3E}">
        <p14:creationId xmlns:p14="http://schemas.microsoft.com/office/powerpoint/2010/main" val="27029445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p:txBody>
          <a:bodyPr/>
          <a:lstStyle/>
          <a:p>
            <a:r>
              <a:rPr lang="en-US"/>
              <a:t>Evacuation Decision</a:t>
            </a:r>
          </a:p>
        </p:txBody>
      </p:sp>
      <p:sp>
        <p:nvSpPr>
          <p:cNvPr id="141315" name="AutoShape 3"/>
          <p:cNvSpPr>
            <a:spLocks noChangeAspect="1" noChangeArrowheads="1" noTextEdit="1"/>
          </p:cNvSpPr>
          <p:nvPr/>
        </p:nvSpPr>
        <p:spPr bwMode="auto">
          <a:xfrm>
            <a:off x="1981200" y="2057400"/>
            <a:ext cx="7620000" cy="4216400"/>
          </a:xfrm>
          <a:prstGeom prst="rect">
            <a:avLst/>
          </a:prstGeom>
          <a:noFill/>
          <a:ln w="9525">
            <a:noFill/>
            <a:miter lim="800000"/>
            <a:headEnd/>
            <a:tailEnd/>
          </a:ln>
        </p:spPr>
        <p:txBody>
          <a:bodyPr/>
          <a:lstStyle/>
          <a:p>
            <a:endParaRPr lang="en-US"/>
          </a:p>
        </p:txBody>
      </p:sp>
      <p:sp>
        <p:nvSpPr>
          <p:cNvPr id="141316" name="Line 4"/>
          <p:cNvSpPr>
            <a:spLocks noChangeShapeType="1"/>
          </p:cNvSpPr>
          <p:nvPr/>
        </p:nvSpPr>
        <p:spPr bwMode="auto">
          <a:xfrm>
            <a:off x="6024564" y="2857500"/>
            <a:ext cx="2022475" cy="1588"/>
          </a:xfrm>
          <a:prstGeom prst="line">
            <a:avLst/>
          </a:prstGeom>
          <a:noFill/>
          <a:ln w="19050">
            <a:solidFill>
              <a:srgbClr val="000000"/>
            </a:solidFill>
            <a:round/>
            <a:headEnd/>
            <a:tailEnd/>
          </a:ln>
        </p:spPr>
        <p:txBody>
          <a:bodyPr/>
          <a:lstStyle/>
          <a:p>
            <a:endParaRPr lang="en-US"/>
          </a:p>
        </p:txBody>
      </p:sp>
      <p:sp>
        <p:nvSpPr>
          <p:cNvPr id="141317" name="Freeform 5"/>
          <p:cNvSpPr>
            <a:spLocks/>
          </p:cNvSpPr>
          <p:nvPr/>
        </p:nvSpPr>
        <p:spPr bwMode="auto">
          <a:xfrm>
            <a:off x="8047038" y="2744788"/>
            <a:ext cx="207962" cy="227012"/>
          </a:xfrm>
          <a:custGeom>
            <a:avLst/>
            <a:gdLst/>
            <a:ahLst/>
            <a:cxnLst>
              <a:cxn ang="0">
                <a:pos x="0" y="71"/>
              </a:cxn>
              <a:cxn ang="0">
                <a:pos x="131" y="0"/>
              </a:cxn>
              <a:cxn ang="0">
                <a:pos x="131" y="143"/>
              </a:cxn>
              <a:cxn ang="0">
                <a:pos x="0" y="71"/>
              </a:cxn>
            </a:cxnLst>
            <a:rect l="0" t="0" r="r" b="b"/>
            <a:pathLst>
              <a:path w="131" h="143">
                <a:moveTo>
                  <a:pt x="0" y="71"/>
                </a:moveTo>
                <a:lnTo>
                  <a:pt x="131" y="0"/>
                </a:lnTo>
                <a:lnTo>
                  <a:pt x="131" y="143"/>
                </a:lnTo>
                <a:lnTo>
                  <a:pt x="0" y="71"/>
                </a:lnTo>
                <a:close/>
              </a:path>
            </a:pathLst>
          </a:custGeom>
          <a:solidFill>
            <a:srgbClr val="FFFFFF"/>
          </a:solidFill>
          <a:ln w="19050">
            <a:solidFill>
              <a:srgbClr val="FF0000"/>
            </a:solidFill>
            <a:prstDash val="solid"/>
            <a:round/>
            <a:headEnd/>
            <a:tailEnd/>
          </a:ln>
        </p:spPr>
        <p:txBody>
          <a:bodyPr/>
          <a:lstStyle/>
          <a:p>
            <a:endParaRPr lang="en-US"/>
          </a:p>
        </p:txBody>
      </p:sp>
      <p:sp>
        <p:nvSpPr>
          <p:cNvPr id="141318" name="Rectangle 6"/>
          <p:cNvSpPr>
            <a:spLocks noChangeArrowheads="1"/>
          </p:cNvSpPr>
          <p:nvPr/>
        </p:nvSpPr>
        <p:spPr bwMode="auto">
          <a:xfrm>
            <a:off x="6024563" y="2479676"/>
            <a:ext cx="1861600" cy="384721"/>
          </a:xfrm>
          <a:prstGeom prst="rect">
            <a:avLst/>
          </a:prstGeom>
          <a:noFill/>
          <a:ln w="9525">
            <a:noFill/>
            <a:miter lim="800000"/>
            <a:headEnd/>
            <a:tailEnd/>
          </a:ln>
        </p:spPr>
        <p:txBody>
          <a:bodyPr wrap="none" lIns="0" tIns="0" rIns="0" bIns="0">
            <a:spAutoFit/>
          </a:bodyPr>
          <a:lstStyle/>
          <a:p>
            <a:r>
              <a:rPr lang="en-US" sz="2500">
                <a:solidFill>
                  <a:srgbClr val="000000"/>
                </a:solidFill>
              </a:rPr>
              <a:t>Hurricane Hits</a:t>
            </a:r>
            <a:endParaRPr lang="en-US"/>
          </a:p>
        </p:txBody>
      </p:sp>
      <p:sp>
        <p:nvSpPr>
          <p:cNvPr id="141319" name="Rectangle 7"/>
          <p:cNvSpPr>
            <a:spLocks noChangeArrowheads="1"/>
          </p:cNvSpPr>
          <p:nvPr/>
        </p:nvSpPr>
        <p:spPr bwMode="auto">
          <a:xfrm>
            <a:off x="6667501" y="2933700"/>
            <a:ext cx="563563" cy="381000"/>
          </a:xfrm>
          <a:prstGeom prst="rect">
            <a:avLst/>
          </a:prstGeom>
          <a:noFill/>
          <a:ln w="9525">
            <a:noFill/>
            <a:miter lim="800000"/>
            <a:headEnd/>
            <a:tailEnd/>
          </a:ln>
        </p:spPr>
        <p:txBody>
          <a:bodyPr wrap="none" lIns="0" tIns="0" rIns="0" bIns="0">
            <a:spAutoFit/>
          </a:bodyPr>
          <a:lstStyle/>
          <a:p>
            <a:r>
              <a:rPr lang="en-US" sz="2500">
                <a:solidFill>
                  <a:srgbClr val="000000"/>
                </a:solidFill>
              </a:rPr>
              <a:t>pHit</a:t>
            </a:r>
            <a:endParaRPr lang="en-US"/>
          </a:p>
        </p:txBody>
      </p:sp>
      <p:sp>
        <p:nvSpPr>
          <p:cNvPr id="141320" name="Rectangle 8"/>
          <p:cNvSpPr>
            <a:spLocks noChangeArrowheads="1"/>
          </p:cNvSpPr>
          <p:nvPr/>
        </p:nvSpPr>
        <p:spPr bwMode="auto">
          <a:xfrm>
            <a:off x="8426450" y="2687638"/>
            <a:ext cx="1860550" cy="381000"/>
          </a:xfrm>
          <a:prstGeom prst="rect">
            <a:avLst/>
          </a:prstGeom>
          <a:noFill/>
          <a:ln w="9525">
            <a:noFill/>
            <a:miter lim="800000"/>
            <a:headEnd/>
            <a:tailEnd/>
          </a:ln>
        </p:spPr>
        <p:txBody>
          <a:bodyPr lIns="0" tIns="0" rIns="0" bIns="0">
            <a:spAutoFit/>
          </a:bodyPr>
          <a:lstStyle/>
          <a:p>
            <a:r>
              <a:rPr lang="en-US" sz="2500">
                <a:solidFill>
                  <a:srgbClr val="000000"/>
                </a:solidFill>
                <a:cs typeface="Arial" charset="0"/>
              </a:rPr>
              <a:t>↑cost, ↓risk</a:t>
            </a:r>
            <a:endParaRPr lang="en-US">
              <a:cs typeface="Arial" charset="0"/>
            </a:endParaRPr>
          </a:p>
        </p:txBody>
      </p:sp>
      <p:sp>
        <p:nvSpPr>
          <p:cNvPr id="141321" name="Line 9"/>
          <p:cNvSpPr>
            <a:spLocks noChangeShapeType="1"/>
          </p:cNvSpPr>
          <p:nvPr/>
        </p:nvSpPr>
        <p:spPr bwMode="auto">
          <a:xfrm>
            <a:off x="6024564" y="3708400"/>
            <a:ext cx="2022475" cy="1588"/>
          </a:xfrm>
          <a:prstGeom prst="line">
            <a:avLst/>
          </a:prstGeom>
          <a:noFill/>
          <a:ln w="19050">
            <a:solidFill>
              <a:srgbClr val="000000"/>
            </a:solidFill>
            <a:round/>
            <a:headEnd/>
            <a:tailEnd/>
          </a:ln>
        </p:spPr>
        <p:txBody>
          <a:bodyPr/>
          <a:lstStyle/>
          <a:p>
            <a:endParaRPr lang="en-US"/>
          </a:p>
        </p:txBody>
      </p:sp>
      <p:sp>
        <p:nvSpPr>
          <p:cNvPr id="141322" name="Freeform 10"/>
          <p:cNvSpPr>
            <a:spLocks/>
          </p:cNvSpPr>
          <p:nvPr/>
        </p:nvSpPr>
        <p:spPr bwMode="auto">
          <a:xfrm>
            <a:off x="8047038" y="3595689"/>
            <a:ext cx="207962" cy="225425"/>
          </a:xfrm>
          <a:custGeom>
            <a:avLst/>
            <a:gdLst/>
            <a:ahLst/>
            <a:cxnLst>
              <a:cxn ang="0">
                <a:pos x="0" y="71"/>
              </a:cxn>
              <a:cxn ang="0">
                <a:pos x="131" y="0"/>
              </a:cxn>
              <a:cxn ang="0">
                <a:pos x="131" y="142"/>
              </a:cxn>
              <a:cxn ang="0">
                <a:pos x="0" y="71"/>
              </a:cxn>
            </a:cxnLst>
            <a:rect l="0" t="0" r="r" b="b"/>
            <a:pathLst>
              <a:path w="131" h="142">
                <a:moveTo>
                  <a:pt x="0" y="71"/>
                </a:moveTo>
                <a:lnTo>
                  <a:pt x="131" y="0"/>
                </a:lnTo>
                <a:lnTo>
                  <a:pt x="131" y="142"/>
                </a:lnTo>
                <a:lnTo>
                  <a:pt x="0" y="71"/>
                </a:lnTo>
                <a:close/>
              </a:path>
            </a:pathLst>
          </a:custGeom>
          <a:solidFill>
            <a:srgbClr val="FFFFFF"/>
          </a:solidFill>
          <a:ln w="19050">
            <a:solidFill>
              <a:srgbClr val="FF0000"/>
            </a:solidFill>
            <a:prstDash val="solid"/>
            <a:round/>
            <a:headEnd/>
            <a:tailEnd/>
          </a:ln>
        </p:spPr>
        <p:txBody>
          <a:bodyPr/>
          <a:lstStyle/>
          <a:p>
            <a:endParaRPr lang="en-US"/>
          </a:p>
        </p:txBody>
      </p:sp>
      <p:sp>
        <p:nvSpPr>
          <p:cNvPr id="141323" name="Rectangle 11"/>
          <p:cNvSpPr>
            <a:spLocks noChangeArrowheads="1"/>
          </p:cNvSpPr>
          <p:nvPr/>
        </p:nvSpPr>
        <p:spPr bwMode="auto">
          <a:xfrm>
            <a:off x="6024564" y="3311526"/>
            <a:ext cx="883255" cy="384721"/>
          </a:xfrm>
          <a:prstGeom prst="rect">
            <a:avLst/>
          </a:prstGeom>
          <a:noFill/>
          <a:ln w="9525">
            <a:noFill/>
            <a:miter lim="800000"/>
            <a:headEnd/>
            <a:tailEnd/>
          </a:ln>
        </p:spPr>
        <p:txBody>
          <a:bodyPr wrap="none" lIns="0" tIns="0" rIns="0" bIns="0">
            <a:spAutoFit/>
          </a:bodyPr>
          <a:lstStyle/>
          <a:p>
            <a:r>
              <a:rPr lang="en-US" sz="2500">
                <a:solidFill>
                  <a:srgbClr val="000000"/>
                </a:solidFill>
              </a:rPr>
              <a:t>Misses</a:t>
            </a:r>
            <a:endParaRPr lang="en-US"/>
          </a:p>
        </p:txBody>
      </p:sp>
      <p:sp>
        <p:nvSpPr>
          <p:cNvPr id="141324" name="Rectangle 12"/>
          <p:cNvSpPr>
            <a:spLocks noChangeArrowheads="1"/>
          </p:cNvSpPr>
          <p:nvPr/>
        </p:nvSpPr>
        <p:spPr bwMode="auto">
          <a:xfrm>
            <a:off x="6951663" y="3784601"/>
            <a:ext cx="160300" cy="384721"/>
          </a:xfrm>
          <a:prstGeom prst="rect">
            <a:avLst/>
          </a:prstGeom>
          <a:noFill/>
          <a:ln w="9525">
            <a:noFill/>
            <a:miter lim="800000"/>
            <a:headEnd/>
            <a:tailEnd/>
          </a:ln>
        </p:spPr>
        <p:txBody>
          <a:bodyPr wrap="none" lIns="0" tIns="0" rIns="0" bIns="0">
            <a:spAutoFit/>
          </a:bodyPr>
          <a:lstStyle/>
          <a:p>
            <a:r>
              <a:rPr lang="en-US" sz="2500">
                <a:solidFill>
                  <a:srgbClr val="000000"/>
                </a:solidFill>
              </a:rPr>
              <a:t>#</a:t>
            </a:r>
            <a:endParaRPr lang="en-US"/>
          </a:p>
        </p:txBody>
      </p:sp>
      <p:sp>
        <p:nvSpPr>
          <p:cNvPr id="141325" name="Rectangle 13"/>
          <p:cNvSpPr>
            <a:spLocks noChangeArrowheads="1"/>
          </p:cNvSpPr>
          <p:nvPr/>
        </p:nvSpPr>
        <p:spPr bwMode="auto">
          <a:xfrm>
            <a:off x="8426450" y="3538539"/>
            <a:ext cx="1851024" cy="384721"/>
          </a:xfrm>
          <a:prstGeom prst="rect">
            <a:avLst/>
          </a:prstGeom>
          <a:noFill/>
          <a:ln w="9525">
            <a:noFill/>
            <a:miter lim="800000"/>
            <a:headEnd/>
            <a:tailEnd/>
          </a:ln>
        </p:spPr>
        <p:txBody>
          <a:bodyPr wrap="square" lIns="0" tIns="0" rIns="0" bIns="0">
            <a:spAutoFit/>
          </a:bodyPr>
          <a:lstStyle/>
          <a:p>
            <a:r>
              <a:rPr lang="en-US" sz="2500" dirty="0">
                <a:solidFill>
                  <a:srgbClr val="000000"/>
                </a:solidFill>
              </a:rPr>
              <a:t>↑cost, ↓risk</a:t>
            </a:r>
            <a:endParaRPr lang="en-US" sz="2500" dirty="0"/>
          </a:p>
        </p:txBody>
      </p:sp>
      <p:sp>
        <p:nvSpPr>
          <p:cNvPr id="141326" name="Line 14"/>
          <p:cNvSpPr>
            <a:spLocks noChangeShapeType="1"/>
          </p:cNvSpPr>
          <p:nvPr/>
        </p:nvSpPr>
        <p:spPr bwMode="auto">
          <a:xfrm flipV="1">
            <a:off x="5589589" y="2857501"/>
            <a:ext cx="434975" cy="434975"/>
          </a:xfrm>
          <a:prstGeom prst="line">
            <a:avLst/>
          </a:prstGeom>
          <a:noFill/>
          <a:ln w="19050">
            <a:solidFill>
              <a:srgbClr val="000000"/>
            </a:solidFill>
            <a:round/>
            <a:headEnd/>
            <a:tailEnd/>
          </a:ln>
        </p:spPr>
        <p:txBody>
          <a:bodyPr/>
          <a:lstStyle/>
          <a:p>
            <a:endParaRPr lang="en-US"/>
          </a:p>
        </p:txBody>
      </p:sp>
      <p:sp>
        <p:nvSpPr>
          <p:cNvPr id="141327" name="Line 15"/>
          <p:cNvSpPr>
            <a:spLocks noChangeShapeType="1"/>
          </p:cNvSpPr>
          <p:nvPr/>
        </p:nvSpPr>
        <p:spPr bwMode="auto">
          <a:xfrm>
            <a:off x="5589589" y="3292476"/>
            <a:ext cx="434975" cy="415925"/>
          </a:xfrm>
          <a:prstGeom prst="line">
            <a:avLst/>
          </a:prstGeom>
          <a:noFill/>
          <a:ln w="19050">
            <a:solidFill>
              <a:srgbClr val="000000"/>
            </a:solidFill>
            <a:round/>
            <a:headEnd/>
            <a:tailEnd/>
          </a:ln>
        </p:spPr>
        <p:txBody>
          <a:bodyPr/>
          <a:lstStyle/>
          <a:p>
            <a:endParaRPr lang="en-US"/>
          </a:p>
        </p:txBody>
      </p:sp>
      <p:sp>
        <p:nvSpPr>
          <p:cNvPr id="141328" name="Line 16"/>
          <p:cNvSpPr>
            <a:spLocks noChangeShapeType="1"/>
          </p:cNvSpPr>
          <p:nvPr/>
        </p:nvSpPr>
        <p:spPr bwMode="auto">
          <a:xfrm>
            <a:off x="4114801" y="3292475"/>
            <a:ext cx="1247775" cy="1588"/>
          </a:xfrm>
          <a:prstGeom prst="line">
            <a:avLst/>
          </a:prstGeom>
          <a:noFill/>
          <a:ln w="19050">
            <a:solidFill>
              <a:srgbClr val="000000"/>
            </a:solidFill>
            <a:round/>
            <a:headEnd/>
            <a:tailEnd/>
          </a:ln>
        </p:spPr>
        <p:txBody>
          <a:bodyPr/>
          <a:lstStyle/>
          <a:p>
            <a:endParaRPr lang="en-US"/>
          </a:p>
        </p:txBody>
      </p:sp>
      <p:sp>
        <p:nvSpPr>
          <p:cNvPr id="141329" name="Oval 17"/>
          <p:cNvSpPr>
            <a:spLocks noChangeArrowheads="1"/>
          </p:cNvSpPr>
          <p:nvPr/>
        </p:nvSpPr>
        <p:spPr bwMode="auto">
          <a:xfrm>
            <a:off x="5362576" y="3179764"/>
            <a:ext cx="207963" cy="225425"/>
          </a:xfrm>
          <a:prstGeom prst="ellipse">
            <a:avLst/>
          </a:prstGeom>
          <a:solidFill>
            <a:srgbClr val="FFFFFF"/>
          </a:solidFill>
          <a:ln w="19050">
            <a:solidFill>
              <a:srgbClr val="008000"/>
            </a:solidFill>
            <a:round/>
            <a:headEnd/>
            <a:tailEnd/>
          </a:ln>
        </p:spPr>
        <p:txBody>
          <a:bodyPr/>
          <a:lstStyle/>
          <a:p>
            <a:endParaRPr lang="en-US"/>
          </a:p>
        </p:txBody>
      </p:sp>
      <p:sp>
        <p:nvSpPr>
          <p:cNvPr id="141330" name="Rectangle 18"/>
          <p:cNvSpPr>
            <a:spLocks noChangeArrowheads="1"/>
          </p:cNvSpPr>
          <p:nvPr/>
        </p:nvSpPr>
        <p:spPr bwMode="auto">
          <a:xfrm>
            <a:off x="4114801" y="2895601"/>
            <a:ext cx="1162819" cy="384721"/>
          </a:xfrm>
          <a:prstGeom prst="rect">
            <a:avLst/>
          </a:prstGeom>
          <a:noFill/>
          <a:ln w="9525">
            <a:noFill/>
            <a:miter lim="800000"/>
            <a:headEnd/>
            <a:tailEnd/>
          </a:ln>
        </p:spPr>
        <p:txBody>
          <a:bodyPr wrap="none" lIns="0" tIns="0" rIns="0" bIns="0">
            <a:spAutoFit/>
          </a:bodyPr>
          <a:lstStyle/>
          <a:p>
            <a:r>
              <a:rPr lang="en-US" sz="2500">
                <a:solidFill>
                  <a:srgbClr val="000000"/>
                </a:solidFill>
              </a:rPr>
              <a:t>Evacuate</a:t>
            </a:r>
            <a:endParaRPr lang="en-US"/>
          </a:p>
        </p:txBody>
      </p:sp>
      <p:sp>
        <p:nvSpPr>
          <p:cNvPr id="141331" name="Line 19"/>
          <p:cNvSpPr>
            <a:spLocks noChangeShapeType="1"/>
          </p:cNvSpPr>
          <p:nvPr/>
        </p:nvSpPr>
        <p:spPr bwMode="auto">
          <a:xfrm>
            <a:off x="6024564" y="4540250"/>
            <a:ext cx="2022475" cy="1588"/>
          </a:xfrm>
          <a:prstGeom prst="line">
            <a:avLst/>
          </a:prstGeom>
          <a:noFill/>
          <a:ln w="19050">
            <a:solidFill>
              <a:srgbClr val="000000"/>
            </a:solidFill>
            <a:round/>
            <a:headEnd/>
            <a:tailEnd/>
          </a:ln>
        </p:spPr>
        <p:txBody>
          <a:bodyPr/>
          <a:lstStyle/>
          <a:p>
            <a:endParaRPr lang="en-US"/>
          </a:p>
        </p:txBody>
      </p:sp>
      <p:sp>
        <p:nvSpPr>
          <p:cNvPr id="141332" name="Freeform 20"/>
          <p:cNvSpPr>
            <a:spLocks/>
          </p:cNvSpPr>
          <p:nvPr/>
        </p:nvSpPr>
        <p:spPr bwMode="auto">
          <a:xfrm>
            <a:off x="8047038" y="4427538"/>
            <a:ext cx="207962" cy="227012"/>
          </a:xfrm>
          <a:custGeom>
            <a:avLst/>
            <a:gdLst/>
            <a:ahLst/>
            <a:cxnLst>
              <a:cxn ang="0">
                <a:pos x="0" y="71"/>
              </a:cxn>
              <a:cxn ang="0">
                <a:pos x="131" y="0"/>
              </a:cxn>
              <a:cxn ang="0">
                <a:pos x="131" y="143"/>
              </a:cxn>
              <a:cxn ang="0">
                <a:pos x="0" y="71"/>
              </a:cxn>
            </a:cxnLst>
            <a:rect l="0" t="0" r="r" b="b"/>
            <a:pathLst>
              <a:path w="131" h="143">
                <a:moveTo>
                  <a:pt x="0" y="71"/>
                </a:moveTo>
                <a:lnTo>
                  <a:pt x="131" y="0"/>
                </a:lnTo>
                <a:lnTo>
                  <a:pt x="131" y="143"/>
                </a:lnTo>
                <a:lnTo>
                  <a:pt x="0" y="71"/>
                </a:lnTo>
                <a:close/>
              </a:path>
            </a:pathLst>
          </a:custGeom>
          <a:solidFill>
            <a:srgbClr val="FFFFFF"/>
          </a:solidFill>
          <a:ln w="19050">
            <a:solidFill>
              <a:srgbClr val="FF0000"/>
            </a:solidFill>
            <a:prstDash val="solid"/>
            <a:round/>
            <a:headEnd/>
            <a:tailEnd/>
          </a:ln>
        </p:spPr>
        <p:txBody>
          <a:bodyPr/>
          <a:lstStyle/>
          <a:p>
            <a:endParaRPr lang="en-US"/>
          </a:p>
        </p:txBody>
      </p:sp>
      <p:sp>
        <p:nvSpPr>
          <p:cNvPr id="141333" name="Rectangle 21"/>
          <p:cNvSpPr>
            <a:spLocks noChangeArrowheads="1"/>
          </p:cNvSpPr>
          <p:nvPr/>
        </p:nvSpPr>
        <p:spPr bwMode="auto">
          <a:xfrm>
            <a:off x="6024563" y="4143376"/>
            <a:ext cx="1861600" cy="384721"/>
          </a:xfrm>
          <a:prstGeom prst="rect">
            <a:avLst/>
          </a:prstGeom>
          <a:noFill/>
          <a:ln w="9525">
            <a:noFill/>
            <a:miter lim="800000"/>
            <a:headEnd/>
            <a:tailEnd/>
          </a:ln>
        </p:spPr>
        <p:txBody>
          <a:bodyPr wrap="none" lIns="0" tIns="0" rIns="0" bIns="0">
            <a:spAutoFit/>
          </a:bodyPr>
          <a:lstStyle/>
          <a:p>
            <a:r>
              <a:rPr lang="en-US" sz="2500">
                <a:solidFill>
                  <a:srgbClr val="000000"/>
                </a:solidFill>
              </a:rPr>
              <a:t>Hurricane Hits</a:t>
            </a:r>
            <a:endParaRPr lang="en-US"/>
          </a:p>
        </p:txBody>
      </p:sp>
      <p:sp>
        <p:nvSpPr>
          <p:cNvPr id="141334" name="Rectangle 22"/>
          <p:cNvSpPr>
            <a:spLocks noChangeArrowheads="1"/>
          </p:cNvSpPr>
          <p:nvPr/>
        </p:nvSpPr>
        <p:spPr bwMode="auto">
          <a:xfrm>
            <a:off x="6667501" y="4616450"/>
            <a:ext cx="563563" cy="381000"/>
          </a:xfrm>
          <a:prstGeom prst="rect">
            <a:avLst/>
          </a:prstGeom>
          <a:noFill/>
          <a:ln w="9525">
            <a:noFill/>
            <a:miter lim="800000"/>
            <a:headEnd/>
            <a:tailEnd/>
          </a:ln>
        </p:spPr>
        <p:txBody>
          <a:bodyPr wrap="none" lIns="0" tIns="0" rIns="0" bIns="0">
            <a:spAutoFit/>
          </a:bodyPr>
          <a:lstStyle/>
          <a:p>
            <a:r>
              <a:rPr lang="en-US" sz="2500">
                <a:solidFill>
                  <a:srgbClr val="000000"/>
                </a:solidFill>
              </a:rPr>
              <a:t>pHit</a:t>
            </a:r>
            <a:endParaRPr lang="en-US"/>
          </a:p>
        </p:txBody>
      </p:sp>
      <p:sp>
        <p:nvSpPr>
          <p:cNvPr id="141335" name="Rectangle 23"/>
          <p:cNvSpPr>
            <a:spLocks noChangeArrowheads="1"/>
          </p:cNvSpPr>
          <p:nvPr/>
        </p:nvSpPr>
        <p:spPr bwMode="auto">
          <a:xfrm>
            <a:off x="8426449" y="4370389"/>
            <a:ext cx="1784349" cy="384721"/>
          </a:xfrm>
          <a:prstGeom prst="rect">
            <a:avLst/>
          </a:prstGeom>
          <a:noFill/>
          <a:ln w="9525">
            <a:noFill/>
            <a:miter lim="800000"/>
            <a:headEnd/>
            <a:tailEnd/>
          </a:ln>
        </p:spPr>
        <p:txBody>
          <a:bodyPr wrap="square" lIns="0" tIns="0" rIns="0" bIns="0">
            <a:spAutoFit/>
          </a:bodyPr>
          <a:lstStyle/>
          <a:p>
            <a:r>
              <a:rPr lang="en-US" sz="2500" dirty="0">
                <a:solidFill>
                  <a:srgbClr val="000000"/>
                </a:solidFill>
              </a:rPr>
              <a:t>↑cost, </a:t>
            </a:r>
            <a:r>
              <a:rPr lang="en-US" sz="2500" dirty="0">
                <a:solidFill>
                  <a:srgbClr val="000000"/>
                </a:solidFill>
                <a:cs typeface="Arial" charset="0"/>
              </a:rPr>
              <a:t>↑</a:t>
            </a:r>
            <a:r>
              <a:rPr lang="en-US" sz="2500" dirty="0">
                <a:solidFill>
                  <a:srgbClr val="000000"/>
                </a:solidFill>
              </a:rPr>
              <a:t>risk</a:t>
            </a:r>
            <a:endParaRPr lang="en-US" sz="2500" dirty="0"/>
          </a:p>
        </p:txBody>
      </p:sp>
      <p:sp>
        <p:nvSpPr>
          <p:cNvPr id="141336" name="Line 24"/>
          <p:cNvSpPr>
            <a:spLocks noChangeShapeType="1"/>
          </p:cNvSpPr>
          <p:nvPr/>
        </p:nvSpPr>
        <p:spPr bwMode="auto">
          <a:xfrm>
            <a:off x="6024564" y="5391150"/>
            <a:ext cx="2022475" cy="1588"/>
          </a:xfrm>
          <a:prstGeom prst="line">
            <a:avLst/>
          </a:prstGeom>
          <a:noFill/>
          <a:ln w="19050">
            <a:solidFill>
              <a:srgbClr val="000000"/>
            </a:solidFill>
            <a:round/>
            <a:headEnd/>
            <a:tailEnd/>
          </a:ln>
        </p:spPr>
        <p:txBody>
          <a:bodyPr/>
          <a:lstStyle/>
          <a:p>
            <a:endParaRPr lang="en-US"/>
          </a:p>
        </p:txBody>
      </p:sp>
      <p:sp>
        <p:nvSpPr>
          <p:cNvPr id="141337" name="Freeform 25"/>
          <p:cNvSpPr>
            <a:spLocks/>
          </p:cNvSpPr>
          <p:nvPr/>
        </p:nvSpPr>
        <p:spPr bwMode="auto">
          <a:xfrm>
            <a:off x="8047038" y="5278439"/>
            <a:ext cx="207962" cy="225425"/>
          </a:xfrm>
          <a:custGeom>
            <a:avLst/>
            <a:gdLst/>
            <a:ahLst/>
            <a:cxnLst>
              <a:cxn ang="0">
                <a:pos x="0" y="71"/>
              </a:cxn>
              <a:cxn ang="0">
                <a:pos x="131" y="0"/>
              </a:cxn>
              <a:cxn ang="0">
                <a:pos x="131" y="142"/>
              </a:cxn>
              <a:cxn ang="0">
                <a:pos x="0" y="71"/>
              </a:cxn>
            </a:cxnLst>
            <a:rect l="0" t="0" r="r" b="b"/>
            <a:pathLst>
              <a:path w="131" h="142">
                <a:moveTo>
                  <a:pt x="0" y="71"/>
                </a:moveTo>
                <a:lnTo>
                  <a:pt x="131" y="0"/>
                </a:lnTo>
                <a:lnTo>
                  <a:pt x="131" y="142"/>
                </a:lnTo>
                <a:lnTo>
                  <a:pt x="0" y="71"/>
                </a:lnTo>
                <a:close/>
              </a:path>
            </a:pathLst>
          </a:custGeom>
          <a:solidFill>
            <a:srgbClr val="FFFFFF"/>
          </a:solidFill>
          <a:ln w="19050">
            <a:solidFill>
              <a:srgbClr val="FF0000"/>
            </a:solidFill>
            <a:prstDash val="solid"/>
            <a:round/>
            <a:headEnd/>
            <a:tailEnd/>
          </a:ln>
        </p:spPr>
        <p:txBody>
          <a:bodyPr/>
          <a:lstStyle/>
          <a:p>
            <a:endParaRPr lang="en-US"/>
          </a:p>
        </p:txBody>
      </p:sp>
      <p:sp>
        <p:nvSpPr>
          <p:cNvPr id="141338" name="Rectangle 26"/>
          <p:cNvSpPr>
            <a:spLocks noChangeArrowheads="1"/>
          </p:cNvSpPr>
          <p:nvPr/>
        </p:nvSpPr>
        <p:spPr bwMode="auto">
          <a:xfrm>
            <a:off x="6024564" y="4994276"/>
            <a:ext cx="883255" cy="384721"/>
          </a:xfrm>
          <a:prstGeom prst="rect">
            <a:avLst/>
          </a:prstGeom>
          <a:noFill/>
          <a:ln w="9525">
            <a:noFill/>
            <a:miter lim="800000"/>
            <a:headEnd/>
            <a:tailEnd/>
          </a:ln>
        </p:spPr>
        <p:txBody>
          <a:bodyPr wrap="none" lIns="0" tIns="0" rIns="0" bIns="0">
            <a:spAutoFit/>
          </a:bodyPr>
          <a:lstStyle/>
          <a:p>
            <a:r>
              <a:rPr lang="en-US" sz="2500">
                <a:solidFill>
                  <a:srgbClr val="000000"/>
                </a:solidFill>
              </a:rPr>
              <a:t>Misses</a:t>
            </a:r>
            <a:endParaRPr lang="en-US"/>
          </a:p>
        </p:txBody>
      </p:sp>
      <p:sp>
        <p:nvSpPr>
          <p:cNvPr id="141339" name="Rectangle 27"/>
          <p:cNvSpPr>
            <a:spLocks noChangeArrowheads="1"/>
          </p:cNvSpPr>
          <p:nvPr/>
        </p:nvSpPr>
        <p:spPr bwMode="auto">
          <a:xfrm>
            <a:off x="6951663" y="5467351"/>
            <a:ext cx="160300" cy="384721"/>
          </a:xfrm>
          <a:prstGeom prst="rect">
            <a:avLst/>
          </a:prstGeom>
          <a:noFill/>
          <a:ln w="9525">
            <a:noFill/>
            <a:miter lim="800000"/>
            <a:headEnd/>
            <a:tailEnd/>
          </a:ln>
        </p:spPr>
        <p:txBody>
          <a:bodyPr wrap="none" lIns="0" tIns="0" rIns="0" bIns="0">
            <a:spAutoFit/>
          </a:bodyPr>
          <a:lstStyle/>
          <a:p>
            <a:r>
              <a:rPr lang="en-US" sz="2500">
                <a:solidFill>
                  <a:srgbClr val="000000"/>
                </a:solidFill>
              </a:rPr>
              <a:t>#</a:t>
            </a:r>
            <a:endParaRPr lang="en-US"/>
          </a:p>
        </p:txBody>
      </p:sp>
      <p:sp>
        <p:nvSpPr>
          <p:cNvPr id="141340" name="Rectangle 28"/>
          <p:cNvSpPr>
            <a:spLocks noChangeArrowheads="1"/>
          </p:cNvSpPr>
          <p:nvPr/>
        </p:nvSpPr>
        <p:spPr bwMode="auto">
          <a:xfrm>
            <a:off x="8426450" y="5221288"/>
            <a:ext cx="1784350" cy="381000"/>
          </a:xfrm>
          <a:prstGeom prst="rect">
            <a:avLst/>
          </a:prstGeom>
          <a:noFill/>
          <a:ln w="9525">
            <a:noFill/>
            <a:miter lim="800000"/>
            <a:headEnd/>
            <a:tailEnd/>
          </a:ln>
        </p:spPr>
        <p:txBody>
          <a:bodyPr lIns="0" tIns="0" rIns="0" bIns="0">
            <a:spAutoFit/>
          </a:bodyPr>
          <a:lstStyle/>
          <a:p>
            <a:r>
              <a:rPr lang="en-US" sz="2500">
                <a:solidFill>
                  <a:srgbClr val="000000"/>
                </a:solidFill>
                <a:cs typeface="Arial" charset="0"/>
              </a:rPr>
              <a:t>↓</a:t>
            </a:r>
            <a:r>
              <a:rPr lang="en-US" sz="2500">
                <a:solidFill>
                  <a:srgbClr val="000000"/>
                </a:solidFill>
              </a:rPr>
              <a:t>cost, ↓risk</a:t>
            </a:r>
            <a:endParaRPr lang="en-US" sz="2500"/>
          </a:p>
        </p:txBody>
      </p:sp>
      <p:sp>
        <p:nvSpPr>
          <p:cNvPr id="141341" name="Line 29"/>
          <p:cNvSpPr>
            <a:spLocks noChangeShapeType="1"/>
          </p:cNvSpPr>
          <p:nvPr/>
        </p:nvSpPr>
        <p:spPr bwMode="auto">
          <a:xfrm flipV="1">
            <a:off x="5589589" y="4540251"/>
            <a:ext cx="434975" cy="434975"/>
          </a:xfrm>
          <a:prstGeom prst="line">
            <a:avLst/>
          </a:prstGeom>
          <a:noFill/>
          <a:ln w="19050">
            <a:solidFill>
              <a:srgbClr val="000000"/>
            </a:solidFill>
            <a:round/>
            <a:headEnd/>
            <a:tailEnd/>
          </a:ln>
        </p:spPr>
        <p:txBody>
          <a:bodyPr/>
          <a:lstStyle/>
          <a:p>
            <a:endParaRPr lang="en-US"/>
          </a:p>
        </p:txBody>
      </p:sp>
      <p:sp>
        <p:nvSpPr>
          <p:cNvPr id="141342" name="Line 30"/>
          <p:cNvSpPr>
            <a:spLocks noChangeShapeType="1"/>
          </p:cNvSpPr>
          <p:nvPr/>
        </p:nvSpPr>
        <p:spPr bwMode="auto">
          <a:xfrm>
            <a:off x="5589589" y="4975226"/>
            <a:ext cx="434975" cy="415925"/>
          </a:xfrm>
          <a:prstGeom prst="line">
            <a:avLst/>
          </a:prstGeom>
          <a:noFill/>
          <a:ln w="19050">
            <a:solidFill>
              <a:srgbClr val="000000"/>
            </a:solidFill>
            <a:round/>
            <a:headEnd/>
            <a:tailEnd/>
          </a:ln>
        </p:spPr>
        <p:txBody>
          <a:bodyPr/>
          <a:lstStyle/>
          <a:p>
            <a:endParaRPr lang="en-US"/>
          </a:p>
        </p:txBody>
      </p:sp>
      <p:sp>
        <p:nvSpPr>
          <p:cNvPr id="141343" name="Line 31"/>
          <p:cNvSpPr>
            <a:spLocks noChangeShapeType="1"/>
          </p:cNvSpPr>
          <p:nvPr/>
        </p:nvSpPr>
        <p:spPr bwMode="auto">
          <a:xfrm>
            <a:off x="4114801" y="4975225"/>
            <a:ext cx="1247775" cy="1588"/>
          </a:xfrm>
          <a:prstGeom prst="line">
            <a:avLst/>
          </a:prstGeom>
          <a:noFill/>
          <a:ln w="19050">
            <a:solidFill>
              <a:srgbClr val="000000"/>
            </a:solidFill>
            <a:round/>
            <a:headEnd/>
            <a:tailEnd/>
          </a:ln>
        </p:spPr>
        <p:txBody>
          <a:bodyPr/>
          <a:lstStyle/>
          <a:p>
            <a:endParaRPr lang="en-US"/>
          </a:p>
        </p:txBody>
      </p:sp>
      <p:sp>
        <p:nvSpPr>
          <p:cNvPr id="141344" name="Oval 32"/>
          <p:cNvSpPr>
            <a:spLocks noChangeArrowheads="1"/>
          </p:cNvSpPr>
          <p:nvPr/>
        </p:nvSpPr>
        <p:spPr bwMode="auto">
          <a:xfrm>
            <a:off x="5362576" y="4862514"/>
            <a:ext cx="207963" cy="225425"/>
          </a:xfrm>
          <a:prstGeom prst="ellipse">
            <a:avLst/>
          </a:prstGeom>
          <a:solidFill>
            <a:srgbClr val="FFFFFF"/>
          </a:solidFill>
          <a:ln w="19050">
            <a:solidFill>
              <a:srgbClr val="008000"/>
            </a:solidFill>
            <a:round/>
            <a:headEnd/>
            <a:tailEnd/>
          </a:ln>
        </p:spPr>
        <p:txBody>
          <a:bodyPr/>
          <a:lstStyle/>
          <a:p>
            <a:endParaRPr lang="en-US"/>
          </a:p>
        </p:txBody>
      </p:sp>
      <p:sp>
        <p:nvSpPr>
          <p:cNvPr id="141345" name="Rectangle 33"/>
          <p:cNvSpPr>
            <a:spLocks noChangeArrowheads="1"/>
          </p:cNvSpPr>
          <p:nvPr/>
        </p:nvSpPr>
        <p:spPr bwMode="auto">
          <a:xfrm>
            <a:off x="4114801" y="4578351"/>
            <a:ext cx="544765" cy="384721"/>
          </a:xfrm>
          <a:prstGeom prst="rect">
            <a:avLst/>
          </a:prstGeom>
          <a:noFill/>
          <a:ln w="9525">
            <a:noFill/>
            <a:miter lim="800000"/>
            <a:headEnd/>
            <a:tailEnd/>
          </a:ln>
        </p:spPr>
        <p:txBody>
          <a:bodyPr wrap="none" lIns="0" tIns="0" rIns="0" bIns="0">
            <a:spAutoFit/>
          </a:bodyPr>
          <a:lstStyle/>
          <a:p>
            <a:r>
              <a:rPr lang="en-US" sz="2500">
                <a:solidFill>
                  <a:srgbClr val="000000"/>
                </a:solidFill>
              </a:rPr>
              <a:t>Stay</a:t>
            </a:r>
            <a:endParaRPr lang="en-US"/>
          </a:p>
        </p:txBody>
      </p:sp>
      <p:sp>
        <p:nvSpPr>
          <p:cNvPr id="141346" name="Line 34"/>
          <p:cNvSpPr>
            <a:spLocks noChangeShapeType="1"/>
          </p:cNvSpPr>
          <p:nvPr/>
        </p:nvSpPr>
        <p:spPr bwMode="auto">
          <a:xfrm flipV="1">
            <a:off x="3679826" y="3292475"/>
            <a:ext cx="434975" cy="831850"/>
          </a:xfrm>
          <a:prstGeom prst="line">
            <a:avLst/>
          </a:prstGeom>
          <a:noFill/>
          <a:ln w="19050">
            <a:solidFill>
              <a:srgbClr val="000000"/>
            </a:solidFill>
            <a:round/>
            <a:headEnd/>
            <a:tailEnd/>
          </a:ln>
        </p:spPr>
        <p:txBody>
          <a:bodyPr/>
          <a:lstStyle/>
          <a:p>
            <a:endParaRPr lang="en-US"/>
          </a:p>
        </p:txBody>
      </p:sp>
      <p:sp>
        <p:nvSpPr>
          <p:cNvPr id="141347" name="Line 35"/>
          <p:cNvSpPr>
            <a:spLocks noChangeShapeType="1"/>
          </p:cNvSpPr>
          <p:nvPr/>
        </p:nvSpPr>
        <p:spPr bwMode="auto">
          <a:xfrm>
            <a:off x="3679826" y="4124325"/>
            <a:ext cx="434975" cy="850900"/>
          </a:xfrm>
          <a:prstGeom prst="line">
            <a:avLst/>
          </a:prstGeom>
          <a:noFill/>
          <a:ln w="19050">
            <a:solidFill>
              <a:srgbClr val="000000"/>
            </a:solidFill>
            <a:round/>
            <a:headEnd/>
            <a:tailEnd/>
          </a:ln>
        </p:spPr>
        <p:txBody>
          <a:bodyPr/>
          <a:lstStyle/>
          <a:p>
            <a:endParaRPr lang="en-US"/>
          </a:p>
        </p:txBody>
      </p:sp>
      <p:sp>
        <p:nvSpPr>
          <p:cNvPr id="141348" name="Line 36"/>
          <p:cNvSpPr>
            <a:spLocks noChangeShapeType="1"/>
          </p:cNvSpPr>
          <p:nvPr/>
        </p:nvSpPr>
        <p:spPr bwMode="auto">
          <a:xfrm>
            <a:off x="2224089" y="4124325"/>
            <a:ext cx="1228725" cy="1588"/>
          </a:xfrm>
          <a:prstGeom prst="line">
            <a:avLst/>
          </a:prstGeom>
          <a:noFill/>
          <a:ln w="19050">
            <a:solidFill>
              <a:srgbClr val="000000"/>
            </a:solidFill>
            <a:round/>
            <a:headEnd/>
            <a:tailEnd/>
          </a:ln>
        </p:spPr>
        <p:txBody>
          <a:bodyPr/>
          <a:lstStyle/>
          <a:p>
            <a:endParaRPr lang="en-US"/>
          </a:p>
        </p:txBody>
      </p:sp>
      <p:sp>
        <p:nvSpPr>
          <p:cNvPr id="141349" name="Rectangle 37"/>
          <p:cNvSpPr>
            <a:spLocks noChangeArrowheads="1"/>
          </p:cNvSpPr>
          <p:nvPr/>
        </p:nvSpPr>
        <p:spPr bwMode="auto">
          <a:xfrm>
            <a:off x="3452813" y="4011613"/>
            <a:ext cx="207962" cy="227012"/>
          </a:xfrm>
          <a:prstGeom prst="rect">
            <a:avLst/>
          </a:prstGeom>
          <a:solidFill>
            <a:srgbClr val="FFFFFF"/>
          </a:solidFill>
          <a:ln w="19050">
            <a:solidFill>
              <a:srgbClr val="0000FF"/>
            </a:solidFill>
            <a:miter lim="800000"/>
            <a:headEnd/>
            <a:tailEnd/>
          </a:ln>
        </p:spPr>
        <p:txBody>
          <a:bodyPr/>
          <a:lstStyle/>
          <a:p>
            <a:endParaRPr lang="en-US"/>
          </a:p>
        </p:txBody>
      </p:sp>
      <p:sp>
        <p:nvSpPr>
          <p:cNvPr id="141350" name="Rectangle 38"/>
          <p:cNvSpPr>
            <a:spLocks noChangeArrowheads="1"/>
          </p:cNvSpPr>
          <p:nvPr/>
        </p:nvSpPr>
        <p:spPr bwMode="auto">
          <a:xfrm>
            <a:off x="2224088" y="3727451"/>
            <a:ext cx="961802" cy="384721"/>
          </a:xfrm>
          <a:prstGeom prst="rect">
            <a:avLst/>
          </a:prstGeom>
          <a:noFill/>
          <a:ln w="9525">
            <a:noFill/>
            <a:miter lim="800000"/>
            <a:headEnd/>
            <a:tailEnd/>
          </a:ln>
        </p:spPr>
        <p:txBody>
          <a:bodyPr wrap="none" lIns="0" tIns="0" rIns="0" bIns="0">
            <a:spAutoFit/>
          </a:bodyPr>
          <a:lstStyle/>
          <a:p>
            <a:r>
              <a:rPr lang="en-US" sz="2500">
                <a:solidFill>
                  <a:srgbClr val="000000"/>
                </a:solidFill>
              </a:rPr>
              <a:t>Choose</a:t>
            </a:r>
            <a:endParaRPr lang="en-US"/>
          </a:p>
        </p:txBody>
      </p:sp>
      <p:sp>
        <p:nvSpPr>
          <p:cNvPr id="141351" name="Text Box 39"/>
          <p:cNvSpPr txBox="1">
            <a:spLocks noChangeArrowheads="1"/>
          </p:cNvSpPr>
          <p:nvPr/>
        </p:nvSpPr>
        <p:spPr bwMode="auto">
          <a:xfrm>
            <a:off x="2133600" y="1219200"/>
            <a:ext cx="8180388" cy="990600"/>
          </a:xfrm>
          <a:prstGeom prst="rect">
            <a:avLst/>
          </a:prstGeom>
          <a:noFill/>
          <a:ln w="9525">
            <a:noFill/>
            <a:miter lim="800000"/>
            <a:headEnd/>
            <a:tailEnd/>
          </a:ln>
          <a:effectLst/>
        </p:spPr>
        <p:txBody>
          <a:bodyPr/>
          <a:lstStyle/>
          <a:p>
            <a:pPr algn="ctr"/>
            <a:r>
              <a:rPr lang="en-US" sz="2800" b="1">
                <a:solidFill>
                  <a:srgbClr val="333399"/>
                </a:solidFill>
              </a:rPr>
              <a:t>Should a community choose to evacuate if a hurricane is coming?</a:t>
            </a:r>
          </a:p>
        </p:txBody>
      </p:sp>
    </p:spTree>
    <p:extLst>
      <p:ext uri="{BB962C8B-B14F-4D97-AF65-F5344CB8AC3E}">
        <p14:creationId xmlns:p14="http://schemas.microsoft.com/office/powerpoint/2010/main" val="1121001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p:txBody>
          <a:bodyPr/>
          <a:lstStyle/>
          <a:p>
            <a:r>
              <a:rPr lang="en-US" dirty="0"/>
              <a:t>Sheltering-In-Place Decision</a:t>
            </a:r>
          </a:p>
        </p:txBody>
      </p:sp>
      <p:sp>
        <p:nvSpPr>
          <p:cNvPr id="141315" name="AutoShape 3"/>
          <p:cNvSpPr>
            <a:spLocks noChangeAspect="1" noChangeArrowheads="1" noTextEdit="1"/>
          </p:cNvSpPr>
          <p:nvPr/>
        </p:nvSpPr>
        <p:spPr bwMode="auto">
          <a:xfrm>
            <a:off x="1981200" y="2057400"/>
            <a:ext cx="7620000" cy="4216400"/>
          </a:xfrm>
          <a:prstGeom prst="rect">
            <a:avLst/>
          </a:prstGeom>
          <a:noFill/>
          <a:ln w="9525">
            <a:noFill/>
            <a:miter lim="800000"/>
            <a:headEnd/>
            <a:tailEnd/>
          </a:ln>
        </p:spPr>
        <p:txBody>
          <a:bodyPr/>
          <a:lstStyle/>
          <a:p>
            <a:endParaRPr lang="en-US"/>
          </a:p>
        </p:txBody>
      </p:sp>
      <p:sp>
        <p:nvSpPr>
          <p:cNvPr id="141316" name="Line 4"/>
          <p:cNvSpPr>
            <a:spLocks noChangeShapeType="1"/>
          </p:cNvSpPr>
          <p:nvPr/>
        </p:nvSpPr>
        <p:spPr bwMode="auto">
          <a:xfrm>
            <a:off x="6024564" y="2857500"/>
            <a:ext cx="2022475" cy="1588"/>
          </a:xfrm>
          <a:prstGeom prst="line">
            <a:avLst/>
          </a:prstGeom>
          <a:noFill/>
          <a:ln w="19050">
            <a:solidFill>
              <a:srgbClr val="000000"/>
            </a:solidFill>
            <a:round/>
            <a:headEnd/>
            <a:tailEnd/>
          </a:ln>
        </p:spPr>
        <p:txBody>
          <a:bodyPr/>
          <a:lstStyle/>
          <a:p>
            <a:endParaRPr lang="en-US"/>
          </a:p>
        </p:txBody>
      </p:sp>
      <p:sp>
        <p:nvSpPr>
          <p:cNvPr id="141317" name="Freeform 5"/>
          <p:cNvSpPr>
            <a:spLocks/>
          </p:cNvSpPr>
          <p:nvPr/>
        </p:nvSpPr>
        <p:spPr bwMode="auto">
          <a:xfrm>
            <a:off x="8047038" y="2744788"/>
            <a:ext cx="207962" cy="227012"/>
          </a:xfrm>
          <a:custGeom>
            <a:avLst/>
            <a:gdLst/>
            <a:ahLst/>
            <a:cxnLst>
              <a:cxn ang="0">
                <a:pos x="0" y="71"/>
              </a:cxn>
              <a:cxn ang="0">
                <a:pos x="131" y="0"/>
              </a:cxn>
              <a:cxn ang="0">
                <a:pos x="131" y="143"/>
              </a:cxn>
              <a:cxn ang="0">
                <a:pos x="0" y="71"/>
              </a:cxn>
            </a:cxnLst>
            <a:rect l="0" t="0" r="r" b="b"/>
            <a:pathLst>
              <a:path w="131" h="143">
                <a:moveTo>
                  <a:pt x="0" y="71"/>
                </a:moveTo>
                <a:lnTo>
                  <a:pt x="131" y="0"/>
                </a:lnTo>
                <a:lnTo>
                  <a:pt x="131" y="143"/>
                </a:lnTo>
                <a:lnTo>
                  <a:pt x="0" y="71"/>
                </a:lnTo>
                <a:close/>
              </a:path>
            </a:pathLst>
          </a:custGeom>
          <a:solidFill>
            <a:srgbClr val="FFFFFF"/>
          </a:solidFill>
          <a:ln w="19050">
            <a:solidFill>
              <a:srgbClr val="FF0000"/>
            </a:solidFill>
            <a:prstDash val="solid"/>
            <a:round/>
            <a:headEnd/>
            <a:tailEnd/>
          </a:ln>
        </p:spPr>
        <p:txBody>
          <a:bodyPr/>
          <a:lstStyle/>
          <a:p>
            <a:endParaRPr lang="en-US"/>
          </a:p>
        </p:txBody>
      </p:sp>
      <p:sp>
        <p:nvSpPr>
          <p:cNvPr id="141318" name="Rectangle 6"/>
          <p:cNvSpPr>
            <a:spLocks noChangeArrowheads="1"/>
          </p:cNvSpPr>
          <p:nvPr/>
        </p:nvSpPr>
        <p:spPr bwMode="auto">
          <a:xfrm>
            <a:off x="6024563" y="2479676"/>
            <a:ext cx="1772921" cy="384721"/>
          </a:xfrm>
          <a:prstGeom prst="rect">
            <a:avLst/>
          </a:prstGeom>
          <a:noFill/>
          <a:ln w="9525">
            <a:noFill/>
            <a:miter lim="800000"/>
            <a:headEnd/>
            <a:tailEnd/>
          </a:ln>
        </p:spPr>
        <p:txBody>
          <a:bodyPr wrap="none" lIns="0" tIns="0" rIns="0" bIns="0">
            <a:spAutoFit/>
          </a:bodyPr>
          <a:lstStyle/>
          <a:p>
            <a:r>
              <a:rPr lang="en-US" sz="2500" dirty="0">
                <a:solidFill>
                  <a:srgbClr val="000000"/>
                </a:solidFill>
              </a:rPr>
              <a:t>Epidemic Hits</a:t>
            </a:r>
            <a:endParaRPr lang="en-US" dirty="0"/>
          </a:p>
        </p:txBody>
      </p:sp>
      <p:sp>
        <p:nvSpPr>
          <p:cNvPr id="141319" name="Rectangle 7"/>
          <p:cNvSpPr>
            <a:spLocks noChangeArrowheads="1"/>
          </p:cNvSpPr>
          <p:nvPr/>
        </p:nvSpPr>
        <p:spPr bwMode="auto">
          <a:xfrm>
            <a:off x="6667501" y="2933700"/>
            <a:ext cx="1362552" cy="384721"/>
          </a:xfrm>
          <a:prstGeom prst="rect">
            <a:avLst/>
          </a:prstGeom>
          <a:noFill/>
          <a:ln w="9525">
            <a:noFill/>
            <a:miter lim="800000"/>
            <a:headEnd/>
            <a:tailEnd/>
          </a:ln>
        </p:spPr>
        <p:txBody>
          <a:bodyPr wrap="none" lIns="0" tIns="0" rIns="0" bIns="0">
            <a:spAutoFit/>
          </a:bodyPr>
          <a:lstStyle/>
          <a:p>
            <a:r>
              <a:rPr lang="en-US" sz="2500" dirty="0" err="1">
                <a:solidFill>
                  <a:srgbClr val="000000"/>
                </a:solidFill>
              </a:rPr>
              <a:t>pEpidemic</a:t>
            </a:r>
            <a:endParaRPr lang="en-US" dirty="0"/>
          </a:p>
        </p:txBody>
      </p:sp>
      <p:sp>
        <p:nvSpPr>
          <p:cNvPr id="141320" name="Rectangle 8"/>
          <p:cNvSpPr>
            <a:spLocks noChangeArrowheads="1"/>
          </p:cNvSpPr>
          <p:nvPr/>
        </p:nvSpPr>
        <p:spPr bwMode="auto">
          <a:xfrm>
            <a:off x="8426450" y="2687638"/>
            <a:ext cx="2268764" cy="384721"/>
          </a:xfrm>
          <a:prstGeom prst="rect">
            <a:avLst/>
          </a:prstGeom>
          <a:noFill/>
          <a:ln w="9525">
            <a:noFill/>
            <a:miter lim="800000"/>
            <a:headEnd/>
            <a:tailEnd/>
          </a:ln>
        </p:spPr>
        <p:txBody>
          <a:bodyPr wrap="square" lIns="0" tIns="0" rIns="0" bIns="0">
            <a:spAutoFit/>
          </a:bodyPr>
          <a:lstStyle/>
          <a:p>
            <a:r>
              <a:rPr lang="en-US" sz="2500" dirty="0">
                <a:solidFill>
                  <a:srgbClr val="000000"/>
                </a:solidFill>
                <a:cs typeface="Arial" charset="0"/>
              </a:rPr>
              <a:t>↑cost, ↑deaths</a:t>
            </a:r>
            <a:endParaRPr lang="en-US" dirty="0">
              <a:cs typeface="Arial" charset="0"/>
            </a:endParaRPr>
          </a:p>
        </p:txBody>
      </p:sp>
      <p:sp>
        <p:nvSpPr>
          <p:cNvPr id="141321" name="Line 9"/>
          <p:cNvSpPr>
            <a:spLocks noChangeShapeType="1"/>
          </p:cNvSpPr>
          <p:nvPr/>
        </p:nvSpPr>
        <p:spPr bwMode="auto">
          <a:xfrm>
            <a:off x="6024564" y="3708400"/>
            <a:ext cx="2022475" cy="1588"/>
          </a:xfrm>
          <a:prstGeom prst="line">
            <a:avLst/>
          </a:prstGeom>
          <a:noFill/>
          <a:ln w="19050">
            <a:solidFill>
              <a:srgbClr val="000000"/>
            </a:solidFill>
            <a:round/>
            <a:headEnd/>
            <a:tailEnd/>
          </a:ln>
        </p:spPr>
        <p:txBody>
          <a:bodyPr/>
          <a:lstStyle/>
          <a:p>
            <a:endParaRPr lang="en-US"/>
          </a:p>
        </p:txBody>
      </p:sp>
      <p:sp>
        <p:nvSpPr>
          <p:cNvPr id="141322" name="Freeform 10"/>
          <p:cNvSpPr>
            <a:spLocks/>
          </p:cNvSpPr>
          <p:nvPr/>
        </p:nvSpPr>
        <p:spPr bwMode="auto">
          <a:xfrm>
            <a:off x="8047038" y="3595689"/>
            <a:ext cx="207962" cy="225425"/>
          </a:xfrm>
          <a:custGeom>
            <a:avLst/>
            <a:gdLst/>
            <a:ahLst/>
            <a:cxnLst>
              <a:cxn ang="0">
                <a:pos x="0" y="71"/>
              </a:cxn>
              <a:cxn ang="0">
                <a:pos x="131" y="0"/>
              </a:cxn>
              <a:cxn ang="0">
                <a:pos x="131" y="142"/>
              </a:cxn>
              <a:cxn ang="0">
                <a:pos x="0" y="71"/>
              </a:cxn>
            </a:cxnLst>
            <a:rect l="0" t="0" r="r" b="b"/>
            <a:pathLst>
              <a:path w="131" h="142">
                <a:moveTo>
                  <a:pt x="0" y="71"/>
                </a:moveTo>
                <a:lnTo>
                  <a:pt x="131" y="0"/>
                </a:lnTo>
                <a:lnTo>
                  <a:pt x="131" y="142"/>
                </a:lnTo>
                <a:lnTo>
                  <a:pt x="0" y="71"/>
                </a:lnTo>
                <a:close/>
              </a:path>
            </a:pathLst>
          </a:custGeom>
          <a:solidFill>
            <a:srgbClr val="FFFFFF"/>
          </a:solidFill>
          <a:ln w="19050">
            <a:solidFill>
              <a:srgbClr val="FF0000"/>
            </a:solidFill>
            <a:prstDash val="solid"/>
            <a:round/>
            <a:headEnd/>
            <a:tailEnd/>
          </a:ln>
        </p:spPr>
        <p:txBody>
          <a:bodyPr/>
          <a:lstStyle/>
          <a:p>
            <a:endParaRPr lang="en-US"/>
          </a:p>
        </p:txBody>
      </p:sp>
      <p:sp>
        <p:nvSpPr>
          <p:cNvPr id="141323" name="Rectangle 11"/>
          <p:cNvSpPr>
            <a:spLocks noChangeArrowheads="1"/>
          </p:cNvSpPr>
          <p:nvPr/>
        </p:nvSpPr>
        <p:spPr bwMode="auto">
          <a:xfrm>
            <a:off x="6024564" y="3311526"/>
            <a:ext cx="1644681" cy="384721"/>
          </a:xfrm>
          <a:prstGeom prst="rect">
            <a:avLst/>
          </a:prstGeom>
          <a:noFill/>
          <a:ln w="9525">
            <a:noFill/>
            <a:miter lim="800000"/>
            <a:headEnd/>
            <a:tailEnd/>
          </a:ln>
        </p:spPr>
        <p:txBody>
          <a:bodyPr wrap="none" lIns="0" tIns="0" rIns="0" bIns="0">
            <a:spAutoFit/>
          </a:bodyPr>
          <a:lstStyle/>
          <a:p>
            <a:r>
              <a:rPr lang="en-US" sz="2500" dirty="0">
                <a:solidFill>
                  <a:srgbClr val="000000"/>
                </a:solidFill>
              </a:rPr>
              <a:t>No epidemic</a:t>
            </a:r>
            <a:endParaRPr lang="en-US" dirty="0"/>
          </a:p>
        </p:txBody>
      </p:sp>
      <p:sp>
        <p:nvSpPr>
          <p:cNvPr id="141324" name="Rectangle 12"/>
          <p:cNvSpPr>
            <a:spLocks noChangeArrowheads="1"/>
          </p:cNvSpPr>
          <p:nvPr/>
        </p:nvSpPr>
        <p:spPr bwMode="auto">
          <a:xfrm>
            <a:off x="6951663" y="3784601"/>
            <a:ext cx="160300" cy="384721"/>
          </a:xfrm>
          <a:prstGeom prst="rect">
            <a:avLst/>
          </a:prstGeom>
          <a:noFill/>
          <a:ln w="9525">
            <a:noFill/>
            <a:miter lim="800000"/>
            <a:headEnd/>
            <a:tailEnd/>
          </a:ln>
        </p:spPr>
        <p:txBody>
          <a:bodyPr wrap="none" lIns="0" tIns="0" rIns="0" bIns="0">
            <a:spAutoFit/>
          </a:bodyPr>
          <a:lstStyle/>
          <a:p>
            <a:r>
              <a:rPr lang="en-US" sz="2500">
                <a:solidFill>
                  <a:srgbClr val="000000"/>
                </a:solidFill>
              </a:rPr>
              <a:t>#</a:t>
            </a:r>
            <a:endParaRPr lang="en-US"/>
          </a:p>
        </p:txBody>
      </p:sp>
      <p:sp>
        <p:nvSpPr>
          <p:cNvPr id="141325" name="Rectangle 13"/>
          <p:cNvSpPr>
            <a:spLocks noChangeArrowheads="1"/>
          </p:cNvSpPr>
          <p:nvPr/>
        </p:nvSpPr>
        <p:spPr bwMode="auto">
          <a:xfrm>
            <a:off x="8424832" y="3538539"/>
            <a:ext cx="2268764" cy="384721"/>
          </a:xfrm>
          <a:prstGeom prst="rect">
            <a:avLst/>
          </a:prstGeom>
          <a:noFill/>
          <a:ln w="9525">
            <a:noFill/>
            <a:miter lim="800000"/>
            <a:headEnd/>
            <a:tailEnd/>
          </a:ln>
        </p:spPr>
        <p:txBody>
          <a:bodyPr wrap="square" lIns="0" tIns="0" rIns="0" bIns="0">
            <a:spAutoFit/>
          </a:bodyPr>
          <a:lstStyle/>
          <a:p>
            <a:r>
              <a:rPr lang="en-US" sz="2500" dirty="0">
                <a:solidFill>
                  <a:srgbClr val="000000"/>
                </a:solidFill>
              </a:rPr>
              <a:t>↑cost, ↓deaths</a:t>
            </a:r>
            <a:endParaRPr lang="en-US" sz="2500" dirty="0"/>
          </a:p>
        </p:txBody>
      </p:sp>
      <p:sp>
        <p:nvSpPr>
          <p:cNvPr id="141326" name="Line 14"/>
          <p:cNvSpPr>
            <a:spLocks noChangeShapeType="1"/>
          </p:cNvSpPr>
          <p:nvPr/>
        </p:nvSpPr>
        <p:spPr bwMode="auto">
          <a:xfrm flipV="1">
            <a:off x="5589589" y="2857501"/>
            <a:ext cx="434975" cy="434975"/>
          </a:xfrm>
          <a:prstGeom prst="line">
            <a:avLst/>
          </a:prstGeom>
          <a:noFill/>
          <a:ln w="19050">
            <a:solidFill>
              <a:srgbClr val="000000"/>
            </a:solidFill>
            <a:round/>
            <a:headEnd/>
            <a:tailEnd/>
          </a:ln>
        </p:spPr>
        <p:txBody>
          <a:bodyPr/>
          <a:lstStyle/>
          <a:p>
            <a:endParaRPr lang="en-US"/>
          </a:p>
        </p:txBody>
      </p:sp>
      <p:sp>
        <p:nvSpPr>
          <p:cNvPr id="141327" name="Line 15"/>
          <p:cNvSpPr>
            <a:spLocks noChangeShapeType="1"/>
          </p:cNvSpPr>
          <p:nvPr/>
        </p:nvSpPr>
        <p:spPr bwMode="auto">
          <a:xfrm>
            <a:off x="5589589" y="3292476"/>
            <a:ext cx="434975" cy="415925"/>
          </a:xfrm>
          <a:prstGeom prst="line">
            <a:avLst/>
          </a:prstGeom>
          <a:noFill/>
          <a:ln w="19050">
            <a:solidFill>
              <a:srgbClr val="000000"/>
            </a:solidFill>
            <a:round/>
            <a:headEnd/>
            <a:tailEnd/>
          </a:ln>
        </p:spPr>
        <p:txBody>
          <a:bodyPr/>
          <a:lstStyle/>
          <a:p>
            <a:endParaRPr lang="en-US"/>
          </a:p>
        </p:txBody>
      </p:sp>
      <p:sp>
        <p:nvSpPr>
          <p:cNvPr id="141328" name="Line 16"/>
          <p:cNvSpPr>
            <a:spLocks noChangeShapeType="1"/>
          </p:cNvSpPr>
          <p:nvPr/>
        </p:nvSpPr>
        <p:spPr bwMode="auto">
          <a:xfrm>
            <a:off x="4114801" y="3292475"/>
            <a:ext cx="1247775" cy="1588"/>
          </a:xfrm>
          <a:prstGeom prst="line">
            <a:avLst/>
          </a:prstGeom>
          <a:noFill/>
          <a:ln w="19050">
            <a:solidFill>
              <a:srgbClr val="000000"/>
            </a:solidFill>
            <a:round/>
            <a:headEnd/>
            <a:tailEnd/>
          </a:ln>
        </p:spPr>
        <p:txBody>
          <a:bodyPr/>
          <a:lstStyle/>
          <a:p>
            <a:endParaRPr lang="en-US"/>
          </a:p>
        </p:txBody>
      </p:sp>
      <p:sp>
        <p:nvSpPr>
          <p:cNvPr id="141329" name="Oval 17"/>
          <p:cNvSpPr>
            <a:spLocks noChangeArrowheads="1"/>
          </p:cNvSpPr>
          <p:nvPr/>
        </p:nvSpPr>
        <p:spPr bwMode="auto">
          <a:xfrm>
            <a:off x="5362576" y="3179764"/>
            <a:ext cx="207963" cy="225425"/>
          </a:xfrm>
          <a:prstGeom prst="ellipse">
            <a:avLst/>
          </a:prstGeom>
          <a:solidFill>
            <a:srgbClr val="FFFFFF"/>
          </a:solidFill>
          <a:ln w="19050">
            <a:solidFill>
              <a:srgbClr val="008000"/>
            </a:solidFill>
            <a:round/>
            <a:headEnd/>
            <a:tailEnd/>
          </a:ln>
        </p:spPr>
        <p:txBody>
          <a:bodyPr/>
          <a:lstStyle/>
          <a:p>
            <a:endParaRPr lang="en-US"/>
          </a:p>
        </p:txBody>
      </p:sp>
      <p:sp>
        <p:nvSpPr>
          <p:cNvPr id="141330" name="Rectangle 18"/>
          <p:cNvSpPr>
            <a:spLocks noChangeArrowheads="1"/>
          </p:cNvSpPr>
          <p:nvPr/>
        </p:nvSpPr>
        <p:spPr bwMode="auto">
          <a:xfrm>
            <a:off x="4114801" y="2526416"/>
            <a:ext cx="1247775" cy="769441"/>
          </a:xfrm>
          <a:prstGeom prst="rect">
            <a:avLst/>
          </a:prstGeom>
          <a:noFill/>
          <a:ln w="9525">
            <a:noFill/>
            <a:miter lim="800000"/>
            <a:headEnd/>
            <a:tailEnd/>
          </a:ln>
        </p:spPr>
        <p:txBody>
          <a:bodyPr wrap="square" lIns="0" tIns="0" rIns="0" bIns="0">
            <a:spAutoFit/>
          </a:bodyPr>
          <a:lstStyle/>
          <a:p>
            <a:r>
              <a:rPr lang="en-US" sz="2500" dirty="0">
                <a:solidFill>
                  <a:srgbClr val="000000"/>
                </a:solidFill>
              </a:rPr>
              <a:t>Shelter in place</a:t>
            </a:r>
            <a:endParaRPr lang="en-US" dirty="0"/>
          </a:p>
        </p:txBody>
      </p:sp>
      <p:sp>
        <p:nvSpPr>
          <p:cNvPr id="141331" name="Line 19"/>
          <p:cNvSpPr>
            <a:spLocks noChangeShapeType="1"/>
          </p:cNvSpPr>
          <p:nvPr/>
        </p:nvSpPr>
        <p:spPr bwMode="auto">
          <a:xfrm>
            <a:off x="6024564" y="4540250"/>
            <a:ext cx="2022475" cy="1588"/>
          </a:xfrm>
          <a:prstGeom prst="line">
            <a:avLst/>
          </a:prstGeom>
          <a:noFill/>
          <a:ln w="19050">
            <a:solidFill>
              <a:srgbClr val="000000"/>
            </a:solidFill>
            <a:round/>
            <a:headEnd/>
            <a:tailEnd/>
          </a:ln>
        </p:spPr>
        <p:txBody>
          <a:bodyPr/>
          <a:lstStyle/>
          <a:p>
            <a:endParaRPr lang="en-US"/>
          </a:p>
        </p:txBody>
      </p:sp>
      <p:sp>
        <p:nvSpPr>
          <p:cNvPr id="141332" name="Freeform 20"/>
          <p:cNvSpPr>
            <a:spLocks/>
          </p:cNvSpPr>
          <p:nvPr/>
        </p:nvSpPr>
        <p:spPr bwMode="auto">
          <a:xfrm>
            <a:off x="8047038" y="4427538"/>
            <a:ext cx="207962" cy="227012"/>
          </a:xfrm>
          <a:custGeom>
            <a:avLst/>
            <a:gdLst/>
            <a:ahLst/>
            <a:cxnLst>
              <a:cxn ang="0">
                <a:pos x="0" y="71"/>
              </a:cxn>
              <a:cxn ang="0">
                <a:pos x="131" y="0"/>
              </a:cxn>
              <a:cxn ang="0">
                <a:pos x="131" y="143"/>
              </a:cxn>
              <a:cxn ang="0">
                <a:pos x="0" y="71"/>
              </a:cxn>
            </a:cxnLst>
            <a:rect l="0" t="0" r="r" b="b"/>
            <a:pathLst>
              <a:path w="131" h="143">
                <a:moveTo>
                  <a:pt x="0" y="71"/>
                </a:moveTo>
                <a:lnTo>
                  <a:pt x="131" y="0"/>
                </a:lnTo>
                <a:lnTo>
                  <a:pt x="131" y="143"/>
                </a:lnTo>
                <a:lnTo>
                  <a:pt x="0" y="71"/>
                </a:lnTo>
                <a:close/>
              </a:path>
            </a:pathLst>
          </a:custGeom>
          <a:solidFill>
            <a:srgbClr val="FFFFFF"/>
          </a:solidFill>
          <a:ln w="19050">
            <a:solidFill>
              <a:srgbClr val="FF0000"/>
            </a:solidFill>
            <a:prstDash val="solid"/>
            <a:round/>
            <a:headEnd/>
            <a:tailEnd/>
          </a:ln>
        </p:spPr>
        <p:txBody>
          <a:bodyPr/>
          <a:lstStyle/>
          <a:p>
            <a:endParaRPr lang="en-US"/>
          </a:p>
        </p:txBody>
      </p:sp>
      <p:sp>
        <p:nvSpPr>
          <p:cNvPr id="141333" name="Rectangle 21"/>
          <p:cNvSpPr>
            <a:spLocks noChangeArrowheads="1"/>
          </p:cNvSpPr>
          <p:nvPr/>
        </p:nvSpPr>
        <p:spPr bwMode="auto">
          <a:xfrm>
            <a:off x="6024563" y="4143376"/>
            <a:ext cx="1772921" cy="384721"/>
          </a:xfrm>
          <a:prstGeom prst="rect">
            <a:avLst/>
          </a:prstGeom>
          <a:noFill/>
          <a:ln w="9525">
            <a:noFill/>
            <a:miter lim="800000"/>
            <a:headEnd/>
            <a:tailEnd/>
          </a:ln>
        </p:spPr>
        <p:txBody>
          <a:bodyPr wrap="none" lIns="0" tIns="0" rIns="0" bIns="0">
            <a:spAutoFit/>
          </a:bodyPr>
          <a:lstStyle/>
          <a:p>
            <a:r>
              <a:rPr lang="en-US" sz="2500" dirty="0">
                <a:solidFill>
                  <a:srgbClr val="000000"/>
                </a:solidFill>
              </a:rPr>
              <a:t>Epidemic Hits</a:t>
            </a:r>
            <a:endParaRPr lang="en-US" dirty="0"/>
          </a:p>
        </p:txBody>
      </p:sp>
      <p:sp>
        <p:nvSpPr>
          <p:cNvPr id="141334" name="Rectangle 22"/>
          <p:cNvSpPr>
            <a:spLocks noChangeArrowheads="1"/>
          </p:cNvSpPr>
          <p:nvPr/>
        </p:nvSpPr>
        <p:spPr bwMode="auto">
          <a:xfrm>
            <a:off x="6667501" y="4616450"/>
            <a:ext cx="1362552" cy="661720"/>
          </a:xfrm>
          <a:prstGeom prst="rect">
            <a:avLst/>
          </a:prstGeom>
          <a:noFill/>
          <a:ln w="9525">
            <a:noFill/>
            <a:miter lim="800000"/>
            <a:headEnd/>
            <a:tailEnd/>
          </a:ln>
        </p:spPr>
        <p:txBody>
          <a:bodyPr wrap="none" lIns="0" tIns="0" rIns="0" bIns="0">
            <a:spAutoFit/>
          </a:bodyPr>
          <a:lstStyle/>
          <a:p>
            <a:r>
              <a:rPr lang="en-US" sz="2500" dirty="0" err="1">
                <a:solidFill>
                  <a:srgbClr val="000000"/>
                </a:solidFill>
              </a:rPr>
              <a:t>pEpidemic</a:t>
            </a:r>
            <a:endParaRPr lang="en-US" sz="2800" dirty="0"/>
          </a:p>
          <a:p>
            <a:endParaRPr lang="en-US" dirty="0"/>
          </a:p>
        </p:txBody>
      </p:sp>
      <p:sp>
        <p:nvSpPr>
          <p:cNvPr id="141335" name="Rectangle 23"/>
          <p:cNvSpPr>
            <a:spLocks noChangeArrowheads="1"/>
          </p:cNvSpPr>
          <p:nvPr/>
        </p:nvSpPr>
        <p:spPr bwMode="auto">
          <a:xfrm>
            <a:off x="8426449" y="4370387"/>
            <a:ext cx="2268765" cy="384721"/>
          </a:xfrm>
          <a:prstGeom prst="rect">
            <a:avLst/>
          </a:prstGeom>
          <a:noFill/>
          <a:ln w="9525">
            <a:noFill/>
            <a:miter lim="800000"/>
            <a:headEnd/>
            <a:tailEnd/>
          </a:ln>
        </p:spPr>
        <p:txBody>
          <a:bodyPr wrap="square" lIns="0" tIns="0" rIns="0" bIns="0">
            <a:spAutoFit/>
          </a:bodyPr>
          <a:lstStyle/>
          <a:p>
            <a:r>
              <a:rPr lang="en-US" sz="2500" dirty="0">
                <a:solidFill>
                  <a:srgbClr val="000000"/>
                </a:solidFill>
                <a:cs typeface="Arial" charset="0"/>
              </a:rPr>
              <a:t>↓ </a:t>
            </a:r>
            <a:r>
              <a:rPr lang="en-US" sz="2500" dirty="0">
                <a:solidFill>
                  <a:srgbClr val="000000"/>
                </a:solidFill>
              </a:rPr>
              <a:t>cost, </a:t>
            </a:r>
            <a:r>
              <a:rPr lang="en-US" sz="2500" dirty="0">
                <a:solidFill>
                  <a:srgbClr val="000000"/>
                </a:solidFill>
                <a:cs typeface="Arial" charset="0"/>
              </a:rPr>
              <a:t>↑</a:t>
            </a:r>
            <a:r>
              <a:rPr lang="en-US" sz="2500" dirty="0">
                <a:solidFill>
                  <a:srgbClr val="000000"/>
                </a:solidFill>
              </a:rPr>
              <a:t>deaths</a:t>
            </a:r>
            <a:endParaRPr lang="en-US" sz="2500" dirty="0"/>
          </a:p>
        </p:txBody>
      </p:sp>
      <p:sp>
        <p:nvSpPr>
          <p:cNvPr id="141336" name="Line 24"/>
          <p:cNvSpPr>
            <a:spLocks noChangeShapeType="1"/>
          </p:cNvSpPr>
          <p:nvPr/>
        </p:nvSpPr>
        <p:spPr bwMode="auto">
          <a:xfrm>
            <a:off x="6024564" y="5391150"/>
            <a:ext cx="2022475" cy="1588"/>
          </a:xfrm>
          <a:prstGeom prst="line">
            <a:avLst/>
          </a:prstGeom>
          <a:noFill/>
          <a:ln w="19050">
            <a:solidFill>
              <a:srgbClr val="000000"/>
            </a:solidFill>
            <a:round/>
            <a:headEnd/>
            <a:tailEnd/>
          </a:ln>
        </p:spPr>
        <p:txBody>
          <a:bodyPr/>
          <a:lstStyle/>
          <a:p>
            <a:endParaRPr lang="en-US"/>
          </a:p>
        </p:txBody>
      </p:sp>
      <p:sp>
        <p:nvSpPr>
          <p:cNvPr id="141337" name="Freeform 25"/>
          <p:cNvSpPr>
            <a:spLocks/>
          </p:cNvSpPr>
          <p:nvPr/>
        </p:nvSpPr>
        <p:spPr bwMode="auto">
          <a:xfrm>
            <a:off x="8047038" y="5278439"/>
            <a:ext cx="207962" cy="225425"/>
          </a:xfrm>
          <a:custGeom>
            <a:avLst/>
            <a:gdLst/>
            <a:ahLst/>
            <a:cxnLst>
              <a:cxn ang="0">
                <a:pos x="0" y="71"/>
              </a:cxn>
              <a:cxn ang="0">
                <a:pos x="131" y="0"/>
              </a:cxn>
              <a:cxn ang="0">
                <a:pos x="131" y="142"/>
              </a:cxn>
              <a:cxn ang="0">
                <a:pos x="0" y="71"/>
              </a:cxn>
            </a:cxnLst>
            <a:rect l="0" t="0" r="r" b="b"/>
            <a:pathLst>
              <a:path w="131" h="142">
                <a:moveTo>
                  <a:pt x="0" y="71"/>
                </a:moveTo>
                <a:lnTo>
                  <a:pt x="131" y="0"/>
                </a:lnTo>
                <a:lnTo>
                  <a:pt x="131" y="142"/>
                </a:lnTo>
                <a:lnTo>
                  <a:pt x="0" y="71"/>
                </a:lnTo>
                <a:close/>
              </a:path>
            </a:pathLst>
          </a:custGeom>
          <a:solidFill>
            <a:srgbClr val="FFFFFF"/>
          </a:solidFill>
          <a:ln w="19050">
            <a:solidFill>
              <a:srgbClr val="FF0000"/>
            </a:solidFill>
            <a:prstDash val="solid"/>
            <a:round/>
            <a:headEnd/>
            <a:tailEnd/>
          </a:ln>
        </p:spPr>
        <p:txBody>
          <a:bodyPr/>
          <a:lstStyle/>
          <a:p>
            <a:endParaRPr lang="en-US"/>
          </a:p>
        </p:txBody>
      </p:sp>
      <p:sp>
        <p:nvSpPr>
          <p:cNvPr id="141338" name="Rectangle 26"/>
          <p:cNvSpPr>
            <a:spLocks noChangeArrowheads="1"/>
          </p:cNvSpPr>
          <p:nvPr/>
        </p:nvSpPr>
        <p:spPr bwMode="auto">
          <a:xfrm>
            <a:off x="6024564" y="4994276"/>
            <a:ext cx="1644681" cy="384721"/>
          </a:xfrm>
          <a:prstGeom prst="rect">
            <a:avLst/>
          </a:prstGeom>
          <a:noFill/>
          <a:ln w="9525">
            <a:noFill/>
            <a:miter lim="800000"/>
            <a:headEnd/>
            <a:tailEnd/>
          </a:ln>
        </p:spPr>
        <p:txBody>
          <a:bodyPr wrap="none" lIns="0" tIns="0" rIns="0" bIns="0">
            <a:spAutoFit/>
          </a:bodyPr>
          <a:lstStyle/>
          <a:p>
            <a:r>
              <a:rPr lang="en-US" sz="2500" dirty="0">
                <a:solidFill>
                  <a:srgbClr val="000000"/>
                </a:solidFill>
              </a:rPr>
              <a:t>No epidemic</a:t>
            </a:r>
            <a:endParaRPr lang="en-US" dirty="0"/>
          </a:p>
        </p:txBody>
      </p:sp>
      <p:sp>
        <p:nvSpPr>
          <p:cNvPr id="141339" name="Rectangle 27"/>
          <p:cNvSpPr>
            <a:spLocks noChangeArrowheads="1"/>
          </p:cNvSpPr>
          <p:nvPr/>
        </p:nvSpPr>
        <p:spPr bwMode="auto">
          <a:xfrm>
            <a:off x="6951663" y="5467351"/>
            <a:ext cx="160300" cy="384721"/>
          </a:xfrm>
          <a:prstGeom prst="rect">
            <a:avLst/>
          </a:prstGeom>
          <a:noFill/>
          <a:ln w="9525">
            <a:noFill/>
            <a:miter lim="800000"/>
            <a:headEnd/>
            <a:tailEnd/>
          </a:ln>
        </p:spPr>
        <p:txBody>
          <a:bodyPr wrap="none" lIns="0" tIns="0" rIns="0" bIns="0">
            <a:spAutoFit/>
          </a:bodyPr>
          <a:lstStyle/>
          <a:p>
            <a:r>
              <a:rPr lang="en-US" sz="2500">
                <a:solidFill>
                  <a:srgbClr val="000000"/>
                </a:solidFill>
              </a:rPr>
              <a:t>#</a:t>
            </a:r>
            <a:endParaRPr lang="en-US"/>
          </a:p>
        </p:txBody>
      </p:sp>
      <p:sp>
        <p:nvSpPr>
          <p:cNvPr id="141340" name="Rectangle 28"/>
          <p:cNvSpPr>
            <a:spLocks noChangeArrowheads="1"/>
          </p:cNvSpPr>
          <p:nvPr/>
        </p:nvSpPr>
        <p:spPr bwMode="auto">
          <a:xfrm>
            <a:off x="8426449" y="5221288"/>
            <a:ext cx="2268765" cy="384721"/>
          </a:xfrm>
          <a:prstGeom prst="rect">
            <a:avLst/>
          </a:prstGeom>
          <a:noFill/>
          <a:ln w="9525">
            <a:noFill/>
            <a:miter lim="800000"/>
            <a:headEnd/>
            <a:tailEnd/>
          </a:ln>
        </p:spPr>
        <p:txBody>
          <a:bodyPr wrap="square" lIns="0" tIns="0" rIns="0" bIns="0">
            <a:spAutoFit/>
          </a:bodyPr>
          <a:lstStyle/>
          <a:p>
            <a:r>
              <a:rPr lang="en-US" sz="2500" dirty="0">
                <a:solidFill>
                  <a:srgbClr val="000000"/>
                </a:solidFill>
                <a:cs typeface="Arial" charset="0"/>
              </a:rPr>
              <a:t>↓</a:t>
            </a:r>
            <a:r>
              <a:rPr lang="en-US" sz="2500" dirty="0">
                <a:solidFill>
                  <a:srgbClr val="000000"/>
                </a:solidFill>
              </a:rPr>
              <a:t>cost, ↓deaths</a:t>
            </a:r>
            <a:endParaRPr lang="en-US" sz="2500" dirty="0"/>
          </a:p>
        </p:txBody>
      </p:sp>
      <p:sp>
        <p:nvSpPr>
          <p:cNvPr id="141341" name="Line 29"/>
          <p:cNvSpPr>
            <a:spLocks noChangeShapeType="1"/>
          </p:cNvSpPr>
          <p:nvPr/>
        </p:nvSpPr>
        <p:spPr bwMode="auto">
          <a:xfrm flipV="1">
            <a:off x="5589589" y="4540251"/>
            <a:ext cx="434975" cy="434975"/>
          </a:xfrm>
          <a:prstGeom prst="line">
            <a:avLst/>
          </a:prstGeom>
          <a:noFill/>
          <a:ln w="19050">
            <a:solidFill>
              <a:srgbClr val="000000"/>
            </a:solidFill>
            <a:round/>
            <a:headEnd/>
            <a:tailEnd/>
          </a:ln>
        </p:spPr>
        <p:txBody>
          <a:bodyPr/>
          <a:lstStyle/>
          <a:p>
            <a:endParaRPr lang="en-US"/>
          </a:p>
        </p:txBody>
      </p:sp>
      <p:sp>
        <p:nvSpPr>
          <p:cNvPr id="141342" name="Line 30"/>
          <p:cNvSpPr>
            <a:spLocks noChangeShapeType="1"/>
          </p:cNvSpPr>
          <p:nvPr/>
        </p:nvSpPr>
        <p:spPr bwMode="auto">
          <a:xfrm>
            <a:off x="5589589" y="4975226"/>
            <a:ext cx="434975" cy="415925"/>
          </a:xfrm>
          <a:prstGeom prst="line">
            <a:avLst/>
          </a:prstGeom>
          <a:noFill/>
          <a:ln w="19050">
            <a:solidFill>
              <a:srgbClr val="000000"/>
            </a:solidFill>
            <a:round/>
            <a:headEnd/>
            <a:tailEnd/>
          </a:ln>
        </p:spPr>
        <p:txBody>
          <a:bodyPr/>
          <a:lstStyle/>
          <a:p>
            <a:endParaRPr lang="en-US"/>
          </a:p>
        </p:txBody>
      </p:sp>
      <p:sp>
        <p:nvSpPr>
          <p:cNvPr id="141343" name="Line 31"/>
          <p:cNvSpPr>
            <a:spLocks noChangeShapeType="1"/>
          </p:cNvSpPr>
          <p:nvPr/>
        </p:nvSpPr>
        <p:spPr bwMode="auto">
          <a:xfrm>
            <a:off x="4114801" y="4975225"/>
            <a:ext cx="1247775" cy="1588"/>
          </a:xfrm>
          <a:prstGeom prst="line">
            <a:avLst/>
          </a:prstGeom>
          <a:noFill/>
          <a:ln w="19050">
            <a:solidFill>
              <a:srgbClr val="000000"/>
            </a:solidFill>
            <a:round/>
            <a:headEnd/>
            <a:tailEnd/>
          </a:ln>
        </p:spPr>
        <p:txBody>
          <a:bodyPr/>
          <a:lstStyle/>
          <a:p>
            <a:endParaRPr lang="en-US"/>
          </a:p>
        </p:txBody>
      </p:sp>
      <p:sp>
        <p:nvSpPr>
          <p:cNvPr id="141344" name="Oval 32"/>
          <p:cNvSpPr>
            <a:spLocks noChangeArrowheads="1"/>
          </p:cNvSpPr>
          <p:nvPr/>
        </p:nvSpPr>
        <p:spPr bwMode="auto">
          <a:xfrm>
            <a:off x="5362576" y="4862514"/>
            <a:ext cx="207963" cy="225425"/>
          </a:xfrm>
          <a:prstGeom prst="ellipse">
            <a:avLst/>
          </a:prstGeom>
          <a:solidFill>
            <a:srgbClr val="FFFFFF"/>
          </a:solidFill>
          <a:ln w="19050">
            <a:solidFill>
              <a:srgbClr val="008000"/>
            </a:solidFill>
            <a:round/>
            <a:headEnd/>
            <a:tailEnd/>
          </a:ln>
        </p:spPr>
        <p:txBody>
          <a:bodyPr/>
          <a:lstStyle/>
          <a:p>
            <a:endParaRPr lang="en-US"/>
          </a:p>
        </p:txBody>
      </p:sp>
      <p:sp>
        <p:nvSpPr>
          <p:cNvPr id="141345" name="Rectangle 33"/>
          <p:cNvSpPr>
            <a:spLocks noChangeArrowheads="1"/>
          </p:cNvSpPr>
          <p:nvPr/>
        </p:nvSpPr>
        <p:spPr bwMode="auto">
          <a:xfrm>
            <a:off x="4114800" y="4269829"/>
            <a:ext cx="1195385" cy="769441"/>
          </a:xfrm>
          <a:prstGeom prst="rect">
            <a:avLst/>
          </a:prstGeom>
          <a:noFill/>
          <a:ln w="9525">
            <a:noFill/>
            <a:miter lim="800000"/>
            <a:headEnd/>
            <a:tailEnd/>
          </a:ln>
        </p:spPr>
        <p:txBody>
          <a:bodyPr wrap="square" lIns="0" tIns="0" rIns="0" bIns="0">
            <a:spAutoFit/>
          </a:bodyPr>
          <a:lstStyle/>
          <a:p>
            <a:r>
              <a:rPr lang="en-US" sz="2500" dirty="0">
                <a:solidFill>
                  <a:srgbClr val="000000"/>
                </a:solidFill>
              </a:rPr>
              <a:t>Continue activities</a:t>
            </a:r>
            <a:endParaRPr lang="en-US" dirty="0"/>
          </a:p>
        </p:txBody>
      </p:sp>
      <p:sp>
        <p:nvSpPr>
          <p:cNvPr id="141346" name="Line 34"/>
          <p:cNvSpPr>
            <a:spLocks noChangeShapeType="1"/>
          </p:cNvSpPr>
          <p:nvPr/>
        </p:nvSpPr>
        <p:spPr bwMode="auto">
          <a:xfrm flipV="1">
            <a:off x="3679826" y="3292475"/>
            <a:ext cx="434975" cy="831850"/>
          </a:xfrm>
          <a:prstGeom prst="line">
            <a:avLst/>
          </a:prstGeom>
          <a:noFill/>
          <a:ln w="19050">
            <a:solidFill>
              <a:srgbClr val="000000"/>
            </a:solidFill>
            <a:round/>
            <a:headEnd/>
            <a:tailEnd/>
          </a:ln>
        </p:spPr>
        <p:txBody>
          <a:bodyPr/>
          <a:lstStyle/>
          <a:p>
            <a:endParaRPr lang="en-US"/>
          </a:p>
        </p:txBody>
      </p:sp>
      <p:sp>
        <p:nvSpPr>
          <p:cNvPr id="141347" name="Line 35"/>
          <p:cNvSpPr>
            <a:spLocks noChangeShapeType="1"/>
          </p:cNvSpPr>
          <p:nvPr/>
        </p:nvSpPr>
        <p:spPr bwMode="auto">
          <a:xfrm>
            <a:off x="3679826" y="4124325"/>
            <a:ext cx="434975" cy="850900"/>
          </a:xfrm>
          <a:prstGeom prst="line">
            <a:avLst/>
          </a:prstGeom>
          <a:noFill/>
          <a:ln w="19050">
            <a:solidFill>
              <a:srgbClr val="000000"/>
            </a:solidFill>
            <a:round/>
            <a:headEnd/>
            <a:tailEnd/>
          </a:ln>
        </p:spPr>
        <p:txBody>
          <a:bodyPr/>
          <a:lstStyle/>
          <a:p>
            <a:endParaRPr lang="en-US"/>
          </a:p>
        </p:txBody>
      </p:sp>
      <p:sp>
        <p:nvSpPr>
          <p:cNvPr id="141348" name="Line 36"/>
          <p:cNvSpPr>
            <a:spLocks noChangeShapeType="1"/>
          </p:cNvSpPr>
          <p:nvPr/>
        </p:nvSpPr>
        <p:spPr bwMode="auto">
          <a:xfrm>
            <a:off x="2224089" y="4124325"/>
            <a:ext cx="1228725" cy="1588"/>
          </a:xfrm>
          <a:prstGeom prst="line">
            <a:avLst/>
          </a:prstGeom>
          <a:noFill/>
          <a:ln w="19050">
            <a:solidFill>
              <a:srgbClr val="000000"/>
            </a:solidFill>
            <a:round/>
            <a:headEnd/>
            <a:tailEnd/>
          </a:ln>
        </p:spPr>
        <p:txBody>
          <a:bodyPr/>
          <a:lstStyle/>
          <a:p>
            <a:endParaRPr lang="en-US"/>
          </a:p>
        </p:txBody>
      </p:sp>
      <p:sp>
        <p:nvSpPr>
          <p:cNvPr id="141349" name="Rectangle 37"/>
          <p:cNvSpPr>
            <a:spLocks noChangeArrowheads="1"/>
          </p:cNvSpPr>
          <p:nvPr/>
        </p:nvSpPr>
        <p:spPr bwMode="auto">
          <a:xfrm>
            <a:off x="3452813" y="4011613"/>
            <a:ext cx="207962" cy="227012"/>
          </a:xfrm>
          <a:prstGeom prst="rect">
            <a:avLst/>
          </a:prstGeom>
          <a:solidFill>
            <a:srgbClr val="FFFFFF"/>
          </a:solidFill>
          <a:ln w="19050">
            <a:solidFill>
              <a:srgbClr val="0000FF"/>
            </a:solidFill>
            <a:miter lim="800000"/>
            <a:headEnd/>
            <a:tailEnd/>
          </a:ln>
        </p:spPr>
        <p:txBody>
          <a:bodyPr/>
          <a:lstStyle/>
          <a:p>
            <a:endParaRPr lang="en-US"/>
          </a:p>
        </p:txBody>
      </p:sp>
      <p:sp>
        <p:nvSpPr>
          <p:cNvPr id="141350" name="Rectangle 38"/>
          <p:cNvSpPr>
            <a:spLocks noChangeArrowheads="1"/>
          </p:cNvSpPr>
          <p:nvPr/>
        </p:nvSpPr>
        <p:spPr bwMode="auto">
          <a:xfrm>
            <a:off x="2224088" y="3727451"/>
            <a:ext cx="961802" cy="384721"/>
          </a:xfrm>
          <a:prstGeom prst="rect">
            <a:avLst/>
          </a:prstGeom>
          <a:noFill/>
          <a:ln w="9525">
            <a:noFill/>
            <a:miter lim="800000"/>
            <a:headEnd/>
            <a:tailEnd/>
          </a:ln>
        </p:spPr>
        <p:txBody>
          <a:bodyPr wrap="none" lIns="0" tIns="0" rIns="0" bIns="0">
            <a:spAutoFit/>
          </a:bodyPr>
          <a:lstStyle/>
          <a:p>
            <a:r>
              <a:rPr lang="en-US" sz="2500">
                <a:solidFill>
                  <a:srgbClr val="000000"/>
                </a:solidFill>
              </a:rPr>
              <a:t>Choose</a:t>
            </a:r>
            <a:endParaRPr lang="en-US"/>
          </a:p>
        </p:txBody>
      </p:sp>
      <p:sp>
        <p:nvSpPr>
          <p:cNvPr id="141351" name="Text Box 39"/>
          <p:cNvSpPr txBox="1">
            <a:spLocks noChangeArrowheads="1"/>
          </p:cNvSpPr>
          <p:nvPr/>
        </p:nvSpPr>
        <p:spPr bwMode="auto">
          <a:xfrm>
            <a:off x="3399" y="1358464"/>
            <a:ext cx="6203725" cy="990600"/>
          </a:xfrm>
          <a:prstGeom prst="rect">
            <a:avLst/>
          </a:prstGeom>
          <a:noFill/>
          <a:ln w="9525">
            <a:noFill/>
            <a:miter lim="800000"/>
            <a:headEnd/>
            <a:tailEnd/>
          </a:ln>
          <a:effectLst/>
        </p:spPr>
        <p:txBody>
          <a:bodyPr/>
          <a:lstStyle/>
          <a:p>
            <a:pPr algn="ctr"/>
            <a:r>
              <a:rPr lang="en-US" sz="2800" b="1" dirty="0">
                <a:solidFill>
                  <a:srgbClr val="333399"/>
                </a:solidFill>
              </a:rPr>
              <a:t>Should a </a:t>
            </a:r>
            <a:r>
              <a:rPr lang="en-US" sz="2800" b="1" u="sng" dirty="0">
                <a:solidFill>
                  <a:srgbClr val="333399"/>
                </a:solidFill>
              </a:rPr>
              <a:t>community</a:t>
            </a:r>
            <a:r>
              <a:rPr lang="en-US" sz="2800" b="1" dirty="0">
                <a:solidFill>
                  <a:srgbClr val="333399"/>
                </a:solidFill>
              </a:rPr>
              <a:t> choose to shelter in place in the face of a world pandemic?</a:t>
            </a:r>
          </a:p>
        </p:txBody>
      </p:sp>
      <p:grpSp>
        <p:nvGrpSpPr>
          <p:cNvPr id="7" name="Group 6">
            <a:extLst>
              <a:ext uri="{FF2B5EF4-FFF2-40B4-BE49-F238E27FC236}">
                <a16:creationId xmlns:a16="http://schemas.microsoft.com/office/drawing/2014/main" id="{29B92AA1-98BB-4647-97BD-8F562AB49F73}"/>
              </a:ext>
            </a:extLst>
          </p:cNvPr>
          <p:cNvGrpSpPr/>
          <p:nvPr/>
        </p:nvGrpSpPr>
        <p:grpSpPr>
          <a:xfrm>
            <a:off x="1981200" y="3126061"/>
            <a:ext cx="4686301" cy="3200718"/>
            <a:chOff x="1981200" y="3126061"/>
            <a:chExt cx="4686301" cy="3200718"/>
          </a:xfrm>
        </p:grpSpPr>
        <p:sp>
          <p:nvSpPr>
            <p:cNvPr id="40" name="Rectangle 22">
              <a:extLst>
                <a:ext uri="{FF2B5EF4-FFF2-40B4-BE49-F238E27FC236}">
                  <a16:creationId xmlns:a16="http://schemas.microsoft.com/office/drawing/2014/main" id="{28AB66D9-E128-A449-9503-2BDC6C209811}"/>
                </a:ext>
              </a:extLst>
            </p:cNvPr>
            <p:cNvSpPr>
              <a:spLocks noChangeArrowheads="1"/>
            </p:cNvSpPr>
            <p:nvPr/>
          </p:nvSpPr>
          <p:spPr bwMode="auto">
            <a:xfrm>
              <a:off x="1981200" y="5726615"/>
              <a:ext cx="4193136" cy="600164"/>
            </a:xfrm>
            <a:prstGeom prst="rect">
              <a:avLst/>
            </a:prstGeom>
            <a:noFill/>
            <a:ln w="9525">
              <a:noFill/>
              <a:miter lim="800000"/>
              <a:headEnd/>
              <a:tailEnd/>
            </a:ln>
          </p:spPr>
          <p:txBody>
            <a:bodyPr wrap="none" lIns="0" tIns="0" rIns="0" bIns="0">
              <a:spAutoFit/>
            </a:bodyPr>
            <a:lstStyle/>
            <a:p>
              <a:r>
                <a:rPr lang="en-US" sz="2800" b="1" dirty="0">
                  <a:solidFill>
                    <a:srgbClr val="990033"/>
                  </a:solidFill>
                  <a:effectLst>
                    <a:outerShdw blurRad="38100" dist="38100" dir="2700000" algn="tl">
                      <a:srgbClr val="C0C0C0"/>
                    </a:outerShdw>
                  </a:effectLst>
                  <a:latin typeface="+mj-lt"/>
                  <a:ea typeface="+mj-ea"/>
                  <a:cs typeface="+mj-cs"/>
                </a:rPr>
                <a:t>Is this the right “</a:t>
              </a:r>
              <a:r>
                <a:rPr lang="en-US" sz="2800" b="1" dirty="0" err="1">
                  <a:solidFill>
                    <a:srgbClr val="990033"/>
                  </a:solidFill>
                  <a:effectLst>
                    <a:outerShdw blurRad="38100" dist="38100" dir="2700000" algn="tl">
                      <a:srgbClr val="C0C0C0"/>
                    </a:outerShdw>
                  </a:effectLst>
                  <a:latin typeface="+mj-lt"/>
                  <a:ea typeface="+mj-ea"/>
                  <a:cs typeface="+mj-cs"/>
                </a:rPr>
                <a:t>pEpidemic</a:t>
              </a:r>
              <a:r>
                <a:rPr lang="en-US" sz="2800" b="1" dirty="0">
                  <a:solidFill>
                    <a:srgbClr val="990033"/>
                  </a:solidFill>
                  <a:effectLst>
                    <a:outerShdw blurRad="38100" dist="38100" dir="2700000" algn="tl">
                      <a:srgbClr val="C0C0C0"/>
                    </a:outerShdw>
                  </a:effectLst>
                  <a:latin typeface="+mj-lt"/>
                  <a:ea typeface="+mj-ea"/>
                  <a:cs typeface="+mj-cs"/>
                </a:rPr>
                <a:t>”?</a:t>
              </a:r>
            </a:p>
            <a:p>
              <a:endParaRPr lang="en-US" sz="1100" dirty="0"/>
            </a:p>
          </p:txBody>
        </p:sp>
        <p:cxnSp>
          <p:nvCxnSpPr>
            <p:cNvPr id="3" name="Straight Arrow Connector 2">
              <a:extLst>
                <a:ext uri="{FF2B5EF4-FFF2-40B4-BE49-F238E27FC236}">
                  <a16:creationId xmlns:a16="http://schemas.microsoft.com/office/drawing/2014/main" id="{86578FD7-377C-664C-A1CC-F8D279346E4C}"/>
                </a:ext>
              </a:extLst>
            </p:cNvPr>
            <p:cNvCxnSpPr>
              <a:stCxn id="40" idx="0"/>
              <a:endCxn id="141319" idx="1"/>
            </p:cNvCxnSpPr>
            <p:nvPr/>
          </p:nvCxnSpPr>
          <p:spPr>
            <a:xfrm flipV="1">
              <a:off x="4077768" y="3126061"/>
              <a:ext cx="2589733" cy="2600554"/>
            </a:xfrm>
            <a:prstGeom prst="straightConnector1">
              <a:avLst/>
            </a:prstGeom>
            <a:ln w="19050">
              <a:solidFill>
                <a:srgbClr val="C00000"/>
              </a:solidFill>
              <a:tailEnd type="triangle"/>
            </a:ln>
          </p:spPr>
          <p:style>
            <a:lnRef idx="1">
              <a:schemeClr val="accent2"/>
            </a:lnRef>
            <a:fillRef idx="0">
              <a:schemeClr val="accent2"/>
            </a:fillRef>
            <a:effectRef idx="0">
              <a:schemeClr val="accent2"/>
            </a:effectRef>
            <a:fontRef idx="minor">
              <a:schemeClr val="tx1"/>
            </a:fontRef>
          </p:style>
        </p:cxnSp>
        <p:cxnSp>
          <p:nvCxnSpPr>
            <p:cNvPr id="43" name="Straight Arrow Connector 42">
              <a:extLst>
                <a:ext uri="{FF2B5EF4-FFF2-40B4-BE49-F238E27FC236}">
                  <a16:creationId xmlns:a16="http://schemas.microsoft.com/office/drawing/2014/main" id="{BE46AD50-5994-2440-B3C3-D8F03F209A77}"/>
                </a:ext>
              </a:extLst>
            </p:cNvPr>
            <p:cNvCxnSpPr>
              <a:cxnSpLocks/>
              <a:stCxn id="40" idx="0"/>
              <a:endCxn id="141334" idx="1"/>
            </p:cNvCxnSpPr>
            <p:nvPr/>
          </p:nvCxnSpPr>
          <p:spPr>
            <a:xfrm flipV="1">
              <a:off x="4077768" y="4947310"/>
              <a:ext cx="2589733" cy="779305"/>
            </a:xfrm>
            <a:prstGeom prst="straightConnector1">
              <a:avLst/>
            </a:prstGeom>
            <a:ln w="19050">
              <a:solidFill>
                <a:srgbClr val="C00000"/>
              </a:solidFill>
              <a:tailEnd type="triangle"/>
            </a:ln>
          </p:spPr>
          <p:style>
            <a:lnRef idx="1">
              <a:schemeClr val="accent2"/>
            </a:lnRef>
            <a:fillRef idx="0">
              <a:schemeClr val="accent2"/>
            </a:fillRef>
            <a:effectRef idx="0">
              <a:schemeClr val="accent2"/>
            </a:effectRef>
            <a:fontRef idx="minor">
              <a:schemeClr val="tx1"/>
            </a:fontRef>
          </p:style>
        </p:cxnSp>
      </p:grpSp>
      <p:sp>
        <p:nvSpPr>
          <p:cNvPr id="48" name="Text Box 39">
            <a:extLst>
              <a:ext uri="{FF2B5EF4-FFF2-40B4-BE49-F238E27FC236}">
                <a16:creationId xmlns:a16="http://schemas.microsoft.com/office/drawing/2014/main" id="{18C5C980-B2FE-E741-ABA2-2D79B64431C6}"/>
              </a:ext>
            </a:extLst>
          </p:cNvPr>
          <p:cNvSpPr txBox="1">
            <a:spLocks noChangeArrowheads="1"/>
          </p:cNvSpPr>
          <p:nvPr/>
        </p:nvSpPr>
        <p:spPr bwMode="auto">
          <a:xfrm>
            <a:off x="6392636" y="1214710"/>
            <a:ext cx="5799364" cy="990600"/>
          </a:xfrm>
          <a:prstGeom prst="rect">
            <a:avLst/>
          </a:prstGeom>
          <a:noFill/>
          <a:ln w="9525">
            <a:noFill/>
            <a:miter lim="800000"/>
            <a:headEnd/>
            <a:tailEnd/>
          </a:ln>
          <a:effectLst/>
        </p:spPr>
        <p:txBody>
          <a:bodyPr/>
          <a:lstStyle/>
          <a:p>
            <a:pPr algn="ctr"/>
            <a:r>
              <a:rPr lang="en-US" sz="2800" b="1" dirty="0">
                <a:solidFill>
                  <a:srgbClr val="333399"/>
                </a:solidFill>
              </a:rPr>
              <a:t>Should the </a:t>
            </a:r>
            <a:r>
              <a:rPr lang="en-US" sz="2800" b="1" u="sng" dirty="0">
                <a:solidFill>
                  <a:srgbClr val="333399"/>
                </a:solidFill>
              </a:rPr>
              <a:t>community leaders</a:t>
            </a:r>
            <a:r>
              <a:rPr lang="en-US" sz="2800" b="1" dirty="0">
                <a:solidFill>
                  <a:srgbClr val="333399"/>
                </a:solidFill>
              </a:rPr>
              <a:t> choose to shelter in place in the face of a world pandemic?</a:t>
            </a:r>
          </a:p>
        </p:txBody>
      </p:sp>
    </p:spTree>
    <p:extLst>
      <p:ext uri="{BB962C8B-B14F-4D97-AF65-F5344CB8AC3E}">
        <p14:creationId xmlns:p14="http://schemas.microsoft.com/office/powerpoint/2010/main" val="3613671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r>
              <a:rPr lang="en-US"/>
              <a:t>Malpractice</a:t>
            </a:r>
          </a:p>
        </p:txBody>
      </p:sp>
      <p:sp>
        <p:nvSpPr>
          <p:cNvPr id="142339" name="AutoShape 3"/>
          <p:cNvSpPr>
            <a:spLocks noChangeAspect="1" noChangeArrowheads="1" noTextEdit="1"/>
          </p:cNvSpPr>
          <p:nvPr/>
        </p:nvSpPr>
        <p:spPr bwMode="auto">
          <a:xfrm>
            <a:off x="1752600" y="2286000"/>
            <a:ext cx="7620000" cy="4216400"/>
          </a:xfrm>
          <a:prstGeom prst="rect">
            <a:avLst/>
          </a:prstGeom>
          <a:noFill/>
          <a:ln w="9525">
            <a:noFill/>
            <a:miter lim="800000"/>
            <a:headEnd/>
            <a:tailEnd/>
          </a:ln>
        </p:spPr>
        <p:txBody>
          <a:bodyPr/>
          <a:lstStyle/>
          <a:p>
            <a:endParaRPr lang="en-US"/>
          </a:p>
        </p:txBody>
      </p:sp>
      <p:sp>
        <p:nvSpPr>
          <p:cNvPr id="142340" name="Line 4"/>
          <p:cNvSpPr>
            <a:spLocks noChangeShapeType="1"/>
          </p:cNvSpPr>
          <p:nvPr/>
        </p:nvSpPr>
        <p:spPr bwMode="auto">
          <a:xfrm>
            <a:off x="6007101" y="3117850"/>
            <a:ext cx="2022475" cy="1588"/>
          </a:xfrm>
          <a:prstGeom prst="line">
            <a:avLst/>
          </a:prstGeom>
          <a:noFill/>
          <a:ln w="19050">
            <a:solidFill>
              <a:srgbClr val="000000"/>
            </a:solidFill>
            <a:round/>
            <a:headEnd/>
            <a:tailEnd/>
          </a:ln>
        </p:spPr>
        <p:txBody>
          <a:bodyPr/>
          <a:lstStyle/>
          <a:p>
            <a:endParaRPr lang="en-US"/>
          </a:p>
        </p:txBody>
      </p:sp>
      <p:sp>
        <p:nvSpPr>
          <p:cNvPr id="142341" name="Freeform 5"/>
          <p:cNvSpPr>
            <a:spLocks/>
          </p:cNvSpPr>
          <p:nvPr/>
        </p:nvSpPr>
        <p:spPr bwMode="auto">
          <a:xfrm>
            <a:off x="8029576" y="3005138"/>
            <a:ext cx="207963" cy="227012"/>
          </a:xfrm>
          <a:custGeom>
            <a:avLst/>
            <a:gdLst/>
            <a:ahLst/>
            <a:cxnLst>
              <a:cxn ang="0">
                <a:pos x="0" y="71"/>
              </a:cxn>
              <a:cxn ang="0">
                <a:pos x="131" y="0"/>
              </a:cxn>
              <a:cxn ang="0">
                <a:pos x="131" y="143"/>
              </a:cxn>
              <a:cxn ang="0">
                <a:pos x="0" y="71"/>
              </a:cxn>
            </a:cxnLst>
            <a:rect l="0" t="0" r="r" b="b"/>
            <a:pathLst>
              <a:path w="131" h="143">
                <a:moveTo>
                  <a:pt x="0" y="71"/>
                </a:moveTo>
                <a:lnTo>
                  <a:pt x="131" y="0"/>
                </a:lnTo>
                <a:lnTo>
                  <a:pt x="131" y="143"/>
                </a:lnTo>
                <a:lnTo>
                  <a:pt x="0" y="71"/>
                </a:lnTo>
                <a:close/>
              </a:path>
            </a:pathLst>
          </a:custGeom>
          <a:solidFill>
            <a:srgbClr val="FFFFFF"/>
          </a:solidFill>
          <a:ln w="19050">
            <a:solidFill>
              <a:srgbClr val="FF0000"/>
            </a:solidFill>
            <a:prstDash val="solid"/>
            <a:round/>
            <a:headEnd/>
            <a:tailEnd/>
          </a:ln>
        </p:spPr>
        <p:txBody>
          <a:bodyPr/>
          <a:lstStyle/>
          <a:p>
            <a:endParaRPr lang="en-US"/>
          </a:p>
        </p:txBody>
      </p:sp>
      <p:sp>
        <p:nvSpPr>
          <p:cNvPr id="142342" name="Rectangle 6"/>
          <p:cNvSpPr>
            <a:spLocks noChangeArrowheads="1"/>
          </p:cNvSpPr>
          <p:nvPr/>
        </p:nvSpPr>
        <p:spPr bwMode="auto">
          <a:xfrm>
            <a:off x="6007100" y="2740026"/>
            <a:ext cx="987258" cy="384721"/>
          </a:xfrm>
          <a:prstGeom prst="rect">
            <a:avLst/>
          </a:prstGeom>
          <a:noFill/>
          <a:ln w="9525">
            <a:noFill/>
            <a:miter lim="800000"/>
            <a:headEnd/>
            <a:tailEnd/>
          </a:ln>
        </p:spPr>
        <p:txBody>
          <a:bodyPr wrap="none" lIns="0" tIns="0" rIns="0" bIns="0">
            <a:spAutoFit/>
          </a:bodyPr>
          <a:lstStyle/>
          <a:p>
            <a:r>
              <a:rPr lang="en-US" sz="2500">
                <a:solidFill>
                  <a:srgbClr val="000000"/>
                </a:solidFill>
              </a:rPr>
              <a:t>Lawsuit</a:t>
            </a:r>
            <a:endParaRPr lang="en-US"/>
          </a:p>
        </p:txBody>
      </p:sp>
      <p:sp>
        <p:nvSpPr>
          <p:cNvPr id="142343" name="Rectangle 7"/>
          <p:cNvSpPr>
            <a:spLocks noChangeArrowheads="1"/>
          </p:cNvSpPr>
          <p:nvPr/>
        </p:nvSpPr>
        <p:spPr bwMode="auto">
          <a:xfrm>
            <a:off x="6650038" y="3194051"/>
            <a:ext cx="827150" cy="384721"/>
          </a:xfrm>
          <a:prstGeom prst="rect">
            <a:avLst/>
          </a:prstGeom>
          <a:noFill/>
          <a:ln w="9525">
            <a:noFill/>
            <a:miter lim="800000"/>
            <a:headEnd/>
            <a:tailEnd/>
          </a:ln>
        </p:spPr>
        <p:txBody>
          <a:bodyPr wrap="none" lIns="0" tIns="0" rIns="0" bIns="0">
            <a:spAutoFit/>
          </a:bodyPr>
          <a:lstStyle/>
          <a:p>
            <a:r>
              <a:rPr lang="en-US" sz="2500">
                <a:solidFill>
                  <a:srgbClr val="000000"/>
                </a:solidFill>
              </a:rPr>
              <a:t>pSuit1</a:t>
            </a:r>
            <a:endParaRPr lang="en-US"/>
          </a:p>
        </p:txBody>
      </p:sp>
      <p:sp>
        <p:nvSpPr>
          <p:cNvPr id="142344" name="Rectangle 8"/>
          <p:cNvSpPr>
            <a:spLocks noChangeArrowheads="1"/>
          </p:cNvSpPr>
          <p:nvPr/>
        </p:nvSpPr>
        <p:spPr bwMode="auto">
          <a:xfrm>
            <a:off x="8408988" y="2947988"/>
            <a:ext cx="1878012" cy="381000"/>
          </a:xfrm>
          <a:prstGeom prst="rect">
            <a:avLst/>
          </a:prstGeom>
          <a:noFill/>
          <a:ln w="9525">
            <a:noFill/>
            <a:miter lim="800000"/>
            <a:headEnd/>
            <a:tailEnd/>
          </a:ln>
        </p:spPr>
        <p:txBody>
          <a:bodyPr lIns="0" tIns="0" rIns="0" bIns="0">
            <a:spAutoFit/>
          </a:bodyPr>
          <a:lstStyle/>
          <a:p>
            <a:r>
              <a:rPr lang="en-US" sz="2500">
                <a:solidFill>
                  <a:srgbClr val="000000"/>
                </a:solidFill>
              </a:rPr>
              <a:t>cSuit+cPrev</a:t>
            </a:r>
            <a:endParaRPr lang="en-US"/>
          </a:p>
        </p:txBody>
      </p:sp>
      <p:sp>
        <p:nvSpPr>
          <p:cNvPr id="142345" name="Line 9"/>
          <p:cNvSpPr>
            <a:spLocks noChangeShapeType="1"/>
          </p:cNvSpPr>
          <p:nvPr/>
        </p:nvSpPr>
        <p:spPr bwMode="auto">
          <a:xfrm>
            <a:off x="6007101" y="3968750"/>
            <a:ext cx="2022475" cy="1588"/>
          </a:xfrm>
          <a:prstGeom prst="line">
            <a:avLst/>
          </a:prstGeom>
          <a:noFill/>
          <a:ln w="19050">
            <a:solidFill>
              <a:srgbClr val="000000"/>
            </a:solidFill>
            <a:round/>
            <a:headEnd/>
            <a:tailEnd/>
          </a:ln>
        </p:spPr>
        <p:txBody>
          <a:bodyPr/>
          <a:lstStyle/>
          <a:p>
            <a:endParaRPr lang="en-US"/>
          </a:p>
        </p:txBody>
      </p:sp>
      <p:sp>
        <p:nvSpPr>
          <p:cNvPr id="142346" name="Freeform 10"/>
          <p:cNvSpPr>
            <a:spLocks/>
          </p:cNvSpPr>
          <p:nvPr/>
        </p:nvSpPr>
        <p:spPr bwMode="auto">
          <a:xfrm>
            <a:off x="8029576" y="3856039"/>
            <a:ext cx="207963" cy="225425"/>
          </a:xfrm>
          <a:custGeom>
            <a:avLst/>
            <a:gdLst/>
            <a:ahLst/>
            <a:cxnLst>
              <a:cxn ang="0">
                <a:pos x="0" y="71"/>
              </a:cxn>
              <a:cxn ang="0">
                <a:pos x="131" y="0"/>
              </a:cxn>
              <a:cxn ang="0">
                <a:pos x="131" y="142"/>
              </a:cxn>
              <a:cxn ang="0">
                <a:pos x="0" y="71"/>
              </a:cxn>
            </a:cxnLst>
            <a:rect l="0" t="0" r="r" b="b"/>
            <a:pathLst>
              <a:path w="131" h="142">
                <a:moveTo>
                  <a:pt x="0" y="71"/>
                </a:moveTo>
                <a:lnTo>
                  <a:pt x="131" y="0"/>
                </a:lnTo>
                <a:lnTo>
                  <a:pt x="131" y="142"/>
                </a:lnTo>
                <a:lnTo>
                  <a:pt x="0" y="71"/>
                </a:lnTo>
                <a:close/>
              </a:path>
            </a:pathLst>
          </a:custGeom>
          <a:solidFill>
            <a:srgbClr val="FFFFFF"/>
          </a:solidFill>
          <a:ln w="19050">
            <a:solidFill>
              <a:srgbClr val="FF0000"/>
            </a:solidFill>
            <a:prstDash val="solid"/>
            <a:round/>
            <a:headEnd/>
            <a:tailEnd/>
          </a:ln>
        </p:spPr>
        <p:txBody>
          <a:bodyPr/>
          <a:lstStyle/>
          <a:p>
            <a:endParaRPr lang="en-US"/>
          </a:p>
        </p:txBody>
      </p:sp>
      <p:sp>
        <p:nvSpPr>
          <p:cNvPr id="142347" name="Rectangle 11"/>
          <p:cNvSpPr>
            <a:spLocks noChangeArrowheads="1"/>
          </p:cNvSpPr>
          <p:nvPr/>
        </p:nvSpPr>
        <p:spPr bwMode="auto">
          <a:xfrm>
            <a:off x="6007101" y="3571876"/>
            <a:ext cx="1434495" cy="384721"/>
          </a:xfrm>
          <a:prstGeom prst="rect">
            <a:avLst/>
          </a:prstGeom>
          <a:noFill/>
          <a:ln w="9525">
            <a:noFill/>
            <a:miter lim="800000"/>
            <a:headEnd/>
            <a:tailEnd/>
          </a:ln>
        </p:spPr>
        <p:txBody>
          <a:bodyPr wrap="none" lIns="0" tIns="0" rIns="0" bIns="0">
            <a:spAutoFit/>
          </a:bodyPr>
          <a:lstStyle/>
          <a:p>
            <a:r>
              <a:rPr lang="en-US" sz="2500">
                <a:solidFill>
                  <a:srgbClr val="000000"/>
                </a:solidFill>
              </a:rPr>
              <a:t>No Lawsuit</a:t>
            </a:r>
            <a:endParaRPr lang="en-US"/>
          </a:p>
        </p:txBody>
      </p:sp>
      <p:sp>
        <p:nvSpPr>
          <p:cNvPr id="142348" name="Rectangle 12"/>
          <p:cNvSpPr>
            <a:spLocks noChangeArrowheads="1"/>
          </p:cNvSpPr>
          <p:nvPr/>
        </p:nvSpPr>
        <p:spPr bwMode="auto">
          <a:xfrm>
            <a:off x="6934200" y="4044951"/>
            <a:ext cx="160300" cy="384721"/>
          </a:xfrm>
          <a:prstGeom prst="rect">
            <a:avLst/>
          </a:prstGeom>
          <a:noFill/>
          <a:ln w="9525">
            <a:noFill/>
            <a:miter lim="800000"/>
            <a:headEnd/>
            <a:tailEnd/>
          </a:ln>
        </p:spPr>
        <p:txBody>
          <a:bodyPr wrap="none" lIns="0" tIns="0" rIns="0" bIns="0">
            <a:spAutoFit/>
          </a:bodyPr>
          <a:lstStyle/>
          <a:p>
            <a:r>
              <a:rPr lang="en-US" sz="2500">
                <a:solidFill>
                  <a:srgbClr val="000000"/>
                </a:solidFill>
              </a:rPr>
              <a:t>#</a:t>
            </a:r>
            <a:endParaRPr lang="en-US"/>
          </a:p>
        </p:txBody>
      </p:sp>
      <p:sp>
        <p:nvSpPr>
          <p:cNvPr id="142349" name="Rectangle 13"/>
          <p:cNvSpPr>
            <a:spLocks noChangeArrowheads="1"/>
          </p:cNvSpPr>
          <p:nvPr/>
        </p:nvSpPr>
        <p:spPr bwMode="auto">
          <a:xfrm>
            <a:off x="8408988" y="3798888"/>
            <a:ext cx="1116012" cy="381000"/>
          </a:xfrm>
          <a:prstGeom prst="rect">
            <a:avLst/>
          </a:prstGeom>
          <a:noFill/>
          <a:ln w="9525">
            <a:noFill/>
            <a:miter lim="800000"/>
            <a:headEnd/>
            <a:tailEnd/>
          </a:ln>
        </p:spPr>
        <p:txBody>
          <a:bodyPr wrap="square" lIns="0" tIns="0" rIns="0" bIns="0">
            <a:spAutoFit/>
          </a:bodyPr>
          <a:lstStyle/>
          <a:p>
            <a:r>
              <a:rPr lang="en-US" sz="2500" dirty="0" err="1">
                <a:solidFill>
                  <a:srgbClr val="000000"/>
                </a:solidFill>
              </a:rPr>
              <a:t>cPrev</a:t>
            </a:r>
            <a:endParaRPr lang="en-US" dirty="0"/>
          </a:p>
        </p:txBody>
      </p:sp>
      <p:sp>
        <p:nvSpPr>
          <p:cNvPr id="142350" name="Line 14"/>
          <p:cNvSpPr>
            <a:spLocks noChangeShapeType="1"/>
          </p:cNvSpPr>
          <p:nvPr/>
        </p:nvSpPr>
        <p:spPr bwMode="auto">
          <a:xfrm flipV="1">
            <a:off x="5572126" y="3117851"/>
            <a:ext cx="434975" cy="434975"/>
          </a:xfrm>
          <a:prstGeom prst="line">
            <a:avLst/>
          </a:prstGeom>
          <a:noFill/>
          <a:ln w="19050">
            <a:solidFill>
              <a:srgbClr val="000000"/>
            </a:solidFill>
            <a:round/>
            <a:headEnd/>
            <a:tailEnd/>
          </a:ln>
        </p:spPr>
        <p:txBody>
          <a:bodyPr/>
          <a:lstStyle/>
          <a:p>
            <a:endParaRPr lang="en-US"/>
          </a:p>
        </p:txBody>
      </p:sp>
      <p:sp>
        <p:nvSpPr>
          <p:cNvPr id="142351" name="Line 15"/>
          <p:cNvSpPr>
            <a:spLocks noChangeShapeType="1"/>
          </p:cNvSpPr>
          <p:nvPr/>
        </p:nvSpPr>
        <p:spPr bwMode="auto">
          <a:xfrm>
            <a:off x="5572126" y="3552826"/>
            <a:ext cx="434975" cy="415925"/>
          </a:xfrm>
          <a:prstGeom prst="line">
            <a:avLst/>
          </a:prstGeom>
          <a:noFill/>
          <a:ln w="19050">
            <a:solidFill>
              <a:srgbClr val="000000"/>
            </a:solidFill>
            <a:round/>
            <a:headEnd/>
            <a:tailEnd/>
          </a:ln>
        </p:spPr>
        <p:txBody>
          <a:bodyPr/>
          <a:lstStyle/>
          <a:p>
            <a:endParaRPr lang="en-US"/>
          </a:p>
        </p:txBody>
      </p:sp>
      <p:sp>
        <p:nvSpPr>
          <p:cNvPr id="142352" name="Line 16"/>
          <p:cNvSpPr>
            <a:spLocks noChangeShapeType="1"/>
          </p:cNvSpPr>
          <p:nvPr/>
        </p:nvSpPr>
        <p:spPr bwMode="auto">
          <a:xfrm>
            <a:off x="4097339" y="3552825"/>
            <a:ext cx="1247775" cy="1588"/>
          </a:xfrm>
          <a:prstGeom prst="line">
            <a:avLst/>
          </a:prstGeom>
          <a:noFill/>
          <a:ln w="19050">
            <a:solidFill>
              <a:srgbClr val="000000"/>
            </a:solidFill>
            <a:round/>
            <a:headEnd/>
            <a:tailEnd/>
          </a:ln>
        </p:spPr>
        <p:txBody>
          <a:bodyPr/>
          <a:lstStyle/>
          <a:p>
            <a:endParaRPr lang="en-US"/>
          </a:p>
        </p:txBody>
      </p:sp>
      <p:sp>
        <p:nvSpPr>
          <p:cNvPr id="142353" name="Oval 17"/>
          <p:cNvSpPr>
            <a:spLocks noChangeArrowheads="1"/>
          </p:cNvSpPr>
          <p:nvPr/>
        </p:nvSpPr>
        <p:spPr bwMode="auto">
          <a:xfrm>
            <a:off x="5345113" y="3440114"/>
            <a:ext cx="207962" cy="225425"/>
          </a:xfrm>
          <a:prstGeom prst="ellipse">
            <a:avLst/>
          </a:prstGeom>
          <a:solidFill>
            <a:srgbClr val="FFFFFF"/>
          </a:solidFill>
          <a:ln w="19050">
            <a:solidFill>
              <a:srgbClr val="008000"/>
            </a:solidFill>
            <a:round/>
            <a:headEnd/>
            <a:tailEnd/>
          </a:ln>
        </p:spPr>
        <p:txBody>
          <a:bodyPr/>
          <a:lstStyle/>
          <a:p>
            <a:endParaRPr lang="en-US"/>
          </a:p>
        </p:txBody>
      </p:sp>
      <p:sp>
        <p:nvSpPr>
          <p:cNvPr id="142354" name="Rectangle 18"/>
          <p:cNvSpPr>
            <a:spLocks noChangeArrowheads="1"/>
          </p:cNvSpPr>
          <p:nvPr/>
        </p:nvSpPr>
        <p:spPr bwMode="auto">
          <a:xfrm>
            <a:off x="4154785" y="2438400"/>
            <a:ext cx="923330" cy="1154162"/>
          </a:xfrm>
          <a:prstGeom prst="rect">
            <a:avLst/>
          </a:prstGeom>
          <a:noFill/>
          <a:ln w="9525">
            <a:noFill/>
            <a:miter lim="800000"/>
            <a:headEnd/>
            <a:tailEnd/>
          </a:ln>
        </p:spPr>
        <p:txBody>
          <a:bodyPr wrap="none" lIns="0" tIns="0" rIns="0" bIns="0">
            <a:spAutoFit/>
          </a:bodyPr>
          <a:lstStyle/>
          <a:p>
            <a:pPr algn="ctr"/>
            <a:r>
              <a:rPr lang="en-US" sz="2500">
                <a:solidFill>
                  <a:srgbClr val="000000"/>
                </a:solidFill>
              </a:rPr>
              <a:t>No Bill,</a:t>
            </a:r>
          </a:p>
          <a:p>
            <a:pPr algn="ctr"/>
            <a:r>
              <a:rPr lang="en-US" sz="2500">
                <a:solidFill>
                  <a:srgbClr val="000000"/>
                </a:solidFill>
              </a:rPr>
              <a:t>Assign</a:t>
            </a:r>
          </a:p>
          <a:p>
            <a:pPr algn="ctr"/>
            <a:r>
              <a:rPr lang="en-US" sz="2500">
                <a:solidFill>
                  <a:srgbClr val="000000"/>
                </a:solidFill>
              </a:rPr>
              <a:t>Nurse</a:t>
            </a:r>
            <a:endParaRPr lang="en-US"/>
          </a:p>
        </p:txBody>
      </p:sp>
      <p:sp>
        <p:nvSpPr>
          <p:cNvPr id="142355" name="Line 19"/>
          <p:cNvSpPr>
            <a:spLocks noChangeShapeType="1"/>
          </p:cNvSpPr>
          <p:nvPr/>
        </p:nvSpPr>
        <p:spPr bwMode="auto">
          <a:xfrm>
            <a:off x="6007101" y="4800600"/>
            <a:ext cx="2022475" cy="1588"/>
          </a:xfrm>
          <a:prstGeom prst="line">
            <a:avLst/>
          </a:prstGeom>
          <a:noFill/>
          <a:ln w="19050">
            <a:solidFill>
              <a:srgbClr val="000000"/>
            </a:solidFill>
            <a:round/>
            <a:headEnd/>
            <a:tailEnd/>
          </a:ln>
        </p:spPr>
        <p:txBody>
          <a:bodyPr/>
          <a:lstStyle/>
          <a:p>
            <a:endParaRPr lang="en-US"/>
          </a:p>
        </p:txBody>
      </p:sp>
      <p:sp>
        <p:nvSpPr>
          <p:cNvPr id="142356" name="Freeform 20"/>
          <p:cNvSpPr>
            <a:spLocks/>
          </p:cNvSpPr>
          <p:nvPr/>
        </p:nvSpPr>
        <p:spPr bwMode="auto">
          <a:xfrm>
            <a:off x="8029576" y="4687888"/>
            <a:ext cx="207963" cy="227012"/>
          </a:xfrm>
          <a:custGeom>
            <a:avLst/>
            <a:gdLst/>
            <a:ahLst/>
            <a:cxnLst>
              <a:cxn ang="0">
                <a:pos x="0" y="71"/>
              </a:cxn>
              <a:cxn ang="0">
                <a:pos x="131" y="0"/>
              </a:cxn>
              <a:cxn ang="0">
                <a:pos x="131" y="143"/>
              </a:cxn>
              <a:cxn ang="0">
                <a:pos x="0" y="71"/>
              </a:cxn>
            </a:cxnLst>
            <a:rect l="0" t="0" r="r" b="b"/>
            <a:pathLst>
              <a:path w="131" h="143">
                <a:moveTo>
                  <a:pt x="0" y="71"/>
                </a:moveTo>
                <a:lnTo>
                  <a:pt x="131" y="0"/>
                </a:lnTo>
                <a:lnTo>
                  <a:pt x="131" y="143"/>
                </a:lnTo>
                <a:lnTo>
                  <a:pt x="0" y="71"/>
                </a:lnTo>
                <a:close/>
              </a:path>
            </a:pathLst>
          </a:custGeom>
          <a:solidFill>
            <a:srgbClr val="FFFFFF"/>
          </a:solidFill>
          <a:ln w="19050">
            <a:solidFill>
              <a:srgbClr val="FF0000"/>
            </a:solidFill>
            <a:prstDash val="solid"/>
            <a:round/>
            <a:headEnd/>
            <a:tailEnd/>
          </a:ln>
        </p:spPr>
        <p:txBody>
          <a:bodyPr/>
          <a:lstStyle/>
          <a:p>
            <a:endParaRPr lang="en-US"/>
          </a:p>
        </p:txBody>
      </p:sp>
      <p:sp>
        <p:nvSpPr>
          <p:cNvPr id="142357" name="Rectangle 21"/>
          <p:cNvSpPr>
            <a:spLocks noChangeArrowheads="1"/>
          </p:cNvSpPr>
          <p:nvPr/>
        </p:nvSpPr>
        <p:spPr bwMode="auto">
          <a:xfrm>
            <a:off x="6007100" y="4403726"/>
            <a:ext cx="987258" cy="384721"/>
          </a:xfrm>
          <a:prstGeom prst="rect">
            <a:avLst/>
          </a:prstGeom>
          <a:noFill/>
          <a:ln w="9525">
            <a:noFill/>
            <a:miter lim="800000"/>
            <a:headEnd/>
            <a:tailEnd/>
          </a:ln>
        </p:spPr>
        <p:txBody>
          <a:bodyPr wrap="none" lIns="0" tIns="0" rIns="0" bIns="0">
            <a:spAutoFit/>
          </a:bodyPr>
          <a:lstStyle/>
          <a:p>
            <a:r>
              <a:rPr lang="en-US" sz="2500">
                <a:solidFill>
                  <a:srgbClr val="000000"/>
                </a:solidFill>
              </a:rPr>
              <a:t>Lawsuit</a:t>
            </a:r>
            <a:endParaRPr lang="en-US"/>
          </a:p>
        </p:txBody>
      </p:sp>
      <p:sp>
        <p:nvSpPr>
          <p:cNvPr id="142358" name="Rectangle 22"/>
          <p:cNvSpPr>
            <a:spLocks noChangeArrowheads="1"/>
          </p:cNvSpPr>
          <p:nvPr/>
        </p:nvSpPr>
        <p:spPr bwMode="auto">
          <a:xfrm>
            <a:off x="6650038" y="4876801"/>
            <a:ext cx="827150" cy="384721"/>
          </a:xfrm>
          <a:prstGeom prst="rect">
            <a:avLst/>
          </a:prstGeom>
          <a:noFill/>
          <a:ln w="9525">
            <a:noFill/>
            <a:miter lim="800000"/>
            <a:headEnd/>
            <a:tailEnd/>
          </a:ln>
        </p:spPr>
        <p:txBody>
          <a:bodyPr wrap="none" lIns="0" tIns="0" rIns="0" bIns="0">
            <a:spAutoFit/>
          </a:bodyPr>
          <a:lstStyle/>
          <a:p>
            <a:r>
              <a:rPr lang="en-US" sz="2500">
                <a:solidFill>
                  <a:srgbClr val="000000"/>
                </a:solidFill>
              </a:rPr>
              <a:t>pSuit2</a:t>
            </a:r>
            <a:endParaRPr lang="en-US"/>
          </a:p>
        </p:txBody>
      </p:sp>
      <p:sp>
        <p:nvSpPr>
          <p:cNvPr id="142359" name="Rectangle 23"/>
          <p:cNvSpPr>
            <a:spLocks noChangeArrowheads="1"/>
          </p:cNvSpPr>
          <p:nvPr/>
        </p:nvSpPr>
        <p:spPr bwMode="auto">
          <a:xfrm>
            <a:off x="8408988" y="4630738"/>
            <a:ext cx="811212" cy="381000"/>
          </a:xfrm>
          <a:prstGeom prst="rect">
            <a:avLst/>
          </a:prstGeom>
          <a:noFill/>
          <a:ln w="9525">
            <a:noFill/>
            <a:miter lim="800000"/>
            <a:headEnd/>
            <a:tailEnd/>
          </a:ln>
        </p:spPr>
        <p:txBody>
          <a:bodyPr lIns="0" tIns="0" rIns="0" bIns="0">
            <a:spAutoFit/>
          </a:bodyPr>
          <a:lstStyle/>
          <a:p>
            <a:r>
              <a:rPr lang="en-US" sz="2500">
                <a:solidFill>
                  <a:srgbClr val="000000"/>
                </a:solidFill>
              </a:rPr>
              <a:t>cSuit</a:t>
            </a:r>
            <a:endParaRPr lang="en-US"/>
          </a:p>
        </p:txBody>
      </p:sp>
      <p:sp>
        <p:nvSpPr>
          <p:cNvPr id="142360" name="Line 24"/>
          <p:cNvSpPr>
            <a:spLocks noChangeShapeType="1"/>
          </p:cNvSpPr>
          <p:nvPr/>
        </p:nvSpPr>
        <p:spPr bwMode="auto">
          <a:xfrm>
            <a:off x="6007101" y="5651500"/>
            <a:ext cx="2022475" cy="1588"/>
          </a:xfrm>
          <a:prstGeom prst="line">
            <a:avLst/>
          </a:prstGeom>
          <a:noFill/>
          <a:ln w="19050">
            <a:solidFill>
              <a:srgbClr val="000000"/>
            </a:solidFill>
            <a:round/>
            <a:headEnd/>
            <a:tailEnd/>
          </a:ln>
        </p:spPr>
        <p:txBody>
          <a:bodyPr/>
          <a:lstStyle/>
          <a:p>
            <a:endParaRPr lang="en-US"/>
          </a:p>
        </p:txBody>
      </p:sp>
      <p:sp>
        <p:nvSpPr>
          <p:cNvPr id="142361" name="Freeform 25"/>
          <p:cNvSpPr>
            <a:spLocks/>
          </p:cNvSpPr>
          <p:nvPr/>
        </p:nvSpPr>
        <p:spPr bwMode="auto">
          <a:xfrm>
            <a:off x="8029576" y="5538789"/>
            <a:ext cx="207963" cy="225425"/>
          </a:xfrm>
          <a:custGeom>
            <a:avLst/>
            <a:gdLst/>
            <a:ahLst/>
            <a:cxnLst>
              <a:cxn ang="0">
                <a:pos x="0" y="71"/>
              </a:cxn>
              <a:cxn ang="0">
                <a:pos x="131" y="0"/>
              </a:cxn>
              <a:cxn ang="0">
                <a:pos x="131" y="142"/>
              </a:cxn>
              <a:cxn ang="0">
                <a:pos x="0" y="71"/>
              </a:cxn>
            </a:cxnLst>
            <a:rect l="0" t="0" r="r" b="b"/>
            <a:pathLst>
              <a:path w="131" h="142">
                <a:moveTo>
                  <a:pt x="0" y="71"/>
                </a:moveTo>
                <a:lnTo>
                  <a:pt x="131" y="0"/>
                </a:lnTo>
                <a:lnTo>
                  <a:pt x="131" y="142"/>
                </a:lnTo>
                <a:lnTo>
                  <a:pt x="0" y="71"/>
                </a:lnTo>
                <a:close/>
              </a:path>
            </a:pathLst>
          </a:custGeom>
          <a:solidFill>
            <a:srgbClr val="FFFFFF"/>
          </a:solidFill>
          <a:ln w="19050">
            <a:solidFill>
              <a:srgbClr val="FF0000"/>
            </a:solidFill>
            <a:prstDash val="solid"/>
            <a:round/>
            <a:headEnd/>
            <a:tailEnd/>
          </a:ln>
        </p:spPr>
        <p:txBody>
          <a:bodyPr/>
          <a:lstStyle/>
          <a:p>
            <a:endParaRPr lang="en-US"/>
          </a:p>
        </p:txBody>
      </p:sp>
      <p:sp>
        <p:nvSpPr>
          <p:cNvPr id="142362" name="Rectangle 26"/>
          <p:cNvSpPr>
            <a:spLocks noChangeArrowheads="1"/>
          </p:cNvSpPr>
          <p:nvPr/>
        </p:nvSpPr>
        <p:spPr bwMode="auto">
          <a:xfrm>
            <a:off x="6007101" y="5254626"/>
            <a:ext cx="1434495" cy="384721"/>
          </a:xfrm>
          <a:prstGeom prst="rect">
            <a:avLst/>
          </a:prstGeom>
          <a:noFill/>
          <a:ln w="9525">
            <a:noFill/>
            <a:miter lim="800000"/>
            <a:headEnd/>
            <a:tailEnd/>
          </a:ln>
        </p:spPr>
        <p:txBody>
          <a:bodyPr wrap="none" lIns="0" tIns="0" rIns="0" bIns="0">
            <a:spAutoFit/>
          </a:bodyPr>
          <a:lstStyle/>
          <a:p>
            <a:r>
              <a:rPr lang="en-US" sz="2500">
                <a:solidFill>
                  <a:srgbClr val="000000"/>
                </a:solidFill>
              </a:rPr>
              <a:t>No Lawsuit</a:t>
            </a:r>
            <a:endParaRPr lang="en-US"/>
          </a:p>
        </p:txBody>
      </p:sp>
      <p:sp>
        <p:nvSpPr>
          <p:cNvPr id="142363" name="Rectangle 27"/>
          <p:cNvSpPr>
            <a:spLocks noChangeArrowheads="1"/>
          </p:cNvSpPr>
          <p:nvPr/>
        </p:nvSpPr>
        <p:spPr bwMode="auto">
          <a:xfrm>
            <a:off x="6934200" y="5727701"/>
            <a:ext cx="160300" cy="384721"/>
          </a:xfrm>
          <a:prstGeom prst="rect">
            <a:avLst/>
          </a:prstGeom>
          <a:noFill/>
          <a:ln w="9525">
            <a:noFill/>
            <a:miter lim="800000"/>
            <a:headEnd/>
            <a:tailEnd/>
          </a:ln>
        </p:spPr>
        <p:txBody>
          <a:bodyPr wrap="none" lIns="0" tIns="0" rIns="0" bIns="0">
            <a:spAutoFit/>
          </a:bodyPr>
          <a:lstStyle/>
          <a:p>
            <a:r>
              <a:rPr lang="en-US" sz="2500">
                <a:solidFill>
                  <a:srgbClr val="000000"/>
                </a:solidFill>
              </a:rPr>
              <a:t>#</a:t>
            </a:r>
            <a:endParaRPr lang="en-US"/>
          </a:p>
        </p:txBody>
      </p:sp>
      <p:sp>
        <p:nvSpPr>
          <p:cNvPr id="142364" name="Rectangle 28"/>
          <p:cNvSpPr>
            <a:spLocks noChangeArrowheads="1"/>
          </p:cNvSpPr>
          <p:nvPr/>
        </p:nvSpPr>
        <p:spPr bwMode="auto">
          <a:xfrm>
            <a:off x="8408988" y="5481638"/>
            <a:ext cx="963612" cy="381000"/>
          </a:xfrm>
          <a:prstGeom prst="rect">
            <a:avLst/>
          </a:prstGeom>
          <a:noFill/>
          <a:ln w="9525">
            <a:noFill/>
            <a:miter lim="800000"/>
            <a:headEnd/>
            <a:tailEnd/>
          </a:ln>
        </p:spPr>
        <p:txBody>
          <a:bodyPr lIns="0" tIns="0" rIns="0" bIns="0">
            <a:spAutoFit/>
          </a:bodyPr>
          <a:lstStyle/>
          <a:p>
            <a:r>
              <a:rPr lang="en-US" sz="2500">
                <a:solidFill>
                  <a:srgbClr val="000000"/>
                </a:solidFill>
              </a:rPr>
              <a:t>$0</a:t>
            </a:r>
            <a:endParaRPr lang="en-US"/>
          </a:p>
        </p:txBody>
      </p:sp>
      <p:sp>
        <p:nvSpPr>
          <p:cNvPr id="142365" name="Line 29"/>
          <p:cNvSpPr>
            <a:spLocks noChangeShapeType="1"/>
          </p:cNvSpPr>
          <p:nvPr/>
        </p:nvSpPr>
        <p:spPr bwMode="auto">
          <a:xfrm flipV="1">
            <a:off x="5572126" y="4800601"/>
            <a:ext cx="434975" cy="434975"/>
          </a:xfrm>
          <a:prstGeom prst="line">
            <a:avLst/>
          </a:prstGeom>
          <a:noFill/>
          <a:ln w="19050">
            <a:solidFill>
              <a:srgbClr val="000000"/>
            </a:solidFill>
            <a:round/>
            <a:headEnd/>
            <a:tailEnd/>
          </a:ln>
        </p:spPr>
        <p:txBody>
          <a:bodyPr/>
          <a:lstStyle/>
          <a:p>
            <a:endParaRPr lang="en-US"/>
          </a:p>
        </p:txBody>
      </p:sp>
      <p:sp>
        <p:nvSpPr>
          <p:cNvPr id="142366" name="Line 30"/>
          <p:cNvSpPr>
            <a:spLocks noChangeShapeType="1"/>
          </p:cNvSpPr>
          <p:nvPr/>
        </p:nvSpPr>
        <p:spPr bwMode="auto">
          <a:xfrm>
            <a:off x="5572126" y="5235576"/>
            <a:ext cx="434975" cy="415925"/>
          </a:xfrm>
          <a:prstGeom prst="line">
            <a:avLst/>
          </a:prstGeom>
          <a:noFill/>
          <a:ln w="19050">
            <a:solidFill>
              <a:srgbClr val="000000"/>
            </a:solidFill>
            <a:round/>
            <a:headEnd/>
            <a:tailEnd/>
          </a:ln>
        </p:spPr>
        <p:txBody>
          <a:bodyPr/>
          <a:lstStyle/>
          <a:p>
            <a:endParaRPr lang="en-US"/>
          </a:p>
        </p:txBody>
      </p:sp>
      <p:sp>
        <p:nvSpPr>
          <p:cNvPr id="142367" name="Line 31"/>
          <p:cNvSpPr>
            <a:spLocks noChangeShapeType="1"/>
          </p:cNvSpPr>
          <p:nvPr/>
        </p:nvSpPr>
        <p:spPr bwMode="auto">
          <a:xfrm>
            <a:off x="4097339" y="5235575"/>
            <a:ext cx="1247775" cy="1588"/>
          </a:xfrm>
          <a:prstGeom prst="line">
            <a:avLst/>
          </a:prstGeom>
          <a:noFill/>
          <a:ln w="19050">
            <a:solidFill>
              <a:srgbClr val="000000"/>
            </a:solidFill>
            <a:round/>
            <a:headEnd/>
            <a:tailEnd/>
          </a:ln>
        </p:spPr>
        <p:txBody>
          <a:bodyPr/>
          <a:lstStyle/>
          <a:p>
            <a:endParaRPr lang="en-US"/>
          </a:p>
        </p:txBody>
      </p:sp>
      <p:sp>
        <p:nvSpPr>
          <p:cNvPr id="142368" name="Oval 32"/>
          <p:cNvSpPr>
            <a:spLocks noChangeArrowheads="1"/>
          </p:cNvSpPr>
          <p:nvPr/>
        </p:nvSpPr>
        <p:spPr bwMode="auto">
          <a:xfrm>
            <a:off x="5345113" y="5122864"/>
            <a:ext cx="207962" cy="225425"/>
          </a:xfrm>
          <a:prstGeom prst="ellipse">
            <a:avLst/>
          </a:prstGeom>
          <a:solidFill>
            <a:srgbClr val="FFFFFF"/>
          </a:solidFill>
          <a:ln w="19050">
            <a:solidFill>
              <a:srgbClr val="008000"/>
            </a:solidFill>
            <a:round/>
            <a:headEnd/>
            <a:tailEnd/>
          </a:ln>
        </p:spPr>
        <p:txBody>
          <a:bodyPr/>
          <a:lstStyle/>
          <a:p>
            <a:endParaRPr lang="en-US"/>
          </a:p>
        </p:txBody>
      </p:sp>
      <p:sp>
        <p:nvSpPr>
          <p:cNvPr id="142369" name="Rectangle 33"/>
          <p:cNvSpPr>
            <a:spLocks noChangeArrowheads="1"/>
          </p:cNvSpPr>
          <p:nvPr/>
        </p:nvSpPr>
        <p:spPr bwMode="auto">
          <a:xfrm>
            <a:off x="4139123" y="4495801"/>
            <a:ext cx="1043555" cy="769441"/>
          </a:xfrm>
          <a:prstGeom prst="rect">
            <a:avLst/>
          </a:prstGeom>
          <a:noFill/>
          <a:ln w="9525">
            <a:noFill/>
            <a:miter lim="800000"/>
            <a:headEnd/>
            <a:tailEnd/>
          </a:ln>
        </p:spPr>
        <p:txBody>
          <a:bodyPr wrap="none" lIns="0" tIns="0" rIns="0" bIns="0">
            <a:spAutoFit/>
          </a:bodyPr>
          <a:lstStyle/>
          <a:p>
            <a:pPr algn="ctr"/>
            <a:r>
              <a:rPr lang="en-US" sz="2500">
                <a:solidFill>
                  <a:srgbClr val="000000"/>
                </a:solidFill>
              </a:rPr>
              <a:t>Do</a:t>
            </a:r>
          </a:p>
          <a:p>
            <a:pPr algn="ctr"/>
            <a:r>
              <a:rPr lang="en-US" sz="2500">
                <a:solidFill>
                  <a:srgbClr val="000000"/>
                </a:solidFill>
              </a:rPr>
              <a:t>Nothing</a:t>
            </a:r>
            <a:endParaRPr lang="en-US"/>
          </a:p>
        </p:txBody>
      </p:sp>
      <p:sp>
        <p:nvSpPr>
          <p:cNvPr id="142370" name="Line 34"/>
          <p:cNvSpPr>
            <a:spLocks noChangeShapeType="1"/>
          </p:cNvSpPr>
          <p:nvPr/>
        </p:nvSpPr>
        <p:spPr bwMode="auto">
          <a:xfrm flipV="1">
            <a:off x="3662364" y="3552825"/>
            <a:ext cx="434975" cy="831850"/>
          </a:xfrm>
          <a:prstGeom prst="line">
            <a:avLst/>
          </a:prstGeom>
          <a:noFill/>
          <a:ln w="19050">
            <a:solidFill>
              <a:srgbClr val="000000"/>
            </a:solidFill>
            <a:round/>
            <a:headEnd/>
            <a:tailEnd/>
          </a:ln>
        </p:spPr>
        <p:txBody>
          <a:bodyPr/>
          <a:lstStyle/>
          <a:p>
            <a:endParaRPr lang="en-US"/>
          </a:p>
        </p:txBody>
      </p:sp>
      <p:sp>
        <p:nvSpPr>
          <p:cNvPr id="142371" name="Line 35"/>
          <p:cNvSpPr>
            <a:spLocks noChangeShapeType="1"/>
          </p:cNvSpPr>
          <p:nvPr/>
        </p:nvSpPr>
        <p:spPr bwMode="auto">
          <a:xfrm>
            <a:off x="3662364" y="4384675"/>
            <a:ext cx="434975" cy="850900"/>
          </a:xfrm>
          <a:prstGeom prst="line">
            <a:avLst/>
          </a:prstGeom>
          <a:noFill/>
          <a:ln w="19050">
            <a:solidFill>
              <a:srgbClr val="000000"/>
            </a:solidFill>
            <a:round/>
            <a:headEnd/>
            <a:tailEnd/>
          </a:ln>
        </p:spPr>
        <p:txBody>
          <a:bodyPr/>
          <a:lstStyle/>
          <a:p>
            <a:endParaRPr lang="en-US"/>
          </a:p>
        </p:txBody>
      </p:sp>
      <p:sp>
        <p:nvSpPr>
          <p:cNvPr id="142372" name="Line 36"/>
          <p:cNvSpPr>
            <a:spLocks noChangeShapeType="1"/>
          </p:cNvSpPr>
          <p:nvPr/>
        </p:nvSpPr>
        <p:spPr bwMode="auto">
          <a:xfrm>
            <a:off x="2206626" y="4384675"/>
            <a:ext cx="1228725" cy="1588"/>
          </a:xfrm>
          <a:prstGeom prst="line">
            <a:avLst/>
          </a:prstGeom>
          <a:noFill/>
          <a:ln w="19050">
            <a:solidFill>
              <a:srgbClr val="000000"/>
            </a:solidFill>
            <a:round/>
            <a:headEnd/>
            <a:tailEnd/>
          </a:ln>
        </p:spPr>
        <p:txBody>
          <a:bodyPr/>
          <a:lstStyle/>
          <a:p>
            <a:endParaRPr lang="en-US"/>
          </a:p>
        </p:txBody>
      </p:sp>
      <p:sp>
        <p:nvSpPr>
          <p:cNvPr id="142373" name="Rectangle 37"/>
          <p:cNvSpPr>
            <a:spLocks noChangeArrowheads="1"/>
          </p:cNvSpPr>
          <p:nvPr/>
        </p:nvSpPr>
        <p:spPr bwMode="auto">
          <a:xfrm>
            <a:off x="3435351" y="4271963"/>
            <a:ext cx="207963" cy="227012"/>
          </a:xfrm>
          <a:prstGeom prst="rect">
            <a:avLst/>
          </a:prstGeom>
          <a:solidFill>
            <a:srgbClr val="FFFFFF"/>
          </a:solidFill>
          <a:ln w="19050">
            <a:solidFill>
              <a:srgbClr val="0000FF"/>
            </a:solidFill>
            <a:miter lim="800000"/>
            <a:headEnd/>
            <a:tailEnd/>
          </a:ln>
        </p:spPr>
        <p:txBody>
          <a:bodyPr/>
          <a:lstStyle/>
          <a:p>
            <a:endParaRPr lang="en-US"/>
          </a:p>
        </p:txBody>
      </p:sp>
      <p:sp>
        <p:nvSpPr>
          <p:cNvPr id="142374" name="Rectangle 38"/>
          <p:cNvSpPr>
            <a:spLocks noChangeArrowheads="1"/>
          </p:cNvSpPr>
          <p:nvPr/>
        </p:nvSpPr>
        <p:spPr bwMode="auto">
          <a:xfrm>
            <a:off x="2206625" y="3987801"/>
            <a:ext cx="961802" cy="384721"/>
          </a:xfrm>
          <a:prstGeom prst="rect">
            <a:avLst/>
          </a:prstGeom>
          <a:noFill/>
          <a:ln w="9525">
            <a:noFill/>
            <a:miter lim="800000"/>
            <a:headEnd/>
            <a:tailEnd/>
          </a:ln>
        </p:spPr>
        <p:txBody>
          <a:bodyPr wrap="none" lIns="0" tIns="0" rIns="0" bIns="0">
            <a:spAutoFit/>
          </a:bodyPr>
          <a:lstStyle/>
          <a:p>
            <a:r>
              <a:rPr lang="en-US" sz="2500">
                <a:solidFill>
                  <a:srgbClr val="000000"/>
                </a:solidFill>
              </a:rPr>
              <a:t>Choose</a:t>
            </a:r>
            <a:endParaRPr lang="en-US"/>
          </a:p>
        </p:txBody>
      </p:sp>
      <p:sp>
        <p:nvSpPr>
          <p:cNvPr id="142375" name="Text Box 39"/>
          <p:cNvSpPr txBox="1">
            <a:spLocks noChangeArrowheads="1"/>
          </p:cNvSpPr>
          <p:nvPr/>
        </p:nvSpPr>
        <p:spPr bwMode="auto">
          <a:xfrm>
            <a:off x="2438400" y="1219200"/>
            <a:ext cx="7315200" cy="1143000"/>
          </a:xfrm>
          <a:prstGeom prst="rect">
            <a:avLst/>
          </a:prstGeom>
          <a:noFill/>
          <a:ln w="9525">
            <a:noFill/>
            <a:miter lim="800000"/>
            <a:headEnd/>
            <a:tailEnd/>
          </a:ln>
          <a:effectLst/>
        </p:spPr>
        <p:txBody>
          <a:bodyPr/>
          <a:lstStyle/>
          <a:p>
            <a:pPr algn="ctr"/>
            <a:r>
              <a:rPr lang="en-US" sz="3200">
                <a:solidFill>
                  <a:srgbClr val="333399"/>
                </a:solidFill>
              </a:rPr>
              <a:t>Should preventive measures be taken in potential malpractice situation?</a:t>
            </a:r>
          </a:p>
        </p:txBody>
      </p:sp>
    </p:spTree>
    <p:extLst>
      <p:ext uri="{BB962C8B-B14F-4D97-AF65-F5344CB8AC3E}">
        <p14:creationId xmlns:p14="http://schemas.microsoft.com/office/powerpoint/2010/main" val="16797869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ChangeArrowheads="1"/>
          </p:cNvSpPr>
          <p:nvPr/>
        </p:nvSpPr>
        <p:spPr bwMode="auto">
          <a:xfrm>
            <a:off x="2209800" y="6248400"/>
            <a:ext cx="1905000" cy="457200"/>
          </a:xfrm>
          <a:prstGeom prst="rect">
            <a:avLst/>
          </a:prstGeom>
          <a:noFill/>
          <a:ln w="9525">
            <a:noFill/>
            <a:miter lim="800000"/>
            <a:headEnd/>
            <a:tailEnd/>
          </a:ln>
          <a:effectLst/>
        </p:spPr>
        <p:txBody>
          <a:bodyPr wrap="none" anchor="ctr"/>
          <a:lstStyle/>
          <a:p>
            <a:endParaRPr lang="en-US"/>
          </a:p>
        </p:txBody>
      </p:sp>
      <p:sp>
        <p:nvSpPr>
          <p:cNvPr id="34819" name="Rectangle 3"/>
          <p:cNvSpPr>
            <a:spLocks noChangeArrowheads="1"/>
          </p:cNvSpPr>
          <p:nvPr/>
        </p:nvSpPr>
        <p:spPr bwMode="auto">
          <a:xfrm>
            <a:off x="4648200" y="6248400"/>
            <a:ext cx="2895600" cy="457200"/>
          </a:xfrm>
          <a:prstGeom prst="rect">
            <a:avLst/>
          </a:prstGeom>
          <a:noFill/>
          <a:ln w="9525">
            <a:noFill/>
            <a:miter lim="800000"/>
            <a:headEnd/>
            <a:tailEnd/>
          </a:ln>
          <a:effectLst/>
        </p:spPr>
        <p:txBody>
          <a:bodyPr wrap="none" anchor="ctr"/>
          <a:lstStyle/>
          <a:p>
            <a:endParaRPr lang="en-US"/>
          </a:p>
        </p:txBody>
      </p:sp>
      <p:sp>
        <p:nvSpPr>
          <p:cNvPr id="34820" name="Rectangle 4"/>
          <p:cNvSpPr>
            <a:spLocks noGrp="1" noChangeArrowheads="1"/>
          </p:cNvSpPr>
          <p:nvPr>
            <p:ph type="title"/>
          </p:nvPr>
        </p:nvSpPr>
        <p:spPr>
          <a:xfrm>
            <a:off x="1981200" y="533400"/>
            <a:ext cx="8229600" cy="990600"/>
          </a:xfrm>
          <a:ln/>
        </p:spPr>
        <p:txBody>
          <a:bodyPr vert="horz" lIns="92075" tIns="46038" rIns="92075" bIns="46038" rtlCol="0" anchor="ctr">
            <a:normAutofit/>
          </a:bodyPr>
          <a:lstStyle/>
          <a:p>
            <a:r>
              <a:rPr lang="en-US"/>
              <a:t> Elements of Complex Decisions</a:t>
            </a:r>
          </a:p>
        </p:txBody>
      </p:sp>
      <p:sp>
        <p:nvSpPr>
          <p:cNvPr id="34821" name="Rectangle 5"/>
          <p:cNvSpPr>
            <a:spLocks noGrp="1" noChangeArrowheads="1"/>
          </p:cNvSpPr>
          <p:nvPr>
            <p:ph type="body" idx="1"/>
          </p:nvPr>
        </p:nvSpPr>
        <p:spPr>
          <a:xfrm>
            <a:off x="1027043" y="1526233"/>
            <a:ext cx="10137913" cy="4495800"/>
          </a:xfrm>
          <a:noFill/>
          <a:ln/>
        </p:spPr>
        <p:txBody>
          <a:bodyPr vert="horz" lIns="92075" tIns="46038" rIns="92075" bIns="46038" rtlCol="0">
            <a:normAutofit/>
          </a:bodyPr>
          <a:lstStyle/>
          <a:p>
            <a:r>
              <a:rPr lang="en-US" dirty="0"/>
              <a:t>Competing options</a:t>
            </a:r>
          </a:p>
          <a:p>
            <a:r>
              <a:rPr lang="en-US" dirty="0"/>
              <a:t>Uncertainty</a:t>
            </a:r>
          </a:p>
          <a:p>
            <a:r>
              <a:rPr lang="en-US" dirty="0"/>
              <a:t>Risk</a:t>
            </a:r>
          </a:p>
          <a:p>
            <a:r>
              <a:rPr lang="en-US" dirty="0"/>
              <a:t>Multiple competing objectives</a:t>
            </a:r>
          </a:p>
          <a:p>
            <a:r>
              <a:rPr lang="en-US" dirty="0"/>
              <a:t>Unavoidable tradeoffs</a:t>
            </a:r>
          </a:p>
          <a:p>
            <a:r>
              <a:rPr lang="en-US" dirty="0"/>
              <a:t>Different perspectives may lead to different conclusions</a:t>
            </a:r>
          </a:p>
        </p:txBody>
      </p:sp>
      <p:sp>
        <p:nvSpPr>
          <p:cNvPr id="34822" name="Text Box 6"/>
          <p:cNvSpPr txBox="1">
            <a:spLocks noChangeArrowheads="1"/>
          </p:cNvSpPr>
          <p:nvPr/>
        </p:nvSpPr>
        <p:spPr bwMode="auto">
          <a:xfrm>
            <a:off x="1930401" y="5791201"/>
            <a:ext cx="184731" cy="461665"/>
          </a:xfrm>
          <a:prstGeom prst="rect">
            <a:avLst/>
          </a:prstGeom>
          <a:noFill/>
          <a:ln w="12700">
            <a:noFill/>
            <a:miter lim="800000"/>
            <a:headEnd/>
            <a:tailEnd/>
          </a:ln>
          <a:effectLst/>
        </p:spPr>
        <p:txBody>
          <a:bodyPr wrap="none">
            <a:spAutoFit/>
          </a:bodyPr>
          <a:lstStyle/>
          <a:p>
            <a:pPr eaLnBrk="0" hangingPunct="0"/>
            <a:endParaRPr lang="en-US" sz="2400">
              <a:latin typeface="Times New Roman" pitchFamily="18" charset="0"/>
            </a:endParaRPr>
          </a:p>
        </p:txBody>
      </p:sp>
    </p:spTree>
    <p:extLst>
      <p:ext uri="{BB962C8B-B14F-4D97-AF65-F5344CB8AC3E}">
        <p14:creationId xmlns:p14="http://schemas.microsoft.com/office/powerpoint/2010/main" val="1808018124"/>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2166938" y="304800"/>
            <a:ext cx="7772400" cy="1143000"/>
          </a:xfrm>
        </p:spPr>
        <p:txBody>
          <a:bodyPr/>
          <a:lstStyle/>
          <a:p>
            <a:r>
              <a:rPr lang="en-US"/>
              <a:t>What is Decision Analysis?</a:t>
            </a:r>
          </a:p>
        </p:txBody>
      </p:sp>
      <p:sp>
        <p:nvSpPr>
          <p:cNvPr id="36867" name="Rectangle 3"/>
          <p:cNvSpPr>
            <a:spLocks noGrp="1" noChangeArrowheads="1"/>
          </p:cNvSpPr>
          <p:nvPr>
            <p:ph type="body" idx="1"/>
          </p:nvPr>
        </p:nvSpPr>
        <p:spPr>
          <a:xfrm>
            <a:off x="872987" y="1447800"/>
            <a:ext cx="10446026" cy="4495800"/>
          </a:xfrm>
        </p:spPr>
        <p:txBody>
          <a:bodyPr>
            <a:normAutofit lnSpcReduction="10000"/>
          </a:bodyPr>
          <a:lstStyle/>
          <a:p>
            <a:pPr>
              <a:lnSpc>
                <a:spcPct val="95000"/>
              </a:lnSpc>
              <a:spcBef>
                <a:spcPct val="10000"/>
              </a:spcBef>
              <a:spcAft>
                <a:spcPct val="20000"/>
              </a:spcAft>
            </a:pPr>
            <a:r>
              <a:rPr lang="en-US" dirty="0">
                <a:cs typeface="Times New Roman" pitchFamily="18" charset="0"/>
              </a:rPr>
              <a:t>Explicit, quantitative and systematic approach to decision making under </a:t>
            </a:r>
            <a:r>
              <a:rPr lang="en-US" i="1" dirty="0">
                <a:solidFill>
                  <a:schemeClr val="tx2"/>
                </a:solidFill>
                <a:cs typeface="Times New Roman" pitchFamily="18" charset="0"/>
              </a:rPr>
              <a:t>uncertainty </a:t>
            </a:r>
            <a:r>
              <a:rPr lang="en-US" dirty="0">
                <a:cs typeface="Times New Roman" pitchFamily="18" charset="0"/>
              </a:rPr>
              <a:t>(elements of statistics, economics and psychology)</a:t>
            </a:r>
          </a:p>
          <a:p>
            <a:pPr>
              <a:lnSpc>
                <a:spcPct val="95000"/>
              </a:lnSpc>
              <a:spcBef>
                <a:spcPct val="10000"/>
              </a:spcBef>
              <a:spcAft>
                <a:spcPct val="20000"/>
              </a:spcAft>
            </a:pPr>
            <a:r>
              <a:rPr lang="en-US" dirty="0">
                <a:cs typeface="Times New Roman" pitchFamily="18" charset="0"/>
              </a:rPr>
              <a:t>Identify, measure, and value the consequences of decisions as well as the uncertainty that exists when the decision needs to be made </a:t>
            </a:r>
          </a:p>
          <a:p>
            <a:pPr>
              <a:lnSpc>
                <a:spcPct val="95000"/>
              </a:lnSpc>
              <a:spcBef>
                <a:spcPct val="10000"/>
              </a:spcBef>
              <a:spcAft>
                <a:spcPct val="20000"/>
              </a:spcAft>
            </a:pPr>
            <a:r>
              <a:rPr lang="en-US" dirty="0"/>
              <a:t>Elements are incorporated into a </a:t>
            </a:r>
            <a:r>
              <a:rPr lang="en-US" i="1" dirty="0">
                <a:solidFill>
                  <a:schemeClr val="tx2"/>
                </a:solidFill>
              </a:rPr>
              <a:t>model</a:t>
            </a:r>
            <a:r>
              <a:rPr lang="en-US" dirty="0"/>
              <a:t> to structure the decision problem over time, and used to compare the </a:t>
            </a:r>
            <a:r>
              <a:rPr lang="en-US" i="1" dirty="0"/>
              <a:t>expected</a:t>
            </a:r>
            <a:r>
              <a:rPr lang="en-US" dirty="0"/>
              <a:t> outcomes of different options or interventions</a:t>
            </a:r>
          </a:p>
        </p:txBody>
      </p:sp>
    </p:spTree>
    <p:extLst>
      <p:ext uri="{BB962C8B-B14F-4D97-AF65-F5344CB8AC3E}">
        <p14:creationId xmlns:p14="http://schemas.microsoft.com/office/powerpoint/2010/main" val="24452663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ChangeArrowheads="1"/>
          </p:cNvSpPr>
          <p:nvPr/>
        </p:nvSpPr>
        <p:spPr bwMode="auto">
          <a:xfrm>
            <a:off x="2209800" y="6248400"/>
            <a:ext cx="1905000" cy="457200"/>
          </a:xfrm>
          <a:prstGeom prst="rect">
            <a:avLst/>
          </a:prstGeom>
          <a:noFill/>
          <a:ln w="9525">
            <a:noFill/>
            <a:miter lim="800000"/>
            <a:headEnd/>
            <a:tailEnd/>
          </a:ln>
          <a:effectLst/>
        </p:spPr>
        <p:txBody>
          <a:bodyPr wrap="none" anchor="ctr"/>
          <a:lstStyle/>
          <a:p>
            <a:endParaRPr lang="en-US"/>
          </a:p>
        </p:txBody>
      </p:sp>
      <p:sp>
        <p:nvSpPr>
          <p:cNvPr id="40963" name="Rectangle 3"/>
          <p:cNvSpPr>
            <a:spLocks noChangeArrowheads="1"/>
          </p:cNvSpPr>
          <p:nvPr/>
        </p:nvSpPr>
        <p:spPr bwMode="auto">
          <a:xfrm>
            <a:off x="4648200" y="6248400"/>
            <a:ext cx="2895600" cy="457200"/>
          </a:xfrm>
          <a:prstGeom prst="rect">
            <a:avLst/>
          </a:prstGeom>
          <a:noFill/>
          <a:ln w="9525">
            <a:noFill/>
            <a:miter lim="800000"/>
            <a:headEnd/>
            <a:tailEnd/>
          </a:ln>
          <a:effectLst/>
        </p:spPr>
        <p:txBody>
          <a:bodyPr wrap="none" anchor="ctr"/>
          <a:lstStyle/>
          <a:p>
            <a:endParaRPr lang="en-US"/>
          </a:p>
        </p:txBody>
      </p:sp>
      <p:sp>
        <p:nvSpPr>
          <p:cNvPr id="40964" name="Rectangle 4"/>
          <p:cNvSpPr>
            <a:spLocks noGrp="1" noChangeArrowheads="1"/>
          </p:cNvSpPr>
          <p:nvPr>
            <p:ph type="title"/>
          </p:nvPr>
        </p:nvSpPr>
        <p:spPr>
          <a:noFill/>
          <a:ln/>
        </p:spPr>
        <p:txBody>
          <a:bodyPr vert="horz" lIns="92075" tIns="46038" rIns="92075" bIns="46038" rtlCol="0" anchor="ctr">
            <a:normAutofit/>
          </a:bodyPr>
          <a:lstStyle/>
          <a:p>
            <a:r>
              <a:rPr lang="en-US"/>
              <a:t>Models of Decision Making</a:t>
            </a:r>
          </a:p>
        </p:txBody>
      </p:sp>
      <p:sp>
        <p:nvSpPr>
          <p:cNvPr id="40965" name="Rectangle 5"/>
          <p:cNvSpPr>
            <a:spLocks noGrp="1" noChangeArrowheads="1"/>
          </p:cNvSpPr>
          <p:nvPr>
            <p:ph type="body" idx="1"/>
          </p:nvPr>
        </p:nvSpPr>
        <p:spPr>
          <a:xfrm>
            <a:off x="924339" y="1600200"/>
            <a:ext cx="10429461" cy="3733800"/>
          </a:xfrm>
          <a:noFill/>
          <a:ln/>
        </p:spPr>
        <p:txBody>
          <a:bodyPr vert="horz" lIns="92075" tIns="46038" rIns="92075" bIns="46038" rtlCol="0">
            <a:normAutofit/>
          </a:bodyPr>
          <a:lstStyle/>
          <a:p>
            <a:pPr>
              <a:lnSpc>
                <a:spcPct val="90000"/>
              </a:lnSpc>
              <a:spcBef>
                <a:spcPct val="5000"/>
              </a:spcBef>
              <a:spcAft>
                <a:spcPct val="25000"/>
              </a:spcAft>
            </a:pPr>
            <a:r>
              <a:rPr lang="en-US" dirty="0"/>
              <a:t>Normative</a:t>
            </a:r>
          </a:p>
          <a:p>
            <a:pPr lvl="1">
              <a:lnSpc>
                <a:spcPct val="90000"/>
              </a:lnSpc>
              <a:spcBef>
                <a:spcPct val="5000"/>
              </a:spcBef>
              <a:spcAft>
                <a:spcPct val="25000"/>
              </a:spcAft>
            </a:pPr>
            <a:r>
              <a:rPr lang="en-US" dirty="0"/>
              <a:t>How </a:t>
            </a:r>
            <a:r>
              <a:rPr lang="en-US" i="1" dirty="0"/>
              <a:t>should</a:t>
            </a:r>
            <a:r>
              <a:rPr lang="en-US" dirty="0"/>
              <a:t> decisions be made?</a:t>
            </a:r>
          </a:p>
          <a:p>
            <a:pPr>
              <a:lnSpc>
                <a:spcPct val="90000"/>
              </a:lnSpc>
              <a:spcBef>
                <a:spcPct val="5000"/>
              </a:spcBef>
              <a:spcAft>
                <a:spcPct val="25000"/>
              </a:spcAft>
            </a:pPr>
            <a:r>
              <a:rPr lang="en-US" dirty="0"/>
              <a:t>Descriptive</a:t>
            </a:r>
          </a:p>
          <a:p>
            <a:pPr lvl="1">
              <a:lnSpc>
                <a:spcPct val="90000"/>
              </a:lnSpc>
              <a:spcBef>
                <a:spcPct val="5000"/>
              </a:spcBef>
              <a:spcAft>
                <a:spcPct val="25000"/>
              </a:spcAft>
            </a:pPr>
            <a:r>
              <a:rPr lang="en-US" dirty="0"/>
              <a:t>How </a:t>
            </a:r>
            <a:r>
              <a:rPr lang="en-US" i="1" dirty="0"/>
              <a:t>do</a:t>
            </a:r>
            <a:r>
              <a:rPr lang="en-US" dirty="0"/>
              <a:t> we make decisions?</a:t>
            </a:r>
          </a:p>
          <a:p>
            <a:pPr>
              <a:lnSpc>
                <a:spcPct val="90000"/>
              </a:lnSpc>
              <a:spcBef>
                <a:spcPct val="5000"/>
              </a:spcBef>
              <a:spcAft>
                <a:spcPct val="25000"/>
              </a:spcAft>
            </a:pPr>
            <a:r>
              <a:rPr lang="en-US" dirty="0"/>
              <a:t>Prescriptive</a:t>
            </a:r>
          </a:p>
          <a:p>
            <a:pPr lvl="1">
              <a:lnSpc>
                <a:spcPct val="90000"/>
              </a:lnSpc>
              <a:spcBef>
                <a:spcPct val="5000"/>
              </a:spcBef>
              <a:spcAft>
                <a:spcPct val="25000"/>
              </a:spcAft>
            </a:pPr>
            <a:r>
              <a:rPr lang="en-US" dirty="0"/>
              <a:t>Given that how we actually make decisions differs from the way we should, how can we make better decisions?</a:t>
            </a:r>
          </a:p>
        </p:txBody>
      </p:sp>
      <p:sp>
        <p:nvSpPr>
          <p:cNvPr id="40966" name="Text Box 6"/>
          <p:cNvSpPr txBox="1">
            <a:spLocks noChangeArrowheads="1"/>
          </p:cNvSpPr>
          <p:nvPr/>
        </p:nvSpPr>
        <p:spPr bwMode="auto">
          <a:xfrm>
            <a:off x="924339" y="5287618"/>
            <a:ext cx="10343321" cy="1384995"/>
          </a:xfrm>
          <a:prstGeom prst="rect">
            <a:avLst/>
          </a:prstGeom>
          <a:noFill/>
          <a:ln w="28575">
            <a:solidFill>
              <a:srgbClr val="990033"/>
            </a:solidFill>
            <a:miter lim="800000"/>
            <a:headEnd type="none" w="sm" len="sm"/>
            <a:tailEnd type="none" w="sm" len="sm"/>
          </a:ln>
          <a:effectLst/>
        </p:spPr>
        <p:txBody>
          <a:bodyPr wrap="square">
            <a:spAutoFit/>
          </a:bodyPr>
          <a:lstStyle/>
          <a:p>
            <a:pPr eaLnBrk="0" hangingPunct="0"/>
            <a:r>
              <a:rPr lang="en-US" sz="2800" dirty="0"/>
              <a:t>Decision Science is “decision-oriented” and not “truth- oriented”. When used in public policy, it is intended to be prescriptive, not descriptive or normative.</a:t>
            </a:r>
          </a:p>
        </p:txBody>
      </p:sp>
    </p:spTree>
    <p:extLst>
      <p:ext uri="{BB962C8B-B14F-4D97-AF65-F5344CB8AC3E}">
        <p14:creationId xmlns:p14="http://schemas.microsoft.com/office/powerpoint/2010/main" val="3550627686"/>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2209800" y="6248400"/>
            <a:ext cx="1905000" cy="457200"/>
          </a:xfrm>
          <a:prstGeom prst="rect">
            <a:avLst/>
          </a:prstGeom>
          <a:noFill/>
          <a:ln w="9525">
            <a:noFill/>
            <a:miter lim="800000"/>
            <a:headEnd/>
            <a:tailEnd/>
          </a:ln>
          <a:effectLst/>
        </p:spPr>
        <p:txBody>
          <a:bodyPr wrap="none" anchor="ctr"/>
          <a:lstStyle/>
          <a:p>
            <a:endParaRPr lang="en-US"/>
          </a:p>
        </p:txBody>
      </p:sp>
      <p:sp>
        <p:nvSpPr>
          <p:cNvPr id="45059" name="Rectangle 3"/>
          <p:cNvSpPr>
            <a:spLocks noChangeArrowheads="1"/>
          </p:cNvSpPr>
          <p:nvPr/>
        </p:nvSpPr>
        <p:spPr bwMode="auto">
          <a:xfrm>
            <a:off x="4648200" y="6248400"/>
            <a:ext cx="2895600" cy="457200"/>
          </a:xfrm>
          <a:prstGeom prst="rect">
            <a:avLst/>
          </a:prstGeom>
          <a:noFill/>
          <a:ln w="9525">
            <a:noFill/>
            <a:miter lim="800000"/>
            <a:headEnd/>
            <a:tailEnd/>
          </a:ln>
          <a:effectLst/>
        </p:spPr>
        <p:txBody>
          <a:bodyPr wrap="none" anchor="ctr"/>
          <a:lstStyle/>
          <a:p>
            <a:endParaRPr lang="en-US"/>
          </a:p>
        </p:txBody>
      </p:sp>
      <p:sp>
        <p:nvSpPr>
          <p:cNvPr id="45060" name="Rectangle 4"/>
          <p:cNvSpPr>
            <a:spLocks noGrp="1" noChangeArrowheads="1"/>
          </p:cNvSpPr>
          <p:nvPr>
            <p:ph type="title"/>
          </p:nvPr>
        </p:nvSpPr>
        <p:spPr>
          <a:xfrm>
            <a:off x="2133600" y="381000"/>
            <a:ext cx="7772400" cy="1143000"/>
          </a:xfrm>
          <a:noFill/>
          <a:ln/>
        </p:spPr>
        <p:txBody>
          <a:bodyPr vert="horz" lIns="92075" tIns="46038" rIns="92075" bIns="46038" rtlCol="0" anchor="ctr">
            <a:normAutofit/>
          </a:bodyPr>
          <a:lstStyle/>
          <a:p>
            <a:r>
              <a:rPr lang="en-US" dirty="0"/>
              <a:t>Steps in a Decision Analysis</a:t>
            </a:r>
          </a:p>
        </p:txBody>
      </p:sp>
      <p:sp>
        <p:nvSpPr>
          <p:cNvPr id="45061" name="Rectangle 5"/>
          <p:cNvSpPr>
            <a:spLocks noGrp="1" noChangeArrowheads="1"/>
          </p:cNvSpPr>
          <p:nvPr>
            <p:ph type="body" idx="1"/>
          </p:nvPr>
        </p:nvSpPr>
        <p:spPr>
          <a:xfrm>
            <a:off x="854765" y="1600200"/>
            <a:ext cx="10306878" cy="4572000"/>
          </a:xfrm>
          <a:noFill/>
          <a:ln/>
        </p:spPr>
        <p:txBody>
          <a:bodyPr vert="horz" lIns="92075" tIns="46038" rIns="92075" bIns="46038" rtlCol="0">
            <a:normAutofit/>
          </a:bodyPr>
          <a:lstStyle/>
          <a:p>
            <a:pPr marL="609600" indent="-609600">
              <a:buFontTx/>
              <a:buAutoNum type="arabicPeriod"/>
            </a:pPr>
            <a:r>
              <a:rPr lang="en-US" dirty="0"/>
              <a:t>Identify key components of the decision problem</a:t>
            </a:r>
          </a:p>
          <a:p>
            <a:pPr marL="609600" indent="-609600">
              <a:buFontTx/>
              <a:buAutoNum type="arabicPeriod"/>
            </a:pPr>
            <a:r>
              <a:rPr lang="en-US" dirty="0"/>
              <a:t>Structure the problem into a logical framework over time (i.e., develop a </a:t>
            </a:r>
            <a:r>
              <a:rPr lang="en-US" i="1" dirty="0"/>
              <a:t>model</a:t>
            </a:r>
            <a:r>
              <a:rPr lang="en-US" dirty="0"/>
              <a:t>)</a:t>
            </a:r>
          </a:p>
          <a:p>
            <a:pPr marL="609600" indent="-609600">
              <a:buFontTx/>
              <a:buAutoNum type="arabicPeriod"/>
            </a:pPr>
            <a:r>
              <a:rPr lang="en-US" dirty="0"/>
              <a:t>Retrieve, synthesize, and integrate data needed for the model (i.e., </a:t>
            </a:r>
            <a:r>
              <a:rPr lang="en-US" i="1" dirty="0"/>
              <a:t>parameterize</a:t>
            </a:r>
            <a:r>
              <a:rPr lang="en-US" dirty="0"/>
              <a:t> the model)</a:t>
            </a:r>
          </a:p>
          <a:p>
            <a:pPr marL="609600" indent="-609600">
              <a:buFontTx/>
              <a:buAutoNum type="arabicPeriod"/>
            </a:pPr>
            <a:r>
              <a:rPr lang="en-US" dirty="0"/>
              <a:t>Conduct a base-case analysis</a:t>
            </a:r>
          </a:p>
          <a:p>
            <a:pPr marL="609600" indent="-609600">
              <a:buFontTx/>
              <a:buAutoNum type="arabicPeriod"/>
            </a:pPr>
            <a:r>
              <a:rPr lang="en-US" dirty="0"/>
              <a:t>Evaluate model and parameter uncertainty</a:t>
            </a:r>
          </a:p>
        </p:txBody>
      </p:sp>
    </p:spTree>
    <p:extLst>
      <p:ext uri="{BB962C8B-B14F-4D97-AF65-F5344CB8AC3E}">
        <p14:creationId xmlns:p14="http://schemas.microsoft.com/office/powerpoint/2010/main" val="3691370856"/>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ChangeArrowheads="1"/>
          </p:cNvSpPr>
          <p:nvPr/>
        </p:nvSpPr>
        <p:spPr bwMode="auto">
          <a:xfrm>
            <a:off x="2209800" y="6248400"/>
            <a:ext cx="1905000" cy="457200"/>
          </a:xfrm>
          <a:prstGeom prst="rect">
            <a:avLst/>
          </a:prstGeom>
          <a:noFill/>
          <a:ln w="9525">
            <a:noFill/>
            <a:miter lim="800000"/>
            <a:headEnd/>
            <a:tailEnd/>
          </a:ln>
          <a:effectLst/>
        </p:spPr>
        <p:txBody>
          <a:bodyPr wrap="none" anchor="ctr"/>
          <a:lstStyle/>
          <a:p>
            <a:endParaRPr lang="en-US"/>
          </a:p>
        </p:txBody>
      </p:sp>
      <p:sp>
        <p:nvSpPr>
          <p:cNvPr id="47107" name="Rectangle 3"/>
          <p:cNvSpPr>
            <a:spLocks noChangeArrowheads="1"/>
          </p:cNvSpPr>
          <p:nvPr/>
        </p:nvSpPr>
        <p:spPr bwMode="auto">
          <a:xfrm>
            <a:off x="4648200" y="6248400"/>
            <a:ext cx="2895600" cy="457200"/>
          </a:xfrm>
          <a:prstGeom prst="rect">
            <a:avLst/>
          </a:prstGeom>
          <a:noFill/>
          <a:ln w="9525">
            <a:noFill/>
            <a:miter lim="800000"/>
            <a:headEnd/>
            <a:tailEnd/>
          </a:ln>
          <a:effectLst/>
        </p:spPr>
        <p:txBody>
          <a:bodyPr wrap="none" anchor="ctr"/>
          <a:lstStyle/>
          <a:p>
            <a:endParaRPr lang="en-US"/>
          </a:p>
        </p:txBody>
      </p:sp>
      <p:sp>
        <p:nvSpPr>
          <p:cNvPr id="47108" name="Rectangle 4"/>
          <p:cNvSpPr>
            <a:spLocks noGrp="1" noChangeArrowheads="1"/>
          </p:cNvSpPr>
          <p:nvPr>
            <p:ph type="title"/>
          </p:nvPr>
        </p:nvSpPr>
        <p:spPr>
          <a:xfrm>
            <a:off x="967409" y="457200"/>
            <a:ext cx="9319591" cy="990600"/>
          </a:xfrm>
          <a:noFill/>
          <a:ln/>
        </p:spPr>
        <p:txBody>
          <a:bodyPr vert="horz" lIns="92075" tIns="46038" rIns="92075" bIns="46038" rtlCol="0" anchor="ctr">
            <a:normAutofit/>
          </a:bodyPr>
          <a:lstStyle/>
          <a:p>
            <a:r>
              <a:rPr lang="en-US" dirty="0"/>
              <a:t>1. Key Components</a:t>
            </a:r>
            <a:endParaRPr lang="en-US" sz="2400" dirty="0"/>
          </a:p>
        </p:txBody>
      </p:sp>
      <p:sp>
        <p:nvSpPr>
          <p:cNvPr id="47109" name="Rectangle 5"/>
          <p:cNvSpPr>
            <a:spLocks noGrp="1" noChangeArrowheads="1"/>
          </p:cNvSpPr>
          <p:nvPr>
            <p:ph type="body" idx="1"/>
          </p:nvPr>
        </p:nvSpPr>
        <p:spPr>
          <a:xfrm>
            <a:off x="967409" y="1447800"/>
            <a:ext cx="10257182" cy="4419600"/>
          </a:xfrm>
          <a:noFill/>
          <a:ln/>
        </p:spPr>
        <p:txBody>
          <a:bodyPr vert="horz" lIns="92075" tIns="46038" rIns="92075" bIns="46038" rtlCol="0">
            <a:normAutofit/>
          </a:bodyPr>
          <a:lstStyle/>
          <a:p>
            <a:r>
              <a:rPr lang="en-US" u="sng" dirty="0"/>
              <a:t>Objectives</a:t>
            </a:r>
            <a:r>
              <a:rPr lang="en-US" dirty="0"/>
              <a:t> – what are the goals of the decision (e.g., minimize mortality)</a:t>
            </a:r>
          </a:p>
          <a:p>
            <a:r>
              <a:rPr lang="en-US" u="sng" dirty="0"/>
              <a:t>Alternatives</a:t>
            </a:r>
            <a:r>
              <a:rPr lang="en-US" dirty="0"/>
              <a:t> – consider all possible options (including “do nothing”)</a:t>
            </a:r>
          </a:p>
          <a:p>
            <a:r>
              <a:rPr lang="en-US" u="sng" dirty="0"/>
              <a:t>Events</a:t>
            </a:r>
            <a:r>
              <a:rPr lang="en-US" dirty="0"/>
              <a:t> – what are the possible events that can happen?</a:t>
            </a:r>
          </a:p>
          <a:p>
            <a:r>
              <a:rPr lang="en-US" u="sng" dirty="0"/>
              <a:t>Outcomes</a:t>
            </a:r>
            <a:r>
              <a:rPr lang="en-US" dirty="0"/>
              <a:t> – what are the consequences?</a:t>
            </a:r>
          </a:p>
        </p:txBody>
      </p:sp>
    </p:spTree>
    <p:extLst>
      <p:ext uri="{BB962C8B-B14F-4D97-AF65-F5344CB8AC3E}">
        <p14:creationId xmlns:p14="http://schemas.microsoft.com/office/powerpoint/2010/main" val="308576661"/>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ChangeArrowheads="1"/>
          </p:cNvSpPr>
          <p:nvPr/>
        </p:nvSpPr>
        <p:spPr bwMode="auto">
          <a:xfrm>
            <a:off x="2209800" y="6248400"/>
            <a:ext cx="1905000" cy="457200"/>
          </a:xfrm>
          <a:prstGeom prst="rect">
            <a:avLst/>
          </a:prstGeom>
          <a:noFill/>
          <a:ln w="9525">
            <a:noFill/>
            <a:miter lim="800000"/>
            <a:headEnd/>
            <a:tailEnd/>
          </a:ln>
          <a:effectLst/>
        </p:spPr>
        <p:txBody>
          <a:bodyPr wrap="none" anchor="ctr"/>
          <a:lstStyle/>
          <a:p>
            <a:endParaRPr lang="en-US"/>
          </a:p>
        </p:txBody>
      </p:sp>
      <p:sp>
        <p:nvSpPr>
          <p:cNvPr id="49155" name="Rectangle 3"/>
          <p:cNvSpPr>
            <a:spLocks noChangeArrowheads="1"/>
          </p:cNvSpPr>
          <p:nvPr/>
        </p:nvSpPr>
        <p:spPr bwMode="auto">
          <a:xfrm>
            <a:off x="4648200" y="6248400"/>
            <a:ext cx="2895600" cy="457200"/>
          </a:xfrm>
          <a:prstGeom prst="rect">
            <a:avLst/>
          </a:prstGeom>
          <a:noFill/>
          <a:ln w="9525">
            <a:noFill/>
            <a:miter lim="800000"/>
            <a:headEnd/>
            <a:tailEnd/>
          </a:ln>
          <a:effectLst/>
        </p:spPr>
        <p:txBody>
          <a:bodyPr wrap="none" anchor="ctr"/>
          <a:lstStyle/>
          <a:p>
            <a:endParaRPr lang="en-US"/>
          </a:p>
        </p:txBody>
      </p:sp>
      <p:sp>
        <p:nvSpPr>
          <p:cNvPr id="49156" name="Rectangle 4"/>
          <p:cNvSpPr>
            <a:spLocks noGrp="1" noChangeArrowheads="1"/>
          </p:cNvSpPr>
          <p:nvPr>
            <p:ph type="title"/>
          </p:nvPr>
        </p:nvSpPr>
        <p:spPr>
          <a:xfrm>
            <a:off x="805071" y="457200"/>
            <a:ext cx="9634329" cy="1143000"/>
          </a:xfrm>
          <a:noFill/>
          <a:ln/>
        </p:spPr>
        <p:txBody>
          <a:bodyPr vert="horz" lIns="92075" tIns="46038" rIns="92075" bIns="46038" rtlCol="0" anchor="ctr">
            <a:normAutofit fontScale="90000"/>
          </a:bodyPr>
          <a:lstStyle/>
          <a:p>
            <a:r>
              <a:rPr lang="en-US" dirty="0"/>
              <a:t>2. Structure Problem into</a:t>
            </a:r>
            <a:br>
              <a:rPr lang="en-US" dirty="0"/>
            </a:br>
            <a:r>
              <a:rPr lang="en-US" dirty="0"/>
              <a:t>Logical Framework</a:t>
            </a:r>
          </a:p>
        </p:txBody>
      </p:sp>
      <p:sp>
        <p:nvSpPr>
          <p:cNvPr id="49157" name="Rectangle 5"/>
          <p:cNvSpPr>
            <a:spLocks noGrp="1" noChangeArrowheads="1"/>
          </p:cNvSpPr>
          <p:nvPr>
            <p:ph type="body" idx="1"/>
          </p:nvPr>
        </p:nvSpPr>
        <p:spPr>
          <a:xfrm>
            <a:off x="805071" y="1752600"/>
            <a:ext cx="10565294" cy="4648200"/>
          </a:xfrm>
          <a:noFill/>
          <a:ln/>
        </p:spPr>
        <p:txBody>
          <a:bodyPr vert="horz" lIns="92075" tIns="46038" rIns="92075" bIns="46038" rtlCol="0">
            <a:normAutofit/>
          </a:bodyPr>
          <a:lstStyle/>
          <a:p>
            <a:pPr marL="341313" indent="-341313">
              <a:spcAft>
                <a:spcPct val="10000"/>
              </a:spcAft>
            </a:pPr>
            <a:r>
              <a:rPr lang="en-US" i="1" dirty="0"/>
              <a:t>Models</a:t>
            </a:r>
            <a:r>
              <a:rPr lang="en-US" dirty="0"/>
              <a:t> are used to organize all elements of the decision problem into a logical framework, to structure the problem over time, and to represent the temporal sequence of events</a:t>
            </a:r>
          </a:p>
          <a:p>
            <a:pPr marL="341313" indent="-341313">
              <a:spcAft>
                <a:spcPct val="10000"/>
              </a:spcAft>
            </a:pPr>
            <a:r>
              <a:rPr lang="en-US" dirty="0"/>
              <a:t>While different types of models may be chosen to accommodate the complexity of the decision problem, all rely on the use of mathematical analysis to compare the expected outcomes associated with different alternatives</a:t>
            </a:r>
          </a:p>
        </p:txBody>
      </p:sp>
    </p:spTree>
    <p:extLst>
      <p:ext uri="{BB962C8B-B14F-4D97-AF65-F5344CB8AC3E}">
        <p14:creationId xmlns:p14="http://schemas.microsoft.com/office/powerpoint/2010/main" val="923178154"/>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ChangeArrowheads="1"/>
          </p:cNvSpPr>
          <p:nvPr/>
        </p:nvSpPr>
        <p:spPr bwMode="auto">
          <a:xfrm>
            <a:off x="2209800" y="6248400"/>
            <a:ext cx="1905000" cy="457200"/>
          </a:xfrm>
          <a:prstGeom prst="rect">
            <a:avLst/>
          </a:prstGeom>
          <a:noFill/>
          <a:ln w="9525">
            <a:noFill/>
            <a:miter lim="800000"/>
            <a:headEnd/>
            <a:tailEnd/>
          </a:ln>
          <a:effectLst/>
        </p:spPr>
        <p:txBody>
          <a:bodyPr wrap="none" anchor="ctr"/>
          <a:lstStyle/>
          <a:p>
            <a:endParaRPr lang="en-US"/>
          </a:p>
        </p:txBody>
      </p:sp>
      <p:sp>
        <p:nvSpPr>
          <p:cNvPr id="53251" name="Rectangle 3"/>
          <p:cNvSpPr>
            <a:spLocks noChangeArrowheads="1"/>
          </p:cNvSpPr>
          <p:nvPr/>
        </p:nvSpPr>
        <p:spPr bwMode="auto">
          <a:xfrm>
            <a:off x="4648200" y="6248400"/>
            <a:ext cx="2895600" cy="457200"/>
          </a:xfrm>
          <a:prstGeom prst="rect">
            <a:avLst/>
          </a:prstGeom>
          <a:noFill/>
          <a:ln w="9525">
            <a:noFill/>
            <a:miter lim="800000"/>
            <a:headEnd/>
            <a:tailEnd/>
          </a:ln>
          <a:effectLst/>
        </p:spPr>
        <p:txBody>
          <a:bodyPr wrap="none" anchor="ctr"/>
          <a:lstStyle/>
          <a:p>
            <a:endParaRPr lang="en-US"/>
          </a:p>
        </p:txBody>
      </p:sp>
      <p:sp>
        <p:nvSpPr>
          <p:cNvPr id="53252" name="Rectangle 4"/>
          <p:cNvSpPr>
            <a:spLocks noGrp="1" noChangeArrowheads="1"/>
          </p:cNvSpPr>
          <p:nvPr>
            <p:ph type="title"/>
          </p:nvPr>
        </p:nvSpPr>
        <p:spPr>
          <a:xfrm>
            <a:off x="944217" y="381000"/>
            <a:ext cx="9266583" cy="1371600"/>
          </a:xfrm>
          <a:noFill/>
          <a:ln/>
        </p:spPr>
        <p:txBody>
          <a:bodyPr vert="horz" lIns="92075" tIns="46038" rIns="92075" bIns="46038" rtlCol="0" anchor="ctr">
            <a:normAutofit/>
          </a:bodyPr>
          <a:lstStyle/>
          <a:p>
            <a:r>
              <a:rPr lang="en-US" dirty="0"/>
              <a:t>3. Synthesize and Integrate Data </a:t>
            </a:r>
          </a:p>
        </p:txBody>
      </p:sp>
      <p:sp>
        <p:nvSpPr>
          <p:cNvPr id="53253" name="Rectangle 5"/>
          <p:cNvSpPr>
            <a:spLocks noGrp="1" noChangeArrowheads="1"/>
          </p:cNvSpPr>
          <p:nvPr>
            <p:ph type="body" idx="1"/>
          </p:nvPr>
        </p:nvSpPr>
        <p:spPr>
          <a:xfrm>
            <a:off x="944217" y="1676400"/>
            <a:ext cx="10177670" cy="4419600"/>
          </a:xfrm>
          <a:noFill/>
          <a:ln/>
        </p:spPr>
        <p:txBody>
          <a:bodyPr vert="horz" lIns="92075" tIns="46038" rIns="92075" bIns="46038" rtlCol="0">
            <a:normAutofit/>
          </a:bodyPr>
          <a:lstStyle/>
          <a:p>
            <a:r>
              <a:rPr lang="en-US" dirty="0">
                <a:cs typeface="Times New Roman" pitchFamily="18" charset="0"/>
              </a:rPr>
              <a:t>Parameters are needed for all probabilities and outcomes in model.</a:t>
            </a:r>
          </a:p>
          <a:p>
            <a:r>
              <a:rPr lang="en-US" dirty="0">
                <a:cs typeface="Times New Roman" pitchFamily="18" charset="0"/>
              </a:rPr>
              <a:t>Use quantitative data (e.g., disease prevalence, treatment efficacy, test performance, costs, quality of life) to assign values to parameters</a:t>
            </a:r>
          </a:p>
          <a:p>
            <a:r>
              <a:rPr lang="en-US" dirty="0">
                <a:cs typeface="Times New Roman" pitchFamily="18" charset="0"/>
              </a:rPr>
              <a:t>Consider qualitative information (e.g., ethical issues)</a:t>
            </a:r>
          </a:p>
        </p:txBody>
      </p:sp>
    </p:spTree>
    <p:extLst>
      <p:ext uri="{BB962C8B-B14F-4D97-AF65-F5344CB8AC3E}">
        <p14:creationId xmlns:p14="http://schemas.microsoft.com/office/powerpoint/2010/main" val="45425910"/>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ChangeArrowheads="1"/>
          </p:cNvSpPr>
          <p:nvPr/>
        </p:nvSpPr>
        <p:spPr bwMode="auto">
          <a:xfrm>
            <a:off x="2209800" y="6248400"/>
            <a:ext cx="1905000" cy="457200"/>
          </a:xfrm>
          <a:prstGeom prst="rect">
            <a:avLst/>
          </a:prstGeom>
          <a:noFill/>
          <a:ln w="9525">
            <a:noFill/>
            <a:miter lim="800000"/>
            <a:headEnd/>
            <a:tailEnd/>
          </a:ln>
          <a:effectLst/>
        </p:spPr>
        <p:txBody>
          <a:bodyPr wrap="none" anchor="ctr"/>
          <a:lstStyle/>
          <a:p>
            <a:endParaRPr lang="en-US"/>
          </a:p>
        </p:txBody>
      </p:sp>
      <p:sp>
        <p:nvSpPr>
          <p:cNvPr id="55299" name="Rectangle 3"/>
          <p:cNvSpPr>
            <a:spLocks noChangeArrowheads="1"/>
          </p:cNvSpPr>
          <p:nvPr/>
        </p:nvSpPr>
        <p:spPr bwMode="auto">
          <a:xfrm>
            <a:off x="4648200" y="6248400"/>
            <a:ext cx="2895600" cy="457200"/>
          </a:xfrm>
          <a:prstGeom prst="rect">
            <a:avLst/>
          </a:prstGeom>
          <a:noFill/>
          <a:ln w="9525">
            <a:noFill/>
            <a:miter lim="800000"/>
            <a:headEnd/>
            <a:tailEnd/>
          </a:ln>
          <a:effectLst/>
        </p:spPr>
        <p:txBody>
          <a:bodyPr wrap="none" anchor="ctr"/>
          <a:lstStyle/>
          <a:p>
            <a:endParaRPr lang="en-US"/>
          </a:p>
        </p:txBody>
      </p:sp>
      <p:sp>
        <p:nvSpPr>
          <p:cNvPr id="55300" name="Rectangle 4"/>
          <p:cNvSpPr>
            <a:spLocks noGrp="1" noChangeArrowheads="1"/>
          </p:cNvSpPr>
          <p:nvPr>
            <p:ph type="title"/>
          </p:nvPr>
        </p:nvSpPr>
        <p:spPr>
          <a:xfrm>
            <a:off x="844825" y="381000"/>
            <a:ext cx="9061175" cy="1143000"/>
          </a:xfrm>
          <a:noFill/>
          <a:ln/>
        </p:spPr>
        <p:txBody>
          <a:bodyPr vert="horz" lIns="92075" tIns="46038" rIns="92075" bIns="46038" rtlCol="0" anchor="ctr">
            <a:normAutofit/>
          </a:bodyPr>
          <a:lstStyle/>
          <a:p>
            <a:r>
              <a:rPr lang="en-US" dirty="0"/>
              <a:t>4. Conduct a Base-case Analysis</a:t>
            </a:r>
          </a:p>
        </p:txBody>
      </p:sp>
      <p:sp>
        <p:nvSpPr>
          <p:cNvPr id="55301" name="Rectangle 5"/>
          <p:cNvSpPr>
            <a:spLocks noGrp="1" noChangeArrowheads="1"/>
          </p:cNvSpPr>
          <p:nvPr>
            <p:ph type="body" idx="1"/>
          </p:nvPr>
        </p:nvSpPr>
        <p:spPr>
          <a:xfrm>
            <a:off x="844825" y="1524000"/>
            <a:ext cx="10455965" cy="4572000"/>
          </a:xfrm>
          <a:noFill/>
          <a:ln/>
        </p:spPr>
        <p:txBody>
          <a:bodyPr vert="horz" lIns="92075" tIns="46038" rIns="92075" bIns="46038" rtlCol="0">
            <a:normAutofit/>
          </a:bodyPr>
          <a:lstStyle/>
          <a:p>
            <a:r>
              <a:rPr lang="en-US" dirty="0"/>
              <a:t>Calculate the </a:t>
            </a:r>
            <a:r>
              <a:rPr lang="en-US" b="1" i="1" dirty="0">
                <a:solidFill>
                  <a:srgbClr val="990033"/>
                </a:solidFill>
              </a:rPr>
              <a:t>expected outcomes</a:t>
            </a:r>
            <a:r>
              <a:rPr lang="en-US" dirty="0"/>
              <a:t> associated with each option or alternative and choose the option that maximizes the valued outcome or minimizes the negative consequences</a:t>
            </a:r>
          </a:p>
          <a:p>
            <a:r>
              <a:rPr lang="en-US" dirty="0"/>
              <a:t>Special case of two outcomes: cost-effectiveness analysis (maximize health or benefit within the constraints of a limited budget)</a:t>
            </a:r>
          </a:p>
          <a:p>
            <a:endParaRPr lang="en-US" dirty="0"/>
          </a:p>
        </p:txBody>
      </p:sp>
    </p:spTree>
    <p:extLst>
      <p:ext uri="{BB962C8B-B14F-4D97-AF65-F5344CB8AC3E}">
        <p14:creationId xmlns:p14="http://schemas.microsoft.com/office/powerpoint/2010/main" val="2085006417"/>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noFill/>
          <a:ln/>
        </p:spPr>
        <p:txBody>
          <a:bodyPr vert="horz" lIns="92075" tIns="46038" rIns="92075" bIns="46038" rtlCol="0" anchor="ctr">
            <a:normAutofit/>
          </a:bodyPr>
          <a:lstStyle/>
          <a:p>
            <a:r>
              <a:rPr lang="en-US"/>
              <a:t>5. Evaluate Uncertainty</a:t>
            </a:r>
          </a:p>
        </p:txBody>
      </p:sp>
      <p:sp>
        <p:nvSpPr>
          <p:cNvPr id="57347" name="Rectangle 3"/>
          <p:cNvSpPr>
            <a:spLocks noGrp="1" noChangeArrowheads="1"/>
          </p:cNvSpPr>
          <p:nvPr>
            <p:ph type="body" idx="1"/>
          </p:nvPr>
        </p:nvSpPr>
        <p:spPr>
          <a:xfrm>
            <a:off x="838200" y="1600200"/>
            <a:ext cx="10515600" cy="4495800"/>
          </a:xfrm>
          <a:noFill/>
          <a:ln/>
        </p:spPr>
        <p:txBody>
          <a:bodyPr vert="horz" lIns="92075" tIns="46038" rIns="92075" bIns="46038" rtlCol="0">
            <a:normAutofit/>
          </a:bodyPr>
          <a:lstStyle/>
          <a:p>
            <a:r>
              <a:rPr lang="en-US" dirty="0"/>
              <a:t>Parameter uncertainty – vary each parameter within a reasonable range to examine the impact on the results (the decision)</a:t>
            </a:r>
          </a:p>
          <a:p>
            <a:r>
              <a:rPr lang="en-US" dirty="0"/>
              <a:t>Model uncertainty – evaluate the impact of making structural changes to the model or changes to assumptions</a:t>
            </a:r>
          </a:p>
        </p:txBody>
      </p:sp>
    </p:spTree>
    <p:extLst>
      <p:ext uri="{BB962C8B-B14F-4D97-AF65-F5344CB8AC3E}">
        <p14:creationId xmlns:p14="http://schemas.microsoft.com/office/powerpoint/2010/main" val="16636267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ChangeArrowheads="1"/>
          </p:cNvSpPr>
          <p:nvPr/>
        </p:nvSpPr>
        <p:spPr bwMode="auto">
          <a:xfrm>
            <a:off x="2209800" y="6248400"/>
            <a:ext cx="1905000" cy="457200"/>
          </a:xfrm>
          <a:prstGeom prst="rect">
            <a:avLst/>
          </a:prstGeom>
          <a:noFill/>
          <a:ln w="9525">
            <a:noFill/>
            <a:miter lim="800000"/>
            <a:headEnd/>
            <a:tailEnd/>
          </a:ln>
          <a:effectLst/>
        </p:spPr>
        <p:txBody>
          <a:bodyPr wrap="none" anchor="ctr"/>
          <a:lstStyle/>
          <a:p>
            <a:endParaRPr lang="en-US"/>
          </a:p>
        </p:txBody>
      </p:sp>
      <p:sp>
        <p:nvSpPr>
          <p:cNvPr id="59395" name="Rectangle 3"/>
          <p:cNvSpPr>
            <a:spLocks noChangeArrowheads="1"/>
          </p:cNvSpPr>
          <p:nvPr/>
        </p:nvSpPr>
        <p:spPr bwMode="auto">
          <a:xfrm>
            <a:off x="4648200" y="6248400"/>
            <a:ext cx="2895600" cy="457200"/>
          </a:xfrm>
          <a:prstGeom prst="rect">
            <a:avLst/>
          </a:prstGeom>
          <a:noFill/>
          <a:ln w="9525">
            <a:noFill/>
            <a:miter lim="800000"/>
            <a:headEnd/>
            <a:tailEnd/>
          </a:ln>
          <a:effectLst/>
        </p:spPr>
        <p:txBody>
          <a:bodyPr wrap="none" anchor="ctr"/>
          <a:lstStyle/>
          <a:p>
            <a:endParaRPr lang="en-US"/>
          </a:p>
        </p:txBody>
      </p:sp>
      <p:sp>
        <p:nvSpPr>
          <p:cNvPr id="59396" name="Rectangle 4"/>
          <p:cNvSpPr>
            <a:spLocks noGrp="1" noChangeArrowheads="1"/>
          </p:cNvSpPr>
          <p:nvPr>
            <p:ph type="title"/>
          </p:nvPr>
        </p:nvSpPr>
        <p:spPr>
          <a:xfrm>
            <a:off x="980662" y="228600"/>
            <a:ext cx="8849138" cy="1143000"/>
          </a:xfrm>
          <a:noFill/>
          <a:ln/>
        </p:spPr>
        <p:txBody>
          <a:bodyPr vert="horz" lIns="92075" tIns="46038" rIns="92075" bIns="46038" rtlCol="0" anchor="ctr">
            <a:normAutofit/>
          </a:bodyPr>
          <a:lstStyle/>
          <a:p>
            <a:r>
              <a:rPr lang="en-US" dirty="0"/>
              <a:t>Considerations</a:t>
            </a:r>
          </a:p>
        </p:txBody>
      </p:sp>
      <p:sp>
        <p:nvSpPr>
          <p:cNvPr id="59397" name="Rectangle 5"/>
          <p:cNvSpPr>
            <a:spLocks noGrp="1" noChangeArrowheads="1"/>
          </p:cNvSpPr>
          <p:nvPr>
            <p:ph type="body" idx="1"/>
          </p:nvPr>
        </p:nvSpPr>
        <p:spPr>
          <a:xfrm>
            <a:off x="894521" y="1371600"/>
            <a:ext cx="10316817" cy="5181600"/>
          </a:xfrm>
          <a:noFill/>
          <a:ln/>
        </p:spPr>
        <p:txBody>
          <a:bodyPr vert="horz" lIns="92075" tIns="46038" rIns="92075" bIns="46038" rtlCol="0">
            <a:normAutofit/>
          </a:bodyPr>
          <a:lstStyle/>
          <a:p>
            <a:r>
              <a:rPr lang="en-US" dirty="0"/>
              <a:t>What is the objective and who is the decision maker? (perspective)</a:t>
            </a:r>
          </a:p>
          <a:p>
            <a:r>
              <a:rPr lang="en-US" dirty="0"/>
              <a:t>What are the alternatives? (action, no action, get more information)</a:t>
            </a:r>
          </a:p>
          <a:p>
            <a:r>
              <a:rPr lang="en-US" dirty="0"/>
              <a:t>Does the analytical framework have face validity? (structure, probabilities, outcomes)</a:t>
            </a:r>
          </a:p>
          <a:p>
            <a:r>
              <a:rPr lang="en-US" dirty="0"/>
              <a:t>Is the uncertainty adequately represented? </a:t>
            </a:r>
            <a:r>
              <a:rPr lang="en-US"/>
              <a:t>(evidence-based, subjective </a:t>
            </a:r>
            <a:r>
              <a:rPr lang="en-US" dirty="0"/>
              <a:t>probabilities, assumptions) </a:t>
            </a:r>
          </a:p>
          <a:p>
            <a:r>
              <a:rPr lang="en-US" dirty="0"/>
              <a:t>Are the results placed into appropriate context? (preferences and values, risk attitudes, ethics, equity)</a:t>
            </a:r>
          </a:p>
        </p:txBody>
      </p:sp>
    </p:spTree>
    <p:extLst>
      <p:ext uri="{BB962C8B-B14F-4D97-AF65-F5344CB8AC3E}">
        <p14:creationId xmlns:p14="http://schemas.microsoft.com/office/powerpoint/2010/main" val="528838762"/>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60" name="Rectangle 4"/>
          <p:cNvSpPr>
            <a:spLocks noGrp="1" noChangeArrowheads="1"/>
          </p:cNvSpPr>
          <p:nvPr>
            <p:ph type="title"/>
          </p:nvPr>
        </p:nvSpPr>
        <p:spPr/>
        <p:txBody>
          <a:bodyPr/>
          <a:lstStyle/>
          <a:p>
            <a:r>
              <a:rPr lang="en-US"/>
              <a:t>Game Show Revisited</a:t>
            </a:r>
          </a:p>
        </p:txBody>
      </p:sp>
      <p:grpSp>
        <p:nvGrpSpPr>
          <p:cNvPr id="147490" name="Group 34"/>
          <p:cNvGrpSpPr>
            <a:grpSpLocks noChangeAspect="1"/>
          </p:cNvGrpSpPr>
          <p:nvPr/>
        </p:nvGrpSpPr>
        <p:grpSpPr bwMode="auto">
          <a:xfrm>
            <a:off x="5691189" y="2741614"/>
            <a:ext cx="4059237" cy="2746375"/>
            <a:chOff x="288" y="1573"/>
            <a:chExt cx="2557" cy="1730"/>
          </a:xfrm>
        </p:grpSpPr>
        <p:sp>
          <p:nvSpPr>
            <p:cNvPr id="147489" name="AutoShape 33"/>
            <p:cNvSpPr>
              <a:spLocks noChangeAspect="1" noChangeArrowheads="1" noTextEdit="1"/>
            </p:cNvSpPr>
            <p:nvPr/>
          </p:nvSpPr>
          <p:spPr bwMode="auto">
            <a:xfrm>
              <a:off x="288" y="1573"/>
              <a:ext cx="2557" cy="1730"/>
            </a:xfrm>
            <a:prstGeom prst="rect">
              <a:avLst/>
            </a:prstGeom>
            <a:noFill/>
            <a:ln w="9525">
              <a:noFill/>
              <a:miter lim="800000"/>
              <a:headEnd/>
              <a:tailEnd/>
            </a:ln>
          </p:spPr>
          <p:txBody>
            <a:bodyPr/>
            <a:lstStyle/>
            <a:p>
              <a:endParaRPr lang="en-US"/>
            </a:p>
          </p:txBody>
        </p:sp>
        <p:sp>
          <p:nvSpPr>
            <p:cNvPr id="147491" name="Freeform 35"/>
            <p:cNvSpPr>
              <a:spLocks/>
            </p:cNvSpPr>
            <p:nvPr/>
          </p:nvSpPr>
          <p:spPr bwMode="auto">
            <a:xfrm>
              <a:off x="1564" y="1738"/>
              <a:ext cx="143" cy="698"/>
            </a:xfrm>
            <a:custGeom>
              <a:avLst/>
              <a:gdLst/>
              <a:ahLst/>
              <a:cxnLst>
                <a:cxn ang="0">
                  <a:pos x="32" y="3"/>
                </a:cxn>
                <a:cxn ang="0">
                  <a:pos x="0" y="0"/>
                </a:cxn>
                <a:cxn ang="0">
                  <a:pos x="0" y="157"/>
                </a:cxn>
                <a:cxn ang="0">
                  <a:pos x="32" y="3"/>
                </a:cxn>
              </a:cxnLst>
              <a:rect l="0" t="0" r="r" b="b"/>
              <a:pathLst>
                <a:path w="32" h="157">
                  <a:moveTo>
                    <a:pt x="32" y="3"/>
                  </a:moveTo>
                  <a:cubicBezTo>
                    <a:pt x="22" y="1"/>
                    <a:pt x="11" y="0"/>
                    <a:pt x="0" y="0"/>
                  </a:cubicBezTo>
                  <a:lnTo>
                    <a:pt x="0" y="157"/>
                  </a:lnTo>
                  <a:lnTo>
                    <a:pt x="32" y="3"/>
                  </a:lnTo>
                  <a:close/>
                </a:path>
              </a:pathLst>
            </a:custGeom>
            <a:solidFill>
              <a:srgbClr val="FFFF00"/>
            </a:solidFill>
            <a:ln w="6350">
              <a:solidFill>
                <a:srgbClr val="000000"/>
              </a:solidFill>
              <a:prstDash val="solid"/>
              <a:round/>
              <a:headEnd/>
              <a:tailEnd/>
            </a:ln>
          </p:spPr>
          <p:txBody>
            <a:bodyPr/>
            <a:lstStyle/>
            <a:p>
              <a:endParaRPr lang="en-US"/>
            </a:p>
          </p:txBody>
        </p:sp>
        <p:sp>
          <p:nvSpPr>
            <p:cNvPr id="147492" name="Freeform 36"/>
            <p:cNvSpPr>
              <a:spLocks/>
            </p:cNvSpPr>
            <p:nvPr/>
          </p:nvSpPr>
          <p:spPr bwMode="auto">
            <a:xfrm>
              <a:off x="1564" y="1751"/>
              <a:ext cx="409" cy="685"/>
            </a:xfrm>
            <a:custGeom>
              <a:avLst/>
              <a:gdLst/>
              <a:ahLst/>
              <a:cxnLst>
                <a:cxn ang="0">
                  <a:pos x="92" y="26"/>
                </a:cxn>
                <a:cxn ang="0">
                  <a:pos x="32" y="0"/>
                </a:cxn>
                <a:cxn ang="0">
                  <a:pos x="0" y="154"/>
                </a:cxn>
                <a:cxn ang="0">
                  <a:pos x="92" y="26"/>
                </a:cxn>
              </a:cxnLst>
              <a:rect l="0" t="0" r="r" b="b"/>
              <a:pathLst>
                <a:path w="92" h="154">
                  <a:moveTo>
                    <a:pt x="92" y="26"/>
                  </a:moveTo>
                  <a:cubicBezTo>
                    <a:pt x="74" y="14"/>
                    <a:pt x="54" y="5"/>
                    <a:pt x="32" y="0"/>
                  </a:cubicBezTo>
                  <a:lnTo>
                    <a:pt x="0" y="154"/>
                  </a:lnTo>
                  <a:lnTo>
                    <a:pt x="92" y="26"/>
                  </a:lnTo>
                  <a:close/>
                </a:path>
              </a:pathLst>
            </a:custGeom>
            <a:solidFill>
              <a:srgbClr val="FF0000"/>
            </a:solidFill>
            <a:ln w="6350">
              <a:solidFill>
                <a:srgbClr val="000000"/>
              </a:solidFill>
              <a:prstDash val="solid"/>
              <a:round/>
              <a:headEnd/>
              <a:tailEnd/>
            </a:ln>
          </p:spPr>
          <p:txBody>
            <a:bodyPr/>
            <a:lstStyle/>
            <a:p>
              <a:endParaRPr lang="en-US"/>
            </a:p>
          </p:txBody>
        </p:sp>
        <p:sp>
          <p:nvSpPr>
            <p:cNvPr id="147493" name="Freeform 37"/>
            <p:cNvSpPr>
              <a:spLocks/>
            </p:cNvSpPr>
            <p:nvPr/>
          </p:nvSpPr>
          <p:spPr bwMode="auto">
            <a:xfrm>
              <a:off x="1564" y="1867"/>
              <a:ext cx="516" cy="569"/>
            </a:xfrm>
            <a:custGeom>
              <a:avLst/>
              <a:gdLst/>
              <a:ahLst/>
              <a:cxnLst>
                <a:cxn ang="0">
                  <a:pos x="116" y="23"/>
                </a:cxn>
                <a:cxn ang="0">
                  <a:pos x="92" y="0"/>
                </a:cxn>
                <a:cxn ang="0">
                  <a:pos x="0" y="128"/>
                </a:cxn>
                <a:cxn ang="0">
                  <a:pos x="116" y="23"/>
                </a:cxn>
              </a:cxnLst>
              <a:rect l="0" t="0" r="r" b="b"/>
              <a:pathLst>
                <a:path w="116" h="128">
                  <a:moveTo>
                    <a:pt x="116" y="23"/>
                  </a:moveTo>
                  <a:cubicBezTo>
                    <a:pt x="109" y="14"/>
                    <a:pt x="101" y="7"/>
                    <a:pt x="92" y="0"/>
                  </a:cubicBezTo>
                  <a:lnTo>
                    <a:pt x="0" y="128"/>
                  </a:lnTo>
                  <a:lnTo>
                    <a:pt x="116" y="23"/>
                  </a:lnTo>
                  <a:close/>
                </a:path>
              </a:pathLst>
            </a:custGeom>
            <a:solidFill>
              <a:srgbClr val="FFFF00"/>
            </a:solidFill>
            <a:ln w="6350">
              <a:solidFill>
                <a:srgbClr val="000000"/>
              </a:solidFill>
              <a:prstDash val="solid"/>
              <a:round/>
              <a:headEnd/>
              <a:tailEnd/>
            </a:ln>
          </p:spPr>
          <p:txBody>
            <a:bodyPr/>
            <a:lstStyle/>
            <a:p>
              <a:endParaRPr lang="en-US"/>
            </a:p>
          </p:txBody>
        </p:sp>
        <p:sp>
          <p:nvSpPr>
            <p:cNvPr id="147494" name="Freeform 38"/>
            <p:cNvSpPr>
              <a:spLocks/>
            </p:cNvSpPr>
            <p:nvPr/>
          </p:nvSpPr>
          <p:spPr bwMode="auto">
            <a:xfrm>
              <a:off x="1564" y="1969"/>
              <a:ext cx="663" cy="467"/>
            </a:xfrm>
            <a:custGeom>
              <a:avLst/>
              <a:gdLst/>
              <a:ahLst/>
              <a:cxnLst>
                <a:cxn ang="0">
                  <a:pos x="149" y="55"/>
                </a:cxn>
                <a:cxn ang="0">
                  <a:pos x="116" y="0"/>
                </a:cxn>
                <a:cxn ang="0">
                  <a:pos x="0" y="105"/>
                </a:cxn>
                <a:cxn ang="0">
                  <a:pos x="149" y="55"/>
                </a:cxn>
              </a:cxnLst>
              <a:rect l="0" t="0" r="r" b="b"/>
              <a:pathLst>
                <a:path w="149" h="105">
                  <a:moveTo>
                    <a:pt x="149" y="55"/>
                  </a:moveTo>
                  <a:cubicBezTo>
                    <a:pt x="142" y="35"/>
                    <a:pt x="131" y="16"/>
                    <a:pt x="116" y="0"/>
                  </a:cubicBezTo>
                  <a:lnTo>
                    <a:pt x="0" y="105"/>
                  </a:lnTo>
                  <a:lnTo>
                    <a:pt x="149" y="55"/>
                  </a:lnTo>
                  <a:close/>
                </a:path>
              </a:pathLst>
            </a:custGeom>
            <a:solidFill>
              <a:srgbClr val="FF0000"/>
            </a:solidFill>
            <a:ln w="6350">
              <a:solidFill>
                <a:srgbClr val="000000"/>
              </a:solidFill>
              <a:prstDash val="solid"/>
              <a:round/>
              <a:headEnd/>
              <a:tailEnd/>
            </a:ln>
          </p:spPr>
          <p:txBody>
            <a:bodyPr/>
            <a:lstStyle/>
            <a:p>
              <a:endParaRPr lang="en-US"/>
            </a:p>
          </p:txBody>
        </p:sp>
        <p:sp>
          <p:nvSpPr>
            <p:cNvPr id="147495" name="Freeform 39"/>
            <p:cNvSpPr>
              <a:spLocks/>
            </p:cNvSpPr>
            <p:nvPr/>
          </p:nvSpPr>
          <p:spPr bwMode="auto">
            <a:xfrm>
              <a:off x="1564" y="2213"/>
              <a:ext cx="694" cy="223"/>
            </a:xfrm>
            <a:custGeom>
              <a:avLst/>
              <a:gdLst/>
              <a:ahLst/>
              <a:cxnLst>
                <a:cxn ang="0">
                  <a:pos x="156" y="33"/>
                </a:cxn>
                <a:cxn ang="0">
                  <a:pos x="149" y="0"/>
                </a:cxn>
                <a:cxn ang="0">
                  <a:pos x="0" y="50"/>
                </a:cxn>
                <a:cxn ang="0">
                  <a:pos x="156" y="33"/>
                </a:cxn>
              </a:cxnLst>
              <a:rect l="0" t="0" r="r" b="b"/>
              <a:pathLst>
                <a:path w="156" h="50">
                  <a:moveTo>
                    <a:pt x="156" y="33"/>
                  </a:moveTo>
                  <a:cubicBezTo>
                    <a:pt x="155" y="22"/>
                    <a:pt x="152" y="11"/>
                    <a:pt x="149" y="0"/>
                  </a:cubicBezTo>
                  <a:lnTo>
                    <a:pt x="0" y="50"/>
                  </a:lnTo>
                  <a:lnTo>
                    <a:pt x="156" y="33"/>
                  </a:lnTo>
                  <a:close/>
                </a:path>
              </a:pathLst>
            </a:custGeom>
            <a:solidFill>
              <a:srgbClr val="FFFF00"/>
            </a:solidFill>
            <a:ln w="6350">
              <a:solidFill>
                <a:srgbClr val="000000"/>
              </a:solidFill>
              <a:prstDash val="solid"/>
              <a:round/>
              <a:headEnd/>
              <a:tailEnd/>
            </a:ln>
          </p:spPr>
          <p:txBody>
            <a:bodyPr/>
            <a:lstStyle/>
            <a:p>
              <a:endParaRPr lang="en-US"/>
            </a:p>
          </p:txBody>
        </p:sp>
        <p:sp>
          <p:nvSpPr>
            <p:cNvPr id="147496" name="Freeform 40"/>
            <p:cNvSpPr>
              <a:spLocks/>
            </p:cNvSpPr>
            <p:nvPr/>
          </p:nvSpPr>
          <p:spPr bwMode="auto">
            <a:xfrm>
              <a:off x="1564" y="2360"/>
              <a:ext cx="698" cy="294"/>
            </a:xfrm>
            <a:custGeom>
              <a:avLst/>
              <a:gdLst/>
              <a:ahLst/>
              <a:cxnLst>
                <a:cxn ang="0">
                  <a:pos x="149" y="66"/>
                </a:cxn>
                <a:cxn ang="0">
                  <a:pos x="157" y="17"/>
                </a:cxn>
                <a:cxn ang="0">
                  <a:pos x="156" y="0"/>
                </a:cxn>
                <a:cxn ang="0">
                  <a:pos x="0" y="17"/>
                </a:cxn>
                <a:cxn ang="0">
                  <a:pos x="149" y="66"/>
                </a:cxn>
              </a:cxnLst>
              <a:rect l="0" t="0" r="r" b="b"/>
              <a:pathLst>
                <a:path w="157" h="66">
                  <a:moveTo>
                    <a:pt x="149" y="66"/>
                  </a:moveTo>
                  <a:cubicBezTo>
                    <a:pt x="154" y="50"/>
                    <a:pt x="157" y="33"/>
                    <a:pt x="157" y="17"/>
                  </a:cubicBezTo>
                  <a:cubicBezTo>
                    <a:pt x="157" y="11"/>
                    <a:pt x="156" y="6"/>
                    <a:pt x="156" y="0"/>
                  </a:cubicBezTo>
                  <a:lnTo>
                    <a:pt x="0" y="17"/>
                  </a:lnTo>
                  <a:lnTo>
                    <a:pt x="149" y="66"/>
                  </a:lnTo>
                  <a:close/>
                </a:path>
              </a:pathLst>
            </a:custGeom>
            <a:solidFill>
              <a:srgbClr val="FF0000"/>
            </a:solidFill>
            <a:ln w="6350">
              <a:solidFill>
                <a:srgbClr val="000000"/>
              </a:solidFill>
              <a:prstDash val="solid"/>
              <a:round/>
              <a:headEnd/>
              <a:tailEnd/>
            </a:ln>
          </p:spPr>
          <p:txBody>
            <a:bodyPr/>
            <a:lstStyle/>
            <a:p>
              <a:endParaRPr lang="en-US"/>
            </a:p>
          </p:txBody>
        </p:sp>
        <p:sp>
          <p:nvSpPr>
            <p:cNvPr id="147497" name="Freeform 41"/>
            <p:cNvSpPr>
              <a:spLocks/>
            </p:cNvSpPr>
            <p:nvPr/>
          </p:nvSpPr>
          <p:spPr bwMode="auto">
            <a:xfrm>
              <a:off x="1564" y="2436"/>
              <a:ext cx="663" cy="347"/>
            </a:xfrm>
            <a:custGeom>
              <a:avLst/>
              <a:gdLst/>
              <a:ahLst/>
              <a:cxnLst>
                <a:cxn ang="0">
                  <a:pos x="135" y="78"/>
                </a:cxn>
                <a:cxn ang="0">
                  <a:pos x="149" y="49"/>
                </a:cxn>
                <a:cxn ang="0">
                  <a:pos x="0" y="0"/>
                </a:cxn>
                <a:cxn ang="0">
                  <a:pos x="135" y="78"/>
                </a:cxn>
              </a:cxnLst>
              <a:rect l="0" t="0" r="r" b="b"/>
              <a:pathLst>
                <a:path w="149" h="78">
                  <a:moveTo>
                    <a:pt x="135" y="78"/>
                  </a:moveTo>
                  <a:cubicBezTo>
                    <a:pt x="141" y="69"/>
                    <a:pt x="145" y="59"/>
                    <a:pt x="149" y="49"/>
                  </a:cubicBezTo>
                  <a:lnTo>
                    <a:pt x="0" y="0"/>
                  </a:lnTo>
                  <a:lnTo>
                    <a:pt x="135" y="78"/>
                  </a:lnTo>
                  <a:close/>
                </a:path>
              </a:pathLst>
            </a:custGeom>
            <a:solidFill>
              <a:srgbClr val="FFFF00"/>
            </a:solidFill>
            <a:ln w="6350">
              <a:solidFill>
                <a:srgbClr val="000000"/>
              </a:solidFill>
              <a:prstDash val="solid"/>
              <a:round/>
              <a:headEnd/>
              <a:tailEnd/>
            </a:ln>
          </p:spPr>
          <p:txBody>
            <a:bodyPr/>
            <a:lstStyle/>
            <a:p>
              <a:endParaRPr lang="en-US"/>
            </a:p>
          </p:txBody>
        </p:sp>
        <p:sp>
          <p:nvSpPr>
            <p:cNvPr id="147498" name="Freeform 42"/>
            <p:cNvSpPr>
              <a:spLocks/>
            </p:cNvSpPr>
            <p:nvPr/>
          </p:nvSpPr>
          <p:spPr bwMode="auto">
            <a:xfrm>
              <a:off x="1564" y="2436"/>
              <a:ext cx="601" cy="565"/>
            </a:xfrm>
            <a:custGeom>
              <a:avLst/>
              <a:gdLst/>
              <a:ahLst/>
              <a:cxnLst>
                <a:cxn ang="0">
                  <a:pos x="92" y="127"/>
                </a:cxn>
                <a:cxn ang="0">
                  <a:pos x="135" y="78"/>
                </a:cxn>
                <a:cxn ang="0">
                  <a:pos x="0" y="0"/>
                </a:cxn>
                <a:cxn ang="0">
                  <a:pos x="92" y="127"/>
                </a:cxn>
              </a:cxnLst>
              <a:rect l="0" t="0" r="r" b="b"/>
              <a:pathLst>
                <a:path w="135" h="127">
                  <a:moveTo>
                    <a:pt x="92" y="127"/>
                  </a:moveTo>
                  <a:cubicBezTo>
                    <a:pt x="109" y="114"/>
                    <a:pt x="124" y="97"/>
                    <a:pt x="135" y="78"/>
                  </a:cubicBezTo>
                  <a:lnTo>
                    <a:pt x="0" y="0"/>
                  </a:lnTo>
                  <a:lnTo>
                    <a:pt x="92" y="127"/>
                  </a:lnTo>
                  <a:close/>
                </a:path>
              </a:pathLst>
            </a:custGeom>
            <a:solidFill>
              <a:srgbClr val="FF0000"/>
            </a:solidFill>
            <a:ln w="6350">
              <a:solidFill>
                <a:srgbClr val="000000"/>
              </a:solidFill>
              <a:prstDash val="solid"/>
              <a:round/>
              <a:headEnd/>
              <a:tailEnd/>
            </a:ln>
          </p:spPr>
          <p:txBody>
            <a:bodyPr/>
            <a:lstStyle/>
            <a:p>
              <a:endParaRPr lang="en-US"/>
            </a:p>
          </p:txBody>
        </p:sp>
        <p:sp>
          <p:nvSpPr>
            <p:cNvPr id="147499" name="Freeform 43"/>
            <p:cNvSpPr>
              <a:spLocks/>
            </p:cNvSpPr>
            <p:nvPr/>
          </p:nvSpPr>
          <p:spPr bwMode="auto">
            <a:xfrm>
              <a:off x="1564" y="2436"/>
              <a:ext cx="409" cy="636"/>
            </a:xfrm>
            <a:custGeom>
              <a:avLst/>
              <a:gdLst/>
              <a:ahLst/>
              <a:cxnLst>
                <a:cxn ang="0">
                  <a:pos x="64" y="143"/>
                </a:cxn>
                <a:cxn ang="0">
                  <a:pos x="92" y="127"/>
                </a:cxn>
                <a:cxn ang="0">
                  <a:pos x="0" y="0"/>
                </a:cxn>
                <a:cxn ang="0">
                  <a:pos x="64" y="143"/>
                </a:cxn>
              </a:cxnLst>
              <a:rect l="0" t="0" r="r" b="b"/>
              <a:pathLst>
                <a:path w="92" h="143">
                  <a:moveTo>
                    <a:pt x="64" y="143"/>
                  </a:moveTo>
                  <a:cubicBezTo>
                    <a:pt x="73" y="138"/>
                    <a:pt x="83" y="133"/>
                    <a:pt x="92" y="127"/>
                  </a:cubicBezTo>
                  <a:lnTo>
                    <a:pt x="0" y="0"/>
                  </a:lnTo>
                  <a:lnTo>
                    <a:pt x="64" y="143"/>
                  </a:lnTo>
                  <a:close/>
                </a:path>
              </a:pathLst>
            </a:custGeom>
            <a:solidFill>
              <a:srgbClr val="FFFF00"/>
            </a:solidFill>
            <a:ln w="6350">
              <a:solidFill>
                <a:srgbClr val="000000"/>
              </a:solidFill>
              <a:prstDash val="solid"/>
              <a:round/>
              <a:headEnd/>
              <a:tailEnd/>
            </a:ln>
          </p:spPr>
          <p:txBody>
            <a:bodyPr/>
            <a:lstStyle/>
            <a:p>
              <a:endParaRPr lang="en-US"/>
            </a:p>
          </p:txBody>
        </p:sp>
        <p:sp>
          <p:nvSpPr>
            <p:cNvPr id="147500" name="Freeform 44"/>
            <p:cNvSpPr>
              <a:spLocks/>
            </p:cNvSpPr>
            <p:nvPr/>
          </p:nvSpPr>
          <p:spPr bwMode="auto">
            <a:xfrm>
              <a:off x="1564" y="2436"/>
              <a:ext cx="285" cy="694"/>
            </a:xfrm>
            <a:custGeom>
              <a:avLst/>
              <a:gdLst/>
              <a:ahLst/>
              <a:cxnLst>
                <a:cxn ang="0">
                  <a:pos x="0" y="156"/>
                </a:cxn>
                <a:cxn ang="0">
                  <a:pos x="64" y="143"/>
                </a:cxn>
                <a:cxn ang="0">
                  <a:pos x="0" y="0"/>
                </a:cxn>
                <a:cxn ang="0">
                  <a:pos x="0" y="156"/>
                </a:cxn>
              </a:cxnLst>
              <a:rect l="0" t="0" r="r" b="b"/>
              <a:pathLst>
                <a:path w="64" h="156">
                  <a:moveTo>
                    <a:pt x="0" y="156"/>
                  </a:moveTo>
                  <a:cubicBezTo>
                    <a:pt x="22" y="156"/>
                    <a:pt x="43" y="152"/>
                    <a:pt x="64" y="143"/>
                  </a:cubicBezTo>
                  <a:lnTo>
                    <a:pt x="0" y="0"/>
                  </a:lnTo>
                  <a:lnTo>
                    <a:pt x="0" y="156"/>
                  </a:lnTo>
                  <a:close/>
                </a:path>
              </a:pathLst>
            </a:custGeom>
            <a:solidFill>
              <a:srgbClr val="FF0000"/>
            </a:solidFill>
            <a:ln w="6350">
              <a:solidFill>
                <a:srgbClr val="000000"/>
              </a:solidFill>
              <a:prstDash val="solid"/>
              <a:round/>
              <a:headEnd/>
              <a:tailEnd/>
            </a:ln>
          </p:spPr>
          <p:txBody>
            <a:bodyPr/>
            <a:lstStyle/>
            <a:p>
              <a:endParaRPr lang="en-US"/>
            </a:p>
          </p:txBody>
        </p:sp>
        <p:sp>
          <p:nvSpPr>
            <p:cNvPr id="147501" name="Freeform 45"/>
            <p:cNvSpPr>
              <a:spLocks/>
            </p:cNvSpPr>
            <p:nvPr/>
          </p:nvSpPr>
          <p:spPr bwMode="auto">
            <a:xfrm>
              <a:off x="1418" y="2436"/>
              <a:ext cx="146" cy="694"/>
            </a:xfrm>
            <a:custGeom>
              <a:avLst/>
              <a:gdLst/>
              <a:ahLst/>
              <a:cxnLst>
                <a:cxn ang="0">
                  <a:pos x="0" y="153"/>
                </a:cxn>
                <a:cxn ang="0">
                  <a:pos x="33" y="156"/>
                </a:cxn>
                <a:cxn ang="0">
                  <a:pos x="33" y="0"/>
                </a:cxn>
                <a:cxn ang="0">
                  <a:pos x="0" y="153"/>
                </a:cxn>
              </a:cxnLst>
              <a:rect l="0" t="0" r="r" b="b"/>
              <a:pathLst>
                <a:path w="33" h="156">
                  <a:moveTo>
                    <a:pt x="0" y="153"/>
                  </a:moveTo>
                  <a:cubicBezTo>
                    <a:pt x="10" y="155"/>
                    <a:pt x="21" y="156"/>
                    <a:pt x="33" y="156"/>
                  </a:cubicBezTo>
                  <a:lnTo>
                    <a:pt x="33" y="0"/>
                  </a:lnTo>
                  <a:lnTo>
                    <a:pt x="0" y="153"/>
                  </a:lnTo>
                  <a:close/>
                </a:path>
              </a:pathLst>
            </a:custGeom>
            <a:solidFill>
              <a:srgbClr val="FFFF00"/>
            </a:solidFill>
            <a:ln w="6350">
              <a:solidFill>
                <a:srgbClr val="000000"/>
              </a:solidFill>
              <a:prstDash val="solid"/>
              <a:round/>
              <a:headEnd/>
              <a:tailEnd/>
            </a:ln>
          </p:spPr>
          <p:txBody>
            <a:bodyPr/>
            <a:lstStyle/>
            <a:p>
              <a:endParaRPr lang="en-US"/>
            </a:p>
          </p:txBody>
        </p:sp>
        <p:sp>
          <p:nvSpPr>
            <p:cNvPr id="147502" name="Freeform 46"/>
            <p:cNvSpPr>
              <a:spLocks/>
            </p:cNvSpPr>
            <p:nvPr/>
          </p:nvSpPr>
          <p:spPr bwMode="auto">
            <a:xfrm>
              <a:off x="1151" y="2436"/>
              <a:ext cx="413" cy="680"/>
            </a:xfrm>
            <a:custGeom>
              <a:avLst/>
              <a:gdLst/>
              <a:ahLst/>
              <a:cxnLst>
                <a:cxn ang="0">
                  <a:pos x="0" y="127"/>
                </a:cxn>
                <a:cxn ang="0">
                  <a:pos x="60" y="153"/>
                </a:cxn>
                <a:cxn ang="0">
                  <a:pos x="93" y="0"/>
                </a:cxn>
                <a:cxn ang="0">
                  <a:pos x="0" y="127"/>
                </a:cxn>
              </a:cxnLst>
              <a:rect l="0" t="0" r="r" b="b"/>
              <a:pathLst>
                <a:path w="93" h="153">
                  <a:moveTo>
                    <a:pt x="0" y="127"/>
                  </a:moveTo>
                  <a:cubicBezTo>
                    <a:pt x="18" y="139"/>
                    <a:pt x="38" y="148"/>
                    <a:pt x="60" y="153"/>
                  </a:cubicBezTo>
                  <a:lnTo>
                    <a:pt x="93" y="0"/>
                  </a:lnTo>
                  <a:lnTo>
                    <a:pt x="0" y="127"/>
                  </a:lnTo>
                  <a:close/>
                </a:path>
              </a:pathLst>
            </a:custGeom>
            <a:solidFill>
              <a:srgbClr val="FF0000"/>
            </a:solidFill>
            <a:ln w="6350">
              <a:solidFill>
                <a:srgbClr val="000000"/>
              </a:solidFill>
              <a:prstDash val="solid"/>
              <a:round/>
              <a:headEnd/>
              <a:tailEnd/>
            </a:ln>
          </p:spPr>
          <p:txBody>
            <a:bodyPr/>
            <a:lstStyle/>
            <a:p>
              <a:endParaRPr lang="en-US"/>
            </a:p>
          </p:txBody>
        </p:sp>
        <p:sp>
          <p:nvSpPr>
            <p:cNvPr id="147503" name="Freeform 47"/>
            <p:cNvSpPr>
              <a:spLocks/>
            </p:cNvSpPr>
            <p:nvPr/>
          </p:nvSpPr>
          <p:spPr bwMode="auto">
            <a:xfrm>
              <a:off x="1044" y="2436"/>
              <a:ext cx="520" cy="565"/>
            </a:xfrm>
            <a:custGeom>
              <a:avLst/>
              <a:gdLst/>
              <a:ahLst/>
              <a:cxnLst>
                <a:cxn ang="0">
                  <a:pos x="0" y="104"/>
                </a:cxn>
                <a:cxn ang="0">
                  <a:pos x="24" y="127"/>
                </a:cxn>
                <a:cxn ang="0">
                  <a:pos x="117" y="0"/>
                </a:cxn>
                <a:cxn ang="0">
                  <a:pos x="0" y="104"/>
                </a:cxn>
              </a:cxnLst>
              <a:rect l="0" t="0" r="r" b="b"/>
              <a:pathLst>
                <a:path w="117" h="127">
                  <a:moveTo>
                    <a:pt x="0" y="104"/>
                  </a:moveTo>
                  <a:cubicBezTo>
                    <a:pt x="7" y="113"/>
                    <a:pt x="15" y="120"/>
                    <a:pt x="24" y="127"/>
                  </a:cubicBezTo>
                  <a:lnTo>
                    <a:pt x="117" y="0"/>
                  </a:lnTo>
                  <a:lnTo>
                    <a:pt x="0" y="104"/>
                  </a:lnTo>
                  <a:close/>
                </a:path>
              </a:pathLst>
            </a:custGeom>
            <a:solidFill>
              <a:srgbClr val="FFFF00"/>
            </a:solidFill>
            <a:ln w="6350">
              <a:solidFill>
                <a:srgbClr val="000000"/>
              </a:solidFill>
              <a:prstDash val="solid"/>
              <a:round/>
              <a:headEnd/>
              <a:tailEnd/>
            </a:ln>
          </p:spPr>
          <p:txBody>
            <a:bodyPr/>
            <a:lstStyle/>
            <a:p>
              <a:endParaRPr lang="en-US"/>
            </a:p>
          </p:txBody>
        </p:sp>
        <p:sp>
          <p:nvSpPr>
            <p:cNvPr id="147504" name="Freeform 48"/>
            <p:cNvSpPr>
              <a:spLocks/>
            </p:cNvSpPr>
            <p:nvPr/>
          </p:nvSpPr>
          <p:spPr bwMode="auto">
            <a:xfrm>
              <a:off x="897" y="2436"/>
              <a:ext cx="667" cy="462"/>
            </a:xfrm>
            <a:custGeom>
              <a:avLst/>
              <a:gdLst/>
              <a:ahLst/>
              <a:cxnLst>
                <a:cxn ang="0">
                  <a:pos x="0" y="49"/>
                </a:cxn>
                <a:cxn ang="0">
                  <a:pos x="33" y="104"/>
                </a:cxn>
                <a:cxn ang="0">
                  <a:pos x="150" y="0"/>
                </a:cxn>
                <a:cxn ang="0">
                  <a:pos x="0" y="49"/>
                </a:cxn>
              </a:cxnLst>
              <a:rect l="0" t="0" r="r" b="b"/>
              <a:pathLst>
                <a:path w="150" h="104">
                  <a:moveTo>
                    <a:pt x="0" y="49"/>
                  </a:moveTo>
                  <a:cubicBezTo>
                    <a:pt x="7" y="69"/>
                    <a:pt x="18" y="88"/>
                    <a:pt x="33" y="104"/>
                  </a:cubicBezTo>
                  <a:lnTo>
                    <a:pt x="150" y="0"/>
                  </a:lnTo>
                  <a:lnTo>
                    <a:pt x="0" y="49"/>
                  </a:lnTo>
                  <a:close/>
                </a:path>
              </a:pathLst>
            </a:custGeom>
            <a:solidFill>
              <a:srgbClr val="FF0000"/>
            </a:solidFill>
            <a:ln w="6350">
              <a:solidFill>
                <a:srgbClr val="000000"/>
              </a:solidFill>
              <a:prstDash val="solid"/>
              <a:round/>
              <a:headEnd/>
              <a:tailEnd/>
            </a:ln>
          </p:spPr>
          <p:txBody>
            <a:bodyPr/>
            <a:lstStyle/>
            <a:p>
              <a:endParaRPr lang="en-US"/>
            </a:p>
          </p:txBody>
        </p:sp>
        <p:sp>
          <p:nvSpPr>
            <p:cNvPr id="147505" name="Freeform 49"/>
            <p:cNvSpPr>
              <a:spLocks/>
            </p:cNvSpPr>
            <p:nvPr/>
          </p:nvSpPr>
          <p:spPr bwMode="auto">
            <a:xfrm>
              <a:off x="866" y="2436"/>
              <a:ext cx="698" cy="218"/>
            </a:xfrm>
            <a:custGeom>
              <a:avLst/>
              <a:gdLst/>
              <a:ahLst/>
              <a:cxnLst>
                <a:cxn ang="0">
                  <a:pos x="0" y="16"/>
                </a:cxn>
                <a:cxn ang="0">
                  <a:pos x="7" y="49"/>
                </a:cxn>
                <a:cxn ang="0">
                  <a:pos x="157" y="0"/>
                </a:cxn>
                <a:cxn ang="0">
                  <a:pos x="0" y="16"/>
                </a:cxn>
              </a:cxnLst>
              <a:rect l="0" t="0" r="r" b="b"/>
              <a:pathLst>
                <a:path w="157" h="49">
                  <a:moveTo>
                    <a:pt x="0" y="16"/>
                  </a:moveTo>
                  <a:cubicBezTo>
                    <a:pt x="1" y="27"/>
                    <a:pt x="4" y="38"/>
                    <a:pt x="7" y="49"/>
                  </a:cubicBezTo>
                  <a:lnTo>
                    <a:pt x="157" y="0"/>
                  </a:lnTo>
                  <a:lnTo>
                    <a:pt x="0" y="16"/>
                  </a:lnTo>
                  <a:close/>
                </a:path>
              </a:pathLst>
            </a:custGeom>
            <a:solidFill>
              <a:srgbClr val="FFFF00"/>
            </a:solidFill>
            <a:ln w="6350">
              <a:solidFill>
                <a:srgbClr val="000000"/>
              </a:solidFill>
              <a:prstDash val="solid"/>
              <a:round/>
              <a:headEnd/>
              <a:tailEnd/>
            </a:ln>
          </p:spPr>
          <p:txBody>
            <a:bodyPr/>
            <a:lstStyle/>
            <a:p>
              <a:endParaRPr lang="en-US"/>
            </a:p>
          </p:txBody>
        </p:sp>
        <p:sp>
          <p:nvSpPr>
            <p:cNvPr id="147506" name="Freeform 50"/>
            <p:cNvSpPr>
              <a:spLocks/>
            </p:cNvSpPr>
            <p:nvPr/>
          </p:nvSpPr>
          <p:spPr bwMode="auto">
            <a:xfrm>
              <a:off x="862" y="2213"/>
              <a:ext cx="702" cy="294"/>
            </a:xfrm>
            <a:custGeom>
              <a:avLst/>
              <a:gdLst/>
              <a:ahLst/>
              <a:cxnLst>
                <a:cxn ang="0">
                  <a:pos x="8" y="0"/>
                </a:cxn>
                <a:cxn ang="0">
                  <a:pos x="1" y="49"/>
                </a:cxn>
                <a:cxn ang="0">
                  <a:pos x="1" y="66"/>
                </a:cxn>
                <a:cxn ang="0">
                  <a:pos x="158" y="50"/>
                </a:cxn>
                <a:cxn ang="0">
                  <a:pos x="8" y="0"/>
                </a:cxn>
              </a:cxnLst>
              <a:rect l="0" t="0" r="r" b="b"/>
              <a:pathLst>
                <a:path w="158" h="66">
                  <a:moveTo>
                    <a:pt x="8" y="0"/>
                  </a:moveTo>
                  <a:cubicBezTo>
                    <a:pt x="3" y="16"/>
                    <a:pt x="1" y="33"/>
                    <a:pt x="1" y="49"/>
                  </a:cubicBezTo>
                  <a:cubicBezTo>
                    <a:pt x="0" y="55"/>
                    <a:pt x="1" y="60"/>
                    <a:pt x="1" y="66"/>
                  </a:cubicBezTo>
                  <a:lnTo>
                    <a:pt x="158" y="50"/>
                  </a:lnTo>
                  <a:lnTo>
                    <a:pt x="8" y="0"/>
                  </a:lnTo>
                  <a:close/>
                </a:path>
              </a:pathLst>
            </a:custGeom>
            <a:solidFill>
              <a:srgbClr val="FF0000"/>
            </a:solidFill>
            <a:ln w="6350">
              <a:solidFill>
                <a:srgbClr val="000000"/>
              </a:solidFill>
              <a:prstDash val="solid"/>
              <a:round/>
              <a:headEnd/>
              <a:tailEnd/>
            </a:ln>
          </p:spPr>
          <p:txBody>
            <a:bodyPr/>
            <a:lstStyle/>
            <a:p>
              <a:endParaRPr lang="en-US"/>
            </a:p>
          </p:txBody>
        </p:sp>
        <p:sp>
          <p:nvSpPr>
            <p:cNvPr id="147507" name="Freeform 51"/>
            <p:cNvSpPr>
              <a:spLocks/>
            </p:cNvSpPr>
            <p:nvPr/>
          </p:nvSpPr>
          <p:spPr bwMode="auto">
            <a:xfrm>
              <a:off x="897" y="2084"/>
              <a:ext cx="667" cy="352"/>
            </a:xfrm>
            <a:custGeom>
              <a:avLst/>
              <a:gdLst/>
              <a:ahLst/>
              <a:cxnLst>
                <a:cxn ang="0">
                  <a:pos x="14" y="0"/>
                </a:cxn>
                <a:cxn ang="0">
                  <a:pos x="0" y="29"/>
                </a:cxn>
                <a:cxn ang="0">
                  <a:pos x="150" y="79"/>
                </a:cxn>
                <a:cxn ang="0">
                  <a:pos x="14" y="0"/>
                </a:cxn>
              </a:cxnLst>
              <a:rect l="0" t="0" r="r" b="b"/>
              <a:pathLst>
                <a:path w="150" h="79">
                  <a:moveTo>
                    <a:pt x="14" y="0"/>
                  </a:moveTo>
                  <a:cubicBezTo>
                    <a:pt x="8" y="9"/>
                    <a:pt x="4" y="19"/>
                    <a:pt x="0" y="29"/>
                  </a:cubicBezTo>
                  <a:lnTo>
                    <a:pt x="150" y="79"/>
                  </a:lnTo>
                  <a:lnTo>
                    <a:pt x="14" y="0"/>
                  </a:lnTo>
                  <a:close/>
                </a:path>
              </a:pathLst>
            </a:custGeom>
            <a:solidFill>
              <a:srgbClr val="FFFF00"/>
            </a:solidFill>
            <a:ln w="6350">
              <a:solidFill>
                <a:srgbClr val="000000"/>
              </a:solidFill>
              <a:prstDash val="solid"/>
              <a:round/>
              <a:headEnd/>
              <a:tailEnd/>
            </a:ln>
          </p:spPr>
          <p:txBody>
            <a:bodyPr/>
            <a:lstStyle/>
            <a:p>
              <a:endParaRPr lang="en-US"/>
            </a:p>
          </p:txBody>
        </p:sp>
        <p:sp>
          <p:nvSpPr>
            <p:cNvPr id="147508" name="Freeform 52"/>
            <p:cNvSpPr>
              <a:spLocks/>
            </p:cNvSpPr>
            <p:nvPr/>
          </p:nvSpPr>
          <p:spPr bwMode="auto">
            <a:xfrm>
              <a:off x="959" y="1867"/>
              <a:ext cx="605" cy="569"/>
            </a:xfrm>
            <a:custGeom>
              <a:avLst/>
              <a:gdLst/>
              <a:ahLst/>
              <a:cxnLst>
                <a:cxn ang="0">
                  <a:pos x="43" y="0"/>
                </a:cxn>
                <a:cxn ang="0">
                  <a:pos x="0" y="49"/>
                </a:cxn>
                <a:cxn ang="0">
                  <a:pos x="136" y="128"/>
                </a:cxn>
                <a:cxn ang="0">
                  <a:pos x="43" y="0"/>
                </a:cxn>
              </a:cxnLst>
              <a:rect l="0" t="0" r="r" b="b"/>
              <a:pathLst>
                <a:path w="136" h="128">
                  <a:moveTo>
                    <a:pt x="43" y="0"/>
                  </a:moveTo>
                  <a:cubicBezTo>
                    <a:pt x="26" y="13"/>
                    <a:pt x="11" y="30"/>
                    <a:pt x="0" y="49"/>
                  </a:cubicBezTo>
                  <a:lnTo>
                    <a:pt x="136" y="128"/>
                  </a:lnTo>
                  <a:lnTo>
                    <a:pt x="43" y="0"/>
                  </a:lnTo>
                  <a:close/>
                </a:path>
              </a:pathLst>
            </a:custGeom>
            <a:solidFill>
              <a:srgbClr val="FF0000"/>
            </a:solidFill>
            <a:ln w="6350">
              <a:solidFill>
                <a:srgbClr val="000000"/>
              </a:solidFill>
              <a:prstDash val="solid"/>
              <a:round/>
              <a:headEnd/>
              <a:tailEnd/>
            </a:ln>
          </p:spPr>
          <p:txBody>
            <a:bodyPr/>
            <a:lstStyle/>
            <a:p>
              <a:endParaRPr lang="en-US"/>
            </a:p>
          </p:txBody>
        </p:sp>
        <p:sp>
          <p:nvSpPr>
            <p:cNvPr id="147509" name="Freeform 53"/>
            <p:cNvSpPr>
              <a:spLocks/>
            </p:cNvSpPr>
            <p:nvPr/>
          </p:nvSpPr>
          <p:spPr bwMode="auto">
            <a:xfrm>
              <a:off x="1151" y="1795"/>
              <a:ext cx="413" cy="641"/>
            </a:xfrm>
            <a:custGeom>
              <a:avLst/>
              <a:gdLst/>
              <a:ahLst/>
              <a:cxnLst>
                <a:cxn ang="0">
                  <a:pos x="28" y="0"/>
                </a:cxn>
                <a:cxn ang="0">
                  <a:pos x="0" y="16"/>
                </a:cxn>
                <a:cxn ang="0">
                  <a:pos x="93" y="144"/>
                </a:cxn>
                <a:cxn ang="0">
                  <a:pos x="28" y="0"/>
                </a:cxn>
              </a:cxnLst>
              <a:rect l="0" t="0" r="r" b="b"/>
              <a:pathLst>
                <a:path w="93" h="144">
                  <a:moveTo>
                    <a:pt x="28" y="0"/>
                  </a:moveTo>
                  <a:cubicBezTo>
                    <a:pt x="19" y="5"/>
                    <a:pt x="9" y="10"/>
                    <a:pt x="0" y="16"/>
                  </a:cubicBezTo>
                  <a:lnTo>
                    <a:pt x="93" y="144"/>
                  </a:lnTo>
                  <a:lnTo>
                    <a:pt x="28" y="0"/>
                  </a:lnTo>
                  <a:close/>
                </a:path>
              </a:pathLst>
            </a:custGeom>
            <a:solidFill>
              <a:srgbClr val="FFFF00"/>
            </a:solidFill>
            <a:ln w="6350">
              <a:solidFill>
                <a:srgbClr val="000000"/>
              </a:solidFill>
              <a:prstDash val="solid"/>
              <a:round/>
              <a:headEnd/>
              <a:tailEnd/>
            </a:ln>
          </p:spPr>
          <p:txBody>
            <a:bodyPr/>
            <a:lstStyle/>
            <a:p>
              <a:endParaRPr lang="en-US"/>
            </a:p>
          </p:txBody>
        </p:sp>
        <p:sp>
          <p:nvSpPr>
            <p:cNvPr id="147510" name="Freeform 54"/>
            <p:cNvSpPr>
              <a:spLocks/>
            </p:cNvSpPr>
            <p:nvPr/>
          </p:nvSpPr>
          <p:spPr bwMode="auto">
            <a:xfrm>
              <a:off x="1275" y="1738"/>
              <a:ext cx="289" cy="698"/>
            </a:xfrm>
            <a:custGeom>
              <a:avLst/>
              <a:gdLst/>
              <a:ahLst/>
              <a:cxnLst>
                <a:cxn ang="0">
                  <a:pos x="64" y="0"/>
                </a:cxn>
                <a:cxn ang="0">
                  <a:pos x="0" y="13"/>
                </a:cxn>
                <a:cxn ang="0">
                  <a:pos x="65" y="157"/>
                </a:cxn>
                <a:cxn ang="0">
                  <a:pos x="64" y="0"/>
                </a:cxn>
              </a:cxnLst>
              <a:rect l="0" t="0" r="r" b="b"/>
              <a:pathLst>
                <a:path w="65" h="157">
                  <a:moveTo>
                    <a:pt x="64" y="0"/>
                  </a:moveTo>
                  <a:cubicBezTo>
                    <a:pt x="42" y="0"/>
                    <a:pt x="21" y="4"/>
                    <a:pt x="0" y="13"/>
                  </a:cubicBezTo>
                  <a:lnTo>
                    <a:pt x="65" y="157"/>
                  </a:lnTo>
                  <a:lnTo>
                    <a:pt x="64" y="0"/>
                  </a:lnTo>
                  <a:close/>
                </a:path>
              </a:pathLst>
            </a:custGeom>
            <a:solidFill>
              <a:srgbClr val="FF0000"/>
            </a:solidFill>
            <a:ln w="6350">
              <a:solidFill>
                <a:srgbClr val="000000"/>
              </a:solidFill>
              <a:prstDash val="solid"/>
              <a:round/>
              <a:headEnd/>
              <a:tailEnd/>
            </a:ln>
          </p:spPr>
          <p:txBody>
            <a:bodyPr/>
            <a:lstStyle/>
            <a:p>
              <a:endParaRPr lang="en-US"/>
            </a:p>
          </p:txBody>
        </p:sp>
      </p:grpSp>
      <p:grpSp>
        <p:nvGrpSpPr>
          <p:cNvPr id="147512" name="Group 56"/>
          <p:cNvGrpSpPr>
            <a:grpSpLocks noChangeAspect="1"/>
          </p:cNvGrpSpPr>
          <p:nvPr/>
        </p:nvGrpSpPr>
        <p:grpSpPr bwMode="auto">
          <a:xfrm>
            <a:off x="2592388" y="2741613"/>
            <a:ext cx="4049712" cy="2741612"/>
            <a:chOff x="2928" y="1572"/>
            <a:chExt cx="2551" cy="1727"/>
          </a:xfrm>
        </p:grpSpPr>
        <p:sp>
          <p:nvSpPr>
            <p:cNvPr id="147511" name="AutoShape 55"/>
            <p:cNvSpPr>
              <a:spLocks noChangeAspect="1" noChangeArrowheads="1" noTextEdit="1"/>
            </p:cNvSpPr>
            <p:nvPr/>
          </p:nvSpPr>
          <p:spPr bwMode="auto">
            <a:xfrm>
              <a:off x="2928" y="1572"/>
              <a:ext cx="2551" cy="1727"/>
            </a:xfrm>
            <a:prstGeom prst="rect">
              <a:avLst/>
            </a:prstGeom>
            <a:noFill/>
            <a:ln w="9525">
              <a:noFill/>
              <a:miter lim="800000"/>
              <a:headEnd/>
              <a:tailEnd/>
            </a:ln>
          </p:spPr>
          <p:txBody>
            <a:bodyPr/>
            <a:lstStyle/>
            <a:p>
              <a:endParaRPr lang="en-US"/>
            </a:p>
          </p:txBody>
        </p:sp>
        <p:sp>
          <p:nvSpPr>
            <p:cNvPr id="147513" name="Freeform 57"/>
            <p:cNvSpPr>
              <a:spLocks/>
            </p:cNvSpPr>
            <p:nvPr/>
          </p:nvSpPr>
          <p:spPr bwMode="auto">
            <a:xfrm>
              <a:off x="4199" y="1731"/>
              <a:ext cx="142" cy="700"/>
            </a:xfrm>
            <a:custGeom>
              <a:avLst/>
              <a:gdLst/>
              <a:ahLst/>
              <a:cxnLst>
                <a:cxn ang="0">
                  <a:pos x="32" y="4"/>
                </a:cxn>
                <a:cxn ang="0">
                  <a:pos x="0" y="1"/>
                </a:cxn>
                <a:cxn ang="0">
                  <a:pos x="0" y="1"/>
                </a:cxn>
                <a:cxn ang="0">
                  <a:pos x="0" y="158"/>
                </a:cxn>
                <a:cxn ang="0">
                  <a:pos x="32" y="4"/>
                </a:cxn>
              </a:cxnLst>
              <a:rect l="0" t="0" r="r" b="b"/>
              <a:pathLst>
                <a:path w="32" h="158">
                  <a:moveTo>
                    <a:pt x="32" y="4"/>
                  </a:moveTo>
                  <a:cubicBezTo>
                    <a:pt x="22" y="2"/>
                    <a:pt x="11" y="1"/>
                    <a:pt x="0" y="1"/>
                  </a:cubicBezTo>
                  <a:cubicBezTo>
                    <a:pt x="0" y="0"/>
                    <a:pt x="0" y="1"/>
                    <a:pt x="0" y="1"/>
                  </a:cubicBezTo>
                  <a:lnTo>
                    <a:pt x="0" y="158"/>
                  </a:lnTo>
                  <a:lnTo>
                    <a:pt x="32" y="4"/>
                  </a:lnTo>
                  <a:close/>
                </a:path>
              </a:pathLst>
            </a:custGeom>
            <a:solidFill>
              <a:srgbClr val="FF0000"/>
            </a:solidFill>
            <a:ln w="6350">
              <a:solidFill>
                <a:srgbClr val="000000"/>
              </a:solidFill>
              <a:prstDash val="solid"/>
              <a:round/>
              <a:headEnd/>
              <a:tailEnd/>
            </a:ln>
          </p:spPr>
          <p:txBody>
            <a:bodyPr/>
            <a:lstStyle/>
            <a:p>
              <a:endParaRPr lang="en-US"/>
            </a:p>
          </p:txBody>
        </p:sp>
        <p:sp>
          <p:nvSpPr>
            <p:cNvPr id="147514" name="Freeform 58"/>
            <p:cNvSpPr>
              <a:spLocks/>
            </p:cNvSpPr>
            <p:nvPr/>
          </p:nvSpPr>
          <p:spPr bwMode="auto">
            <a:xfrm>
              <a:off x="4199" y="1749"/>
              <a:ext cx="407" cy="682"/>
            </a:xfrm>
            <a:custGeom>
              <a:avLst/>
              <a:gdLst/>
              <a:ahLst/>
              <a:cxnLst>
                <a:cxn ang="0">
                  <a:pos x="92" y="26"/>
                </a:cxn>
                <a:cxn ang="0">
                  <a:pos x="32" y="0"/>
                </a:cxn>
                <a:cxn ang="0">
                  <a:pos x="0" y="154"/>
                </a:cxn>
                <a:cxn ang="0">
                  <a:pos x="92" y="26"/>
                </a:cxn>
              </a:cxnLst>
              <a:rect l="0" t="0" r="r" b="b"/>
              <a:pathLst>
                <a:path w="92" h="154">
                  <a:moveTo>
                    <a:pt x="92" y="26"/>
                  </a:moveTo>
                  <a:cubicBezTo>
                    <a:pt x="74" y="13"/>
                    <a:pt x="54" y="4"/>
                    <a:pt x="32" y="0"/>
                  </a:cubicBezTo>
                  <a:lnTo>
                    <a:pt x="0" y="154"/>
                  </a:lnTo>
                  <a:lnTo>
                    <a:pt x="92" y="26"/>
                  </a:lnTo>
                  <a:close/>
                </a:path>
              </a:pathLst>
            </a:custGeom>
            <a:solidFill>
              <a:srgbClr val="FFFF00"/>
            </a:solidFill>
            <a:ln w="6350">
              <a:solidFill>
                <a:srgbClr val="000000"/>
              </a:solidFill>
              <a:prstDash val="solid"/>
              <a:round/>
              <a:headEnd/>
              <a:tailEnd/>
            </a:ln>
          </p:spPr>
          <p:txBody>
            <a:bodyPr/>
            <a:lstStyle/>
            <a:p>
              <a:endParaRPr lang="en-US"/>
            </a:p>
          </p:txBody>
        </p:sp>
        <p:sp>
          <p:nvSpPr>
            <p:cNvPr id="147515" name="Freeform 59"/>
            <p:cNvSpPr>
              <a:spLocks/>
            </p:cNvSpPr>
            <p:nvPr/>
          </p:nvSpPr>
          <p:spPr bwMode="auto">
            <a:xfrm>
              <a:off x="4199" y="1864"/>
              <a:ext cx="518" cy="567"/>
            </a:xfrm>
            <a:custGeom>
              <a:avLst/>
              <a:gdLst/>
              <a:ahLst/>
              <a:cxnLst>
                <a:cxn ang="0">
                  <a:pos x="117" y="22"/>
                </a:cxn>
                <a:cxn ang="0">
                  <a:pos x="92" y="0"/>
                </a:cxn>
                <a:cxn ang="0">
                  <a:pos x="0" y="128"/>
                </a:cxn>
                <a:cxn ang="0">
                  <a:pos x="117" y="22"/>
                </a:cxn>
              </a:cxnLst>
              <a:rect l="0" t="0" r="r" b="b"/>
              <a:pathLst>
                <a:path w="117" h="128">
                  <a:moveTo>
                    <a:pt x="117" y="22"/>
                  </a:moveTo>
                  <a:cubicBezTo>
                    <a:pt x="109" y="14"/>
                    <a:pt x="101" y="7"/>
                    <a:pt x="92" y="0"/>
                  </a:cubicBezTo>
                  <a:lnTo>
                    <a:pt x="0" y="128"/>
                  </a:lnTo>
                  <a:lnTo>
                    <a:pt x="117" y="22"/>
                  </a:lnTo>
                  <a:close/>
                </a:path>
              </a:pathLst>
            </a:custGeom>
            <a:solidFill>
              <a:srgbClr val="FF0000"/>
            </a:solidFill>
            <a:ln w="6350">
              <a:solidFill>
                <a:srgbClr val="000000"/>
              </a:solidFill>
              <a:prstDash val="solid"/>
              <a:round/>
              <a:headEnd/>
              <a:tailEnd/>
            </a:ln>
          </p:spPr>
          <p:txBody>
            <a:bodyPr/>
            <a:lstStyle/>
            <a:p>
              <a:endParaRPr lang="en-US"/>
            </a:p>
          </p:txBody>
        </p:sp>
        <p:sp>
          <p:nvSpPr>
            <p:cNvPr id="147516" name="Freeform 60"/>
            <p:cNvSpPr>
              <a:spLocks/>
            </p:cNvSpPr>
            <p:nvPr/>
          </p:nvSpPr>
          <p:spPr bwMode="auto">
            <a:xfrm>
              <a:off x="4199" y="1962"/>
              <a:ext cx="660" cy="469"/>
            </a:xfrm>
            <a:custGeom>
              <a:avLst/>
              <a:gdLst/>
              <a:ahLst/>
              <a:cxnLst>
                <a:cxn ang="0">
                  <a:pos x="149" y="56"/>
                </a:cxn>
                <a:cxn ang="0">
                  <a:pos x="117" y="0"/>
                </a:cxn>
                <a:cxn ang="0">
                  <a:pos x="0" y="106"/>
                </a:cxn>
                <a:cxn ang="0">
                  <a:pos x="149" y="56"/>
                </a:cxn>
              </a:cxnLst>
              <a:rect l="0" t="0" r="r" b="b"/>
              <a:pathLst>
                <a:path w="149" h="106">
                  <a:moveTo>
                    <a:pt x="149" y="56"/>
                  </a:moveTo>
                  <a:cubicBezTo>
                    <a:pt x="143" y="35"/>
                    <a:pt x="131" y="16"/>
                    <a:pt x="117" y="0"/>
                  </a:cubicBezTo>
                  <a:lnTo>
                    <a:pt x="0" y="106"/>
                  </a:lnTo>
                  <a:lnTo>
                    <a:pt x="149" y="56"/>
                  </a:lnTo>
                  <a:close/>
                </a:path>
              </a:pathLst>
            </a:custGeom>
            <a:solidFill>
              <a:srgbClr val="FFFF00"/>
            </a:solidFill>
            <a:ln w="6350">
              <a:solidFill>
                <a:srgbClr val="000000"/>
              </a:solidFill>
              <a:prstDash val="solid"/>
              <a:round/>
              <a:headEnd/>
              <a:tailEnd/>
            </a:ln>
          </p:spPr>
          <p:txBody>
            <a:bodyPr/>
            <a:lstStyle/>
            <a:p>
              <a:endParaRPr lang="en-US"/>
            </a:p>
          </p:txBody>
        </p:sp>
        <p:sp>
          <p:nvSpPr>
            <p:cNvPr id="147517" name="Freeform 61"/>
            <p:cNvSpPr>
              <a:spLocks/>
            </p:cNvSpPr>
            <p:nvPr/>
          </p:nvSpPr>
          <p:spPr bwMode="auto">
            <a:xfrm>
              <a:off x="4199" y="2210"/>
              <a:ext cx="695" cy="221"/>
            </a:xfrm>
            <a:custGeom>
              <a:avLst/>
              <a:gdLst/>
              <a:ahLst/>
              <a:cxnLst>
                <a:cxn ang="0">
                  <a:pos x="157" y="33"/>
                </a:cxn>
                <a:cxn ang="0">
                  <a:pos x="149" y="0"/>
                </a:cxn>
                <a:cxn ang="0">
                  <a:pos x="0" y="50"/>
                </a:cxn>
                <a:cxn ang="0">
                  <a:pos x="157" y="33"/>
                </a:cxn>
              </a:cxnLst>
              <a:rect l="0" t="0" r="r" b="b"/>
              <a:pathLst>
                <a:path w="157" h="50">
                  <a:moveTo>
                    <a:pt x="157" y="33"/>
                  </a:moveTo>
                  <a:cubicBezTo>
                    <a:pt x="155" y="22"/>
                    <a:pt x="153" y="11"/>
                    <a:pt x="149" y="0"/>
                  </a:cubicBezTo>
                  <a:lnTo>
                    <a:pt x="0" y="50"/>
                  </a:lnTo>
                  <a:lnTo>
                    <a:pt x="157" y="33"/>
                  </a:lnTo>
                  <a:close/>
                </a:path>
              </a:pathLst>
            </a:custGeom>
            <a:solidFill>
              <a:srgbClr val="FF0000"/>
            </a:solidFill>
            <a:ln w="6350">
              <a:solidFill>
                <a:srgbClr val="000000"/>
              </a:solidFill>
              <a:prstDash val="solid"/>
              <a:round/>
              <a:headEnd/>
              <a:tailEnd/>
            </a:ln>
          </p:spPr>
          <p:txBody>
            <a:bodyPr/>
            <a:lstStyle/>
            <a:p>
              <a:endParaRPr lang="en-US"/>
            </a:p>
          </p:txBody>
        </p:sp>
        <p:sp>
          <p:nvSpPr>
            <p:cNvPr id="147518" name="Freeform 62"/>
            <p:cNvSpPr>
              <a:spLocks/>
            </p:cNvSpPr>
            <p:nvPr/>
          </p:nvSpPr>
          <p:spPr bwMode="auto">
            <a:xfrm>
              <a:off x="4199" y="2356"/>
              <a:ext cx="700" cy="292"/>
            </a:xfrm>
            <a:custGeom>
              <a:avLst/>
              <a:gdLst/>
              <a:ahLst/>
              <a:cxnLst>
                <a:cxn ang="0">
                  <a:pos x="150" y="66"/>
                </a:cxn>
                <a:cxn ang="0">
                  <a:pos x="158" y="17"/>
                </a:cxn>
                <a:cxn ang="0">
                  <a:pos x="157" y="0"/>
                </a:cxn>
                <a:cxn ang="0">
                  <a:pos x="0" y="17"/>
                </a:cxn>
                <a:cxn ang="0">
                  <a:pos x="150" y="66"/>
                </a:cxn>
              </a:cxnLst>
              <a:rect l="0" t="0" r="r" b="b"/>
              <a:pathLst>
                <a:path w="158" h="66">
                  <a:moveTo>
                    <a:pt x="150" y="66"/>
                  </a:moveTo>
                  <a:cubicBezTo>
                    <a:pt x="155" y="50"/>
                    <a:pt x="158" y="34"/>
                    <a:pt x="158" y="17"/>
                  </a:cubicBezTo>
                  <a:cubicBezTo>
                    <a:pt x="158" y="11"/>
                    <a:pt x="157" y="6"/>
                    <a:pt x="157" y="0"/>
                  </a:cubicBezTo>
                  <a:lnTo>
                    <a:pt x="0" y="17"/>
                  </a:lnTo>
                  <a:lnTo>
                    <a:pt x="150" y="66"/>
                  </a:lnTo>
                  <a:close/>
                </a:path>
              </a:pathLst>
            </a:custGeom>
            <a:solidFill>
              <a:srgbClr val="FFFF00"/>
            </a:solidFill>
            <a:ln w="6350">
              <a:solidFill>
                <a:srgbClr val="000000"/>
              </a:solidFill>
              <a:prstDash val="solid"/>
              <a:round/>
              <a:headEnd/>
              <a:tailEnd/>
            </a:ln>
          </p:spPr>
          <p:txBody>
            <a:bodyPr/>
            <a:lstStyle/>
            <a:p>
              <a:endParaRPr lang="en-US"/>
            </a:p>
          </p:txBody>
        </p:sp>
        <p:sp>
          <p:nvSpPr>
            <p:cNvPr id="147519" name="Freeform 63"/>
            <p:cNvSpPr>
              <a:spLocks/>
            </p:cNvSpPr>
            <p:nvPr/>
          </p:nvSpPr>
          <p:spPr bwMode="auto">
            <a:xfrm>
              <a:off x="4199" y="2431"/>
              <a:ext cx="664" cy="350"/>
            </a:xfrm>
            <a:custGeom>
              <a:avLst/>
              <a:gdLst/>
              <a:ahLst/>
              <a:cxnLst>
                <a:cxn ang="0">
                  <a:pos x="136" y="79"/>
                </a:cxn>
                <a:cxn ang="0">
                  <a:pos x="150" y="49"/>
                </a:cxn>
                <a:cxn ang="0">
                  <a:pos x="0" y="0"/>
                </a:cxn>
                <a:cxn ang="0">
                  <a:pos x="136" y="79"/>
                </a:cxn>
              </a:cxnLst>
              <a:rect l="0" t="0" r="r" b="b"/>
              <a:pathLst>
                <a:path w="150" h="79">
                  <a:moveTo>
                    <a:pt x="136" y="79"/>
                  </a:moveTo>
                  <a:cubicBezTo>
                    <a:pt x="142" y="69"/>
                    <a:pt x="146" y="59"/>
                    <a:pt x="150" y="49"/>
                  </a:cubicBezTo>
                  <a:lnTo>
                    <a:pt x="0" y="0"/>
                  </a:lnTo>
                  <a:lnTo>
                    <a:pt x="136" y="79"/>
                  </a:lnTo>
                  <a:close/>
                </a:path>
              </a:pathLst>
            </a:custGeom>
            <a:solidFill>
              <a:srgbClr val="FF0000"/>
            </a:solidFill>
            <a:ln w="6350">
              <a:solidFill>
                <a:srgbClr val="000000"/>
              </a:solidFill>
              <a:prstDash val="solid"/>
              <a:round/>
              <a:headEnd/>
              <a:tailEnd/>
            </a:ln>
          </p:spPr>
          <p:txBody>
            <a:bodyPr/>
            <a:lstStyle/>
            <a:p>
              <a:endParaRPr lang="en-US"/>
            </a:p>
          </p:txBody>
        </p:sp>
        <p:sp>
          <p:nvSpPr>
            <p:cNvPr id="147520" name="Freeform 64"/>
            <p:cNvSpPr>
              <a:spLocks/>
            </p:cNvSpPr>
            <p:nvPr/>
          </p:nvSpPr>
          <p:spPr bwMode="auto">
            <a:xfrm>
              <a:off x="4199" y="2431"/>
              <a:ext cx="602" cy="567"/>
            </a:xfrm>
            <a:custGeom>
              <a:avLst/>
              <a:gdLst/>
              <a:ahLst/>
              <a:cxnLst>
                <a:cxn ang="0">
                  <a:pos x="92" y="128"/>
                </a:cxn>
                <a:cxn ang="0">
                  <a:pos x="136" y="79"/>
                </a:cxn>
                <a:cxn ang="0">
                  <a:pos x="0" y="0"/>
                </a:cxn>
                <a:cxn ang="0">
                  <a:pos x="92" y="128"/>
                </a:cxn>
              </a:cxnLst>
              <a:rect l="0" t="0" r="r" b="b"/>
              <a:pathLst>
                <a:path w="136" h="128">
                  <a:moveTo>
                    <a:pt x="92" y="128"/>
                  </a:moveTo>
                  <a:cubicBezTo>
                    <a:pt x="110" y="115"/>
                    <a:pt x="125" y="98"/>
                    <a:pt x="136" y="79"/>
                  </a:cubicBezTo>
                  <a:lnTo>
                    <a:pt x="0" y="0"/>
                  </a:lnTo>
                  <a:lnTo>
                    <a:pt x="92" y="128"/>
                  </a:lnTo>
                  <a:close/>
                </a:path>
              </a:pathLst>
            </a:custGeom>
            <a:solidFill>
              <a:srgbClr val="FFFF00"/>
            </a:solidFill>
            <a:ln w="6350">
              <a:solidFill>
                <a:srgbClr val="000000"/>
              </a:solidFill>
              <a:prstDash val="solid"/>
              <a:round/>
              <a:headEnd/>
              <a:tailEnd/>
            </a:ln>
          </p:spPr>
          <p:txBody>
            <a:bodyPr/>
            <a:lstStyle/>
            <a:p>
              <a:endParaRPr lang="en-US"/>
            </a:p>
          </p:txBody>
        </p:sp>
        <p:sp>
          <p:nvSpPr>
            <p:cNvPr id="147521" name="Freeform 65"/>
            <p:cNvSpPr>
              <a:spLocks/>
            </p:cNvSpPr>
            <p:nvPr/>
          </p:nvSpPr>
          <p:spPr bwMode="auto">
            <a:xfrm>
              <a:off x="4199" y="2431"/>
              <a:ext cx="407" cy="638"/>
            </a:xfrm>
            <a:custGeom>
              <a:avLst/>
              <a:gdLst/>
              <a:ahLst/>
              <a:cxnLst>
                <a:cxn ang="0">
                  <a:pos x="64" y="144"/>
                </a:cxn>
                <a:cxn ang="0">
                  <a:pos x="92" y="128"/>
                </a:cxn>
                <a:cxn ang="0">
                  <a:pos x="0" y="0"/>
                </a:cxn>
                <a:cxn ang="0">
                  <a:pos x="64" y="144"/>
                </a:cxn>
              </a:cxnLst>
              <a:rect l="0" t="0" r="r" b="b"/>
              <a:pathLst>
                <a:path w="92" h="144">
                  <a:moveTo>
                    <a:pt x="64" y="144"/>
                  </a:moveTo>
                  <a:cubicBezTo>
                    <a:pt x="74" y="139"/>
                    <a:pt x="83" y="134"/>
                    <a:pt x="92" y="128"/>
                  </a:cubicBezTo>
                  <a:lnTo>
                    <a:pt x="0" y="0"/>
                  </a:lnTo>
                  <a:lnTo>
                    <a:pt x="64" y="144"/>
                  </a:lnTo>
                  <a:close/>
                </a:path>
              </a:pathLst>
            </a:custGeom>
            <a:solidFill>
              <a:srgbClr val="FF0000"/>
            </a:solidFill>
            <a:ln w="6350">
              <a:solidFill>
                <a:srgbClr val="000000"/>
              </a:solidFill>
              <a:prstDash val="solid"/>
              <a:round/>
              <a:headEnd/>
              <a:tailEnd/>
            </a:ln>
          </p:spPr>
          <p:txBody>
            <a:bodyPr/>
            <a:lstStyle/>
            <a:p>
              <a:endParaRPr lang="en-US"/>
            </a:p>
          </p:txBody>
        </p:sp>
        <p:sp>
          <p:nvSpPr>
            <p:cNvPr id="147522" name="Freeform 66"/>
            <p:cNvSpPr>
              <a:spLocks/>
            </p:cNvSpPr>
            <p:nvPr/>
          </p:nvSpPr>
          <p:spPr bwMode="auto">
            <a:xfrm>
              <a:off x="4195" y="2431"/>
              <a:ext cx="287" cy="695"/>
            </a:xfrm>
            <a:custGeom>
              <a:avLst/>
              <a:gdLst/>
              <a:ahLst/>
              <a:cxnLst>
                <a:cxn ang="0">
                  <a:pos x="0" y="157"/>
                </a:cxn>
                <a:cxn ang="0">
                  <a:pos x="1" y="157"/>
                </a:cxn>
                <a:cxn ang="0">
                  <a:pos x="65" y="144"/>
                </a:cxn>
                <a:cxn ang="0">
                  <a:pos x="1" y="0"/>
                </a:cxn>
                <a:cxn ang="0">
                  <a:pos x="0" y="157"/>
                </a:cxn>
              </a:cxnLst>
              <a:rect l="0" t="0" r="r" b="b"/>
              <a:pathLst>
                <a:path w="65" h="157">
                  <a:moveTo>
                    <a:pt x="0" y="157"/>
                  </a:moveTo>
                  <a:cubicBezTo>
                    <a:pt x="1" y="157"/>
                    <a:pt x="1" y="157"/>
                    <a:pt x="1" y="157"/>
                  </a:cubicBezTo>
                  <a:cubicBezTo>
                    <a:pt x="23" y="157"/>
                    <a:pt x="45" y="153"/>
                    <a:pt x="65" y="144"/>
                  </a:cubicBezTo>
                  <a:lnTo>
                    <a:pt x="1" y="0"/>
                  </a:lnTo>
                  <a:lnTo>
                    <a:pt x="0" y="157"/>
                  </a:lnTo>
                  <a:close/>
                </a:path>
              </a:pathLst>
            </a:custGeom>
            <a:solidFill>
              <a:srgbClr val="FFFF00"/>
            </a:solidFill>
            <a:ln w="6350">
              <a:solidFill>
                <a:srgbClr val="000000"/>
              </a:solidFill>
              <a:prstDash val="solid"/>
              <a:round/>
              <a:headEnd/>
              <a:tailEnd/>
            </a:ln>
          </p:spPr>
          <p:txBody>
            <a:bodyPr/>
            <a:lstStyle/>
            <a:p>
              <a:endParaRPr lang="en-US"/>
            </a:p>
          </p:txBody>
        </p:sp>
        <p:sp>
          <p:nvSpPr>
            <p:cNvPr id="147523" name="Freeform 67"/>
            <p:cNvSpPr>
              <a:spLocks/>
            </p:cNvSpPr>
            <p:nvPr/>
          </p:nvSpPr>
          <p:spPr bwMode="auto">
            <a:xfrm>
              <a:off x="4048" y="2431"/>
              <a:ext cx="151" cy="695"/>
            </a:xfrm>
            <a:custGeom>
              <a:avLst/>
              <a:gdLst/>
              <a:ahLst/>
              <a:cxnLst>
                <a:cxn ang="0">
                  <a:pos x="0" y="154"/>
                </a:cxn>
                <a:cxn ang="0">
                  <a:pos x="33" y="157"/>
                </a:cxn>
                <a:cxn ang="0">
                  <a:pos x="34" y="0"/>
                </a:cxn>
                <a:cxn ang="0">
                  <a:pos x="0" y="154"/>
                </a:cxn>
              </a:cxnLst>
              <a:rect l="0" t="0" r="r" b="b"/>
              <a:pathLst>
                <a:path w="34" h="157">
                  <a:moveTo>
                    <a:pt x="0" y="154"/>
                  </a:moveTo>
                  <a:cubicBezTo>
                    <a:pt x="11" y="156"/>
                    <a:pt x="22" y="157"/>
                    <a:pt x="33" y="157"/>
                  </a:cubicBezTo>
                  <a:lnTo>
                    <a:pt x="34" y="0"/>
                  </a:lnTo>
                  <a:lnTo>
                    <a:pt x="0" y="154"/>
                  </a:lnTo>
                  <a:close/>
                </a:path>
              </a:pathLst>
            </a:custGeom>
            <a:solidFill>
              <a:srgbClr val="FF0000"/>
            </a:solidFill>
            <a:ln w="6350">
              <a:solidFill>
                <a:srgbClr val="000000"/>
              </a:solidFill>
              <a:prstDash val="solid"/>
              <a:round/>
              <a:headEnd/>
              <a:tailEnd/>
            </a:ln>
          </p:spPr>
          <p:txBody>
            <a:bodyPr/>
            <a:lstStyle/>
            <a:p>
              <a:endParaRPr lang="en-US"/>
            </a:p>
          </p:txBody>
        </p:sp>
        <p:sp>
          <p:nvSpPr>
            <p:cNvPr id="147524" name="Freeform 68"/>
            <p:cNvSpPr>
              <a:spLocks/>
            </p:cNvSpPr>
            <p:nvPr/>
          </p:nvSpPr>
          <p:spPr bwMode="auto">
            <a:xfrm>
              <a:off x="3787" y="2431"/>
              <a:ext cx="412" cy="682"/>
            </a:xfrm>
            <a:custGeom>
              <a:avLst/>
              <a:gdLst/>
              <a:ahLst/>
              <a:cxnLst>
                <a:cxn ang="0">
                  <a:pos x="0" y="127"/>
                </a:cxn>
                <a:cxn ang="0">
                  <a:pos x="59" y="154"/>
                </a:cxn>
                <a:cxn ang="0">
                  <a:pos x="93" y="0"/>
                </a:cxn>
                <a:cxn ang="0">
                  <a:pos x="0" y="127"/>
                </a:cxn>
              </a:cxnLst>
              <a:rect l="0" t="0" r="r" b="b"/>
              <a:pathLst>
                <a:path w="93" h="154">
                  <a:moveTo>
                    <a:pt x="0" y="127"/>
                  </a:moveTo>
                  <a:cubicBezTo>
                    <a:pt x="18" y="140"/>
                    <a:pt x="38" y="149"/>
                    <a:pt x="59" y="154"/>
                  </a:cubicBezTo>
                  <a:lnTo>
                    <a:pt x="93" y="0"/>
                  </a:lnTo>
                  <a:lnTo>
                    <a:pt x="0" y="127"/>
                  </a:lnTo>
                  <a:close/>
                </a:path>
              </a:pathLst>
            </a:custGeom>
            <a:solidFill>
              <a:srgbClr val="FFFF00"/>
            </a:solidFill>
            <a:ln w="6350">
              <a:solidFill>
                <a:srgbClr val="000000"/>
              </a:solidFill>
              <a:prstDash val="solid"/>
              <a:round/>
              <a:headEnd/>
              <a:tailEnd/>
            </a:ln>
          </p:spPr>
          <p:txBody>
            <a:bodyPr/>
            <a:lstStyle/>
            <a:p>
              <a:endParaRPr lang="en-US"/>
            </a:p>
          </p:txBody>
        </p:sp>
        <p:sp>
          <p:nvSpPr>
            <p:cNvPr id="147525" name="Freeform 69"/>
            <p:cNvSpPr>
              <a:spLocks/>
            </p:cNvSpPr>
            <p:nvPr/>
          </p:nvSpPr>
          <p:spPr bwMode="auto">
            <a:xfrm>
              <a:off x="3676" y="2431"/>
              <a:ext cx="523" cy="562"/>
            </a:xfrm>
            <a:custGeom>
              <a:avLst/>
              <a:gdLst/>
              <a:ahLst/>
              <a:cxnLst>
                <a:cxn ang="0">
                  <a:pos x="0" y="105"/>
                </a:cxn>
                <a:cxn ang="0">
                  <a:pos x="25" y="127"/>
                </a:cxn>
                <a:cxn ang="0">
                  <a:pos x="118" y="0"/>
                </a:cxn>
                <a:cxn ang="0">
                  <a:pos x="0" y="105"/>
                </a:cxn>
              </a:cxnLst>
              <a:rect l="0" t="0" r="r" b="b"/>
              <a:pathLst>
                <a:path w="118" h="127">
                  <a:moveTo>
                    <a:pt x="0" y="105"/>
                  </a:moveTo>
                  <a:cubicBezTo>
                    <a:pt x="8" y="113"/>
                    <a:pt x="16" y="121"/>
                    <a:pt x="25" y="127"/>
                  </a:cubicBezTo>
                  <a:lnTo>
                    <a:pt x="118" y="0"/>
                  </a:lnTo>
                  <a:lnTo>
                    <a:pt x="0" y="105"/>
                  </a:lnTo>
                  <a:close/>
                </a:path>
              </a:pathLst>
            </a:custGeom>
            <a:solidFill>
              <a:srgbClr val="FF0000"/>
            </a:solidFill>
            <a:ln w="6350">
              <a:solidFill>
                <a:srgbClr val="000000"/>
              </a:solidFill>
              <a:prstDash val="solid"/>
              <a:round/>
              <a:headEnd/>
              <a:tailEnd/>
            </a:ln>
          </p:spPr>
          <p:txBody>
            <a:bodyPr/>
            <a:lstStyle/>
            <a:p>
              <a:endParaRPr lang="en-US"/>
            </a:p>
          </p:txBody>
        </p:sp>
        <p:sp>
          <p:nvSpPr>
            <p:cNvPr id="147526" name="Freeform 70"/>
            <p:cNvSpPr>
              <a:spLocks/>
            </p:cNvSpPr>
            <p:nvPr/>
          </p:nvSpPr>
          <p:spPr bwMode="auto">
            <a:xfrm>
              <a:off x="3535" y="2431"/>
              <a:ext cx="664" cy="465"/>
            </a:xfrm>
            <a:custGeom>
              <a:avLst/>
              <a:gdLst/>
              <a:ahLst/>
              <a:cxnLst>
                <a:cxn ang="0">
                  <a:pos x="0" y="49"/>
                </a:cxn>
                <a:cxn ang="0">
                  <a:pos x="32" y="105"/>
                </a:cxn>
                <a:cxn ang="0">
                  <a:pos x="150" y="0"/>
                </a:cxn>
                <a:cxn ang="0">
                  <a:pos x="0" y="49"/>
                </a:cxn>
              </a:cxnLst>
              <a:rect l="0" t="0" r="r" b="b"/>
              <a:pathLst>
                <a:path w="150" h="105">
                  <a:moveTo>
                    <a:pt x="0" y="49"/>
                  </a:moveTo>
                  <a:cubicBezTo>
                    <a:pt x="7" y="69"/>
                    <a:pt x="18" y="88"/>
                    <a:pt x="32" y="105"/>
                  </a:cubicBezTo>
                  <a:lnTo>
                    <a:pt x="150" y="0"/>
                  </a:lnTo>
                  <a:lnTo>
                    <a:pt x="0" y="49"/>
                  </a:lnTo>
                  <a:close/>
                </a:path>
              </a:pathLst>
            </a:custGeom>
            <a:solidFill>
              <a:srgbClr val="FFFF00"/>
            </a:solidFill>
            <a:ln w="6350">
              <a:solidFill>
                <a:srgbClr val="000000"/>
              </a:solidFill>
              <a:prstDash val="solid"/>
              <a:round/>
              <a:headEnd/>
              <a:tailEnd/>
            </a:ln>
          </p:spPr>
          <p:txBody>
            <a:bodyPr/>
            <a:lstStyle/>
            <a:p>
              <a:endParaRPr lang="en-US"/>
            </a:p>
          </p:txBody>
        </p:sp>
        <p:sp>
          <p:nvSpPr>
            <p:cNvPr id="147527" name="Freeform 71"/>
            <p:cNvSpPr>
              <a:spLocks/>
            </p:cNvSpPr>
            <p:nvPr/>
          </p:nvSpPr>
          <p:spPr bwMode="auto">
            <a:xfrm>
              <a:off x="3504" y="2431"/>
              <a:ext cx="695" cy="217"/>
            </a:xfrm>
            <a:custGeom>
              <a:avLst/>
              <a:gdLst/>
              <a:ahLst/>
              <a:cxnLst>
                <a:cxn ang="0">
                  <a:pos x="0" y="16"/>
                </a:cxn>
                <a:cxn ang="0">
                  <a:pos x="7" y="49"/>
                </a:cxn>
                <a:cxn ang="0">
                  <a:pos x="157" y="0"/>
                </a:cxn>
                <a:cxn ang="0">
                  <a:pos x="0" y="16"/>
                </a:cxn>
              </a:cxnLst>
              <a:rect l="0" t="0" r="r" b="b"/>
              <a:pathLst>
                <a:path w="157" h="49">
                  <a:moveTo>
                    <a:pt x="0" y="16"/>
                  </a:moveTo>
                  <a:cubicBezTo>
                    <a:pt x="1" y="27"/>
                    <a:pt x="4" y="38"/>
                    <a:pt x="7" y="49"/>
                  </a:cubicBezTo>
                  <a:lnTo>
                    <a:pt x="157" y="0"/>
                  </a:lnTo>
                  <a:lnTo>
                    <a:pt x="0" y="16"/>
                  </a:lnTo>
                  <a:close/>
                </a:path>
              </a:pathLst>
            </a:custGeom>
            <a:solidFill>
              <a:srgbClr val="FF0000"/>
            </a:solidFill>
            <a:ln w="6350">
              <a:solidFill>
                <a:srgbClr val="000000"/>
              </a:solidFill>
              <a:prstDash val="solid"/>
              <a:round/>
              <a:headEnd/>
              <a:tailEnd/>
            </a:ln>
          </p:spPr>
          <p:txBody>
            <a:bodyPr/>
            <a:lstStyle/>
            <a:p>
              <a:endParaRPr lang="en-US"/>
            </a:p>
          </p:txBody>
        </p:sp>
        <p:sp>
          <p:nvSpPr>
            <p:cNvPr id="147528" name="Freeform 72"/>
            <p:cNvSpPr>
              <a:spLocks/>
            </p:cNvSpPr>
            <p:nvPr/>
          </p:nvSpPr>
          <p:spPr bwMode="auto">
            <a:xfrm>
              <a:off x="3499" y="2210"/>
              <a:ext cx="700" cy="292"/>
            </a:xfrm>
            <a:custGeom>
              <a:avLst/>
              <a:gdLst/>
              <a:ahLst/>
              <a:cxnLst>
                <a:cxn ang="0">
                  <a:pos x="8" y="0"/>
                </a:cxn>
                <a:cxn ang="0">
                  <a:pos x="1" y="50"/>
                </a:cxn>
                <a:cxn ang="0">
                  <a:pos x="1" y="66"/>
                </a:cxn>
                <a:cxn ang="0">
                  <a:pos x="158" y="50"/>
                </a:cxn>
                <a:cxn ang="0">
                  <a:pos x="8" y="0"/>
                </a:cxn>
              </a:cxnLst>
              <a:rect l="0" t="0" r="r" b="b"/>
              <a:pathLst>
                <a:path w="158" h="66">
                  <a:moveTo>
                    <a:pt x="8" y="0"/>
                  </a:moveTo>
                  <a:cubicBezTo>
                    <a:pt x="3" y="16"/>
                    <a:pt x="1" y="33"/>
                    <a:pt x="1" y="50"/>
                  </a:cubicBezTo>
                  <a:cubicBezTo>
                    <a:pt x="0" y="55"/>
                    <a:pt x="1" y="60"/>
                    <a:pt x="1" y="66"/>
                  </a:cubicBezTo>
                  <a:lnTo>
                    <a:pt x="158" y="50"/>
                  </a:lnTo>
                  <a:lnTo>
                    <a:pt x="8" y="0"/>
                  </a:lnTo>
                  <a:close/>
                </a:path>
              </a:pathLst>
            </a:custGeom>
            <a:solidFill>
              <a:srgbClr val="FFFF00"/>
            </a:solidFill>
            <a:ln w="6350">
              <a:solidFill>
                <a:srgbClr val="000000"/>
              </a:solidFill>
              <a:prstDash val="solid"/>
              <a:round/>
              <a:headEnd/>
              <a:tailEnd/>
            </a:ln>
          </p:spPr>
          <p:txBody>
            <a:bodyPr/>
            <a:lstStyle/>
            <a:p>
              <a:endParaRPr lang="en-US"/>
            </a:p>
          </p:txBody>
        </p:sp>
        <p:sp>
          <p:nvSpPr>
            <p:cNvPr id="147529" name="Freeform 73"/>
            <p:cNvSpPr>
              <a:spLocks/>
            </p:cNvSpPr>
            <p:nvPr/>
          </p:nvSpPr>
          <p:spPr bwMode="auto">
            <a:xfrm>
              <a:off x="3535" y="2081"/>
              <a:ext cx="664" cy="350"/>
            </a:xfrm>
            <a:custGeom>
              <a:avLst/>
              <a:gdLst/>
              <a:ahLst/>
              <a:cxnLst>
                <a:cxn ang="0">
                  <a:pos x="14" y="0"/>
                </a:cxn>
                <a:cxn ang="0">
                  <a:pos x="0" y="29"/>
                </a:cxn>
                <a:cxn ang="0">
                  <a:pos x="150" y="79"/>
                </a:cxn>
                <a:cxn ang="0">
                  <a:pos x="14" y="0"/>
                </a:cxn>
              </a:cxnLst>
              <a:rect l="0" t="0" r="r" b="b"/>
              <a:pathLst>
                <a:path w="150" h="79">
                  <a:moveTo>
                    <a:pt x="14" y="0"/>
                  </a:moveTo>
                  <a:cubicBezTo>
                    <a:pt x="8" y="9"/>
                    <a:pt x="4" y="19"/>
                    <a:pt x="0" y="29"/>
                  </a:cubicBezTo>
                  <a:lnTo>
                    <a:pt x="150" y="79"/>
                  </a:lnTo>
                  <a:lnTo>
                    <a:pt x="14" y="0"/>
                  </a:lnTo>
                  <a:close/>
                </a:path>
              </a:pathLst>
            </a:custGeom>
            <a:solidFill>
              <a:srgbClr val="FF0000"/>
            </a:solidFill>
            <a:ln w="6350">
              <a:solidFill>
                <a:srgbClr val="000000"/>
              </a:solidFill>
              <a:prstDash val="solid"/>
              <a:round/>
              <a:headEnd/>
              <a:tailEnd/>
            </a:ln>
          </p:spPr>
          <p:txBody>
            <a:bodyPr/>
            <a:lstStyle/>
            <a:p>
              <a:endParaRPr lang="en-US"/>
            </a:p>
          </p:txBody>
        </p:sp>
        <p:sp>
          <p:nvSpPr>
            <p:cNvPr id="147530" name="Freeform 74"/>
            <p:cNvSpPr>
              <a:spLocks/>
            </p:cNvSpPr>
            <p:nvPr/>
          </p:nvSpPr>
          <p:spPr bwMode="auto">
            <a:xfrm>
              <a:off x="3597" y="1869"/>
              <a:ext cx="602" cy="562"/>
            </a:xfrm>
            <a:custGeom>
              <a:avLst/>
              <a:gdLst/>
              <a:ahLst/>
              <a:cxnLst>
                <a:cxn ang="0">
                  <a:pos x="44" y="0"/>
                </a:cxn>
                <a:cxn ang="0">
                  <a:pos x="0" y="48"/>
                </a:cxn>
                <a:cxn ang="0">
                  <a:pos x="136" y="127"/>
                </a:cxn>
                <a:cxn ang="0">
                  <a:pos x="44" y="0"/>
                </a:cxn>
              </a:cxnLst>
              <a:rect l="0" t="0" r="r" b="b"/>
              <a:pathLst>
                <a:path w="136" h="127">
                  <a:moveTo>
                    <a:pt x="44" y="0"/>
                  </a:moveTo>
                  <a:cubicBezTo>
                    <a:pt x="26" y="12"/>
                    <a:pt x="11" y="29"/>
                    <a:pt x="0" y="48"/>
                  </a:cubicBezTo>
                  <a:lnTo>
                    <a:pt x="136" y="127"/>
                  </a:lnTo>
                  <a:lnTo>
                    <a:pt x="44" y="0"/>
                  </a:lnTo>
                  <a:close/>
                </a:path>
              </a:pathLst>
            </a:custGeom>
            <a:solidFill>
              <a:srgbClr val="FFFF00"/>
            </a:solidFill>
            <a:ln w="6350">
              <a:solidFill>
                <a:srgbClr val="000000"/>
              </a:solidFill>
              <a:prstDash val="solid"/>
              <a:round/>
              <a:headEnd/>
              <a:tailEnd/>
            </a:ln>
          </p:spPr>
          <p:txBody>
            <a:bodyPr/>
            <a:lstStyle/>
            <a:p>
              <a:endParaRPr lang="en-US"/>
            </a:p>
          </p:txBody>
        </p:sp>
        <p:sp>
          <p:nvSpPr>
            <p:cNvPr id="147531" name="Freeform 75"/>
            <p:cNvSpPr>
              <a:spLocks/>
            </p:cNvSpPr>
            <p:nvPr/>
          </p:nvSpPr>
          <p:spPr bwMode="auto">
            <a:xfrm>
              <a:off x="3792" y="1793"/>
              <a:ext cx="407" cy="638"/>
            </a:xfrm>
            <a:custGeom>
              <a:avLst/>
              <a:gdLst/>
              <a:ahLst/>
              <a:cxnLst>
                <a:cxn ang="0">
                  <a:pos x="27" y="0"/>
                </a:cxn>
                <a:cxn ang="0">
                  <a:pos x="0" y="17"/>
                </a:cxn>
                <a:cxn ang="0">
                  <a:pos x="92" y="144"/>
                </a:cxn>
                <a:cxn ang="0">
                  <a:pos x="27" y="0"/>
                </a:cxn>
              </a:cxnLst>
              <a:rect l="0" t="0" r="r" b="b"/>
              <a:pathLst>
                <a:path w="92" h="144">
                  <a:moveTo>
                    <a:pt x="27" y="0"/>
                  </a:moveTo>
                  <a:cubicBezTo>
                    <a:pt x="18" y="5"/>
                    <a:pt x="8" y="10"/>
                    <a:pt x="0" y="17"/>
                  </a:cubicBezTo>
                  <a:lnTo>
                    <a:pt x="92" y="144"/>
                  </a:lnTo>
                  <a:lnTo>
                    <a:pt x="27" y="0"/>
                  </a:lnTo>
                  <a:close/>
                </a:path>
              </a:pathLst>
            </a:custGeom>
            <a:solidFill>
              <a:srgbClr val="FF0000"/>
            </a:solidFill>
            <a:ln w="6350">
              <a:solidFill>
                <a:srgbClr val="000000"/>
              </a:solidFill>
              <a:prstDash val="solid"/>
              <a:round/>
              <a:headEnd/>
              <a:tailEnd/>
            </a:ln>
          </p:spPr>
          <p:txBody>
            <a:bodyPr/>
            <a:lstStyle/>
            <a:p>
              <a:endParaRPr lang="en-US"/>
            </a:p>
          </p:txBody>
        </p:sp>
        <p:sp>
          <p:nvSpPr>
            <p:cNvPr id="147532" name="Freeform 76"/>
            <p:cNvSpPr>
              <a:spLocks/>
            </p:cNvSpPr>
            <p:nvPr/>
          </p:nvSpPr>
          <p:spPr bwMode="auto">
            <a:xfrm>
              <a:off x="3911" y="1736"/>
              <a:ext cx="288" cy="695"/>
            </a:xfrm>
            <a:custGeom>
              <a:avLst/>
              <a:gdLst/>
              <a:ahLst/>
              <a:cxnLst>
                <a:cxn ang="0">
                  <a:pos x="65" y="0"/>
                </a:cxn>
                <a:cxn ang="0">
                  <a:pos x="0" y="13"/>
                </a:cxn>
                <a:cxn ang="0">
                  <a:pos x="65" y="157"/>
                </a:cxn>
                <a:cxn ang="0">
                  <a:pos x="65" y="0"/>
                </a:cxn>
              </a:cxnLst>
              <a:rect l="0" t="0" r="r" b="b"/>
              <a:pathLst>
                <a:path w="65" h="157">
                  <a:moveTo>
                    <a:pt x="65" y="0"/>
                  </a:moveTo>
                  <a:cubicBezTo>
                    <a:pt x="42" y="0"/>
                    <a:pt x="21" y="4"/>
                    <a:pt x="0" y="13"/>
                  </a:cubicBezTo>
                  <a:lnTo>
                    <a:pt x="65" y="157"/>
                  </a:lnTo>
                  <a:lnTo>
                    <a:pt x="65" y="0"/>
                  </a:lnTo>
                  <a:close/>
                </a:path>
              </a:pathLst>
            </a:custGeom>
            <a:solidFill>
              <a:srgbClr val="FFFF00"/>
            </a:solidFill>
            <a:ln w="6350">
              <a:solidFill>
                <a:srgbClr val="000000"/>
              </a:solidFill>
              <a:prstDash val="solid"/>
              <a:round/>
              <a:headEnd/>
              <a:tailEnd/>
            </a:ln>
          </p:spPr>
          <p:txBody>
            <a:bodyPr/>
            <a:lstStyle/>
            <a:p>
              <a:endParaRPr lang="en-US"/>
            </a:p>
          </p:txBody>
        </p:sp>
      </p:grpSp>
      <p:sp>
        <p:nvSpPr>
          <p:cNvPr id="147533" name="Text Box 77"/>
          <p:cNvSpPr txBox="1">
            <a:spLocks noChangeArrowheads="1"/>
          </p:cNvSpPr>
          <p:nvPr/>
        </p:nvSpPr>
        <p:spPr bwMode="auto">
          <a:xfrm>
            <a:off x="2133600" y="1219200"/>
            <a:ext cx="7696200" cy="1371600"/>
          </a:xfrm>
          <a:prstGeom prst="rect">
            <a:avLst/>
          </a:prstGeom>
          <a:noFill/>
          <a:ln w="9525">
            <a:noFill/>
            <a:miter lim="800000"/>
            <a:headEnd/>
            <a:tailEnd/>
          </a:ln>
          <a:effectLst/>
        </p:spPr>
        <p:txBody>
          <a:bodyPr/>
          <a:lstStyle/>
          <a:p>
            <a:pPr algn="ctr"/>
            <a:r>
              <a:rPr lang="en-US" sz="2800" dirty="0"/>
              <a:t>Same game but now there’s an equal chance that the following wheels will be used.</a:t>
            </a:r>
          </a:p>
          <a:p>
            <a:pPr algn="ctr"/>
            <a:r>
              <a:rPr lang="en-US" sz="2800" dirty="0" err="1"/>
              <a:t>pRed</a:t>
            </a:r>
            <a:r>
              <a:rPr lang="en-US" sz="2800" dirty="0"/>
              <a:t> = 1/3, 2/3</a:t>
            </a:r>
          </a:p>
        </p:txBody>
      </p:sp>
      <p:sp>
        <p:nvSpPr>
          <p:cNvPr id="147534" name="Text Box 78"/>
          <p:cNvSpPr txBox="1">
            <a:spLocks noChangeArrowheads="1"/>
          </p:cNvSpPr>
          <p:nvPr/>
        </p:nvSpPr>
        <p:spPr bwMode="auto">
          <a:xfrm>
            <a:off x="2362200" y="5551488"/>
            <a:ext cx="7767638" cy="1001712"/>
          </a:xfrm>
          <a:prstGeom prst="rect">
            <a:avLst/>
          </a:prstGeom>
          <a:noFill/>
          <a:ln w="9525">
            <a:noFill/>
            <a:miter lim="800000"/>
            <a:headEnd/>
            <a:tailEnd/>
          </a:ln>
          <a:effectLst/>
        </p:spPr>
        <p:txBody>
          <a:bodyPr/>
          <a:lstStyle/>
          <a:p>
            <a:pPr algn="ctr"/>
            <a:r>
              <a:rPr lang="en-US" sz="2800" dirty="0">
                <a:solidFill>
                  <a:srgbClr val="333399"/>
                </a:solidFill>
              </a:rPr>
              <a:t>Would you pay money to take 3 sample spins (blinded) before selecting game A or B?</a:t>
            </a:r>
          </a:p>
        </p:txBody>
      </p:sp>
    </p:spTree>
    <p:extLst>
      <p:ext uri="{BB962C8B-B14F-4D97-AF65-F5344CB8AC3E}">
        <p14:creationId xmlns:p14="http://schemas.microsoft.com/office/powerpoint/2010/main" val="118540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75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53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755374" y="304800"/>
            <a:ext cx="9455426" cy="1295400"/>
          </a:xfrm>
          <a:noFill/>
          <a:ln/>
        </p:spPr>
        <p:txBody>
          <a:bodyPr vert="horz" lIns="92075" tIns="46038" rIns="92075" bIns="46038" rtlCol="0" anchor="ctr">
            <a:normAutofit fontScale="90000"/>
          </a:bodyPr>
          <a:lstStyle/>
          <a:p>
            <a:r>
              <a:rPr lang="en-US" dirty="0"/>
              <a:t>Rationale for Decision Scientific Approach</a:t>
            </a:r>
          </a:p>
        </p:txBody>
      </p:sp>
      <p:sp>
        <p:nvSpPr>
          <p:cNvPr id="61443" name="Rectangle 3"/>
          <p:cNvSpPr>
            <a:spLocks noGrp="1" noChangeArrowheads="1"/>
          </p:cNvSpPr>
          <p:nvPr>
            <p:ph type="body" idx="1"/>
          </p:nvPr>
        </p:nvSpPr>
        <p:spPr>
          <a:xfrm>
            <a:off x="1981200" y="1684339"/>
            <a:ext cx="8229600" cy="3100387"/>
          </a:xfrm>
          <a:noFill/>
          <a:ln/>
        </p:spPr>
        <p:txBody>
          <a:bodyPr vert="horz" lIns="92075" tIns="46038" rIns="92075" bIns="46038" rtlCol="0">
            <a:normAutofit/>
          </a:bodyPr>
          <a:lstStyle/>
          <a:p>
            <a:pPr algn="ctr">
              <a:buFontTx/>
              <a:buNone/>
            </a:pPr>
            <a:endParaRPr lang="en-US" dirty="0"/>
          </a:p>
          <a:p>
            <a:pPr algn="ctr">
              <a:buFontTx/>
              <a:buNone/>
            </a:pPr>
            <a:endParaRPr lang="en-US" dirty="0"/>
          </a:p>
          <a:p>
            <a:pPr algn="ctr">
              <a:buFontTx/>
              <a:buNone/>
            </a:pPr>
            <a:r>
              <a:rPr lang="en-US" dirty="0"/>
              <a:t>A decision must be made.</a:t>
            </a:r>
          </a:p>
        </p:txBody>
      </p:sp>
    </p:spTree>
    <p:extLst>
      <p:ext uri="{BB962C8B-B14F-4D97-AF65-F5344CB8AC3E}">
        <p14:creationId xmlns:p14="http://schemas.microsoft.com/office/powerpoint/2010/main" val="18438367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ChangeArrowheads="1"/>
          </p:cNvSpPr>
          <p:nvPr/>
        </p:nvSpPr>
        <p:spPr bwMode="auto">
          <a:xfrm>
            <a:off x="2209800" y="6248400"/>
            <a:ext cx="1905000" cy="457200"/>
          </a:xfrm>
          <a:prstGeom prst="rect">
            <a:avLst/>
          </a:prstGeom>
          <a:noFill/>
          <a:ln w="9525">
            <a:noFill/>
            <a:miter lim="800000"/>
            <a:headEnd/>
            <a:tailEnd/>
          </a:ln>
          <a:effectLst/>
        </p:spPr>
        <p:txBody>
          <a:bodyPr wrap="none" anchor="ctr"/>
          <a:lstStyle/>
          <a:p>
            <a:endParaRPr lang="en-US"/>
          </a:p>
        </p:txBody>
      </p:sp>
      <p:sp>
        <p:nvSpPr>
          <p:cNvPr id="110595" name="Rectangle 3"/>
          <p:cNvSpPr>
            <a:spLocks noChangeArrowheads="1"/>
          </p:cNvSpPr>
          <p:nvPr/>
        </p:nvSpPr>
        <p:spPr bwMode="auto">
          <a:xfrm>
            <a:off x="4648200" y="6248400"/>
            <a:ext cx="2895600" cy="457200"/>
          </a:xfrm>
          <a:prstGeom prst="rect">
            <a:avLst/>
          </a:prstGeom>
          <a:noFill/>
          <a:ln w="9525">
            <a:noFill/>
            <a:miter lim="800000"/>
            <a:headEnd/>
            <a:tailEnd/>
          </a:ln>
          <a:effectLst/>
        </p:spPr>
        <p:txBody>
          <a:bodyPr wrap="none" anchor="ctr"/>
          <a:lstStyle/>
          <a:p>
            <a:endParaRPr lang="en-US"/>
          </a:p>
        </p:txBody>
      </p:sp>
      <p:sp>
        <p:nvSpPr>
          <p:cNvPr id="110596" name="Rectangle 4"/>
          <p:cNvSpPr>
            <a:spLocks noGrp="1" noChangeArrowheads="1"/>
          </p:cNvSpPr>
          <p:nvPr>
            <p:ph type="title"/>
          </p:nvPr>
        </p:nvSpPr>
        <p:spPr>
          <a:xfrm>
            <a:off x="705678" y="381000"/>
            <a:ext cx="9200322" cy="914400"/>
          </a:xfrm>
          <a:noFill/>
          <a:ln/>
        </p:spPr>
        <p:txBody>
          <a:bodyPr vert="horz" lIns="92075" tIns="46038" rIns="92075" bIns="46038" rtlCol="0" anchor="ctr">
            <a:normAutofit/>
          </a:bodyPr>
          <a:lstStyle/>
          <a:p>
            <a:r>
              <a:rPr lang="en-US" dirty="0"/>
              <a:t>Probability</a:t>
            </a:r>
          </a:p>
        </p:txBody>
      </p:sp>
      <p:sp>
        <p:nvSpPr>
          <p:cNvPr id="110597" name="Rectangle 5"/>
          <p:cNvSpPr>
            <a:spLocks noGrp="1" noChangeArrowheads="1"/>
          </p:cNvSpPr>
          <p:nvPr>
            <p:ph type="body" idx="1"/>
          </p:nvPr>
        </p:nvSpPr>
        <p:spPr>
          <a:xfrm>
            <a:off x="781877" y="1524000"/>
            <a:ext cx="10419523" cy="4419600"/>
          </a:xfrm>
          <a:noFill/>
          <a:ln/>
        </p:spPr>
        <p:txBody>
          <a:bodyPr vert="horz" lIns="92075" tIns="46038" rIns="92075" bIns="46038" rtlCol="0">
            <a:normAutofit/>
          </a:bodyPr>
          <a:lstStyle/>
          <a:p>
            <a:pPr>
              <a:spcBef>
                <a:spcPts val="500"/>
              </a:spcBef>
              <a:spcAft>
                <a:spcPts val="500"/>
              </a:spcAft>
            </a:pPr>
            <a:r>
              <a:rPr lang="en-US" dirty="0"/>
              <a:t>A probability is a numerical estimate of the likelihood of an event.</a:t>
            </a:r>
          </a:p>
          <a:p>
            <a:pPr>
              <a:spcBef>
                <a:spcPts val="500"/>
              </a:spcBef>
              <a:spcAft>
                <a:spcPts val="500"/>
              </a:spcAft>
            </a:pPr>
            <a:r>
              <a:rPr lang="en-US" dirty="0"/>
              <a:t>Probabilities range from 0 (impossible) to 1 (certain) .</a:t>
            </a:r>
          </a:p>
          <a:p>
            <a:pPr>
              <a:spcBef>
                <a:spcPts val="500"/>
              </a:spcBef>
              <a:spcAft>
                <a:spcPts val="500"/>
              </a:spcAft>
            </a:pPr>
            <a:r>
              <a:rPr lang="en-US" dirty="0"/>
              <a:t>Probabilities of set of mutually exclusive and collectively exhaustive events must sum to 1. </a:t>
            </a:r>
          </a:p>
        </p:txBody>
      </p:sp>
    </p:spTree>
    <p:extLst>
      <p:ext uri="{BB962C8B-B14F-4D97-AF65-F5344CB8AC3E}">
        <p14:creationId xmlns:p14="http://schemas.microsoft.com/office/powerpoint/2010/main" val="1903213784"/>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p:txBody>
          <a:bodyPr/>
          <a:lstStyle/>
          <a:p>
            <a:r>
              <a:rPr lang="en-US"/>
              <a:t>Mutually Exclusive Events</a:t>
            </a:r>
          </a:p>
        </p:txBody>
      </p:sp>
      <p:sp>
        <p:nvSpPr>
          <p:cNvPr id="153603" name="Rectangle 3"/>
          <p:cNvSpPr>
            <a:spLocks noGrp="1" noChangeArrowheads="1"/>
          </p:cNvSpPr>
          <p:nvPr>
            <p:ph type="body" idx="1"/>
          </p:nvPr>
        </p:nvSpPr>
        <p:spPr/>
        <p:txBody>
          <a:bodyPr/>
          <a:lstStyle/>
          <a:p>
            <a:r>
              <a:rPr lang="en-US" sz="2800"/>
              <a:t>The probability of event A happening: Pr(A)</a:t>
            </a:r>
          </a:p>
          <a:p>
            <a:r>
              <a:rPr lang="en-US" sz="2800"/>
              <a:t>The probability of event A not happening:   Pr(not A)</a:t>
            </a:r>
          </a:p>
          <a:p>
            <a:pPr algn="ctr">
              <a:buFontTx/>
              <a:buNone/>
            </a:pPr>
            <a:r>
              <a:rPr lang="en-US" b="1">
                <a:solidFill>
                  <a:srgbClr val="990033"/>
                </a:solidFill>
              </a:rPr>
              <a:t>Pr(A) + Pr(not A) = 1</a:t>
            </a:r>
            <a:endParaRPr lang="en-US" sz="2800"/>
          </a:p>
          <a:p>
            <a:r>
              <a:rPr lang="en-US" sz="2800"/>
              <a:t>Given two mutually exclusive outcomes, A and B, the probability of one or the other event equals the sum of the individual probabilities</a:t>
            </a:r>
          </a:p>
          <a:p>
            <a:pPr algn="ctr">
              <a:buFontTx/>
              <a:buNone/>
            </a:pPr>
            <a:r>
              <a:rPr lang="en-US" b="1">
                <a:solidFill>
                  <a:srgbClr val="990033"/>
                </a:solidFill>
              </a:rPr>
              <a:t>Pr(A or B) = Pr(A) + Pr(B)</a:t>
            </a:r>
          </a:p>
        </p:txBody>
      </p:sp>
    </p:spTree>
    <p:extLst>
      <p:ext uri="{BB962C8B-B14F-4D97-AF65-F5344CB8AC3E}">
        <p14:creationId xmlns:p14="http://schemas.microsoft.com/office/powerpoint/2010/main" val="26942635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p:txBody>
          <a:bodyPr/>
          <a:lstStyle/>
          <a:p>
            <a:r>
              <a:rPr lang="en-US"/>
              <a:t>Venn Diagram</a:t>
            </a:r>
          </a:p>
        </p:txBody>
      </p:sp>
      <p:sp>
        <p:nvSpPr>
          <p:cNvPr id="154628" name="Oval 4"/>
          <p:cNvSpPr>
            <a:spLocks noChangeArrowheads="1"/>
          </p:cNvSpPr>
          <p:nvPr/>
        </p:nvSpPr>
        <p:spPr bwMode="auto">
          <a:xfrm>
            <a:off x="3733800" y="2743200"/>
            <a:ext cx="2209800" cy="2133600"/>
          </a:xfrm>
          <a:prstGeom prst="ellipse">
            <a:avLst/>
          </a:prstGeom>
          <a:solidFill>
            <a:srgbClr val="99CCFF">
              <a:alpha val="50000"/>
            </a:srgbClr>
          </a:solidFill>
          <a:ln w="9525">
            <a:solidFill>
              <a:schemeClr val="tx1"/>
            </a:solidFill>
            <a:round/>
            <a:headEnd/>
            <a:tailEnd/>
          </a:ln>
          <a:effectLst/>
        </p:spPr>
        <p:txBody>
          <a:bodyPr wrap="none" anchor="ctr"/>
          <a:lstStyle/>
          <a:p>
            <a:pPr algn="ctr"/>
            <a:r>
              <a:rPr lang="en-US" sz="2800"/>
              <a:t>Event A</a:t>
            </a:r>
          </a:p>
        </p:txBody>
      </p:sp>
      <p:sp>
        <p:nvSpPr>
          <p:cNvPr id="154629" name="Oval 5"/>
          <p:cNvSpPr>
            <a:spLocks noChangeArrowheads="1"/>
          </p:cNvSpPr>
          <p:nvPr/>
        </p:nvSpPr>
        <p:spPr bwMode="auto">
          <a:xfrm>
            <a:off x="6553200" y="2438400"/>
            <a:ext cx="2209800" cy="2438400"/>
          </a:xfrm>
          <a:prstGeom prst="ellipse">
            <a:avLst/>
          </a:prstGeom>
          <a:solidFill>
            <a:srgbClr val="FF99CC">
              <a:alpha val="50000"/>
            </a:srgbClr>
          </a:solidFill>
          <a:ln w="9525">
            <a:solidFill>
              <a:schemeClr val="tx1"/>
            </a:solidFill>
            <a:round/>
            <a:headEnd/>
            <a:tailEnd/>
          </a:ln>
          <a:effectLst/>
        </p:spPr>
        <p:txBody>
          <a:bodyPr wrap="none" anchor="ctr"/>
          <a:lstStyle/>
          <a:p>
            <a:pPr algn="ctr"/>
            <a:r>
              <a:rPr lang="en-US" sz="2800"/>
              <a:t>Event B</a:t>
            </a:r>
          </a:p>
        </p:txBody>
      </p:sp>
    </p:spTree>
    <p:extLst>
      <p:ext uri="{BB962C8B-B14F-4D97-AF65-F5344CB8AC3E}">
        <p14:creationId xmlns:p14="http://schemas.microsoft.com/office/powerpoint/2010/main" val="33673151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ChangeArrowheads="1"/>
          </p:cNvSpPr>
          <p:nvPr/>
        </p:nvSpPr>
        <p:spPr bwMode="auto">
          <a:xfrm>
            <a:off x="2209800" y="6248400"/>
            <a:ext cx="1905000" cy="457200"/>
          </a:xfrm>
          <a:prstGeom prst="rect">
            <a:avLst/>
          </a:prstGeom>
          <a:noFill/>
          <a:ln w="9525">
            <a:noFill/>
            <a:miter lim="800000"/>
            <a:headEnd/>
            <a:tailEnd/>
          </a:ln>
          <a:effectLst/>
        </p:spPr>
        <p:txBody>
          <a:bodyPr wrap="none" anchor="ctr"/>
          <a:lstStyle/>
          <a:p>
            <a:endParaRPr lang="en-US"/>
          </a:p>
        </p:txBody>
      </p:sp>
      <p:sp>
        <p:nvSpPr>
          <p:cNvPr id="118787" name="Rectangle 3"/>
          <p:cNvSpPr>
            <a:spLocks noGrp="1" noChangeArrowheads="1"/>
          </p:cNvSpPr>
          <p:nvPr>
            <p:ph type="title"/>
          </p:nvPr>
        </p:nvSpPr>
        <p:spPr/>
        <p:txBody>
          <a:bodyPr/>
          <a:lstStyle/>
          <a:p>
            <a:r>
              <a:rPr lang="en-US"/>
              <a:t>Conditional Probability</a:t>
            </a:r>
          </a:p>
        </p:txBody>
      </p:sp>
      <p:sp>
        <p:nvSpPr>
          <p:cNvPr id="118788" name="Rectangle 4"/>
          <p:cNvSpPr>
            <a:spLocks noGrp="1" noChangeArrowheads="1"/>
          </p:cNvSpPr>
          <p:nvPr>
            <p:ph type="body" idx="1"/>
          </p:nvPr>
        </p:nvSpPr>
        <p:spPr>
          <a:xfrm>
            <a:off x="838200" y="1524000"/>
            <a:ext cx="10515600" cy="4648200"/>
          </a:xfrm>
        </p:spPr>
        <p:txBody>
          <a:bodyPr>
            <a:normAutofit/>
          </a:bodyPr>
          <a:lstStyle/>
          <a:p>
            <a:r>
              <a:rPr lang="en-US" sz="3600" b="1" dirty="0" err="1">
                <a:solidFill>
                  <a:srgbClr val="990033"/>
                </a:solidFill>
              </a:rPr>
              <a:t>Pr</a:t>
            </a:r>
            <a:r>
              <a:rPr lang="en-US" sz="3600" b="1" dirty="0">
                <a:solidFill>
                  <a:srgbClr val="990033"/>
                </a:solidFill>
              </a:rPr>
              <a:t>(A|B)</a:t>
            </a:r>
          </a:p>
          <a:p>
            <a:pPr lvl="1"/>
            <a:r>
              <a:rPr lang="en-US" sz="3200" dirty="0"/>
              <a:t>The probability of event A happening, given that event B has happened, is the </a:t>
            </a:r>
            <a:r>
              <a:rPr lang="en-US" sz="3200" u="sng" dirty="0"/>
              <a:t>conditional probability</a:t>
            </a:r>
            <a:r>
              <a:rPr lang="en-US" sz="3200" dirty="0"/>
              <a:t> of A given B.</a:t>
            </a:r>
          </a:p>
          <a:p>
            <a:pPr lvl="1">
              <a:spcBef>
                <a:spcPct val="40000"/>
              </a:spcBef>
            </a:pPr>
            <a:r>
              <a:rPr lang="en-US" sz="3200" dirty="0"/>
              <a:t>What is the probability of malaria given you traveled to Africa? Is this the same as the probability of travel to Africa given you have malaria? </a:t>
            </a:r>
          </a:p>
          <a:p>
            <a:pPr lvl="1">
              <a:spcAft>
                <a:spcPct val="25000"/>
              </a:spcAft>
              <a:buFont typeface="Arial" charset="0"/>
              <a:buNone/>
            </a:pPr>
            <a:r>
              <a:rPr lang="en-US" sz="3200" b="1" dirty="0"/>
              <a:t>		</a:t>
            </a:r>
            <a:r>
              <a:rPr lang="en-US" sz="3600" dirty="0" err="1">
                <a:solidFill>
                  <a:srgbClr val="990033"/>
                </a:solidFill>
              </a:rPr>
              <a:t>Pr</a:t>
            </a:r>
            <a:r>
              <a:rPr lang="en-US" sz="3600" dirty="0">
                <a:solidFill>
                  <a:srgbClr val="990033"/>
                </a:solidFill>
              </a:rPr>
              <a:t>(A|B) is not the same as </a:t>
            </a:r>
            <a:r>
              <a:rPr lang="en-US" sz="3600" dirty="0" err="1">
                <a:solidFill>
                  <a:srgbClr val="990033"/>
                </a:solidFill>
              </a:rPr>
              <a:t>Pr</a:t>
            </a:r>
            <a:r>
              <a:rPr lang="en-US" sz="3600" dirty="0">
                <a:solidFill>
                  <a:srgbClr val="990033"/>
                </a:solidFill>
              </a:rPr>
              <a:t>(B|A</a:t>
            </a:r>
            <a:r>
              <a:rPr lang="en-US" sz="3600" b="1" dirty="0">
                <a:solidFill>
                  <a:srgbClr val="990033"/>
                </a:solidFill>
              </a:rPr>
              <a:t>)</a:t>
            </a:r>
          </a:p>
        </p:txBody>
      </p:sp>
    </p:spTree>
    <p:extLst>
      <p:ext uri="{BB962C8B-B14F-4D97-AF65-F5344CB8AC3E}">
        <p14:creationId xmlns:p14="http://schemas.microsoft.com/office/powerpoint/2010/main" val="614774611"/>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6" name="Rectangle 4"/>
          <p:cNvSpPr>
            <a:spLocks noGrp="1" noChangeArrowheads="1"/>
          </p:cNvSpPr>
          <p:nvPr>
            <p:ph type="title"/>
          </p:nvPr>
        </p:nvSpPr>
        <p:spPr>
          <a:xfrm>
            <a:off x="735496" y="304800"/>
            <a:ext cx="9246704" cy="914400"/>
          </a:xfrm>
        </p:spPr>
        <p:txBody>
          <a:bodyPr>
            <a:normAutofit/>
          </a:bodyPr>
          <a:lstStyle/>
          <a:p>
            <a:r>
              <a:rPr lang="en-US" dirty="0"/>
              <a:t>Conditional and Joint Probabilities</a:t>
            </a:r>
          </a:p>
        </p:txBody>
      </p:sp>
      <p:sp>
        <p:nvSpPr>
          <p:cNvPr id="120837" name="Rectangle 5"/>
          <p:cNvSpPr>
            <a:spLocks noGrp="1" noChangeArrowheads="1"/>
          </p:cNvSpPr>
          <p:nvPr>
            <p:ph type="body" idx="1"/>
          </p:nvPr>
        </p:nvSpPr>
        <p:spPr>
          <a:xfrm>
            <a:off x="735496" y="1447800"/>
            <a:ext cx="9475304" cy="990600"/>
          </a:xfrm>
        </p:spPr>
        <p:txBody>
          <a:bodyPr/>
          <a:lstStyle/>
          <a:p>
            <a:r>
              <a:rPr lang="en-US" dirty="0"/>
              <a:t>Conditional and Joint Relationship</a:t>
            </a:r>
            <a:endParaRPr lang="en-US" sz="3600" dirty="0"/>
          </a:p>
        </p:txBody>
      </p:sp>
      <p:graphicFrame>
        <p:nvGraphicFramePr>
          <p:cNvPr id="120838" name="Object 6"/>
          <p:cNvGraphicFramePr>
            <a:graphicFrameLocks noChangeAspect="1"/>
          </p:cNvGraphicFramePr>
          <p:nvPr/>
        </p:nvGraphicFramePr>
        <p:xfrm>
          <a:off x="3810000" y="2209801"/>
          <a:ext cx="3773488" cy="1141413"/>
        </p:xfrm>
        <a:graphic>
          <a:graphicData uri="http://schemas.openxmlformats.org/presentationml/2006/ole">
            <mc:AlternateContent xmlns:mc="http://schemas.openxmlformats.org/markup-compatibility/2006">
              <mc:Choice xmlns:v="urn:schemas-microsoft-com:vml" Requires="v">
                <p:oleObj name="Equation" r:id="rId3" imgW="1307880" imgH="482400" progId="">
                  <p:embed/>
                </p:oleObj>
              </mc:Choice>
              <mc:Fallback>
                <p:oleObj name="Equation" r:id="rId3" imgW="1307880" imgH="482400" progId="">
                  <p:embed/>
                  <p:pic>
                    <p:nvPicPr>
                      <p:cNvPr id="120838"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0" y="2209801"/>
                        <a:ext cx="3773488" cy="1141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0844" name="Oval 12"/>
          <p:cNvSpPr>
            <a:spLocks noChangeArrowheads="1"/>
          </p:cNvSpPr>
          <p:nvPr/>
        </p:nvSpPr>
        <p:spPr bwMode="auto">
          <a:xfrm>
            <a:off x="3962401" y="3656013"/>
            <a:ext cx="2138363" cy="1974850"/>
          </a:xfrm>
          <a:prstGeom prst="ellipse">
            <a:avLst/>
          </a:prstGeom>
          <a:solidFill>
            <a:srgbClr val="99CCFF">
              <a:alpha val="62000"/>
            </a:srgbClr>
          </a:solidFill>
          <a:ln w="12700">
            <a:solidFill>
              <a:schemeClr val="tx1"/>
            </a:solidFill>
            <a:round/>
            <a:headEnd/>
            <a:tailEnd/>
          </a:ln>
          <a:effectLst/>
        </p:spPr>
        <p:txBody>
          <a:bodyPr wrap="none" anchor="ctr"/>
          <a:lstStyle/>
          <a:p>
            <a:pPr algn="ctr"/>
            <a:r>
              <a:rPr lang="en-US" sz="3200" i="1"/>
              <a:t>A</a:t>
            </a:r>
          </a:p>
        </p:txBody>
      </p:sp>
      <p:sp>
        <p:nvSpPr>
          <p:cNvPr id="120845" name="Oval 13"/>
          <p:cNvSpPr>
            <a:spLocks noChangeArrowheads="1"/>
          </p:cNvSpPr>
          <p:nvPr/>
        </p:nvSpPr>
        <p:spPr bwMode="auto">
          <a:xfrm>
            <a:off x="5643563" y="3656013"/>
            <a:ext cx="2266950" cy="2266950"/>
          </a:xfrm>
          <a:prstGeom prst="ellipse">
            <a:avLst/>
          </a:prstGeom>
          <a:solidFill>
            <a:srgbClr val="FF99CC">
              <a:alpha val="30000"/>
            </a:srgbClr>
          </a:solidFill>
          <a:ln w="12700">
            <a:solidFill>
              <a:schemeClr val="tx1"/>
            </a:solidFill>
            <a:round/>
            <a:headEnd/>
            <a:tailEnd/>
          </a:ln>
          <a:effectLst/>
        </p:spPr>
        <p:txBody>
          <a:bodyPr wrap="none" anchor="ctr"/>
          <a:lstStyle/>
          <a:p>
            <a:pPr algn="ctr"/>
            <a:r>
              <a:rPr lang="en-US" sz="2800" i="1"/>
              <a:t>B</a:t>
            </a:r>
          </a:p>
        </p:txBody>
      </p:sp>
      <p:sp>
        <p:nvSpPr>
          <p:cNvPr id="120846" name="Line 14"/>
          <p:cNvSpPr>
            <a:spLocks noChangeShapeType="1"/>
          </p:cNvSpPr>
          <p:nvPr/>
        </p:nvSpPr>
        <p:spPr bwMode="auto">
          <a:xfrm flipV="1">
            <a:off x="5791201" y="4876800"/>
            <a:ext cx="34925" cy="838200"/>
          </a:xfrm>
          <a:prstGeom prst="line">
            <a:avLst/>
          </a:prstGeom>
          <a:noFill/>
          <a:ln w="12700">
            <a:solidFill>
              <a:schemeClr val="tx1"/>
            </a:solidFill>
            <a:round/>
            <a:headEnd/>
            <a:tailEnd type="triangle" w="med" len="med"/>
          </a:ln>
          <a:effectLst/>
        </p:spPr>
        <p:txBody>
          <a:bodyPr/>
          <a:lstStyle/>
          <a:p>
            <a:endParaRPr lang="en-US"/>
          </a:p>
        </p:txBody>
      </p:sp>
      <p:sp>
        <p:nvSpPr>
          <p:cNvPr id="120847" name="Text Box 15"/>
          <p:cNvSpPr txBox="1">
            <a:spLocks noChangeArrowheads="1"/>
          </p:cNvSpPr>
          <p:nvPr/>
        </p:nvSpPr>
        <p:spPr bwMode="auto">
          <a:xfrm>
            <a:off x="5109265" y="5865813"/>
            <a:ext cx="1301959" cy="523220"/>
          </a:xfrm>
          <a:prstGeom prst="rect">
            <a:avLst/>
          </a:prstGeom>
          <a:noFill/>
          <a:ln w="9525">
            <a:noFill/>
            <a:miter lim="800000"/>
            <a:headEnd/>
            <a:tailEnd/>
          </a:ln>
          <a:effectLst/>
        </p:spPr>
        <p:txBody>
          <a:bodyPr wrap="none">
            <a:spAutoFit/>
          </a:bodyPr>
          <a:lstStyle/>
          <a:p>
            <a:pPr algn="ctr"/>
            <a:r>
              <a:rPr lang="en-US" sz="2800" i="1" dirty="0"/>
              <a:t>A</a:t>
            </a:r>
            <a:r>
              <a:rPr lang="en-US" sz="2800" dirty="0"/>
              <a:t> and </a:t>
            </a:r>
            <a:r>
              <a:rPr lang="en-US" sz="2800" i="1" dirty="0"/>
              <a:t>B</a:t>
            </a:r>
            <a:endParaRPr lang="en-US" sz="2800" dirty="0"/>
          </a:p>
        </p:txBody>
      </p:sp>
      <p:sp>
        <p:nvSpPr>
          <p:cNvPr id="9" name="Text Box 15"/>
          <p:cNvSpPr txBox="1">
            <a:spLocks noChangeArrowheads="1"/>
          </p:cNvSpPr>
          <p:nvPr/>
        </p:nvSpPr>
        <p:spPr bwMode="auto">
          <a:xfrm>
            <a:off x="8305801" y="2286001"/>
            <a:ext cx="1776447" cy="830997"/>
          </a:xfrm>
          <a:prstGeom prst="rect">
            <a:avLst/>
          </a:prstGeom>
          <a:noFill/>
          <a:ln w="9525">
            <a:noFill/>
            <a:miter lim="800000"/>
            <a:headEnd/>
            <a:tailEnd/>
          </a:ln>
          <a:effectLst/>
        </p:spPr>
        <p:txBody>
          <a:bodyPr wrap="none">
            <a:spAutoFit/>
          </a:bodyPr>
          <a:lstStyle/>
          <a:p>
            <a:pPr algn="ctr"/>
            <a:r>
              <a:rPr lang="en-US" sz="2400" dirty="0"/>
              <a:t>Notation for</a:t>
            </a:r>
          </a:p>
          <a:p>
            <a:pPr algn="ctr"/>
            <a:r>
              <a:rPr lang="en-US" sz="2400" i="1" dirty="0"/>
              <a:t>A</a:t>
            </a:r>
            <a:r>
              <a:rPr lang="en-US" sz="2400" dirty="0"/>
              <a:t> and </a:t>
            </a:r>
            <a:r>
              <a:rPr lang="en-US" sz="2400" i="1" dirty="0"/>
              <a:t>B</a:t>
            </a:r>
            <a:endParaRPr lang="en-US" sz="2400" dirty="0"/>
          </a:p>
        </p:txBody>
      </p:sp>
      <p:cxnSp>
        <p:nvCxnSpPr>
          <p:cNvPr id="11" name="Straight Arrow Connector 10"/>
          <p:cNvCxnSpPr/>
          <p:nvPr/>
        </p:nvCxnSpPr>
        <p:spPr>
          <a:xfrm flipH="1" flipV="1">
            <a:off x="7620000" y="2514601"/>
            <a:ext cx="762000" cy="15240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711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lstStyle/>
          <a:p>
            <a:r>
              <a:rPr lang="en-US"/>
              <a:t>Independence</a:t>
            </a:r>
          </a:p>
        </p:txBody>
      </p:sp>
      <p:sp>
        <p:nvSpPr>
          <p:cNvPr id="122883" name="Rectangle 3"/>
          <p:cNvSpPr>
            <a:spLocks noGrp="1" noChangeArrowheads="1"/>
          </p:cNvSpPr>
          <p:nvPr>
            <p:ph type="body" sz="half" idx="1"/>
          </p:nvPr>
        </p:nvSpPr>
        <p:spPr>
          <a:xfrm>
            <a:off x="609600" y="1447800"/>
            <a:ext cx="10972800" cy="2590800"/>
          </a:xfrm>
        </p:spPr>
        <p:txBody>
          <a:bodyPr/>
          <a:lstStyle/>
          <a:p>
            <a:r>
              <a:rPr lang="en-US" dirty="0"/>
              <a:t>If whether or not B happens doesn't affect whether or not A happens, then p(A|B) = p(A), and events A and B are said to be </a:t>
            </a:r>
            <a:r>
              <a:rPr lang="en-US" u="sng" dirty="0"/>
              <a:t>independent</a:t>
            </a:r>
            <a:endParaRPr lang="en-US" dirty="0"/>
          </a:p>
        </p:txBody>
      </p:sp>
      <p:graphicFrame>
        <p:nvGraphicFramePr>
          <p:cNvPr id="122893" name="Object 13"/>
          <p:cNvGraphicFramePr>
            <a:graphicFrameLocks noGrp="1" noChangeAspect="1"/>
          </p:cNvGraphicFramePr>
          <p:nvPr>
            <p:ph sz="half" idx="2"/>
          </p:nvPr>
        </p:nvGraphicFramePr>
        <p:xfrm>
          <a:off x="2286000" y="4114801"/>
          <a:ext cx="7239000" cy="608013"/>
        </p:xfrm>
        <a:graphic>
          <a:graphicData uri="http://schemas.openxmlformats.org/presentationml/2006/ole">
            <mc:AlternateContent xmlns:mc="http://schemas.openxmlformats.org/markup-compatibility/2006">
              <mc:Choice xmlns:v="urn:schemas-microsoft-com:vml" Requires="v">
                <p:oleObj name="Equation" r:id="rId3" imgW="3022560" imgH="253800" progId="">
                  <p:embed/>
                </p:oleObj>
              </mc:Choice>
              <mc:Fallback>
                <p:oleObj name="Equation" r:id="rId3" imgW="3022560" imgH="253800" progId="">
                  <p:embed/>
                  <p:pic>
                    <p:nvPicPr>
                      <p:cNvPr id="122893"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4114801"/>
                        <a:ext cx="7239000" cy="608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6794379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ChangeArrowheads="1"/>
          </p:cNvSpPr>
          <p:nvPr/>
        </p:nvSpPr>
        <p:spPr bwMode="auto">
          <a:xfrm>
            <a:off x="2209800" y="6248400"/>
            <a:ext cx="1905000" cy="457200"/>
          </a:xfrm>
          <a:prstGeom prst="rect">
            <a:avLst/>
          </a:prstGeom>
          <a:noFill/>
          <a:ln w="9525">
            <a:noFill/>
            <a:miter lim="800000"/>
            <a:headEnd/>
            <a:tailEnd/>
          </a:ln>
          <a:effectLst/>
        </p:spPr>
        <p:txBody>
          <a:bodyPr wrap="none" anchor="ctr"/>
          <a:lstStyle/>
          <a:p>
            <a:endParaRPr lang="en-US"/>
          </a:p>
        </p:txBody>
      </p:sp>
      <p:sp>
        <p:nvSpPr>
          <p:cNvPr id="124931" name="Rectangle 3"/>
          <p:cNvSpPr>
            <a:spLocks noChangeArrowheads="1"/>
          </p:cNvSpPr>
          <p:nvPr/>
        </p:nvSpPr>
        <p:spPr bwMode="auto">
          <a:xfrm>
            <a:off x="4648200" y="6248400"/>
            <a:ext cx="2895600" cy="457200"/>
          </a:xfrm>
          <a:prstGeom prst="rect">
            <a:avLst/>
          </a:prstGeom>
          <a:noFill/>
          <a:ln w="9525">
            <a:noFill/>
            <a:miter lim="800000"/>
            <a:headEnd/>
            <a:tailEnd/>
          </a:ln>
          <a:effectLst/>
        </p:spPr>
        <p:txBody>
          <a:bodyPr wrap="none" anchor="ctr"/>
          <a:lstStyle/>
          <a:p>
            <a:endParaRPr lang="en-US"/>
          </a:p>
        </p:txBody>
      </p:sp>
      <p:sp>
        <p:nvSpPr>
          <p:cNvPr id="124932" name="Rectangle 4"/>
          <p:cNvSpPr>
            <a:spLocks noGrp="1" noChangeArrowheads="1"/>
          </p:cNvSpPr>
          <p:nvPr>
            <p:ph type="title"/>
          </p:nvPr>
        </p:nvSpPr>
        <p:spPr>
          <a:xfrm>
            <a:off x="884583" y="581026"/>
            <a:ext cx="9326217" cy="608013"/>
          </a:xfrm>
        </p:spPr>
        <p:txBody>
          <a:bodyPr>
            <a:normAutofit fontScale="90000"/>
          </a:bodyPr>
          <a:lstStyle/>
          <a:p>
            <a:r>
              <a:rPr lang="en-US" dirty="0"/>
              <a:t>Probability Rules</a:t>
            </a:r>
          </a:p>
        </p:txBody>
      </p:sp>
      <p:sp>
        <p:nvSpPr>
          <p:cNvPr id="124933" name="Rectangle 5"/>
          <p:cNvSpPr>
            <a:spLocks noGrp="1" noChangeArrowheads="1"/>
          </p:cNvSpPr>
          <p:nvPr>
            <p:ph type="body" idx="1"/>
          </p:nvPr>
        </p:nvSpPr>
        <p:spPr>
          <a:xfrm>
            <a:off x="884583" y="1524000"/>
            <a:ext cx="10446026" cy="4876800"/>
          </a:xfrm>
        </p:spPr>
        <p:txBody>
          <a:bodyPr>
            <a:normAutofit/>
          </a:bodyPr>
          <a:lstStyle/>
          <a:p>
            <a:r>
              <a:rPr lang="en-US" b="1" dirty="0"/>
              <a:t>Pr(A and B)</a:t>
            </a:r>
            <a:r>
              <a:rPr lang="en-US" dirty="0"/>
              <a:t> = Pr(A) Pr(B|A) = Pr(B) Pr(A|B). </a:t>
            </a:r>
          </a:p>
          <a:p>
            <a:pPr lvl="1"/>
            <a:r>
              <a:rPr lang="en-US" dirty="0"/>
              <a:t>The probability that both A and B occur is equal to:</a:t>
            </a:r>
          </a:p>
          <a:p>
            <a:pPr lvl="2"/>
            <a:r>
              <a:rPr lang="en-US" sz="2800" dirty="0"/>
              <a:t>the probability that A occurs, multiplied by the probability that B occurs, given A</a:t>
            </a:r>
          </a:p>
          <a:p>
            <a:pPr lvl="2"/>
            <a:r>
              <a:rPr lang="en-US" sz="2800" dirty="0"/>
              <a:t>the probability that B occurs, multiplied by the probability that A occurs, given B. </a:t>
            </a:r>
          </a:p>
          <a:p>
            <a:r>
              <a:rPr lang="en-US" b="1" dirty="0"/>
              <a:t>Pr(A or B)</a:t>
            </a:r>
            <a:r>
              <a:rPr lang="en-US" dirty="0"/>
              <a:t> = Pr(A) + Pr(B) - Pr(A and B). </a:t>
            </a:r>
            <a:r>
              <a:rPr lang="en-US" sz="2800" dirty="0"/>
              <a:t>The probability that A or B (or both) occurs is the sum of the probability that A occurs and the probability that B occurs, minus those cases where both occur</a:t>
            </a:r>
            <a:endParaRPr lang="en-US" dirty="0"/>
          </a:p>
        </p:txBody>
      </p:sp>
    </p:spTree>
    <p:extLst>
      <p:ext uri="{BB962C8B-B14F-4D97-AF65-F5344CB8AC3E}">
        <p14:creationId xmlns:p14="http://schemas.microsoft.com/office/powerpoint/2010/main" val="2830855228"/>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2279F-41F5-679D-1102-A4A37F63D3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9703DF-594E-C326-23F6-D3D5FB547D2C}"/>
              </a:ext>
            </a:extLst>
          </p:cNvPr>
          <p:cNvSpPr>
            <a:spLocks noGrp="1"/>
          </p:cNvSpPr>
          <p:nvPr>
            <p:ph type="title"/>
          </p:nvPr>
        </p:nvSpPr>
        <p:spPr/>
        <p:txBody>
          <a:bodyPr/>
          <a:lstStyle/>
          <a:p>
            <a:r>
              <a:rPr lang="en-MX" dirty="0"/>
              <a:t>Expected Value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2C8418E-2EB1-D6AE-2A48-8C22A8CD00D0}"/>
                  </a:ext>
                </a:extLst>
              </p:cNvPr>
              <p:cNvSpPr>
                <a:spLocks noGrp="1"/>
              </p:cNvSpPr>
              <p:nvPr>
                <p:ph idx="1"/>
              </p:nvPr>
            </p:nvSpPr>
            <p:spPr/>
            <p:txBody>
              <a:bodyPr/>
              <a:lstStyle/>
              <a:p>
                <a:r>
                  <a:rPr lang="en-US" altLang="en-MX" dirty="0">
                    <a:ea typeface="ＭＳ Ｐゴシック" panose="020B0600070205080204" pitchFamily="34" charset="-128"/>
                  </a:rPr>
                  <a:t>Let </a:t>
                </a:r>
                <a14:m>
                  <m:oMath xmlns:m="http://schemas.openxmlformats.org/officeDocument/2006/math">
                    <m:r>
                      <a:rPr lang="es-ES" altLang="en-MX" i="1">
                        <a:latin typeface="Cambria Math" panose="02040503050406030204" pitchFamily="18" charset="0"/>
                        <a:ea typeface="ＭＳ Ｐゴシック" panose="020B0600070205080204" pitchFamily="34" charset="-128"/>
                      </a:rPr>
                      <m:t>𝑋</m:t>
                    </m:r>
                  </m:oMath>
                </a14:m>
                <a:r>
                  <a:rPr lang="en-US" altLang="en-MX" dirty="0">
                    <a:ea typeface="ＭＳ Ｐゴシック" panose="020B0600070205080204" pitchFamily="34" charset="-128"/>
                  </a:rPr>
                  <a:t> be a random variable that can take </a:t>
                </a:r>
                <a14:m>
                  <m:oMath xmlns:m="http://schemas.openxmlformats.org/officeDocument/2006/math">
                    <m:r>
                      <a:rPr lang="es-ES" altLang="en-MX" i="1">
                        <a:latin typeface="Cambria Math" panose="02040503050406030204" pitchFamily="18" charset="0"/>
                        <a:ea typeface="ＭＳ Ｐゴシック" panose="020B0600070205080204" pitchFamily="34" charset="-128"/>
                      </a:rPr>
                      <m:t>𝑁</m:t>
                    </m:r>
                    <m:r>
                      <a:rPr lang="es-ES" altLang="en-MX" i="1">
                        <a:latin typeface="Cambria Math" panose="02040503050406030204" pitchFamily="18" charset="0"/>
                        <a:ea typeface="ＭＳ Ｐゴシック" panose="020B0600070205080204" pitchFamily="34" charset="-128"/>
                      </a:rPr>
                      <m:t> </m:t>
                    </m:r>
                  </m:oMath>
                </a14:m>
                <a:r>
                  <a:rPr lang="en-US" altLang="en-MX" dirty="0" err="1">
                    <a:ea typeface="ＭＳ Ｐゴシック" panose="020B0600070205080204" pitchFamily="34" charset="-128"/>
                  </a:rPr>
                  <a:t>discrete</a:t>
                </a:r>
                <a:r>
                  <a:rPr lang="en-US" altLang="en-MX" dirty="0">
                    <a:ea typeface="ＭＳ Ｐゴシック" panose="020B0600070205080204" pitchFamily="34" charset="-128"/>
                  </a:rPr>
                  <a:t> values </a:t>
                </a:r>
                <a14:m>
                  <m:oMath xmlns:m="http://schemas.openxmlformats.org/officeDocument/2006/math">
                    <m:sSub>
                      <m:sSubPr>
                        <m:ctrlPr>
                          <a:rPr lang="es-ES" altLang="en-MX" b="0" i="1" smtClean="0">
                            <a:latin typeface="Cambria Math" panose="02040503050406030204" pitchFamily="18" charset="0"/>
                            <a:ea typeface="ＭＳ Ｐゴシック" panose="020B0600070205080204" pitchFamily="34" charset="-128"/>
                          </a:rPr>
                        </m:ctrlPr>
                      </m:sSubPr>
                      <m:e>
                        <m:r>
                          <a:rPr lang="es-ES" altLang="en-MX" b="0" i="1" smtClean="0">
                            <a:latin typeface="Cambria Math" panose="02040503050406030204" pitchFamily="18" charset="0"/>
                            <a:ea typeface="ＭＳ Ｐゴシック" panose="020B0600070205080204" pitchFamily="34" charset="-128"/>
                          </a:rPr>
                          <m:t>𝑥</m:t>
                        </m:r>
                      </m:e>
                      <m:sub>
                        <m:r>
                          <a:rPr lang="es-ES" altLang="en-MX" b="0" i="1" smtClean="0">
                            <a:latin typeface="Cambria Math" panose="02040503050406030204" pitchFamily="18" charset="0"/>
                            <a:ea typeface="ＭＳ Ｐゴシック" panose="020B0600070205080204" pitchFamily="34" charset="-128"/>
                          </a:rPr>
                          <m:t>1</m:t>
                        </m:r>
                      </m:sub>
                    </m:sSub>
                    <m:r>
                      <a:rPr lang="es-ES" altLang="en-MX" b="0" i="1" smtClean="0">
                        <a:latin typeface="Cambria Math" panose="02040503050406030204" pitchFamily="18" charset="0"/>
                        <a:ea typeface="ＭＳ Ｐゴシック" panose="020B0600070205080204" pitchFamily="34" charset="-128"/>
                      </a:rPr>
                      <m:t>,</m:t>
                    </m:r>
                    <m:sSub>
                      <m:sSubPr>
                        <m:ctrlPr>
                          <a:rPr lang="es-ES" altLang="en-MX" i="1">
                            <a:latin typeface="Cambria Math" panose="02040503050406030204" pitchFamily="18" charset="0"/>
                            <a:ea typeface="ＭＳ Ｐゴシック" panose="020B0600070205080204" pitchFamily="34" charset="-128"/>
                          </a:rPr>
                        </m:ctrlPr>
                      </m:sSubPr>
                      <m:e>
                        <m:r>
                          <a:rPr lang="es-ES" altLang="en-MX" i="1">
                            <a:latin typeface="Cambria Math" panose="02040503050406030204" pitchFamily="18" charset="0"/>
                            <a:ea typeface="ＭＳ Ｐゴシック" panose="020B0600070205080204" pitchFamily="34" charset="-128"/>
                          </a:rPr>
                          <m:t>𝑥</m:t>
                        </m:r>
                      </m:e>
                      <m:sub>
                        <m:r>
                          <a:rPr lang="es-ES" altLang="en-MX" b="0" i="1" smtClean="0">
                            <a:latin typeface="Cambria Math" panose="02040503050406030204" pitchFamily="18" charset="0"/>
                            <a:ea typeface="ＭＳ Ｐゴシック" panose="020B0600070205080204" pitchFamily="34" charset="-128"/>
                          </a:rPr>
                          <m:t>2</m:t>
                        </m:r>
                      </m:sub>
                    </m:sSub>
                    <m:r>
                      <a:rPr lang="es-ES" altLang="en-MX" b="0" i="1" smtClean="0">
                        <a:latin typeface="Cambria Math" panose="02040503050406030204" pitchFamily="18" charset="0"/>
                        <a:ea typeface="ＭＳ Ｐゴシック" panose="020B0600070205080204" pitchFamily="34" charset="-128"/>
                      </a:rPr>
                      <m:t>,…</m:t>
                    </m:r>
                    <m:sSub>
                      <m:sSubPr>
                        <m:ctrlPr>
                          <a:rPr lang="es-ES" altLang="en-MX" i="1">
                            <a:latin typeface="Cambria Math" panose="02040503050406030204" pitchFamily="18" charset="0"/>
                            <a:ea typeface="ＭＳ Ｐゴシック" panose="020B0600070205080204" pitchFamily="34" charset="-128"/>
                          </a:rPr>
                        </m:ctrlPr>
                      </m:sSubPr>
                      <m:e>
                        <m:r>
                          <a:rPr lang="es-ES" altLang="en-MX" i="1">
                            <a:latin typeface="Cambria Math" panose="02040503050406030204" pitchFamily="18" charset="0"/>
                            <a:ea typeface="ＭＳ Ｐゴシック" panose="020B0600070205080204" pitchFamily="34" charset="-128"/>
                          </a:rPr>
                          <m:t>𝑥</m:t>
                        </m:r>
                      </m:e>
                      <m:sub>
                        <m:r>
                          <a:rPr lang="es-ES" altLang="en-MX" b="0" i="1" smtClean="0">
                            <a:latin typeface="Cambria Math" panose="02040503050406030204" pitchFamily="18" charset="0"/>
                            <a:ea typeface="ＭＳ Ｐゴシック" panose="020B0600070205080204" pitchFamily="34" charset="-128"/>
                          </a:rPr>
                          <m:t>𝑛</m:t>
                        </m:r>
                      </m:sub>
                    </m:sSub>
                  </m:oMath>
                </a14:m>
                <a:r>
                  <a:rPr lang="en-US" altLang="en-MX" dirty="0">
                    <a:ea typeface="ＭＳ Ｐゴシック" panose="020B0600070205080204" pitchFamily="34" charset="-128"/>
                  </a:rPr>
                  <a:t>, with their corresponding probabilities of occurrences, </a:t>
                </a:r>
                <a14:m>
                  <m:oMath xmlns:m="http://schemas.openxmlformats.org/officeDocument/2006/math">
                    <m:r>
                      <m:rPr>
                        <m:sty m:val="p"/>
                      </m:rPr>
                      <a:rPr lang="es-ES" altLang="en-MX" b="0" i="0" smtClean="0">
                        <a:latin typeface="Cambria Math" panose="02040503050406030204" pitchFamily="18" charset="0"/>
                        <a:ea typeface="ＭＳ Ｐゴシック" panose="020B0600070205080204" pitchFamily="34" charset="-128"/>
                      </a:rPr>
                      <m:t>p</m:t>
                    </m:r>
                    <m:d>
                      <m:dPr>
                        <m:ctrlPr>
                          <a:rPr lang="es-ES" altLang="en-MX" b="0" i="0" smtClean="0">
                            <a:latin typeface="Cambria Math" panose="02040503050406030204" pitchFamily="18" charset="0"/>
                            <a:ea typeface="ＭＳ Ｐゴシック" panose="020B0600070205080204" pitchFamily="34" charset="-128"/>
                          </a:rPr>
                        </m:ctrlPr>
                      </m:dPr>
                      <m:e>
                        <m:sSub>
                          <m:sSubPr>
                            <m:ctrlPr>
                              <a:rPr lang="es-ES" altLang="en-MX" i="1">
                                <a:latin typeface="Cambria Math" panose="02040503050406030204" pitchFamily="18" charset="0"/>
                                <a:ea typeface="ＭＳ Ｐゴシック" panose="020B0600070205080204" pitchFamily="34" charset="-128"/>
                              </a:rPr>
                            </m:ctrlPr>
                          </m:sSubPr>
                          <m:e>
                            <m:r>
                              <a:rPr lang="es-ES" altLang="en-MX" i="1">
                                <a:latin typeface="Cambria Math" panose="02040503050406030204" pitchFamily="18" charset="0"/>
                                <a:ea typeface="ＭＳ Ｐゴシック" panose="020B0600070205080204" pitchFamily="34" charset="-128"/>
                              </a:rPr>
                              <m:t>𝑥</m:t>
                            </m:r>
                          </m:e>
                          <m:sub>
                            <m:r>
                              <a:rPr lang="es-ES" altLang="en-MX" i="1">
                                <a:latin typeface="Cambria Math" panose="02040503050406030204" pitchFamily="18" charset="0"/>
                                <a:ea typeface="ＭＳ Ｐゴシック" panose="020B0600070205080204" pitchFamily="34" charset="-128"/>
                              </a:rPr>
                              <m:t>1</m:t>
                            </m:r>
                          </m:sub>
                        </m:sSub>
                      </m:e>
                    </m:d>
                    <m:r>
                      <a:rPr lang="es-ES" altLang="en-MX" i="1">
                        <a:latin typeface="Cambria Math" panose="02040503050406030204" pitchFamily="18" charset="0"/>
                        <a:ea typeface="ＭＳ Ｐゴシック" panose="020B0600070205080204" pitchFamily="34" charset="-128"/>
                      </a:rPr>
                      <m:t>,</m:t>
                    </m:r>
                    <m:r>
                      <a:rPr lang="es-ES" altLang="en-MX" b="0" i="1" smtClean="0">
                        <a:latin typeface="Cambria Math" panose="02040503050406030204" pitchFamily="18" charset="0"/>
                        <a:ea typeface="ＭＳ Ｐゴシック" panose="020B0600070205080204" pitchFamily="34" charset="-128"/>
                      </a:rPr>
                      <m:t>𝑝</m:t>
                    </m:r>
                    <m:d>
                      <m:dPr>
                        <m:ctrlPr>
                          <a:rPr lang="es-ES" altLang="en-MX" b="0" i="1" smtClean="0">
                            <a:latin typeface="Cambria Math" panose="02040503050406030204" pitchFamily="18" charset="0"/>
                            <a:ea typeface="ＭＳ Ｐゴシック" panose="020B0600070205080204" pitchFamily="34" charset="-128"/>
                          </a:rPr>
                        </m:ctrlPr>
                      </m:dPr>
                      <m:e>
                        <m:sSub>
                          <m:sSubPr>
                            <m:ctrlPr>
                              <a:rPr lang="es-ES" altLang="en-MX" i="1">
                                <a:latin typeface="Cambria Math" panose="02040503050406030204" pitchFamily="18" charset="0"/>
                                <a:ea typeface="ＭＳ Ｐゴシック" panose="020B0600070205080204" pitchFamily="34" charset="-128"/>
                              </a:rPr>
                            </m:ctrlPr>
                          </m:sSubPr>
                          <m:e>
                            <m:r>
                              <a:rPr lang="es-ES" altLang="en-MX" i="1">
                                <a:latin typeface="Cambria Math" panose="02040503050406030204" pitchFamily="18" charset="0"/>
                                <a:ea typeface="ＭＳ Ｐゴシック" panose="020B0600070205080204" pitchFamily="34" charset="-128"/>
                              </a:rPr>
                              <m:t>𝑥</m:t>
                            </m:r>
                          </m:e>
                          <m:sub>
                            <m:r>
                              <a:rPr lang="es-ES" altLang="en-MX" i="1">
                                <a:latin typeface="Cambria Math" panose="02040503050406030204" pitchFamily="18" charset="0"/>
                                <a:ea typeface="ＭＳ Ｐゴシック" panose="020B0600070205080204" pitchFamily="34" charset="-128"/>
                              </a:rPr>
                              <m:t>2</m:t>
                            </m:r>
                          </m:sub>
                        </m:sSub>
                      </m:e>
                    </m:d>
                    <m:r>
                      <a:rPr lang="es-ES" altLang="en-MX" i="1">
                        <a:latin typeface="Cambria Math" panose="02040503050406030204" pitchFamily="18" charset="0"/>
                        <a:ea typeface="ＭＳ Ｐゴシック" panose="020B0600070205080204" pitchFamily="34" charset="-128"/>
                      </a:rPr>
                      <m:t>,…</m:t>
                    </m:r>
                    <m:r>
                      <a:rPr lang="es-ES" altLang="en-MX" b="0" i="1" smtClean="0">
                        <a:latin typeface="Cambria Math" panose="02040503050406030204" pitchFamily="18" charset="0"/>
                        <a:ea typeface="ＭＳ Ｐゴシック" panose="020B0600070205080204" pitchFamily="34" charset="-128"/>
                      </a:rPr>
                      <m:t>𝑝</m:t>
                    </m:r>
                    <m:d>
                      <m:dPr>
                        <m:ctrlPr>
                          <a:rPr lang="es-ES" altLang="en-MX" b="0" i="1" smtClean="0">
                            <a:latin typeface="Cambria Math" panose="02040503050406030204" pitchFamily="18" charset="0"/>
                            <a:ea typeface="ＭＳ Ｐゴシック" panose="020B0600070205080204" pitchFamily="34" charset="-128"/>
                          </a:rPr>
                        </m:ctrlPr>
                      </m:dPr>
                      <m:e>
                        <m:sSub>
                          <m:sSubPr>
                            <m:ctrlPr>
                              <a:rPr lang="es-ES" altLang="en-MX" i="1">
                                <a:latin typeface="Cambria Math" panose="02040503050406030204" pitchFamily="18" charset="0"/>
                                <a:ea typeface="ＭＳ Ｐゴシック" panose="020B0600070205080204" pitchFamily="34" charset="-128"/>
                              </a:rPr>
                            </m:ctrlPr>
                          </m:sSubPr>
                          <m:e>
                            <m:r>
                              <a:rPr lang="es-ES" altLang="en-MX" i="1">
                                <a:latin typeface="Cambria Math" panose="02040503050406030204" pitchFamily="18" charset="0"/>
                                <a:ea typeface="ＭＳ Ｐゴシック" panose="020B0600070205080204" pitchFamily="34" charset="-128"/>
                              </a:rPr>
                              <m:t>𝑥</m:t>
                            </m:r>
                          </m:e>
                          <m:sub>
                            <m:r>
                              <a:rPr lang="es-ES" altLang="en-MX" i="1">
                                <a:latin typeface="Cambria Math" panose="02040503050406030204" pitchFamily="18" charset="0"/>
                                <a:ea typeface="ＭＳ Ｐゴシック" panose="020B0600070205080204" pitchFamily="34" charset="-128"/>
                              </a:rPr>
                              <m:t>𝑛</m:t>
                            </m:r>
                          </m:sub>
                        </m:sSub>
                      </m:e>
                    </m:d>
                  </m:oMath>
                </a14:m>
                <a:r>
                  <a:rPr lang="en-US" altLang="en-MX" dirty="0">
                    <a:ea typeface="ＭＳ Ｐゴシック" panose="020B0600070205080204" pitchFamily="34" charset="-128"/>
                  </a:rPr>
                  <a:t>, respectively</a:t>
                </a:r>
              </a:p>
              <a:p>
                <a:endParaRPr lang="en-US" altLang="en-MX" dirty="0">
                  <a:ea typeface="ＭＳ Ｐゴシック" panose="020B0600070205080204" pitchFamily="34" charset="-128"/>
                </a:endParaRPr>
              </a:p>
              <a:p>
                <a:r>
                  <a:rPr lang="en-US" altLang="en-MX" dirty="0">
                    <a:ea typeface="ＭＳ Ｐゴシック" panose="020B0600070205080204" pitchFamily="34" charset="-128"/>
                  </a:rPr>
                  <a:t>The expected values (EV) is then calculated as</a:t>
                </a:r>
              </a:p>
              <a:p>
                <a:pPr marL="0" indent="0">
                  <a:buNone/>
                </a:pPr>
                <a14:m>
                  <m:oMathPara xmlns:m="http://schemas.openxmlformats.org/officeDocument/2006/math">
                    <m:oMathParaPr>
                      <m:jc m:val="centerGroup"/>
                    </m:oMathParaPr>
                    <m:oMath xmlns:m="http://schemas.openxmlformats.org/officeDocument/2006/math">
                      <m:r>
                        <a:rPr lang="es-ES" altLang="en-MX" b="0" i="1" smtClean="0">
                          <a:latin typeface="Cambria Math" panose="02040503050406030204" pitchFamily="18" charset="0"/>
                          <a:ea typeface="ＭＳ Ｐゴシック" panose="020B0600070205080204" pitchFamily="34" charset="-128"/>
                        </a:rPr>
                        <m:t>𝐸</m:t>
                      </m:r>
                      <m:d>
                        <m:dPr>
                          <m:begChr m:val="["/>
                          <m:endChr m:val="]"/>
                          <m:ctrlPr>
                            <a:rPr lang="es-ES" altLang="en-MX" b="0" i="1" smtClean="0">
                              <a:latin typeface="Cambria Math" panose="02040503050406030204" pitchFamily="18" charset="0"/>
                              <a:ea typeface="ＭＳ Ｐゴシック" panose="020B0600070205080204" pitchFamily="34" charset="-128"/>
                            </a:rPr>
                          </m:ctrlPr>
                        </m:dPr>
                        <m:e>
                          <m:r>
                            <a:rPr lang="es-ES" altLang="en-MX" b="0" i="1" smtClean="0">
                              <a:latin typeface="Cambria Math" panose="02040503050406030204" pitchFamily="18" charset="0"/>
                              <a:ea typeface="ＭＳ Ｐゴシック" panose="020B0600070205080204" pitchFamily="34" charset="-128"/>
                            </a:rPr>
                            <m:t>𝑋</m:t>
                          </m:r>
                        </m:e>
                      </m:d>
                      <m:r>
                        <a:rPr lang="es-ES" altLang="en-MX" b="0" i="1" smtClean="0">
                          <a:latin typeface="Cambria Math" panose="02040503050406030204" pitchFamily="18" charset="0"/>
                          <a:ea typeface="ＭＳ Ｐゴシック" panose="020B0600070205080204" pitchFamily="34" charset="-128"/>
                        </a:rPr>
                        <m:t>=</m:t>
                      </m:r>
                      <m:nary>
                        <m:naryPr>
                          <m:chr m:val="∑"/>
                          <m:ctrlPr>
                            <a:rPr lang="es-ES" altLang="en-MX" b="0" i="1" smtClean="0">
                              <a:latin typeface="Cambria Math" panose="02040503050406030204" pitchFamily="18" charset="0"/>
                              <a:ea typeface="ＭＳ Ｐゴシック" panose="020B0600070205080204" pitchFamily="34" charset="-128"/>
                            </a:rPr>
                          </m:ctrlPr>
                        </m:naryPr>
                        <m:sub>
                          <m:r>
                            <a:rPr lang="es-ES" altLang="en-MX" b="0" i="1" smtClean="0">
                              <a:latin typeface="Cambria Math" panose="02040503050406030204" pitchFamily="18" charset="0"/>
                              <a:ea typeface="ＭＳ Ｐゴシック" panose="020B0600070205080204" pitchFamily="34" charset="-128"/>
                            </a:rPr>
                            <m:t>𝑖</m:t>
                          </m:r>
                          <m:r>
                            <a:rPr lang="es-ES" altLang="en-MX" b="0" i="1" smtClean="0">
                              <a:latin typeface="Cambria Math" panose="02040503050406030204" pitchFamily="18" charset="0"/>
                              <a:ea typeface="ＭＳ Ｐゴシック" panose="020B0600070205080204" pitchFamily="34" charset="-128"/>
                            </a:rPr>
                            <m:t>=1</m:t>
                          </m:r>
                        </m:sub>
                        <m:sup>
                          <m:r>
                            <a:rPr lang="es-ES" altLang="en-MX" b="0" i="1" smtClean="0">
                              <a:latin typeface="Cambria Math" panose="02040503050406030204" pitchFamily="18" charset="0"/>
                              <a:ea typeface="ＭＳ Ｐゴシック" panose="020B0600070205080204" pitchFamily="34" charset="-128"/>
                            </a:rPr>
                            <m:t>𝑁</m:t>
                          </m:r>
                        </m:sup>
                        <m:e>
                          <m:sSub>
                            <m:sSubPr>
                              <m:ctrlPr>
                                <a:rPr lang="es-ES" altLang="en-MX" i="1">
                                  <a:latin typeface="Cambria Math" panose="02040503050406030204" pitchFamily="18" charset="0"/>
                                  <a:ea typeface="ＭＳ Ｐゴシック" panose="020B0600070205080204" pitchFamily="34" charset="-128"/>
                                </a:rPr>
                              </m:ctrlPr>
                            </m:sSubPr>
                            <m:e>
                              <m:r>
                                <a:rPr lang="es-ES" altLang="en-MX" i="1">
                                  <a:latin typeface="Cambria Math" panose="02040503050406030204" pitchFamily="18" charset="0"/>
                                  <a:ea typeface="ＭＳ Ｐゴシック" panose="020B0600070205080204" pitchFamily="34" charset="-128"/>
                                </a:rPr>
                                <m:t>𝑥</m:t>
                              </m:r>
                            </m:e>
                            <m:sub>
                              <m:r>
                                <a:rPr lang="es-ES" altLang="en-MX" i="1">
                                  <a:latin typeface="Cambria Math" panose="02040503050406030204" pitchFamily="18" charset="0"/>
                                  <a:ea typeface="ＭＳ Ｐゴシック" panose="020B0600070205080204" pitchFamily="34" charset="-128"/>
                                </a:rPr>
                                <m:t>𝑖</m:t>
                              </m:r>
                            </m:sub>
                          </m:sSub>
                          <m:r>
                            <a:rPr lang="es-ES" altLang="en-MX" i="1">
                              <a:latin typeface="Cambria Math" panose="02040503050406030204" pitchFamily="18" charset="0"/>
                              <a:ea typeface="ＭＳ Ｐゴシック" panose="020B0600070205080204" pitchFamily="34" charset="-128"/>
                            </a:rPr>
                            <m:t>⋅</m:t>
                          </m:r>
                          <m:r>
                            <a:rPr lang="es-ES" altLang="en-MX" i="1">
                              <a:latin typeface="Cambria Math" panose="02040503050406030204" pitchFamily="18" charset="0"/>
                              <a:ea typeface="ＭＳ Ｐゴシック" panose="020B0600070205080204" pitchFamily="34" charset="-128"/>
                            </a:rPr>
                            <m:t>𝑝</m:t>
                          </m:r>
                          <m:d>
                            <m:dPr>
                              <m:ctrlPr>
                                <a:rPr lang="es-ES" altLang="en-MX" i="1">
                                  <a:latin typeface="Cambria Math" panose="02040503050406030204" pitchFamily="18" charset="0"/>
                                  <a:ea typeface="ＭＳ Ｐゴシック" panose="020B0600070205080204" pitchFamily="34" charset="-128"/>
                                </a:rPr>
                              </m:ctrlPr>
                            </m:dPr>
                            <m:e>
                              <m:sSub>
                                <m:sSubPr>
                                  <m:ctrlPr>
                                    <a:rPr lang="es-ES" altLang="en-MX" i="1">
                                      <a:latin typeface="Cambria Math" panose="02040503050406030204" pitchFamily="18" charset="0"/>
                                      <a:ea typeface="ＭＳ Ｐゴシック" panose="020B0600070205080204" pitchFamily="34" charset="-128"/>
                                    </a:rPr>
                                  </m:ctrlPr>
                                </m:sSubPr>
                                <m:e>
                                  <m:r>
                                    <a:rPr lang="es-ES" altLang="en-MX" i="1">
                                      <a:latin typeface="Cambria Math" panose="02040503050406030204" pitchFamily="18" charset="0"/>
                                      <a:ea typeface="ＭＳ Ｐゴシック" panose="020B0600070205080204" pitchFamily="34" charset="-128"/>
                                    </a:rPr>
                                    <m:t>𝑥</m:t>
                                  </m:r>
                                </m:e>
                                <m:sub>
                                  <m:r>
                                    <a:rPr lang="es-ES" altLang="en-MX" i="1">
                                      <a:latin typeface="Cambria Math" panose="02040503050406030204" pitchFamily="18" charset="0"/>
                                      <a:ea typeface="ＭＳ Ｐゴシック" panose="020B0600070205080204" pitchFamily="34" charset="-128"/>
                                    </a:rPr>
                                    <m:t>𝑖</m:t>
                                  </m:r>
                                </m:sub>
                              </m:sSub>
                            </m:e>
                          </m:d>
                        </m:e>
                      </m:nary>
                      <m:r>
                        <a:rPr lang="es-ES" altLang="en-MX" b="0" i="1" smtClean="0">
                          <a:latin typeface="Cambria Math" panose="02040503050406030204" pitchFamily="18" charset="0"/>
                          <a:ea typeface="ＭＳ Ｐゴシック" panose="020B0600070205080204" pitchFamily="34" charset="-128"/>
                        </a:rPr>
                        <m:t>=</m:t>
                      </m:r>
                      <m:acc>
                        <m:accPr>
                          <m:chr m:val="̅"/>
                          <m:ctrlPr>
                            <a:rPr lang="es-ES" altLang="en-MX" b="0" i="1" smtClean="0">
                              <a:latin typeface="Cambria Math" panose="02040503050406030204" pitchFamily="18" charset="0"/>
                              <a:ea typeface="ＭＳ Ｐゴシック" panose="020B0600070205080204" pitchFamily="34" charset="-128"/>
                            </a:rPr>
                          </m:ctrlPr>
                        </m:accPr>
                        <m:e>
                          <m:r>
                            <a:rPr lang="es-ES" altLang="en-MX" b="0" i="1" smtClean="0">
                              <a:latin typeface="Cambria Math" panose="02040503050406030204" pitchFamily="18" charset="0"/>
                              <a:ea typeface="ＭＳ Ｐゴシック" panose="020B0600070205080204" pitchFamily="34" charset="-128"/>
                            </a:rPr>
                            <m:t>𝑋</m:t>
                          </m:r>
                        </m:e>
                      </m:acc>
                    </m:oMath>
                  </m:oMathPara>
                </a14:m>
                <a:endParaRPr lang="en-US" altLang="en-MX" dirty="0">
                  <a:ea typeface="ＭＳ Ｐゴシック" panose="020B0600070205080204" pitchFamily="34" charset="-128"/>
                </a:endParaRPr>
              </a:p>
            </p:txBody>
          </p:sp>
        </mc:Choice>
        <mc:Fallback>
          <p:sp>
            <p:nvSpPr>
              <p:cNvPr id="3" name="Content Placeholder 2">
                <a:extLst>
                  <a:ext uri="{FF2B5EF4-FFF2-40B4-BE49-F238E27FC236}">
                    <a16:creationId xmlns:a16="http://schemas.microsoft.com/office/drawing/2014/main" id="{A2C8418E-2EB1-D6AE-2A48-8C22A8CD00D0}"/>
                  </a:ext>
                </a:extLst>
              </p:cNvPr>
              <p:cNvSpPr>
                <a:spLocks noGrp="1" noRot="1" noChangeAspect="1" noMove="1" noResize="1" noEditPoints="1" noAdjustHandles="1" noChangeArrowheads="1" noChangeShapeType="1" noTextEdit="1"/>
              </p:cNvSpPr>
              <p:nvPr>
                <p:ph idx="1"/>
              </p:nvPr>
            </p:nvSpPr>
            <p:spPr>
              <a:blipFill>
                <a:blip r:embed="rId2"/>
                <a:stretch>
                  <a:fillRect l="-1327" t="-2907" b="-43023"/>
                </a:stretch>
              </a:blipFill>
            </p:spPr>
            <p:txBody>
              <a:bodyPr/>
              <a:lstStyle/>
              <a:p>
                <a:r>
                  <a:rPr lang="en-US">
                    <a:noFill/>
                  </a:rPr>
                  <a:t> </a:t>
                </a:r>
              </a:p>
            </p:txBody>
          </p:sp>
        </mc:Fallback>
      </mc:AlternateContent>
    </p:spTree>
    <p:extLst>
      <p:ext uri="{BB962C8B-B14F-4D97-AF65-F5344CB8AC3E}">
        <p14:creationId xmlns:p14="http://schemas.microsoft.com/office/powerpoint/2010/main" val="11853859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F50D0-A275-2D49-B2A6-D685BD62A39D}"/>
              </a:ext>
            </a:extLst>
          </p:cNvPr>
          <p:cNvSpPr>
            <a:spLocks noGrp="1"/>
          </p:cNvSpPr>
          <p:nvPr>
            <p:ph type="title"/>
          </p:nvPr>
        </p:nvSpPr>
        <p:spPr/>
        <p:txBody>
          <a:bodyPr/>
          <a:lstStyle/>
          <a:p>
            <a:r>
              <a:rPr lang="en-MX" dirty="0"/>
              <a:t>Expected Value</a:t>
            </a:r>
          </a:p>
        </p:txBody>
      </p:sp>
      <p:sp>
        <p:nvSpPr>
          <p:cNvPr id="3" name="Content Placeholder 2">
            <a:extLst>
              <a:ext uri="{FF2B5EF4-FFF2-40B4-BE49-F238E27FC236}">
                <a16:creationId xmlns:a16="http://schemas.microsoft.com/office/drawing/2014/main" id="{FD1955CA-FC50-3243-AF21-97775EB3AF98}"/>
              </a:ext>
            </a:extLst>
          </p:cNvPr>
          <p:cNvSpPr>
            <a:spLocks noGrp="1"/>
          </p:cNvSpPr>
          <p:nvPr>
            <p:ph idx="1"/>
          </p:nvPr>
        </p:nvSpPr>
        <p:spPr/>
        <p:txBody>
          <a:bodyPr/>
          <a:lstStyle/>
          <a:p>
            <a:r>
              <a:rPr lang="en-US" altLang="en-MX" dirty="0">
                <a:ea typeface="ＭＳ Ｐゴシック" panose="020B0600070205080204" pitchFamily="34" charset="-128"/>
              </a:rPr>
              <a:t>The result that is expected on average for any one decision alternative (e.g., length of life, quality of life, lifetime costs).</a:t>
            </a:r>
          </a:p>
          <a:p>
            <a:endParaRPr lang="en-US" altLang="en-MX" dirty="0">
              <a:ea typeface="ＭＳ Ｐゴシック" panose="020B0600070205080204" pitchFamily="34" charset="-128"/>
            </a:endParaRPr>
          </a:p>
          <a:p>
            <a:r>
              <a:rPr lang="en-US" altLang="en-MX" dirty="0">
                <a:ea typeface="ＭＳ Ｐゴシック" panose="020B0600070205080204" pitchFamily="34" charset="-128"/>
              </a:rPr>
              <a:t>Maximizing expected value is a reasonable criterion for choice given uncertain prospects; though it does not necessarily promise the best results for any one individual.</a:t>
            </a:r>
          </a:p>
        </p:txBody>
      </p:sp>
    </p:spTree>
    <p:extLst>
      <p:ext uri="{BB962C8B-B14F-4D97-AF65-F5344CB8AC3E}">
        <p14:creationId xmlns:p14="http://schemas.microsoft.com/office/powerpoint/2010/main" val="11055944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2">
            <a:extLst>
              <a:ext uri="{FF2B5EF4-FFF2-40B4-BE49-F238E27FC236}">
                <a16:creationId xmlns:a16="http://schemas.microsoft.com/office/drawing/2014/main" id="{B005BCFA-E8D6-DD4B-BB3E-290EE080733C}"/>
              </a:ext>
            </a:extLst>
          </p:cNvPr>
          <p:cNvSpPr>
            <a:spLocks noGrp="1" noChangeArrowheads="1"/>
          </p:cNvSpPr>
          <p:nvPr>
            <p:ph type="title"/>
          </p:nvPr>
        </p:nvSpPr>
        <p:spPr/>
        <p:txBody>
          <a:bodyPr/>
          <a:lstStyle/>
          <a:p>
            <a:pPr eaLnBrk="1" hangingPunct="1"/>
            <a:r>
              <a:rPr lang="en-US" altLang="en-MX">
                <a:ea typeface="ＭＳ Ｐゴシック" panose="020B0600070205080204" pitchFamily="34" charset="-128"/>
              </a:rPr>
              <a:t>Example</a:t>
            </a:r>
          </a:p>
        </p:txBody>
      </p:sp>
      <p:sp>
        <p:nvSpPr>
          <p:cNvPr id="20482" name="Rectangle 3">
            <a:extLst>
              <a:ext uri="{FF2B5EF4-FFF2-40B4-BE49-F238E27FC236}">
                <a16:creationId xmlns:a16="http://schemas.microsoft.com/office/drawing/2014/main" id="{053D9D46-3397-F94C-BDFF-6B8433DFBC57}"/>
              </a:ext>
            </a:extLst>
          </p:cNvPr>
          <p:cNvSpPr>
            <a:spLocks noGrp="1" noChangeArrowheads="1"/>
          </p:cNvSpPr>
          <p:nvPr>
            <p:ph type="body" idx="1"/>
          </p:nvPr>
        </p:nvSpPr>
        <p:spPr/>
        <p:txBody>
          <a:bodyPr/>
          <a:lstStyle/>
          <a:p>
            <a:pPr marL="688975" indent="-688975">
              <a:buNone/>
              <a:tabLst>
                <a:tab pos="4684713" algn="ctr"/>
                <a:tab pos="7089775" algn="ctr"/>
              </a:tabLst>
            </a:pPr>
            <a:r>
              <a:rPr lang="en-US" altLang="en-MX" sz="2800" dirty="0">
                <a:ea typeface="ＭＳ Ｐゴシック" panose="020B0600070205080204" pitchFamily="34" charset="-128"/>
              </a:rPr>
              <a:t>Probability of Surviving*     Treatment A    Treatment B</a:t>
            </a:r>
          </a:p>
          <a:p>
            <a:pPr marL="688975" indent="-688975">
              <a:buNone/>
              <a:tabLst>
                <a:tab pos="4684713" algn="ctr"/>
                <a:tab pos="7089775" algn="ctr"/>
              </a:tabLst>
            </a:pPr>
            <a:r>
              <a:rPr lang="en-US" altLang="en-MX" sz="2800" dirty="0">
                <a:ea typeface="ＭＳ Ｐゴシック" panose="020B0600070205080204" pitchFamily="34" charset="-128"/>
              </a:rPr>
              <a:t>	in year 1	0.20	0.05</a:t>
            </a:r>
          </a:p>
          <a:p>
            <a:pPr marL="688975" indent="-688975">
              <a:buNone/>
              <a:tabLst>
                <a:tab pos="4684713" algn="ctr"/>
                <a:tab pos="7089775" algn="ctr"/>
              </a:tabLst>
            </a:pPr>
            <a:r>
              <a:rPr lang="en-US" altLang="en-MX" sz="2800" dirty="0">
                <a:ea typeface="ＭＳ Ｐゴシック" panose="020B0600070205080204" pitchFamily="34" charset="-128"/>
              </a:rPr>
              <a:t>	in year 2 	0.10	0.15</a:t>
            </a:r>
          </a:p>
          <a:p>
            <a:pPr marL="688975" indent="-688975">
              <a:buNone/>
              <a:tabLst>
                <a:tab pos="4684713" algn="ctr"/>
                <a:tab pos="7089775" algn="ctr"/>
              </a:tabLst>
            </a:pPr>
            <a:r>
              <a:rPr lang="en-US" altLang="en-MX" sz="2800" dirty="0">
                <a:ea typeface="ＭＳ Ｐゴシック" panose="020B0600070205080204" pitchFamily="34" charset="-128"/>
              </a:rPr>
              <a:t>	in year 3 	0.05	0.25</a:t>
            </a:r>
          </a:p>
          <a:p>
            <a:pPr marL="688975" indent="-688975">
              <a:buNone/>
              <a:tabLst>
                <a:tab pos="4684713" algn="ctr"/>
                <a:tab pos="7089775" algn="ctr"/>
              </a:tabLst>
            </a:pPr>
            <a:r>
              <a:rPr lang="en-US" altLang="en-MX" sz="2800" dirty="0">
                <a:ea typeface="ＭＳ Ｐゴシック" panose="020B0600070205080204" pitchFamily="34" charset="-128"/>
              </a:rPr>
              <a:t>	in year 4 	0.15	0.35</a:t>
            </a:r>
          </a:p>
          <a:p>
            <a:pPr marL="688975" indent="-688975">
              <a:buNone/>
              <a:tabLst>
                <a:tab pos="4684713" algn="ctr"/>
                <a:tab pos="7089775" algn="ctr"/>
              </a:tabLst>
            </a:pPr>
            <a:r>
              <a:rPr lang="en-US" altLang="en-MX" sz="2800" dirty="0">
                <a:ea typeface="ＭＳ Ｐゴシック" panose="020B0600070205080204" pitchFamily="34" charset="-128"/>
              </a:rPr>
              <a:t>	in year 5 	0.20	0.15</a:t>
            </a:r>
          </a:p>
          <a:p>
            <a:pPr marL="688975" indent="-688975">
              <a:buNone/>
              <a:tabLst>
                <a:tab pos="4684713" algn="ctr"/>
                <a:tab pos="7089775" algn="ctr"/>
              </a:tabLst>
            </a:pPr>
            <a:r>
              <a:rPr lang="en-US" altLang="en-MX" sz="2800" dirty="0">
                <a:ea typeface="ＭＳ Ｐゴシック" panose="020B0600070205080204" pitchFamily="34" charset="-128"/>
              </a:rPr>
              <a:t>	in year 6 	0.30	0.05</a:t>
            </a:r>
          </a:p>
        </p:txBody>
      </p:sp>
      <p:sp>
        <p:nvSpPr>
          <p:cNvPr id="20483" name="Line 4">
            <a:extLst>
              <a:ext uri="{FF2B5EF4-FFF2-40B4-BE49-F238E27FC236}">
                <a16:creationId xmlns:a16="http://schemas.microsoft.com/office/drawing/2014/main" id="{A8799FB4-E9B4-0740-A17E-AC9FC8AA820E}"/>
              </a:ext>
            </a:extLst>
          </p:cNvPr>
          <p:cNvSpPr>
            <a:spLocks noChangeShapeType="1"/>
          </p:cNvSpPr>
          <p:nvPr/>
        </p:nvSpPr>
        <p:spPr bwMode="auto">
          <a:xfrm>
            <a:off x="1981200" y="2272746"/>
            <a:ext cx="8229600" cy="0"/>
          </a:xfrm>
          <a:prstGeom prst="line">
            <a:avLst/>
          </a:prstGeom>
          <a:noFill/>
          <a:ln w="57150" cmpd="thinThick">
            <a:solidFill>
              <a:srgbClr val="990033"/>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20484" name="Rectangle 5">
            <a:extLst>
              <a:ext uri="{FF2B5EF4-FFF2-40B4-BE49-F238E27FC236}">
                <a16:creationId xmlns:a16="http://schemas.microsoft.com/office/drawing/2014/main" id="{26642B39-779F-0941-BE36-A92B7AF9AEFA}"/>
              </a:ext>
            </a:extLst>
          </p:cNvPr>
          <p:cNvSpPr>
            <a:spLocks noChangeArrowheads="1"/>
          </p:cNvSpPr>
          <p:nvPr/>
        </p:nvSpPr>
        <p:spPr bwMode="auto">
          <a:xfrm>
            <a:off x="2133601" y="5562600"/>
            <a:ext cx="6473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MX">
                <a:solidFill>
                  <a:srgbClr val="000000"/>
                </a:solidFill>
              </a:rPr>
              <a:t>*Assume death occurs midway during the year</a:t>
            </a:r>
          </a:p>
        </p:txBody>
      </p:sp>
      <p:sp>
        <p:nvSpPr>
          <p:cNvPr id="20485" name="Line 6">
            <a:extLst>
              <a:ext uri="{FF2B5EF4-FFF2-40B4-BE49-F238E27FC236}">
                <a16:creationId xmlns:a16="http://schemas.microsoft.com/office/drawing/2014/main" id="{DFA123FA-2F84-8644-A05A-458AB32D9ECF}"/>
              </a:ext>
            </a:extLst>
          </p:cNvPr>
          <p:cNvSpPr>
            <a:spLocks noChangeShapeType="1"/>
          </p:cNvSpPr>
          <p:nvPr/>
        </p:nvSpPr>
        <p:spPr bwMode="auto">
          <a:xfrm>
            <a:off x="2057400" y="5410200"/>
            <a:ext cx="8229600" cy="0"/>
          </a:xfrm>
          <a:prstGeom prst="line">
            <a:avLst/>
          </a:prstGeom>
          <a:noFill/>
          <a:ln w="19050">
            <a:solidFill>
              <a:srgbClr val="990033"/>
            </a:solidFill>
            <a:round/>
            <a:headEnd/>
            <a:tailEnd/>
          </a:ln>
          <a:extLst>
            <a:ext uri="{909E8E84-426E-40DD-AFC4-6F175D3DCCD1}">
              <a14:hiddenFill xmlns:a14="http://schemas.microsoft.com/office/drawing/2010/main">
                <a:noFill/>
              </a14:hiddenFill>
            </a:ext>
          </a:extLst>
        </p:spPr>
        <p:txBody>
          <a:bodyPr/>
          <a:lstStyle/>
          <a:p>
            <a:endParaRPr lang="en-MX"/>
          </a:p>
        </p:txBody>
      </p:sp>
    </p:spTree>
    <p:extLst>
      <p:ext uri="{BB962C8B-B14F-4D97-AF65-F5344CB8AC3E}">
        <p14:creationId xmlns:p14="http://schemas.microsoft.com/office/powerpoint/2010/main" val="8194595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F50D0-A275-2D49-B2A6-D685BD62A39D}"/>
              </a:ext>
            </a:extLst>
          </p:cNvPr>
          <p:cNvSpPr>
            <a:spLocks noGrp="1"/>
          </p:cNvSpPr>
          <p:nvPr>
            <p:ph type="title"/>
          </p:nvPr>
        </p:nvSpPr>
        <p:spPr/>
        <p:txBody>
          <a:bodyPr/>
          <a:lstStyle/>
          <a:p>
            <a:r>
              <a:rPr lang="en-MX" dirty="0"/>
              <a:t>Treatment Choice</a:t>
            </a:r>
          </a:p>
        </p:txBody>
      </p:sp>
      <p:sp>
        <p:nvSpPr>
          <p:cNvPr id="3" name="Content Placeholder 2">
            <a:extLst>
              <a:ext uri="{FF2B5EF4-FFF2-40B4-BE49-F238E27FC236}">
                <a16:creationId xmlns:a16="http://schemas.microsoft.com/office/drawing/2014/main" id="{FD1955CA-FC50-3243-AF21-97775EB3AF98}"/>
              </a:ext>
            </a:extLst>
          </p:cNvPr>
          <p:cNvSpPr>
            <a:spLocks noGrp="1"/>
          </p:cNvSpPr>
          <p:nvPr>
            <p:ph idx="1"/>
          </p:nvPr>
        </p:nvSpPr>
        <p:spPr>
          <a:xfrm>
            <a:off x="838200" y="1825625"/>
            <a:ext cx="10515600" cy="4667250"/>
          </a:xfrm>
        </p:spPr>
        <p:txBody>
          <a:bodyPr>
            <a:normAutofit/>
          </a:bodyPr>
          <a:lstStyle/>
          <a:p>
            <a:r>
              <a:rPr lang="en-US" altLang="en-MX" dirty="0">
                <a:ea typeface="ＭＳ Ｐゴシック" panose="020B0600070205080204" pitchFamily="34" charset="-128"/>
              </a:rPr>
              <a:t>Given that everything aside from survival is equal (e.g., cost, side effects), which treatment would you choose?</a:t>
            </a:r>
          </a:p>
          <a:p>
            <a:pPr lvl="1"/>
            <a:r>
              <a:rPr lang="en-US" altLang="en-MX" sz="3200" dirty="0">
                <a:ea typeface="ＭＳ Ｐゴシック" panose="020B0600070205080204" pitchFamily="34" charset="-128"/>
              </a:rPr>
              <a:t>Choose </a:t>
            </a:r>
            <a:r>
              <a:rPr lang="en-US" altLang="en-MX" sz="3200" u="sng" dirty="0">
                <a:ea typeface="ＭＳ Ｐゴシック" panose="020B0600070205080204" pitchFamily="34" charset="-128"/>
              </a:rPr>
              <a:t>outcome measure</a:t>
            </a:r>
            <a:r>
              <a:rPr lang="en-US" altLang="en-MX" sz="3200" dirty="0">
                <a:ea typeface="ＭＳ Ｐゴシック" panose="020B0600070205080204" pitchFamily="34" charset="-128"/>
              </a:rPr>
              <a:t> (survival → years of remaining life)</a:t>
            </a:r>
          </a:p>
          <a:p>
            <a:pPr lvl="1"/>
            <a:r>
              <a:rPr lang="en-US" altLang="en-MX" sz="3200" dirty="0">
                <a:ea typeface="ＭＳ Ｐゴシック" panose="020B0600070205080204" pitchFamily="34" charset="-128"/>
              </a:rPr>
              <a:t>Calculate the </a:t>
            </a:r>
            <a:r>
              <a:rPr lang="en-US" altLang="en-MX" sz="3200" u="sng" dirty="0">
                <a:ea typeface="ＭＳ Ｐゴシック" panose="020B0600070205080204" pitchFamily="34" charset="-128"/>
              </a:rPr>
              <a:t>expected value</a:t>
            </a:r>
            <a:r>
              <a:rPr lang="en-US" altLang="en-MX" sz="3200" dirty="0">
                <a:ea typeface="ＭＳ Ｐゴシック" panose="020B0600070205080204" pitchFamily="34" charset="-128"/>
              </a:rPr>
              <a:t> (average number of remaining life years) of each alternative</a:t>
            </a:r>
          </a:p>
        </p:txBody>
      </p:sp>
    </p:spTree>
    <p:extLst>
      <p:ext uri="{BB962C8B-B14F-4D97-AF65-F5344CB8AC3E}">
        <p14:creationId xmlns:p14="http://schemas.microsoft.com/office/powerpoint/2010/main" val="6825719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2">
            <a:extLst>
              <a:ext uri="{FF2B5EF4-FFF2-40B4-BE49-F238E27FC236}">
                <a16:creationId xmlns:a16="http://schemas.microsoft.com/office/drawing/2014/main" id="{F3B4A0B1-C0E9-034E-B586-87D005E062E0}"/>
              </a:ext>
            </a:extLst>
          </p:cNvPr>
          <p:cNvSpPr>
            <a:spLocks noGrp="1" noChangeArrowheads="1"/>
          </p:cNvSpPr>
          <p:nvPr>
            <p:ph type="title"/>
          </p:nvPr>
        </p:nvSpPr>
        <p:spPr/>
        <p:txBody>
          <a:bodyPr/>
          <a:lstStyle/>
          <a:p>
            <a:pPr eaLnBrk="1" hangingPunct="1"/>
            <a:r>
              <a:rPr lang="en-US" altLang="en-MX">
                <a:ea typeface="ＭＳ Ｐゴシック" panose="020B0600070205080204" pitchFamily="34" charset="-128"/>
              </a:rPr>
              <a:t>Expected Survival</a:t>
            </a:r>
          </a:p>
        </p:txBody>
      </p:sp>
      <p:sp>
        <p:nvSpPr>
          <p:cNvPr id="23554" name="Rectangle 3">
            <a:extLst>
              <a:ext uri="{FF2B5EF4-FFF2-40B4-BE49-F238E27FC236}">
                <a16:creationId xmlns:a16="http://schemas.microsoft.com/office/drawing/2014/main" id="{69A424D4-F6BC-0444-8785-30FCA62BD7DD}"/>
              </a:ext>
            </a:extLst>
          </p:cNvPr>
          <p:cNvSpPr>
            <a:spLocks noGrp="1" noChangeArrowheads="1"/>
          </p:cNvSpPr>
          <p:nvPr>
            <p:ph type="body" idx="1"/>
          </p:nvPr>
        </p:nvSpPr>
        <p:spPr/>
        <p:txBody>
          <a:bodyPr>
            <a:normAutofit lnSpcReduction="10000"/>
          </a:bodyPr>
          <a:lstStyle/>
          <a:p>
            <a:pPr>
              <a:buNone/>
              <a:tabLst>
                <a:tab pos="574675" algn="l"/>
                <a:tab pos="801688" algn="l"/>
                <a:tab pos="5033963" algn="l"/>
                <a:tab pos="5260975" algn="l"/>
              </a:tabLst>
            </a:pPr>
            <a:r>
              <a:rPr lang="en-US" altLang="en-MX" dirty="0">
                <a:ea typeface="ＭＳ Ｐゴシック" panose="020B0600070205080204" pitchFamily="34" charset="-128"/>
              </a:rPr>
              <a:t>		Treatment A	Treatment B</a:t>
            </a:r>
          </a:p>
          <a:p>
            <a:pPr>
              <a:buNone/>
              <a:tabLst>
                <a:tab pos="574675" algn="l"/>
                <a:tab pos="801688" algn="l"/>
                <a:tab pos="5033963" algn="l"/>
                <a:tab pos="5260975" algn="l"/>
              </a:tabLst>
            </a:pPr>
            <a:r>
              <a:rPr lang="en-US" altLang="en-MX" dirty="0">
                <a:ea typeface="ＭＳ Ｐゴシック" panose="020B0600070205080204" pitchFamily="34" charset="-128"/>
              </a:rPr>
              <a:t>			[0.20 x 0.5 </a:t>
            </a:r>
            <a:r>
              <a:rPr lang="en-US" altLang="en-MX" dirty="0" err="1">
                <a:ea typeface="ＭＳ Ｐゴシック" panose="020B0600070205080204" pitchFamily="34" charset="-128"/>
              </a:rPr>
              <a:t>yr</a:t>
            </a:r>
            <a:r>
              <a:rPr lang="en-US" altLang="en-MX" dirty="0">
                <a:ea typeface="ＭＳ Ｐゴシック" panose="020B0600070205080204" pitchFamily="34" charset="-128"/>
              </a:rPr>
              <a:t>]		[0.05 x 0.5 </a:t>
            </a:r>
            <a:r>
              <a:rPr lang="en-US" altLang="en-MX" dirty="0" err="1">
                <a:ea typeface="ＭＳ Ｐゴシック" panose="020B0600070205080204" pitchFamily="34" charset="-128"/>
              </a:rPr>
              <a:t>yr</a:t>
            </a:r>
            <a:r>
              <a:rPr lang="en-US" altLang="en-MX" dirty="0">
                <a:ea typeface="ＭＳ Ｐゴシック" panose="020B0600070205080204" pitchFamily="34" charset="-128"/>
              </a:rPr>
              <a:t>]</a:t>
            </a:r>
          </a:p>
          <a:p>
            <a:pPr>
              <a:buNone/>
              <a:tabLst>
                <a:tab pos="574675" algn="l"/>
                <a:tab pos="801688" algn="l"/>
                <a:tab pos="5033963" algn="l"/>
                <a:tab pos="5260975" algn="l"/>
              </a:tabLst>
            </a:pPr>
            <a:r>
              <a:rPr lang="en-US" altLang="en-MX" dirty="0">
                <a:ea typeface="ＭＳ Ｐゴシック" panose="020B0600070205080204" pitchFamily="34" charset="-128"/>
              </a:rPr>
              <a:t>		+[0.10 x 1.5 </a:t>
            </a:r>
            <a:r>
              <a:rPr lang="en-US" altLang="en-MX" dirty="0" err="1">
                <a:ea typeface="ＭＳ Ｐゴシック" panose="020B0600070205080204" pitchFamily="34" charset="-128"/>
              </a:rPr>
              <a:t>yr</a:t>
            </a:r>
            <a:r>
              <a:rPr lang="en-US" altLang="en-MX" dirty="0">
                <a:ea typeface="ＭＳ Ｐゴシック" panose="020B0600070205080204" pitchFamily="34" charset="-128"/>
              </a:rPr>
              <a:t>]	+[0.15 x 1.5 </a:t>
            </a:r>
            <a:r>
              <a:rPr lang="en-US" altLang="en-MX" dirty="0" err="1">
                <a:ea typeface="ＭＳ Ｐゴシック" panose="020B0600070205080204" pitchFamily="34" charset="-128"/>
              </a:rPr>
              <a:t>yr</a:t>
            </a:r>
            <a:r>
              <a:rPr lang="en-US" altLang="en-MX" dirty="0">
                <a:ea typeface="ＭＳ Ｐゴシック" panose="020B0600070205080204" pitchFamily="34" charset="-128"/>
              </a:rPr>
              <a:t>]</a:t>
            </a:r>
          </a:p>
          <a:p>
            <a:pPr>
              <a:buNone/>
              <a:tabLst>
                <a:tab pos="574675" algn="l"/>
                <a:tab pos="801688" algn="l"/>
                <a:tab pos="5033963" algn="l"/>
                <a:tab pos="5260975" algn="l"/>
              </a:tabLst>
            </a:pPr>
            <a:r>
              <a:rPr lang="en-US" altLang="en-MX" dirty="0">
                <a:ea typeface="ＭＳ Ｐゴシック" panose="020B0600070205080204" pitchFamily="34" charset="-128"/>
              </a:rPr>
              <a:t>		+[0.05 x 2.5 </a:t>
            </a:r>
            <a:r>
              <a:rPr lang="en-US" altLang="en-MX" dirty="0" err="1">
                <a:ea typeface="ＭＳ Ｐゴシック" panose="020B0600070205080204" pitchFamily="34" charset="-128"/>
              </a:rPr>
              <a:t>yr</a:t>
            </a:r>
            <a:r>
              <a:rPr lang="en-US" altLang="en-MX" dirty="0">
                <a:ea typeface="ＭＳ Ｐゴシック" panose="020B0600070205080204" pitchFamily="34" charset="-128"/>
              </a:rPr>
              <a:t>] 	+[0.25 x 2.5 </a:t>
            </a:r>
            <a:r>
              <a:rPr lang="en-US" altLang="en-MX" dirty="0" err="1">
                <a:ea typeface="ＭＳ Ｐゴシック" panose="020B0600070205080204" pitchFamily="34" charset="-128"/>
              </a:rPr>
              <a:t>yr</a:t>
            </a:r>
            <a:r>
              <a:rPr lang="en-US" altLang="en-MX" dirty="0">
                <a:ea typeface="ＭＳ Ｐゴシック" panose="020B0600070205080204" pitchFamily="34" charset="-128"/>
              </a:rPr>
              <a:t>]</a:t>
            </a:r>
          </a:p>
          <a:p>
            <a:pPr>
              <a:buNone/>
              <a:tabLst>
                <a:tab pos="574675" algn="l"/>
                <a:tab pos="801688" algn="l"/>
                <a:tab pos="5033963" algn="l"/>
                <a:tab pos="5260975" algn="l"/>
              </a:tabLst>
            </a:pPr>
            <a:r>
              <a:rPr lang="en-US" altLang="en-MX" dirty="0">
                <a:ea typeface="ＭＳ Ｐゴシック" panose="020B0600070205080204" pitchFamily="34" charset="-128"/>
              </a:rPr>
              <a:t>		+[0.15 x 3.5 </a:t>
            </a:r>
            <a:r>
              <a:rPr lang="en-US" altLang="en-MX" dirty="0" err="1">
                <a:ea typeface="ＭＳ Ｐゴシック" panose="020B0600070205080204" pitchFamily="34" charset="-128"/>
              </a:rPr>
              <a:t>yr</a:t>
            </a:r>
            <a:r>
              <a:rPr lang="en-US" altLang="en-MX" dirty="0">
                <a:ea typeface="ＭＳ Ｐゴシック" panose="020B0600070205080204" pitchFamily="34" charset="-128"/>
              </a:rPr>
              <a:t>] 	+[0.35 x 3.5 </a:t>
            </a:r>
            <a:r>
              <a:rPr lang="en-US" altLang="en-MX" dirty="0" err="1">
                <a:ea typeface="ＭＳ Ｐゴシック" panose="020B0600070205080204" pitchFamily="34" charset="-128"/>
              </a:rPr>
              <a:t>yr</a:t>
            </a:r>
            <a:r>
              <a:rPr lang="en-US" altLang="en-MX" dirty="0">
                <a:ea typeface="ＭＳ Ｐゴシック" panose="020B0600070205080204" pitchFamily="34" charset="-128"/>
              </a:rPr>
              <a:t>]</a:t>
            </a:r>
          </a:p>
          <a:p>
            <a:pPr>
              <a:buNone/>
              <a:tabLst>
                <a:tab pos="574675" algn="l"/>
                <a:tab pos="801688" algn="l"/>
                <a:tab pos="5033963" algn="l"/>
                <a:tab pos="5260975" algn="l"/>
              </a:tabLst>
            </a:pPr>
            <a:r>
              <a:rPr lang="en-US" altLang="en-MX" dirty="0">
                <a:ea typeface="ＭＳ Ｐゴシック" panose="020B0600070205080204" pitchFamily="34" charset="-128"/>
              </a:rPr>
              <a:t>		+[0.20 x 4.5 </a:t>
            </a:r>
            <a:r>
              <a:rPr lang="en-US" altLang="en-MX" dirty="0" err="1">
                <a:ea typeface="ＭＳ Ｐゴシック" panose="020B0600070205080204" pitchFamily="34" charset="-128"/>
              </a:rPr>
              <a:t>yr</a:t>
            </a:r>
            <a:r>
              <a:rPr lang="en-US" altLang="en-MX" dirty="0">
                <a:ea typeface="ＭＳ Ｐゴシック" panose="020B0600070205080204" pitchFamily="34" charset="-128"/>
              </a:rPr>
              <a:t>]	+[0.15 x 4.5 </a:t>
            </a:r>
            <a:r>
              <a:rPr lang="en-US" altLang="en-MX" dirty="0" err="1">
                <a:ea typeface="ＭＳ Ｐゴシック" panose="020B0600070205080204" pitchFamily="34" charset="-128"/>
              </a:rPr>
              <a:t>yr</a:t>
            </a:r>
            <a:r>
              <a:rPr lang="en-US" altLang="en-MX" dirty="0">
                <a:ea typeface="ＭＳ Ｐゴシック" panose="020B0600070205080204" pitchFamily="34" charset="-128"/>
              </a:rPr>
              <a:t>]</a:t>
            </a:r>
          </a:p>
          <a:p>
            <a:pPr>
              <a:buNone/>
              <a:tabLst>
                <a:tab pos="574675" algn="l"/>
                <a:tab pos="801688" algn="l"/>
                <a:tab pos="5033963" algn="l"/>
                <a:tab pos="5260975" algn="l"/>
              </a:tabLst>
            </a:pPr>
            <a:r>
              <a:rPr lang="en-US" altLang="en-MX" dirty="0">
                <a:ea typeface="ＭＳ Ｐゴシック" panose="020B0600070205080204" pitchFamily="34" charset="-128"/>
              </a:rPr>
              <a:t>		+[0.30 x 5.5 </a:t>
            </a:r>
            <a:r>
              <a:rPr lang="en-US" altLang="en-MX" dirty="0" err="1">
                <a:ea typeface="ＭＳ Ｐゴシック" panose="020B0600070205080204" pitchFamily="34" charset="-128"/>
              </a:rPr>
              <a:t>yr</a:t>
            </a:r>
            <a:r>
              <a:rPr lang="en-US" altLang="en-MX" dirty="0">
                <a:ea typeface="ＭＳ Ｐゴシック" panose="020B0600070205080204" pitchFamily="34" charset="-128"/>
              </a:rPr>
              <a:t>] 	+[0.05 x 5.5 </a:t>
            </a:r>
            <a:r>
              <a:rPr lang="en-US" altLang="en-MX" dirty="0" err="1">
                <a:ea typeface="ＭＳ Ｐゴシック" panose="020B0600070205080204" pitchFamily="34" charset="-128"/>
              </a:rPr>
              <a:t>yr</a:t>
            </a:r>
            <a:r>
              <a:rPr lang="en-US" altLang="en-MX" dirty="0">
                <a:ea typeface="ＭＳ Ｐゴシック" panose="020B0600070205080204" pitchFamily="34" charset="-128"/>
              </a:rPr>
              <a:t>]</a:t>
            </a:r>
          </a:p>
          <a:p>
            <a:pPr>
              <a:buNone/>
              <a:tabLst>
                <a:tab pos="574675" algn="l"/>
                <a:tab pos="801688" algn="l"/>
                <a:tab pos="5033963" algn="l"/>
                <a:tab pos="5260975" algn="l"/>
              </a:tabLst>
            </a:pPr>
            <a:r>
              <a:rPr lang="en-US" altLang="en-MX" dirty="0">
                <a:ea typeface="ＭＳ Ｐゴシック" panose="020B0600070205080204" pitchFamily="34" charset="-128"/>
              </a:rPr>
              <a:t>			</a:t>
            </a:r>
            <a:r>
              <a:rPr lang="en-US" altLang="en-MX" b="1" dirty="0">
                <a:solidFill>
                  <a:srgbClr val="990033"/>
                </a:solidFill>
                <a:ea typeface="ＭＳ Ｐゴシック" panose="020B0600070205080204" pitchFamily="34" charset="-128"/>
              </a:rPr>
              <a:t>3.45 </a:t>
            </a:r>
            <a:r>
              <a:rPr lang="en-US" altLang="en-MX" b="1" dirty="0" err="1">
                <a:solidFill>
                  <a:srgbClr val="990033"/>
                </a:solidFill>
                <a:ea typeface="ＭＳ Ｐゴシック" panose="020B0600070205080204" pitchFamily="34" charset="-128"/>
              </a:rPr>
              <a:t>yr</a:t>
            </a:r>
            <a:r>
              <a:rPr lang="en-US" altLang="en-MX" dirty="0">
                <a:ea typeface="ＭＳ Ｐゴシック" panose="020B0600070205080204" pitchFamily="34" charset="-128"/>
              </a:rPr>
              <a:t>		</a:t>
            </a:r>
            <a:r>
              <a:rPr lang="en-US" altLang="en-MX" b="1" dirty="0">
                <a:solidFill>
                  <a:srgbClr val="990033"/>
                </a:solidFill>
                <a:ea typeface="ＭＳ Ｐゴシック" panose="020B0600070205080204" pitchFamily="34" charset="-128"/>
              </a:rPr>
              <a:t>3.05 </a:t>
            </a:r>
            <a:r>
              <a:rPr lang="en-US" altLang="en-MX" b="1" dirty="0" err="1">
                <a:solidFill>
                  <a:srgbClr val="990033"/>
                </a:solidFill>
                <a:ea typeface="ＭＳ Ｐゴシック" panose="020B0600070205080204" pitchFamily="34" charset="-128"/>
              </a:rPr>
              <a:t>yr</a:t>
            </a:r>
            <a:endParaRPr lang="en-US" altLang="en-MX" b="1" dirty="0">
              <a:solidFill>
                <a:srgbClr val="990033"/>
              </a:solidFill>
              <a:ea typeface="ＭＳ Ｐゴシック" panose="020B0600070205080204" pitchFamily="34" charset="-128"/>
            </a:endParaRPr>
          </a:p>
        </p:txBody>
      </p:sp>
      <p:sp>
        <p:nvSpPr>
          <p:cNvPr id="23555" name="Line 4">
            <a:extLst>
              <a:ext uri="{FF2B5EF4-FFF2-40B4-BE49-F238E27FC236}">
                <a16:creationId xmlns:a16="http://schemas.microsoft.com/office/drawing/2014/main" id="{4B9D5FC1-B4EB-514F-A507-1D79CCCB8B5D}"/>
              </a:ext>
            </a:extLst>
          </p:cNvPr>
          <p:cNvSpPr>
            <a:spLocks noChangeShapeType="1"/>
          </p:cNvSpPr>
          <p:nvPr/>
        </p:nvSpPr>
        <p:spPr bwMode="auto">
          <a:xfrm>
            <a:off x="1321904" y="2242929"/>
            <a:ext cx="8888896" cy="0"/>
          </a:xfrm>
          <a:prstGeom prst="line">
            <a:avLst/>
          </a:prstGeom>
          <a:noFill/>
          <a:ln w="57150" cmpd="thinThick">
            <a:solidFill>
              <a:srgbClr val="990033"/>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23556" name="Line 5">
            <a:extLst>
              <a:ext uri="{FF2B5EF4-FFF2-40B4-BE49-F238E27FC236}">
                <a16:creationId xmlns:a16="http://schemas.microsoft.com/office/drawing/2014/main" id="{32EA682E-67BE-B94C-A2AB-26BE2C7FE350}"/>
              </a:ext>
            </a:extLst>
          </p:cNvPr>
          <p:cNvSpPr>
            <a:spLocks noChangeShapeType="1"/>
          </p:cNvSpPr>
          <p:nvPr/>
        </p:nvSpPr>
        <p:spPr bwMode="auto">
          <a:xfrm>
            <a:off x="1321904" y="5327434"/>
            <a:ext cx="8888896" cy="6548"/>
          </a:xfrm>
          <a:prstGeom prst="line">
            <a:avLst/>
          </a:prstGeom>
          <a:noFill/>
          <a:ln w="19050">
            <a:solidFill>
              <a:srgbClr val="990033"/>
            </a:solidFill>
            <a:round/>
            <a:headEnd/>
            <a:tailEnd/>
          </a:ln>
          <a:extLst>
            <a:ext uri="{909E8E84-426E-40DD-AFC4-6F175D3DCCD1}">
              <a14:hiddenFill xmlns:a14="http://schemas.microsoft.com/office/drawing/2010/main">
                <a:noFill/>
              </a14:hiddenFill>
            </a:ext>
          </a:extLst>
        </p:spPr>
        <p:txBody>
          <a:bodyPr/>
          <a:lstStyle/>
          <a:p>
            <a:endParaRPr lang="en-MX"/>
          </a:p>
        </p:txBody>
      </p:sp>
    </p:spTree>
    <p:extLst>
      <p:ext uri="{BB962C8B-B14F-4D97-AF65-F5344CB8AC3E}">
        <p14:creationId xmlns:p14="http://schemas.microsoft.com/office/powerpoint/2010/main" val="20537899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B2AAD-F938-F147-B976-42E1668B8E20}"/>
              </a:ext>
            </a:extLst>
          </p:cNvPr>
          <p:cNvSpPr>
            <a:spLocks noGrp="1"/>
          </p:cNvSpPr>
          <p:nvPr>
            <p:ph type="title"/>
          </p:nvPr>
        </p:nvSpPr>
        <p:spPr/>
        <p:txBody>
          <a:bodyPr/>
          <a:lstStyle/>
          <a:p>
            <a:r>
              <a:rPr lang="en-US" altLang="en-MX" dirty="0">
                <a:ea typeface="ＭＳ Ｐゴシック" panose="020B0600070205080204" pitchFamily="34" charset="-128"/>
              </a:rPr>
              <a:t>Expected Value Decision Making</a:t>
            </a:r>
            <a:endParaRPr lang="en-MX" dirty="0"/>
          </a:p>
        </p:txBody>
      </p:sp>
      <p:sp>
        <p:nvSpPr>
          <p:cNvPr id="3" name="Content Placeholder 2">
            <a:extLst>
              <a:ext uri="{FF2B5EF4-FFF2-40B4-BE49-F238E27FC236}">
                <a16:creationId xmlns:a16="http://schemas.microsoft.com/office/drawing/2014/main" id="{400A7B2F-7B05-1B47-AEE0-AB0CAB49112E}"/>
              </a:ext>
            </a:extLst>
          </p:cNvPr>
          <p:cNvSpPr>
            <a:spLocks noGrp="1"/>
          </p:cNvSpPr>
          <p:nvPr>
            <p:ph idx="1"/>
          </p:nvPr>
        </p:nvSpPr>
        <p:spPr/>
        <p:txBody>
          <a:bodyPr>
            <a:normAutofit/>
          </a:bodyPr>
          <a:lstStyle/>
          <a:p>
            <a:pPr>
              <a:spcBef>
                <a:spcPct val="15000"/>
              </a:spcBef>
              <a:spcAft>
                <a:spcPct val="5000"/>
              </a:spcAft>
            </a:pPr>
            <a:r>
              <a:rPr lang="en-US" altLang="en-MX" dirty="0">
                <a:ea typeface="ＭＳ Ｐゴシック" panose="020B0600070205080204" pitchFamily="34" charset="-128"/>
              </a:rPr>
              <a:t>Choosing the alternative with the highest expected value does not necessarily assure any </a:t>
            </a:r>
            <a:r>
              <a:rPr lang="en-US" altLang="en-MX" u="sng" dirty="0">
                <a:ea typeface="ＭＳ Ｐゴシック" panose="020B0600070205080204" pitchFamily="34" charset="-128"/>
              </a:rPr>
              <a:t>individual</a:t>
            </a:r>
            <a:r>
              <a:rPr lang="en-US" altLang="en-MX" dirty="0">
                <a:ea typeface="ＭＳ Ｐゴシック" panose="020B0600070205080204" pitchFamily="34" charset="-128"/>
              </a:rPr>
              <a:t> a better outcome than with other options </a:t>
            </a:r>
          </a:p>
          <a:p>
            <a:pPr lvl="1">
              <a:spcBef>
                <a:spcPct val="15000"/>
              </a:spcBef>
              <a:spcAft>
                <a:spcPct val="5000"/>
              </a:spcAft>
            </a:pPr>
            <a:r>
              <a:rPr lang="en-US" altLang="en-MX" dirty="0">
                <a:ea typeface="ＭＳ Ｐゴシック" panose="020B0600070205080204" pitchFamily="34" charset="-128"/>
              </a:rPr>
              <a:t>e.g., A patient given treatment A may still die before another patient given treatment B</a:t>
            </a:r>
            <a:r>
              <a:rPr lang="en-US" altLang="en-MX" sz="3200" dirty="0">
                <a:ea typeface="ＭＳ Ｐゴシック" panose="020B0600070205080204" pitchFamily="34" charset="-128"/>
              </a:rPr>
              <a:t>. </a:t>
            </a:r>
          </a:p>
          <a:p>
            <a:pPr>
              <a:spcBef>
                <a:spcPct val="15000"/>
              </a:spcBef>
              <a:spcAft>
                <a:spcPct val="5000"/>
              </a:spcAft>
            </a:pPr>
            <a:r>
              <a:rPr lang="en-US" altLang="en-MX" dirty="0">
                <a:ea typeface="ＭＳ Ｐゴシック" panose="020B0600070205080204" pitchFamily="34" charset="-128"/>
              </a:rPr>
              <a:t>The </a:t>
            </a:r>
            <a:r>
              <a:rPr lang="en-US" altLang="en-MX" u="sng" dirty="0">
                <a:ea typeface="ＭＳ Ｐゴシック" panose="020B0600070205080204" pitchFamily="34" charset="-128"/>
              </a:rPr>
              <a:t>average</a:t>
            </a:r>
            <a:r>
              <a:rPr lang="en-US" altLang="en-MX" dirty="0">
                <a:ea typeface="ＭＳ Ｐゴシック" panose="020B0600070205080204" pitchFamily="34" charset="-128"/>
              </a:rPr>
              <a:t> outcome for </a:t>
            </a:r>
            <a:r>
              <a:rPr lang="en-US" altLang="en-MX" u="sng" dirty="0">
                <a:ea typeface="ＭＳ Ｐゴシック" panose="020B0600070205080204" pitchFamily="34" charset="-128"/>
              </a:rPr>
              <a:t>many</a:t>
            </a:r>
            <a:r>
              <a:rPr lang="en-US" altLang="en-MX" dirty="0">
                <a:ea typeface="ＭＳ Ｐゴシック" panose="020B0600070205080204" pitchFamily="34" charset="-128"/>
              </a:rPr>
              <a:t> individuals will be best if the alternative with the highest expected value is chosen.</a:t>
            </a:r>
          </a:p>
          <a:p>
            <a:pPr lvl="1">
              <a:spcBef>
                <a:spcPct val="15000"/>
              </a:spcBef>
              <a:spcAft>
                <a:spcPct val="5000"/>
              </a:spcAft>
            </a:pPr>
            <a:r>
              <a:rPr lang="en-US" altLang="en-MX" dirty="0">
                <a:ea typeface="ＭＳ Ｐゴシック" panose="020B0600070205080204" pitchFamily="34" charset="-128"/>
              </a:rPr>
              <a:t>e.g., on average, patients given treatment A will live 0.40 years longer than patients given treatment B.</a:t>
            </a:r>
          </a:p>
          <a:p>
            <a:endParaRPr lang="en-MX" sz="3600" dirty="0"/>
          </a:p>
        </p:txBody>
      </p:sp>
    </p:spTree>
    <p:extLst>
      <p:ext uri="{BB962C8B-B14F-4D97-AF65-F5344CB8AC3E}">
        <p14:creationId xmlns:p14="http://schemas.microsoft.com/office/powerpoint/2010/main" val="40870580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B59EC38E-5EC5-1D4D-B126-549393B81DF9}"/>
              </a:ext>
            </a:extLst>
          </p:cNvPr>
          <p:cNvSpPr>
            <a:spLocks noChangeArrowheads="1"/>
          </p:cNvSpPr>
          <p:nvPr/>
        </p:nvSpPr>
        <p:spPr bwMode="auto">
          <a:xfrm>
            <a:off x="864705" y="1524000"/>
            <a:ext cx="10555356"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231775" indent="-231775"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nSpc>
                <a:spcPct val="95000"/>
              </a:lnSpc>
              <a:spcBef>
                <a:spcPct val="20000"/>
              </a:spcBef>
              <a:spcAft>
                <a:spcPct val="15000"/>
              </a:spcAft>
              <a:buClr>
                <a:srgbClr val="990033"/>
              </a:buClr>
              <a:buFontTx/>
              <a:buChar char="•"/>
            </a:pPr>
            <a:r>
              <a:rPr lang="en-US" altLang="en-MX" sz="2800" dirty="0">
                <a:solidFill>
                  <a:srgbClr val="000000"/>
                </a:solidFill>
              </a:rPr>
              <a:t>An outbreak of encephalitis, caused by a mosquito-borne virus, has been reported. The Department of Health in a nearby city (population: 100,000) has to decide whether they should spray with pesticide, not spray with pesticide, or get more information. </a:t>
            </a:r>
          </a:p>
          <a:p>
            <a:pPr>
              <a:lnSpc>
                <a:spcPct val="95000"/>
              </a:lnSpc>
              <a:spcBef>
                <a:spcPct val="20000"/>
              </a:spcBef>
              <a:spcAft>
                <a:spcPct val="15000"/>
              </a:spcAft>
              <a:buClr>
                <a:srgbClr val="990033"/>
              </a:buClr>
              <a:buFontTx/>
              <a:buChar char="•"/>
            </a:pPr>
            <a:r>
              <a:rPr lang="en-US" altLang="en-MX" sz="2800" dirty="0">
                <a:solidFill>
                  <a:srgbClr val="000000"/>
                </a:solidFill>
              </a:rPr>
              <a:t>We know from prior patterns of epidemics that the probability of an encephalitis outbreak of this nature in this general location of the country is 20%. The outbreak would result in 2% of the city</a:t>
            </a:r>
            <a:r>
              <a:rPr lang="ja-JP" altLang="en-US" sz="2800">
                <a:solidFill>
                  <a:srgbClr val="000000"/>
                </a:solidFill>
              </a:rPr>
              <a:t>’</a:t>
            </a:r>
            <a:r>
              <a:rPr lang="en-US" altLang="ja-JP" sz="2800" dirty="0">
                <a:solidFill>
                  <a:srgbClr val="000000"/>
                </a:solidFill>
              </a:rPr>
              <a:t>s population developing encephalitis over a two-week period. Of those affected, 30% will die and the remaining 70% will recover with no long-term problems.  </a:t>
            </a:r>
            <a:endParaRPr lang="en-US" altLang="en-MX" sz="2800" dirty="0">
              <a:solidFill>
                <a:srgbClr val="000000"/>
              </a:solidFill>
            </a:endParaRPr>
          </a:p>
        </p:txBody>
      </p:sp>
      <p:sp>
        <p:nvSpPr>
          <p:cNvPr id="181251" name="Rectangle 3">
            <a:extLst>
              <a:ext uri="{FF2B5EF4-FFF2-40B4-BE49-F238E27FC236}">
                <a16:creationId xmlns:a16="http://schemas.microsoft.com/office/drawing/2014/main" id="{21370CA1-E13D-C441-A635-56CFFCD78FE0}"/>
              </a:ext>
            </a:extLst>
          </p:cNvPr>
          <p:cNvSpPr>
            <a:spLocks noGrp="1" noChangeArrowheads="1"/>
          </p:cNvSpPr>
          <p:nvPr>
            <p:ph type="title"/>
          </p:nvPr>
        </p:nvSpPr>
        <p:spPr>
          <a:xfrm>
            <a:off x="2514600" y="381000"/>
            <a:ext cx="7543800" cy="685800"/>
          </a:xfrm>
        </p:spPr>
        <p:txBody>
          <a:bodyPr vert="horz" lIns="92075" tIns="46038" rIns="92075" bIns="46038" rtlCol="0" anchor="ctr">
            <a:normAutofit fontScale="90000"/>
          </a:bodyPr>
          <a:lstStyle/>
          <a:p>
            <a:pPr eaLnBrk="1" hangingPunct="1"/>
            <a:br>
              <a:rPr lang="en-US" altLang="en-MX" sz="3200" b="0">
                <a:ea typeface="ＭＳ Ｐゴシック" panose="020B0600070205080204" pitchFamily="34" charset="-128"/>
              </a:rPr>
            </a:br>
            <a:br>
              <a:rPr lang="en-US" altLang="en-MX" sz="3200" b="0">
                <a:ea typeface="ＭＳ Ｐゴシック" panose="020B0600070205080204" pitchFamily="34" charset="-128"/>
              </a:rPr>
            </a:br>
            <a:br>
              <a:rPr lang="en-US" altLang="en-MX" sz="3200" b="0">
                <a:ea typeface="ＭＳ Ｐゴシック" panose="020B0600070205080204" pitchFamily="34" charset="-128"/>
              </a:rPr>
            </a:br>
            <a:endParaRPr lang="en-US" altLang="en-MX" sz="3200" b="0">
              <a:ea typeface="ＭＳ Ｐゴシック" panose="020B0600070205080204" pitchFamily="34" charset="-128"/>
            </a:endParaRPr>
          </a:p>
        </p:txBody>
      </p:sp>
      <p:sp>
        <p:nvSpPr>
          <p:cNvPr id="181252" name="Rectangle 4">
            <a:extLst>
              <a:ext uri="{FF2B5EF4-FFF2-40B4-BE49-F238E27FC236}">
                <a16:creationId xmlns:a16="http://schemas.microsoft.com/office/drawing/2014/main" id="{CFA502A2-F724-5E48-A3B3-9361D280E4FB}"/>
              </a:ext>
            </a:extLst>
          </p:cNvPr>
          <p:cNvSpPr>
            <a:spLocks noChangeArrowheads="1"/>
          </p:cNvSpPr>
          <p:nvPr/>
        </p:nvSpPr>
        <p:spPr bwMode="auto">
          <a:xfrm>
            <a:off x="864705" y="501650"/>
            <a:ext cx="9320695" cy="770084"/>
          </a:xfrm>
          <a:prstGeom prst="rect">
            <a:avLst/>
          </a:prstGeom>
          <a:noFill/>
          <a:ln w="9525">
            <a:noFill/>
            <a:miter lim="800000"/>
            <a:headEnd/>
            <a:tailEnd/>
          </a:ln>
          <a:effectLst/>
        </p:spPr>
        <p:txBody>
          <a:bodyPr wrap="square" lIns="92075" tIns="46038" rIns="92075" bIns="46038">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4400" b="1" dirty="0">
                <a:solidFill>
                  <a:srgbClr val="990033"/>
                </a:solidFill>
                <a:effectLst>
                  <a:outerShdw blurRad="38100" dist="38100" dir="2700000" algn="tl">
                    <a:srgbClr val="C0C0C0"/>
                  </a:outerShdw>
                </a:effectLst>
                <a:latin typeface="+mj-lt"/>
                <a:cs typeface="+mj-cs"/>
              </a:rPr>
              <a:t>Outbreak of a Mosquito-Borne Virus</a:t>
            </a:r>
          </a:p>
        </p:txBody>
      </p:sp>
    </p:spTree>
    <p:extLst>
      <p:ext uri="{BB962C8B-B14F-4D97-AF65-F5344CB8AC3E}">
        <p14:creationId xmlns:p14="http://schemas.microsoft.com/office/powerpoint/2010/main" val="4167318735"/>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A2663DCC-2873-B14E-893C-8F3FF8CDAA3B}"/>
              </a:ext>
            </a:extLst>
          </p:cNvPr>
          <p:cNvSpPr>
            <a:spLocks noChangeArrowheads="1"/>
          </p:cNvSpPr>
          <p:nvPr/>
        </p:nvSpPr>
        <p:spPr bwMode="auto">
          <a:xfrm>
            <a:off x="795131" y="1447800"/>
            <a:ext cx="1050566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231775" indent="-231775"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nSpc>
                <a:spcPct val="95000"/>
              </a:lnSpc>
              <a:spcBef>
                <a:spcPct val="20000"/>
              </a:spcBef>
              <a:spcAft>
                <a:spcPct val="15000"/>
              </a:spcAft>
              <a:buClr>
                <a:srgbClr val="990033"/>
              </a:buClr>
              <a:buFontTx/>
              <a:buChar char="•"/>
            </a:pPr>
            <a:r>
              <a:rPr lang="en-US" altLang="en-MX" sz="2800" dirty="0">
                <a:solidFill>
                  <a:srgbClr val="000000"/>
                </a:solidFill>
              </a:rPr>
              <a:t>If the city sprays, only 0.1% of the population will develop encephalitis over a 2-week period, if an outbreak occurs</a:t>
            </a:r>
            <a:r>
              <a:rPr lang="en-US" altLang="en-MX" sz="2800" b="1" dirty="0">
                <a:solidFill>
                  <a:srgbClr val="000000"/>
                </a:solidFill>
              </a:rPr>
              <a:t>.</a:t>
            </a:r>
            <a:r>
              <a:rPr lang="en-US" altLang="en-MX" sz="2800" dirty="0">
                <a:solidFill>
                  <a:srgbClr val="000000"/>
                </a:solidFill>
              </a:rPr>
              <a:t> But the pesticide is toxic, causing a fatal illness in 0.1% of exposed individuals. (Assume those who survive encephalitis are not at risk of dying due to pesticide toxicity.)</a:t>
            </a:r>
          </a:p>
          <a:p>
            <a:pPr>
              <a:lnSpc>
                <a:spcPct val="95000"/>
              </a:lnSpc>
              <a:spcBef>
                <a:spcPct val="10000"/>
              </a:spcBef>
              <a:spcAft>
                <a:spcPct val="20000"/>
              </a:spcAft>
              <a:buClr>
                <a:srgbClr val="990033"/>
              </a:buClr>
              <a:buFontTx/>
              <a:buChar char="•"/>
            </a:pPr>
            <a:r>
              <a:rPr lang="en-US" altLang="en-MX" sz="2800" dirty="0">
                <a:solidFill>
                  <a:srgbClr val="000000"/>
                </a:solidFill>
              </a:rPr>
              <a:t>If the city opts to test, they can learn with certainty whether or not an outbreak will occur. However, testing takes one week, during which time 1% of the population would become infected in the event of an outbreak, despite delayed spraying</a:t>
            </a:r>
            <a:r>
              <a:rPr lang="en-US" altLang="en-MX" sz="2800" b="1" dirty="0">
                <a:solidFill>
                  <a:srgbClr val="000000"/>
                </a:solidFill>
              </a:rPr>
              <a:t>. Note that there will still be a benefit of spraying but that it will be a reduced benefit because of the delay of one week.</a:t>
            </a:r>
          </a:p>
        </p:txBody>
      </p:sp>
      <p:sp>
        <p:nvSpPr>
          <p:cNvPr id="183299" name="Rectangle 3">
            <a:extLst>
              <a:ext uri="{FF2B5EF4-FFF2-40B4-BE49-F238E27FC236}">
                <a16:creationId xmlns:a16="http://schemas.microsoft.com/office/drawing/2014/main" id="{2600CCFD-819E-D447-8B86-1816BCA25A35}"/>
              </a:ext>
            </a:extLst>
          </p:cNvPr>
          <p:cNvSpPr>
            <a:spLocks noGrp="1" noChangeArrowheads="1"/>
          </p:cNvSpPr>
          <p:nvPr>
            <p:ph type="title"/>
          </p:nvPr>
        </p:nvSpPr>
        <p:spPr>
          <a:xfrm>
            <a:off x="2514600" y="381000"/>
            <a:ext cx="7543800" cy="685800"/>
          </a:xfrm>
        </p:spPr>
        <p:txBody>
          <a:bodyPr vert="horz" lIns="92075" tIns="46038" rIns="92075" bIns="46038" rtlCol="0" anchor="ctr">
            <a:normAutofit fontScale="90000"/>
          </a:bodyPr>
          <a:lstStyle/>
          <a:p>
            <a:pPr eaLnBrk="1" hangingPunct="1"/>
            <a:br>
              <a:rPr lang="en-US" altLang="en-MX" sz="3200" b="0">
                <a:ea typeface="ＭＳ Ｐゴシック" panose="020B0600070205080204" pitchFamily="34" charset="-128"/>
              </a:rPr>
            </a:br>
            <a:br>
              <a:rPr lang="en-US" altLang="en-MX" sz="3200" b="0">
                <a:ea typeface="ＭＳ Ｐゴシック" panose="020B0600070205080204" pitchFamily="34" charset="-128"/>
              </a:rPr>
            </a:br>
            <a:br>
              <a:rPr lang="en-US" altLang="en-MX" sz="3200" b="0">
                <a:ea typeface="ＭＳ Ｐゴシック" panose="020B0600070205080204" pitchFamily="34" charset="-128"/>
              </a:rPr>
            </a:br>
            <a:endParaRPr lang="en-US" altLang="en-MX" sz="3200" b="0">
              <a:ea typeface="ＭＳ Ｐゴシック" panose="020B0600070205080204" pitchFamily="34" charset="-128"/>
            </a:endParaRPr>
          </a:p>
        </p:txBody>
      </p:sp>
      <p:sp>
        <p:nvSpPr>
          <p:cNvPr id="183300" name="Rectangle 4">
            <a:extLst>
              <a:ext uri="{FF2B5EF4-FFF2-40B4-BE49-F238E27FC236}">
                <a16:creationId xmlns:a16="http://schemas.microsoft.com/office/drawing/2014/main" id="{4A38B249-D69A-2742-AFB2-A9714070EC75}"/>
              </a:ext>
            </a:extLst>
          </p:cNvPr>
          <p:cNvSpPr>
            <a:spLocks noChangeArrowheads="1"/>
          </p:cNvSpPr>
          <p:nvPr/>
        </p:nvSpPr>
        <p:spPr bwMode="auto">
          <a:xfrm>
            <a:off x="795131" y="501650"/>
            <a:ext cx="9390269" cy="770084"/>
          </a:xfrm>
          <a:prstGeom prst="rect">
            <a:avLst/>
          </a:prstGeom>
          <a:noFill/>
          <a:ln w="9525">
            <a:noFill/>
            <a:miter lim="800000"/>
            <a:headEnd/>
            <a:tailEnd/>
          </a:ln>
          <a:effectLst/>
        </p:spPr>
        <p:txBody>
          <a:bodyPr wrap="square" lIns="92075" tIns="46038" rIns="92075" bIns="46038">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4400" b="1" dirty="0">
                <a:solidFill>
                  <a:srgbClr val="990033"/>
                </a:solidFill>
                <a:effectLst>
                  <a:outerShdw blurRad="38100" dist="38100" dir="2700000" algn="tl">
                    <a:srgbClr val="C0C0C0"/>
                  </a:outerShdw>
                </a:effectLst>
                <a:latin typeface="+mj-lt"/>
                <a:cs typeface="+mj-cs"/>
              </a:rPr>
              <a:t>Outbreak of a Mosquito-Borne Virus</a:t>
            </a:r>
          </a:p>
        </p:txBody>
      </p:sp>
    </p:spTree>
    <p:extLst>
      <p:ext uri="{BB962C8B-B14F-4D97-AF65-F5344CB8AC3E}">
        <p14:creationId xmlns:p14="http://schemas.microsoft.com/office/powerpoint/2010/main" val="1190384743"/>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3EAA0010-76B6-EC4F-920D-8C73B178E198}"/>
              </a:ext>
            </a:extLst>
          </p:cNvPr>
          <p:cNvSpPr>
            <a:spLocks noChangeArrowheads="1"/>
          </p:cNvSpPr>
          <p:nvPr/>
        </p:nvSpPr>
        <p:spPr bwMode="auto">
          <a:xfrm>
            <a:off x="844826" y="1676400"/>
            <a:ext cx="10406269"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231775" indent="-231775"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nSpc>
                <a:spcPct val="95000"/>
              </a:lnSpc>
              <a:spcBef>
                <a:spcPct val="10000"/>
              </a:spcBef>
              <a:spcAft>
                <a:spcPct val="20000"/>
              </a:spcAft>
              <a:buClr>
                <a:srgbClr val="990033"/>
              </a:buClr>
              <a:buFontTx/>
              <a:buChar char="•"/>
            </a:pPr>
            <a:r>
              <a:rPr lang="en-US" altLang="en-MX" sz="3200" dirty="0">
                <a:solidFill>
                  <a:srgbClr val="000000"/>
                </a:solidFill>
              </a:rPr>
              <a:t>The DH is in a rush to make the decision because if there is an epidemic, spraying immediately reduces the impact of the outbreak. However, there are negative consequences to spraying if there is no outbreak. </a:t>
            </a:r>
          </a:p>
          <a:p>
            <a:pPr>
              <a:lnSpc>
                <a:spcPct val="95000"/>
              </a:lnSpc>
              <a:spcBef>
                <a:spcPct val="10000"/>
              </a:spcBef>
              <a:spcAft>
                <a:spcPct val="20000"/>
              </a:spcAft>
              <a:buClr>
                <a:srgbClr val="990033"/>
              </a:buClr>
              <a:buFontTx/>
              <a:buChar char="•"/>
            </a:pPr>
            <a:r>
              <a:rPr lang="en-US" altLang="en-MX" sz="3200" dirty="0">
                <a:solidFill>
                  <a:srgbClr val="000000"/>
                </a:solidFill>
              </a:rPr>
              <a:t>Are the potential benefits of spraying enough to outweigh the potential risks of the pesticide? Is the test worth the delay?</a:t>
            </a:r>
          </a:p>
        </p:txBody>
      </p:sp>
      <p:sp>
        <p:nvSpPr>
          <p:cNvPr id="185347" name="Rectangle 3">
            <a:extLst>
              <a:ext uri="{FF2B5EF4-FFF2-40B4-BE49-F238E27FC236}">
                <a16:creationId xmlns:a16="http://schemas.microsoft.com/office/drawing/2014/main" id="{20F5F62A-14BB-3F4F-BB16-CF543E71B759}"/>
              </a:ext>
            </a:extLst>
          </p:cNvPr>
          <p:cNvSpPr>
            <a:spLocks noGrp="1" noChangeArrowheads="1"/>
          </p:cNvSpPr>
          <p:nvPr>
            <p:ph type="title"/>
          </p:nvPr>
        </p:nvSpPr>
        <p:spPr>
          <a:xfrm>
            <a:off x="2514600" y="381000"/>
            <a:ext cx="7543800" cy="685800"/>
          </a:xfrm>
        </p:spPr>
        <p:txBody>
          <a:bodyPr vert="horz" lIns="92075" tIns="46038" rIns="92075" bIns="46038" rtlCol="0" anchor="ctr">
            <a:normAutofit fontScale="90000"/>
          </a:bodyPr>
          <a:lstStyle/>
          <a:p>
            <a:pPr eaLnBrk="1" hangingPunct="1"/>
            <a:br>
              <a:rPr lang="en-US" altLang="en-MX" sz="3200" b="0">
                <a:ea typeface="ＭＳ Ｐゴシック" panose="020B0600070205080204" pitchFamily="34" charset="-128"/>
              </a:rPr>
            </a:br>
            <a:br>
              <a:rPr lang="en-US" altLang="en-MX" sz="3200" b="0">
                <a:ea typeface="ＭＳ Ｐゴシック" panose="020B0600070205080204" pitchFamily="34" charset="-128"/>
              </a:rPr>
            </a:br>
            <a:br>
              <a:rPr lang="en-US" altLang="en-MX" sz="3200" b="0">
                <a:ea typeface="ＭＳ Ｐゴシック" panose="020B0600070205080204" pitchFamily="34" charset="-128"/>
              </a:rPr>
            </a:br>
            <a:endParaRPr lang="en-US" altLang="en-MX" sz="3200" b="0">
              <a:ea typeface="ＭＳ Ｐゴシック" panose="020B0600070205080204" pitchFamily="34" charset="-128"/>
            </a:endParaRPr>
          </a:p>
        </p:txBody>
      </p:sp>
      <p:sp>
        <p:nvSpPr>
          <p:cNvPr id="185348" name="Rectangle 4">
            <a:extLst>
              <a:ext uri="{FF2B5EF4-FFF2-40B4-BE49-F238E27FC236}">
                <a16:creationId xmlns:a16="http://schemas.microsoft.com/office/drawing/2014/main" id="{5EB06637-892D-9441-B423-8627D3CF2552}"/>
              </a:ext>
            </a:extLst>
          </p:cNvPr>
          <p:cNvSpPr>
            <a:spLocks noChangeArrowheads="1"/>
          </p:cNvSpPr>
          <p:nvPr/>
        </p:nvSpPr>
        <p:spPr bwMode="auto">
          <a:xfrm>
            <a:off x="844826" y="577850"/>
            <a:ext cx="9416774" cy="770084"/>
          </a:xfrm>
          <a:prstGeom prst="rect">
            <a:avLst/>
          </a:prstGeom>
          <a:noFill/>
          <a:ln w="9525">
            <a:noFill/>
            <a:miter lim="800000"/>
            <a:headEnd/>
            <a:tailEnd/>
          </a:ln>
          <a:effectLst/>
        </p:spPr>
        <p:txBody>
          <a:bodyPr wrap="square" lIns="92075" tIns="46038" rIns="92075" bIns="46038">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4400" b="1" dirty="0">
                <a:solidFill>
                  <a:srgbClr val="990033"/>
                </a:solidFill>
                <a:effectLst>
                  <a:outerShdw blurRad="38100" dist="38100" dir="2700000" algn="tl">
                    <a:srgbClr val="C0C0C0"/>
                  </a:outerShdw>
                </a:effectLst>
                <a:latin typeface="+mj-lt"/>
                <a:cs typeface="+mj-cs"/>
              </a:rPr>
              <a:t>Outbreak of a Mosquito-Borne Virus</a:t>
            </a:r>
          </a:p>
        </p:txBody>
      </p:sp>
    </p:spTree>
    <p:extLst>
      <p:ext uri="{BB962C8B-B14F-4D97-AF65-F5344CB8AC3E}">
        <p14:creationId xmlns:p14="http://schemas.microsoft.com/office/powerpoint/2010/main" val="1008016770"/>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502C24D-6625-DC4E-A902-CCD2A8AF4D30}"/>
              </a:ext>
            </a:extLst>
          </p:cNvPr>
          <p:cNvSpPr>
            <a:spLocks noGrp="1"/>
          </p:cNvSpPr>
          <p:nvPr>
            <p:ph type="title"/>
          </p:nvPr>
        </p:nvSpPr>
        <p:spPr/>
        <p:txBody>
          <a:bodyPr/>
          <a:lstStyle/>
          <a:p>
            <a:r>
              <a:rPr lang="en-US" altLang="en-MX" dirty="0">
                <a:ea typeface="ＭＳ Ｐゴシック" panose="020B0600070205080204" pitchFamily="34" charset="-128"/>
              </a:rPr>
              <a:t>Decision Making Without Analysis</a:t>
            </a:r>
          </a:p>
        </p:txBody>
      </p:sp>
      <p:sp>
        <p:nvSpPr>
          <p:cNvPr id="32770" name="Content Placeholder 3">
            <a:extLst>
              <a:ext uri="{FF2B5EF4-FFF2-40B4-BE49-F238E27FC236}">
                <a16:creationId xmlns:a16="http://schemas.microsoft.com/office/drawing/2014/main" id="{80685A40-6BB9-6048-B656-E456EC0C610E}"/>
              </a:ext>
            </a:extLst>
          </p:cNvPr>
          <p:cNvSpPr>
            <a:spLocks noGrp="1"/>
          </p:cNvSpPr>
          <p:nvPr>
            <p:ph idx="1"/>
          </p:nvPr>
        </p:nvSpPr>
        <p:spPr/>
        <p:txBody>
          <a:bodyPr/>
          <a:lstStyle/>
          <a:p>
            <a:r>
              <a:rPr lang="en-US" altLang="en-MX" dirty="0">
                <a:ea typeface="ＭＳ Ｐゴシック" panose="020B0600070205080204" pitchFamily="34" charset="-128"/>
              </a:rPr>
              <a:t>Goal: Minimize the number of deaths in the city</a:t>
            </a:r>
          </a:p>
          <a:p>
            <a:r>
              <a:rPr lang="en-US" altLang="en-MX" dirty="0">
                <a:ea typeface="ＭＳ Ｐゴシック" panose="020B0600070205080204" pitchFamily="34" charset="-128"/>
              </a:rPr>
              <a:t>The DH has all the information it needs to make a decision.</a:t>
            </a:r>
          </a:p>
          <a:p>
            <a:r>
              <a:rPr lang="en-US" altLang="en-MX" dirty="0">
                <a:ea typeface="ＭＳ Ｐゴシック" panose="020B0600070205080204" pitchFamily="34" charset="-128"/>
              </a:rPr>
              <a:t>What’</a:t>
            </a:r>
            <a:r>
              <a:rPr lang="en-US" altLang="ja-JP" dirty="0">
                <a:ea typeface="ＭＳ Ｐゴシック" panose="020B0600070205080204" pitchFamily="34" charset="-128"/>
              </a:rPr>
              <a:t>s the best option?</a:t>
            </a:r>
            <a:endParaRPr lang="en-US" altLang="en-MX" dirty="0">
              <a:ea typeface="ＭＳ Ｐゴシック" panose="020B0600070205080204" pitchFamily="34" charset="-128"/>
            </a:endParaRPr>
          </a:p>
        </p:txBody>
      </p:sp>
    </p:spTree>
    <p:extLst>
      <p:ext uri="{BB962C8B-B14F-4D97-AF65-F5344CB8AC3E}">
        <p14:creationId xmlns:p14="http://schemas.microsoft.com/office/powerpoint/2010/main" val="31442743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2">
            <a:extLst>
              <a:ext uri="{FF2B5EF4-FFF2-40B4-BE49-F238E27FC236}">
                <a16:creationId xmlns:a16="http://schemas.microsoft.com/office/drawing/2014/main" id="{2F13F45C-1670-3B4E-A0A5-FE0C24DBF9D2}"/>
              </a:ext>
            </a:extLst>
          </p:cNvPr>
          <p:cNvSpPr>
            <a:spLocks noGrp="1" noChangeArrowheads="1"/>
          </p:cNvSpPr>
          <p:nvPr>
            <p:ph type="title"/>
          </p:nvPr>
        </p:nvSpPr>
        <p:spPr/>
        <p:txBody>
          <a:bodyPr/>
          <a:lstStyle/>
          <a:p>
            <a:pPr eaLnBrk="1" hangingPunct="1"/>
            <a:r>
              <a:rPr lang="en-US" altLang="en-MX">
                <a:ea typeface="ＭＳ Ｐゴシック" panose="020B0600070205080204" pitchFamily="34" charset="-128"/>
              </a:rPr>
              <a:t>Steps</a:t>
            </a:r>
          </a:p>
        </p:txBody>
      </p:sp>
      <p:sp>
        <p:nvSpPr>
          <p:cNvPr id="33794" name="Rectangle 3">
            <a:extLst>
              <a:ext uri="{FF2B5EF4-FFF2-40B4-BE49-F238E27FC236}">
                <a16:creationId xmlns:a16="http://schemas.microsoft.com/office/drawing/2014/main" id="{F04D9D60-13E2-A846-AA60-1FE3B7D131F1}"/>
              </a:ext>
            </a:extLst>
          </p:cNvPr>
          <p:cNvSpPr>
            <a:spLocks noGrp="1" noChangeArrowheads="1"/>
          </p:cNvSpPr>
          <p:nvPr>
            <p:ph type="body" idx="1"/>
          </p:nvPr>
        </p:nvSpPr>
        <p:spPr/>
        <p:txBody>
          <a:bodyPr/>
          <a:lstStyle/>
          <a:p>
            <a:pPr marL="609600" indent="-609600">
              <a:buFontTx/>
              <a:buAutoNum type="arabicPeriod"/>
            </a:pPr>
            <a:r>
              <a:rPr lang="en-US" altLang="en-MX" dirty="0">
                <a:ea typeface="ＭＳ Ｐゴシック" panose="020B0600070205080204" pitchFamily="34" charset="-128"/>
              </a:rPr>
              <a:t>Structure the problem</a:t>
            </a:r>
          </a:p>
          <a:p>
            <a:pPr marL="609600" indent="-609600">
              <a:buFontTx/>
              <a:buAutoNum type="arabicPeriod"/>
            </a:pPr>
            <a:r>
              <a:rPr lang="en-US" altLang="en-MX" dirty="0">
                <a:ea typeface="ＭＳ Ｐゴシック" panose="020B0600070205080204" pitchFamily="34" charset="-128"/>
              </a:rPr>
              <a:t>Build the tree</a:t>
            </a:r>
          </a:p>
          <a:p>
            <a:pPr marL="609600" indent="-609600">
              <a:buFontTx/>
              <a:buAutoNum type="arabicPeriod"/>
            </a:pPr>
            <a:r>
              <a:rPr lang="en-US" altLang="en-MX" dirty="0">
                <a:ea typeface="ＭＳ Ｐゴシック" panose="020B0600070205080204" pitchFamily="34" charset="-128"/>
              </a:rPr>
              <a:t>Conduct the base-case analysis</a:t>
            </a:r>
          </a:p>
          <a:p>
            <a:pPr marL="609600" indent="-609600">
              <a:buFontTx/>
              <a:buAutoNum type="arabicPeriod"/>
            </a:pPr>
            <a:r>
              <a:rPr lang="en-US" altLang="en-MX" dirty="0">
                <a:ea typeface="ＭＳ Ｐゴシック" panose="020B0600070205080204" pitchFamily="34" charset="-128"/>
              </a:rPr>
              <a:t>Conduct sensitivity analysis</a:t>
            </a:r>
          </a:p>
        </p:txBody>
      </p:sp>
    </p:spTree>
    <p:extLst>
      <p:ext uri="{BB962C8B-B14F-4D97-AF65-F5344CB8AC3E}">
        <p14:creationId xmlns:p14="http://schemas.microsoft.com/office/powerpoint/2010/main" val="20178015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2">
            <a:extLst>
              <a:ext uri="{FF2B5EF4-FFF2-40B4-BE49-F238E27FC236}">
                <a16:creationId xmlns:a16="http://schemas.microsoft.com/office/drawing/2014/main" id="{A75AB234-8EE4-C645-97E7-5A154DDBDCFA}"/>
              </a:ext>
            </a:extLst>
          </p:cNvPr>
          <p:cNvSpPr>
            <a:spLocks noGrp="1" noChangeArrowheads="1"/>
          </p:cNvSpPr>
          <p:nvPr>
            <p:ph type="title"/>
          </p:nvPr>
        </p:nvSpPr>
        <p:spPr/>
        <p:txBody>
          <a:bodyPr/>
          <a:lstStyle/>
          <a:p>
            <a:pPr eaLnBrk="1" hangingPunct="1"/>
            <a:r>
              <a:rPr lang="en-US" altLang="en-MX" dirty="0">
                <a:ea typeface="ＭＳ Ｐゴシック" panose="020B0600070205080204" pitchFamily="34" charset="-128"/>
              </a:rPr>
              <a:t>Step 1: Structure the Problem</a:t>
            </a:r>
          </a:p>
        </p:txBody>
      </p:sp>
      <p:sp>
        <p:nvSpPr>
          <p:cNvPr id="34818" name="Rectangle 3">
            <a:extLst>
              <a:ext uri="{FF2B5EF4-FFF2-40B4-BE49-F238E27FC236}">
                <a16:creationId xmlns:a16="http://schemas.microsoft.com/office/drawing/2014/main" id="{B1ED4E04-B8A9-AD46-8EB0-B6C0AEE96901}"/>
              </a:ext>
            </a:extLst>
          </p:cNvPr>
          <p:cNvSpPr>
            <a:spLocks noGrp="1" noChangeArrowheads="1"/>
          </p:cNvSpPr>
          <p:nvPr>
            <p:ph type="body" idx="1"/>
          </p:nvPr>
        </p:nvSpPr>
        <p:spPr>
          <a:xfrm>
            <a:off x="838200" y="1524001"/>
            <a:ext cx="9372600" cy="4602163"/>
          </a:xfrm>
        </p:spPr>
        <p:txBody>
          <a:bodyPr/>
          <a:lstStyle/>
          <a:p>
            <a:pPr eaLnBrk="1" hangingPunct="1">
              <a:lnSpc>
                <a:spcPct val="95000"/>
              </a:lnSpc>
              <a:spcAft>
                <a:spcPct val="10000"/>
              </a:spcAft>
            </a:pPr>
            <a:r>
              <a:rPr lang="en-US" altLang="en-MX" dirty="0">
                <a:ea typeface="ＭＳ Ｐゴシック" panose="020B0600070205080204" pitchFamily="34" charset="-128"/>
              </a:rPr>
              <a:t>Describe the decision problem and starting point</a:t>
            </a:r>
          </a:p>
          <a:p>
            <a:pPr eaLnBrk="1" hangingPunct="1">
              <a:lnSpc>
                <a:spcPct val="95000"/>
              </a:lnSpc>
              <a:spcAft>
                <a:spcPct val="10000"/>
              </a:spcAft>
            </a:pPr>
            <a:r>
              <a:rPr lang="en-US" altLang="en-MX" dirty="0">
                <a:ea typeface="ＭＳ Ｐゴシック" panose="020B0600070205080204" pitchFamily="34" charset="-128"/>
              </a:rPr>
              <a:t>Choose a time horizon</a:t>
            </a:r>
          </a:p>
          <a:p>
            <a:pPr eaLnBrk="1" hangingPunct="1">
              <a:lnSpc>
                <a:spcPct val="95000"/>
              </a:lnSpc>
              <a:spcAft>
                <a:spcPct val="10000"/>
              </a:spcAft>
            </a:pPr>
            <a:r>
              <a:rPr lang="en-US" altLang="en-MX" dirty="0">
                <a:ea typeface="ＭＳ Ｐゴシック" panose="020B0600070205080204" pitchFamily="34" charset="-128"/>
              </a:rPr>
              <a:t>Identify the decision alternatives</a:t>
            </a:r>
          </a:p>
          <a:p>
            <a:pPr eaLnBrk="1" hangingPunct="1">
              <a:lnSpc>
                <a:spcPct val="95000"/>
              </a:lnSpc>
              <a:spcAft>
                <a:spcPct val="10000"/>
              </a:spcAft>
            </a:pPr>
            <a:r>
              <a:rPr lang="en-US" altLang="en-MX" dirty="0">
                <a:ea typeface="ＭＳ Ｐゴシック" panose="020B0600070205080204" pitchFamily="34" charset="-128"/>
              </a:rPr>
              <a:t>Identify the probabilities</a:t>
            </a:r>
          </a:p>
          <a:p>
            <a:pPr eaLnBrk="1" hangingPunct="1">
              <a:lnSpc>
                <a:spcPct val="95000"/>
              </a:lnSpc>
              <a:spcAft>
                <a:spcPct val="10000"/>
              </a:spcAft>
            </a:pPr>
            <a:r>
              <a:rPr lang="en-US" altLang="en-MX" dirty="0">
                <a:ea typeface="ＭＳ Ｐゴシック" panose="020B0600070205080204" pitchFamily="34" charset="-128"/>
              </a:rPr>
              <a:t>Specify the valued outcome(s)</a:t>
            </a:r>
          </a:p>
        </p:txBody>
      </p:sp>
    </p:spTree>
    <p:extLst>
      <p:ext uri="{BB962C8B-B14F-4D97-AF65-F5344CB8AC3E}">
        <p14:creationId xmlns:p14="http://schemas.microsoft.com/office/powerpoint/2010/main" val="37220095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a:extLst>
              <a:ext uri="{FF2B5EF4-FFF2-40B4-BE49-F238E27FC236}">
                <a16:creationId xmlns:a16="http://schemas.microsoft.com/office/drawing/2014/main" id="{C409F0CC-F09F-9F4E-9AA7-11C027EEFAAE}"/>
              </a:ext>
            </a:extLst>
          </p:cNvPr>
          <p:cNvSpPr>
            <a:spLocks noGrp="1" noChangeArrowheads="1"/>
          </p:cNvSpPr>
          <p:nvPr>
            <p:ph type="title"/>
          </p:nvPr>
        </p:nvSpPr>
        <p:spPr>
          <a:xfrm>
            <a:off x="755374" y="533400"/>
            <a:ext cx="9226826" cy="914400"/>
          </a:xfrm>
        </p:spPr>
        <p:txBody>
          <a:bodyPr>
            <a:normAutofit/>
          </a:bodyPr>
          <a:lstStyle/>
          <a:p>
            <a:pPr eaLnBrk="1" hangingPunct="1"/>
            <a:r>
              <a:rPr lang="en-US" altLang="en-MX" dirty="0">
                <a:ea typeface="ＭＳ Ｐゴシック" panose="020B0600070205080204" pitchFamily="34" charset="-128"/>
              </a:rPr>
              <a:t>Starting Point and Time Horizon</a:t>
            </a:r>
          </a:p>
        </p:txBody>
      </p:sp>
      <p:sp>
        <p:nvSpPr>
          <p:cNvPr id="35842" name="Rectangle 3">
            <a:extLst>
              <a:ext uri="{FF2B5EF4-FFF2-40B4-BE49-F238E27FC236}">
                <a16:creationId xmlns:a16="http://schemas.microsoft.com/office/drawing/2014/main" id="{507CCAFD-6234-384D-AE8E-58E54D48C51B}"/>
              </a:ext>
            </a:extLst>
          </p:cNvPr>
          <p:cNvSpPr>
            <a:spLocks noGrp="1" noChangeArrowheads="1"/>
          </p:cNvSpPr>
          <p:nvPr>
            <p:ph type="body" idx="1"/>
          </p:nvPr>
        </p:nvSpPr>
        <p:spPr>
          <a:xfrm>
            <a:off x="755374" y="1752600"/>
            <a:ext cx="9226826" cy="4114800"/>
          </a:xfrm>
        </p:spPr>
        <p:txBody>
          <a:bodyPr/>
          <a:lstStyle/>
          <a:p>
            <a:pPr eaLnBrk="1" hangingPunct="1">
              <a:spcAft>
                <a:spcPct val="15000"/>
              </a:spcAft>
            </a:pPr>
            <a:r>
              <a:rPr lang="en-US" altLang="en-MX" b="1" u="sng" dirty="0">
                <a:ea typeface="ＭＳ Ｐゴシック" panose="020B0600070205080204" pitchFamily="34" charset="-128"/>
              </a:rPr>
              <a:t>Starting point</a:t>
            </a:r>
            <a:endParaRPr lang="en-US" altLang="en-MX" b="1" dirty="0">
              <a:ea typeface="ＭＳ Ｐゴシック" panose="020B0600070205080204" pitchFamily="34" charset="-128"/>
            </a:endParaRPr>
          </a:p>
          <a:p>
            <a:pPr lvl="1" eaLnBrk="1" hangingPunct="1">
              <a:spcAft>
                <a:spcPct val="15000"/>
              </a:spcAft>
            </a:pPr>
            <a:r>
              <a:rPr lang="en-US" altLang="en-MX" sz="3200" dirty="0">
                <a:ea typeface="ＭＳ Ｐゴシック" panose="020B0600070205080204" pitchFamily="34" charset="-128"/>
              </a:rPr>
              <a:t>City with potential encephalitis outbreak (population: 100,000)</a:t>
            </a:r>
          </a:p>
          <a:p>
            <a:pPr eaLnBrk="1" hangingPunct="1">
              <a:spcAft>
                <a:spcPct val="15000"/>
              </a:spcAft>
            </a:pPr>
            <a:r>
              <a:rPr lang="en-US" altLang="en-MX" b="1" u="sng" dirty="0">
                <a:ea typeface="ＭＳ Ｐゴシック" panose="020B0600070205080204" pitchFamily="34" charset="-128"/>
              </a:rPr>
              <a:t>Time horizon</a:t>
            </a:r>
          </a:p>
          <a:p>
            <a:pPr lvl="1" eaLnBrk="1" hangingPunct="1">
              <a:spcAft>
                <a:spcPct val="15000"/>
              </a:spcAft>
            </a:pPr>
            <a:r>
              <a:rPr lang="en-US" altLang="en-MX" sz="3200" dirty="0">
                <a:ea typeface="ＭＳ Ｐゴシック" panose="020B0600070205080204" pitchFamily="34" charset="-128"/>
              </a:rPr>
              <a:t>2 weeks</a:t>
            </a:r>
          </a:p>
        </p:txBody>
      </p:sp>
    </p:spTree>
    <p:extLst>
      <p:ext uri="{BB962C8B-B14F-4D97-AF65-F5344CB8AC3E}">
        <p14:creationId xmlns:p14="http://schemas.microsoft.com/office/powerpoint/2010/main" val="2195238041"/>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a:extLst>
              <a:ext uri="{FF2B5EF4-FFF2-40B4-BE49-F238E27FC236}">
                <a16:creationId xmlns:a16="http://schemas.microsoft.com/office/drawing/2014/main" id="{D87742CA-CD6F-4F49-A787-AF53DC975CEC}"/>
              </a:ext>
            </a:extLst>
          </p:cNvPr>
          <p:cNvSpPr>
            <a:spLocks noGrp="1" noChangeArrowheads="1"/>
          </p:cNvSpPr>
          <p:nvPr>
            <p:ph type="title"/>
          </p:nvPr>
        </p:nvSpPr>
        <p:spPr>
          <a:xfrm>
            <a:off x="874643" y="304801"/>
            <a:ext cx="9107557" cy="982663"/>
          </a:xfrm>
        </p:spPr>
        <p:txBody>
          <a:bodyPr/>
          <a:lstStyle/>
          <a:p>
            <a:pPr eaLnBrk="1" hangingPunct="1"/>
            <a:r>
              <a:rPr lang="en-US" altLang="en-MX" dirty="0">
                <a:ea typeface="ＭＳ Ｐゴシック" panose="020B0600070205080204" pitchFamily="34" charset="-128"/>
              </a:rPr>
              <a:t>Decision Alternatives</a:t>
            </a:r>
          </a:p>
        </p:txBody>
      </p:sp>
      <p:sp>
        <p:nvSpPr>
          <p:cNvPr id="37890" name="Rectangle 3">
            <a:extLst>
              <a:ext uri="{FF2B5EF4-FFF2-40B4-BE49-F238E27FC236}">
                <a16:creationId xmlns:a16="http://schemas.microsoft.com/office/drawing/2014/main" id="{DF34D82E-6EC3-7F49-8A87-0FC1761B532F}"/>
              </a:ext>
            </a:extLst>
          </p:cNvPr>
          <p:cNvSpPr>
            <a:spLocks noGrp="1" noChangeArrowheads="1"/>
          </p:cNvSpPr>
          <p:nvPr>
            <p:ph type="body" idx="1"/>
          </p:nvPr>
        </p:nvSpPr>
        <p:spPr>
          <a:xfrm>
            <a:off x="874643" y="1600200"/>
            <a:ext cx="9107557" cy="4572000"/>
          </a:xfrm>
        </p:spPr>
        <p:txBody>
          <a:bodyPr/>
          <a:lstStyle/>
          <a:p>
            <a:pPr eaLnBrk="1" hangingPunct="1">
              <a:spcAft>
                <a:spcPct val="15000"/>
              </a:spcAft>
            </a:pPr>
            <a:r>
              <a:rPr lang="en-US" altLang="en-MX" sz="3600" dirty="0">
                <a:ea typeface="ＭＳ Ｐゴシック" panose="020B0600070205080204" pitchFamily="34" charset="-128"/>
              </a:rPr>
              <a:t>Action:  Spray vs. Don</a:t>
            </a:r>
            <a:r>
              <a:rPr lang="ja-JP" altLang="en-US" sz="3600">
                <a:ea typeface="ＭＳ Ｐゴシック" panose="020B0600070205080204" pitchFamily="34" charset="-128"/>
              </a:rPr>
              <a:t>’</a:t>
            </a:r>
            <a:r>
              <a:rPr lang="en-US" altLang="ja-JP" sz="3600" dirty="0">
                <a:ea typeface="ＭＳ Ｐゴシック" panose="020B0600070205080204" pitchFamily="34" charset="-128"/>
              </a:rPr>
              <a:t>t Spray</a:t>
            </a:r>
          </a:p>
          <a:p>
            <a:pPr eaLnBrk="1" hangingPunct="1">
              <a:spcAft>
                <a:spcPct val="15000"/>
              </a:spcAft>
            </a:pPr>
            <a:r>
              <a:rPr lang="en-US" altLang="en-MX" sz="3600" dirty="0">
                <a:ea typeface="ＭＳ Ｐゴシック" panose="020B0600070205080204" pitchFamily="34" charset="-128"/>
              </a:rPr>
              <a:t>Information:  Test vs. No Test</a:t>
            </a:r>
          </a:p>
        </p:txBody>
      </p:sp>
      <p:sp>
        <p:nvSpPr>
          <p:cNvPr id="37891" name="AutoShape 4">
            <a:extLst>
              <a:ext uri="{FF2B5EF4-FFF2-40B4-BE49-F238E27FC236}">
                <a16:creationId xmlns:a16="http://schemas.microsoft.com/office/drawing/2014/main" id="{A4F44CEA-08DB-5F4B-B4FD-9AC482970CC8}"/>
              </a:ext>
            </a:extLst>
          </p:cNvPr>
          <p:cNvSpPr>
            <a:spLocks noChangeArrowheads="1"/>
          </p:cNvSpPr>
          <p:nvPr/>
        </p:nvSpPr>
        <p:spPr bwMode="auto">
          <a:xfrm rot="10800000" flipH="1" flipV="1">
            <a:off x="2895600" y="3810001"/>
            <a:ext cx="1828800" cy="1146175"/>
          </a:xfrm>
          <a:prstGeom prst="wedgeRoundRectCallout">
            <a:avLst>
              <a:gd name="adj1" fmla="val 89060"/>
              <a:gd name="adj2" fmla="val 46120"/>
              <a:gd name="adj3" fmla="val 16667"/>
            </a:avLst>
          </a:prstGeom>
          <a:noFill/>
          <a:ln w="25400">
            <a:solidFill>
              <a:schemeClr val="accent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20000"/>
              </a:spcBef>
            </a:pPr>
            <a:r>
              <a:rPr lang="en-US" altLang="en-MX" sz="2800" b="1">
                <a:solidFill>
                  <a:srgbClr val="000000"/>
                </a:solidFill>
              </a:rPr>
              <a:t>Decision Node</a:t>
            </a:r>
          </a:p>
        </p:txBody>
      </p:sp>
      <p:sp>
        <p:nvSpPr>
          <p:cNvPr id="37892" name="Line 5">
            <a:extLst>
              <a:ext uri="{FF2B5EF4-FFF2-40B4-BE49-F238E27FC236}">
                <a16:creationId xmlns:a16="http://schemas.microsoft.com/office/drawing/2014/main" id="{8C7910A8-48F5-C243-9265-8AD616882F39}"/>
              </a:ext>
            </a:extLst>
          </p:cNvPr>
          <p:cNvSpPr>
            <a:spLocks noChangeShapeType="1"/>
          </p:cNvSpPr>
          <p:nvPr/>
        </p:nvSpPr>
        <p:spPr bwMode="auto">
          <a:xfrm flipV="1">
            <a:off x="5867400" y="3862388"/>
            <a:ext cx="1588" cy="85566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37893" name="Line 6">
            <a:extLst>
              <a:ext uri="{FF2B5EF4-FFF2-40B4-BE49-F238E27FC236}">
                <a16:creationId xmlns:a16="http://schemas.microsoft.com/office/drawing/2014/main" id="{4AC8DE2E-7D8C-8041-8F8F-96F93D5B12C8}"/>
              </a:ext>
            </a:extLst>
          </p:cNvPr>
          <p:cNvSpPr>
            <a:spLocks noChangeShapeType="1"/>
          </p:cNvSpPr>
          <p:nvPr/>
        </p:nvSpPr>
        <p:spPr bwMode="auto">
          <a:xfrm>
            <a:off x="5867400" y="3862388"/>
            <a:ext cx="8382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37894" name="Line 7">
            <a:extLst>
              <a:ext uri="{FF2B5EF4-FFF2-40B4-BE49-F238E27FC236}">
                <a16:creationId xmlns:a16="http://schemas.microsoft.com/office/drawing/2014/main" id="{9C1289CF-0194-4B4F-BB1E-B596097ED531}"/>
              </a:ext>
            </a:extLst>
          </p:cNvPr>
          <p:cNvSpPr>
            <a:spLocks noChangeShapeType="1"/>
          </p:cNvSpPr>
          <p:nvPr/>
        </p:nvSpPr>
        <p:spPr bwMode="auto">
          <a:xfrm flipV="1">
            <a:off x="5867400" y="5116513"/>
            <a:ext cx="1588" cy="69850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37895" name="Line 8">
            <a:extLst>
              <a:ext uri="{FF2B5EF4-FFF2-40B4-BE49-F238E27FC236}">
                <a16:creationId xmlns:a16="http://schemas.microsoft.com/office/drawing/2014/main" id="{A53BDE7A-9BCA-3444-8424-C5B7F7EF7F8F}"/>
              </a:ext>
            </a:extLst>
          </p:cNvPr>
          <p:cNvSpPr>
            <a:spLocks noChangeShapeType="1"/>
          </p:cNvSpPr>
          <p:nvPr/>
        </p:nvSpPr>
        <p:spPr bwMode="auto">
          <a:xfrm>
            <a:off x="5867400" y="5767388"/>
            <a:ext cx="8382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37896" name="Text Box 9">
            <a:extLst>
              <a:ext uri="{FF2B5EF4-FFF2-40B4-BE49-F238E27FC236}">
                <a16:creationId xmlns:a16="http://schemas.microsoft.com/office/drawing/2014/main" id="{C9C49654-4C4B-7B49-BDF2-B9C838605CE9}"/>
              </a:ext>
            </a:extLst>
          </p:cNvPr>
          <p:cNvSpPr txBox="1">
            <a:spLocks noChangeArrowheads="1"/>
          </p:cNvSpPr>
          <p:nvPr/>
        </p:nvSpPr>
        <p:spPr bwMode="auto">
          <a:xfrm>
            <a:off x="6705601" y="3505201"/>
            <a:ext cx="11731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800" b="1">
                <a:solidFill>
                  <a:srgbClr val="000000"/>
                </a:solidFill>
              </a:rPr>
              <a:t>Spray</a:t>
            </a:r>
          </a:p>
        </p:txBody>
      </p:sp>
      <p:sp>
        <p:nvSpPr>
          <p:cNvPr id="37897" name="Text Box 10">
            <a:extLst>
              <a:ext uri="{FF2B5EF4-FFF2-40B4-BE49-F238E27FC236}">
                <a16:creationId xmlns:a16="http://schemas.microsoft.com/office/drawing/2014/main" id="{3626DFDE-91B6-1F48-9D9A-E35F24D61478}"/>
              </a:ext>
            </a:extLst>
          </p:cNvPr>
          <p:cNvSpPr txBox="1">
            <a:spLocks noChangeArrowheads="1"/>
          </p:cNvSpPr>
          <p:nvPr/>
        </p:nvSpPr>
        <p:spPr bwMode="auto">
          <a:xfrm>
            <a:off x="6705601" y="5486400"/>
            <a:ext cx="22445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800" b="1">
                <a:solidFill>
                  <a:srgbClr val="000000"/>
                </a:solidFill>
              </a:rPr>
              <a:t>Don</a:t>
            </a:r>
            <a:r>
              <a:rPr lang="ja-JP" altLang="en-US" sz="2800" b="1">
                <a:solidFill>
                  <a:srgbClr val="000000"/>
                </a:solidFill>
              </a:rPr>
              <a:t>’</a:t>
            </a:r>
            <a:r>
              <a:rPr lang="en-US" altLang="ja-JP" sz="2800" b="1">
                <a:solidFill>
                  <a:srgbClr val="000000"/>
                </a:solidFill>
              </a:rPr>
              <a:t>t spray</a:t>
            </a:r>
            <a:endParaRPr lang="en-US" altLang="en-MX" sz="2800" b="1">
              <a:solidFill>
                <a:srgbClr val="000000"/>
              </a:solidFill>
            </a:endParaRPr>
          </a:p>
        </p:txBody>
      </p:sp>
      <p:sp>
        <p:nvSpPr>
          <p:cNvPr id="37898" name="Line 12">
            <a:extLst>
              <a:ext uri="{FF2B5EF4-FFF2-40B4-BE49-F238E27FC236}">
                <a16:creationId xmlns:a16="http://schemas.microsoft.com/office/drawing/2014/main" id="{732C8A90-DBB9-CC4D-A323-D6242402B824}"/>
              </a:ext>
            </a:extLst>
          </p:cNvPr>
          <p:cNvSpPr>
            <a:spLocks noChangeShapeType="1"/>
          </p:cNvSpPr>
          <p:nvPr/>
        </p:nvSpPr>
        <p:spPr bwMode="auto">
          <a:xfrm>
            <a:off x="6096000" y="4852988"/>
            <a:ext cx="6096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37899" name="Text Box 13">
            <a:extLst>
              <a:ext uri="{FF2B5EF4-FFF2-40B4-BE49-F238E27FC236}">
                <a16:creationId xmlns:a16="http://schemas.microsoft.com/office/drawing/2014/main" id="{5440C29B-46D5-D440-89D9-F5AF8A2F6435}"/>
              </a:ext>
            </a:extLst>
          </p:cNvPr>
          <p:cNvSpPr txBox="1">
            <a:spLocks noChangeArrowheads="1"/>
          </p:cNvSpPr>
          <p:nvPr/>
        </p:nvSpPr>
        <p:spPr bwMode="auto">
          <a:xfrm>
            <a:off x="6705601" y="4495801"/>
            <a:ext cx="9175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800" b="1">
                <a:solidFill>
                  <a:srgbClr val="000000"/>
                </a:solidFill>
              </a:rPr>
              <a:t>Test</a:t>
            </a:r>
          </a:p>
        </p:txBody>
      </p:sp>
      <p:sp>
        <p:nvSpPr>
          <p:cNvPr id="37900" name="Rectangle 11">
            <a:extLst>
              <a:ext uri="{FF2B5EF4-FFF2-40B4-BE49-F238E27FC236}">
                <a16:creationId xmlns:a16="http://schemas.microsoft.com/office/drawing/2014/main" id="{030D57AF-478C-0641-9C17-5187591B3A8A}"/>
              </a:ext>
            </a:extLst>
          </p:cNvPr>
          <p:cNvSpPr>
            <a:spLocks noChangeArrowheads="1"/>
          </p:cNvSpPr>
          <p:nvPr/>
        </p:nvSpPr>
        <p:spPr bwMode="auto">
          <a:xfrm>
            <a:off x="5638800" y="4659314"/>
            <a:ext cx="457200" cy="490537"/>
          </a:xfrm>
          <a:prstGeom prst="rect">
            <a:avLst/>
          </a:prstGeom>
          <a:solidFill>
            <a:schemeClr val="bg1"/>
          </a:solidFill>
          <a:ln w="25400">
            <a:solidFill>
              <a:schemeClr val="accent2"/>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Tree>
    <p:extLst>
      <p:ext uri="{BB962C8B-B14F-4D97-AF65-F5344CB8AC3E}">
        <p14:creationId xmlns:p14="http://schemas.microsoft.com/office/powerpoint/2010/main" val="2897605510"/>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a:extLst>
              <a:ext uri="{FF2B5EF4-FFF2-40B4-BE49-F238E27FC236}">
                <a16:creationId xmlns:a16="http://schemas.microsoft.com/office/drawing/2014/main" id="{AB71D4E1-6260-7A4E-8048-0C98D950FBC7}"/>
              </a:ext>
            </a:extLst>
          </p:cNvPr>
          <p:cNvSpPr>
            <a:spLocks noGrp="1" noChangeArrowheads="1"/>
          </p:cNvSpPr>
          <p:nvPr>
            <p:ph type="title"/>
          </p:nvPr>
        </p:nvSpPr>
        <p:spPr>
          <a:xfrm>
            <a:off x="854767" y="304800"/>
            <a:ext cx="9127433" cy="914400"/>
          </a:xfrm>
        </p:spPr>
        <p:txBody>
          <a:bodyPr/>
          <a:lstStyle/>
          <a:p>
            <a:pPr eaLnBrk="1" hangingPunct="1"/>
            <a:r>
              <a:rPr lang="en-US" altLang="en-MX" dirty="0">
                <a:ea typeface="ＭＳ Ｐゴシック" panose="020B0600070205080204" pitchFamily="34" charset="-128"/>
              </a:rPr>
              <a:t>Probabilities</a:t>
            </a:r>
          </a:p>
        </p:txBody>
      </p:sp>
      <p:sp>
        <p:nvSpPr>
          <p:cNvPr id="39938" name="Rectangle 3">
            <a:extLst>
              <a:ext uri="{FF2B5EF4-FFF2-40B4-BE49-F238E27FC236}">
                <a16:creationId xmlns:a16="http://schemas.microsoft.com/office/drawing/2014/main" id="{A8E6BB2D-A616-DC4C-B053-F77282351A9B}"/>
              </a:ext>
            </a:extLst>
          </p:cNvPr>
          <p:cNvSpPr>
            <a:spLocks noGrp="1" noChangeArrowheads="1"/>
          </p:cNvSpPr>
          <p:nvPr>
            <p:ph type="body" idx="1"/>
          </p:nvPr>
        </p:nvSpPr>
        <p:spPr>
          <a:xfrm>
            <a:off x="854767" y="1219200"/>
            <a:ext cx="9356033" cy="2971800"/>
          </a:xfrm>
        </p:spPr>
        <p:txBody>
          <a:bodyPr/>
          <a:lstStyle/>
          <a:p>
            <a:pPr eaLnBrk="1" hangingPunct="1">
              <a:spcAft>
                <a:spcPct val="15000"/>
              </a:spcAft>
            </a:pPr>
            <a:r>
              <a:rPr lang="en-US" altLang="en-MX" dirty="0">
                <a:ea typeface="ＭＳ Ｐゴシック" panose="020B0600070205080204" pitchFamily="34" charset="-128"/>
              </a:rPr>
              <a:t>Outbreak occurs (p=0.20)</a:t>
            </a:r>
          </a:p>
          <a:p>
            <a:pPr eaLnBrk="1" hangingPunct="1">
              <a:spcAft>
                <a:spcPct val="15000"/>
              </a:spcAft>
            </a:pPr>
            <a:r>
              <a:rPr lang="en-US" altLang="en-MX" dirty="0">
                <a:ea typeface="ＭＳ Ｐゴシック" panose="020B0600070205080204" pitchFamily="34" charset="-128"/>
              </a:rPr>
              <a:t>Develop encephalitis if there is an outbreak and you did not spray (p=0.02)</a:t>
            </a:r>
          </a:p>
          <a:p>
            <a:pPr eaLnBrk="1" hangingPunct="1">
              <a:spcAft>
                <a:spcPct val="15000"/>
              </a:spcAft>
            </a:pPr>
            <a:r>
              <a:rPr lang="en-US" altLang="en-MX" dirty="0">
                <a:ea typeface="ＭＳ Ｐゴシック" panose="020B0600070205080204" pitchFamily="34" charset="-128"/>
              </a:rPr>
              <a:t>Die if develop encephalitis (p=0.30)</a:t>
            </a:r>
          </a:p>
        </p:txBody>
      </p:sp>
      <p:sp>
        <p:nvSpPr>
          <p:cNvPr id="39939" name="AutoShape 4">
            <a:extLst>
              <a:ext uri="{FF2B5EF4-FFF2-40B4-BE49-F238E27FC236}">
                <a16:creationId xmlns:a16="http://schemas.microsoft.com/office/drawing/2014/main" id="{EEA95075-062A-F34D-A5B7-C7DB228CACA6}"/>
              </a:ext>
            </a:extLst>
          </p:cNvPr>
          <p:cNvSpPr>
            <a:spLocks noChangeArrowheads="1"/>
          </p:cNvSpPr>
          <p:nvPr/>
        </p:nvSpPr>
        <p:spPr bwMode="auto">
          <a:xfrm rot="10800000" flipH="1" flipV="1">
            <a:off x="1981200" y="4548188"/>
            <a:ext cx="1828800" cy="1066800"/>
          </a:xfrm>
          <a:prstGeom prst="wedgeRoundRectCallout">
            <a:avLst>
              <a:gd name="adj1" fmla="val 98000"/>
              <a:gd name="adj2" fmla="val 7884"/>
              <a:gd name="adj3" fmla="val 16667"/>
            </a:avLst>
          </a:prstGeom>
          <a:noFill/>
          <a:ln w="25400">
            <a:solidFill>
              <a:srgbClr val="008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20000"/>
              </a:spcBef>
            </a:pPr>
            <a:r>
              <a:rPr lang="en-US" altLang="en-MX" sz="2800" b="1">
                <a:solidFill>
                  <a:srgbClr val="000000"/>
                </a:solidFill>
              </a:rPr>
              <a:t>Chance Node</a:t>
            </a:r>
          </a:p>
        </p:txBody>
      </p:sp>
      <p:sp>
        <p:nvSpPr>
          <p:cNvPr id="39940" name="Line 6">
            <a:extLst>
              <a:ext uri="{FF2B5EF4-FFF2-40B4-BE49-F238E27FC236}">
                <a16:creationId xmlns:a16="http://schemas.microsoft.com/office/drawing/2014/main" id="{EC0948D8-B969-2643-90F4-849A92469879}"/>
              </a:ext>
            </a:extLst>
          </p:cNvPr>
          <p:cNvSpPr>
            <a:spLocks noChangeShapeType="1"/>
          </p:cNvSpPr>
          <p:nvPr/>
        </p:nvSpPr>
        <p:spPr bwMode="auto">
          <a:xfrm flipV="1">
            <a:off x="5029200" y="4579938"/>
            <a:ext cx="0" cy="30480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39941" name="Line 7">
            <a:extLst>
              <a:ext uri="{FF2B5EF4-FFF2-40B4-BE49-F238E27FC236}">
                <a16:creationId xmlns:a16="http://schemas.microsoft.com/office/drawing/2014/main" id="{A115B1FE-9F81-464F-94E2-163F87A1E228}"/>
              </a:ext>
            </a:extLst>
          </p:cNvPr>
          <p:cNvSpPr>
            <a:spLocks noChangeShapeType="1"/>
          </p:cNvSpPr>
          <p:nvPr/>
        </p:nvSpPr>
        <p:spPr bwMode="auto">
          <a:xfrm>
            <a:off x="5024438" y="4583113"/>
            <a:ext cx="8382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39942" name="Line 8">
            <a:extLst>
              <a:ext uri="{FF2B5EF4-FFF2-40B4-BE49-F238E27FC236}">
                <a16:creationId xmlns:a16="http://schemas.microsoft.com/office/drawing/2014/main" id="{113E2C3C-F150-B546-9197-BA8A3990DE89}"/>
              </a:ext>
            </a:extLst>
          </p:cNvPr>
          <p:cNvSpPr>
            <a:spLocks noChangeShapeType="1"/>
          </p:cNvSpPr>
          <p:nvPr/>
        </p:nvSpPr>
        <p:spPr bwMode="auto">
          <a:xfrm flipV="1">
            <a:off x="5029200" y="5346700"/>
            <a:ext cx="0" cy="30480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39943" name="Line 9">
            <a:extLst>
              <a:ext uri="{FF2B5EF4-FFF2-40B4-BE49-F238E27FC236}">
                <a16:creationId xmlns:a16="http://schemas.microsoft.com/office/drawing/2014/main" id="{1193B41E-1EC3-D046-B764-C5AB8F4CC28A}"/>
              </a:ext>
            </a:extLst>
          </p:cNvPr>
          <p:cNvSpPr>
            <a:spLocks noChangeShapeType="1"/>
          </p:cNvSpPr>
          <p:nvPr/>
        </p:nvSpPr>
        <p:spPr bwMode="auto">
          <a:xfrm>
            <a:off x="5024438" y="5649913"/>
            <a:ext cx="8382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39944" name="Text Box 10">
            <a:extLst>
              <a:ext uri="{FF2B5EF4-FFF2-40B4-BE49-F238E27FC236}">
                <a16:creationId xmlns:a16="http://schemas.microsoft.com/office/drawing/2014/main" id="{7D010A4D-01DD-A843-89CE-97917759F64C}"/>
              </a:ext>
            </a:extLst>
          </p:cNvPr>
          <p:cNvSpPr txBox="1">
            <a:spLocks noChangeArrowheads="1"/>
          </p:cNvSpPr>
          <p:nvPr/>
        </p:nvSpPr>
        <p:spPr bwMode="auto">
          <a:xfrm>
            <a:off x="5867401" y="4267201"/>
            <a:ext cx="2955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800" b="1">
                <a:solidFill>
                  <a:srgbClr val="000000"/>
                </a:solidFill>
              </a:rPr>
              <a:t>outbreak occurs</a:t>
            </a:r>
          </a:p>
        </p:txBody>
      </p:sp>
      <p:sp>
        <p:nvSpPr>
          <p:cNvPr id="39945" name="Text Box 11">
            <a:extLst>
              <a:ext uri="{FF2B5EF4-FFF2-40B4-BE49-F238E27FC236}">
                <a16:creationId xmlns:a16="http://schemas.microsoft.com/office/drawing/2014/main" id="{1B91A291-C292-AA46-93CF-2C97190B6D65}"/>
              </a:ext>
            </a:extLst>
          </p:cNvPr>
          <p:cNvSpPr txBox="1">
            <a:spLocks noChangeArrowheads="1"/>
          </p:cNvSpPr>
          <p:nvPr/>
        </p:nvSpPr>
        <p:spPr bwMode="auto">
          <a:xfrm>
            <a:off x="5883276" y="5343526"/>
            <a:ext cx="43402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800" b="1">
                <a:solidFill>
                  <a:srgbClr val="000000"/>
                </a:solidFill>
              </a:rPr>
              <a:t>outbreak does not occur</a:t>
            </a:r>
          </a:p>
        </p:txBody>
      </p:sp>
      <p:sp>
        <p:nvSpPr>
          <p:cNvPr id="39946" name="Oval 5">
            <a:extLst>
              <a:ext uri="{FF2B5EF4-FFF2-40B4-BE49-F238E27FC236}">
                <a16:creationId xmlns:a16="http://schemas.microsoft.com/office/drawing/2014/main" id="{37511CBB-0DA6-554A-BC71-731C49DB8909}"/>
              </a:ext>
            </a:extLst>
          </p:cNvPr>
          <p:cNvSpPr>
            <a:spLocks noChangeArrowheads="1"/>
          </p:cNvSpPr>
          <p:nvPr/>
        </p:nvSpPr>
        <p:spPr bwMode="auto">
          <a:xfrm>
            <a:off x="4816475" y="4887913"/>
            <a:ext cx="457200" cy="457200"/>
          </a:xfrm>
          <a:prstGeom prst="ellipse">
            <a:avLst/>
          </a:prstGeom>
          <a:solidFill>
            <a:schemeClr val="bg1"/>
          </a:solidFill>
          <a:ln w="25400">
            <a:solidFill>
              <a:srgbClr val="008000"/>
            </a:solidFill>
            <a:round/>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Tree>
    <p:extLst>
      <p:ext uri="{BB962C8B-B14F-4D97-AF65-F5344CB8AC3E}">
        <p14:creationId xmlns:p14="http://schemas.microsoft.com/office/powerpoint/2010/main" val="370861928"/>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2">
            <a:extLst>
              <a:ext uri="{FF2B5EF4-FFF2-40B4-BE49-F238E27FC236}">
                <a16:creationId xmlns:a16="http://schemas.microsoft.com/office/drawing/2014/main" id="{FD41D8BE-6D70-6F4A-B74F-B89502756C95}"/>
              </a:ext>
            </a:extLst>
          </p:cNvPr>
          <p:cNvSpPr>
            <a:spLocks noGrp="1" noChangeArrowheads="1"/>
          </p:cNvSpPr>
          <p:nvPr>
            <p:ph type="title"/>
          </p:nvPr>
        </p:nvSpPr>
        <p:spPr>
          <a:xfrm>
            <a:off x="838200" y="365126"/>
            <a:ext cx="10515600" cy="857388"/>
          </a:xfrm>
        </p:spPr>
        <p:txBody>
          <a:bodyPr/>
          <a:lstStyle/>
          <a:p>
            <a:pPr eaLnBrk="1" hangingPunct="1"/>
            <a:r>
              <a:rPr lang="en-US" altLang="en-MX" dirty="0">
                <a:ea typeface="ＭＳ Ｐゴシック" panose="020B0600070205080204" pitchFamily="34" charset="-128"/>
              </a:rPr>
              <a:t>More Probabilities</a:t>
            </a:r>
          </a:p>
        </p:txBody>
      </p:sp>
      <p:sp>
        <p:nvSpPr>
          <p:cNvPr id="41986" name="Rectangle 3">
            <a:extLst>
              <a:ext uri="{FF2B5EF4-FFF2-40B4-BE49-F238E27FC236}">
                <a16:creationId xmlns:a16="http://schemas.microsoft.com/office/drawing/2014/main" id="{98EA0CDC-4134-964D-8ABB-C00681E17BE2}"/>
              </a:ext>
            </a:extLst>
          </p:cNvPr>
          <p:cNvSpPr>
            <a:spLocks noGrp="1" noChangeArrowheads="1"/>
          </p:cNvSpPr>
          <p:nvPr>
            <p:ph type="body" idx="1"/>
          </p:nvPr>
        </p:nvSpPr>
        <p:spPr/>
        <p:txBody>
          <a:bodyPr/>
          <a:lstStyle/>
          <a:p>
            <a:pPr eaLnBrk="1" hangingPunct="1">
              <a:spcAft>
                <a:spcPct val="15000"/>
              </a:spcAft>
            </a:pPr>
            <a:r>
              <a:rPr lang="en-US" altLang="en-MX" dirty="0">
                <a:ea typeface="ＭＳ Ｐゴシック" panose="020B0600070205080204" pitchFamily="34" charset="-128"/>
              </a:rPr>
              <a:t>Develop encephalitis if there is an outbreak and you did spray (p=0.001)</a:t>
            </a:r>
          </a:p>
          <a:p>
            <a:pPr eaLnBrk="1" hangingPunct="1">
              <a:spcAft>
                <a:spcPct val="15000"/>
              </a:spcAft>
            </a:pPr>
            <a:r>
              <a:rPr lang="en-US" altLang="en-MX" dirty="0">
                <a:ea typeface="ＭＳ Ｐゴシック" panose="020B0600070205080204" pitchFamily="34" charset="-128"/>
              </a:rPr>
              <a:t>Develop encephalitis if there is an outbreak and you did spray but you waited one week to get perfect information before going ahead with the decision (p=0.01)</a:t>
            </a:r>
          </a:p>
          <a:p>
            <a:pPr eaLnBrk="1" hangingPunct="1">
              <a:spcAft>
                <a:spcPct val="15000"/>
              </a:spcAft>
            </a:pPr>
            <a:r>
              <a:rPr lang="en-US" altLang="en-MX" dirty="0">
                <a:ea typeface="ＭＳ Ｐゴシック" panose="020B0600070205080204" pitchFamily="34" charset="-128"/>
              </a:rPr>
              <a:t>Die from toxicity if spraying occurs (p=0.001)</a:t>
            </a:r>
          </a:p>
        </p:txBody>
      </p:sp>
    </p:spTree>
    <p:extLst>
      <p:ext uri="{BB962C8B-B14F-4D97-AF65-F5344CB8AC3E}">
        <p14:creationId xmlns:p14="http://schemas.microsoft.com/office/powerpoint/2010/main" val="18278692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a:extLst>
              <a:ext uri="{FF2B5EF4-FFF2-40B4-BE49-F238E27FC236}">
                <a16:creationId xmlns:a16="http://schemas.microsoft.com/office/drawing/2014/main" id="{A19F9548-361C-4348-8950-FC75F3325534}"/>
              </a:ext>
            </a:extLst>
          </p:cNvPr>
          <p:cNvSpPr>
            <a:spLocks noGrp="1" noChangeArrowheads="1"/>
          </p:cNvSpPr>
          <p:nvPr>
            <p:ph type="title"/>
          </p:nvPr>
        </p:nvSpPr>
        <p:spPr>
          <a:xfrm>
            <a:off x="914400" y="304800"/>
            <a:ext cx="9067800" cy="914400"/>
          </a:xfrm>
        </p:spPr>
        <p:txBody>
          <a:bodyPr/>
          <a:lstStyle/>
          <a:p>
            <a:pPr eaLnBrk="1" hangingPunct="1"/>
            <a:r>
              <a:rPr lang="en-US" altLang="en-MX" dirty="0">
                <a:ea typeface="ＭＳ Ｐゴシック" panose="020B0600070205080204" pitchFamily="34" charset="-128"/>
              </a:rPr>
              <a:t>Outcomes and Values</a:t>
            </a:r>
          </a:p>
        </p:txBody>
      </p:sp>
      <p:sp>
        <p:nvSpPr>
          <p:cNvPr id="43010" name="Rectangle 3">
            <a:extLst>
              <a:ext uri="{FF2B5EF4-FFF2-40B4-BE49-F238E27FC236}">
                <a16:creationId xmlns:a16="http://schemas.microsoft.com/office/drawing/2014/main" id="{878D25EA-72EF-C047-8021-6E4FB4543397}"/>
              </a:ext>
            </a:extLst>
          </p:cNvPr>
          <p:cNvSpPr>
            <a:spLocks noGrp="1" noChangeArrowheads="1"/>
          </p:cNvSpPr>
          <p:nvPr>
            <p:ph type="body" idx="1"/>
          </p:nvPr>
        </p:nvSpPr>
        <p:spPr>
          <a:xfrm>
            <a:off x="914400" y="1524000"/>
            <a:ext cx="9372600" cy="4343400"/>
          </a:xfrm>
        </p:spPr>
        <p:txBody>
          <a:bodyPr/>
          <a:lstStyle/>
          <a:p>
            <a:pPr eaLnBrk="1" hangingPunct="1">
              <a:lnSpc>
                <a:spcPct val="90000"/>
              </a:lnSpc>
              <a:spcAft>
                <a:spcPct val="15000"/>
              </a:spcAft>
            </a:pPr>
            <a:r>
              <a:rPr lang="en-US" altLang="en-MX" dirty="0">
                <a:ea typeface="ＭＳ Ｐゴシック" panose="020B0600070205080204" pitchFamily="34" charset="-128"/>
              </a:rPr>
              <a:t>Two possible outcomes</a:t>
            </a:r>
          </a:p>
          <a:p>
            <a:pPr lvl="1" eaLnBrk="1" hangingPunct="1">
              <a:lnSpc>
                <a:spcPct val="90000"/>
              </a:lnSpc>
              <a:spcAft>
                <a:spcPct val="15000"/>
              </a:spcAft>
            </a:pPr>
            <a:r>
              <a:rPr lang="en-US" altLang="en-MX" dirty="0">
                <a:ea typeface="ＭＳ Ｐゴシック" panose="020B0600070205080204" pitchFamily="34" charset="-128"/>
              </a:rPr>
              <a:t>Dead</a:t>
            </a:r>
          </a:p>
          <a:p>
            <a:pPr lvl="1" eaLnBrk="1" hangingPunct="1">
              <a:lnSpc>
                <a:spcPct val="90000"/>
              </a:lnSpc>
              <a:spcAft>
                <a:spcPct val="15000"/>
              </a:spcAft>
            </a:pPr>
            <a:r>
              <a:rPr lang="en-US" altLang="en-MX" dirty="0">
                <a:ea typeface="ＭＳ Ｐゴシック" panose="020B0600070205080204" pitchFamily="34" charset="-128"/>
              </a:rPr>
              <a:t>Alive</a:t>
            </a:r>
          </a:p>
          <a:p>
            <a:pPr eaLnBrk="1" hangingPunct="1">
              <a:lnSpc>
                <a:spcPct val="90000"/>
              </a:lnSpc>
              <a:spcAft>
                <a:spcPct val="15000"/>
              </a:spcAft>
            </a:pPr>
            <a:r>
              <a:rPr lang="en-US" altLang="en-MX" dirty="0">
                <a:ea typeface="ＭＳ Ｐゴシック" panose="020B0600070205080204" pitchFamily="34" charset="-128"/>
              </a:rPr>
              <a:t>Objective: Minimize the number of deaths, on average, in the city (find lowest expected value)</a:t>
            </a:r>
          </a:p>
          <a:p>
            <a:pPr eaLnBrk="1" hangingPunct="1">
              <a:lnSpc>
                <a:spcPct val="90000"/>
              </a:lnSpc>
              <a:spcAft>
                <a:spcPct val="15000"/>
              </a:spcAft>
            </a:pPr>
            <a:r>
              <a:rPr lang="en-US" altLang="en-MX" dirty="0">
                <a:ea typeface="ＭＳ Ｐゴシック" panose="020B0600070205080204" pitchFamily="34" charset="-128"/>
              </a:rPr>
              <a:t>Assign values of 1 for </a:t>
            </a:r>
            <a:r>
              <a:rPr lang="ja-JP" altLang="en-US">
                <a:ea typeface="ＭＳ Ｐゴシック" panose="020B0600070205080204" pitchFamily="34" charset="-128"/>
              </a:rPr>
              <a:t>“</a:t>
            </a:r>
            <a:r>
              <a:rPr lang="en-US" altLang="ja-JP" dirty="0">
                <a:ea typeface="ＭＳ Ｐゴシック" panose="020B0600070205080204" pitchFamily="34" charset="-128"/>
              </a:rPr>
              <a:t>Dead</a:t>
            </a:r>
            <a:r>
              <a:rPr lang="ja-JP" altLang="en-US">
                <a:ea typeface="ＭＳ Ｐゴシック" panose="020B0600070205080204" pitchFamily="34" charset="-128"/>
              </a:rPr>
              <a:t>”</a:t>
            </a:r>
            <a:r>
              <a:rPr lang="en-US" altLang="ja-JP" dirty="0">
                <a:ea typeface="ＭＳ Ｐゴシック" panose="020B0600070205080204" pitchFamily="34" charset="-128"/>
              </a:rPr>
              <a:t> and 0 for </a:t>
            </a:r>
            <a:r>
              <a:rPr lang="ja-JP" altLang="en-US">
                <a:ea typeface="ＭＳ Ｐゴシック" panose="020B0600070205080204" pitchFamily="34" charset="-128"/>
              </a:rPr>
              <a:t>“</a:t>
            </a:r>
            <a:r>
              <a:rPr lang="en-US" altLang="ja-JP" dirty="0">
                <a:ea typeface="ＭＳ Ｐゴシック" panose="020B0600070205080204" pitchFamily="34" charset="-128"/>
              </a:rPr>
              <a:t>Alive</a:t>
            </a:r>
            <a:r>
              <a:rPr lang="ja-JP" altLang="en-US">
                <a:ea typeface="ＭＳ Ｐゴシック" panose="020B0600070205080204" pitchFamily="34" charset="-128"/>
              </a:rPr>
              <a:t>”</a:t>
            </a:r>
            <a:endParaRPr lang="en-US" altLang="en-MX" dirty="0">
              <a:ea typeface="ＭＳ Ｐゴシック" panose="020B0600070205080204" pitchFamily="34" charset="-128"/>
            </a:endParaRPr>
          </a:p>
        </p:txBody>
      </p:sp>
    </p:spTree>
    <p:extLst>
      <p:ext uri="{BB962C8B-B14F-4D97-AF65-F5344CB8AC3E}">
        <p14:creationId xmlns:p14="http://schemas.microsoft.com/office/powerpoint/2010/main" val="1218407326"/>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a:extLst>
              <a:ext uri="{FF2B5EF4-FFF2-40B4-BE49-F238E27FC236}">
                <a16:creationId xmlns:a16="http://schemas.microsoft.com/office/drawing/2014/main" id="{0844017D-C853-484F-AF5D-B4A532BBC65F}"/>
              </a:ext>
            </a:extLst>
          </p:cNvPr>
          <p:cNvSpPr>
            <a:spLocks noGrp="1" noChangeArrowheads="1"/>
          </p:cNvSpPr>
          <p:nvPr>
            <p:ph type="title"/>
          </p:nvPr>
        </p:nvSpPr>
        <p:spPr>
          <a:xfrm>
            <a:off x="854767" y="457200"/>
            <a:ext cx="9356033" cy="762000"/>
          </a:xfrm>
        </p:spPr>
        <p:txBody>
          <a:bodyPr/>
          <a:lstStyle/>
          <a:p>
            <a:pPr eaLnBrk="1" hangingPunct="1"/>
            <a:r>
              <a:rPr lang="en-US" altLang="en-MX" dirty="0">
                <a:ea typeface="ＭＳ Ｐゴシック" panose="020B0600070205080204" pitchFamily="34" charset="-128"/>
              </a:rPr>
              <a:t>Step 2: Build the Tree</a:t>
            </a:r>
          </a:p>
        </p:txBody>
      </p:sp>
      <p:sp>
        <p:nvSpPr>
          <p:cNvPr id="45058" name="Rectangle 3">
            <a:extLst>
              <a:ext uri="{FF2B5EF4-FFF2-40B4-BE49-F238E27FC236}">
                <a16:creationId xmlns:a16="http://schemas.microsoft.com/office/drawing/2014/main" id="{3C4DD53D-EDBF-694F-AF4C-72F397F1918F}"/>
              </a:ext>
            </a:extLst>
          </p:cNvPr>
          <p:cNvSpPr>
            <a:spLocks noGrp="1" noChangeArrowheads="1"/>
          </p:cNvSpPr>
          <p:nvPr>
            <p:ph type="body" idx="1"/>
          </p:nvPr>
        </p:nvSpPr>
        <p:spPr>
          <a:xfrm>
            <a:off x="854767" y="1524000"/>
            <a:ext cx="9127434" cy="4876800"/>
          </a:xfrm>
        </p:spPr>
        <p:txBody>
          <a:bodyPr/>
          <a:lstStyle/>
          <a:p>
            <a:pPr eaLnBrk="1" hangingPunct="1">
              <a:lnSpc>
                <a:spcPct val="95000"/>
              </a:lnSpc>
              <a:spcAft>
                <a:spcPct val="10000"/>
              </a:spcAft>
            </a:pPr>
            <a:r>
              <a:rPr lang="en-US" altLang="en-MX" dirty="0">
                <a:ea typeface="ＭＳ Ｐゴシック" panose="020B0600070205080204" pitchFamily="34" charset="-128"/>
              </a:rPr>
              <a:t>Represent the sequence of events leading to outcomes </a:t>
            </a:r>
          </a:p>
          <a:p>
            <a:pPr eaLnBrk="1" hangingPunct="1">
              <a:lnSpc>
                <a:spcPct val="95000"/>
              </a:lnSpc>
              <a:spcAft>
                <a:spcPct val="10000"/>
              </a:spcAft>
            </a:pPr>
            <a:r>
              <a:rPr lang="en-US" altLang="en-MX" dirty="0">
                <a:ea typeface="ＭＳ Ｐゴシック" panose="020B0600070205080204" pitchFamily="34" charset="-128"/>
              </a:rPr>
              <a:t>Estimate the probability of each event at each chance node</a:t>
            </a:r>
          </a:p>
          <a:p>
            <a:pPr eaLnBrk="1" hangingPunct="1">
              <a:lnSpc>
                <a:spcPct val="95000"/>
              </a:lnSpc>
              <a:spcAft>
                <a:spcPct val="10000"/>
              </a:spcAft>
            </a:pPr>
            <a:r>
              <a:rPr lang="en-US" altLang="en-MX" dirty="0">
                <a:ea typeface="ＭＳ Ｐゴシック" panose="020B0600070205080204" pitchFamily="34" charset="-128"/>
              </a:rPr>
              <a:t>Assign a value to each possible outcome</a:t>
            </a:r>
          </a:p>
        </p:txBody>
      </p:sp>
    </p:spTree>
    <p:extLst>
      <p:ext uri="{BB962C8B-B14F-4D97-AF65-F5344CB8AC3E}">
        <p14:creationId xmlns:p14="http://schemas.microsoft.com/office/powerpoint/2010/main" val="570479154"/>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Line 3">
            <a:extLst>
              <a:ext uri="{FF2B5EF4-FFF2-40B4-BE49-F238E27FC236}">
                <a16:creationId xmlns:a16="http://schemas.microsoft.com/office/drawing/2014/main" id="{E3F11254-AEF1-0740-B3E0-350A5D36060C}"/>
              </a:ext>
            </a:extLst>
          </p:cNvPr>
          <p:cNvSpPr>
            <a:spLocks noChangeShapeType="1"/>
          </p:cNvSpPr>
          <p:nvPr/>
        </p:nvSpPr>
        <p:spPr bwMode="auto">
          <a:xfrm>
            <a:off x="2590800" y="2057401"/>
            <a:ext cx="0" cy="137001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47106" name="Line 4">
            <a:extLst>
              <a:ext uri="{FF2B5EF4-FFF2-40B4-BE49-F238E27FC236}">
                <a16:creationId xmlns:a16="http://schemas.microsoft.com/office/drawing/2014/main" id="{88536864-2703-F24C-869C-717FA976A0E5}"/>
              </a:ext>
            </a:extLst>
          </p:cNvPr>
          <p:cNvSpPr>
            <a:spLocks noChangeShapeType="1"/>
          </p:cNvSpPr>
          <p:nvPr/>
        </p:nvSpPr>
        <p:spPr bwMode="auto">
          <a:xfrm>
            <a:off x="2590800" y="3886200"/>
            <a:ext cx="0" cy="188595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47107" name="Line 5">
            <a:extLst>
              <a:ext uri="{FF2B5EF4-FFF2-40B4-BE49-F238E27FC236}">
                <a16:creationId xmlns:a16="http://schemas.microsoft.com/office/drawing/2014/main" id="{563AB91A-79AD-A742-AC77-28B62C8632A9}"/>
              </a:ext>
            </a:extLst>
          </p:cNvPr>
          <p:cNvSpPr>
            <a:spLocks noChangeShapeType="1"/>
          </p:cNvSpPr>
          <p:nvPr/>
        </p:nvSpPr>
        <p:spPr bwMode="auto">
          <a:xfrm>
            <a:off x="2566988" y="2057400"/>
            <a:ext cx="1471612"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47108" name="Rectangle 6">
            <a:extLst>
              <a:ext uri="{FF2B5EF4-FFF2-40B4-BE49-F238E27FC236}">
                <a16:creationId xmlns:a16="http://schemas.microsoft.com/office/drawing/2014/main" id="{9D37C15D-9B8C-2048-9908-7CAB492CAF59}"/>
              </a:ext>
            </a:extLst>
          </p:cNvPr>
          <p:cNvSpPr>
            <a:spLocks noChangeArrowheads="1"/>
          </p:cNvSpPr>
          <p:nvPr/>
        </p:nvSpPr>
        <p:spPr bwMode="auto">
          <a:xfrm>
            <a:off x="3962401" y="1752600"/>
            <a:ext cx="3739037"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3200">
                <a:solidFill>
                  <a:srgbClr val="000000"/>
                </a:solidFill>
              </a:rPr>
              <a:t>Take Action (Spray)</a:t>
            </a:r>
          </a:p>
        </p:txBody>
      </p:sp>
      <p:sp>
        <p:nvSpPr>
          <p:cNvPr id="47109" name="Rectangle 7">
            <a:extLst>
              <a:ext uri="{FF2B5EF4-FFF2-40B4-BE49-F238E27FC236}">
                <a16:creationId xmlns:a16="http://schemas.microsoft.com/office/drawing/2014/main" id="{A3CFCE76-A463-2A46-9600-82CD23BE3152}"/>
              </a:ext>
            </a:extLst>
          </p:cNvPr>
          <p:cNvSpPr>
            <a:spLocks noChangeArrowheads="1"/>
          </p:cNvSpPr>
          <p:nvPr/>
        </p:nvSpPr>
        <p:spPr bwMode="auto">
          <a:xfrm>
            <a:off x="3962401" y="5410200"/>
            <a:ext cx="4719049"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3200">
                <a:solidFill>
                  <a:srgbClr val="000000"/>
                </a:solidFill>
              </a:rPr>
              <a:t>No Action (Do not Spray)</a:t>
            </a:r>
          </a:p>
        </p:txBody>
      </p:sp>
      <p:sp>
        <p:nvSpPr>
          <p:cNvPr id="47110" name="Rectangle 8">
            <a:extLst>
              <a:ext uri="{FF2B5EF4-FFF2-40B4-BE49-F238E27FC236}">
                <a16:creationId xmlns:a16="http://schemas.microsoft.com/office/drawing/2014/main" id="{93AB6D0C-30C9-784B-8482-909F3D2986E5}"/>
              </a:ext>
            </a:extLst>
          </p:cNvPr>
          <p:cNvSpPr>
            <a:spLocks noChangeArrowheads="1"/>
          </p:cNvSpPr>
          <p:nvPr/>
        </p:nvSpPr>
        <p:spPr bwMode="auto">
          <a:xfrm>
            <a:off x="3975100" y="3448050"/>
            <a:ext cx="6355330"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3200">
                <a:solidFill>
                  <a:srgbClr val="000000"/>
                </a:solidFill>
              </a:rPr>
              <a:t>Get Information (Test Mosquitoes)</a:t>
            </a:r>
          </a:p>
        </p:txBody>
      </p:sp>
      <p:sp>
        <p:nvSpPr>
          <p:cNvPr id="195593" name="Rectangle 9">
            <a:extLst>
              <a:ext uri="{FF2B5EF4-FFF2-40B4-BE49-F238E27FC236}">
                <a16:creationId xmlns:a16="http://schemas.microsoft.com/office/drawing/2014/main" id="{96532B72-2BFF-1A4C-956E-F35AACFEA0E2}"/>
              </a:ext>
            </a:extLst>
          </p:cNvPr>
          <p:cNvSpPr>
            <a:spLocks noGrp="1" noChangeArrowheads="1"/>
          </p:cNvSpPr>
          <p:nvPr>
            <p:ph type="title"/>
          </p:nvPr>
        </p:nvSpPr>
        <p:spPr>
          <a:xfrm>
            <a:off x="944217" y="381000"/>
            <a:ext cx="10694505" cy="1036638"/>
          </a:xfrm>
        </p:spPr>
        <p:txBody>
          <a:bodyPr>
            <a:noAutofit/>
          </a:bodyPr>
          <a:lstStyle/>
          <a:p>
            <a:pPr eaLnBrk="1" hangingPunct="1"/>
            <a:r>
              <a:rPr lang="en-US" altLang="en-MX" dirty="0">
                <a:ea typeface="ＭＳ Ｐゴシック" panose="020B0600070205080204" pitchFamily="34" charset="-128"/>
              </a:rPr>
              <a:t>Alternatives: branches off decision node </a:t>
            </a:r>
            <a:br>
              <a:rPr lang="en-US" altLang="en-MX" dirty="0">
                <a:ea typeface="ＭＳ Ｐゴシック" panose="020B0600070205080204" pitchFamily="34" charset="-128"/>
              </a:rPr>
            </a:br>
            <a:r>
              <a:rPr lang="en-US" altLang="en-MX" dirty="0">
                <a:ea typeface="ＭＳ Ｐゴシック" panose="020B0600070205080204" pitchFamily="34" charset="-128"/>
              </a:rPr>
              <a:t>(strategic form)</a:t>
            </a:r>
          </a:p>
        </p:txBody>
      </p:sp>
      <p:sp>
        <p:nvSpPr>
          <p:cNvPr id="47112" name="Line 10">
            <a:extLst>
              <a:ext uri="{FF2B5EF4-FFF2-40B4-BE49-F238E27FC236}">
                <a16:creationId xmlns:a16="http://schemas.microsoft.com/office/drawing/2014/main" id="{837B7841-25D1-124E-95AF-447EFD603DB5}"/>
              </a:ext>
            </a:extLst>
          </p:cNvPr>
          <p:cNvSpPr>
            <a:spLocks noChangeShapeType="1"/>
          </p:cNvSpPr>
          <p:nvPr/>
        </p:nvSpPr>
        <p:spPr bwMode="auto">
          <a:xfrm>
            <a:off x="2743200" y="3733800"/>
            <a:ext cx="11430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47113" name="Line 11">
            <a:extLst>
              <a:ext uri="{FF2B5EF4-FFF2-40B4-BE49-F238E27FC236}">
                <a16:creationId xmlns:a16="http://schemas.microsoft.com/office/drawing/2014/main" id="{24618003-3EE4-FC49-96DC-F3F3F31C4826}"/>
              </a:ext>
            </a:extLst>
          </p:cNvPr>
          <p:cNvSpPr>
            <a:spLocks noChangeShapeType="1"/>
          </p:cNvSpPr>
          <p:nvPr/>
        </p:nvSpPr>
        <p:spPr bwMode="auto">
          <a:xfrm>
            <a:off x="2590800" y="5791200"/>
            <a:ext cx="13716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47114" name="Rectangle 2">
            <a:extLst>
              <a:ext uri="{FF2B5EF4-FFF2-40B4-BE49-F238E27FC236}">
                <a16:creationId xmlns:a16="http://schemas.microsoft.com/office/drawing/2014/main" id="{275421BD-4EEE-3346-B11C-3E5AC622A6AE}"/>
              </a:ext>
            </a:extLst>
          </p:cNvPr>
          <p:cNvSpPr>
            <a:spLocks noChangeArrowheads="1"/>
          </p:cNvSpPr>
          <p:nvPr/>
        </p:nvSpPr>
        <p:spPr bwMode="auto">
          <a:xfrm>
            <a:off x="2362200" y="3429000"/>
            <a:ext cx="533400" cy="503238"/>
          </a:xfrm>
          <a:prstGeom prst="rect">
            <a:avLst/>
          </a:prstGeom>
          <a:solidFill>
            <a:schemeClr val="bg1"/>
          </a:solidFill>
          <a:ln w="25400">
            <a:solidFill>
              <a:srgbClr val="0000FF"/>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Tree>
    <p:extLst>
      <p:ext uri="{BB962C8B-B14F-4D97-AF65-F5344CB8AC3E}">
        <p14:creationId xmlns:p14="http://schemas.microsoft.com/office/powerpoint/2010/main" val="3410919724"/>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Line 2">
            <a:extLst>
              <a:ext uri="{FF2B5EF4-FFF2-40B4-BE49-F238E27FC236}">
                <a16:creationId xmlns:a16="http://schemas.microsoft.com/office/drawing/2014/main" id="{C4736D35-8CAA-474E-9431-27F0598D726D}"/>
              </a:ext>
            </a:extLst>
          </p:cNvPr>
          <p:cNvSpPr>
            <a:spLocks noChangeShapeType="1"/>
          </p:cNvSpPr>
          <p:nvPr/>
        </p:nvSpPr>
        <p:spPr bwMode="auto">
          <a:xfrm>
            <a:off x="3048000" y="2344738"/>
            <a:ext cx="0" cy="77946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49154" name="Line 3">
            <a:extLst>
              <a:ext uri="{FF2B5EF4-FFF2-40B4-BE49-F238E27FC236}">
                <a16:creationId xmlns:a16="http://schemas.microsoft.com/office/drawing/2014/main" id="{0F4E442B-08DE-244B-B9FB-6581FF00FAC1}"/>
              </a:ext>
            </a:extLst>
          </p:cNvPr>
          <p:cNvSpPr>
            <a:spLocks noChangeShapeType="1"/>
          </p:cNvSpPr>
          <p:nvPr/>
        </p:nvSpPr>
        <p:spPr bwMode="auto">
          <a:xfrm>
            <a:off x="3048000" y="3657600"/>
            <a:ext cx="0" cy="97155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49155" name="Line 4">
            <a:extLst>
              <a:ext uri="{FF2B5EF4-FFF2-40B4-BE49-F238E27FC236}">
                <a16:creationId xmlns:a16="http://schemas.microsoft.com/office/drawing/2014/main" id="{15E32FB9-83A8-564C-943E-1B7B863C45F1}"/>
              </a:ext>
            </a:extLst>
          </p:cNvPr>
          <p:cNvSpPr>
            <a:spLocks noChangeShapeType="1"/>
          </p:cNvSpPr>
          <p:nvPr/>
        </p:nvSpPr>
        <p:spPr bwMode="auto">
          <a:xfrm>
            <a:off x="3049588" y="2343150"/>
            <a:ext cx="1065212" cy="1905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49156" name="Line 5">
            <a:extLst>
              <a:ext uri="{FF2B5EF4-FFF2-40B4-BE49-F238E27FC236}">
                <a16:creationId xmlns:a16="http://schemas.microsoft.com/office/drawing/2014/main" id="{7B91DAF8-8B60-E240-9974-AF67F370DA97}"/>
              </a:ext>
            </a:extLst>
          </p:cNvPr>
          <p:cNvSpPr>
            <a:spLocks noChangeShapeType="1"/>
          </p:cNvSpPr>
          <p:nvPr/>
        </p:nvSpPr>
        <p:spPr bwMode="auto">
          <a:xfrm>
            <a:off x="3049588" y="4629150"/>
            <a:ext cx="1014412"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49157" name="Rectangle 6">
            <a:extLst>
              <a:ext uri="{FF2B5EF4-FFF2-40B4-BE49-F238E27FC236}">
                <a16:creationId xmlns:a16="http://schemas.microsoft.com/office/drawing/2014/main" id="{1E3CDFD4-1DB7-774B-8270-16F4FB256C73}"/>
              </a:ext>
            </a:extLst>
          </p:cNvPr>
          <p:cNvSpPr>
            <a:spLocks noChangeArrowheads="1"/>
          </p:cNvSpPr>
          <p:nvPr/>
        </p:nvSpPr>
        <p:spPr bwMode="auto">
          <a:xfrm>
            <a:off x="4165600" y="2057400"/>
            <a:ext cx="3146118"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3200">
                <a:solidFill>
                  <a:srgbClr val="000000"/>
                </a:solidFill>
              </a:rPr>
              <a:t>Test Mosquitoes</a:t>
            </a:r>
            <a:endParaRPr lang="en-US" altLang="en-MX" sz="3200" b="1">
              <a:solidFill>
                <a:srgbClr val="000000"/>
              </a:solidFill>
            </a:endParaRPr>
          </a:p>
        </p:txBody>
      </p:sp>
      <p:sp>
        <p:nvSpPr>
          <p:cNvPr id="49158" name="Rectangle 7">
            <a:extLst>
              <a:ext uri="{FF2B5EF4-FFF2-40B4-BE49-F238E27FC236}">
                <a16:creationId xmlns:a16="http://schemas.microsoft.com/office/drawing/2014/main" id="{97914353-E0C6-B647-86D0-9564470B209A}"/>
              </a:ext>
            </a:extLst>
          </p:cNvPr>
          <p:cNvSpPr>
            <a:spLocks noChangeArrowheads="1"/>
          </p:cNvSpPr>
          <p:nvPr/>
        </p:nvSpPr>
        <p:spPr bwMode="auto">
          <a:xfrm>
            <a:off x="4038601" y="4343400"/>
            <a:ext cx="2114361"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3200">
                <a:solidFill>
                  <a:srgbClr val="000000"/>
                </a:solidFill>
              </a:rPr>
              <a:t>Don</a:t>
            </a:r>
            <a:r>
              <a:rPr lang="ja-JP" altLang="en-US" sz="3200">
                <a:solidFill>
                  <a:srgbClr val="000000"/>
                </a:solidFill>
              </a:rPr>
              <a:t>’</a:t>
            </a:r>
            <a:r>
              <a:rPr lang="en-US" altLang="ja-JP" sz="3200">
                <a:solidFill>
                  <a:srgbClr val="000000"/>
                </a:solidFill>
              </a:rPr>
              <a:t>t Test</a:t>
            </a:r>
            <a:endParaRPr lang="en-US" altLang="en-MX" sz="3200" b="1"/>
          </a:p>
        </p:txBody>
      </p:sp>
      <p:sp>
        <p:nvSpPr>
          <p:cNvPr id="49159" name="Rectangle 8">
            <a:extLst>
              <a:ext uri="{FF2B5EF4-FFF2-40B4-BE49-F238E27FC236}">
                <a16:creationId xmlns:a16="http://schemas.microsoft.com/office/drawing/2014/main" id="{B097D580-0219-F04A-8859-2C621E349C0B}"/>
              </a:ext>
            </a:extLst>
          </p:cNvPr>
          <p:cNvSpPr>
            <a:spLocks noChangeArrowheads="1"/>
          </p:cNvSpPr>
          <p:nvPr/>
        </p:nvSpPr>
        <p:spPr bwMode="auto">
          <a:xfrm>
            <a:off x="6096000" y="4375150"/>
            <a:ext cx="533400" cy="501650"/>
          </a:xfrm>
          <a:prstGeom prst="rect">
            <a:avLst/>
          </a:prstGeom>
          <a:noFill/>
          <a:ln w="254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49160" name="Line 9">
            <a:extLst>
              <a:ext uri="{FF2B5EF4-FFF2-40B4-BE49-F238E27FC236}">
                <a16:creationId xmlns:a16="http://schemas.microsoft.com/office/drawing/2014/main" id="{1C22730F-5D3C-FF4A-8967-7469A61B1BC5}"/>
              </a:ext>
            </a:extLst>
          </p:cNvPr>
          <p:cNvSpPr>
            <a:spLocks noChangeShapeType="1"/>
          </p:cNvSpPr>
          <p:nvPr/>
        </p:nvSpPr>
        <p:spPr bwMode="auto">
          <a:xfrm>
            <a:off x="6324600" y="3824288"/>
            <a:ext cx="0" cy="53340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49161" name="Line 10">
            <a:extLst>
              <a:ext uri="{FF2B5EF4-FFF2-40B4-BE49-F238E27FC236}">
                <a16:creationId xmlns:a16="http://schemas.microsoft.com/office/drawing/2014/main" id="{3FE9E20D-20AD-3447-9511-719AD158606D}"/>
              </a:ext>
            </a:extLst>
          </p:cNvPr>
          <p:cNvSpPr>
            <a:spLocks noChangeShapeType="1"/>
          </p:cNvSpPr>
          <p:nvPr/>
        </p:nvSpPr>
        <p:spPr bwMode="auto">
          <a:xfrm>
            <a:off x="6318251" y="3854450"/>
            <a:ext cx="1014413"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49162" name="Line 11">
            <a:extLst>
              <a:ext uri="{FF2B5EF4-FFF2-40B4-BE49-F238E27FC236}">
                <a16:creationId xmlns:a16="http://schemas.microsoft.com/office/drawing/2014/main" id="{1F49775D-8C31-8B46-AE25-C2FB313C9CB0}"/>
              </a:ext>
            </a:extLst>
          </p:cNvPr>
          <p:cNvSpPr>
            <a:spLocks noChangeShapeType="1"/>
          </p:cNvSpPr>
          <p:nvPr/>
        </p:nvSpPr>
        <p:spPr bwMode="auto">
          <a:xfrm>
            <a:off x="6324601" y="5576888"/>
            <a:ext cx="1014413"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49163" name="Rectangle 12">
            <a:extLst>
              <a:ext uri="{FF2B5EF4-FFF2-40B4-BE49-F238E27FC236}">
                <a16:creationId xmlns:a16="http://schemas.microsoft.com/office/drawing/2014/main" id="{ACF87880-424F-2E43-A4B0-C321AC7D7295}"/>
              </a:ext>
            </a:extLst>
          </p:cNvPr>
          <p:cNvSpPr>
            <a:spLocks noChangeArrowheads="1"/>
          </p:cNvSpPr>
          <p:nvPr/>
        </p:nvSpPr>
        <p:spPr bwMode="auto">
          <a:xfrm>
            <a:off x="7412038" y="3595688"/>
            <a:ext cx="1256754"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3200">
                <a:solidFill>
                  <a:srgbClr val="000000"/>
                </a:solidFill>
              </a:rPr>
              <a:t>Spray</a:t>
            </a:r>
            <a:endParaRPr lang="en-US" altLang="en-MX" sz="3200" b="1"/>
          </a:p>
        </p:txBody>
      </p:sp>
      <p:sp>
        <p:nvSpPr>
          <p:cNvPr id="49164" name="Rectangle 13">
            <a:extLst>
              <a:ext uri="{FF2B5EF4-FFF2-40B4-BE49-F238E27FC236}">
                <a16:creationId xmlns:a16="http://schemas.microsoft.com/office/drawing/2014/main" id="{63DF7504-67C9-5447-AE51-B77320AD7816}"/>
              </a:ext>
            </a:extLst>
          </p:cNvPr>
          <p:cNvSpPr>
            <a:spLocks noChangeArrowheads="1"/>
          </p:cNvSpPr>
          <p:nvPr/>
        </p:nvSpPr>
        <p:spPr bwMode="auto">
          <a:xfrm>
            <a:off x="7315200" y="5272088"/>
            <a:ext cx="2441374"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3200">
                <a:solidFill>
                  <a:srgbClr val="000000"/>
                </a:solidFill>
              </a:rPr>
              <a:t>Don</a:t>
            </a:r>
            <a:r>
              <a:rPr lang="ja-JP" altLang="en-US" sz="3200">
                <a:solidFill>
                  <a:srgbClr val="000000"/>
                </a:solidFill>
              </a:rPr>
              <a:t>’</a:t>
            </a:r>
            <a:r>
              <a:rPr lang="en-US" altLang="ja-JP" sz="3200">
                <a:solidFill>
                  <a:srgbClr val="000000"/>
                </a:solidFill>
              </a:rPr>
              <a:t>t Spray</a:t>
            </a:r>
            <a:endParaRPr lang="en-US" altLang="en-MX" sz="3200">
              <a:solidFill>
                <a:srgbClr val="000000"/>
              </a:solidFill>
            </a:endParaRPr>
          </a:p>
        </p:txBody>
      </p:sp>
      <p:sp>
        <p:nvSpPr>
          <p:cNvPr id="197646" name="Rectangle 14">
            <a:extLst>
              <a:ext uri="{FF2B5EF4-FFF2-40B4-BE49-F238E27FC236}">
                <a16:creationId xmlns:a16="http://schemas.microsoft.com/office/drawing/2014/main" id="{B823C418-F9C9-4240-9BAC-1A0710A27B39}"/>
              </a:ext>
            </a:extLst>
          </p:cNvPr>
          <p:cNvSpPr>
            <a:spLocks noGrp="1" noChangeArrowheads="1"/>
          </p:cNvSpPr>
          <p:nvPr>
            <p:ph type="title"/>
          </p:nvPr>
        </p:nvSpPr>
        <p:spPr>
          <a:xfrm>
            <a:off x="824953" y="381000"/>
            <a:ext cx="9385847" cy="1219200"/>
          </a:xfrm>
        </p:spPr>
        <p:txBody>
          <a:bodyPr>
            <a:noAutofit/>
          </a:bodyPr>
          <a:lstStyle/>
          <a:p>
            <a:r>
              <a:rPr lang="en-US" altLang="en-MX" dirty="0">
                <a:ea typeface="ＭＳ Ｐゴシック" panose="020B0600070205080204" pitchFamily="34" charset="-128"/>
              </a:rPr>
              <a:t>Alternative Structure</a:t>
            </a:r>
            <a:br>
              <a:rPr lang="en-US" altLang="en-MX" dirty="0">
                <a:ea typeface="ＭＳ Ｐゴシック" panose="020B0600070205080204" pitchFamily="34" charset="-128"/>
              </a:rPr>
            </a:br>
            <a:r>
              <a:rPr lang="en-US" altLang="en-MX" dirty="0">
                <a:ea typeface="ＭＳ Ｐゴシック" panose="020B0600070205080204" pitchFamily="34" charset="-128"/>
              </a:rPr>
              <a:t>(extensive form)</a:t>
            </a:r>
          </a:p>
        </p:txBody>
      </p:sp>
      <p:sp>
        <p:nvSpPr>
          <p:cNvPr id="49166" name="Rectangle 15">
            <a:extLst>
              <a:ext uri="{FF2B5EF4-FFF2-40B4-BE49-F238E27FC236}">
                <a16:creationId xmlns:a16="http://schemas.microsoft.com/office/drawing/2014/main" id="{DE06EB38-16F4-E74B-A1EA-17F0EE7875A1}"/>
              </a:ext>
            </a:extLst>
          </p:cNvPr>
          <p:cNvSpPr>
            <a:spLocks noChangeArrowheads="1"/>
          </p:cNvSpPr>
          <p:nvPr/>
        </p:nvSpPr>
        <p:spPr bwMode="auto">
          <a:xfrm>
            <a:off x="2819400" y="3124200"/>
            <a:ext cx="533400" cy="501650"/>
          </a:xfrm>
          <a:prstGeom prst="rect">
            <a:avLst/>
          </a:prstGeom>
          <a:noFill/>
          <a:ln w="254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49167" name="Line 16">
            <a:extLst>
              <a:ext uri="{FF2B5EF4-FFF2-40B4-BE49-F238E27FC236}">
                <a16:creationId xmlns:a16="http://schemas.microsoft.com/office/drawing/2014/main" id="{BD0135D0-1E0D-7E48-A9D2-C6436661A3AA}"/>
              </a:ext>
            </a:extLst>
          </p:cNvPr>
          <p:cNvSpPr>
            <a:spLocks noChangeShapeType="1"/>
          </p:cNvSpPr>
          <p:nvPr/>
        </p:nvSpPr>
        <p:spPr bwMode="auto">
          <a:xfrm>
            <a:off x="6324600" y="4876800"/>
            <a:ext cx="0" cy="700088"/>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Tree>
    <p:extLst>
      <p:ext uri="{BB962C8B-B14F-4D97-AF65-F5344CB8AC3E}">
        <p14:creationId xmlns:p14="http://schemas.microsoft.com/office/powerpoint/2010/main" val="2180063653"/>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a:extLst>
              <a:ext uri="{FF2B5EF4-FFF2-40B4-BE49-F238E27FC236}">
                <a16:creationId xmlns:a16="http://schemas.microsoft.com/office/drawing/2014/main" id="{25E9E334-2243-5A40-B413-49CBEF7DE868}"/>
              </a:ext>
            </a:extLst>
          </p:cNvPr>
          <p:cNvSpPr>
            <a:spLocks noGrp="1" noChangeArrowheads="1"/>
          </p:cNvSpPr>
          <p:nvPr>
            <p:ph type="title"/>
          </p:nvPr>
        </p:nvSpPr>
        <p:spPr>
          <a:xfrm>
            <a:off x="745435" y="393700"/>
            <a:ext cx="9465365" cy="792162"/>
          </a:xfrm>
        </p:spPr>
        <p:txBody>
          <a:bodyPr/>
          <a:lstStyle/>
          <a:p>
            <a:pPr eaLnBrk="1" hangingPunct="1"/>
            <a:r>
              <a:rPr lang="en-US" altLang="en-MX">
                <a:ea typeface="ＭＳ Ｐゴシック" panose="020B0600070205080204" pitchFamily="34" charset="-128"/>
              </a:rPr>
              <a:t>What can happen if we spray?</a:t>
            </a:r>
          </a:p>
        </p:txBody>
      </p:sp>
      <p:sp>
        <p:nvSpPr>
          <p:cNvPr id="51202" name="Line 3">
            <a:extLst>
              <a:ext uri="{FF2B5EF4-FFF2-40B4-BE49-F238E27FC236}">
                <a16:creationId xmlns:a16="http://schemas.microsoft.com/office/drawing/2014/main" id="{0F056146-6B15-7C41-AC96-B204D6F1E55E}"/>
              </a:ext>
            </a:extLst>
          </p:cNvPr>
          <p:cNvSpPr>
            <a:spLocks noChangeShapeType="1"/>
          </p:cNvSpPr>
          <p:nvPr/>
        </p:nvSpPr>
        <p:spPr bwMode="auto">
          <a:xfrm>
            <a:off x="3559175" y="2311400"/>
            <a:ext cx="1447800"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51203" name="Rectangle 4">
            <a:extLst>
              <a:ext uri="{FF2B5EF4-FFF2-40B4-BE49-F238E27FC236}">
                <a16:creationId xmlns:a16="http://schemas.microsoft.com/office/drawing/2014/main" id="{7ED4DBD2-5D35-704A-BC25-C206AA2A4AB8}"/>
              </a:ext>
            </a:extLst>
          </p:cNvPr>
          <p:cNvSpPr>
            <a:spLocks noChangeArrowheads="1"/>
          </p:cNvSpPr>
          <p:nvPr/>
        </p:nvSpPr>
        <p:spPr bwMode="auto">
          <a:xfrm>
            <a:off x="3559176" y="1905001"/>
            <a:ext cx="13763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600">
                <a:solidFill>
                  <a:srgbClr val="000000"/>
                </a:solidFill>
              </a:rPr>
              <a:t>Outbreak</a:t>
            </a:r>
          </a:p>
        </p:txBody>
      </p:sp>
      <p:sp>
        <p:nvSpPr>
          <p:cNvPr id="51204" name="Rectangle 5">
            <a:extLst>
              <a:ext uri="{FF2B5EF4-FFF2-40B4-BE49-F238E27FC236}">
                <a16:creationId xmlns:a16="http://schemas.microsoft.com/office/drawing/2014/main" id="{1DA5BBA3-652D-6743-8ED1-47B7FFC5265B}"/>
              </a:ext>
            </a:extLst>
          </p:cNvPr>
          <p:cNvSpPr>
            <a:spLocks noChangeArrowheads="1"/>
          </p:cNvSpPr>
          <p:nvPr/>
        </p:nvSpPr>
        <p:spPr bwMode="auto">
          <a:xfrm>
            <a:off x="3559176" y="3657601"/>
            <a:ext cx="1903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600">
                <a:solidFill>
                  <a:srgbClr val="000000"/>
                </a:solidFill>
              </a:rPr>
              <a:t>No Outbreak</a:t>
            </a:r>
          </a:p>
        </p:txBody>
      </p:sp>
      <p:sp>
        <p:nvSpPr>
          <p:cNvPr id="51205" name="Freeform 6">
            <a:extLst>
              <a:ext uri="{FF2B5EF4-FFF2-40B4-BE49-F238E27FC236}">
                <a16:creationId xmlns:a16="http://schemas.microsoft.com/office/drawing/2014/main" id="{4BE1CDFB-BA1A-B345-A2A2-8D8571A83ECD}"/>
              </a:ext>
            </a:extLst>
          </p:cNvPr>
          <p:cNvSpPr>
            <a:spLocks/>
          </p:cNvSpPr>
          <p:nvPr/>
        </p:nvSpPr>
        <p:spPr bwMode="auto">
          <a:xfrm>
            <a:off x="3484563" y="2311400"/>
            <a:ext cx="303212" cy="598488"/>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1206" name="Freeform 7">
            <a:extLst>
              <a:ext uri="{FF2B5EF4-FFF2-40B4-BE49-F238E27FC236}">
                <a16:creationId xmlns:a16="http://schemas.microsoft.com/office/drawing/2014/main" id="{6A29B635-3EDB-814A-9685-EEB436CE45BC}"/>
              </a:ext>
            </a:extLst>
          </p:cNvPr>
          <p:cNvSpPr>
            <a:spLocks/>
          </p:cNvSpPr>
          <p:nvPr/>
        </p:nvSpPr>
        <p:spPr bwMode="auto">
          <a:xfrm>
            <a:off x="3482976" y="3003550"/>
            <a:ext cx="303213" cy="1035050"/>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1207" name="Line 8">
            <a:extLst>
              <a:ext uri="{FF2B5EF4-FFF2-40B4-BE49-F238E27FC236}">
                <a16:creationId xmlns:a16="http://schemas.microsoft.com/office/drawing/2014/main" id="{BCFDD698-83B3-8D46-B980-CFE41B2BB459}"/>
              </a:ext>
            </a:extLst>
          </p:cNvPr>
          <p:cNvSpPr>
            <a:spLocks noChangeShapeType="1"/>
          </p:cNvSpPr>
          <p:nvPr/>
        </p:nvSpPr>
        <p:spPr bwMode="auto">
          <a:xfrm>
            <a:off x="2208213" y="2979739"/>
            <a:ext cx="1123950" cy="15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51208" name="Oval 9">
            <a:extLst>
              <a:ext uri="{FF2B5EF4-FFF2-40B4-BE49-F238E27FC236}">
                <a16:creationId xmlns:a16="http://schemas.microsoft.com/office/drawing/2014/main" id="{46206565-633B-BF40-870A-DAD225B2AC3F}"/>
              </a:ext>
            </a:extLst>
          </p:cNvPr>
          <p:cNvSpPr>
            <a:spLocks noChangeArrowheads="1"/>
          </p:cNvSpPr>
          <p:nvPr/>
        </p:nvSpPr>
        <p:spPr bwMode="auto">
          <a:xfrm>
            <a:off x="3321051" y="2819400"/>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1209" name="Rectangle 10">
            <a:extLst>
              <a:ext uri="{FF2B5EF4-FFF2-40B4-BE49-F238E27FC236}">
                <a16:creationId xmlns:a16="http://schemas.microsoft.com/office/drawing/2014/main" id="{DA35A3BB-A06C-FE4F-9B0C-FBD645621C1C}"/>
              </a:ext>
            </a:extLst>
          </p:cNvPr>
          <p:cNvSpPr>
            <a:spLocks noChangeArrowheads="1"/>
          </p:cNvSpPr>
          <p:nvPr/>
        </p:nvSpPr>
        <p:spPr bwMode="auto">
          <a:xfrm>
            <a:off x="2339975" y="2514601"/>
            <a:ext cx="1219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600">
                <a:solidFill>
                  <a:srgbClr val="000000"/>
                </a:solidFill>
              </a:rPr>
              <a:t>Spray</a:t>
            </a:r>
          </a:p>
        </p:txBody>
      </p:sp>
      <p:sp>
        <p:nvSpPr>
          <p:cNvPr id="51210" name="Freeform 11">
            <a:extLst>
              <a:ext uri="{FF2B5EF4-FFF2-40B4-BE49-F238E27FC236}">
                <a16:creationId xmlns:a16="http://schemas.microsoft.com/office/drawing/2014/main" id="{41B5A11E-E9E6-F147-B76D-D6200C11DB4D}"/>
              </a:ext>
            </a:extLst>
          </p:cNvPr>
          <p:cNvSpPr>
            <a:spLocks/>
          </p:cNvSpPr>
          <p:nvPr/>
        </p:nvSpPr>
        <p:spPr bwMode="auto">
          <a:xfrm>
            <a:off x="5160963" y="1992314"/>
            <a:ext cx="303212" cy="369887"/>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1211" name="Freeform 12">
            <a:extLst>
              <a:ext uri="{FF2B5EF4-FFF2-40B4-BE49-F238E27FC236}">
                <a16:creationId xmlns:a16="http://schemas.microsoft.com/office/drawing/2014/main" id="{2F9485AF-A9D1-8043-810D-61A5FABD845F}"/>
              </a:ext>
            </a:extLst>
          </p:cNvPr>
          <p:cNvSpPr>
            <a:spLocks/>
          </p:cNvSpPr>
          <p:nvPr/>
        </p:nvSpPr>
        <p:spPr bwMode="auto">
          <a:xfrm>
            <a:off x="5160963" y="2438400"/>
            <a:ext cx="303212" cy="609600"/>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1212" name="Line 13">
            <a:extLst>
              <a:ext uri="{FF2B5EF4-FFF2-40B4-BE49-F238E27FC236}">
                <a16:creationId xmlns:a16="http://schemas.microsoft.com/office/drawing/2014/main" id="{B6FEDBC2-A779-7C4C-ABDF-622BDBDD36E6}"/>
              </a:ext>
            </a:extLst>
          </p:cNvPr>
          <p:cNvSpPr>
            <a:spLocks noChangeShapeType="1"/>
          </p:cNvSpPr>
          <p:nvPr/>
        </p:nvSpPr>
        <p:spPr bwMode="auto">
          <a:xfrm>
            <a:off x="2035176" y="5075238"/>
            <a:ext cx="263207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51213" name="Rectangle 14">
            <a:extLst>
              <a:ext uri="{FF2B5EF4-FFF2-40B4-BE49-F238E27FC236}">
                <a16:creationId xmlns:a16="http://schemas.microsoft.com/office/drawing/2014/main" id="{6009B63B-1E7D-8A4E-BE67-B30873ABB756}"/>
              </a:ext>
            </a:extLst>
          </p:cNvPr>
          <p:cNvSpPr>
            <a:spLocks noChangeArrowheads="1"/>
          </p:cNvSpPr>
          <p:nvPr/>
        </p:nvSpPr>
        <p:spPr bwMode="auto">
          <a:xfrm>
            <a:off x="2111375" y="6019801"/>
            <a:ext cx="1765300"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600"/>
              <a:t>Don</a:t>
            </a:r>
            <a:r>
              <a:rPr lang="ja-JP" altLang="en-US" sz="2600"/>
              <a:t>’</a:t>
            </a:r>
            <a:r>
              <a:rPr lang="en-US" altLang="ja-JP" sz="2600"/>
              <a:t>t Spray</a:t>
            </a:r>
            <a:endParaRPr lang="en-US" altLang="en-MX" sz="2600"/>
          </a:p>
        </p:txBody>
      </p:sp>
      <p:sp>
        <p:nvSpPr>
          <p:cNvPr id="51214" name="Line 15">
            <a:extLst>
              <a:ext uri="{FF2B5EF4-FFF2-40B4-BE49-F238E27FC236}">
                <a16:creationId xmlns:a16="http://schemas.microsoft.com/office/drawing/2014/main" id="{276C0F16-F408-3746-BBFC-2FD72E63F602}"/>
              </a:ext>
            </a:extLst>
          </p:cNvPr>
          <p:cNvSpPr>
            <a:spLocks noChangeShapeType="1"/>
          </p:cNvSpPr>
          <p:nvPr/>
        </p:nvSpPr>
        <p:spPr bwMode="auto">
          <a:xfrm>
            <a:off x="2373313" y="6465889"/>
            <a:ext cx="14287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51215" name="Freeform 16">
            <a:extLst>
              <a:ext uri="{FF2B5EF4-FFF2-40B4-BE49-F238E27FC236}">
                <a16:creationId xmlns:a16="http://schemas.microsoft.com/office/drawing/2014/main" id="{C4970A0A-2312-5D48-AF94-1EF2249405A7}"/>
              </a:ext>
            </a:extLst>
          </p:cNvPr>
          <p:cNvSpPr>
            <a:spLocks/>
          </p:cNvSpPr>
          <p:nvPr/>
        </p:nvSpPr>
        <p:spPr bwMode="auto">
          <a:xfrm>
            <a:off x="2070101" y="2971800"/>
            <a:ext cx="303213" cy="1893888"/>
          </a:xfrm>
          <a:custGeom>
            <a:avLst/>
            <a:gdLst>
              <a:gd name="T0" fmla="*/ 0 w 14"/>
              <a:gd name="T1" fmla="*/ 2147483647 h 87"/>
              <a:gd name="T2" fmla="*/ 0 w 14"/>
              <a:gd name="T3" fmla="*/ 0 h 87"/>
              <a:gd name="T4" fmla="*/ 2147483647 w 14"/>
              <a:gd name="T5" fmla="*/ 0 h 87"/>
              <a:gd name="T6" fmla="*/ 0 60000 65536"/>
              <a:gd name="T7" fmla="*/ 0 60000 65536"/>
              <a:gd name="T8" fmla="*/ 0 60000 65536"/>
              <a:gd name="T9" fmla="*/ 0 w 14"/>
              <a:gd name="T10" fmla="*/ 0 h 87"/>
              <a:gd name="T11" fmla="*/ 14 w 14"/>
              <a:gd name="T12" fmla="*/ 87 h 87"/>
            </a:gdLst>
            <a:ahLst/>
            <a:cxnLst>
              <a:cxn ang="T6">
                <a:pos x="T0" y="T1"/>
              </a:cxn>
              <a:cxn ang="T7">
                <a:pos x="T2" y="T3"/>
              </a:cxn>
              <a:cxn ang="T8">
                <a:pos x="T4" y="T5"/>
              </a:cxn>
            </a:cxnLst>
            <a:rect l="T9" t="T10" r="T11" b="T12"/>
            <a:pathLst>
              <a:path w="14" h="87">
                <a:moveTo>
                  <a:pt x="0" y="8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1216" name="Freeform 17">
            <a:extLst>
              <a:ext uri="{FF2B5EF4-FFF2-40B4-BE49-F238E27FC236}">
                <a16:creationId xmlns:a16="http://schemas.microsoft.com/office/drawing/2014/main" id="{38CF710F-4F0A-5E45-AA74-51CBDD0B5114}"/>
              </a:ext>
            </a:extLst>
          </p:cNvPr>
          <p:cNvSpPr>
            <a:spLocks/>
          </p:cNvSpPr>
          <p:nvPr/>
        </p:nvSpPr>
        <p:spPr bwMode="auto">
          <a:xfrm>
            <a:off x="2070101" y="4549776"/>
            <a:ext cx="303213" cy="1916113"/>
          </a:xfrm>
          <a:custGeom>
            <a:avLst/>
            <a:gdLst>
              <a:gd name="T0" fmla="*/ 0 w 14"/>
              <a:gd name="T1" fmla="*/ 0 h 88"/>
              <a:gd name="T2" fmla="*/ 0 w 14"/>
              <a:gd name="T3" fmla="*/ 2147483647 h 88"/>
              <a:gd name="T4" fmla="*/ 2147483647 w 14"/>
              <a:gd name="T5" fmla="*/ 2147483647 h 88"/>
              <a:gd name="T6" fmla="*/ 0 60000 65536"/>
              <a:gd name="T7" fmla="*/ 0 60000 65536"/>
              <a:gd name="T8" fmla="*/ 0 60000 65536"/>
              <a:gd name="T9" fmla="*/ 0 w 14"/>
              <a:gd name="T10" fmla="*/ 0 h 88"/>
              <a:gd name="T11" fmla="*/ 14 w 14"/>
              <a:gd name="T12" fmla="*/ 88 h 88"/>
            </a:gdLst>
            <a:ahLst/>
            <a:cxnLst>
              <a:cxn ang="T6">
                <a:pos x="T0" y="T1"/>
              </a:cxn>
              <a:cxn ang="T7">
                <a:pos x="T2" y="T3"/>
              </a:cxn>
              <a:cxn ang="T8">
                <a:pos x="T4" y="T5"/>
              </a:cxn>
            </a:cxnLst>
            <a:rect l="T9" t="T10" r="T11" b="T12"/>
            <a:pathLst>
              <a:path w="14" h="88">
                <a:moveTo>
                  <a:pt x="0" y="0"/>
                </a:moveTo>
                <a:lnTo>
                  <a:pt x="0" y="88"/>
                </a:lnTo>
                <a:lnTo>
                  <a:pt x="14" y="88"/>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1217" name="Line 19">
            <a:extLst>
              <a:ext uri="{FF2B5EF4-FFF2-40B4-BE49-F238E27FC236}">
                <a16:creationId xmlns:a16="http://schemas.microsoft.com/office/drawing/2014/main" id="{16CF67DA-4935-4140-890D-E4C2F9E93E08}"/>
              </a:ext>
            </a:extLst>
          </p:cNvPr>
          <p:cNvSpPr>
            <a:spLocks noChangeShapeType="1"/>
          </p:cNvSpPr>
          <p:nvPr/>
        </p:nvSpPr>
        <p:spPr bwMode="auto">
          <a:xfrm>
            <a:off x="3649663" y="4038600"/>
            <a:ext cx="4113212"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51218" name="Oval 20">
            <a:extLst>
              <a:ext uri="{FF2B5EF4-FFF2-40B4-BE49-F238E27FC236}">
                <a16:creationId xmlns:a16="http://schemas.microsoft.com/office/drawing/2014/main" id="{16F6B76C-26A2-A649-A7E1-21A523A42EA5}"/>
              </a:ext>
            </a:extLst>
          </p:cNvPr>
          <p:cNvSpPr>
            <a:spLocks noChangeArrowheads="1"/>
          </p:cNvSpPr>
          <p:nvPr/>
        </p:nvSpPr>
        <p:spPr bwMode="auto">
          <a:xfrm>
            <a:off x="5006976" y="2176464"/>
            <a:ext cx="238125" cy="261937"/>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1219" name="Rectangle 21">
            <a:extLst>
              <a:ext uri="{FF2B5EF4-FFF2-40B4-BE49-F238E27FC236}">
                <a16:creationId xmlns:a16="http://schemas.microsoft.com/office/drawing/2014/main" id="{DD8814EA-46B5-B94C-B91D-393DC997CAA7}"/>
              </a:ext>
            </a:extLst>
          </p:cNvPr>
          <p:cNvSpPr>
            <a:spLocks noChangeArrowheads="1"/>
          </p:cNvSpPr>
          <p:nvPr/>
        </p:nvSpPr>
        <p:spPr bwMode="auto">
          <a:xfrm>
            <a:off x="5334001" y="1600201"/>
            <a:ext cx="23399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600">
                <a:solidFill>
                  <a:srgbClr val="000000"/>
                </a:solidFill>
              </a:rPr>
              <a:t>Encephalitis</a:t>
            </a:r>
          </a:p>
        </p:txBody>
      </p:sp>
      <p:sp>
        <p:nvSpPr>
          <p:cNvPr id="51220" name="Line 22">
            <a:extLst>
              <a:ext uri="{FF2B5EF4-FFF2-40B4-BE49-F238E27FC236}">
                <a16:creationId xmlns:a16="http://schemas.microsoft.com/office/drawing/2014/main" id="{0E76FEC5-EFD0-624B-9FDA-0413FBD54D48}"/>
              </a:ext>
            </a:extLst>
          </p:cNvPr>
          <p:cNvSpPr>
            <a:spLocks noChangeShapeType="1"/>
          </p:cNvSpPr>
          <p:nvPr/>
        </p:nvSpPr>
        <p:spPr bwMode="auto">
          <a:xfrm>
            <a:off x="5402263" y="1992313"/>
            <a:ext cx="24384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51221" name="Line 23">
            <a:extLst>
              <a:ext uri="{FF2B5EF4-FFF2-40B4-BE49-F238E27FC236}">
                <a16:creationId xmlns:a16="http://schemas.microsoft.com/office/drawing/2014/main" id="{6280D422-7C9B-9345-9938-FBAE30F88329}"/>
              </a:ext>
            </a:extLst>
          </p:cNvPr>
          <p:cNvSpPr>
            <a:spLocks noChangeShapeType="1"/>
          </p:cNvSpPr>
          <p:nvPr/>
        </p:nvSpPr>
        <p:spPr bwMode="auto">
          <a:xfrm>
            <a:off x="5387975" y="3048000"/>
            <a:ext cx="24384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51222" name="Rectangle 27">
            <a:extLst>
              <a:ext uri="{FF2B5EF4-FFF2-40B4-BE49-F238E27FC236}">
                <a16:creationId xmlns:a16="http://schemas.microsoft.com/office/drawing/2014/main" id="{015C94DE-AEAD-134F-9DA5-44A1138C3AE9}"/>
              </a:ext>
            </a:extLst>
          </p:cNvPr>
          <p:cNvSpPr>
            <a:spLocks noChangeArrowheads="1"/>
          </p:cNvSpPr>
          <p:nvPr/>
        </p:nvSpPr>
        <p:spPr bwMode="auto">
          <a:xfrm>
            <a:off x="5387975" y="2667001"/>
            <a:ext cx="2590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600">
                <a:solidFill>
                  <a:srgbClr val="000000"/>
                </a:solidFill>
              </a:rPr>
              <a:t>No Encephalitis</a:t>
            </a:r>
          </a:p>
        </p:txBody>
      </p:sp>
      <p:sp>
        <p:nvSpPr>
          <p:cNvPr id="51223" name="Rectangle 28">
            <a:extLst>
              <a:ext uri="{FF2B5EF4-FFF2-40B4-BE49-F238E27FC236}">
                <a16:creationId xmlns:a16="http://schemas.microsoft.com/office/drawing/2014/main" id="{B0A0299E-5BF1-5E46-84B8-7CA725BBB063}"/>
              </a:ext>
            </a:extLst>
          </p:cNvPr>
          <p:cNvSpPr>
            <a:spLocks noChangeArrowheads="1"/>
          </p:cNvSpPr>
          <p:nvPr/>
        </p:nvSpPr>
        <p:spPr bwMode="auto">
          <a:xfrm>
            <a:off x="2111375" y="4495800"/>
            <a:ext cx="26416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600"/>
              <a:t>Test Mosquitoes</a:t>
            </a:r>
          </a:p>
        </p:txBody>
      </p:sp>
      <p:sp>
        <p:nvSpPr>
          <p:cNvPr id="51224" name="Oval 29">
            <a:extLst>
              <a:ext uri="{FF2B5EF4-FFF2-40B4-BE49-F238E27FC236}">
                <a16:creationId xmlns:a16="http://schemas.microsoft.com/office/drawing/2014/main" id="{397688AE-84A7-8740-8C88-D04FF8B923DC}"/>
              </a:ext>
            </a:extLst>
          </p:cNvPr>
          <p:cNvSpPr>
            <a:spLocks noChangeArrowheads="1"/>
          </p:cNvSpPr>
          <p:nvPr/>
        </p:nvSpPr>
        <p:spPr bwMode="auto">
          <a:xfrm>
            <a:off x="4602164" y="4922838"/>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1225" name="Oval 30">
            <a:extLst>
              <a:ext uri="{FF2B5EF4-FFF2-40B4-BE49-F238E27FC236}">
                <a16:creationId xmlns:a16="http://schemas.microsoft.com/office/drawing/2014/main" id="{676E77A1-2CEB-ED45-87E9-9A66D4C4CFEE}"/>
              </a:ext>
            </a:extLst>
          </p:cNvPr>
          <p:cNvSpPr>
            <a:spLocks noChangeArrowheads="1"/>
          </p:cNvSpPr>
          <p:nvPr/>
        </p:nvSpPr>
        <p:spPr bwMode="auto">
          <a:xfrm>
            <a:off x="3778251" y="6324600"/>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1226" name="Rectangle 18">
            <a:extLst>
              <a:ext uri="{FF2B5EF4-FFF2-40B4-BE49-F238E27FC236}">
                <a16:creationId xmlns:a16="http://schemas.microsoft.com/office/drawing/2014/main" id="{3EBD4E2D-9784-434B-9A74-FC92383EF38A}"/>
              </a:ext>
            </a:extLst>
          </p:cNvPr>
          <p:cNvSpPr>
            <a:spLocks noChangeArrowheads="1"/>
          </p:cNvSpPr>
          <p:nvPr/>
        </p:nvSpPr>
        <p:spPr bwMode="auto">
          <a:xfrm>
            <a:off x="1882776" y="4922839"/>
            <a:ext cx="238125" cy="261937"/>
          </a:xfrm>
          <a:prstGeom prst="rect">
            <a:avLst/>
          </a:prstGeom>
          <a:solidFill>
            <a:schemeClr val="bg1"/>
          </a:solidFill>
          <a:ln w="25400">
            <a:solidFill>
              <a:schemeClr val="accent2"/>
            </a:solidFill>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grpSp>
        <p:nvGrpSpPr>
          <p:cNvPr id="51227" name="Group 59">
            <a:extLst>
              <a:ext uri="{FF2B5EF4-FFF2-40B4-BE49-F238E27FC236}">
                <a16:creationId xmlns:a16="http://schemas.microsoft.com/office/drawing/2014/main" id="{DEBEEFD2-380F-5040-8684-6B101D175182}"/>
              </a:ext>
            </a:extLst>
          </p:cNvPr>
          <p:cNvGrpSpPr>
            <a:grpSpLocks/>
          </p:cNvGrpSpPr>
          <p:nvPr/>
        </p:nvGrpSpPr>
        <p:grpSpPr bwMode="auto">
          <a:xfrm>
            <a:off x="7875589" y="3400425"/>
            <a:ext cx="1673225" cy="990600"/>
            <a:chOff x="4010" y="2832"/>
            <a:chExt cx="1054" cy="624"/>
          </a:xfrm>
        </p:grpSpPr>
        <p:sp>
          <p:nvSpPr>
            <p:cNvPr id="51257" name="Freeform 53">
              <a:extLst>
                <a:ext uri="{FF2B5EF4-FFF2-40B4-BE49-F238E27FC236}">
                  <a16:creationId xmlns:a16="http://schemas.microsoft.com/office/drawing/2014/main" id="{A394FFFE-7FAA-1844-ADA5-A73BFBA1ACC9}"/>
                </a:ext>
              </a:extLst>
            </p:cNvPr>
            <p:cNvSpPr>
              <a:spLocks/>
            </p:cNvSpPr>
            <p:nvPr/>
          </p:nvSpPr>
          <p:spPr bwMode="auto">
            <a:xfrm>
              <a:off x="4010" y="3072"/>
              <a:ext cx="191" cy="144"/>
            </a:xfrm>
            <a:custGeom>
              <a:avLst/>
              <a:gdLst>
                <a:gd name="T0" fmla="*/ 0 w 14"/>
                <a:gd name="T1" fmla="*/ 53201325 h 17"/>
                <a:gd name="T2" fmla="*/ 0 w 14"/>
                <a:gd name="T3" fmla="*/ 0 h 17"/>
                <a:gd name="T4" fmla="*/ 1231680499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1258" name="Freeform 54">
              <a:extLst>
                <a:ext uri="{FF2B5EF4-FFF2-40B4-BE49-F238E27FC236}">
                  <a16:creationId xmlns:a16="http://schemas.microsoft.com/office/drawing/2014/main" id="{2E564B83-190B-534A-8AA8-9AFFBA93DA22}"/>
                </a:ext>
              </a:extLst>
            </p:cNvPr>
            <p:cNvSpPr>
              <a:spLocks/>
            </p:cNvSpPr>
            <p:nvPr/>
          </p:nvSpPr>
          <p:spPr bwMode="auto">
            <a:xfrm>
              <a:off x="4010" y="3120"/>
              <a:ext cx="191" cy="240"/>
            </a:xfrm>
            <a:custGeom>
              <a:avLst/>
              <a:gdLst>
                <a:gd name="T0" fmla="*/ 0 w 14"/>
                <a:gd name="T1" fmla="*/ 0 h 16"/>
                <a:gd name="T2" fmla="*/ 0 w 14"/>
                <a:gd name="T3" fmla="*/ 2147483647 h 16"/>
                <a:gd name="T4" fmla="*/ 1231680499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1259" name="Line 55">
              <a:extLst>
                <a:ext uri="{FF2B5EF4-FFF2-40B4-BE49-F238E27FC236}">
                  <a16:creationId xmlns:a16="http://schemas.microsoft.com/office/drawing/2014/main" id="{9CA3FF14-4671-A343-A068-2689A89E47A8}"/>
                </a:ext>
              </a:extLst>
            </p:cNvPr>
            <p:cNvSpPr>
              <a:spLocks noChangeShapeType="1"/>
            </p:cNvSpPr>
            <p:nvPr/>
          </p:nvSpPr>
          <p:spPr bwMode="auto">
            <a:xfrm>
              <a:off x="4075" y="3072"/>
              <a:ext cx="912"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51260" name="Line 56">
              <a:extLst>
                <a:ext uri="{FF2B5EF4-FFF2-40B4-BE49-F238E27FC236}">
                  <a16:creationId xmlns:a16="http://schemas.microsoft.com/office/drawing/2014/main" id="{50804183-D8DA-AE42-ACF4-C7F1A1673636}"/>
                </a:ext>
              </a:extLst>
            </p:cNvPr>
            <p:cNvSpPr>
              <a:spLocks noChangeShapeType="1"/>
            </p:cNvSpPr>
            <p:nvPr/>
          </p:nvSpPr>
          <p:spPr bwMode="auto">
            <a:xfrm>
              <a:off x="4075" y="3360"/>
              <a:ext cx="912"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51261" name="Rectangle 57">
              <a:extLst>
                <a:ext uri="{FF2B5EF4-FFF2-40B4-BE49-F238E27FC236}">
                  <a16:creationId xmlns:a16="http://schemas.microsoft.com/office/drawing/2014/main" id="{65007326-03BE-CE42-A977-EA3F6E74794E}"/>
                </a:ext>
              </a:extLst>
            </p:cNvPr>
            <p:cNvSpPr>
              <a:spLocks noChangeArrowheads="1"/>
            </p:cNvSpPr>
            <p:nvPr/>
          </p:nvSpPr>
          <p:spPr bwMode="auto">
            <a:xfrm>
              <a:off x="4128" y="2832"/>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600">
                  <a:solidFill>
                    <a:srgbClr val="000000"/>
                  </a:solidFill>
                </a:rPr>
                <a:t>Die</a:t>
              </a:r>
            </a:p>
          </p:txBody>
        </p:sp>
        <p:sp>
          <p:nvSpPr>
            <p:cNvPr id="51262" name="Rectangle 58">
              <a:extLst>
                <a:ext uri="{FF2B5EF4-FFF2-40B4-BE49-F238E27FC236}">
                  <a16:creationId xmlns:a16="http://schemas.microsoft.com/office/drawing/2014/main" id="{14326895-FE06-814B-A06B-17B6C7227C65}"/>
                </a:ext>
              </a:extLst>
            </p:cNvPr>
            <p:cNvSpPr>
              <a:spLocks noChangeArrowheads="1"/>
            </p:cNvSpPr>
            <p:nvPr/>
          </p:nvSpPr>
          <p:spPr bwMode="auto">
            <a:xfrm>
              <a:off x="4128" y="3120"/>
              <a:ext cx="71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600">
                  <a:solidFill>
                    <a:srgbClr val="000000"/>
                  </a:solidFill>
                </a:rPr>
                <a:t>Survive</a:t>
              </a:r>
            </a:p>
          </p:txBody>
        </p:sp>
        <p:sp>
          <p:nvSpPr>
            <p:cNvPr id="51263" name="AutoShape 52">
              <a:extLst>
                <a:ext uri="{FF2B5EF4-FFF2-40B4-BE49-F238E27FC236}">
                  <a16:creationId xmlns:a16="http://schemas.microsoft.com/office/drawing/2014/main" id="{05499504-1C66-7741-BE8D-05811CCD3B06}"/>
                </a:ext>
              </a:extLst>
            </p:cNvPr>
            <p:cNvSpPr>
              <a:spLocks noChangeArrowheads="1"/>
            </p:cNvSpPr>
            <p:nvPr/>
          </p:nvSpPr>
          <p:spPr bwMode="auto">
            <a:xfrm>
              <a:off x="4872" y="3264"/>
              <a:ext cx="192" cy="192"/>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1264" name="AutoShape 51">
              <a:extLst>
                <a:ext uri="{FF2B5EF4-FFF2-40B4-BE49-F238E27FC236}">
                  <a16:creationId xmlns:a16="http://schemas.microsoft.com/office/drawing/2014/main" id="{1F2398BE-00B0-B944-BDB4-B3E3392EAFEE}"/>
                </a:ext>
              </a:extLst>
            </p:cNvPr>
            <p:cNvSpPr>
              <a:spLocks noChangeArrowheads="1"/>
            </p:cNvSpPr>
            <p:nvPr/>
          </p:nvSpPr>
          <p:spPr bwMode="auto">
            <a:xfrm>
              <a:off x="4872" y="2976"/>
              <a:ext cx="192" cy="192"/>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grpSp>
      <p:grpSp>
        <p:nvGrpSpPr>
          <p:cNvPr id="51228" name="Group 60">
            <a:extLst>
              <a:ext uri="{FF2B5EF4-FFF2-40B4-BE49-F238E27FC236}">
                <a16:creationId xmlns:a16="http://schemas.microsoft.com/office/drawing/2014/main" id="{605F8E05-5332-124E-8826-38670C200468}"/>
              </a:ext>
            </a:extLst>
          </p:cNvPr>
          <p:cNvGrpSpPr>
            <a:grpSpLocks/>
          </p:cNvGrpSpPr>
          <p:nvPr/>
        </p:nvGrpSpPr>
        <p:grpSpPr bwMode="auto">
          <a:xfrm>
            <a:off x="7875589" y="2413000"/>
            <a:ext cx="1673225" cy="990600"/>
            <a:chOff x="4010" y="2832"/>
            <a:chExt cx="1054" cy="624"/>
          </a:xfrm>
        </p:grpSpPr>
        <p:sp>
          <p:nvSpPr>
            <p:cNvPr id="51249" name="Freeform 61">
              <a:extLst>
                <a:ext uri="{FF2B5EF4-FFF2-40B4-BE49-F238E27FC236}">
                  <a16:creationId xmlns:a16="http://schemas.microsoft.com/office/drawing/2014/main" id="{F6721430-4D6E-5C44-A4D8-7D4E0BB596B3}"/>
                </a:ext>
              </a:extLst>
            </p:cNvPr>
            <p:cNvSpPr>
              <a:spLocks/>
            </p:cNvSpPr>
            <p:nvPr/>
          </p:nvSpPr>
          <p:spPr bwMode="auto">
            <a:xfrm>
              <a:off x="4010" y="3072"/>
              <a:ext cx="191" cy="144"/>
            </a:xfrm>
            <a:custGeom>
              <a:avLst/>
              <a:gdLst>
                <a:gd name="T0" fmla="*/ 0 w 14"/>
                <a:gd name="T1" fmla="*/ 53201325 h 17"/>
                <a:gd name="T2" fmla="*/ 0 w 14"/>
                <a:gd name="T3" fmla="*/ 0 h 17"/>
                <a:gd name="T4" fmla="*/ 1231680499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1250" name="Freeform 62">
              <a:extLst>
                <a:ext uri="{FF2B5EF4-FFF2-40B4-BE49-F238E27FC236}">
                  <a16:creationId xmlns:a16="http://schemas.microsoft.com/office/drawing/2014/main" id="{3F8F3417-3EFD-2C47-A8A4-387ADB74DE2D}"/>
                </a:ext>
              </a:extLst>
            </p:cNvPr>
            <p:cNvSpPr>
              <a:spLocks/>
            </p:cNvSpPr>
            <p:nvPr/>
          </p:nvSpPr>
          <p:spPr bwMode="auto">
            <a:xfrm>
              <a:off x="4010" y="3120"/>
              <a:ext cx="191" cy="240"/>
            </a:xfrm>
            <a:custGeom>
              <a:avLst/>
              <a:gdLst>
                <a:gd name="T0" fmla="*/ 0 w 14"/>
                <a:gd name="T1" fmla="*/ 0 h 16"/>
                <a:gd name="T2" fmla="*/ 0 w 14"/>
                <a:gd name="T3" fmla="*/ 2147483647 h 16"/>
                <a:gd name="T4" fmla="*/ 1231680499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1251" name="Line 63">
              <a:extLst>
                <a:ext uri="{FF2B5EF4-FFF2-40B4-BE49-F238E27FC236}">
                  <a16:creationId xmlns:a16="http://schemas.microsoft.com/office/drawing/2014/main" id="{0AEDA657-1CC3-BF47-8AF1-C293E274C61F}"/>
                </a:ext>
              </a:extLst>
            </p:cNvPr>
            <p:cNvSpPr>
              <a:spLocks noChangeShapeType="1"/>
            </p:cNvSpPr>
            <p:nvPr/>
          </p:nvSpPr>
          <p:spPr bwMode="auto">
            <a:xfrm>
              <a:off x="4075" y="3072"/>
              <a:ext cx="912"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51252" name="Line 64">
              <a:extLst>
                <a:ext uri="{FF2B5EF4-FFF2-40B4-BE49-F238E27FC236}">
                  <a16:creationId xmlns:a16="http://schemas.microsoft.com/office/drawing/2014/main" id="{E40270A3-2B13-584D-ADFA-B1F1D7B42C8F}"/>
                </a:ext>
              </a:extLst>
            </p:cNvPr>
            <p:cNvSpPr>
              <a:spLocks noChangeShapeType="1"/>
            </p:cNvSpPr>
            <p:nvPr/>
          </p:nvSpPr>
          <p:spPr bwMode="auto">
            <a:xfrm>
              <a:off x="4075" y="3360"/>
              <a:ext cx="912"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51253" name="Rectangle 65">
              <a:extLst>
                <a:ext uri="{FF2B5EF4-FFF2-40B4-BE49-F238E27FC236}">
                  <a16:creationId xmlns:a16="http://schemas.microsoft.com/office/drawing/2014/main" id="{16B09481-FE33-1244-960D-707D947FFC4C}"/>
                </a:ext>
              </a:extLst>
            </p:cNvPr>
            <p:cNvSpPr>
              <a:spLocks noChangeArrowheads="1"/>
            </p:cNvSpPr>
            <p:nvPr/>
          </p:nvSpPr>
          <p:spPr bwMode="auto">
            <a:xfrm>
              <a:off x="4128" y="2832"/>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600">
                  <a:solidFill>
                    <a:srgbClr val="000000"/>
                  </a:solidFill>
                </a:rPr>
                <a:t>Die</a:t>
              </a:r>
            </a:p>
          </p:txBody>
        </p:sp>
        <p:sp>
          <p:nvSpPr>
            <p:cNvPr id="51254" name="Rectangle 66">
              <a:extLst>
                <a:ext uri="{FF2B5EF4-FFF2-40B4-BE49-F238E27FC236}">
                  <a16:creationId xmlns:a16="http://schemas.microsoft.com/office/drawing/2014/main" id="{E20AB5F6-BD40-E248-A2FF-FE6850AC7A8C}"/>
                </a:ext>
              </a:extLst>
            </p:cNvPr>
            <p:cNvSpPr>
              <a:spLocks noChangeArrowheads="1"/>
            </p:cNvSpPr>
            <p:nvPr/>
          </p:nvSpPr>
          <p:spPr bwMode="auto">
            <a:xfrm>
              <a:off x="4128" y="3120"/>
              <a:ext cx="71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600">
                  <a:solidFill>
                    <a:srgbClr val="000000"/>
                  </a:solidFill>
                </a:rPr>
                <a:t>Survive</a:t>
              </a:r>
            </a:p>
          </p:txBody>
        </p:sp>
        <p:sp>
          <p:nvSpPr>
            <p:cNvPr id="51255" name="AutoShape 67">
              <a:extLst>
                <a:ext uri="{FF2B5EF4-FFF2-40B4-BE49-F238E27FC236}">
                  <a16:creationId xmlns:a16="http://schemas.microsoft.com/office/drawing/2014/main" id="{8602A62A-B11A-114D-902E-BF6F601A0969}"/>
                </a:ext>
              </a:extLst>
            </p:cNvPr>
            <p:cNvSpPr>
              <a:spLocks noChangeArrowheads="1"/>
            </p:cNvSpPr>
            <p:nvPr/>
          </p:nvSpPr>
          <p:spPr bwMode="auto">
            <a:xfrm>
              <a:off x="4872" y="3264"/>
              <a:ext cx="192" cy="192"/>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1256" name="AutoShape 68">
              <a:extLst>
                <a:ext uri="{FF2B5EF4-FFF2-40B4-BE49-F238E27FC236}">
                  <a16:creationId xmlns:a16="http://schemas.microsoft.com/office/drawing/2014/main" id="{5C629C25-7A1E-FE42-86DF-737AA6EADE45}"/>
                </a:ext>
              </a:extLst>
            </p:cNvPr>
            <p:cNvSpPr>
              <a:spLocks noChangeArrowheads="1"/>
            </p:cNvSpPr>
            <p:nvPr/>
          </p:nvSpPr>
          <p:spPr bwMode="auto">
            <a:xfrm>
              <a:off x="4872" y="2976"/>
              <a:ext cx="192" cy="192"/>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grpSp>
      <p:grpSp>
        <p:nvGrpSpPr>
          <p:cNvPr id="51229" name="Group 69">
            <a:extLst>
              <a:ext uri="{FF2B5EF4-FFF2-40B4-BE49-F238E27FC236}">
                <a16:creationId xmlns:a16="http://schemas.microsoft.com/office/drawing/2014/main" id="{60C2454A-51D5-4444-A3FF-ED5C54986134}"/>
              </a:ext>
            </a:extLst>
          </p:cNvPr>
          <p:cNvGrpSpPr>
            <a:grpSpLocks/>
          </p:cNvGrpSpPr>
          <p:nvPr/>
        </p:nvGrpSpPr>
        <p:grpSpPr bwMode="auto">
          <a:xfrm>
            <a:off x="7875589" y="1352550"/>
            <a:ext cx="1673225" cy="990600"/>
            <a:chOff x="4010" y="2832"/>
            <a:chExt cx="1054" cy="624"/>
          </a:xfrm>
        </p:grpSpPr>
        <p:sp>
          <p:nvSpPr>
            <p:cNvPr id="51241" name="Freeform 70">
              <a:extLst>
                <a:ext uri="{FF2B5EF4-FFF2-40B4-BE49-F238E27FC236}">
                  <a16:creationId xmlns:a16="http://schemas.microsoft.com/office/drawing/2014/main" id="{02D412B6-3CAD-004E-9DF8-EC73907A3078}"/>
                </a:ext>
              </a:extLst>
            </p:cNvPr>
            <p:cNvSpPr>
              <a:spLocks/>
            </p:cNvSpPr>
            <p:nvPr/>
          </p:nvSpPr>
          <p:spPr bwMode="auto">
            <a:xfrm>
              <a:off x="4010" y="3072"/>
              <a:ext cx="191" cy="144"/>
            </a:xfrm>
            <a:custGeom>
              <a:avLst/>
              <a:gdLst>
                <a:gd name="T0" fmla="*/ 0 w 14"/>
                <a:gd name="T1" fmla="*/ 53201325 h 17"/>
                <a:gd name="T2" fmla="*/ 0 w 14"/>
                <a:gd name="T3" fmla="*/ 0 h 17"/>
                <a:gd name="T4" fmla="*/ 1231680499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1242" name="Freeform 71">
              <a:extLst>
                <a:ext uri="{FF2B5EF4-FFF2-40B4-BE49-F238E27FC236}">
                  <a16:creationId xmlns:a16="http://schemas.microsoft.com/office/drawing/2014/main" id="{716A712D-7BE4-E441-9188-93E916097549}"/>
                </a:ext>
              </a:extLst>
            </p:cNvPr>
            <p:cNvSpPr>
              <a:spLocks/>
            </p:cNvSpPr>
            <p:nvPr/>
          </p:nvSpPr>
          <p:spPr bwMode="auto">
            <a:xfrm>
              <a:off x="4010" y="3120"/>
              <a:ext cx="191" cy="240"/>
            </a:xfrm>
            <a:custGeom>
              <a:avLst/>
              <a:gdLst>
                <a:gd name="T0" fmla="*/ 0 w 14"/>
                <a:gd name="T1" fmla="*/ 0 h 16"/>
                <a:gd name="T2" fmla="*/ 0 w 14"/>
                <a:gd name="T3" fmla="*/ 2147483647 h 16"/>
                <a:gd name="T4" fmla="*/ 1231680499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1243" name="Line 72">
              <a:extLst>
                <a:ext uri="{FF2B5EF4-FFF2-40B4-BE49-F238E27FC236}">
                  <a16:creationId xmlns:a16="http://schemas.microsoft.com/office/drawing/2014/main" id="{C47E0C82-EA0B-4146-BA64-6C06441CA8AF}"/>
                </a:ext>
              </a:extLst>
            </p:cNvPr>
            <p:cNvSpPr>
              <a:spLocks noChangeShapeType="1"/>
            </p:cNvSpPr>
            <p:nvPr/>
          </p:nvSpPr>
          <p:spPr bwMode="auto">
            <a:xfrm>
              <a:off x="4075" y="3072"/>
              <a:ext cx="912"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51244" name="Line 73">
              <a:extLst>
                <a:ext uri="{FF2B5EF4-FFF2-40B4-BE49-F238E27FC236}">
                  <a16:creationId xmlns:a16="http://schemas.microsoft.com/office/drawing/2014/main" id="{A47CAD09-D72A-1A4B-89B9-69A44375AF56}"/>
                </a:ext>
              </a:extLst>
            </p:cNvPr>
            <p:cNvSpPr>
              <a:spLocks noChangeShapeType="1"/>
            </p:cNvSpPr>
            <p:nvPr/>
          </p:nvSpPr>
          <p:spPr bwMode="auto">
            <a:xfrm>
              <a:off x="4075" y="3360"/>
              <a:ext cx="912"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51245" name="Rectangle 74">
              <a:extLst>
                <a:ext uri="{FF2B5EF4-FFF2-40B4-BE49-F238E27FC236}">
                  <a16:creationId xmlns:a16="http://schemas.microsoft.com/office/drawing/2014/main" id="{F5E914D5-F3A2-C64D-839E-C8AECA0AB1D4}"/>
                </a:ext>
              </a:extLst>
            </p:cNvPr>
            <p:cNvSpPr>
              <a:spLocks noChangeArrowheads="1"/>
            </p:cNvSpPr>
            <p:nvPr/>
          </p:nvSpPr>
          <p:spPr bwMode="auto">
            <a:xfrm>
              <a:off x="4128" y="2832"/>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600">
                  <a:solidFill>
                    <a:srgbClr val="000000"/>
                  </a:solidFill>
                </a:rPr>
                <a:t>Die</a:t>
              </a:r>
            </a:p>
          </p:txBody>
        </p:sp>
        <p:sp>
          <p:nvSpPr>
            <p:cNvPr id="51246" name="Rectangle 75">
              <a:extLst>
                <a:ext uri="{FF2B5EF4-FFF2-40B4-BE49-F238E27FC236}">
                  <a16:creationId xmlns:a16="http://schemas.microsoft.com/office/drawing/2014/main" id="{11D5B8F5-907A-8847-8DF8-6473A3DF16CA}"/>
                </a:ext>
              </a:extLst>
            </p:cNvPr>
            <p:cNvSpPr>
              <a:spLocks noChangeArrowheads="1"/>
            </p:cNvSpPr>
            <p:nvPr/>
          </p:nvSpPr>
          <p:spPr bwMode="auto">
            <a:xfrm>
              <a:off x="4128" y="3120"/>
              <a:ext cx="71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600">
                  <a:solidFill>
                    <a:srgbClr val="000000"/>
                  </a:solidFill>
                </a:rPr>
                <a:t>Survive</a:t>
              </a:r>
            </a:p>
          </p:txBody>
        </p:sp>
        <p:sp>
          <p:nvSpPr>
            <p:cNvPr id="51247" name="AutoShape 76">
              <a:extLst>
                <a:ext uri="{FF2B5EF4-FFF2-40B4-BE49-F238E27FC236}">
                  <a16:creationId xmlns:a16="http://schemas.microsoft.com/office/drawing/2014/main" id="{7901748E-3462-A545-861A-55D12020BFCA}"/>
                </a:ext>
              </a:extLst>
            </p:cNvPr>
            <p:cNvSpPr>
              <a:spLocks noChangeArrowheads="1"/>
            </p:cNvSpPr>
            <p:nvPr/>
          </p:nvSpPr>
          <p:spPr bwMode="auto">
            <a:xfrm>
              <a:off x="4872" y="3264"/>
              <a:ext cx="192" cy="192"/>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1248" name="AutoShape 77">
              <a:extLst>
                <a:ext uri="{FF2B5EF4-FFF2-40B4-BE49-F238E27FC236}">
                  <a16:creationId xmlns:a16="http://schemas.microsoft.com/office/drawing/2014/main" id="{4C6407CA-4EB7-3248-BE1C-B78A9D8359F3}"/>
                </a:ext>
              </a:extLst>
            </p:cNvPr>
            <p:cNvSpPr>
              <a:spLocks noChangeArrowheads="1"/>
            </p:cNvSpPr>
            <p:nvPr/>
          </p:nvSpPr>
          <p:spPr bwMode="auto">
            <a:xfrm>
              <a:off x="4872" y="2976"/>
              <a:ext cx="192" cy="192"/>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grpSp>
      <p:sp>
        <p:nvSpPr>
          <p:cNvPr id="51230" name="Oval 33">
            <a:extLst>
              <a:ext uri="{FF2B5EF4-FFF2-40B4-BE49-F238E27FC236}">
                <a16:creationId xmlns:a16="http://schemas.microsoft.com/office/drawing/2014/main" id="{8EB68EFD-8E2D-304F-A632-7D4A7B6B3DC6}"/>
              </a:ext>
            </a:extLst>
          </p:cNvPr>
          <p:cNvSpPr>
            <a:spLocks noChangeArrowheads="1"/>
          </p:cNvSpPr>
          <p:nvPr/>
        </p:nvSpPr>
        <p:spPr bwMode="auto">
          <a:xfrm>
            <a:off x="7747001" y="3886200"/>
            <a:ext cx="238125" cy="261938"/>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1231" name="Oval 32">
            <a:extLst>
              <a:ext uri="{FF2B5EF4-FFF2-40B4-BE49-F238E27FC236}">
                <a16:creationId xmlns:a16="http://schemas.microsoft.com/office/drawing/2014/main" id="{382FC944-A128-314B-B411-1929F74AADD0}"/>
              </a:ext>
            </a:extLst>
          </p:cNvPr>
          <p:cNvSpPr>
            <a:spLocks noChangeArrowheads="1"/>
          </p:cNvSpPr>
          <p:nvPr/>
        </p:nvSpPr>
        <p:spPr bwMode="auto">
          <a:xfrm>
            <a:off x="7747001" y="2895600"/>
            <a:ext cx="238125" cy="261938"/>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1232" name="Oval 31">
            <a:extLst>
              <a:ext uri="{FF2B5EF4-FFF2-40B4-BE49-F238E27FC236}">
                <a16:creationId xmlns:a16="http://schemas.microsoft.com/office/drawing/2014/main" id="{B0DD1A21-E763-D649-BD15-F796F98BD3C8}"/>
              </a:ext>
            </a:extLst>
          </p:cNvPr>
          <p:cNvSpPr>
            <a:spLocks noChangeArrowheads="1"/>
          </p:cNvSpPr>
          <p:nvPr/>
        </p:nvSpPr>
        <p:spPr bwMode="auto">
          <a:xfrm>
            <a:off x="7747001" y="1828800"/>
            <a:ext cx="238125" cy="261938"/>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1233" name="Text Box 78">
            <a:extLst>
              <a:ext uri="{FF2B5EF4-FFF2-40B4-BE49-F238E27FC236}">
                <a16:creationId xmlns:a16="http://schemas.microsoft.com/office/drawing/2014/main" id="{4216A896-F2D8-D345-AA2E-88DFD519A7DA}"/>
              </a:ext>
            </a:extLst>
          </p:cNvPr>
          <p:cNvSpPr txBox="1">
            <a:spLocks noChangeArrowheads="1"/>
          </p:cNvSpPr>
          <p:nvPr/>
        </p:nvSpPr>
        <p:spPr bwMode="auto">
          <a:xfrm>
            <a:off x="5410200" y="5486401"/>
            <a:ext cx="4946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MX" sz="2800"/>
              <a:t>Let value of outcome = pDead</a:t>
            </a:r>
          </a:p>
        </p:txBody>
      </p:sp>
      <p:sp>
        <p:nvSpPr>
          <p:cNvPr id="51234" name="Text Box 79">
            <a:extLst>
              <a:ext uri="{FF2B5EF4-FFF2-40B4-BE49-F238E27FC236}">
                <a16:creationId xmlns:a16="http://schemas.microsoft.com/office/drawing/2014/main" id="{3C8AFFC5-392C-C447-9636-273590312EBC}"/>
              </a:ext>
            </a:extLst>
          </p:cNvPr>
          <p:cNvSpPr txBox="1">
            <a:spLocks noChangeArrowheads="1"/>
          </p:cNvSpPr>
          <p:nvPr/>
        </p:nvSpPr>
        <p:spPr bwMode="auto">
          <a:xfrm>
            <a:off x="9677400" y="1462088"/>
            <a:ext cx="3048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MX" sz="2600"/>
              <a:t>1</a:t>
            </a:r>
          </a:p>
        </p:txBody>
      </p:sp>
      <p:sp>
        <p:nvSpPr>
          <p:cNvPr id="51235" name="Text Box 80">
            <a:extLst>
              <a:ext uri="{FF2B5EF4-FFF2-40B4-BE49-F238E27FC236}">
                <a16:creationId xmlns:a16="http://schemas.microsoft.com/office/drawing/2014/main" id="{AF712EAE-BF3E-2E44-83F1-A811979792C9}"/>
              </a:ext>
            </a:extLst>
          </p:cNvPr>
          <p:cNvSpPr txBox="1">
            <a:spLocks noChangeArrowheads="1"/>
          </p:cNvSpPr>
          <p:nvPr/>
        </p:nvSpPr>
        <p:spPr bwMode="auto">
          <a:xfrm>
            <a:off x="9677400" y="1981200"/>
            <a:ext cx="5334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r>
              <a:rPr lang="en-US" altLang="en-MX" sz="2600"/>
              <a:t>0</a:t>
            </a:r>
          </a:p>
        </p:txBody>
      </p:sp>
      <p:sp>
        <p:nvSpPr>
          <p:cNvPr id="51236" name="Text Box 81">
            <a:extLst>
              <a:ext uri="{FF2B5EF4-FFF2-40B4-BE49-F238E27FC236}">
                <a16:creationId xmlns:a16="http://schemas.microsoft.com/office/drawing/2014/main" id="{497AA3BC-FD9C-F24C-9703-3D4CBD615EED}"/>
              </a:ext>
            </a:extLst>
          </p:cNvPr>
          <p:cNvSpPr txBox="1">
            <a:spLocks noChangeArrowheads="1"/>
          </p:cNvSpPr>
          <p:nvPr/>
        </p:nvSpPr>
        <p:spPr bwMode="auto">
          <a:xfrm>
            <a:off x="9677400" y="2987675"/>
            <a:ext cx="3810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r>
              <a:rPr lang="en-US" altLang="en-MX" sz="2600"/>
              <a:t>0</a:t>
            </a:r>
          </a:p>
        </p:txBody>
      </p:sp>
      <p:sp>
        <p:nvSpPr>
          <p:cNvPr id="51237" name="Text Box 82">
            <a:extLst>
              <a:ext uri="{FF2B5EF4-FFF2-40B4-BE49-F238E27FC236}">
                <a16:creationId xmlns:a16="http://schemas.microsoft.com/office/drawing/2014/main" id="{75D5AEDC-B59B-AF4C-8B26-1C4288C64C48}"/>
              </a:ext>
            </a:extLst>
          </p:cNvPr>
          <p:cNvSpPr txBox="1">
            <a:spLocks noChangeArrowheads="1"/>
          </p:cNvSpPr>
          <p:nvPr/>
        </p:nvSpPr>
        <p:spPr bwMode="auto">
          <a:xfrm>
            <a:off x="9677400" y="2514600"/>
            <a:ext cx="3048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MX" sz="2600"/>
              <a:t>1</a:t>
            </a:r>
          </a:p>
        </p:txBody>
      </p:sp>
      <p:sp>
        <p:nvSpPr>
          <p:cNvPr id="51238" name="Text Box 83">
            <a:extLst>
              <a:ext uri="{FF2B5EF4-FFF2-40B4-BE49-F238E27FC236}">
                <a16:creationId xmlns:a16="http://schemas.microsoft.com/office/drawing/2014/main" id="{DF94785E-5514-3040-A1B0-A9725F9E559D}"/>
              </a:ext>
            </a:extLst>
          </p:cNvPr>
          <p:cNvSpPr txBox="1">
            <a:spLocks noChangeArrowheads="1"/>
          </p:cNvSpPr>
          <p:nvPr/>
        </p:nvSpPr>
        <p:spPr bwMode="auto">
          <a:xfrm>
            <a:off x="9677400" y="3505200"/>
            <a:ext cx="3048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MX" sz="2600"/>
              <a:t>1</a:t>
            </a:r>
          </a:p>
        </p:txBody>
      </p:sp>
      <p:sp>
        <p:nvSpPr>
          <p:cNvPr id="51239" name="Text Box 84">
            <a:extLst>
              <a:ext uri="{FF2B5EF4-FFF2-40B4-BE49-F238E27FC236}">
                <a16:creationId xmlns:a16="http://schemas.microsoft.com/office/drawing/2014/main" id="{CAC55F3C-BB7D-FB46-BA55-2D592FEDA760}"/>
              </a:ext>
            </a:extLst>
          </p:cNvPr>
          <p:cNvSpPr txBox="1">
            <a:spLocks noChangeArrowheads="1"/>
          </p:cNvSpPr>
          <p:nvPr/>
        </p:nvSpPr>
        <p:spPr bwMode="auto">
          <a:xfrm>
            <a:off x="9677400" y="3975100"/>
            <a:ext cx="4572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r>
              <a:rPr lang="en-US" altLang="en-MX" sz="2600"/>
              <a:t>0</a:t>
            </a:r>
          </a:p>
        </p:txBody>
      </p:sp>
      <p:sp>
        <p:nvSpPr>
          <p:cNvPr id="51240" name="Line 85">
            <a:extLst>
              <a:ext uri="{FF2B5EF4-FFF2-40B4-BE49-F238E27FC236}">
                <a16:creationId xmlns:a16="http://schemas.microsoft.com/office/drawing/2014/main" id="{C7A4532A-8DBF-3848-8E16-6AE3FB059901}"/>
              </a:ext>
            </a:extLst>
          </p:cNvPr>
          <p:cNvSpPr>
            <a:spLocks noChangeShapeType="1"/>
          </p:cNvSpPr>
          <p:nvPr/>
        </p:nvSpPr>
        <p:spPr bwMode="auto">
          <a:xfrm flipV="1">
            <a:off x="7848600" y="4343400"/>
            <a:ext cx="0" cy="11430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MX"/>
          </a:p>
        </p:txBody>
      </p:sp>
    </p:spTree>
    <p:extLst>
      <p:ext uri="{BB962C8B-B14F-4D97-AF65-F5344CB8AC3E}">
        <p14:creationId xmlns:p14="http://schemas.microsoft.com/office/powerpoint/2010/main" val="75673781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a:extLst>
              <a:ext uri="{FF2B5EF4-FFF2-40B4-BE49-F238E27FC236}">
                <a16:creationId xmlns:a16="http://schemas.microsoft.com/office/drawing/2014/main" id="{43CA5294-76DB-EC4E-8B43-35FF07EE73CB}"/>
              </a:ext>
            </a:extLst>
          </p:cNvPr>
          <p:cNvSpPr>
            <a:spLocks noGrp="1" noChangeArrowheads="1"/>
          </p:cNvSpPr>
          <p:nvPr>
            <p:ph type="title"/>
          </p:nvPr>
        </p:nvSpPr>
        <p:spPr>
          <a:xfrm>
            <a:off x="838200" y="365125"/>
            <a:ext cx="10515600" cy="904877"/>
          </a:xfrm>
        </p:spPr>
        <p:txBody>
          <a:bodyPr>
            <a:normAutofit/>
          </a:bodyPr>
          <a:lstStyle/>
          <a:p>
            <a:pPr eaLnBrk="1" hangingPunct="1"/>
            <a:r>
              <a:rPr lang="en-US" altLang="en-MX" dirty="0">
                <a:ea typeface="ＭＳ Ｐゴシック" panose="020B0600070205080204" pitchFamily="34" charset="-128"/>
              </a:rPr>
              <a:t>If we don</a:t>
            </a:r>
            <a:r>
              <a:rPr lang="ja-JP" altLang="en-US">
                <a:ea typeface="ＭＳ Ｐゴシック" panose="020B0600070205080204" pitchFamily="34" charset="-128"/>
              </a:rPr>
              <a:t>’</a:t>
            </a:r>
            <a:r>
              <a:rPr lang="en-US" altLang="ja-JP" dirty="0">
                <a:ea typeface="ＭＳ Ｐゴシック" panose="020B0600070205080204" pitchFamily="34" charset="-128"/>
              </a:rPr>
              <a:t>t spray…</a:t>
            </a:r>
            <a:endParaRPr lang="en-US" altLang="en-MX" dirty="0">
              <a:ea typeface="ＭＳ Ｐゴシック" panose="020B0600070205080204" pitchFamily="34" charset="-128"/>
            </a:endParaRPr>
          </a:p>
        </p:txBody>
      </p:sp>
      <p:sp>
        <p:nvSpPr>
          <p:cNvPr id="53250" name="Line 3">
            <a:extLst>
              <a:ext uri="{FF2B5EF4-FFF2-40B4-BE49-F238E27FC236}">
                <a16:creationId xmlns:a16="http://schemas.microsoft.com/office/drawing/2014/main" id="{DF80766F-4E72-D740-B209-929469B70059}"/>
              </a:ext>
            </a:extLst>
          </p:cNvPr>
          <p:cNvSpPr>
            <a:spLocks noChangeShapeType="1"/>
          </p:cNvSpPr>
          <p:nvPr/>
        </p:nvSpPr>
        <p:spPr bwMode="auto">
          <a:xfrm>
            <a:off x="4800600" y="2016125"/>
            <a:ext cx="1447800"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53251" name="Rectangle 4">
            <a:extLst>
              <a:ext uri="{FF2B5EF4-FFF2-40B4-BE49-F238E27FC236}">
                <a16:creationId xmlns:a16="http://schemas.microsoft.com/office/drawing/2014/main" id="{1989D46A-2AAB-7B4B-967B-79A0198244AF}"/>
              </a:ext>
            </a:extLst>
          </p:cNvPr>
          <p:cNvSpPr>
            <a:spLocks noChangeArrowheads="1"/>
          </p:cNvSpPr>
          <p:nvPr/>
        </p:nvSpPr>
        <p:spPr bwMode="auto">
          <a:xfrm>
            <a:off x="4768850" y="1558926"/>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600">
                <a:solidFill>
                  <a:srgbClr val="000000"/>
                </a:solidFill>
              </a:rPr>
              <a:t>Outbreak</a:t>
            </a:r>
          </a:p>
        </p:txBody>
      </p:sp>
      <p:sp>
        <p:nvSpPr>
          <p:cNvPr id="53252" name="Rectangle 5">
            <a:extLst>
              <a:ext uri="{FF2B5EF4-FFF2-40B4-BE49-F238E27FC236}">
                <a16:creationId xmlns:a16="http://schemas.microsoft.com/office/drawing/2014/main" id="{A9F6E259-2330-174F-9714-9B2BA45BBC13}"/>
              </a:ext>
            </a:extLst>
          </p:cNvPr>
          <p:cNvSpPr>
            <a:spLocks noChangeArrowheads="1"/>
          </p:cNvSpPr>
          <p:nvPr/>
        </p:nvSpPr>
        <p:spPr bwMode="auto">
          <a:xfrm>
            <a:off x="4859338" y="2397126"/>
            <a:ext cx="2057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600">
                <a:solidFill>
                  <a:srgbClr val="000000"/>
                </a:solidFill>
              </a:rPr>
              <a:t>No Outbreak</a:t>
            </a:r>
          </a:p>
        </p:txBody>
      </p:sp>
      <p:sp>
        <p:nvSpPr>
          <p:cNvPr id="53253" name="Freeform 6">
            <a:extLst>
              <a:ext uri="{FF2B5EF4-FFF2-40B4-BE49-F238E27FC236}">
                <a16:creationId xmlns:a16="http://schemas.microsoft.com/office/drawing/2014/main" id="{58A068B6-2BF7-E84A-B609-C1FCC23DAA19}"/>
              </a:ext>
            </a:extLst>
          </p:cNvPr>
          <p:cNvSpPr>
            <a:spLocks/>
          </p:cNvSpPr>
          <p:nvPr/>
        </p:nvSpPr>
        <p:spPr bwMode="auto">
          <a:xfrm>
            <a:off x="4725988" y="2016125"/>
            <a:ext cx="303212" cy="369888"/>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3254" name="Freeform 7">
            <a:extLst>
              <a:ext uri="{FF2B5EF4-FFF2-40B4-BE49-F238E27FC236}">
                <a16:creationId xmlns:a16="http://schemas.microsoft.com/office/drawing/2014/main" id="{3E207D78-BEC7-5E42-A3FD-29F141D1B70B}"/>
              </a:ext>
            </a:extLst>
          </p:cNvPr>
          <p:cNvSpPr>
            <a:spLocks/>
          </p:cNvSpPr>
          <p:nvPr/>
        </p:nvSpPr>
        <p:spPr bwMode="auto">
          <a:xfrm>
            <a:off x="4724401" y="2428875"/>
            <a:ext cx="303213" cy="349250"/>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3255" name="Line 8">
            <a:extLst>
              <a:ext uri="{FF2B5EF4-FFF2-40B4-BE49-F238E27FC236}">
                <a16:creationId xmlns:a16="http://schemas.microsoft.com/office/drawing/2014/main" id="{16C4201E-815C-614E-88D1-A88331233312}"/>
              </a:ext>
            </a:extLst>
          </p:cNvPr>
          <p:cNvSpPr>
            <a:spLocks noChangeShapeType="1"/>
          </p:cNvSpPr>
          <p:nvPr/>
        </p:nvSpPr>
        <p:spPr bwMode="auto">
          <a:xfrm>
            <a:off x="3233738" y="2395539"/>
            <a:ext cx="14287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53256" name="Oval 9">
            <a:extLst>
              <a:ext uri="{FF2B5EF4-FFF2-40B4-BE49-F238E27FC236}">
                <a16:creationId xmlns:a16="http://schemas.microsoft.com/office/drawing/2014/main" id="{A689CA5F-9832-C443-9929-80B4333270A1}"/>
              </a:ext>
            </a:extLst>
          </p:cNvPr>
          <p:cNvSpPr>
            <a:spLocks noChangeArrowheads="1"/>
          </p:cNvSpPr>
          <p:nvPr/>
        </p:nvSpPr>
        <p:spPr bwMode="auto">
          <a:xfrm>
            <a:off x="4562476" y="2244725"/>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3257" name="Rectangle 10">
            <a:extLst>
              <a:ext uri="{FF2B5EF4-FFF2-40B4-BE49-F238E27FC236}">
                <a16:creationId xmlns:a16="http://schemas.microsoft.com/office/drawing/2014/main" id="{9DD46198-9F8B-1A4E-936D-0F8B92EBEFDA}"/>
              </a:ext>
            </a:extLst>
          </p:cNvPr>
          <p:cNvSpPr>
            <a:spLocks noChangeArrowheads="1"/>
          </p:cNvSpPr>
          <p:nvPr/>
        </p:nvSpPr>
        <p:spPr bwMode="auto">
          <a:xfrm>
            <a:off x="3048000" y="1981201"/>
            <a:ext cx="914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600">
                <a:solidFill>
                  <a:srgbClr val="000000"/>
                </a:solidFill>
              </a:rPr>
              <a:t>Spray</a:t>
            </a:r>
          </a:p>
        </p:txBody>
      </p:sp>
      <p:sp>
        <p:nvSpPr>
          <p:cNvPr id="53258" name="Rectangle 11">
            <a:extLst>
              <a:ext uri="{FF2B5EF4-FFF2-40B4-BE49-F238E27FC236}">
                <a16:creationId xmlns:a16="http://schemas.microsoft.com/office/drawing/2014/main" id="{C7B6FC62-3E7E-A04E-85FF-28E1CA1521E3}"/>
              </a:ext>
            </a:extLst>
          </p:cNvPr>
          <p:cNvSpPr>
            <a:spLocks noChangeArrowheads="1"/>
          </p:cNvSpPr>
          <p:nvPr/>
        </p:nvSpPr>
        <p:spPr bwMode="auto">
          <a:xfrm>
            <a:off x="4768850" y="5064126"/>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MX" sz="2600">
                <a:solidFill>
                  <a:srgbClr val="000000"/>
                </a:solidFill>
              </a:rPr>
              <a:t>Outbreak</a:t>
            </a:r>
          </a:p>
        </p:txBody>
      </p:sp>
      <p:sp>
        <p:nvSpPr>
          <p:cNvPr id="53259" name="Freeform 12">
            <a:extLst>
              <a:ext uri="{FF2B5EF4-FFF2-40B4-BE49-F238E27FC236}">
                <a16:creationId xmlns:a16="http://schemas.microsoft.com/office/drawing/2014/main" id="{98DE2F13-8D4A-0442-AE09-B6A330B8FB13}"/>
              </a:ext>
            </a:extLst>
          </p:cNvPr>
          <p:cNvSpPr>
            <a:spLocks/>
          </p:cNvSpPr>
          <p:nvPr/>
        </p:nvSpPr>
        <p:spPr bwMode="auto">
          <a:xfrm>
            <a:off x="6402388" y="1722439"/>
            <a:ext cx="303212" cy="369887"/>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3260" name="Freeform 13">
            <a:extLst>
              <a:ext uri="{FF2B5EF4-FFF2-40B4-BE49-F238E27FC236}">
                <a16:creationId xmlns:a16="http://schemas.microsoft.com/office/drawing/2014/main" id="{2C24546F-A8A6-E34E-9F76-1EABEB27087D}"/>
              </a:ext>
            </a:extLst>
          </p:cNvPr>
          <p:cNvSpPr>
            <a:spLocks/>
          </p:cNvSpPr>
          <p:nvPr/>
        </p:nvSpPr>
        <p:spPr bwMode="auto">
          <a:xfrm>
            <a:off x="6402388" y="1973263"/>
            <a:ext cx="303212" cy="347662"/>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3261" name="Rectangle 14">
            <a:extLst>
              <a:ext uri="{FF2B5EF4-FFF2-40B4-BE49-F238E27FC236}">
                <a16:creationId xmlns:a16="http://schemas.microsoft.com/office/drawing/2014/main" id="{3BC67730-8D5E-0E47-9808-12942ED93D8A}"/>
              </a:ext>
            </a:extLst>
          </p:cNvPr>
          <p:cNvSpPr>
            <a:spLocks noChangeArrowheads="1"/>
          </p:cNvSpPr>
          <p:nvPr/>
        </p:nvSpPr>
        <p:spPr bwMode="auto">
          <a:xfrm>
            <a:off x="4859339" y="5902326"/>
            <a:ext cx="2484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600">
                <a:solidFill>
                  <a:srgbClr val="000000"/>
                </a:solidFill>
              </a:rPr>
              <a:t>No Outbreak</a:t>
            </a:r>
          </a:p>
        </p:txBody>
      </p:sp>
      <p:sp>
        <p:nvSpPr>
          <p:cNvPr id="53262" name="Freeform 15">
            <a:extLst>
              <a:ext uri="{FF2B5EF4-FFF2-40B4-BE49-F238E27FC236}">
                <a16:creationId xmlns:a16="http://schemas.microsoft.com/office/drawing/2014/main" id="{038D12FA-99E2-2440-833C-DA58EBAF0292}"/>
              </a:ext>
            </a:extLst>
          </p:cNvPr>
          <p:cNvSpPr>
            <a:spLocks/>
          </p:cNvSpPr>
          <p:nvPr/>
        </p:nvSpPr>
        <p:spPr bwMode="auto">
          <a:xfrm>
            <a:off x="4792663" y="5445125"/>
            <a:ext cx="303212" cy="522288"/>
          </a:xfrm>
          <a:custGeom>
            <a:avLst/>
            <a:gdLst>
              <a:gd name="T0" fmla="*/ 0 w 14"/>
              <a:gd name="T1" fmla="*/ 2147483647 h 24"/>
              <a:gd name="T2" fmla="*/ 0 w 14"/>
              <a:gd name="T3" fmla="*/ 0 h 24"/>
              <a:gd name="T4" fmla="*/ 2147483647 w 14"/>
              <a:gd name="T5" fmla="*/ 0 h 24"/>
              <a:gd name="T6" fmla="*/ 0 60000 65536"/>
              <a:gd name="T7" fmla="*/ 0 60000 65536"/>
              <a:gd name="T8" fmla="*/ 0 60000 65536"/>
              <a:gd name="T9" fmla="*/ 0 w 14"/>
              <a:gd name="T10" fmla="*/ 0 h 24"/>
              <a:gd name="T11" fmla="*/ 14 w 14"/>
              <a:gd name="T12" fmla="*/ 24 h 24"/>
            </a:gdLst>
            <a:ahLst/>
            <a:cxnLst>
              <a:cxn ang="T6">
                <a:pos x="T0" y="T1"/>
              </a:cxn>
              <a:cxn ang="T7">
                <a:pos x="T2" y="T3"/>
              </a:cxn>
              <a:cxn ang="T8">
                <a:pos x="T4" y="T5"/>
              </a:cxn>
            </a:cxnLst>
            <a:rect l="T9" t="T10" r="T11" b="T12"/>
            <a:pathLst>
              <a:path w="14" h="24">
                <a:moveTo>
                  <a:pt x="0" y="24"/>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3263" name="Freeform 16">
            <a:extLst>
              <a:ext uri="{FF2B5EF4-FFF2-40B4-BE49-F238E27FC236}">
                <a16:creationId xmlns:a16="http://schemas.microsoft.com/office/drawing/2014/main" id="{C4BAC085-5677-8C4D-9B35-B52948E41277}"/>
              </a:ext>
            </a:extLst>
          </p:cNvPr>
          <p:cNvSpPr>
            <a:spLocks/>
          </p:cNvSpPr>
          <p:nvPr/>
        </p:nvSpPr>
        <p:spPr bwMode="auto">
          <a:xfrm>
            <a:off x="4792663" y="5738813"/>
            <a:ext cx="303212" cy="544512"/>
          </a:xfrm>
          <a:custGeom>
            <a:avLst/>
            <a:gdLst>
              <a:gd name="T0" fmla="*/ 0 w 14"/>
              <a:gd name="T1" fmla="*/ 0 h 25"/>
              <a:gd name="T2" fmla="*/ 0 w 14"/>
              <a:gd name="T3" fmla="*/ 2147483647 h 25"/>
              <a:gd name="T4" fmla="*/ 2147483647 w 14"/>
              <a:gd name="T5" fmla="*/ 2147483647 h 25"/>
              <a:gd name="T6" fmla="*/ 0 60000 65536"/>
              <a:gd name="T7" fmla="*/ 0 60000 65536"/>
              <a:gd name="T8" fmla="*/ 0 60000 65536"/>
              <a:gd name="T9" fmla="*/ 0 w 14"/>
              <a:gd name="T10" fmla="*/ 0 h 25"/>
              <a:gd name="T11" fmla="*/ 14 w 14"/>
              <a:gd name="T12" fmla="*/ 25 h 25"/>
            </a:gdLst>
            <a:ahLst/>
            <a:cxnLst>
              <a:cxn ang="T6">
                <a:pos x="T0" y="T1"/>
              </a:cxn>
              <a:cxn ang="T7">
                <a:pos x="T2" y="T3"/>
              </a:cxn>
              <a:cxn ang="T8">
                <a:pos x="T4" y="T5"/>
              </a:cxn>
            </a:cxnLst>
            <a:rect l="T9" t="T10" r="T11" b="T12"/>
            <a:pathLst>
              <a:path w="14" h="25">
                <a:moveTo>
                  <a:pt x="0" y="0"/>
                </a:moveTo>
                <a:lnTo>
                  <a:pt x="0" y="25"/>
                </a:lnTo>
                <a:lnTo>
                  <a:pt x="14" y="25"/>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3264" name="Line 17">
            <a:extLst>
              <a:ext uri="{FF2B5EF4-FFF2-40B4-BE49-F238E27FC236}">
                <a16:creationId xmlns:a16="http://schemas.microsoft.com/office/drawing/2014/main" id="{CE8CDB46-6DEE-1D46-8E09-64FBE1104493}"/>
              </a:ext>
            </a:extLst>
          </p:cNvPr>
          <p:cNvSpPr>
            <a:spLocks noChangeShapeType="1"/>
          </p:cNvSpPr>
          <p:nvPr/>
        </p:nvSpPr>
        <p:spPr bwMode="auto">
          <a:xfrm>
            <a:off x="2895600" y="3921125"/>
            <a:ext cx="2743200"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53265" name="Oval 18">
            <a:extLst>
              <a:ext uri="{FF2B5EF4-FFF2-40B4-BE49-F238E27FC236}">
                <a16:creationId xmlns:a16="http://schemas.microsoft.com/office/drawing/2014/main" id="{AB86C81D-FCF6-BD4D-8B34-E739492B7D2D}"/>
              </a:ext>
            </a:extLst>
          </p:cNvPr>
          <p:cNvSpPr>
            <a:spLocks noChangeArrowheads="1"/>
          </p:cNvSpPr>
          <p:nvPr/>
        </p:nvSpPr>
        <p:spPr bwMode="auto">
          <a:xfrm>
            <a:off x="4662489" y="5718175"/>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3266" name="Rectangle 19">
            <a:extLst>
              <a:ext uri="{FF2B5EF4-FFF2-40B4-BE49-F238E27FC236}">
                <a16:creationId xmlns:a16="http://schemas.microsoft.com/office/drawing/2014/main" id="{3EBB5567-CA57-DB45-89EE-1FC89AD20CC1}"/>
              </a:ext>
            </a:extLst>
          </p:cNvPr>
          <p:cNvSpPr>
            <a:spLocks noChangeArrowheads="1"/>
          </p:cNvSpPr>
          <p:nvPr/>
        </p:nvSpPr>
        <p:spPr bwMode="auto">
          <a:xfrm>
            <a:off x="2971800" y="5445126"/>
            <a:ext cx="1752600"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600">
                <a:solidFill>
                  <a:srgbClr val="000000"/>
                </a:solidFill>
              </a:rPr>
              <a:t>Don</a:t>
            </a:r>
            <a:r>
              <a:rPr lang="ja-JP" altLang="en-US" sz="2600">
                <a:solidFill>
                  <a:srgbClr val="000000"/>
                </a:solidFill>
              </a:rPr>
              <a:t>’</a:t>
            </a:r>
            <a:r>
              <a:rPr lang="en-US" altLang="ja-JP" sz="2600">
                <a:solidFill>
                  <a:srgbClr val="000000"/>
                </a:solidFill>
              </a:rPr>
              <a:t>t Spray</a:t>
            </a:r>
            <a:endParaRPr lang="en-US" altLang="en-MX" sz="2600">
              <a:solidFill>
                <a:srgbClr val="000000"/>
              </a:solidFill>
            </a:endParaRPr>
          </a:p>
        </p:txBody>
      </p:sp>
      <p:sp>
        <p:nvSpPr>
          <p:cNvPr id="53267" name="Line 20">
            <a:extLst>
              <a:ext uri="{FF2B5EF4-FFF2-40B4-BE49-F238E27FC236}">
                <a16:creationId xmlns:a16="http://schemas.microsoft.com/office/drawing/2014/main" id="{CB19821B-829D-1C49-8DEC-122DE2E81DBA}"/>
              </a:ext>
            </a:extLst>
          </p:cNvPr>
          <p:cNvSpPr>
            <a:spLocks noChangeShapeType="1"/>
          </p:cNvSpPr>
          <p:nvPr/>
        </p:nvSpPr>
        <p:spPr bwMode="auto">
          <a:xfrm>
            <a:off x="3233738" y="5891214"/>
            <a:ext cx="14287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53268" name="Freeform 21">
            <a:extLst>
              <a:ext uri="{FF2B5EF4-FFF2-40B4-BE49-F238E27FC236}">
                <a16:creationId xmlns:a16="http://schemas.microsoft.com/office/drawing/2014/main" id="{D6BB09D6-6DF7-AB47-9998-5835AA57E54E}"/>
              </a:ext>
            </a:extLst>
          </p:cNvPr>
          <p:cNvSpPr>
            <a:spLocks/>
          </p:cNvSpPr>
          <p:nvPr/>
        </p:nvSpPr>
        <p:spPr bwMode="auto">
          <a:xfrm>
            <a:off x="2930526" y="2397125"/>
            <a:ext cx="303213" cy="1893888"/>
          </a:xfrm>
          <a:custGeom>
            <a:avLst/>
            <a:gdLst>
              <a:gd name="T0" fmla="*/ 0 w 14"/>
              <a:gd name="T1" fmla="*/ 2147483647 h 87"/>
              <a:gd name="T2" fmla="*/ 0 w 14"/>
              <a:gd name="T3" fmla="*/ 0 h 87"/>
              <a:gd name="T4" fmla="*/ 2147483647 w 14"/>
              <a:gd name="T5" fmla="*/ 0 h 87"/>
              <a:gd name="T6" fmla="*/ 0 60000 65536"/>
              <a:gd name="T7" fmla="*/ 0 60000 65536"/>
              <a:gd name="T8" fmla="*/ 0 60000 65536"/>
              <a:gd name="T9" fmla="*/ 0 w 14"/>
              <a:gd name="T10" fmla="*/ 0 h 87"/>
              <a:gd name="T11" fmla="*/ 14 w 14"/>
              <a:gd name="T12" fmla="*/ 87 h 87"/>
            </a:gdLst>
            <a:ahLst/>
            <a:cxnLst>
              <a:cxn ang="T6">
                <a:pos x="T0" y="T1"/>
              </a:cxn>
              <a:cxn ang="T7">
                <a:pos x="T2" y="T3"/>
              </a:cxn>
              <a:cxn ang="T8">
                <a:pos x="T4" y="T5"/>
              </a:cxn>
            </a:cxnLst>
            <a:rect l="T9" t="T10" r="T11" b="T12"/>
            <a:pathLst>
              <a:path w="14" h="87">
                <a:moveTo>
                  <a:pt x="0" y="8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3269" name="Freeform 22">
            <a:extLst>
              <a:ext uri="{FF2B5EF4-FFF2-40B4-BE49-F238E27FC236}">
                <a16:creationId xmlns:a16="http://schemas.microsoft.com/office/drawing/2014/main" id="{8BBEEC76-7697-3B40-A4F4-49B002479CB7}"/>
              </a:ext>
            </a:extLst>
          </p:cNvPr>
          <p:cNvSpPr>
            <a:spLocks/>
          </p:cNvSpPr>
          <p:nvPr/>
        </p:nvSpPr>
        <p:spPr bwMode="auto">
          <a:xfrm>
            <a:off x="2930526" y="3975101"/>
            <a:ext cx="303213" cy="1916113"/>
          </a:xfrm>
          <a:custGeom>
            <a:avLst/>
            <a:gdLst>
              <a:gd name="T0" fmla="*/ 0 w 14"/>
              <a:gd name="T1" fmla="*/ 0 h 88"/>
              <a:gd name="T2" fmla="*/ 0 w 14"/>
              <a:gd name="T3" fmla="*/ 2147483647 h 88"/>
              <a:gd name="T4" fmla="*/ 2147483647 w 14"/>
              <a:gd name="T5" fmla="*/ 2147483647 h 88"/>
              <a:gd name="T6" fmla="*/ 0 60000 65536"/>
              <a:gd name="T7" fmla="*/ 0 60000 65536"/>
              <a:gd name="T8" fmla="*/ 0 60000 65536"/>
              <a:gd name="T9" fmla="*/ 0 w 14"/>
              <a:gd name="T10" fmla="*/ 0 h 88"/>
              <a:gd name="T11" fmla="*/ 14 w 14"/>
              <a:gd name="T12" fmla="*/ 88 h 88"/>
            </a:gdLst>
            <a:ahLst/>
            <a:cxnLst>
              <a:cxn ang="T6">
                <a:pos x="T0" y="T1"/>
              </a:cxn>
              <a:cxn ang="T7">
                <a:pos x="T2" y="T3"/>
              </a:cxn>
              <a:cxn ang="T8">
                <a:pos x="T4" y="T5"/>
              </a:cxn>
            </a:cxnLst>
            <a:rect l="T9" t="T10" r="T11" b="T12"/>
            <a:pathLst>
              <a:path w="14" h="88">
                <a:moveTo>
                  <a:pt x="0" y="0"/>
                </a:moveTo>
                <a:lnTo>
                  <a:pt x="0" y="88"/>
                </a:lnTo>
                <a:lnTo>
                  <a:pt x="14" y="88"/>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3270" name="Rectangle 23">
            <a:extLst>
              <a:ext uri="{FF2B5EF4-FFF2-40B4-BE49-F238E27FC236}">
                <a16:creationId xmlns:a16="http://schemas.microsoft.com/office/drawing/2014/main" id="{7555DF0E-4FD9-FE47-BC70-28A62B1CE0E2}"/>
              </a:ext>
            </a:extLst>
          </p:cNvPr>
          <p:cNvSpPr>
            <a:spLocks noChangeArrowheads="1"/>
          </p:cNvSpPr>
          <p:nvPr/>
        </p:nvSpPr>
        <p:spPr bwMode="auto">
          <a:xfrm>
            <a:off x="2743201" y="3768725"/>
            <a:ext cx="238125" cy="261938"/>
          </a:xfrm>
          <a:prstGeom prst="rect">
            <a:avLst/>
          </a:prstGeom>
          <a:solidFill>
            <a:schemeClr val="bg1"/>
          </a:solidFill>
          <a:ln w="25400">
            <a:solidFill>
              <a:schemeClr val="accent2"/>
            </a:solidFill>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3271" name="Line 24">
            <a:extLst>
              <a:ext uri="{FF2B5EF4-FFF2-40B4-BE49-F238E27FC236}">
                <a16:creationId xmlns:a16="http://schemas.microsoft.com/office/drawing/2014/main" id="{CD7C15EA-8FFA-F94E-BF21-EDB26448052B}"/>
              </a:ext>
            </a:extLst>
          </p:cNvPr>
          <p:cNvSpPr>
            <a:spLocks noChangeShapeType="1"/>
          </p:cNvSpPr>
          <p:nvPr/>
        </p:nvSpPr>
        <p:spPr bwMode="auto">
          <a:xfrm>
            <a:off x="4967288" y="2778125"/>
            <a:ext cx="4024312"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53272" name="Line 25">
            <a:extLst>
              <a:ext uri="{FF2B5EF4-FFF2-40B4-BE49-F238E27FC236}">
                <a16:creationId xmlns:a16="http://schemas.microsoft.com/office/drawing/2014/main" id="{41F39DE0-467E-F74B-BB0E-9EC5DEAA3788}"/>
              </a:ext>
            </a:extLst>
          </p:cNvPr>
          <p:cNvSpPr>
            <a:spLocks noChangeShapeType="1"/>
          </p:cNvSpPr>
          <p:nvPr/>
        </p:nvSpPr>
        <p:spPr bwMode="auto">
          <a:xfrm>
            <a:off x="5029200" y="5445125"/>
            <a:ext cx="12954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53273" name="Line 26">
            <a:extLst>
              <a:ext uri="{FF2B5EF4-FFF2-40B4-BE49-F238E27FC236}">
                <a16:creationId xmlns:a16="http://schemas.microsoft.com/office/drawing/2014/main" id="{61B93A99-15AB-9C4C-837A-5689B38109D2}"/>
              </a:ext>
            </a:extLst>
          </p:cNvPr>
          <p:cNvSpPr>
            <a:spLocks noChangeShapeType="1"/>
          </p:cNvSpPr>
          <p:nvPr/>
        </p:nvSpPr>
        <p:spPr bwMode="auto">
          <a:xfrm>
            <a:off x="5105400" y="6283325"/>
            <a:ext cx="40386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53274" name="Oval 27">
            <a:extLst>
              <a:ext uri="{FF2B5EF4-FFF2-40B4-BE49-F238E27FC236}">
                <a16:creationId xmlns:a16="http://schemas.microsoft.com/office/drawing/2014/main" id="{7DA2DBE3-FD13-D24C-A19F-1EDC0B7F429E}"/>
              </a:ext>
            </a:extLst>
          </p:cNvPr>
          <p:cNvSpPr>
            <a:spLocks noChangeArrowheads="1"/>
          </p:cNvSpPr>
          <p:nvPr/>
        </p:nvSpPr>
        <p:spPr bwMode="auto">
          <a:xfrm>
            <a:off x="6248401" y="1906589"/>
            <a:ext cx="238125" cy="261937"/>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3275" name="Rectangle 28">
            <a:extLst>
              <a:ext uri="{FF2B5EF4-FFF2-40B4-BE49-F238E27FC236}">
                <a16:creationId xmlns:a16="http://schemas.microsoft.com/office/drawing/2014/main" id="{DA79D139-E91B-5B42-B500-98B8535F0A69}"/>
              </a:ext>
            </a:extLst>
          </p:cNvPr>
          <p:cNvSpPr>
            <a:spLocks noChangeArrowheads="1"/>
          </p:cNvSpPr>
          <p:nvPr/>
        </p:nvSpPr>
        <p:spPr bwMode="auto">
          <a:xfrm>
            <a:off x="6651626" y="1330326"/>
            <a:ext cx="1882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600">
                <a:solidFill>
                  <a:srgbClr val="000000"/>
                </a:solidFill>
              </a:rPr>
              <a:t>Encephalitis</a:t>
            </a:r>
          </a:p>
        </p:txBody>
      </p:sp>
      <p:sp>
        <p:nvSpPr>
          <p:cNvPr id="53276" name="Line 29">
            <a:extLst>
              <a:ext uri="{FF2B5EF4-FFF2-40B4-BE49-F238E27FC236}">
                <a16:creationId xmlns:a16="http://schemas.microsoft.com/office/drawing/2014/main" id="{89F72C39-4CED-1748-A3F6-C0891569F0F6}"/>
              </a:ext>
            </a:extLst>
          </p:cNvPr>
          <p:cNvSpPr>
            <a:spLocks noChangeShapeType="1"/>
          </p:cNvSpPr>
          <p:nvPr/>
        </p:nvSpPr>
        <p:spPr bwMode="auto">
          <a:xfrm>
            <a:off x="6643688" y="1727200"/>
            <a:ext cx="24384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53277" name="Line 30">
            <a:extLst>
              <a:ext uri="{FF2B5EF4-FFF2-40B4-BE49-F238E27FC236}">
                <a16:creationId xmlns:a16="http://schemas.microsoft.com/office/drawing/2014/main" id="{143064AB-C8B8-DD48-8BD1-6070B0270FD6}"/>
              </a:ext>
            </a:extLst>
          </p:cNvPr>
          <p:cNvSpPr>
            <a:spLocks noChangeShapeType="1"/>
          </p:cNvSpPr>
          <p:nvPr/>
        </p:nvSpPr>
        <p:spPr bwMode="auto">
          <a:xfrm>
            <a:off x="6629400" y="2320925"/>
            <a:ext cx="24384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53278" name="AutoShape 31">
            <a:extLst>
              <a:ext uri="{FF2B5EF4-FFF2-40B4-BE49-F238E27FC236}">
                <a16:creationId xmlns:a16="http://schemas.microsoft.com/office/drawing/2014/main" id="{ACC649DB-87D0-1C40-8865-37C2381CEF45}"/>
              </a:ext>
            </a:extLst>
          </p:cNvPr>
          <p:cNvSpPr>
            <a:spLocks noChangeArrowheads="1"/>
          </p:cNvSpPr>
          <p:nvPr/>
        </p:nvSpPr>
        <p:spPr bwMode="auto">
          <a:xfrm>
            <a:off x="8991600" y="1558925"/>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3279" name="AutoShape 32">
            <a:extLst>
              <a:ext uri="{FF2B5EF4-FFF2-40B4-BE49-F238E27FC236}">
                <a16:creationId xmlns:a16="http://schemas.microsoft.com/office/drawing/2014/main" id="{7C4A6060-E143-0943-B72C-8DC70B2CA764}"/>
              </a:ext>
            </a:extLst>
          </p:cNvPr>
          <p:cNvSpPr>
            <a:spLocks noChangeArrowheads="1"/>
          </p:cNvSpPr>
          <p:nvPr/>
        </p:nvSpPr>
        <p:spPr bwMode="auto">
          <a:xfrm>
            <a:off x="8991600" y="2168525"/>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3280" name="AutoShape 33">
            <a:extLst>
              <a:ext uri="{FF2B5EF4-FFF2-40B4-BE49-F238E27FC236}">
                <a16:creationId xmlns:a16="http://schemas.microsoft.com/office/drawing/2014/main" id="{0E16A741-06B3-0543-A7B9-0EF9FA193211}"/>
              </a:ext>
            </a:extLst>
          </p:cNvPr>
          <p:cNvSpPr>
            <a:spLocks noChangeArrowheads="1"/>
          </p:cNvSpPr>
          <p:nvPr/>
        </p:nvSpPr>
        <p:spPr bwMode="auto">
          <a:xfrm>
            <a:off x="8991600" y="2549525"/>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3281" name="Freeform 34">
            <a:extLst>
              <a:ext uri="{FF2B5EF4-FFF2-40B4-BE49-F238E27FC236}">
                <a16:creationId xmlns:a16="http://schemas.microsoft.com/office/drawing/2014/main" id="{7403B5D1-C273-2D4A-A45E-DC6F66426E3C}"/>
              </a:ext>
            </a:extLst>
          </p:cNvPr>
          <p:cNvSpPr>
            <a:spLocks/>
          </p:cNvSpPr>
          <p:nvPr/>
        </p:nvSpPr>
        <p:spPr bwMode="auto">
          <a:xfrm>
            <a:off x="6400801" y="5151439"/>
            <a:ext cx="303213" cy="369887"/>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3282" name="Freeform 35">
            <a:extLst>
              <a:ext uri="{FF2B5EF4-FFF2-40B4-BE49-F238E27FC236}">
                <a16:creationId xmlns:a16="http://schemas.microsoft.com/office/drawing/2014/main" id="{9B47E12E-4B5F-9648-AB77-88904609F167}"/>
              </a:ext>
            </a:extLst>
          </p:cNvPr>
          <p:cNvSpPr>
            <a:spLocks/>
          </p:cNvSpPr>
          <p:nvPr/>
        </p:nvSpPr>
        <p:spPr bwMode="auto">
          <a:xfrm>
            <a:off x="6402388" y="5368926"/>
            <a:ext cx="303212" cy="347663"/>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3283" name="Oval 36">
            <a:extLst>
              <a:ext uri="{FF2B5EF4-FFF2-40B4-BE49-F238E27FC236}">
                <a16:creationId xmlns:a16="http://schemas.microsoft.com/office/drawing/2014/main" id="{1C398E57-2A40-144D-8C15-97944CF2C03C}"/>
              </a:ext>
            </a:extLst>
          </p:cNvPr>
          <p:cNvSpPr>
            <a:spLocks noChangeArrowheads="1"/>
          </p:cNvSpPr>
          <p:nvPr/>
        </p:nvSpPr>
        <p:spPr bwMode="auto">
          <a:xfrm>
            <a:off x="6315076" y="5292725"/>
            <a:ext cx="238125" cy="261938"/>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3284" name="Line 37">
            <a:extLst>
              <a:ext uri="{FF2B5EF4-FFF2-40B4-BE49-F238E27FC236}">
                <a16:creationId xmlns:a16="http://schemas.microsoft.com/office/drawing/2014/main" id="{88E6E9B7-70A2-B648-8E72-3E597B799345}"/>
              </a:ext>
            </a:extLst>
          </p:cNvPr>
          <p:cNvSpPr>
            <a:spLocks noChangeShapeType="1"/>
          </p:cNvSpPr>
          <p:nvPr/>
        </p:nvSpPr>
        <p:spPr bwMode="auto">
          <a:xfrm flipV="1">
            <a:off x="6675438" y="5143500"/>
            <a:ext cx="2392362"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53285" name="Line 38">
            <a:extLst>
              <a:ext uri="{FF2B5EF4-FFF2-40B4-BE49-F238E27FC236}">
                <a16:creationId xmlns:a16="http://schemas.microsoft.com/office/drawing/2014/main" id="{4A8432D9-C43C-654A-8949-135A6ECAC726}"/>
              </a:ext>
            </a:extLst>
          </p:cNvPr>
          <p:cNvSpPr>
            <a:spLocks noChangeShapeType="1"/>
          </p:cNvSpPr>
          <p:nvPr/>
        </p:nvSpPr>
        <p:spPr bwMode="auto">
          <a:xfrm>
            <a:off x="6691313" y="5716588"/>
            <a:ext cx="25146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53286" name="Rectangle 39">
            <a:extLst>
              <a:ext uri="{FF2B5EF4-FFF2-40B4-BE49-F238E27FC236}">
                <a16:creationId xmlns:a16="http://schemas.microsoft.com/office/drawing/2014/main" id="{11B3F2D5-1BEF-8145-881D-71DB0F4DD2FE}"/>
              </a:ext>
            </a:extLst>
          </p:cNvPr>
          <p:cNvSpPr>
            <a:spLocks noChangeArrowheads="1"/>
          </p:cNvSpPr>
          <p:nvPr/>
        </p:nvSpPr>
        <p:spPr bwMode="auto">
          <a:xfrm>
            <a:off x="6629400" y="1939926"/>
            <a:ext cx="2667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600">
                <a:solidFill>
                  <a:srgbClr val="000000"/>
                </a:solidFill>
              </a:rPr>
              <a:t>No Encephalitis</a:t>
            </a:r>
          </a:p>
        </p:txBody>
      </p:sp>
      <p:sp>
        <p:nvSpPr>
          <p:cNvPr id="53287" name="Rectangle 40">
            <a:extLst>
              <a:ext uri="{FF2B5EF4-FFF2-40B4-BE49-F238E27FC236}">
                <a16:creationId xmlns:a16="http://schemas.microsoft.com/office/drawing/2014/main" id="{A67A6B0A-6EA0-EC40-A9D0-B6B346D403E3}"/>
              </a:ext>
            </a:extLst>
          </p:cNvPr>
          <p:cNvSpPr>
            <a:spLocks noChangeArrowheads="1"/>
          </p:cNvSpPr>
          <p:nvPr/>
        </p:nvSpPr>
        <p:spPr bwMode="auto">
          <a:xfrm>
            <a:off x="6651626" y="4759326"/>
            <a:ext cx="1882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600">
                <a:solidFill>
                  <a:srgbClr val="000000"/>
                </a:solidFill>
              </a:rPr>
              <a:t>Encephalitis</a:t>
            </a:r>
          </a:p>
        </p:txBody>
      </p:sp>
      <p:sp>
        <p:nvSpPr>
          <p:cNvPr id="53288" name="Rectangle 41">
            <a:extLst>
              <a:ext uri="{FF2B5EF4-FFF2-40B4-BE49-F238E27FC236}">
                <a16:creationId xmlns:a16="http://schemas.microsoft.com/office/drawing/2014/main" id="{6CC1CA88-E07D-3A44-8167-B124861FB540}"/>
              </a:ext>
            </a:extLst>
          </p:cNvPr>
          <p:cNvSpPr>
            <a:spLocks noChangeArrowheads="1"/>
          </p:cNvSpPr>
          <p:nvPr/>
        </p:nvSpPr>
        <p:spPr bwMode="auto">
          <a:xfrm>
            <a:off x="6629400" y="5335589"/>
            <a:ext cx="2514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600">
                <a:solidFill>
                  <a:srgbClr val="000000"/>
                </a:solidFill>
              </a:rPr>
              <a:t>No Encephalitis</a:t>
            </a:r>
          </a:p>
        </p:txBody>
      </p:sp>
      <p:sp>
        <p:nvSpPr>
          <p:cNvPr id="53289" name="AutoShape 42">
            <a:extLst>
              <a:ext uri="{FF2B5EF4-FFF2-40B4-BE49-F238E27FC236}">
                <a16:creationId xmlns:a16="http://schemas.microsoft.com/office/drawing/2014/main" id="{4A401A46-6C33-2545-A5A9-352D97A8E7DF}"/>
              </a:ext>
            </a:extLst>
          </p:cNvPr>
          <p:cNvSpPr>
            <a:spLocks noChangeArrowheads="1"/>
          </p:cNvSpPr>
          <p:nvPr/>
        </p:nvSpPr>
        <p:spPr bwMode="auto">
          <a:xfrm>
            <a:off x="8991600" y="4987925"/>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3290" name="AutoShape 43">
            <a:extLst>
              <a:ext uri="{FF2B5EF4-FFF2-40B4-BE49-F238E27FC236}">
                <a16:creationId xmlns:a16="http://schemas.microsoft.com/office/drawing/2014/main" id="{772D816A-9356-4344-A82C-33A3B95279A7}"/>
              </a:ext>
            </a:extLst>
          </p:cNvPr>
          <p:cNvSpPr>
            <a:spLocks noChangeArrowheads="1"/>
          </p:cNvSpPr>
          <p:nvPr/>
        </p:nvSpPr>
        <p:spPr bwMode="auto">
          <a:xfrm>
            <a:off x="8991600" y="5445125"/>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3291" name="AutoShape 44">
            <a:extLst>
              <a:ext uri="{FF2B5EF4-FFF2-40B4-BE49-F238E27FC236}">
                <a16:creationId xmlns:a16="http://schemas.microsoft.com/office/drawing/2014/main" id="{B13DA3A8-17A8-EB48-A68D-4CA805676151}"/>
              </a:ext>
            </a:extLst>
          </p:cNvPr>
          <p:cNvSpPr>
            <a:spLocks noChangeArrowheads="1"/>
          </p:cNvSpPr>
          <p:nvPr/>
        </p:nvSpPr>
        <p:spPr bwMode="auto">
          <a:xfrm>
            <a:off x="8991600" y="6054725"/>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3292" name="Rectangle 45">
            <a:extLst>
              <a:ext uri="{FF2B5EF4-FFF2-40B4-BE49-F238E27FC236}">
                <a16:creationId xmlns:a16="http://schemas.microsoft.com/office/drawing/2014/main" id="{1FAF987B-5300-6446-8E32-49DD4F91880D}"/>
              </a:ext>
            </a:extLst>
          </p:cNvPr>
          <p:cNvSpPr>
            <a:spLocks noChangeArrowheads="1"/>
          </p:cNvSpPr>
          <p:nvPr/>
        </p:nvSpPr>
        <p:spPr bwMode="auto">
          <a:xfrm>
            <a:off x="2971800" y="3463925"/>
            <a:ext cx="26098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600">
                <a:solidFill>
                  <a:srgbClr val="000000"/>
                </a:solidFill>
              </a:rPr>
              <a:t>Test Mosquitoes</a:t>
            </a:r>
          </a:p>
        </p:txBody>
      </p:sp>
    </p:spTree>
    <p:extLst>
      <p:ext uri="{BB962C8B-B14F-4D97-AF65-F5344CB8AC3E}">
        <p14:creationId xmlns:p14="http://schemas.microsoft.com/office/powerpoint/2010/main" val="28480234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4">
            <a:extLst>
              <a:ext uri="{FF2B5EF4-FFF2-40B4-BE49-F238E27FC236}">
                <a16:creationId xmlns:a16="http://schemas.microsoft.com/office/drawing/2014/main" id="{8136C0E4-87A3-EF42-A507-8C499259161E}"/>
              </a:ext>
            </a:extLst>
          </p:cNvPr>
          <p:cNvSpPr>
            <a:spLocks noChangeArrowheads="1"/>
          </p:cNvSpPr>
          <p:nvPr/>
        </p:nvSpPr>
        <p:spPr bwMode="auto">
          <a:xfrm>
            <a:off x="3200400" y="4419600"/>
            <a:ext cx="2286000"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ja-JP" altLang="en-US" sz="2600">
                <a:solidFill>
                  <a:srgbClr val="000000"/>
                </a:solidFill>
              </a:rPr>
              <a:t>“</a:t>
            </a:r>
            <a:r>
              <a:rPr lang="en-US" altLang="ja-JP" sz="2600">
                <a:solidFill>
                  <a:srgbClr val="000000"/>
                </a:solidFill>
              </a:rPr>
              <a:t>No</a:t>
            </a:r>
          </a:p>
          <a:p>
            <a:r>
              <a:rPr lang="en-US" altLang="en-MX" sz="2600">
                <a:solidFill>
                  <a:srgbClr val="000000"/>
                </a:solidFill>
              </a:rPr>
              <a:t>Outbreak</a:t>
            </a:r>
            <a:r>
              <a:rPr lang="ja-JP" altLang="en-US" sz="2600">
                <a:solidFill>
                  <a:srgbClr val="000000"/>
                </a:solidFill>
              </a:rPr>
              <a:t>”</a:t>
            </a:r>
            <a:endParaRPr lang="en-US" altLang="en-MX" sz="2600">
              <a:solidFill>
                <a:srgbClr val="000000"/>
              </a:solidFill>
            </a:endParaRPr>
          </a:p>
        </p:txBody>
      </p:sp>
      <p:sp>
        <p:nvSpPr>
          <p:cNvPr id="55298" name="Rectangle 43">
            <a:extLst>
              <a:ext uri="{FF2B5EF4-FFF2-40B4-BE49-F238E27FC236}">
                <a16:creationId xmlns:a16="http://schemas.microsoft.com/office/drawing/2014/main" id="{DFA87477-A1B5-8446-B03C-04168E0FDEF3}"/>
              </a:ext>
            </a:extLst>
          </p:cNvPr>
          <p:cNvSpPr>
            <a:spLocks noChangeArrowheads="1"/>
          </p:cNvSpPr>
          <p:nvPr/>
        </p:nvSpPr>
        <p:spPr bwMode="auto">
          <a:xfrm>
            <a:off x="5029200" y="4267201"/>
            <a:ext cx="1752600"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600">
                <a:solidFill>
                  <a:srgbClr val="000000"/>
                </a:solidFill>
              </a:rPr>
              <a:t>Don</a:t>
            </a:r>
            <a:r>
              <a:rPr lang="ja-JP" altLang="en-US" sz="2600">
                <a:solidFill>
                  <a:srgbClr val="000000"/>
                </a:solidFill>
              </a:rPr>
              <a:t>’</a:t>
            </a:r>
            <a:r>
              <a:rPr lang="en-US" altLang="ja-JP" sz="2600">
                <a:solidFill>
                  <a:srgbClr val="000000"/>
                </a:solidFill>
              </a:rPr>
              <a:t>t spray</a:t>
            </a:r>
            <a:endParaRPr lang="en-US" altLang="en-MX" sz="2600">
              <a:solidFill>
                <a:srgbClr val="000000"/>
              </a:solidFill>
            </a:endParaRPr>
          </a:p>
        </p:txBody>
      </p:sp>
      <p:sp>
        <p:nvSpPr>
          <p:cNvPr id="55299" name="Rectangle 19">
            <a:extLst>
              <a:ext uri="{FF2B5EF4-FFF2-40B4-BE49-F238E27FC236}">
                <a16:creationId xmlns:a16="http://schemas.microsoft.com/office/drawing/2014/main" id="{C7284B28-8350-724A-92E3-0A7895C0D33D}"/>
              </a:ext>
            </a:extLst>
          </p:cNvPr>
          <p:cNvSpPr>
            <a:spLocks noChangeArrowheads="1"/>
          </p:cNvSpPr>
          <p:nvPr/>
        </p:nvSpPr>
        <p:spPr bwMode="auto">
          <a:xfrm>
            <a:off x="4953000" y="1676401"/>
            <a:ext cx="1905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600">
                <a:solidFill>
                  <a:srgbClr val="000000"/>
                </a:solidFill>
              </a:rPr>
              <a:t>Don</a:t>
            </a:r>
            <a:r>
              <a:rPr lang="ja-JP" altLang="en-US" sz="2600">
                <a:solidFill>
                  <a:srgbClr val="000000"/>
                </a:solidFill>
              </a:rPr>
              <a:t>’</a:t>
            </a:r>
            <a:r>
              <a:rPr lang="en-US" altLang="ja-JP" sz="2600">
                <a:solidFill>
                  <a:srgbClr val="000000"/>
                </a:solidFill>
              </a:rPr>
              <a:t>t spray</a:t>
            </a:r>
            <a:endParaRPr lang="en-US" altLang="en-MX" sz="2600">
              <a:solidFill>
                <a:srgbClr val="000000"/>
              </a:solidFill>
            </a:endParaRPr>
          </a:p>
        </p:txBody>
      </p:sp>
      <p:sp>
        <p:nvSpPr>
          <p:cNvPr id="203778" name="Rectangle 2">
            <a:extLst>
              <a:ext uri="{FF2B5EF4-FFF2-40B4-BE49-F238E27FC236}">
                <a16:creationId xmlns:a16="http://schemas.microsoft.com/office/drawing/2014/main" id="{F9D21B02-7273-C443-8D40-EACFBB8C72E1}"/>
              </a:ext>
            </a:extLst>
          </p:cNvPr>
          <p:cNvSpPr>
            <a:spLocks noGrp="1" noChangeArrowheads="1"/>
          </p:cNvSpPr>
          <p:nvPr>
            <p:ph type="title"/>
          </p:nvPr>
        </p:nvSpPr>
        <p:spPr>
          <a:xfrm>
            <a:off x="864704" y="304800"/>
            <a:ext cx="9346096" cy="757238"/>
          </a:xfrm>
        </p:spPr>
        <p:txBody>
          <a:bodyPr/>
          <a:lstStyle/>
          <a:p>
            <a:pPr eaLnBrk="1" hangingPunct="1"/>
            <a:r>
              <a:rPr lang="en-US" altLang="en-MX" dirty="0">
                <a:ea typeface="ＭＳ Ｐゴシック" panose="020B0600070205080204" pitchFamily="34" charset="-128"/>
              </a:rPr>
              <a:t>The Test Strategy</a:t>
            </a:r>
          </a:p>
        </p:txBody>
      </p:sp>
      <p:sp>
        <p:nvSpPr>
          <p:cNvPr id="55301" name="Rectangle 3">
            <a:extLst>
              <a:ext uri="{FF2B5EF4-FFF2-40B4-BE49-F238E27FC236}">
                <a16:creationId xmlns:a16="http://schemas.microsoft.com/office/drawing/2014/main" id="{7BE6E2AA-55D9-FE47-9C88-FE21CC47C0AE}"/>
              </a:ext>
            </a:extLst>
          </p:cNvPr>
          <p:cNvSpPr>
            <a:spLocks noChangeArrowheads="1"/>
          </p:cNvSpPr>
          <p:nvPr/>
        </p:nvSpPr>
        <p:spPr bwMode="auto">
          <a:xfrm>
            <a:off x="3124201" y="2209800"/>
            <a:ext cx="17071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ja-JP" altLang="en-US" sz="2600">
                <a:solidFill>
                  <a:srgbClr val="000000"/>
                </a:solidFill>
              </a:rPr>
              <a:t>“</a:t>
            </a:r>
            <a:r>
              <a:rPr lang="en-US" altLang="ja-JP" sz="2600">
                <a:solidFill>
                  <a:srgbClr val="000000"/>
                </a:solidFill>
              </a:rPr>
              <a:t>Outbreak</a:t>
            </a:r>
            <a:r>
              <a:rPr lang="ja-JP" altLang="en-US" sz="2600">
                <a:solidFill>
                  <a:srgbClr val="000000"/>
                </a:solidFill>
              </a:rPr>
              <a:t>”</a:t>
            </a:r>
            <a:endParaRPr lang="en-US" altLang="en-MX" sz="2600">
              <a:solidFill>
                <a:srgbClr val="000000"/>
              </a:solidFill>
            </a:endParaRPr>
          </a:p>
        </p:txBody>
      </p:sp>
      <p:sp>
        <p:nvSpPr>
          <p:cNvPr id="55302" name="Freeform 5">
            <a:extLst>
              <a:ext uri="{FF2B5EF4-FFF2-40B4-BE49-F238E27FC236}">
                <a16:creationId xmlns:a16="http://schemas.microsoft.com/office/drawing/2014/main" id="{44CC3C73-0B63-AA40-80DA-F1BE4D73CB3A}"/>
              </a:ext>
            </a:extLst>
          </p:cNvPr>
          <p:cNvSpPr>
            <a:spLocks/>
          </p:cNvSpPr>
          <p:nvPr/>
        </p:nvSpPr>
        <p:spPr bwMode="auto">
          <a:xfrm>
            <a:off x="3124200" y="2590801"/>
            <a:ext cx="280988" cy="989013"/>
          </a:xfrm>
          <a:custGeom>
            <a:avLst/>
            <a:gdLst>
              <a:gd name="T0" fmla="*/ 0 w 14"/>
              <a:gd name="T1" fmla="*/ 2147483647 h 16"/>
              <a:gd name="T2" fmla="*/ 0 w 14"/>
              <a:gd name="T3" fmla="*/ 0 h 16"/>
              <a:gd name="T4" fmla="*/ 2147483647 w 14"/>
              <a:gd name="T5" fmla="*/ 0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16"/>
                </a:moveTo>
                <a:lnTo>
                  <a:pt x="0" y="0"/>
                </a:lnTo>
                <a:lnTo>
                  <a:pt x="14" y="0"/>
                </a:lnTo>
              </a:path>
            </a:pathLst>
          </a:custGeom>
          <a:noFill/>
          <a:ln w="38100"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5303" name="Freeform 6">
            <a:extLst>
              <a:ext uri="{FF2B5EF4-FFF2-40B4-BE49-F238E27FC236}">
                <a16:creationId xmlns:a16="http://schemas.microsoft.com/office/drawing/2014/main" id="{29760C0C-FB3D-4045-A795-ECFD30C770BE}"/>
              </a:ext>
            </a:extLst>
          </p:cNvPr>
          <p:cNvSpPr>
            <a:spLocks/>
          </p:cNvSpPr>
          <p:nvPr/>
        </p:nvSpPr>
        <p:spPr bwMode="auto">
          <a:xfrm>
            <a:off x="3124201" y="3505200"/>
            <a:ext cx="371475" cy="1676400"/>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38100"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5304" name="Line 7">
            <a:extLst>
              <a:ext uri="{FF2B5EF4-FFF2-40B4-BE49-F238E27FC236}">
                <a16:creationId xmlns:a16="http://schemas.microsoft.com/office/drawing/2014/main" id="{5B5CF4B5-E1C4-E34E-9223-16FB55BEF911}"/>
              </a:ext>
            </a:extLst>
          </p:cNvPr>
          <p:cNvSpPr>
            <a:spLocks noChangeShapeType="1"/>
          </p:cNvSpPr>
          <p:nvPr/>
        </p:nvSpPr>
        <p:spPr bwMode="auto">
          <a:xfrm>
            <a:off x="2286001" y="3656014"/>
            <a:ext cx="765175"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55305" name="Oval 8">
            <a:extLst>
              <a:ext uri="{FF2B5EF4-FFF2-40B4-BE49-F238E27FC236}">
                <a16:creationId xmlns:a16="http://schemas.microsoft.com/office/drawing/2014/main" id="{579858D1-58FA-E14C-B50D-E5EC1016203B}"/>
              </a:ext>
            </a:extLst>
          </p:cNvPr>
          <p:cNvSpPr>
            <a:spLocks noChangeArrowheads="1"/>
          </p:cNvSpPr>
          <p:nvPr/>
        </p:nvSpPr>
        <p:spPr bwMode="auto">
          <a:xfrm>
            <a:off x="2971801" y="3579813"/>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5306" name="Rectangle 9">
            <a:extLst>
              <a:ext uri="{FF2B5EF4-FFF2-40B4-BE49-F238E27FC236}">
                <a16:creationId xmlns:a16="http://schemas.microsoft.com/office/drawing/2014/main" id="{50290DDE-E70A-C54A-8CD6-9490B3EB9E84}"/>
              </a:ext>
            </a:extLst>
          </p:cNvPr>
          <p:cNvSpPr>
            <a:spLocks noChangeArrowheads="1"/>
          </p:cNvSpPr>
          <p:nvPr/>
        </p:nvSpPr>
        <p:spPr bwMode="auto">
          <a:xfrm>
            <a:off x="2286000" y="3124200"/>
            <a:ext cx="6122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600">
                <a:solidFill>
                  <a:srgbClr val="000000"/>
                </a:solidFill>
              </a:rPr>
              <a:t>Test</a:t>
            </a:r>
          </a:p>
        </p:txBody>
      </p:sp>
      <p:sp>
        <p:nvSpPr>
          <p:cNvPr id="55307" name="Freeform 10">
            <a:extLst>
              <a:ext uri="{FF2B5EF4-FFF2-40B4-BE49-F238E27FC236}">
                <a16:creationId xmlns:a16="http://schemas.microsoft.com/office/drawing/2014/main" id="{04C09454-2F9D-C443-B803-706B731A7E40}"/>
              </a:ext>
            </a:extLst>
          </p:cNvPr>
          <p:cNvSpPr>
            <a:spLocks/>
          </p:cNvSpPr>
          <p:nvPr/>
        </p:nvSpPr>
        <p:spPr bwMode="auto">
          <a:xfrm>
            <a:off x="2208213" y="1981200"/>
            <a:ext cx="303212" cy="1893888"/>
          </a:xfrm>
          <a:custGeom>
            <a:avLst/>
            <a:gdLst>
              <a:gd name="T0" fmla="*/ 0 w 14"/>
              <a:gd name="T1" fmla="*/ 2147483647 h 87"/>
              <a:gd name="T2" fmla="*/ 0 w 14"/>
              <a:gd name="T3" fmla="*/ 0 h 87"/>
              <a:gd name="T4" fmla="*/ 2147483647 w 14"/>
              <a:gd name="T5" fmla="*/ 0 h 87"/>
              <a:gd name="T6" fmla="*/ 0 60000 65536"/>
              <a:gd name="T7" fmla="*/ 0 60000 65536"/>
              <a:gd name="T8" fmla="*/ 0 60000 65536"/>
              <a:gd name="T9" fmla="*/ 0 w 14"/>
              <a:gd name="T10" fmla="*/ 0 h 87"/>
              <a:gd name="T11" fmla="*/ 14 w 14"/>
              <a:gd name="T12" fmla="*/ 87 h 87"/>
            </a:gdLst>
            <a:ahLst/>
            <a:cxnLst>
              <a:cxn ang="T6">
                <a:pos x="T0" y="T1"/>
              </a:cxn>
              <a:cxn ang="T7">
                <a:pos x="T2" y="T3"/>
              </a:cxn>
              <a:cxn ang="T8">
                <a:pos x="T4" y="T5"/>
              </a:cxn>
            </a:cxnLst>
            <a:rect l="T9" t="T10" r="T11" b="T12"/>
            <a:pathLst>
              <a:path w="14" h="87">
                <a:moveTo>
                  <a:pt x="0" y="8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5308" name="Freeform 11">
            <a:extLst>
              <a:ext uri="{FF2B5EF4-FFF2-40B4-BE49-F238E27FC236}">
                <a16:creationId xmlns:a16="http://schemas.microsoft.com/office/drawing/2014/main" id="{A9341D9F-9AAF-3E44-B11F-7F3B6695B3AC}"/>
              </a:ext>
            </a:extLst>
          </p:cNvPr>
          <p:cNvSpPr>
            <a:spLocks/>
          </p:cNvSpPr>
          <p:nvPr/>
        </p:nvSpPr>
        <p:spPr bwMode="auto">
          <a:xfrm>
            <a:off x="2209801" y="3559175"/>
            <a:ext cx="301625" cy="1544638"/>
          </a:xfrm>
          <a:custGeom>
            <a:avLst/>
            <a:gdLst>
              <a:gd name="T0" fmla="*/ 0 w 14"/>
              <a:gd name="T1" fmla="*/ 0 h 88"/>
              <a:gd name="T2" fmla="*/ 0 w 14"/>
              <a:gd name="T3" fmla="*/ 2147483647 h 88"/>
              <a:gd name="T4" fmla="*/ 2147483647 w 14"/>
              <a:gd name="T5" fmla="*/ 2147483647 h 88"/>
              <a:gd name="T6" fmla="*/ 0 60000 65536"/>
              <a:gd name="T7" fmla="*/ 0 60000 65536"/>
              <a:gd name="T8" fmla="*/ 0 60000 65536"/>
              <a:gd name="T9" fmla="*/ 0 w 14"/>
              <a:gd name="T10" fmla="*/ 0 h 88"/>
              <a:gd name="T11" fmla="*/ 14 w 14"/>
              <a:gd name="T12" fmla="*/ 88 h 88"/>
            </a:gdLst>
            <a:ahLst/>
            <a:cxnLst>
              <a:cxn ang="T6">
                <a:pos x="T0" y="T1"/>
              </a:cxn>
              <a:cxn ang="T7">
                <a:pos x="T2" y="T3"/>
              </a:cxn>
              <a:cxn ang="T8">
                <a:pos x="T4" y="T5"/>
              </a:cxn>
            </a:cxnLst>
            <a:rect l="T9" t="T10" r="T11" b="T12"/>
            <a:pathLst>
              <a:path w="14" h="88">
                <a:moveTo>
                  <a:pt x="0" y="0"/>
                </a:moveTo>
                <a:lnTo>
                  <a:pt x="0" y="88"/>
                </a:lnTo>
                <a:lnTo>
                  <a:pt x="14" y="88"/>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5309" name="Line 13">
            <a:extLst>
              <a:ext uri="{FF2B5EF4-FFF2-40B4-BE49-F238E27FC236}">
                <a16:creationId xmlns:a16="http://schemas.microsoft.com/office/drawing/2014/main" id="{82895B7D-C0DE-6248-8B3B-B61545FB3C80}"/>
              </a:ext>
            </a:extLst>
          </p:cNvPr>
          <p:cNvSpPr>
            <a:spLocks noChangeShapeType="1"/>
          </p:cNvSpPr>
          <p:nvPr/>
        </p:nvSpPr>
        <p:spPr bwMode="auto">
          <a:xfrm>
            <a:off x="3352800" y="2590800"/>
            <a:ext cx="1447800" cy="0"/>
          </a:xfrm>
          <a:prstGeom prst="line">
            <a:avLst/>
          </a:prstGeom>
          <a:noFill/>
          <a:ln w="381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55310" name="Line 14">
            <a:extLst>
              <a:ext uri="{FF2B5EF4-FFF2-40B4-BE49-F238E27FC236}">
                <a16:creationId xmlns:a16="http://schemas.microsoft.com/office/drawing/2014/main" id="{CE1577F7-324E-F94D-97FD-D5231D303A70}"/>
              </a:ext>
            </a:extLst>
          </p:cNvPr>
          <p:cNvSpPr>
            <a:spLocks noChangeShapeType="1"/>
          </p:cNvSpPr>
          <p:nvPr/>
        </p:nvSpPr>
        <p:spPr bwMode="auto">
          <a:xfrm>
            <a:off x="3486151" y="5180014"/>
            <a:ext cx="1425575" cy="1587"/>
          </a:xfrm>
          <a:prstGeom prst="line">
            <a:avLst/>
          </a:prstGeom>
          <a:noFill/>
          <a:ln w="381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55311" name="Freeform 15">
            <a:extLst>
              <a:ext uri="{FF2B5EF4-FFF2-40B4-BE49-F238E27FC236}">
                <a16:creationId xmlns:a16="http://schemas.microsoft.com/office/drawing/2014/main" id="{0DFED99F-90EB-5940-9B76-6D90BF2F64C5}"/>
              </a:ext>
            </a:extLst>
          </p:cNvPr>
          <p:cNvSpPr>
            <a:spLocks/>
          </p:cNvSpPr>
          <p:nvPr/>
        </p:nvSpPr>
        <p:spPr bwMode="auto">
          <a:xfrm>
            <a:off x="4953001" y="2057400"/>
            <a:ext cx="327025" cy="522288"/>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5312" name="Freeform 16">
            <a:extLst>
              <a:ext uri="{FF2B5EF4-FFF2-40B4-BE49-F238E27FC236}">
                <a16:creationId xmlns:a16="http://schemas.microsoft.com/office/drawing/2014/main" id="{3A68303E-668B-B54D-9AC7-7396D78742F2}"/>
              </a:ext>
            </a:extLst>
          </p:cNvPr>
          <p:cNvSpPr>
            <a:spLocks/>
          </p:cNvSpPr>
          <p:nvPr/>
        </p:nvSpPr>
        <p:spPr bwMode="auto">
          <a:xfrm>
            <a:off x="4953000" y="2667000"/>
            <a:ext cx="1836738" cy="457200"/>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38100"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5313" name="Line 18">
            <a:extLst>
              <a:ext uri="{FF2B5EF4-FFF2-40B4-BE49-F238E27FC236}">
                <a16:creationId xmlns:a16="http://schemas.microsoft.com/office/drawing/2014/main" id="{2160B8F6-E03C-1840-8850-A556ABE9C7B0}"/>
              </a:ext>
            </a:extLst>
          </p:cNvPr>
          <p:cNvSpPr>
            <a:spLocks noChangeShapeType="1"/>
          </p:cNvSpPr>
          <p:nvPr/>
        </p:nvSpPr>
        <p:spPr bwMode="auto">
          <a:xfrm>
            <a:off x="5181600" y="2057400"/>
            <a:ext cx="1627188"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55314" name="Rectangle 20">
            <a:extLst>
              <a:ext uri="{FF2B5EF4-FFF2-40B4-BE49-F238E27FC236}">
                <a16:creationId xmlns:a16="http://schemas.microsoft.com/office/drawing/2014/main" id="{025DAB58-7B6F-B141-A7F9-75E670A28F6C}"/>
              </a:ext>
            </a:extLst>
          </p:cNvPr>
          <p:cNvSpPr>
            <a:spLocks noChangeArrowheads="1"/>
          </p:cNvSpPr>
          <p:nvPr/>
        </p:nvSpPr>
        <p:spPr bwMode="auto">
          <a:xfrm>
            <a:off x="5105400" y="2667001"/>
            <a:ext cx="1219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600">
                <a:solidFill>
                  <a:srgbClr val="000000"/>
                </a:solidFill>
              </a:rPr>
              <a:t>Spray</a:t>
            </a:r>
          </a:p>
        </p:txBody>
      </p:sp>
      <p:sp>
        <p:nvSpPr>
          <p:cNvPr id="55315" name="Freeform 21">
            <a:extLst>
              <a:ext uri="{FF2B5EF4-FFF2-40B4-BE49-F238E27FC236}">
                <a16:creationId xmlns:a16="http://schemas.microsoft.com/office/drawing/2014/main" id="{A3CFB75B-663E-7446-8FC6-ADE1A3DDE0E4}"/>
              </a:ext>
            </a:extLst>
          </p:cNvPr>
          <p:cNvSpPr>
            <a:spLocks/>
          </p:cNvSpPr>
          <p:nvPr/>
        </p:nvSpPr>
        <p:spPr bwMode="auto">
          <a:xfrm>
            <a:off x="6934200" y="1752600"/>
            <a:ext cx="533400" cy="369888"/>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5316" name="Freeform 22">
            <a:extLst>
              <a:ext uri="{FF2B5EF4-FFF2-40B4-BE49-F238E27FC236}">
                <a16:creationId xmlns:a16="http://schemas.microsoft.com/office/drawing/2014/main" id="{A9D042D9-F3C3-3941-8E1A-5A3A7C8132E2}"/>
              </a:ext>
            </a:extLst>
          </p:cNvPr>
          <p:cNvSpPr>
            <a:spLocks/>
          </p:cNvSpPr>
          <p:nvPr/>
        </p:nvSpPr>
        <p:spPr bwMode="auto">
          <a:xfrm>
            <a:off x="6967538" y="2057400"/>
            <a:ext cx="457200" cy="304800"/>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5317" name="Oval 23">
            <a:extLst>
              <a:ext uri="{FF2B5EF4-FFF2-40B4-BE49-F238E27FC236}">
                <a16:creationId xmlns:a16="http://schemas.microsoft.com/office/drawing/2014/main" id="{1E94C875-DEC7-2F4A-B630-5E29943F30D2}"/>
              </a:ext>
            </a:extLst>
          </p:cNvPr>
          <p:cNvSpPr>
            <a:spLocks noChangeArrowheads="1"/>
          </p:cNvSpPr>
          <p:nvPr/>
        </p:nvSpPr>
        <p:spPr bwMode="auto">
          <a:xfrm>
            <a:off x="6794501" y="1905000"/>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5318" name="Line 24">
            <a:extLst>
              <a:ext uri="{FF2B5EF4-FFF2-40B4-BE49-F238E27FC236}">
                <a16:creationId xmlns:a16="http://schemas.microsoft.com/office/drawing/2014/main" id="{C9A465FF-E46F-344B-A7ED-31DB788F284B}"/>
              </a:ext>
            </a:extLst>
          </p:cNvPr>
          <p:cNvSpPr>
            <a:spLocks noChangeShapeType="1"/>
          </p:cNvSpPr>
          <p:nvPr/>
        </p:nvSpPr>
        <p:spPr bwMode="auto">
          <a:xfrm>
            <a:off x="7261226" y="1752600"/>
            <a:ext cx="2322513"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55319" name="Line 25">
            <a:extLst>
              <a:ext uri="{FF2B5EF4-FFF2-40B4-BE49-F238E27FC236}">
                <a16:creationId xmlns:a16="http://schemas.microsoft.com/office/drawing/2014/main" id="{48537B14-3D9F-A647-BD7D-03B3D8B98B5C}"/>
              </a:ext>
            </a:extLst>
          </p:cNvPr>
          <p:cNvSpPr>
            <a:spLocks noChangeShapeType="1"/>
          </p:cNvSpPr>
          <p:nvPr/>
        </p:nvSpPr>
        <p:spPr bwMode="auto">
          <a:xfrm>
            <a:off x="7239001" y="2362200"/>
            <a:ext cx="225742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55320" name="Text Box 26">
            <a:extLst>
              <a:ext uri="{FF2B5EF4-FFF2-40B4-BE49-F238E27FC236}">
                <a16:creationId xmlns:a16="http://schemas.microsoft.com/office/drawing/2014/main" id="{D44870D5-0019-9848-8C27-2954670186A7}"/>
              </a:ext>
            </a:extLst>
          </p:cNvPr>
          <p:cNvSpPr txBox="1">
            <a:spLocks noChangeArrowheads="1"/>
          </p:cNvSpPr>
          <p:nvPr/>
        </p:nvSpPr>
        <p:spPr bwMode="auto">
          <a:xfrm>
            <a:off x="6977063" y="1371600"/>
            <a:ext cx="19812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2600">
                <a:solidFill>
                  <a:srgbClr val="000000"/>
                </a:solidFill>
              </a:rPr>
              <a:t>Encephalitis</a:t>
            </a:r>
          </a:p>
        </p:txBody>
      </p:sp>
      <p:sp>
        <p:nvSpPr>
          <p:cNvPr id="55321" name="Text Box 27">
            <a:extLst>
              <a:ext uri="{FF2B5EF4-FFF2-40B4-BE49-F238E27FC236}">
                <a16:creationId xmlns:a16="http://schemas.microsoft.com/office/drawing/2014/main" id="{B7FDD553-1E1F-214C-9039-B2849C8708F5}"/>
              </a:ext>
            </a:extLst>
          </p:cNvPr>
          <p:cNvSpPr txBox="1">
            <a:spLocks noChangeArrowheads="1"/>
          </p:cNvSpPr>
          <p:nvPr/>
        </p:nvSpPr>
        <p:spPr bwMode="auto">
          <a:xfrm>
            <a:off x="6977063" y="1981200"/>
            <a:ext cx="25908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2600">
                <a:solidFill>
                  <a:srgbClr val="000000"/>
                </a:solidFill>
              </a:rPr>
              <a:t>No encephalitis</a:t>
            </a:r>
          </a:p>
        </p:txBody>
      </p:sp>
      <p:sp>
        <p:nvSpPr>
          <p:cNvPr id="55322" name="Freeform 28">
            <a:extLst>
              <a:ext uri="{FF2B5EF4-FFF2-40B4-BE49-F238E27FC236}">
                <a16:creationId xmlns:a16="http://schemas.microsoft.com/office/drawing/2014/main" id="{F49BC43E-E083-B24B-9C8B-72ADF91516A4}"/>
              </a:ext>
            </a:extLst>
          </p:cNvPr>
          <p:cNvSpPr>
            <a:spLocks/>
          </p:cNvSpPr>
          <p:nvPr/>
        </p:nvSpPr>
        <p:spPr bwMode="auto">
          <a:xfrm>
            <a:off x="6931025" y="2819400"/>
            <a:ext cx="533400" cy="369888"/>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5323" name="Freeform 29">
            <a:extLst>
              <a:ext uri="{FF2B5EF4-FFF2-40B4-BE49-F238E27FC236}">
                <a16:creationId xmlns:a16="http://schemas.microsoft.com/office/drawing/2014/main" id="{D3EC93D9-C42B-1349-B264-0E572F6B8F5F}"/>
              </a:ext>
            </a:extLst>
          </p:cNvPr>
          <p:cNvSpPr>
            <a:spLocks/>
          </p:cNvSpPr>
          <p:nvPr/>
        </p:nvSpPr>
        <p:spPr bwMode="auto">
          <a:xfrm>
            <a:off x="6931025" y="3124200"/>
            <a:ext cx="457200" cy="304800"/>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5324" name="Oval 30">
            <a:extLst>
              <a:ext uri="{FF2B5EF4-FFF2-40B4-BE49-F238E27FC236}">
                <a16:creationId xmlns:a16="http://schemas.microsoft.com/office/drawing/2014/main" id="{93D167C2-EDC1-524E-A721-B28047188C0F}"/>
              </a:ext>
            </a:extLst>
          </p:cNvPr>
          <p:cNvSpPr>
            <a:spLocks noChangeArrowheads="1"/>
          </p:cNvSpPr>
          <p:nvPr/>
        </p:nvSpPr>
        <p:spPr bwMode="auto">
          <a:xfrm>
            <a:off x="6794501" y="2971800"/>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5325" name="Line 31">
            <a:extLst>
              <a:ext uri="{FF2B5EF4-FFF2-40B4-BE49-F238E27FC236}">
                <a16:creationId xmlns:a16="http://schemas.microsoft.com/office/drawing/2014/main" id="{F7C74B6A-6A36-924D-915C-9E9CBC9C8BD0}"/>
              </a:ext>
            </a:extLst>
          </p:cNvPr>
          <p:cNvSpPr>
            <a:spLocks noChangeShapeType="1"/>
          </p:cNvSpPr>
          <p:nvPr/>
        </p:nvSpPr>
        <p:spPr bwMode="auto">
          <a:xfrm>
            <a:off x="7185026" y="2819400"/>
            <a:ext cx="233997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55326" name="Line 32">
            <a:extLst>
              <a:ext uri="{FF2B5EF4-FFF2-40B4-BE49-F238E27FC236}">
                <a16:creationId xmlns:a16="http://schemas.microsoft.com/office/drawing/2014/main" id="{F7D8565D-A892-F84C-A6B5-6B4D4203ECFB}"/>
              </a:ext>
            </a:extLst>
          </p:cNvPr>
          <p:cNvSpPr>
            <a:spLocks noChangeShapeType="1"/>
          </p:cNvSpPr>
          <p:nvPr/>
        </p:nvSpPr>
        <p:spPr bwMode="auto">
          <a:xfrm flipV="1">
            <a:off x="7162801" y="3429000"/>
            <a:ext cx="242252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55327" name="Text Box 33">
            <a:extLst>
              <a:ext uri="{FF2B5EF4-FFF2-40B4-BE49-F238E27FC236}">
                <a16:creationId xmlns:a16="http://schemas.microsoft.com/office/drawing/2014/main" id="{A2A6CB2D-F793-5D47-9D33-2261E398A051}"/>
              </a:ext>
            </a:extLst>
          </p:cNvPr>
          <p:cNvSpPr txBox="1">
            <a:spLocks noChangeArrowheads="1"/>
          </p:cNvSpPr>
          <p:nvPr/>
        </p:nvSpPr>
        <p:spPr bwMode="auto">
          <a:xfrm>
            <a:off x="6977064" y="2438400"/>
            <a:ext cx="2395537"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2600">
                <a:solidFill>
                  <a:srgbClr val="000000"/>
                </a:solidFill>
              </a:rPr>
              <a:t>Encephalitis</a:t>
            </a:r>
          </a:p>
        </p:txBody>
      </p:sp>
      <p:sp>
        <p:nvSpPr>
          <p:cNvPr id="55328" name="Text Box 34">
            <a:extLst>
              <a:ext uri="{FF2B5EF4-FFF2-40B4-BE49-F238E27FC236}">
                <a16:creationId xmlns:a16="http://schemas.microsoft.com/office/drawing/2014/main" id="{41436F1D-FB52-0C4E-8FE2-1B993F3DEA08}"/>
              </a:ext>
            </a:extLst>
          </p:cNvPr>
          <p:cNvSpPr txBox="1">
            <a:spLocks noChangeArrowheads="1"/>
          </p:cNvSpPr>
          <p:nvPr/>
        </p:nvSpPr>
        <p:spPr bwMode="auto">
          <a:xfrm>
            <a:off x="6977064" y="3048000"/>
            <a:ext cx="2700337"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2600">
                <a:solidFill>
                  <a:srgbClr val="000000"/>
                </a:solidFill>
              </a:rPr>
              <a:t>No encephalitis</a:t>
            </a:r>
          </a:p>
        </p:txBody>
      </p:sp>
      <p:sp>
        <p:nvSpPr>
          <p:cNvPr id="55329" name="AutoShape 35">
            <a:extLst>
              <a:ext uri="{FF2B5EF4-FFF2-40B4-BE49-F238E27FC236}">
                <a16:creationId xmlns:a16="http://schemas.microsoft.com/office/drawing/2014/main" id="{547EBA01-321A-7445-8C3E-C22FB89E1C58}"/>
              </a:ext>
            </a:extLst>
          </p:cNvPr>
          <p:cNvSpPr>
            <a:spLocks noChangeArrowheads="1"/>
          </p:cNvSpPr>
          <p:nvPr/>
        </p:nvSpPr>
        <p:spPr bwMode="auto">
          <a:xfrm>
            <a:off x="9445625" y="16002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5330" name="AutoShape 36">
            <a:extLst>
              <a:ext uri="{FF2B5EF4-FFF2-40B4-BE49-F238E27FC236}">
                <a16:creationId xmlns:a16="http://schemas.microsoft.com/office/drawing/2014/main" id="{E0FBC98B-FE9F-EA47-B6F1-867B3CA72353}"/>
              </a:ext>
            </a:extLst>
          </p:cNvPr>
          <p:cNvSpPr>
            <a:spLocks noChangeArrowheads="1"/>
          </p:cNvSpPr>
          <p:nvPr/>
        </p:nvSpPr>
        <p:spPr bwMode="auto">
          <a:xfrm>
            <a:off x="9445625" y="21336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5331" name="AutoShape 37">
            <a:extLst>
              <a:ext uri="{FF2B5EF4-FFF2-40B4-BE49-F238E27FC236}">
                <a16:creationId xmlns:a16="http://schemas.microsoft.com/office/drawing/2014/main" id="{A7C61032-9C49-D24E-988C-FE264BF46E90}"/>
              </a:ext>
            </a:extLst>
          </p:cNvPr>
          <p:cNvSpPr>
            <a:spLocks noChangeArrowheads="1"/>
          </p:cNvSpPr>
          <p:nvPr/>
        </p:nvSpPr>
        <p:spPr bwMode="auto">
          <a:xfrm>
            <a:off x="9445625" y="26670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5332" name="AutoShape 38">
            <a:extLst>
              <a:ext uri="{FF2B5EF4-FFF2-40B4-BE49-F238E27FC236}">
                <a16:creationId xmlns:a16="http://schemas.microsoft.com/office/drawing/2014/main" id="{225B9387-2DE0-6E4F-8117-FA380EFB74D4}"/>
              </a:ext>
            </a:extLst>
          </p:cNvPr>
          <p:cNvSpPr>
            <a:spLocks noChangeArrowheads="1"/>
          </p:cNvSpPr>
          <p:nvPr/>
        </p:nvSpPr>
        <p:spPr bwMode="auto">
          <a:xfrm>
            <a:off x="9445625" y="32004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5333" name="Freeform 39">
            <a:extLst>
              <a:ext uri="{FF2B5EF4-FFF2-40B4-BE49-F238E27FC236}">
                <a16:creationId xmlns:a16="http://schemas.microsoft.com/office/drawing/2014/main" id="{3E191AC2-B5ED-B747-B3D9-D3D560D50A30}"/>
              </a:ext>
            </a:extLst>
          </p:cNvPr>
          <p:cNvSpPr>
            <a:spLocks/>
          </p:cNvSpPr>
          <p:nvPr/>
        </p:nvSpPr>
        <p:spPr bwMode="auto">
          <a:xfrm>
            <a:off x="5029201" y="4648200"/>
            <a:ext cx="327025" cy="522288"/>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38100"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5334" name="Freeform 40">
            <a:extLst>
              <a:ext uri="{FF2B5EF4-FFF2-40B4-BE49-F238E27FC236}">
                <a16:creationId xmlns:a16="http://schemas.microsoft.com/office/drawing/2014/main" id="{6BE3BE5E-B2F3-7449-8B1F-3ECE8EA7A2B0}"/>
              </a:ext>
            </a:extLst>
          </p:cNvPr>
          <p:cNvSpPr>
            <a:spLocks/>
          </p:cNvSpPr>
          <p:nvPr/>
        </p:nvSpPr>
        <p:spPr bwMode="auto">
          <a:xfrm>
            <a:off x="5029200" y="5257800"/>
            <a:ext cx="1836738" cy="457200"/>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5335" name="Line 42">
            <a:extLst>
              <a:ext uri="{FF2B5EF4-FFF2-40B4-BE49-F238E27FC236}">
                <a16:creationId xmlns:a16="http://schemas.microsoft.com/office/drawing/2014/main" id="{BA3CA1CF-753A-474B-8980-C21C3BD7DAA3}"/>
              </a:ext>
            </a:extLst>
          </p:cNvPr>
          <p:cNvSpPr>
            <a:spLocks noChangeShapeType="1"/>
          </p:cNvSpPr>
          <p:nvPr/>
        </p:nvSpPr>
        <p:spPr bwMode="auto">
          <a:xfrm>
            <a:off x="5257800" y="4648200"/>
            <a:ext cx="1627188" cy="0"/>
          </a:xfrm>
          <a:prstGeom prst="line">
            <a:avLst/>
          </a:prstGeom>
          <a:noFill/>
          <a:ln w="381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55336" name="Rectangle 44">
            <a:extLst>
              <a:ext uri="{FF2B5EF4-FFF2-40B4-BE49-F238E27FC236}">
                <a16:creationId xmlns:a16="http://schemas.microsoft.com/office/drawing/2014/main" id="{593E8D7A-8830-6642-A4EF-57948D7307C9}"/>
              </a:ext>
            </a:extLst>
          </p:cNvPr>
          <p:cNvSpPr>
            <a:spLocks noChangeArrowheads="1"/>
          </p:cNvSpPr>
          <p:nvPr/>
        </p:nvSpPr>
        <p:spPr bwMode="auto">
          <a:xfrm>
            <a:off x="5181600" y="5257801"/>
            <a:ext cx="1066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600">
                <a:solidFill>
                  <a:srgbClr val="000000"/>
                </a:solidFill>
              </a:rPr>
              <a:t>Spray</a:t>
            </a:r>
          </a:p>
        </p:txBody>
      </p:sp>
      <p:sp>
        <p:nvSpPr>
          <p:cNvPr id="55337" name="Freeform 45">
            <a:extLst>
              <a:ext uri="{FF2B5EF4-FFF2-40B4-BE49-F238E27FC236}">
                <a16:creationId xmlns:a16="http://schemas.microsoft.com/office/drawing/2014/main" id="{73FFF1D7-7541-CB41-B58D-3C51F8AE6CFF}"/>
              </a:ext>
            </a:extLst>
          </p:cNvPr>
          <p:cNvSpPr>
            <a:spLocks/>
          </p:cNvSpPr>
          <p:nvPr/>
        </p:nvSpPr>
        <p:spPr bwMode="auto">
          <a:xfrm>
            <a:off x="6931025" y="4343400"/>
            <a:ext cx="533400" cy="369888"/>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5338" name="Freeform 46">
            <a:extLst>
              <a:ext uri="{FF2B5EF4-FFF2-40B4-BE49-F238E27FC236}">
                <a16:creationId xmlns:a16="http://schemas.microsoft.com/office/drawing/2014/main" id="{07439529-D23D-3F44-9F44-11E5F3A3BD49}"/>
              </a:ext>
            </a:extLst>
          </p:cNvPr>
          <p:cNvSpPr>
            <a:spLocks/>
          </p:cNvSpPr>
          <p:nvPr/>
        </p:nvSpPr>
        <p:spPr bwMode="auto">
          <a:xfrm>
            <a:off x="6931025" y="4648200"/>
            <a:ext cx="457200" cy="304800"/>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5339" name="Oval 47">
            <a:extLst>
              <a:ext uri="{FF2B5EF4-FFF2-40B4-BE49-F238E27FC236}">
                <a16:creationId xmlns:a16="http://schemas.microsoft.com/office/drawing/2014/main" id="{BA0DB1AD-F8A0-5A47-A1D4-52E2AD6177C8}"/>
              </a:ext>
            </a:extLst>
          </p:cNvPr>
          <p:cNvSpPr>
            <a:spLocks noChangeArrowheads="1"/>
          </p:cNvSpPr>
          <p:nvPr/>
        </p:nvSpPr>
        <p:spPr bwMode="auto">
          <a:xfrm>
            <a:off x="6794501" y="4495800"/>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5340" name="Line 48">
            <a:extLst>
              <a:ext uri="{FF2B5EF4-FFF2-40B4-BE49-F238E27FC236}">
                <a16:creationId xmlns:a16="http://schemas.microsoft.com/office/drawing/2014/main" id="{01D1248B-9D84-E245-BB36-2022C05EE4AE}"/>
              </a:ext>
            </a:extLst>
          </p:cNvPr>
          <p:cNvSpPr>
            <a:spLocks noChangeShapeType="1"/>
          </p:cNvSpPr>
          <p:nvPr/>
        </p:nvSpPr>
        <p:spPr bwMode="auto">
          <a:xfrm>
            <a:off x="7337425" y="4343400"/>
            <a:ext cx="2230438"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55341" name="Line 49">
            <a:extLst>
              <a:ext uri="{FF2B5EF4-FFF2-40B4-BE49-F238E27FC236}">
                <a16:creationId xmlns:a16="http://schemas.microsoft.com/office/drawing/2014/main" id="{25691FCB-61E7-6F4E-AE8E-8FDF6F98B766}"/>
              </a:ext>
            </a:extLst>
          </p:cNvPr>
          <p:cNvSpPr>
            <a:spLocks noChangeShapeType="1"/>
          </p:cNvSpPr>
          <p:nvPr/>
        </p:nvSpPr>
        <p:spPr bwMode="auto">
          <a:xfrm>
            <a:off x="7315200" y="4953000"/>
            <a:ext cx="2166938"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55342" name="Text Box 50">
            <a:extLst>
              <a:ext uri="{FF2B5EF4-FFF2-40B4-BE49-F238E27FC236}">
                <a16:creationId xmlns:a16="http://schemas.microsoft.com/office/drawing/2014/main" id="{1501B0CD-AEF5-1B40-9653-136B0F2E0C21}"/>
              </a:ext>
            </a:extLst>
          </p:cNvPr>
          <p:cNvSpPr txBox="1">
            <a:spLocks noChangeArrowheads="1"/>
          </p:cNvSpPr>
          <p:nvPr/>
        </p:nvSpPr>
        <p:spPr bwMode="auto">
          <a:xfrm>
            <a:off x="6977064" y="3946525"/>
            <a:ext cx="2395537"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2600">
                <a:solidFill>
                  <a:srgbClr val="000000"/>
                </a:solidFill>
              </a:rPr>
              <a:t>Encephalitis</a:t>
            </a:r>
          </a:p>
        </p:txBody>
      </p:sp>
      <p:sp>
        <p:nvSpPr>
          <p:cNvPr id="55343" name="Text Box 51">
            <a:extLst>
              <a:ext uri="{FF2B5EF4-FFF2-40B4-BE49-F238E27FC236}">
                <a16:creationId xmlns:a16="http://schemas.microsoft.com/office/drawing/2014/main" id="{9591456C-F113-4D45-9C06-FE04BCA6BC21}"/>
              </a:ext>
            </a:extLst>
          </p:cNvPr>
          <p:cNvSpPr txBox="1">
            <a:spLocks noChangeArrowheads="1"/>
          </p:cNvSpPr>
          <p:nvPr/>
        </p:nvSpPr>
        <p:spPr bwMode="auto">
          <a:xfrm>
            <a:off x="6977064" y="4572000"/>
            <a:ext cx="2547937"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a:solidFill>
                  <a:srgbClr val="000000"/>
                </a:solidFill>
              </a:rPr>
              <a:t>No </a:t>
            </a:r>
            <a:r>
              <a:rPr lang="en-US" altLang="en-MX" sz="2600">
                <a:solidFill>
                  <a:srgbClr val="000000"/>
                </a:solidFill>
              </a:rPr>
              <a:t>encephalitis</a:t>
            </a:r>
          </a:p>
        </p:txBody>
      </p:sp>
      <p:sp>
        <p:nvSpPr>
          <p:cNvPr id="55344" name="Freeform 52">
            <a:extLst>
              <a:ext uri="{FF2B5EF4-FFF2-40B4-BE49-F238E27FC236}">
                <a16:creationId xmlns:a16="http://schemas.microsoft.com/office/drawing/2014/main" id="{794D3E64-89C9-1C41-8E78-2403E4F1E7BD}"/>
              </a:ext>
            </a:extLst>
          </p:cNvPr>
          <p:cNvSpPr>
            <a:spLocks/>
          </p:cNvSpPr>
          <p:nvPr/>
        </p:nvSpPr>
        <p:spPr bwMode="auto">
          <a:xfrm>
            <a:off x="6931025" y="5410200"/>
            <a:ext cx="533400" cy="369888"/>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5345" name="Freeform 53">
            <a:extLst>
              <a:ext uri="{FF2B5EF4-FFF2-40B4-BE49-F238E27FC236}">
                <a16:creationId xmlns:a16="http://schemas.microsoft.com/office/drawing/2014/main" id="{9B62374F-2799-F54B-8AD4-43303A13120F}"/>
              </a:ext>
            </a:extLst>
          </p:cNvPr>
          <p:cNvSpPr>
            <a:spLocks/>
          </p:cNvSpPr>
          <p:nvPr/>
        </p:nvSpPr>
        <p:spPr bwMode="auto">
          <a:xfrm>
            <a:off x="6931025" y="5715000"/>
            <a:ext cx="457200" cy="304800"/>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5346" name="Oval 54">
            <a:extLst>
              <a:ext uri="{FF2B5EF4-FFF2-40B4-BE49-F238E27FC236}">
                <a16:creationId xmlns:a16="http://schemas.microsoft.com/office/drawing/2014/main" id="{C405A53F-E599-5346-80BA-192521FED92E}"/>
              </a:ext>
            </a:extLst>
          </p:cNvPr>
          <p:cNvSpPr>
            <a:spLocks noChangeArrowheads="1"/>
          </p:cNvSpPr>
          <p:nvPr/>
        </p:nvSpPr>
        <p:spPr bwMode="auto">
          <a:xfrm>
            <a:off x="6794501" y="5562600"/>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5347" name="Line 55">
            <a:extLst>
              <a:ext uri="{FF2B5EF4-FFF2-40B4-BE49-F238E27FC236}">
                <a16:creationId xmlns:a16="http://schemas.microsoft.com/office/drawing/2014/main" id="{6856A2F9-D01E-F743-AFB6-45EFDBCEBDA5}"/>
              </a:ext>
            </a:extLst>
          </p:cNvPr>
          <p:cNvSpPr>
            <a:spLocks noChangeShapeType="1"/>
          </p:cNvSpPr>
          <p:nvPr/>
        </p:nvSpPr>
        <p:spPr bwMode="auto">
          <a:xfrm>
            <a:off x="7261225" y="5410200"/>
            <a:ext cx="22860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55348" name="Line 56">
            <a:extLst>
              <a:ext uri="{FF2B5EF4-FFF2-40B4-BE49-F238E27FC236}">
                <a16:creationId xmlns:a16="http://schemas.microsoft.com/office/drawing/2014/main" id="{C223EC3A-DECE-DE44-8551-CE606AE4336C}"/>
              </a:ext>
            </a:extLst>
          </p:cNvPr>
          <p:cNvSpPr>
            <a:spLocks noChangeShapeType="1"/>
          </p:cNvSpPr>
          <p:nvPr/>
        </p:nvSpPr>
        <p:spPr bwMode="auto">
          <a:xfrm flipV="1">
            <a:off x="7239000" y="6019800"/>
            <a:ext cx="233045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55349" name="Text Box 57">
            <a:extLst>
              <a:ext uri="{FF2B5EF4-FFF2-40B4-BE49-F238E27FC236}">
                <a16:creationId xmlns:a16="http://schemas.microsoft.com/office/drawing/2014/main" id="{4ECB82BA-F4A3-BE4F-8B56-1F764A1B8A25}"/>
              </a:ext>
            </a:extLst>
          </p:cNvPr>
          <p:cNvSpPr txBox="1">
            <a:spLocks noChangeArrowheads="1"/>
          </p:cNvSpPr>
          <p:nvPr/>
        </p:nvSpPr>
        <p:spPr bwMode="auto">
          <a:xfrm>
            <a:off x="6977064" y="5029200"/>
            <a:ext cx="2471737"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2600">
                <a:solidFill>
                  <a:srgbClr val="000000"/>
                </a:solidFill>
              </a:rPr>
              <a:t>Encephalitis</a:t>
            </a:r>
          </a:p>
        </p:txBody>
      </p:sp>
      <p:sp>
        <p:nvSpPr>
          <p:cNvPr id="55350" name="Text Box 58">
            <a:extLst>
              <a:ext uri="{FF2B5EF4-FFF2-40B4-BE49-F238E27FC236}">
                <a16:creationId xmlns:a16="http://schemas.microsoft.com/office/drawing/2014/main" id="{C253B39A-77BD-A749-8A9C-049DAE46FC28}"/>
              </a:ext>
            </a:extLst>
          </p:cNvPr>
          <p:cNvSpPr txBox="1">
            <a:spLocks noChangeArrowheads="1"/>
          </p:cNvSpPr>
          <p:nvPr/>
        </p:nvSpPr>
        <p:spPr bwMode="auto">
          <a:xfrm>
            <a:off x="6977064" y="5638800"/>
            <a:ext cx="2624137"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2600">
                <a:solidFill>
                  <a:srgbClr val="000000"/>
                </a:solidFill>
              </a:rPr>
              <a:t>No encephalitis</a:t>
            </a:r>
          </a:p>
        </p:txBody>
      </p:sp>
      <p:sp>
        <p:nvSpPr>
          <p:cNvPr id="55351" name="AutoShape 59">
            <a:extLst>
              <a:ext uri="{FF2B5EF4-FFF2-40B4-BE49-F238E27FC236}">
                <a16:creationId xmlns:a16="http://schemas.microsoft.com/office/drawing/2014/main" id="{518BD347-AFED-5145-BEAB-1768A0CE5FFB}"/>
              </a:ext>
            </a:extLst>
          </p:cNvPr>
          <p:cNvSpPr>
            <a:spLocks noChangeArrowheads="1"/>
          </p:cNvSpPr>
          <p:nvPr/>
        </p:nvSpPr>
        <p:spPr bwMode="auto">
          <a:xfrm>
            <a:off x="9445625" y="41910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5352" name="AutoShape 60">
            <a:extLst>
              <a:ext uri="{FF2B5EF4-FFF2-40B4-BE49-F238E27FC236}">
                <a16:creationId xmlns:a16="http://schemas.microsoft.com/office/drawing/2014/main" id="{D13A06CF-1300-9B43-80D4-2E8FC46D1C09}"/>
              </a:ext>
            </a:extLst>
          </p:cNvPr>
          <p:cNvSpPr>
            <a:spLocks noChangeArrowheads="1"/>
          </p:cNvSpPr>
          <p:nvPr/>
        </p:nvSpPr>
        <p:spPr bwMode="auto">
          <a:xfrm>
            <a:off x="9445625" y="47244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5353" name="AutoShape 61">
            <a:extLst>
              <a:ext uri="{FF2B5EF4-FFF2-40B4-BE49-F238E27FC236}">
                <a16:creationId xmlns:a16="http://schemas.microsoft.com/office/drawing/2014/main" id="{B50147D5-000D-5046-A801-1FBFF7B050D2}"/>
              </a:ext>
            </a:extLst>
          </p:cNvPr>
          <p:cNvSpPr>
            <a:spLocks noChangeArrowheads="1"/>
          </p:cNvSpPr>
          <p:nvPr/>
        </p:nvSpPr>
        <p:spPr bwMode="auto">
          <a:xfrm>
            <a:off x="9445625" y="52578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5354" name="AutoShape 62">
            <a:extLst>
              <a:ext uri="{FF2B5EF4-FFF2-40B4-BE49-F238E27FC236}">
                <a16:creationId xmlns:a16="http://schemas.microsoft.com/office/drawing/2014/main" id="{B70AD4FE-D670-0148-BBAB-1D162871E928}"/>
              </a:ext>
            </a:extLst>
          </p:cNvPr>
          <p:cNvSpPr>
            <a:spLocks noChangeArrowheads="1"/>
          </p:cNvSpPr>
          <p:nvPr/>
        </p:nvSpPr>
        <p:spPr bwMode="auto">
          <a:xfrm>
            <a:off x="9445625" y="57912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5355" name="Rectangle 12">
            <a:extLst>
              <a:ext uri="{FF2B5EF4-FFF2-40B4-BE49-F238E27FC236}">
                <a16:creationId xmlns:a16="http://schemas.microsoft.com/office/drawing/2014/main" id="{B8A3D019-FF28-C145-81A4-64532FEEDC19}"/>
              </a:ext>
            </a:extLst>
          </p:cNvPr>
          <p:cNvSpPr>
            <a:spLocks noChangeArrowheads="1"/>
          </p:cNvSpPr>
          <p:nvPr/>
        </p:nvSpPr>
        <p:spPr bwMode="auto">
          <a:xfrm>
            <a:off x="2057401" y="3503614"/>
            <a:ext cx="238125" cy="261937"/>
          </a:xfrm>
          <a:prstGeom prst="rect">
            <a:avLst/>
          </a:prstGeom>
          <a:solidFill>
            <a:schemeClr val="bg1"/>
          </a:solidFill>
          <a:ln w="25400">
            <a:solidFill>
              <a:srgbClr val="0000FF"/>
            </a:solidFill>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5356" name="Rectangle 17">
            <a:extLst>
              <a:ext uri="{FF2B5EF4-FFF2-40B4-BE49-F238E27FC236}">
                <a16:creationId xmlns:a16="http://schemas.microsoft.com/office/drawing/2014/main" id="{91BA542E-715E-C949-9CB3-1E8C548EAF61}"/>
              </a:ext>
            </a:extLst>
          </p:cNvPr>
          <p:cNvSpPr>
            <a:spLocks noChangeArrowheads="1"/>
          </p:cNvSpPr>
          <p:nvPr/>
        </p:nvSpPr>
        <p:spPr bwMode="auto">
          <a:xfrm>
            <a:off x="4800601" y="2438400"/>
            <a:ext cx="238125" cy="261938"/>
          </a:xfrm>
          <a:prstGeom prst="rect">
            <a:avLst/>
          </a:prstGeom>
          <a:solidFill>
            <a:schemeClr val="bg1"/>
          </a:solidFill>
          <a:ln w="25400">
            <a:solidFill>
              <a:srgbClr val="0000FF"/>
            </a:solidFill>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5357" name="Rectangle 41">
            <a:extLst>
              <a:ext uri="{FF2B5EF4-FFF2-40B4-BE49-F238E27FC236}">
                <a16:creationId xmlns:a16="http://schemas.microsoft.com/office/drawing/2014/main" id="{96B52C60-6C53-7248-8F24-3322D2A22D32}"/>
              </a:ext>
            </a:extLst>
          </p:cNvPr>
          <p:cNvSpPr>
            <a:spLocks noChangeArrowheads="1"/>
          </p:cNvSpPr>
          <p:nvPr/>
        </p:nvSpPr>
        <p:spPr bwMode="auto">
          <a:xfrm>
            <a:off x="4876801" y="5029200"/>
            <a:ext cx="238125" cy="261938"/>
          </a:xfrm>
          <a:prstGeom prst="rect">
            <a:avLst/>
          </a:prstGeom>
          <a:solidFill>
            <a:schemeClr val="bg1"/>
          </a:solidFill>
          <a:ln w="25400">
            <a:solidFill>
              <a:srgbClr val="0000FF"/>
            </a:solidFill>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5358" name="Text Box 63">
            <a:extLst>
              <a:ext uri="{FF2B5EF4-FFF2-40B4-BE49-F238E27FC236}">
                <a16:creationId xmlns:a16="http://schemas.microsoft.com/office/drawing/2014/main" id="{7A29FA5B-3DCE-3141-B2D5-657860D280A8}"/>
              </a:ext>
            </a:extLst>
          </p:cNvPr>
          <p:cNvSpPr txBox="1">
            <a:spLocks noChangeArrowheads="1"/>
          </p:cNvSpPr>
          <p:nvPr/>
        </p:nvSpPr>
        <p:spPr bwMode="auto">
          <a:xfrm>
            <a:off x="2057400" y="6019801"/>
            <a:ext cx="3886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MX" sz="2800" b="1" i="1">
                <a:solidFill>
                  <a:srgbClr val="990033"/>
                </a:solidFill>
              </a:rPr>
              <a:t>Perfect information</a:t>
            </a:r>
          </a:p>
        </p:txBody>
      </p:sp>
      <p:sp>
        <p:nvSpPr>
          <p:cNvPr id="55359" name="Line 64">
            <a:extLst>
              <a:ext uri="{FF2B5EF4-FFF2-40B4-BE49-F238E27FC236}">
                <a16:creationId xmlns:a16="http://schemas.microsoft.com/office/drawing/2014/main" id="{0A3E209D-5D3B-5745-B9F4-9D3BE5D73F0E}"/>
              </a:ext>
            </a:extLst>
          </p:cNvPr>
          <p:cNvSpPr>
            <a:spLocks noChangeShapeType="1"/>
          </p:cNvSpPr>
          <p:nvPr/>
        </p:nvSpPr>
        <p:spPr bwMode="auto">
          <a:xfrm flipV="1">
            <a:off x="3886200" y="5562600"/>
            <a:ext cx="0" cy="533400"/>
          </a:xfrm>
          <a:prstGeom prst="line">
            <a:avLst/>
          </a:prstGeom>
          <a:noFill/>
          <a:ln w="19050">
            <a:solidFill>
              <a:srgbClr val="990033"/>
            </a:solidFill>
            <a:round/>
            <a:headEnd/>
            <a:tailEnd type="triangle" w="med" len="med"/>
          </a:ln>
          <a:extLst>
            <a:ext uri="{909E8E84-426E-40DD-AFC4-6F175D3DCCD1}">
              <a14:hiddenFill xmlns:a14="http://schemas.microsoft.com/office/drawing/2010/main">
                <a:noFill/>
              </a14:hiddenFill>
            </a:ext>
          </a:extLst>
        </p:spPr>
        <p:txBody>
          <a:bodyPr/>
          <a:lstStyle/>
          <a:p>
            <a:endParaRPr lang="en-MX"/>
          </a:p>
        </p:txBody>
      </p:sp>
    </p:spTree>
    <p:extLst>
      <p:ext uri="{BB962C8B-B14F-4D97-AF65-F5344CB8AC3E}">
        <p14:creationId xmlns:p14="http://schemas.microsoft.com/office/powerpoint/2010/main" val="186892615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198C7E9E-276C-5B44-AD3F-69B0EDB68179}"/>
              </a:ext>
            </a:extLst>
          </p:cNvPr>
          <p:cNvSpPr>
            <a:spLocks noChangeArrowheads="1"/>
          </p:cNvSpPr>
          <p:nvPr/>
        </p:nvSpPr>
        <p:spPr bwMode="auto">
          <a:xfrm>
            <a:off x="3048000" y="4572000"/>
            <a:ext cx="228600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ja-JP" altLang="en-US" b="1">
                <a:solidFill>
                  <a:srgbClr val="000000"/>
                </a:solidFill>
              </a:rPr>
              <a:t>“</a:t>
            </a:r>
            <a:r>
              <a:rPr lang="en-US" altLang="ja-JP" b="1">
                <a:solidFill>
                  <a:srgbClr val="000000"/>
                </a:solidFill>
              </a:rPr>
              <a:t>No</a:t>
            </a:r>
          </a:p>
          <a:p>
            <a:r>
              <a:rPr lang="en-US" altLang="en-MX" b="1">
                <a:solidFill>
                  <a:srgbClr val="000000"/>
                </a:solidFill>
              </a:rPr>
              <a:t>Outbreak</a:t>
            </a:r>
            <a:r>
              <a:rPr lang="ja-JP" altLang="en-US" b="1">
                <a:solidFill>
                  <a:srgbClr val="000000"/>
                </a:solidFill>
              </a:rPr>
              <a:t>”</a:t>
            </a:r>
            <a:endParaRPr lang="en-US" altLang="en-MX" b="1">
              <a:solidFill>
                <a:srgbClr val="000000"/>
              </a:solidFill>
            </a:endParaRPr>
          </a:p>
        </p:txBody>
      </p:sp>
      <p:sp>
        <p:nvSpPr>
          <p:cNvPr id="57346" name="Rectangle 3">
            <a:extLst>
              <a:ext uri="{FF2B5EF4-FFF2-40B4-BE49-F238E27FC236}">
                <a16:creationId xmlns:a16="http://schemas.microsoft.com/office/drawing/2014/main" id="{97ABE66C-1B8F-2E47-9BBC-160B0B87E76C}"/>
              </a:ext>
            </a:extLst>
          </p:cNvPr>
          <p:cNvSpPr>
            <a:spLocks noChangeArrowheads="1"/>
          </p:cNvSpPr>
          <p:nvPr/>
        </p:nvSpPr>
        <p:spPr bwMode="auto">
          <a:xfrm>
            <a:off x="4876800" y="4419601"/>
            <a:ext cx="1752600"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600">
                <a:solidFill>
                  <a:srgbClr val="000000"/>
                </a:solidFill>
              </a:rPr>
              <a:t>Don</a:t>
            </a:r>
            <a:r>
              <a:rPr lang="ja-JP" altLang="en-US" sz="2600">
                <a:solidFill>
                  <a:srgbClr val="000000"/>
                </a:solidFill>
              </a:rPr>
              <a:t>’</a:t>
            </a:r>
            <a:r>
              <a:rPr lang="en-US" altLang="ja-JP" sz="2600">
                <a:solidFill>
                  <a:srgbClr val="000000"/>
                </a:solidFill>
              </a:rPr>
              <a:t>t spray</a:t>
            </a:r>
            <a:endParaRPr lang="en-US" altLang="en-MX" sz="2600">
              <a:solidFill>
                <a:srgbClr val="000000"/>
              </a:solidFill>
            </a:endParaRPr>
          </a:p>
        </p:txBody>
      </p:sp>
      <p:sp>
        <p:nvSpPr>
          <p:cNvPr id="57347" name="Rectangle 4">
            <a:extLst>
              <a:ext uri="{FF2B5EF4-FFF2-40B4-BE49-F238E27FC236}">
                <a16:creationId xmlns:a16="http://schemas.microsoft.com/office/drawing/2014/main" id="{B635F724-9712-8944-BEB2-66624897AF1A}"/>
              </a:ext>
            </a:extLst>
          </p:cNvPr>
          <p:cNvSpPr>
            <a:spLocks noChangeArrowheads="1"/>
          </p:cNvSpPr>
          <p:nvPr/>
        </p:nvSpPr>
        <p:spPr bwMode="auto">
          <a:xfrm>
            <a:off x="4800600" y="1828801"/>
            <a:ext cx="1905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600">
                <a:solidFill>
                  <a:srgbClr val="000000"/>
                </a:solidFill>
              </a:rPr>
              <a:t>Don</a:t>
            </a:r>
            <a:r>
              <a:rPr lang="ja-JP" altLang="en-US" sz="2600">
                <a:solidFill>
                  <a:srgbClr val="000000"/>
                </a:solidFill>
              </a:rPr>
              <a:t>’</a:t>
            </a:r>
            <a:r>
              <a:rPr lang="en-US" altLang="ja-JP" sz="2600">
                <a:solidFill>
                  <a:srgbClr val="000000"/>
                </a:solidFill>
              </a:rPr>
              <a:t>t spray</a:t>
            </a:r>
            <a:endParaRPr lang="en-US" altLang="en-MX" sz="2600">
              <a:solidFill>
                <a:srgbClr val="000000"/>
              </a:solidFill>
            </a:endParaRPr>
          </a:p>
        </p:txBody>
      </p:sp>
      <p:sp>
        <p:nvSpPr>
          <p:cNvPr id="276485" name="Rectangle 5">
            <a:extLst>
              <a:ext uri="{FF2B5EF4-FFF2-40B4-BE49-F238E27FC236}">
                <a16:creationId xmlns:a16="http://schemas.microsoft.com/office/drawing/2014/main" id="{E4A8DEEA-71F5-B446-B4FF-1794749DE23F}"/>
              </a:ext>
            </a:extLst>
          </p:cNvPr>
          <p:cNvSpPr>
            <a:spLocks noGrp="1" noChangeArrowheads="1"/>
          </p:cNvSpPr>
          <p:nvPr>
            <p:ph type="title"/>
          </p:nvPr>
        </p:nvSpPr>
        <p:spPr>
          <a:xfrm>
            <a:off x="838200" y="365126"/>
            <a:ext cx="10515600" cy="849316"/>
          </a:xfrm>
        </p:spPr>
        <p:txBody>
          <a:bodyPr/>
          <a:lstStyle/>
          <a:p>
            <a:pPr eaLnBrk="1" hangingPunct="1"/>
            <a:r>
              <a:rPr lang="en-US" altLang="en-MX" dirty="0">
                <a:ea typeface="ＭＳ Ｐゴシック" panose="020B0600070205080204" pitchFamily="34" charset="-128"/>
              </a:rPr>
              <a:t>Pruning the Tree</a:t>
            </a:r>
          </a:p>
        </p:txBody>
      </p:sp>
      <p:sp>
        <p:nvSpPr>
          <p:cNvPr id="57349" name="Rectangle 6">
            <a:extLst>
              <a:ext uri="{FF2B5EF4-FFF2-40B4-BE49-F238E27FC236}">
                <a16:creationId xmlns:a16="http://schemas.microsoft.com/office/drawing/2014/main" id="{E35F63C7-6621-0C44-AA01-CA8A2EDBE5F3}"/>
              </a:ext>
            </a:extLst>
          </p:cNvPr>
          <p:cNvSpPr>
            <a:spLocks noChangeArrowheads="1"/>
          </p:cNvSpPr>
          <p:nvPr/>
        </p:nvSpPr>
        <p:spPr bwMode="auto">
          <a:xfrm>
            <a:off x="2971801" y="2286000"/>
            <a:ext cx="166231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ja-JP" altLang="en-US" b="1">
                <a:solidFill>
                  <a:srgbClr val="000000"/>
                </a:solidFill>
              </a:rPr>
              <a:t>“</a:t>
            </a:r>
            <a:r>
              <a:rPr lang="en-US" altLang="ja-JP" b="1">
                <a:solidFill>
                  <a:srgbClr val="000000"/>
                </a:solidFill>
              </a:rPr>
              <a:t>Outbreak</a:t>
            </a:r>
            <a:r>
              <a:rPr lang="ja-JP" altLang="en-US" b="1">
                <a:solidFill>
                  <a:srgbClr val="000000"/>
                </a:solidFill>
              </a:rPr>
              <a:t>”</a:t>
            </a:r>
            <a:endParaRPr lang="en-US" altLang="en-MX" b="1">
              <a:solidFill>
                <a:srgbClr val="000000"/>
              </a:solidFill>
            </a:endParaRPr>
          </a:p>
        </p:txBody>
      </p:sp>
      <p:sp>
        <p:nvSpPr>
          <p:cNvPr id="57350" name="Freeform 7">
            <a:extLst>
              <a:ext uri="{FF2B5EF4-FFF2-40B4-BE49-F238E27FC236}">
                <a16:creationId xmlns:a16="http://schemas.microsoft.com/office/drawing/2014/main" id="{DC16C75B-C239-3C48-9463-9A7F4989B60E}"/>
              </a:ext>
            </a:extLst>
          </p:cNvPr>
          <p:cNvSpPr>
            <a:spLocks/>
          </p:cNvSpPr>
          <p:nvPr/>
        </p:nvSpPr>
        <p:spPr bwMode="auto">
          <a:xfrm>
            <a:off x="2971800" y="2743201"/>
            <a:ext cx="280988" cy="989013"/>
          </a:xfrm>
          <a:custGeom>
            <a:avLst/>
            <a:gdLst>
              <a:gd name="T0" fmla="*/ 0 w 14"/>
              <a:gd name="T1" fmla="*/ 2147483647 h 16"/>
              <a:gd name="T2" fmla="*/ 0 w 14"/>
              <a:gd name="T3" fmla="*/ 0 h 16"/>
              <a:gd name="T4" fmla="*/ 2147483647 w 14"/>
              <a:gd name="T5" fmla="*/ 0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16"/>
                </a:moveTo>
                <a:lnTo>
                  <a:pt x="0" y="0"/>
                </a:lnTo>
                <a:lnTo>
                  <a:pt x="14" y="0"/>
                </a:lnTo>
              </a:path>
            </a:pathLst>
          </a:custGeom>
          <a:noFill/>
          <a:ln w="38100"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7351" name="Freeform 8">
            <a:extLst>
              <a:ext uri="{FF2B5EF4-FFF2-40B4-BE49-F238E27FC236}">
                <a16:creationId xmlns:a16="http://schemas.microsoft.com/office/drawing/2014/main" id="{D77F68B1-157F-EC4B-A589-AE82A048B76D}"/>
              </a:ext>
            </a:extLst>
          </p:cNvPr>
          <p:cNvSpPr>
            <a:spLocks/>
          </p:cNvSpPr>
          <p:nvPr/>
        </p:nvSpPr>
        <p:spPr bwMode="auto">
          <a:xfrm>
            <a:off x="2971801" y="3657600"/>
            <a:ext cx="371475" cy="1676400"/>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38100"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7352" name="Line 9">
            <a:extLst>
              <a:ext uri="{FF2B5EF4-FFF2-40B4-BE49-F238E27FC236}">
                <a16:creationId xmlns:a16="http://schemas.microsoft.com/office/drawing/2014/main" id="{D9943C0A-4E88-E843-B523-1D7392527C2F}"/>
              </a:ext>
            </a:extLst>
          </p:cNvPr>
          <p:cNvSpPr>
            <a:spLocks noChangeShapeType="1"/>
          </p:cNvSpPr>
          <p:nvPr/>
        </p:nvSpPr>
        <p:spPr bwMode="auto">
          <a:xfrm>
            <a:off x="2133601" y="3808414"/>
            <a:ext cx="765175"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57353" name="Oval 10">
            <a:extLst>
              <a:ext uri="{FF2B5EF4-FFF2-40B4-BE49-F238E27FC236}">
                <a16:creationId xmlns:a16="http://schemas.microsoft.com/office/drawing/2014/main" id="{5C23EFE9-D298-B145-B30B-3E02AE3BBC9F}"/>
              </a:ext>
            </a:extLst>
          </p:cNvPr>
          <p:cNvSpPr>
            <a:spLocks noChangeArrowheads="1"/>
          </p:cNvSpPr>
          <p:nvPr/>
        </p:nvSpPr>
        <p:spPr bwMode="auto">
          <a:xfrm>
            <a:off x="2819401" y="3732213"/>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7354" name="Rectangle 11">
            <a:extLst>
              <a:ext uri="{FF2B5EF4-FFF2-40B4-BE49-F238E27FC236}">
                <a16:creationId xmlns:a16="http://schemas.microsoft.com/office/drawing/2014/main" id="{9DC91A04-4789-5445-9C3B-B12FCBAE28ED}"/>
              </a:ext>
            </a:extLst>
          </p:cNvPr>
          <p:cNvSpPr>
            <a:spLocks noChangeArrowheads="1"/>
          </p:cNvSpPr>
          <p:nvPr/>
        </p:nvSpPr>
        <p:spPr bwMode="auto">
          <a:xfrm>
            <a:off x="2133600" y="3276600"/>
            <a:ext cx="6122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600">
                <a:solidFill>
                  <a:srgbClr val="000000"/>
                </a:solidFill>
              </a:rPr>
              <a:t>Test</a:t>
            </a:r>
          </a:p>
        </p:txBody>
      </p:sp>
      <p:sp>
        <p:nvSpPr>
          <p:cNvPr id="57355" name="Freeform 12">
            <a:extLst>
              <a:ext uri="{FF2B5EF4-FFF2-40B4-BE49-F238E27FC236}">
                <a16:creationId xmlns:a16="http://schemas.microsoft.com/office/drawing/2014/main" id="{C6FB4C29-5141-0A4E-9A5F-53C569861DB8}"/>
              </a:ext>
            </a:extLst>
          </p:cNvPr>
          <p:cNvSpPr>
            <a:spLocks/>
          </p:cNvSpPr>
          <p:nvPr/>
        </p:nvSpPr>
        <p:spPr bwMode="auto">
          <a:xfrm>
            <a:off x="2055813" y="2133600"/>
            <a:ext cx="303212" cy="1893888"/>
          </a:xfrm>
          <a:custGeom>
            <a:avLst/>
            <a:gdLst>
              <a:gd name="T0" fmla="*/ 0 w 14"/>
              <a:gd name="T1" fmla="*/ 2147483647 h 87"/>
              <a:gd name="T2" fmla="*/ 0 w 14"/>
              <a:gd name="T3" fmla="*/ 0 h 87"/>
              <a:gd name="T4" fmla="*/ 2147483647 w 14"/>
              <a:gd name="T5" fmla="*/ 0 h 87"/>
              <a:gd name="T6" fmla="*/ 0 60000 65536"/>
              <a:gd name="T7" fmla="*/ 0 60000 65536"/>
              <a:gd name="T8" fmla="*/ 0 60000 65536"/>
              <a:gd name="T9" fmla="*/ 0 w 14"/>
              <a:gd name="T10" fmla="*/ 0 h 87"/>
              <a:gd name="T11" fmla="*/ 14 w 14"/>
              <a:gd name="T12" fmla="*/ 87 h 87"/>
            </a:gdLst>
            <a:ahLst/>
            <a:cxnLst>
              <a:cxn ang="T6">
                <a:pos x="T0" y="T1"/>
              </a:cxn>
              <a:cxn ang="T7">
                <a:pos x="T2" y="T3"/>
              </a:cxn>
              <a:cxn ang="T8">
                <a:pos x="T4" y="T5"/>
              </a:cxn>
            </a:cxnLst>
            <a:rect l="T9" t="T10" r="T11" b="T12"/>
            <a:pathLst>
              <a:path w="14" h="87">
                <a:moveTo>
                  <a:pt x="0" y="8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7356" name="Freeform 13">
            <a:extLst>
              <a:ext uri="{FF2B5EF4-FFF2-40B4-BE49-F238E27FC236}">
                <a16:creationId xmlns:a16="http://schemas.microsoft.com/office/drawing/2014/main" id="{535D234E-0A77-6A4F-B7A8-294CA0992B62}"/>
              </a:ext>
            </a:extLst>
          </p:cNvPr>
          <p:cNvSpPr>
            <a:spLocks/>
          </p:cNvSpPr>
          <p:nvPr/>
        </p:nvSpPr>
        <p:spPr bwMode="auto">
          <a:xfrm>
            <a:off x="2057401" y="3711575"/>
            <a:ext cx="301625" cy="1544638"/>
          </a:xfrm>
          <a:custGeom>
            <a:avLst/>
            <a:gdLst>
              <a:gd name="T0" fmla="*/ 0 w 14"/>
              <a:gd name="T1" fmla="*/ 0 h 88"/>
              <a:gd name="T2" fmla="*/ 0 w 14"/>
              <a:gd name="T3" fmla="*/ 2147483647 h 88"/>
              <a:gd name="T4" fmla="*/ 2147483647 w 14"/>
              <a:gd name="T5" fmla="*/ 2147483647 h 88"/>
              <a:gd name="T6" fmla="*/ 0 60000 65536"/>
              <a:gd name="T7" fmla="*/ 0 60000 65536"/>
              <a:gd name="T8" fmla="*/ 0 60000 65536"/>
              <a:gd name="T9" fmla="*/ 0 w 14"/>
              <a:gd name="T10" fmla="*/ 0 h 88"/>
              <a:gd name="T11" fmla="*/ 14 w 14"/>
              <a:gd name="T12" fmla="*/ 88 h 88"/>
            </a:gdLst>
            <a:ahLst/>
            <a:cxnLst>
              <a:cxn ang="T6">
                <a:pos x="T0" y="T1"/>
              </a:cxn>
              <a:cxn ang="T7">
                <a:pos x="T2" y="T3"/>
              </a:cxn>
              <a:cxn ang="T8">
                <a:pos x="T4" y="T5"/>
              </a:cxn>
            </a:cxnLst>
            <a:rect l="T9" t="T10" r="T11" b="T12"/>
            <a:pathLst>
              <a:path w="14" h="88">
                <a:moveTo>
                  <a:pt x="0" y="0"/>
                </a:moveTo>
                <a:lnTo>
                  <a:pt x="0" y="88"/>
                </a:lnTo>
                <a:lnTo>
                  <a:pt x="14" y="88"/>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7357" name="Line 14">
            <a:extLst>
              <a:ext uri="{FF2B5EF4-FFF2-40B4-BE49-F238E27FC236}">
                <a16:creationId xmlns:a16="http://schemas.microsoft.com/office/drawing/2014/main" id="{AB411993-8564-2C46-9762-3FDAA2483AAF}"/>
              </a:ext>
            </a:extLst>
          </p:cNvPr>
          <p:cNvSpPr>
            <a:spLocks noChangeShapeType="1"/>
          </p:cNvSpPr>
          <p:nvPr/>
        </p:nvSpPr>
        <p:spPr bwMode="auto">
          <a:xfrm>
            <a:off x="3200400" y="2743200"/>
            <a:ext cx="1447800" cy="0"/>
          </a:xfrm>
          <a:prstGeom prst="line">
            <a:avLst/>
          </a:prstGeom>
          <a:noFill/>
          <a:ln w="381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57358" name="Line 15">
            <a:extLst>
              <a:ext uri="{FF2B5EF4-FFF2-40B4-BE49-F238E27FC236}">
                <a16:creationId xmlns:a16="http://schemas.microsoft.com/office/drawing/2014/main" id="{03A4DCE7-0896-EC49-A6EB-917DCC642E9A}"/>
              </a:ext>
            </a:extLst>
          </p:cNvPr>
          <p:cNvSpPr>
            <a:spLocks noChangeShapeType="1"/>
          </p:cNvSpPr>
          <p:nvPr/>
        </p:nvSpPr>
        <p:spPr bwMode="auto">
          <a:xfrm>
            <a:off x="3333751" y="5332414"/>
            <a:ext cx="1425575" cy="1587"/>
          </a:xfrm>
          <a:prstGeom prst="line">
            <a:avLst/>
          </a:prstGeom>
          <a:noFill/>
          <a:ln w="381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57359" name="Freeform 16">
            <a:extLst>
              <a:ext uri="{FF2B5EF4-FFF2-40B4-BE49-F238E27FC236}">
                <a16:creationId xmlns:a16="http://schemas.microsoft.com/office/drawing/2014/main" id="{33B3AED4-7CE4-6048-AEAB-13B9224F8EB3}"/>
              </a:ext>
            </a:extLst>
          </p:cNvPr>
          <p:cNvSpPr>
            <a:spLocks/>
          </p:cNvSpPr>
          <p:nvPr/>
        </p:nvSpPr>
        <p:spPr bwMode="auto">
          <a:xfrm>
            <a:off x="4800601" y="2209800"/>
            <a:ext cx="327025" cy="522288"/>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7360" name="Freeform 17">
            <a:extLst>
              <a:ext uri="{FF2B5EF4-FFF2-40B4-BE49-F238E27FC236}">
                <a16:creationId xmlns:a16="http://schemas.microsoft.com/office/drawing/2014/main" id="{2D267B5E-FB21-284A-A3E0-1483214F63F0}"/>
              </a:ext>
            </a:extLst>
          </p:cNvPr>
          <p:cNvSpPr>
            <a:spLocks/>
          </p:cNvSpPr>
          <p:nvPr/>
        </p:nvSpPr>
        <p:spPr bwMode="auto">
          <a:xfrm>
            <a:off x="4800600" y="2819400"/>
            <a:ext cx="1836738" cy="457200"/>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38100"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7361" name="Line 18">
            <a:extLst>
              <a:ext uri="{FF2B5EF4-FFF2-40B4-BE49-F238E27FC236}">
                <a16:creationId xmlns:a16="http://schemas.microsoft.com/office/drawing/2014/main" id="{94AFEAC3-BA7A-5940-94E7-AF8FE04B9A10}"/>
              </a:ext>
            </a:extLst>
          </p:cNvPr>
          <p:cNvSpPr>
            <a:spLocks noChangeShapeType="1"/>
          </p:cNvSpPr>
          <p:nvPr/>
        </p:nvSpPr>
        <p:spPr bwMode="auto">
          <a:xfrm>
            <a:off x="5029200" y="2209800"/>
            <a:ext cx="1627188"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57362" name="Rectangle 19">
            <a:extLst>
              <a:ext uri="{FF2B5EF4-FFF2-40B4-BE49-F238E27FC236}">
                <a16:creationId xmlns:a16="http://schemas.microsoft.com/office/drawing/2014/main" id="{83757930-5845-9645-97B4-1D19EC1E0D7B}"/>
              </a:ext>
            </a:extLst>
          </p:cNvPr>
          <p:cNvSpPr>
            <a:spLocks noChangeArrowheads="1"/>
          </p:cNvSpPr>
          <p:nvPr/>
        </p:nvSpPr>
        <p:spPr bwMode="auto">
          <a:xfrm>
            <a:off x="4953000" y="2819401"/>
            <a:ext cx="1219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600">
                <a:solidFill>
                  <a:srgbClr val="000000"/>
                </a:solidFill>
              </a:rPr>
              <a:t>Spray</a:t>
            </a:r>
          </a:p>
        </p:txBody>
      </p:sp>
      <p:sp>
        <p:nvSpPr>
          <p:cNvPr id="57363" name="Freeform 20">
            <a:extLst>
              <a:ext uri="{FF2B5EF4-FFF2-40B4-BE49-F238E27FC236}">
                <a16:creationId xmlns:a16="http://schemas.microsoft.com/office/drawing/2014/main" id="{66011C6F-0C52-8F4D-91AA-7F0764AC96A4}"/>
              </a:ext>
            </a:extLst>
          </p:cNvPr>
          <p:cNvSpPr>
            <a:spLocks/>
          </p:cNvSpPr>
          <p:nvPr/>
        </p:nvSpPr>
        <p:spPr bwMode="auto">
          <a:xfrm>
            <a:off x="6781800" y="1905000"/>
            <a:ext cx="533400" cy="369888"/>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7364" name="Freeform 21">
            <a:extLst>
              <a:ext uri="{FF2B5EF4-FFF2-40B4-BE49-F238E27FC236}">
                <a16:creationId xmlns:a16="http://schemas.microsoft.com/office/drawing/2014/main" id="{FAEBEF28-D11B-D74E-AB6E-C9574DF7B56C}"/>
              </a:ext>
            </a:extLst>
          </p:cNvPr>
          <p:cNvSpPr>
            <a:spLocks/>
          </p:cNvSpPr>
          <p:nvPr/>
        </p:nvSpPr>
        <p:spPr bwMode="auto">
          <a:xfrm>
            <a:off x="6815138" y="2209800"/>
            <a:ext cx="457200" cy="304800"/>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7365" name="Oval 22">
            <a:extLst>
              <a:ext uri="{FF2B5EF4-FFF2-40B4-BE49-F238E27FC236}">
                <a16:creationId xmlns:a16="http://schemas.microsoft.com/office/drawing/2014/main" id="{7D45DD82-1ADF-DC45-AA46-74A258A6C1EE}"/>
              </a:ext>
            </a:extLst>
          </p:cNvPr>
          <p:cNvSpPr>
            <a:spLocks noChangeArrowheads="1"/>
          </p:cNvSpPr>
          <p:nvPr/>
        </p:nvSpPr>
        <p:spPr bwMode="auto">
          <a:xfrm>
            <a:off x="6642101" y="2057400"/>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7366" name="Line 23">
            <a:extLst>
              <a:ext uri="{FF2B5EF4-FFF2-40B4-BE49-F238E27FC236}">
                <a16:creationId xmlns:a16="http://schemas.microsoft.com/office/drawing/2014/main" id="{5285EEF6-C64F-964D-B0E3-D92450427CD1}"/>
              </a:ext>
            </a:extLst>
          </p:cNvPr>
          <p:cNvSpPr>
            <a:spLocks noChangeShapeType="1"/>
          </p:cNvSpPr>
          <p:nvPr/>
        </p:nvSpPr>
        <p:spPr bwMode="auto">
          <a:xfrm>
            <a:off x="7108826" y="1905000"/>
            <a:ext cx="2322513"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57367" name="Line 24">
            <a:extLst>
              <a:ext uri="{FF2B5EF4-FFF2-40B4-BE49-F238E27FC236}">
                <a16:creationId xmlns:a16="http://schemas.microsoft.com/office/drawing/2014/main" id="{D9383F4C-E967-D945-B1C3-CCF75AB83D0B}"/>
              </a:ext>
            </a:extLst>
          </p:cNvPr>
          <p:cNvSpPr>
            <a:spLocks noChangeShapeType="1"/>
          </p:cNvSpPr>
          <p:nvPr/>
        </p:nvSpPr>
        <p:spPr bwMode="auto">
          <a:xfrm>
            <a:off x="7086601" y="2514600"/>
            <a:ext cx="225742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57368" name="Text Box 25">
            <a:extLst>
              <a:ext uri="{FF2B5EF4-FFF2-40B4-BE49-F238E27FC236}">
                <a16:creationId xmlns:a16="http://schemas.microsoft.com/office/drawing/2014/main" id="{2CF8A4BA-31BC-2247-8276-B308D4749C2F}"/>
              </a:ext>
            </a:extLst>
          </p:cNvPr>
          <p:cNvSpPr txBox="1">
            <a:spLocks noChangeArrowheads="1"/>
          </p:cNvSpPr>
          <p:nvPr/>
        </p:nvSpPr>
        <p:spPr bwMode="auto">
          <a:xfrm>
            <a:off x="6824663" y="1524000"/>
            <a:ext cx="19812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2600">
                <a:solidFill>
                  <a:srgbClr val="000000"/>
                </a:solidFill>
              </a:rPr>
              <a:t>Encephalitis</a:t>
            </a:r>
          </a:p>
        </p:txBody>
      </p:sp>
      <p:sp>
        <p:nvSpPr>
          <p:cNvPr id="57369" name="Text Box 26">
            <a:extLst>
              <a:ext uri="{FF2B5EF4-FFF2-40B4-BE49-F238E27FC236}">
                <a16:creationId xmlns:a16="http://schemas.microsoft.com/office/drawing/2014/main" id="{FD1CB336-A552-EB4B-B33E-E4EFD0111F16}"/>
              </a:ext>
            </a:extLst>
          </p:cNvPr>
          <p:cNvSpPr txBox="1">
            <a:spLocks noChangeArrowheads="1"/>
          </p:cNvSpPr>
          <p:nvPr/>
        </p:nvSpPr>
        <p:spPr bwMode="auto">
          <a:xfrm>
            <a:off x="6824663" y="2133600"/>
            <a:ext cx="25908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2600">
                <a:solidFill>
                  <a:srgbClr val="000000"/>
                </a:solidFill>
              </a:rPr>
              <a:t>No encephalitis</a:t>
            </a:r>
          </a:p>
        </p:txBody>
      </p:sp>
      <p:sp>
        <p:nvSpPr>
          <p:cNvPr id="57370" name="Freeform 27">
            <a:extLst>
              <a:ext uri="{FF2B5EF4-FFF2-40B4-BE49-F238E27FC236}">
                <a16:creationId xmlns:a16="http://schemas.microsoft.com/office/drawing/2014/main" id="{2FDCE762-161C-6C40-B95A-E12ED3ECD44E}"/>
              </a:ext>
            </a:extLst>
          </p:cNvPr>
          <p:cNvSpPr>
            <a:spLocks/>
          </p:cNvSpPr>
          <p:nvPr/>
        </p:nvSpPr>
        <p:spPr bwMode="auto">
          <a:xfrm>
            <a:off x="6778625" y="2971800"/>
            <a:ext cx="533400" cy="369888"/>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7371" name="Freeform 28">
            <a:extLst>
              <a:ext uri="{FF2B5EF4-FFF2-40B4-BE49-F238E27FC236}">
                <a16:creationId xmlns:a16="http://schemas.microsoft.com/office/drawing/2014/main" id="{EE373739-E4A7-384F-98CA-F422E57A8CD5}"/>
              </a:ext>
            </a:extLst>
          </p:cNvPr>
          <p:cNvSpPr>
            <a:spLocks/>
          </p:cNvSpPr>
          <p:nvPr/>
        </p:nvSpPr>
        <p:spPr bwMode="auto">
          <a:xfrm>
            <a:off x="6778625" y="3276600"/>
            <a:ext cx="457200" cy="304800"/>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7372" name="Oval 29">
            <a:extLst>
              <a:ext uri="{FF2B5EF4-FFF2-40B4-BE49-F238E27FC236}">
                <a16:creationId xmlns:a16="http://schemas.microsoft.com/office/drawing/2014/main" id="{224DCA0D-BD67-604E-9CF4-9890FDD769B7}"/>
              </a:ext>
            </a:extLst>
          </p:cNvPr>
          <p:cNvSpPr>
            <a:spLocks noChangeArrowheads="1"/>
          </p:cNvSpPr>
          <p:nvPr/>
        </p:nvSpPr>
        <p:spPr bwMode="auto">
          <a:xfrm>
            <a:off x="6642101" y="3124200"/>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7373" name="Line 30">
            <a:extLst>
              <a:ext uri="{FF2B5EF4-FFF2-40B4-BE49-F238E27FC236}">
                <a16:creationId xmlns:a16="http://schemas.microsoft.com/office/drawing/2014/main" id="{295441A0-61D2-304F-8A68-DBD19A26CAAC}"/>
              </a:ext>
            </a:extLst>
          </p:cNvPr>
          <p:cNvSpPr>
            <a:spLocks noChangeShapeType="1"/>
          </p:cNvSpPr>
          <p:nvPr/>
        </p:nvSpPr>
        <p:spPr bwMode="auto">
          <a:xfrm>
            <a:off x="7032626" y="2971800"/>
            <a:ext cx="233997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57374" name="Line 31">
            <a:extLst>
              <a:ext uri="{FF2B5EF4-FFF2-40B4-BE49-F238E27FC236}">
                <a16:creationId xmlns:a16="http://schemas.microsoft.com/office/drawing/2014/main" id="{8171DC31-AF92-584A-8203-727E4D6B62C7}"/>
              </a:ext>
            </a:extLst>
          </p:cNvPr>
          <p:cNvSpPr>
            <a:spLocks noChangeShapeType="1"/>
          </p:cNvSpPr>
          <p:nvPr/>
        </p:nvSpPr>
        <p:spPr bwMode="auto">
          <a:xfrm flipV="1">
            <a:off x="7010401" y="3581400"/>
            <a:ext cx="242252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57375" name="Text Box 32">
            <a:extLst>
              <a:ext uri="{FF2B5EF4-FFF2-40B4-BE49-F238E27FC236}">
                <a16:creationId xmlns:a16="http://schemas.microsoft.com/office/drawing/2014/main" id="{668570C7-F1D7-D54D-9C10-92E4AD479BB0}"/>
              </a:ext>
            </a:extLst>
          </p:cNvPr>
          <p:cNvSpPr txBox="1">
            <a:spLocks noChangeArrowheads="1"/>
          </p:cNvSpPr>
          <p:nvPr/>
        </p:nvSpPr>
        <p:spPr bwMode="auto">
          <a:xfrm>
            <a:off x="6824664" y="2590800"/>
            <a:ext cx="2395537"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2600">
                <a:solidFill>
                  <a:srgbClr val="000000"/>
                </a:solidFill>
              </a:rPr>
              <a:t>Encephalitis</a:t>
            </a:r>
          </a:p>
        </p:txBody>
      </p:sp>
      <p:sp>
        <p:nvSpPr>
          <p:cNvPr id="57376" name="Text Box 33">
            <a:extLst>
              <a:ext uri="{FF2B5EF4-FFF2-40B4-BE49-F238E27FC236}">
                <a16:creationId xmlns:a16="http://schemas.microsoft.com/office/drawing/2014/main" id="{F414C41D-238D-0D46-A3C1-46E6A75A52E3}"/>
              </a:ext>
            </a:extLst>
          </p:cNvPr>
          <p:cNvSpPr txBox="1">
            <a:spLocks noChangeArrowheads="1"/>
          </p:cNvSpPr>
          <p:nvPr/>
        </p:nvSpPr>
        <p:spPr bwMode="auto">
          <a:xfrm>
            <a:off x="6824664" y="3200400"/>
            <a:ext cx="2700337"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2600">
                <a:solidFill>
                  <a:srgbClr val="000000"/>
                </a:solidFill>
              </a:rPr>
              <a:t>No encephalitis</a:t>
            </a:r>
          </a:p>
        </p:txBody>
      </p:sp>
      <p:sp>
        <p:nvSpPr>
          <p:cNvPr id="57377" name="AutoShape 34">
            <a:extLst>
              <a:ext uri="{FF2B5EF4-FFF2-40B4-BE49-F238E27FC236}">
                <a16:creationId xmlns:a16="http://schemas.microsoft.com/office/drawing/2014/main" id="{6298982A-8AD4-A341-97A7-E1BADFAEF290}"/>
              </a:ext>
            </a:extLst>
          </p:cNvPr>
          <p:cNvSpPr>
            <a:spLocks noChangeArrowheads="1"/>
          </p:cNvSpPr>
          <p:nvPr/>
        </p:nvSpPr>
        <p:spPr bwMode="auto">
          <a:xfrm>
            <a:off x="9293225" y="17526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7378" name="AutoShape 35">
            <a:extLst>
              <a:ext uri="{FF2B5EF4-FFF2-40B4-BE49-F238E27FC236}">
                <a16:creationId xmlns:a16="http://schemas.microsoft.com/office/drawing/2014/main" id="{D345D2EF-65BB-3947-9B1D-813A7AC28078}"/>
              </a:ext>
            </a:extLst>
          </p:cNvPr>
          <p:cNvSpPr>
            <a:spLocks noChangeArrowheads="1"/>
          </p:cNvSpPr>
          <p:nvPr/>
        </p:nvSpPr>
        <p:spPr bwMode="auto">
          <a:xfrm>
            <a:off x="9293225" y="22860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7379" name="AutoShape 36">
            <a:extLst>
              <a:ext uri="{FF2B5EF4-FFF2-40B4-BE49-F238E27FC236}">
                <a16:creationId xmlns:a16="http://schemas.microsoft.com/office/drawing/2014/main" id="{E782BC77-F6C2-4F45-BDDE-9551D20B28D0}"/>
              </a:ext>
            </a:extLst>
          </p:cNvPr>
          <p:cNvSpPr>
            <a:spLocks noChangeArrowheads="1"/>
          </p:cNvSpPr>
          <p:nvPr/>
        </p:nvSpPr>
        <p:spPr bwMode="auto">
          <a:xfrm>
            <a:off x="9293225" y="28194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7380" name="AutoShape 37">
            <a:extLst>
              <a:ext uri="{FF2B5EF4-FFF2-40B4-BE49-F238E27FC236}">
                <a16:creationId xmlns:a16="http://schemas.microsoft.com/office/drawing/2014/main" id="{9DA8442F-0176-2946-9FB5-29716F88A596}"/>
              </a:ext>
            </a:extLst>
          </p:cNvPr>
          <p:cNvSpPr>
            <a:spLocks noChangeArrowheads="1"/>
          </p:cNvSpPr>
          <p:nvPr/>
        </p:nvSpPr>
        <p:spPr bwMode="auto">
          <a:xfrm>
            <a:off x="9293225" y="33528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7381" name="Freeform 38">
            <a:extLst>
              <a:ext uri="{FF2B5EF4-FFF2-40B4-BE49-F238E27FC236}">
                <a16:creationId xmlns:a16="http://schemas.microsoft.com/office/drawing/2014/main" id="{4D16B6B8-4328-7F45-AFFC-7AFD884AA801}"/>
              </a:ext>
            </a:extLst>
          </p:cNvPr>
          <p:cNvSpPr>
            <a:spLocks/>
          </p:cNvSpPr>
          <p:nvPr/>
        </p:nvSpPr>
        <p:spPr bwMode="auto">
          <a:xfrm>
            <a:off x="4876801" y="4800600"/>
            <a:ext cx="327025" cy="522288"/>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38100"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7382" name="Freeform 39">
            <a:extLst>
              <a:ext uri="{FF2B5EF4-FFF2-40B4-BE49-F238E27FC236}">
                <a16:creationId xmlns:a16="http://schemas.microsoft.com/office/drawing/2014/main" id="{2211DAF3-1094-DE49-AB26-F326A6EA6898}"/>
              </a:ext>
            </a:extLst>
          </p:cNvPr>
          <p:cNvSpPr>
            <a:spLocks/>
          </p:cNvSpPr>
          <p:nvPr/>
        </p:nvSpPr>
        <p:spPr bwMode="auto">
          <a:xfrm>
            <a:off x="4876800" y="5410200"/>
            <a:ext cx="1836738" cy="457200"/>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7383" name="Line 40">
            <a:extLst>
              <a:ext uri="{FF2B5EF4-FFF2-40B4-BE49-F238E27FC236}">
                <a16:creationId xmlns:a16="http://schemas.microsoft.com/office/drawing/2014/main" id="{DA3605B8-9FC5-914A-877E-4D65E55EDE0E}"/>
              </a:ext>
            </a:extLst>
          </p:cNvPr>
          <p:cNvSpPr>
            <a:spLocks noChangeShapeType="1"/>
          </p:cNvSpPr>
          <p:nvPr/>
        </p:nvSpPr>
        <p:spPr bwMode="auto">
          <a:xfrm>
            <a:off x="5105400" y="4800600"/>
            <a:ext cx="1627188" cy="0"/>
          </a:xfrm>
          <a:prstGeom prst="line">
            <a:avLst/>
          </a:prstGeom>
          <a:noFill/>
          <a:ln w="381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57384" name="Rectangle 41">
            <a:extLst>
              <a:ext uri="{FF2B5EF4-FFF2-40B4-BE49-F238E27FC236}">
                <a16:creationId xmlns:a16="http://schemas.microsoft.com/office/drawing/2014/main" id="{2339E5D6-B616-D94C-B773-45279626A5C6}"/>
              </a:ext>
            </a:extLst>
          </p:cNvPr>
          <p:cNvSpPr>
            <a:spLocks noChangeArrowheads="1"/>
          </p:cNvSpPr>
          <p:nvPr/>
        </p:nvSpPr>
        <p:spPr bwMode="auto">
          <a:xfrm>
            <a:off x="5029200" y="5410201"/>
            <a:ext cx="1066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600">
                <a:solidFill>
                  <a:srgbClr val="000000"/>
                </a:solidFill>
              </a:rPr>
              <a:t>Spray</a:t>
            </a:r>
          </a:p>
        </p:txBody>
      </p:sp>
      <p:sp>
        <p:nvSpPr>
          <p:cNvPr id="57385" name="Freeform 42">
            <a:extLst>
              <a:ext uri="{FF2B5EF4-FFF2-40B4-BE49-F238E27FC236}">
                <a16:creationId xmlns:a16="http://schemas.microsoft.com/office/drawing/2014/main" id="{C176EAA3-7CDF-7140-8AC0-F10B28D8F537}"/>
              </a:ext>
            </a:extLst>
          </p:cNvPr>
          <p:cNvSpPr>
            <a:spLocks/>
          </p:cNvSpPr>
          <p:nvPr/>
        </p:nvSpPr>
        <p:spPr bwMode="auto">
          <a:xfrm>
            <a:off x="6778625" y="4495800"/>
            <a:ext cx="533400" cy="369888"/>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7386" name="Freeform 43">
            <a:extLst>
              <a:ext uri="{FF2B5EF4-FFF2-40B4-BE49-F238E27FC236}">
                <a16:creationId xmlns:a16="http://schemas.microsoft.com/office/drawing/2014/main" id="{2830F980-C18D-7B40-9B99-9D00451FB2D4}"/>
              </a:ext>
            </a:extLst>
          </p:cNvPr>
          <p:cNvSpPr>
            <a:spLocks/>
          </p:cNvSpPr>
          <p:nvPr/>
        </p:nvSpPr>
        <p:spPr bwMode="auto">
          <a:xfrm>
            <a:off x="6778625" y="4800600"/>
            <a:ext cx="457200" cy="304800"/>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7387" name="Oval 44">
            <a:extLst>
              <a:ext uri="{FF2B5EF4-FFF2-40B4-BE49-F238E27FC236}">
                <a16:creationId xmlns:a16="http://schemas.microsoft.com/office/drawing/2014/main" id="{D6A5A102-79EA-404D-9C1F-A1FA8970B108}"/>
              </a:ext>
            </a:extLst>
          </p:cNvPr>
          <p:cNvSpPr>
            <a:spLocks noChangeArrowheads="1"/>
          </p:cNvSpPr>
          <p:nvPr/>
        </p:nvSpPr>
        <p:spPr bwMode="auto">
          <a:xfrm>
            <a:off x="6642101" y="4648200"/>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7388" name="Line 45">
            <a:extLst>
              <a:ext uri="{FF2B5EF4-FFF2-40B4-BE49-F238E27FC236}">
                <a16:creationId xmlns:a16="http://schemas.microsoft.com/office/drawing/2014/main" id="{1A4B7484-132B-8B4A-B019-31105A087821}"/>
              </a:ext>
            </a:extLst>
          </p:cNvPr>
          <p:cNvSpPr>
            <a:spLocks noChangeShapeType="1"/>
          </p:cNvSpPr>
          <p:nvPr/>
        </p:nvSpPr>
        <p:spPr bwMode="auto">
          <a:xfrm>
            <a:off x="7185025" y="4495800"/>
            <a:ext cx="2230438"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57389" name="Line 46">
            <a:extLst>
              <a:ext uri="{FF2B5EF4-FFF2-40B4-BE49-F238E27FC236}">
                <a16:creationId xmlns:a16="http://schemas.microsoft.com/office/drawing/2014/main" id="{AEAC9DE7-6E21-AE46-B452-FF82490A4D20}"/>
              </a:ext>
            </a:extLst>
          </p:cNvPr>
          <p:cNvSpPr>
            <a:spLocks noChangeShapeType="1"/>
          </p:cNvSpPr>
          <p:nvPr/>
        </p:nvSpPr>
        <p:spPr bwMode="auto">
          <a:xfrm>
            <a:off x="7162800" y="5105400"/>
            <a:ext cx="2166938"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57390" name="Text Box 47">
            <a:extLst>
              <a:ext uri="{FF2B5EF4-FFF2-40B4-BE49-F238E27FC236}">
                <a16:creationId xmlns:a16="http://schemas.microsoft.com/office/drawing/2014/main" id="{0BB938B1-8783-F048-9D75-0AA337EB504A}"/>
              </a:ext>
            </a:extLst>
          </p:cNvPr>
          <p:cNvSpPr txBox="1">
            <a:spLocks noChangeArrowheads="1"/>
          </p:cNvSpPr>
          <p:nvPr/>
        </p:nvSpPr>
        <p:spPr bwMode="auto">
          <a:xfrm>
            <a:off x="6824664" y="4098925"/>
            <a:ext cx="2395537"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2600">
                <a:solidFill>
                  <a:srgbClr val="000000"/>
                </a:solidFill>
              </a:rPr>
              <a:t>Encephalitis</a:t>
            </a:r>
          </a:p>
        </p:txBody>
      </p:sp>
      <p:sp>
        <p:nvSpPr>
          <p:cNvPr id="57391" name="Text Box 48">
            <a:extLst>
              <a:ext uri="{FF2B5EF4-FFF2-40B4-BE49-F238E27FC236}">
                <a16:creationId xmlns:a16="http://schemas.microsoft.com/office/drawing/2014/main" id="{38A2DB0F-9C39-0F4B-A4C8-E14442FBC496}"/>
              </a:ext>
            </a:extLst>
          </p:cNvPr>
          <p:cNvSpPr txBox="1">
            <a:spLocks noChangeArrowheads="1"/>
          </p:cNvSpPr>
          <p:nvPr/>
        </p:nvSpPr>
        <p:spPr bwMode="auto">
          <a:xfrm>
            <a:off x="6824664" y="4724400"/>
            <a:ext cx="2547937"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a:solidFill>
                  <a:srgbClr val="000000"/>
                </a:solidFill>
              </a:rPr>
              <a:t>No </a:t>
            </a:r>
            <a:r>
              <a:rPr lang="en-US" altLang="en-MX" sz="2600">
                <a:solidFill>
                  <a:srgbClr val="000000"/>
                </a:solidFill>
              </a:rPr>
              <a:t>encephalitis</a:t>
            </a:r>
          </a:p>
        </p:txBody>
      </p:sp>
      <p:sp>
        <p:nvSpPr>
          <p:cNvPr id="57392" name="Freeform 49">
            <a:extLst>
              <a:ext uri="{FF2B5EF4-FFF2-40B4-BE49-F238E27FC236}">
                <a16:creationId xmlns:a16="http://schemas.microsoft.com/office/drawing/2014/main" id="{72675EF0-ADB6-964B-A55D-06BAD68540AA}"/>
              </a:ext>
            </a:extLst>
          </p:cNvPr>
          <p:cNvSpPr>
            <a:spLocks/>
          </p:cNvSpPr>
          <p:nvPr/>
        </p:nvSpPr>
        <p:spPr bwMode="auto">
          <a:xfrm>
            <a:off x="6778625" y="5562600"/>
            <a:ext cx="533400" cy="369888"/>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7393" name="Freeform 50">
            <a:extLst>
              <a:ext uri="{FF2B5EF4-FFF2-40B4-BE49-F238E27FC236}">
                <a16:creationId xmlns:a16="http://schemas.microsoft.com/office/drawing/2014/main" id="{95191B81-1C63-0E4D-AB68-35F06F536E24}"/>
              </a:ext>
            </a:extLst>
          </p:cNvPr>
          <p:cNvSpPr>
            <a:spLocks/>
          </p:cNvSpPr>
          <p:nvPr/>
        </p:nvSpPr>
        <p:spPr bwMode="auto">
          <a:xfrm>
            <a:off x="6778625" y="5867400"/>
            <a:ext cx="457200" cy="304800"/>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7394" name="Oval 51">
            <a:extLst>
              <a:ext uri="{FF2B5EF4-FFF2-40B4-BE49-F238E27FC236}">
                <a16:creationId xmlns:a16="http://schemas.microsoft.com/office/drawing/2014/main" id="{FA74B3E0-5EB4-1045-A62C-25C9456CB3D9}"/>
              </a:ext>
            </a:extLst>
          </p:cNvPr>
          <p:cNvSpPr>
            <a:spLocks noChangeArrowheads="1"/>
          </p:cNvSpPr>
          <p:nvPr/>
        </p:nvSpPr>
        <p:spPr bwMode="auto">
          <a:xfrm>
            <a:off x="6642101" y="5715000"/>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7395" name="Line 52">
            <a:extLst>
              <a:ext uri="{FF2B5EF4-FFF2-40B4-BE49-F238E27FC236}">
                <a16:creationId xmlns:a16="http://schemas.microsoft.com/office/drawing/2014/main" id="{D9AFCA7C-A6EC-A341-AEC4-8527D4ABEDE6}"/>
              </a:ext>
            </a:extLst>
          </p:cNvPr>
          <p:cNvSpPr>
            <a:spLocks noChangeShapeType="1"/>
          </p:cNvSpPr>
          <p:nvPr/>
        </p:nvSpPr>
        <p:spPr bwMode="auto">
          <a:xfrm>
            <a:off x="7108825" y="5562600"/>
            <a:ext cx="22860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57396" name="Line 53">
            <a:extLst>
              <a:ext uri="{FF2B5EF4-FFF2-40B4-BE49-F238E27FC236}">
                <a16:creationId xmlns:a16="http://schemas.microsoft.com/office/drawing/2014/main" id="{FCDA8A57-6A04-1F45-8FD0-94D443414568}"/>
              </a:ext>
            </a:extLst>
          </p:cNvPr>
          <p:cNvSpPr>
            <a:spLocks noChangeShapeType="1"/>
          </p:cNvSpPr>
          <p:nvPr/>
        </p:nvSpPr>
        <p:spPr bwMode="auto">
          <a:xfrm flipV="1">
            <a:off x="7086600" y="6172200"/>
            <a:ext cx="233045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57397" name="Text Box 54">
            <a:extLst>
              <a:ext uri="{FF2B5EF4-FFF2-40B4-BE49-F238E27FC236}">
                <a16:creationId xmlns:a16="http://schemas.microsoft.com/office/drawing/2014/main" id="{E56E762D-2F8B-8F41-84E9-BB41D9F88F98}"/>
              </a:ext>
            </a:extLst>
          </p:cNvPr>
          <p:cNvSpPr txBox="1">
            <a:spLocks noChangeArrowheads="1"/>
          </p:cNvSpPr>
          <p:nvPr/>
        </p:nvSpPr>
        <p:spPr bwMode="auto">
          <a:xfrm>
            <a:off x="6824664" y="5181600"/>
            <a:ext cx="2471737"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2600">
                <a:solidFill>
                  <a:srgbClr val="000000"/>
                </a:solidFill>
              </a:rPr>
              <a:t>Encephalitis</a:t>
            </a:r>
          </a:p>
        </p:txBody>
      </p:sp>
      <p:sp>
        <p:nvSpPr>
          <p:cNvPr id="57398" name="Text Box 55">
            <a:extLst>
              <a:ext uri="{FF2B5EF4-FFF2-40B4-BE49-F238E27FC236}">
                <a16:creationId xmlns:a16="http://schemas.microsoft.com/office/drawing/2014/main" id="{FF252C1F-3B20-9341-89A2-9352632F8D5A}"/>
              </a:ext>
            </a:extLst>
          </p:cNvPr>
          <p:cNvSpPr txBox="1">
            <a:spLocks noChangeArrowheads="1"/>
          </p:cNvSpPr>
          <p:nvPr/>
        </p:nvSpPr>
        <p:spPr bwMode="auto">
          <a:xfrm>
            <a:off x="6824664" y="5791200"/>
            <a:ext cx="2624137"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2600">
                <a:solidFill>
                  <a:srgbClr val="000000"/>
                </a:solidFill>
              </a:rPr>
              <a:t>No encephalitis</a:t>
            </a:r>
          </a:p>
        </p:txBody>
      </p:sp>
      <p:sp>
        <p:nvSpPr>
          <p:cNvPr id="57399" name="AutoShape 56">
            <a:extLst>
              <a:ext uri="{FF2B5EF4-FFF2-40B4-BE49-F238E27FC236}">
                <a16:creationId xmlns:a16="http://schemas.microsoft.com/office/drawing/2014/main" id="{A6215A0B-5AA0-1F41-A0F3-86908C5D0C9A}"/>
              </a:ext>
            </a:extLst>
          </p:cNvPr>
          <p:cNvSpPr>
            <a:spLocks noChangeArrowheads="1"/>
          </p:cNvSpPr>
          <p:nvPr/>
        </p:nvSpPr>
        <p:spPr bwMode="auto">
          <a:xfrm>
            <a:off x="9293225" y="43434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7400" name="AutoShape 57">
            <a:extLst>
              <a:ext uri="{FF2B5EF4-FFF2-40B4-BE49-F238E27FC236}">
                <a16:creationId xmlns:a16="http://schemas.microsoft.com/office/drawing/2014/main" id="{7A253023-DDEF-014B-BB1D-417EE476A8B4}"/>
              </a:ext>
            </a:extLst>
          </p:cNvPr>
          <p:cNvSpPr>
            <a:spLocks noChangeArrowheads="1"/>
          </p:cNvSpPr>
          <p:nvPr/>
        </p:nvSpPr>
        <p:spPr bwMode="auto">
          <a:xfrm>
            <a:off x="9293225" y="48768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7401" name="AutoShape 58">
            <a:extLst>
              <a:ext uri="{FF2B5EF4-FFF2-40B4-BE49-F238E27FC236}">
                <a16:creationId xmlns:a16="http://schemas.microsoft.com/office/drawing/2014/main" id="{FD74D66A-BE34-A54C-A17E-308D610C0300}"/>
              </a:ext>
            </a:extLst>
          </p:cNvPr>
          <p:cNvSpPr>
            <a:spLocks noChangeArrowheads="1"/>
          </p:cNvSpPr>
          <p:nvPr/>
        </p:nvSpPr>
        <p:spPr bwMode="auto">
          <a:xfrm>
            <a:off x="9293225" y="54102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7402" name="AutoShape 59">
            <a:extLst>
              <a:ext uri="{FF2B5EF4-FFF2-40B4-BE49-F238E27FC236}">
                <a16:creationId xmlns:a16="http://schemas.microsoft.com/office/drawing/2014/main" id="{DF926BF4-624C-DC40-9585-5A5C2E09DD47}"/>
              </a:ext>
            </a:extLst>
          </p:cNvPr>
          <p:cNvSpPr>
            <a:spLocks noChangeArrowheads="1"/>
          </p:cNvSpPr>
          <p:nvPr/>
        </p:nvSpPr>
        <p:spPr bwMode="auto">
          <a:xfrm>
            <a:off x="9293225" y="59436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7403" name="Rectangle 60">
            <a:extLst>
              <a:ext uri="{FF2B5EF4-FFF2-40B4-BE49-F238E27FC236}">
                <a16:creationId xmlns:a16="http://schemas.microsoft.com/office/drawing/2014/main" id="{B64BC92D-B628-C94B-9F5B-9B7E151271C4}"/>
              </a:ext>
            </a:extLst>
          </p:cNvPr>
          <p:cNvSpPr>
            <a:spLocks noChangeArrowheads="1"/>
          </p:cNvSpPr>
          <p:nvPr/>
        </p:nvSpPr>
        <p:spPr bwMode="auto">
          <a:xfrm>
            <a:off x="1905001" y="3656014"/>
            <a:ext cx="238125" cy="261937"/>
          </a:xfrm>
          <a:prstGeom prst="rect">
            <a:avLst/>
          </a:prstGeom>
          <a:solidFill>
            <a:schemeClr val="bg1"/>
          </a:solidFill>
          <a:ln w="25400">
            <a:solidFill>
              <a:srgbClr val="0000FF"/>
            </a:solidFill>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7404" name="Rectangle 61">
            <a:extLst>
              <a:ext uri="{FF2B5EF4-FFF2-40B4-BE49-F238E27FC236}">
                <a16:creationId xmlns:a16="http://schemas.microsoft.com/office/drawing/2014/main" id="{DFC2AC7F-FCA9-A242-9DE8-5AA599BDA72B}"/>
              </a:ext>
            </a:extLst>
          </p:cNvPr>
          <p:cNvSpPr>
            <a:spLocks noChangeArrowheads="1"/>
          </p:cNvSpPr>
          <p:nvPr/>
        </p:nvSpPr>
        <p:spPr bwMode="auto">
          <a:xfrm>
            <a:off x="4648201" y="2590800"/>
            <a:ext cx="238125" cy="261938"/>
          </a:xfrm>
          <a:prstGeom prst="rect">
            <a:avLst/>
          </a:prstGeom>
          <a:solidFill>
            <a:schemeClr val="bg1"/>
          </a:solidFill>
          <a:ln w="25400">
            <a:solidFill>
              <a:srgbClr val="0000FF"/>
            </a:solidFill>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7405" name="Rectangle 62">
            <a:extLst>
              <a:ext uri="{FF2B5EF4-FFF2-40B4-BE49-F238E27FC236}">
                <a16:creationId xmlns:a16="http://schemas.microsoft.com/office/drawing/2014/main" id="{C3F57D21-2251-FC43-B853-BDC2AE4BDC3C}"/>
              </a:ext>
            </a:extLst>
          </p:cNvPr>
          <p:cNvSpPr>
            <a:spLocks noChangeArrowheads="1"/>
          </p:cNvSpPr>
          <p:nvPr/>
        </p:nvSpPr>
        <p:spPr bwMode="auto">
          <a:xfrm>
            <a:off x="4724401" y="5181600"/>
            <a:ext cx="238125" cy="261938"/>
          </a:xfrm>
          <a:prstGeom prst="rect">
            <a:avLst/>
          </a:prstGeom>
          <a:solidFill>
            <a:schemeClr val="bg1"/>
          </a:solidFill>
          <a:ln w="25400">
            <a:solidFill>
              <a:srgbClr val="0000FF"/>
            </a:solidFill>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7406" name="Line 63">
            <a:extLst>
              <a:ext uri="{FF2B5EF4-FFF2-40B4-BE49-F238E27FC236}">
                <a16:creationId xmlns:a16="http://schemas.microsoft.com/office/drawing/2014/main" id="{23D3A0AF-685F-3142-B238-8BCA72B2E0C8}"/>
              </a:ext>
            </a:extLst>
          </p:cNvPr>
          <p:cNvSpPr>
            <a:spLocks noChangeShapeType="1"/>
          </p:cNvSpPr>
          <p:nvPr/>
        </p:nvSpPr>
        <p:spPr bwMode="auto">
          <a:xfrm flipH="1">
            <a:off x="6276975" y="5638800"/>
            <a:ext cx="381000" cy="381000"/>
          </a:xfrm>
          <a:prstGeom prst="line">
            <a:avLst/>
          </a:prstGeom>
          <a:noFill/>
          <a:ln w="381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57407" name="Line 64">
            <a:extLst>
              <a:ext uri="{FF2B5EF4-FFF2-40B4-BE49-F238E27FC236}">
                <a16:creationId xmlns:a16="http://schemas.microsoft.com/office/drawing/2014/main" id="{0F18C2AF-C0A6-F848-A9A2-B9D7D2D05E3B}"/>
              </a:ext>
            </a:extLst>
          </p:cNvPr>
          <p:cNvSpPr>
            <a:spLocks noChangeShapeType="1"/>
          </p:cNvSpPr>
          <p:nvPr/>
        </p:nvSpPr>
        <p:spPr bwMode="auto">
          <a:xfrm flipH="1">
            <a:off x="6184900" y="5638800"/>
            <a:ext cx="381000" cy="381000"/>
          </a:xfrm>
          <a:prstGeom prst="line">
            <a:avLst/>
          </a:prstGeom>
          <a:noFill/>
          <a:ln w="381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57408" name="Line 65">
            <a:extLst>
              <a:ext uri="{FF2B5EF4-FFF2-40B4-BE49-F238E27FC236}">
                <a16:creationId xmlns:a16="http://schemas.microsoft.com/office/drawing/2014/main" id="{ABB5272B-E3EB-3A4B-B5E9-891467C5C73A}"/>
              </a:ext>
            </a:extLst>
          </p:cNvPr>
          <p:cNvSpPr>
            <a:spLocks noChangeShapeType="1"/>
          </p:cNvSpPr>
          <p:nvPr/>
        </p:nvSpPr>
        <p:spPr bwMode="auto">
          <a:xfrm flipH="1">
            <a:off x="6276975" y="1981200"/>
            <a:ext cx="381000" cy="381000"/>
          </a:xfrm>
          <a:prstGeom prst="line">
            <a:avLst/>
          </a:prstGeom>
          <a:noFill/>
          <a:ln w="381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57409" name="Line 66">
            <a:extLst>
              <a:ext uri="{FF2B5EF4-FFF2-40B4-BE49-F238E27FC236}">
                <a16:creationId xmlns:a16="http://schemas.microsoft.com/office/drawing/2014/main" id="{F7E696D1-DC15-3A44-A5BE-7C355F17B0D2}"/>
              </a:ext>
            </a:extLst>
          </p:cNvPr>
          <p:cNvSpPr>
            <a:spLocks noChangeShapeType="1"/>
          </p:cNvSpPr>
          <p:nvPr/>
        </p:nvSpPr>
        <p:spPr bwMode="auto">
          <a:xfrm flipH="1">
            <a:off x="6184900" y="1981200"/>
            <a:ext cx="381000" cy="381000"/>
          </a:xfrm>
          <a:prstGeom prst="line">
            <a:avLst/>
          </a:prstGeom>
          <a:noFill/>
          <a:ln w="381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Tree>
    <p:extLst>
      <p:ext uri="{BB962C8B-B14F-4D97-AF65-F5344CB8AC3E}">
        <p14:creationId xmlns:p14="http://schemas.microsoft.com/office/powerpoint/2010/main" val="33009723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a:extLst>
              <a:ext uri="{FF2B5EF4-FFF2-40B4-BE49-F238E27FC236}">
                <a16:creationId xmlns:a16="http://schemas.microsoft.com/office/drawing/2014/main" id="{56F34239-A11B-E44B-88DB-DD12683DF593}"/>
              </a:ext>
            </a:extLst>
          </p:cNvPr>
          <p:cNvSpPr>
            <a:spLocks noGrp="1" noChangeArrowheads="1"/>
          </p:cNvSpPr>
          <p:nvPr>
            <p:ph type="title"/>
          </p:nvPr>
        </p:nvSpPr>
        <p:spPr>
          <a:xfrm>
            <a:off x="914400" y="152400"/>
            <a:ext cx="9067800" cy="762000"/>
          </a:xfrm>
        </p:spPr>
        <p:txBody>
          <a:bodyPr>
            <a:normAutofit/>
          </a:bodyPr>
          <a:lstStyle/>
          <a:p>
            <a:pPr eaLnBrk="1" hangingPunct="1">
              <a:defRPr/>
            </a:pPr>
            <a:r>
              <a:rPr lang="en-US" dirty="0">
                <a:ea typeface="+mj-ea"/>
              </a:rPr>
              <a:t>The Final Tree</a:t>
            </a:r>
            <a:r>
              <a:rPr lang="en-US" dirty="0"/>
              <a:t> Structure</a:t>
            </a:r>
          </a:p>
        </p:txBody>
      </p:sp>
      <p:sp>
        <p:nvSpPr>
          <p:cNvPr id="59394" name="Line 3">
            <a:extLst>
              <a:ext uri="{FF2B5EF4-FFF2-40B4-BE49-F238E27FC236}">
                <a16:creationId xmlns:a16="http://schemas.microsoft.com/office/drawing/2014/main" id="{3C08287A-A1AA-F747-A3AF-6AB3FF2C80F1}"/>
              </a:ext>
            </a:extLst>
          </p:cNvPr>
          <p:cNvSpPr>
            <a:spLocks noChangeShapeType="1"/>
          </p:cNvSpPr>
          <p:nvPr/>
        </p:nvSpPr>
        <p:spPr bwMode="auto">
          <a:xfrm>
            <a:off x="4114800" y="1676400"/>
            <a:ext cx="1447800"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59395" name="Rectangle 4">
            <a:extLst>
              <a:ext uri="{FF2B5EF4-FFF2-40B4-BE49-F238E27FC236}">
                <a16:creationId xmlns:a16="http://schemas.microsoft.com/office/drawing/2014/main" id="{057633C7-922A-9D4C-849F-A6A3959D272A}"/>
              </a:ext>
            </a:extLst>
          </p:cNvPr>
          <p:cNvSpPr>
            <a:spLocks noChangeArrowheads="1"/>
          </p:cNvSpPr>
          <p:nvPr/>
        </p:nvSpPr>
        <p:spPr bwMode="auto">
          <a:xfrm>
            <a:off x="4267200" y="1325564"/>
            <a:ext cx="9398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Outbreak</a:t>
            </a:r>
          </a:p>
        </p:txBody>
      </p:sp>
      <p:sp>
        <p:nvSpPr>
          <p:cNvPr id="59396" name="Rectangle 5">
            <a:extLst>
              <a:ext uri="{FF2B5EF4-FFF2-40B4-BE49-F238E27FC236}">
                <a16:creationId xmlns:a16="http://schemas.microsoft.com/office/drawing/2014/main" id="{D8B497A4-D4D9-474A-BFD7-61649DCCE32F}"/>
              </a:ext>
            </a:extLst>
          </p:cNvPr>
          <p:cNvSpPr>
            <a:spLocks noChangeArrowheads="1"/>
          </p:cNvSpPr>
          <p:nvPr/>
        </p:nvSpPr>
        <p:spPr bwMode="auto">
          <a:xfrm>
            <a:off x="4267200" y="1981200"/>
            <a:ext cx="1295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Outbreak</a:t>
            </a:r>
          </a:p>
        </p:txBody>
      </p:sp>
      <p:sp>
        <p:nvSpPr>
          <p:cNvPr id="59397" name="Freeform 6">
            <a:extLst>
              <a:ext uri="{FF2B5EF4-FFF2-40B4-BE49-F238E27FC236}">
                <a16:creationId xmlns:a16="http://schemas.microsoft.com/office/drawing/2014/main" id="{A3B5E51E-D713-B64F-A581-45EB197B55C1}"/>
              </a:ext>
            </a:extLst>
          </p:cNvPr>
          <p:cNvSpPr>
            <a:spLocks/>
          </p:cNvSpPr>
          <p:nvPr/>
        </p:nvSpPr>
        <p:spPr bwMode="auto">
          <a:xfrm>
            <a:off x="4040188" y="1676400"/>
            <a:ext cx="303212" cy="369888"/>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9398" name="Freeform 7">
            <a:extLst>
              <a:ext uri="{FF2B5EF4-FFF2-40B4-BE49-F238E27FC236}">
                <a16:creationId xmlns:a16="http://schemas.microsoft.com/office/drawing/2014/main" id="{3D3F2B28-E37A-8E46-9FDB-62E3855B9DF5}"/>
              </a:ext>
            </a:extLst>
          </p:cNvPr>
          <p:cNvSpPr>
            <a:spLocks/>
          </p:cNvSpPr>
          <p:nvPr/>
        </p:nvSpPr>
        <p:spPr bwMode="auto">
          <a:xfrm>
            <a:off x="4038601" y="2089150"/>
            <a:ext cx="303213" cy="196850"/>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9399" name="Line 8">
            <a:extLst>
              <a:ext uri="{FF2B5EF4-FFF2-40B4-BE49-F238E27FC236}">
                <a16:creationId xmlns:a16="http://schemas.microsoft.com/office/drawing/2014/main" id="{E503F6F2-8542-9845-8554-ABDE0A4BF179}"/>
              </a:ext>
            </a:extLst>
          </p:cNvPr>
          <p:cNvSpPr>
            <a:spLocks noChangeShapeType="1"/>
          </p:cNvSpPr>
          <p:nvPr/>
        </p:nvSpPr>
        <p:spPr bwMode="auto">
          <a:xfrm>
            <a:off x="2362200" y="2057400"/>
            <a:ext cx="161448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59400" name="Oval 9">
            <a:extLst>
              <a:ext uri="{FF2B5EF4-FFF2-40B4-BE49-F238E27FC236}">
                <a16:creationId xmlns:a16="http://schemas.microsoft.com/office/drawing/2014/main" id="{5DE4896E-323E-C744-ACCD-B0DE48423067}"/>
              </a:ext>
            </a:extLst>
          </p:cNvPr>
          <p:cNvSpPr>
            <a:spLocks noChangeArrowheads="1"/>
          </p:cNvSpPr>
          <p:nvPr/>
        </p:nvSpPr>
        <p:spPr bwMode="auto">
          <a:xfrm>
            <a:off x="3876676" y="1905000"/>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9401" name="Rectangle 10">
            <a:extLst>
              <a:ext uri="{FF2B5EF4-FFF2-40B4-BE49-F238E27FC236}">
                <a16:creationId xmlns:a16="http://schemas.microsoft.com/office/drawing/2014/main" id="{F73C1CA4-A068-D14B-9408-FA74A67B45EE}"/>
              </a:ext>
            </a:extLst>
          </p:cNvPr>
          <p:cNvSpPr>
            <a:spLocks noChangeArrowheads="1"/>
          </p:cNvSpPr>
          <p:nvPr/>
        </p:nvSpPr>
        <p:spPr bwMode="auto">
          <a:xfrm>
            <a:off x="2438401" y="1676400"/>
            <a:ext cx="663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000">
                <a:solidFill>
                  <a:srgbClr val="000000"/>
                </a:solidFill>
              </a:rPr>
              <a:t>Spray</a:t>
            </a:r>
          </a:p>
        </p:txBody>
      </p:sp>
      <p:sp>
        <p:nvSpPr>
          <p:cNvPr id="59402" name="Rectangle 11">
            <a:extLst>
              <a:ext uri="{FF2B5EF4-FFF2-40B4-BE49-F238E27FC236}">
                <a16:creationId xmlns:a16="http://schemas.microsoft.com/office/drawing/2014/main" id="{B722194A-2D27-AB4E-B429-A8A22104BE0E}"/>
              </a:ext>
            </a:extLst>
          </p:cNvPr>
          <p:cNvSpPr>
            <a:spLocks noChangeArrowheads="1"/>
          </p:cNvSpPr>
          <p:nvPr/>
        </p:nvSpPr>
        <p:spPr bwMode="auto">
          <a:xfrm>
            <a:off x="4224338" y="5241925"/>
            <a:ext cx="9398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MX" sz="1800">
                <a:solidFill>
                  <a:srgbClr val="000000"/>
                </a:solidFill>
              </a:rPr>
              <a:t>Outbreak</a:t>
            </a:r>
          </a:p>
        </p:txBody>
      </p:sp>
      <p:sp>
        <p:nvSpPr>
          <p:cNvPr id="59403" name="Freeform 12">
            <a:extLst>
              <a:ext uri="{FF2B5EF4-FFF2-40B4-BE49-F238E27FC236}">
                <a16:creationId xmlns:a16="http://schemas.microsoft.com/office/drawing/2014/main" id="{0982616A-EDFF-BE49-B107-05A21F7080B4}"/>
              </a:ext>
            </a:extLst>
          </p:cNvPr>
          <p:cNvSpPr>
            <a:spLocks/>
          </p:cNvSpPr>
          <p:nvPr/>
        </p:nvSpPr>
        <p:spPr bwMode="auto">
          <a:xfrm>
            <a:off x="5716588" y="1382714"/>
            <a:ext cx="303212" cy="369887"/>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9404" name="Freeform 13">
            <a:extLst>
              <a:ext uri="{FF2B5EF4-FFF2-40B4-BE49-F238E27FC236}">
                <a16:creationId xmlns:a16="http://schemas.microsoft.com/office/drawing/2014/main" id="{42CEFF7A-B118-4441-A008-351F7C14A87B}"/>
              </a:ext>
            </a:extLst>
          </p:cNvPr>
          <p:cNvSpPr>
            <a:spLocks/>
          </p:cNvSpPr>
          <p:nvPr/>
        </p:nvSpPr>
        <p:spPr bwMode="auto">
          <a:xfrm>
            <a:off x="5716588" y="1633538"/>
            <a:ext cx="303212" cy="347662"/>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9405" name="Rectangle 14">
            <a:extLst>
              <a:ext uri="{FF2B5EF4-FFF2-40B4-BE49-F238E27FC236}">
                <a16:creationId xmlns:a16="http://schemas.microsoft.com/office/drawing/2014/main" id="{1D1B7B4F-DD64-5746-9C80-516682A0647C}"/>
              </a:ext>
            </a:extLst>
          </p:cNvPr>
          <p:cNvSpPr>
            <a:spLocks noChangeArrowheads="1"/>
          </p:cNvSpPr>
          <p:nvPr/>
        </p:nvSpPr>
        <p:spPr bwMode="auto">
          <a:xfrm>
            <a:off x="3644900" y="6019800"/>
            <a:ext cx="2286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MX" sz="1800">
                <a:solidFill>
                  <a:srgbClr val="000000"/>
                </a:solidFill>
              </a:rPr>
              <a:t>No Outbreak</a:t>
            </a:r>
          </a:p>
        </p:txBody>
      </p:sp>
      <p:sp>
        <p:nvSpPr>
          <p:cNvPr id="59406" name="Freeform 15">
            <a:extLst>
              <a:ext uri="{FF2B5EF4-FFF2-40B4-BE49-F238E27FC236}">
                <a16:creationId xmlns:a16="http://schemas.microsoft.com/office/drawing/2014/main" id="{F92E4F98-E91A-7442-BD3B-0333EF8DD10D}"/>
              </a:ext>
            </a:extLst>
          </p:cNvPr>
          <p:cNvSpPr>
            <a:spLocks/>
          </p:cNvSpPr>
          <p:nvPr/>
        </p:nvSpPr>
        <p:spPr bwMode="auto">
          <a:xfrm>
            <a:off x="4114801" y="5562601"/>
            <a:ext cx="290513" cy="415925"/>
          </a:xfrm>
          <a:custGeom>
            <a:avLst/>
            <a:gdLst>
              <a:gd name="T0" fmla="*/ 0 w 14"/>
              <a:gd name="T1" fmla="*/ 2147483647 h 24"/>
              <a:gd name="T2" fmla="*/ 0 w 14"/>
              <a:gd name="T3" fmla="*/ 0 h 24"/>
              <a:gd name="T4" fmla="*/ 2147483647 w 14"/>
              <a:gd name="T5" fmla="*/ 0 h 24"/>
              <a:gd name="T6" fmla="*/ 0 60000 65536"/>
              <a:gd name="T7" fmla="*/ 0 60000 65536"/>
              <a:gd name="T8" fmla="*/ 0 60000 65536"/>
              <a:gd name="T9" fmla="*/ 0 w 14"/>
              <a:gd name="T10" fmla="*/ 0 h 24"/>
              <a:gd name="T11" fmla="*/ 14 w 14"/>
              <a:gd name="T12" fmla="*/ 24 h 24"/>
            </a:gdLst>
            <a:ahLst/>
            <a:cxnLst>
              <a:cxn ang="T6">
                <a:pos x="T0" y="T1"/>
              </a:cxn>
              <a:cxn ang="T7">
                <a:pos x="T2" y="T3"/>
              </a:cxn>
              <a:cxn ang="T8">
                <a:pos x="T4" y="T5"/>
              </a:cxn>
            </a:cxnLst>
            <a:rect l="T9" t="T10" r="T11" b="T12"/>
            <a:pathLst>
              <a:path w="14" h="24">
                <a:moveTo>
                  <a:pt x="0" y="24"/>
                </a:moveTo>
                <a:lnTo>
                  <a:pt x="0" y="0"/>
                </a:lnTo>
                <a:lnTo>
                  <a:pt x="14" y="0"/>
                </a:lnTo>
              </a:path>
            </a:pathLst>
          </a:custGeom>
          <a:noFill/>
          <a:ln w="19050"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9407" name="Freeform 16">
            <a:extLst>
              <a:ext uri="{FF2B5EF4-FFF2-40B4-BE49-F238E27FC236}">
                <a16:creationId xmlns:a16="http://schemas.microsoft.com/office/drawing/2014/main" id="{A9C79195-7DC7-EA43-B0C8-1649E8755F35}"/>
              </a:ext>
            </a:extLst>
          </p:cNvPr>
          <p:cNvSpPr>
            <a:spLocks/>
          </p:cNvSpPr>
          <p:nvPr/>
        </p:nvSpPr>
        <p:spPr bwMode="auto">
          <a:xfrm>
            <a:off x="4094164" y="5749926"/>
            <a:ext cx="4592637" cy="574675"/>
          </a:xfrm>
          <a:custGeom>
            <a:avLst/>
            <a:gdLst>
              <a:gd name="T0" fmla="*/ 0 w 14"/>
              <a:gd name="T1" fmla="*/ 0 h 25"/>
              <a:gd name="T2" fmla="*/ 0 w 14"/>
              <a:gd name="T3" fmla="*/ 2147483647 h 25"/>
              <a:gd name="T4" fmla="*/ 2147483647 w 14"/>
              <a:gd name="T5" fmla="*/ 2147483647 h 25"/>
              <a:gd name="T6" fmla="*/ 0 60000 65536"/>
              <a:gd name="T7" fmla="*/ 0 60000 65536"/>
              <a:gd name="T8" fmla="*/ 0 60000 65536"/>
              <a:gd name="T9" fmla="*/ 0 w 14"/>
              <a:gd name="T10" fmla="*/ 0 h 25"/>
              <a:gd name="T11" fmla="*/ 14 w 14"/>
              <a:gd name="T12" fmla="*/ 25 h 25"/>
            </a:gdLst>
            <a:ahLst/>
            <a:cxnLst>
              <a:cxn ang="T6">
                <a:pos x="T0" y="T1"/>
              </a:cxn>
              <a:cxn ang="T7">
                <a:pos x="T2" y="T3"/>
              </a:cxn>
              <a:cxn ang="T8">
                <a:pos x="T4" y="T5"/>
              </a:cxn>
            </a:cxnLst>
            <a:rect l="T9" t="T10" r="T11" b="T12"/>
            <a:pathLst>
              <a:path w="14" h="25">
                <a:moveTo>
                  <a:pt x="0" y="0"/>
                </a:moveTo>
                <a:lnTo>
                  <a:pt x="0" y="25"/>
                </a:lnTo>
                <a:lnTo>
                  <a:pt x="14" y="25"/>
                </a:lnTo>
              </a:path>
            </a:pathLst>
          </a:custGeom>
          <a:noFill/>
          <a:ln w="19050"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9408" name="Line 17">
            <a:extLst>
              <a:ext uri="{FF2B5EF4-FFF2-40B4-BE49-F238E27FC236}">
                <a16:creationId xmlns:a16="http://schemas.microsoft.com/office/drawing/2014/main" id="{DE2FE3BE-5CF0-384E-9ED6-5903546C7514}"/>
              </a:ext>
            </a:extLst>
          </p:cNvPr>
          <p:cNvSpPr>
            <a:spLocks noChangeShapeType="1"/>
          </p:cNvSpPr>
          <p:nvPr/>
        </p:nvSpPr>
        <p:spPr bwMode="auto">
          <a:xfrm>
            <a:off x="2547938" y="3808414"/>
            <a:ext cx="14287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59409" name="Rectangle 18">
            <a:extLst>
              <a:ext uri="{FF2B5EF4-FFF2-40B4-BE49-F238E27FC236}">
                <a16:creationId xmlns:a16="http://schemas.microsoft.com/office/drawing/2014/main" id="{3569938B-C636-8246-8622-94F658D18E0D}"/>
              </a:ext>
            </a:extLst>
          </p:cNvPr>
          <p:cNvSpPr>
            <a:spLocks noChangeArrowheads="1"/>
          </p:cNvSpPr>
          <p:nvPr/>
        </p:nvSpPr>
        <p:spPr bwMode="auto">
          <a:xfrm>
            <a:off x="2438401" y="5410201"/>
            <a:ext cx="141064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000">
                <a:solidFill>
                  <a:srgbClr val="000000"/>
                </a:solidFill>
              </a:rPr>
              <a:t>Don</a:t>
            </a:r>
            <a:r>
              <a:rPr lang="ja-JP" altLang="en-US" sz="2000">
                <a:solidFill>
                  <a:srgbClr val="000000"/>
                </a:solidFill>
              </a:rPr>
              <a:t>’</a:t>
            </a:r>
            <a:r>
              <a:rPr lang="en-US" altLang="ja-JP" sz="2000">
                <a:solidFill>
                  <a:srgbClr val="000000"/>
                </a:solidFill>
              </a:rPr>
              <a:t>t Spray</a:t>
            </a:r>
            <a:endParaRPr lang="en-US" altLang="en-MX" sz="2000">
              <a:solidFill>
                <a:srgbClr val="000000"/>
              </a:solidFill>
            </a:endParaRPr>
          </a:p>
        </p:txBody>
      </p:sp>
      <p:sp>
        <p:nvSpPr>
          <p:cNvPr id="59410" name="Line 19">
            <a:extLst>
              <a:ext uri="{FF2B5EF4-FFF2-40B4-BE49-F238E27FC236}">
                <a16:creationId xmlns:a16="http://schemas.microsoft.com/office/drawing/2014/main" id="{625CEE8B-531B-B049-8244-870B4E86F1D2}"/>
              </a:ext>
            </a:extLst>
          </p:cNvPr>
          <p:cNvSpPr>
            <a:spLocks noChangeShapeType="1"/>
          </p:cNvSpPr>
          <p:nvPr/>
        </p:nvSpPr>
        <p:spPr bwMode="auto">
          <a:xfrm>
            <a:off x="2514600" y="5867400"/>
            <a:ext cx="14287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59411" name="Rectangle 20">
            <a:extLst>
              <a:ext uri="{FF2B5EF4-FFF2-40B4-BE49-F238E27FC236}">
                <a16:creationId xmlns:a16="http://schemas.microsoft.com/office/drawing/2014/main" id="{D56E8C54-E452-AF41-9A02-1B10685747AD}"/>
              </a:ext>
            </a:extLst>
          </p:cNvPr>
          <p:cNvSpPr>
            <a:spLocks noChangeArrowheads="1"/>
          </p:cNvSpPr>
          <p:nvPr/>
        </p:nvSpPr>
        <p:spPr bwMode="auto">
          <a:xfrm>
            <a:off x="2362201" y="3429001"/>
            <a:ext cx="4701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000">
                <a:solidFill>
                  <a:srgbClr val="000000"/>
                </a:solidFill>
              </a:rPr>
              <a:t>Test</a:t>
            </a:r>
          </a:p>
        </p:txBody>
      </p:sp>
      <p:sp>
        <p:nvSpPr>
          <p:cNvPr id="59412" name="Freeform 21">
            <a:extLst>
              <a:ext uri="{FF2B5EF4-FFF2-40B4-BE49-F238E27FC236}">
                <a16:creationId xmlns:a16="http://schemas.microsoft.com/office/drawing/2014/main" id="{78CFB7A1-B812-FD49-9FCE-20726C541041}"/>
              </a:ext>
            </a:extLst>
          </p:cNvPr>
          <p:cNvSpPr>
            <a:spLocks/>
          </p:cNvSpPr>
          <p:nvPr/>
        </p:nvSpPr>
        <p:spPr bwMode="auto">
          <a:xfrm>
            <a:off x="2209800" y="2057400"/>
            <a:ext cx="261938" cy="2198688"/>
          </a:xfrm>
          <a:custGeom>
            <a:avLst/>
            <a:gdLst>
              <a:gd name="T0" fmla="*/ 0 w 14"/>
              <a:gd name="T1" fmla="*/ 2147483647 h 87"/>
              <a:gd name="T2" fmla="*/ 0 w 14"/>
              <a:gd name="T3" fmla="*/ 0 h 87"/>
              <a:gd name="T4" fmla="*/ 2147483647 w 14"/>
              <a:gd name="T5" fmla="*/ 0 h 87"/>
              <a:gd name="T6" fmla="*/ 0 60000 65536"/>
              <a:gd name="T7" fmla="*/ 0 60000 65536"/>
              <a:gd name="T8" fmla="*/ 0 60000 65536"/>
              <a:gd name="T9" fmla="*/ 0 w 14"/>
              <a:gd name="T10" fmla="*/ 0 h 87"/>
              <a:gd name="T11" fmla="*/ 14 w 14"/>
              <a:gd name="T12" fmla="*/ 87 h 87"/>
            </a:gdLst>
            <a:ahLst/>
            <a:cxnLst>
              <a:cxn ang="T6">
                <a:pos x="T0" y="T1"/>
              </a:cxn>
              <a:cxn ang="T7">
                <a:pos x="T2" y="T3"/>
              </a:cxn>
              <a:cxn ang="T8">
                <a:pos x="T4" y="T5"/>
              </a:cxn>
            </a:cxnLst>
            <a:rect l="T9" t="T10" r="T11" b="T12"/>
            <a:pathLst>
              <a:path w="14" h="87">
                <a:moveTo>
                  <a:pt x="0" y="8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9413" name="Freeform 22">
            <a:extLst>
              <a:ext uri="{FF2B5EF4-FFF2-40B4-BE49-F238E27FC236}">
                <a16:creationId xmlns:a16="http://schemas.microsoft.com/office/drawing/2014/main" id="{82B38543-3E4B-A44E-A3D8-76BF7ECFAB99}"/>
              </a:ext>
            </a:extLst>
          </p:cNvPr>
          <p:cNvSpPr>
            <a:spLocks/>
          </p:cNvSpPr>
          <p:nvPr/>
        </p:nvSpPr>
        <p:spPr bwMode="auto">
          <a:xfrm>
            <a:off x="2244726" y="3810001"/>
            <a:ext cx="303213" cy="42863"/>
          </a:xfrm>
          <a:custGeom>
            <a:avLst/>
            <a:gdLst>
              <a:gd name="T0" fmla="*/ 0 w 14"/>
              <a:gd name="T1" fmla="*/ 2147483647 h 2"/>
              <a:gd name="T2" fmla="*/ 0 w 14"/>
              <a:gd name="T3" fmla="*/ 0 h 2"/>
              <a:gd name="T4" fmla="*/ 2147483647 w 14"/>
              <a:gd name="T5" fmla="*/ 0 h 2"/>
              <a:gd name="T6" fmla="*/ 0 60000 65536"/>
              <a:gd name="T7" fmla="*/ 0 60000 65536"/>
              <a:gd name="T8" fmla="*/ 0 60000 65536"/>
              <a:gd name="T9" fmla="*/ 0 w 14"/>
              <a:gd name="T10" fmla="*/ 0 h 2"/>
              <a:gd name="T11" fmla="*/ 14 w 14"/>
              <a:gd name="T12" fmla="*/ 2 h 2"/>
            </a:gdLst>
            <a:ahLst/>
            <a:cxnLst>
              <a:cxn ang="T6">
                <a:pos x="T0" y="T1"/>
              </a:cxn>
              <a:cxn ang="T7">
                <a:pos x="T2" y="T3"/>
              </a:cxn>
              <a:cxn ang="T8">
                <a:pos x="T4" y="T5"/>
              </a:cxn>
            </a:cxnLst>
            <a:rect l="T9" t="T10" r="T11" b="T12"/>
            <a:pathLst>
              <a:path w="14" h="2">
                <a:moveTo>
                  <a:pt x="0" y="2"/>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9414" name="Freeform 23">
            <a:extLst>
              <a:ext uri="{FF2B5EF4-FFF2-40B4-BE49-F238E27FC236}">
                <a16:creationId xmlns:a16="http://schemas.microsoft.com/office/drawing/2014/main" id="{034330D1-7EB7-374E-9DC9-616A8768F628}"/>
              </a:ext>
            </a:extLst>
          </p:cNvPr>
          <p:cNvSpPr>
            <a:spLocks/>
          </p:cNvSpPr>
          <p:nvPr/>
        </p:nvSpPr>
        <p:spPr bwMode="auto">
          <a:xfrm>
            <a:off x="2209801" y="3957638"/>
            <a:ext cx="303213" cy="1916112"/>
          </a:xfrm>
          <a:custGeom>
            <a:avLst/>
            <a:gdLst>
              <a:gd name="T0" fmla="*/ 0 w 14"/>
              <a:gd name="T1" fmla="*/ 0 h 88"/>
              <a:gd name="T2" fmla="*/ 0 w 14"/>
              <a:gd name="T3" fmla="*/ 2147483647 h 88"/>
              <a:gd name="T4" fmla="*/ 2147483647 w 14"/>
              <a:gd name="T5" fmla="*/ 2147483647 h 88"/>
              <a:gd name="T6" fmla="*/ 0 60000 65536"/>
              <a:gd name="T7" fmla="*/ 0 60000 65536"/>
              <a:gd name="T8" fmla="*/ 0 60000 65536"/>
              <a:gd name="T9" fmla="*/ 0 w 14"/>
              <a:gd name="T10" fmla="*/ 0 h 88"/>
              <a:gd name="T11" fmla="*/ 14 w 14"/>
              <a:gd name="T12" fmla="*/ 88 h 88"/>
            </a:gdLst>
            <a:ahLst/>
            <a:cxnLst>
              <a:cxn ang="T6">
                <a:pos x="T0" y="T1"/>
              </a:cxn>
              <a:cxn ang="T7">
                <a:pos x="T2" y="T3"/>
              </a:cxn>
              <a:cxn ang="T8">
                <a:pos x="T4" y="T5"/>
              </a:cxn>
            </a:cxnLst>
            <a:rect l="T9" t="T10" r="T11" b="T12"/>
            <a:pathLst>
              <a:path w="14" h="88">
                <a:moveTo>
                  <a:pt x="0" y="0"/>
                </a:moveTo>
                <a:lnTo>
                  <a:pt x="0" y="88"/>
                </a:lnTo>
                <a:lnTo>
                  <a:pt x="14" y="88"/>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9415" name="Rectangle 24">
            <a:extLst>
              <a:ext uri="{FF2B5EF4-FFF2-40B4-BE49-F238E27FC236}">
                <a16:creationId xmlns:a16="http://schemas.microsoft.com/office/drawing/2014/main" id="{00AD071B-F93B-3940-9356-A84323E0ABD2}"/>
              </a:ext>
            </a:extLst>
          </p:cNvPr>
          <p:cNvSpPr>
            <a:spLocks noChangeArrowheads="1"/>
          </p:cNvSpPr>
          <p:nvPr/>
        </p:nvSpPr>
        <p:spPr bwMode="auto">
          <a:xfrm>
            <a:off x="2093914" y="3657600"/>
            <a:ext cx="238125" cy="261938"/>
          </a:xfrm>
          <a:prstGeom prst="rect">
            <a:avLst/>
          </a:prstGeom>
          <a:solidFill>
            <a:schemeClr val="bg1"/>
          </a:solidFill>
          <a:ln w="25400">
            <a:solidFill>
              <a:srgbClr val="0000FF"/>
            </a:solidFill>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9416" name="Text Box 25">
            <a:extLst>
              <a:ext uri="{FF2B5EF4-FFF2-40B4-BE49-F238E27FC236}">
                <a16:creationId xmlns:a16="http://schemas.microsoft.com/office/drawing/2014/main" id="{2806568F-7583-E243-9B72-354A70C16A0D}"/>
              </a:ext>
            </a:extLst>
          </p:cNvPr>
          <p:cNvSpPr txBox="1">
            <a:spLocks noChangeArrowheads="1"/>
          </p:cNvSpPr>
          <p:nvPr/>
        </p:nvSpPr>
        <p:spPr bwMode="auto">
          <a:xfrm>
            <a:off x="8534400" y="609601"/>
            <a:ext cx="213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1800" b="1" u="sng">
                <a:solidFill>
                  <a:srgbClr val="000000"/>
                </a:solidFill>
              </a:rPr>
              <a:t>P(Death</a:t>
            </a:r>
            <a:r>
              <a:rPr lang="en-US" altLang="en-MX" sz="1800" b="1" u="sng">
                <a:solidFill>
                  <a:srgbClr val="000000"/>
                </a:solidFill>
                <a:latin typeface="Garamond" panose="02020404030301010803" pitchFamily="18" charset="0"/>
              </a:rPr>
              <a:t>)</a:t>
            </a:r>
          </a:p>
        </p:txBody>
      </p:sp>
      <p:sp>
        <p:nvSpPr>
          <p:cNvPr id="59417" name="Line 26">
            <a:extLst>
              <a:ext uri="{FF2B5EF4-FFF2-40B4-BE49-F238E27FC236}">
                <a16:creationId xmlns:a16="http://schemas.microsoft.com/office/drawing/2014/main" id="{027CA0F3-AA78-814B-BC9D-FC1382B22B9B}"/>
              </a:ext>
            </a:extLst>
          </p:cNvPr>
          <p:cNvSpPr>
            <a:spLocks noChangeShapeType="1"/>
          </p:cNvSpPr>
          <p:nvPr/>
        </p:nvSpPr>
        <p:spPr bwMode="auto">
          <a:xfrm>
            <a:off x="8915400" y="14478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59418" name="Line 27">
            <a:extLst>
              <a:ext uri="{FF2B5EF4-FFF2-40B4-BE49-F238E27FC236}">
                <a16:creationId xmlns:a16="http://schemas.microsoft.com/office/drawing/2014/main" id="{84E5DC7B-D15D-C948-B9B6-28668C413857}"/>
              </a:ext>
            </a:extLst>
          </p:cNvPr>
          <p:cNvSpPr>
            <a:spLocks noChangeShapeType="1"/>
          </p:cNvSpPr>
          <p:nvPr/>
        </p:nvSpPr>
        <p:spPr bwMode="auto">
          <a:xfrm>
            <a:off x="4267200" y="2286000"/>
            <a:ext cx="43434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59419" name="Line 28">
            <a:extLst>
              <a:ext uri="{FF2B5EF4-FFF2-40B4-BE49-F238E27FC236}">
                <a16:creationId xmlns:a16="http://schemas.microsoft.com/office/drawing/2014/main" id="{B7C66AAF-DC32-8C45-A13F-00C12F68E88A}"/>
              </a:ext>
            </a:extLst>
          </p:cNvPr>
          <p:cNvSpPr>
            <a:spLocks noChangeShapeType="1"/>
          </p:cNvSpPr>
          <p:nvPr/>
        </p:nvSpPr>
        <p:spPr bwMode="auto">
          <a:xfrm>
            <a:off x="4343400" y="5562600"/>
            <a:ext cx="1295400" cy="0"/>
          </a:xfrm>
          <a:prstGeom prst="line">
            <a:avLst/>
          </a:prstGeom>
          <a:noFill/>
          <a:ln w="1905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59420" name="Oval 29">
            <a:extLst>
              <a:ext uri="{FF2B5EF4-FFF2-40B4-BE49-F238E27FC236}">
                <a16:creationId xmlns:a16="http://schemas.microsoft.com/office/drawing/2014/main" id="{109950F0-5D27-324A-AB39-97E9CE19373E}"/>
              </a:ext>
            </a:extLst>
          </p:cNvPr>
          <p:cNvSpPr>
            <a:spLocks noChangeArrowheads="1"/>
          </p:cNvSpPr>
          <p:nvPr/>
        </p:nvSpPr>
        <p:spPr bwMode="auto">
          <a:xfrm>
            <a:off x="5562601" y="1566864"/>
            <a:ext cx="238125" cy="261937"/>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9421" name="Rectangle 30">
            <a:extLst>
              <a:ext uri="{FF2B5EF4-FFF2-40B4-BE49-F238E27FC236}">
                <a16:creationId xmlns:a16="http://schemas.microsoft.com/office/drawing/2014/main" id="{490ABFFA-1BE0-9840-9D3F-E07AD62E5A94}"/>
              </a:ext>
            </a:extLst>
          </p:cNvPr>
          <p:cNvSpPr>
            <a:spLocks noChangeArrowheads="1"/>
          </p:cNvSpPr>
          <p:nvPr/>
        </p:nvSpPr>
        <p:spPr bwMode="auto">
          <a:xfrm>
            <a:off x="5943600" y="1066800"/>
            <a:ext cx="12319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Encephalitis</a:t>
            </a:r>
          </a:p>
        </p:txBody>
      </p:sp>
      <p:sp>
        <p:nvSpPr>
          <p:cNvPr id="59422" name="Line 31">
            <a:extLst>
              <a:ext uri="{FF2B5EF4-FFF2-40B4-BE49-F238E27FC236}">
                <a16:creationId xmlns:a16="http://schemas.microsoft.com/office/drawing/2014/main" id="{5D788F13-6444-6F4A-A6D9-B05978F409CE}"/>
              </a:ext>
            </a:extLst>
          </p:cNvPr>
          <p:cNvSpPr>
            <a:spLocks noChangeShapeType="1"/>
          </p:cNvSpPr>
          <p:nvPr/>
        </p:nvSpPr>
        <p:spPr bwMode="auto">
          <a:xfrm flipV="1">
            <a:off x="5957888" y="1371601"/>
            <a:ext cx="2652712" cy="1587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59423" name="Line 32">
            <a:extLst>
              <a:ext uri="{FF2B5EF4-FFF2-40B4-BE49-F238E27FC236}">
                <a16:creationId xmlns:a16="http://schemas.microsoft.com/office/drawing/2014/main" id="{82B89346-7728-D742-84D6-0D13ECD34AEB}"/>
              </a:ext>
            </a:extLst>
          </p:cNvPr>
          <p:cNvSpPr>
            <a:spLocks noChangeShapeType="1"/>
          </p:cNvSpPr>
          <p:nvPr/>
        </p:nvSpPr>
        <p:spPr bwMode="auto">
          <a:xfrm>
            <a:off x="5943600" y="1981200"/>
            <a:ext cx="25908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59424" name="Freeform 33">
            <a:extLst>
              <a:ext uri="{FF2B5EF4-FFF2-40B4-BE49-F238E27FC236}">
                <a16:creationId xmlns:a16="http://schemas.microsoft.com/office/drawing/2014/main" id="{66F2A91F-2AE1-D24C-80B2-70CD25AD5B7C}"/>
              </a:ext>
            </a:extLst>
          </p:cNvPr>
          <p:cNvSpPr>
            <a:spLocks/>
          </p:cNvSpPr>
          <p:nvPr/>
        </p:nvSpPr>
        <p:spPr bwMode="auto">
          <a:xfrm>
            <a:off x="5715000" y="5257801"/>
            <a:ext cx="2895600" cy="396875"/>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9425" name="Freeform 34">
            <a:extLst>
              <a:ext uri="{FF2B5EF4-FFF2-40B4-BE49-F238E27FC236}">
                <a16:creationId xmlns:a16="http://schemas.microsoft.com/office/drawing/2014/main" id="{6568E719-E300-6B4E-A4DB-122B608B42AA}"/>
              </a:ext>
            </a:extLst>
          </p:cNvPr>
          <p:cNvSpPr>
            <a:spLocks/>
          </p:cNvSpPr>
          <p:nvPr/>
        </p:nvSpPr>
        <p:spPr bwMode="auto">
          <a:xfrm>
            <a:off x="5716588" y="5502276"/>
            <a:ext cx="303212" cy="347663"/>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9426" name="Line 35">
            <a:extLst>
              <a:ext uri="{FF2B5EF4-FFF2-40B4-BE49-F238E27FC236}">
                <a16:creationId xmlns:a16="http://schemas.microsoft.com/office/drawing/2014/main" id="{73CE9830-7D9B-784F-B592-5748D01EFC12}"/>
              </a:ext>
            </a:extLst>
          </p:cNvPr>
          <p:cNvSpPr>
            <a:spLocks noChangeShapeType="1"/>
          </p:cNvSpPr>
          <p:nvPr/>
        </p:nvSpPr>
        <p:spPr bwMode="auto">
          <a:xfrm>
            <a:off x="6005513" y="5849938"/>
            <a:ext cx="25146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59427" name="Rectangle 36">
            <a:extLst>
              <a:ext uri="{FF2B5EF4-FFF2-40B4-BE49-F238E27FC236}">
                <a16:creationId xmlns:a16="http://schemas.microsoft.com/office/drawing/2014/main" id="{9F127EAA-D27D-314F-967A-CDEB868C80A3}"/>
              </a:ext>
            </a:extLst>
          </p:cNvPr>
          <p:cNvSpPr>
            <a:spLocks noChangeArrowheads="1"/>
          </p:cNvSpPr>
          <p:nvPr/>
        </p:nvSpPr>
        <p:spPr bwMode="auto">
          <a:xfrm>
            <a:off x="5943600" y="1660525"/>
            <a:ext cx="1752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Encephalitis</a:t>
            </a:r>
          </a:p>
        </p:txBody>
      </p:sp>
      <p:sp>
        <p:nvSpPr>
          <p:cNvPr id="59428" name="Rectangle 37">
            <a:extLst>
              <a:ext uri="{FF2B5EF4-FFF2-40B4-BE49-F238E27FC236}">
                <a16:creationId xmlns:a16="http://schemas.microsoft.com/office/drawing/2014/main" id="{0E429499-AFEA-064F-8325-40291C856353}"/>
              </a:ext>
            </a:extLst>
          </p:cNvPr>
          <p:cNvSpPr>
            <a:spLocks noChangeArrowheads="1"/>
          </p:cNvSpPr>
          <p:nvPr/>
        </p:nvSpPr>
        <p:spPr bwMode="auto">
          <a:xfrm>
            <a:off x="5956300" y="4999039"/>
            <a:ext cx="12319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Encephalitis</a:t>
            </a:r>
          </a:p>
        </p:txBody>
      </p:sp>
      <p:sp>
        <p:nvSpPr>
          <p:cNvPr id="59429" name="Rectangle 38">
            <a:extLst>
              <a:ext uri="{FF2B5EF4-FFF2-40B4-BE49-F238E27FC236}">
                <a16:creationId xmlns:a16="http://schemas.microsoft.com/office/drawing/2014/main" id="{1762B229-DD3F-B748-B9A6-106BC318F3EF}"/>
              </a:ext>
            </a:extLst>
          </p:cNvPr>
          <p:cNvSpPr>
            <a:spLocks noChangeArrowheads="1"/>
          </p:cNvSpPr>
          <p:nvPr/>
        </p:nvSpPr>
        <p:spPr bwMode="auto">
          <a:xfrm>
            <a:off x="5943600" y="5562600"/>
            <a:ext cx="1752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Encephalitis</a:t>
            </a:r>
          </a:p>
        </p:txBody>
      </p:sp>
      <p:sp>
        <p:nvSpPr>
          <p:cNvPr id="59430" name="Oval 39">
            <a:extLst>
              <a:ext uri="{FF2B5EF4-FFF2-40B4-BE49-F238E27FC236}">
                <a16:creationId xmlns:a16="http://schemas.microsoft.com/office/drawing/2014/main" id="{FB60BC3F-BD0D-0A47-B7D9-C0CC8E2F12B4}"/>
              </a:ext>
            </a:extLst>
          </p:cNvPr>
          <p:cNvSpPr>
            <a:spLocks noChangeArrowheads="1"/>
          </p:cNvSpPr>
          <p:nvPr/>
        </p:nvSpPr>
        <p:spPr bwMode="auto">
          <a:xfrm>
            <a:off x="5629276" y="5426075"/>
            <a:ext cx="238125" cy="261938"/>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9431" name="Oval 40">
            <a:extLst>
              <a:ext uri="{FF2B5EF4-FFF2-40B4-BE49-F238E27FC236}">
                <a16:creationId xmlns:a16="http://schemas.microsoft.com/office/drawing/2014/main" id="{3D5F0B03-1AD7-8A4F-93C6-350565939B68}"/>
              </a:ext>
            </a:extLst>
          </p:cNvPr>
          <p:cNvSpPr>
            <a:spLocks noChangeArrowheads="1"/>
          </p:cNvSpPr>
          <p:nvPr/>
        </p:nvSpPr>
        <p:spPr bwMode="auto">
          <a:xfrm>
            <a:off x="3963989" y="5729288"/>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9432" name="Freeform 41">
            <a:extLst>
              <a:ext uri="{FF2B5EF4-FFF2-40B4-BE49-F238E27FC236}">
                <a16:creationId xmlns:a16="http://schemas.microsoft.com/office/drawing/2014/main" id="{35424D1D-9A8C-9441-82A5-285D572F79C6}"/>
              </a:ext>
            </a:extLst>
          </p:cNvPr>
          <p:cNvSpPr>
            <a:spLocks/>
          </p:cNvSpPr>
          <p:nvPr/>
        </p:nvSpPr>
        <p:spPr bwMode="auto">
          <a:xfrm>
            <a:off x="4114801" y="3276600"/>
            <a:ext cx="371475" cy="533400"/>
          </a:xfrm>
          <a:custGeom>
            <a:avLst/>
            <a:gdLst>
              <a:gd name="T0" fmla="*/ 0 w 14"/>
              <a:gd name="T1" fmla="*/ 2147483647 h 16"/>
              <a:gd name="T2" fmla="*/ 0 w 14"/>
              <a:gd name="T3" fmla="*/ 0 h 16"/>
              <a:gd name="T4" fmla="*/ 2147483647 w 14"/>
              <a:gd name="T5" fmla="*/ 0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16"/>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9433" name="Freeform 42">
            <a:extLst>
              <a:ext uri="{FF2B5EF4-FFF2-40B4-BE49-F238E27FC236}">
                <a16:creationId xmlns:a16="http://schemas.microsoft.com/office/drawing/2014/main" id="{27F72919-3F42-B740-990B-8A82D46DAE27}"/>
              </a:ext>
            </a:extLst>
          </p:cNvPr>
          <p:cNvSpPr>
            <a:spLocks/>
          </p:cNvSpPr>
          <p:nvPr/>
        </p:nvSpPr>
        <p:spPr bwMode="auto">
          <a:xfrm>
            <a:off x="4114801" y="3962400"/>
            <a:ext cx="295275" cy="533400"/>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9434" name="Oval 43">
            <a:extLst>
              <a:ext uri="{FF2B5EF4-FFF2-40B4-BE49-F238E27FC236}">
                <a16:creationId xmlns:a16="http://schemas.microsoft.com/office/drawing/2014/main" id="{A2EB4FFF-8C1D-5E4A-8784-AEEDBF4EC524}"/>
              </a:ext>
            </a:extLst>
          </p:cNvPr>
          <p:cNvSpPr>
            <a:spLocks noChangeArrowheads="1"/>
          </p:cNvSpPr>
          <p:nvPr/>
        </p:nvSpPr>
        <p:spPr bwMode="auto">
          <a:xfrm>
            <a:off x="3976689" y="3733800"/>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9435" name="Line 44">
            <a:extLst>
              <a:ext uri="{FF2B5EF4-FFF2-40B4-BE49-F238E27FC236}">
                <a16:creationId xmlns:a16="http://schemas.microsoft.com/office/drawing/2014/main" id="{A88DBE86-6C86-7443-9EDC-3AF821C02085}"/>
              </a:ext>
            </a:extLst>
          </p:cNvPr>
          <p:cNvSpPr>
            <a:spLocks noChangeShapeType="1"/>
          </p:cNvSpPr>
          <p:nvPr/>
        </p:nvSpPr>
        <p:spPr bwMode="auto">
          <a:xfrm>
            <a:off x="4419600" y="3276600"/>
            <a:ext cx="7620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59436" name="Line 45">
            <a:extLst>
              <a:ext uri="{FF2B5EF4-FFF2-40B4-BE49-F238E27FC236}">
                <a16:creationId xmlns:a16="http://schemas.microsoft.com/office/drawing/2014/main" id="{F12B4E30-B4FE-274A-8BE6-8434D842160A}"/>
              </a:ext>
            </a:extLst>
          </p:cNvPr>
          <p:cNvSpPr>
            <a:spLocks noChangeShapeType="1"/>
          </p:cNvSpPr>
          <p:nvPr/>
        </p:nvSpPr>
        <p:spPr bwMode="auto">
          <a:xfrm>
            <a:off x="4419600" y="4495800"/>
            <a:ext cx="960438"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59437" name="Rectangle 46">
            <a:extLst>
              <a:ext uri="{FF2B5EF4-FFF2-40B4-BE49-F238E27FC236}">
                <a16:creationId xmlns:a16="http://schemas.microsoft.com/office/drawing/2014/main" id="{B0B747B6-5CB8-0D4D-9D1B-2DB092B3C56C}"/>
              </a:ext>
            </a:extLst>
          </p:cNvPr>
          <p:cNvSpPr>
            <a:spLocks noChangeArrowheads="1"/>
          </p:cNvSpPr>
          <p:nvPr/>
        </p:nvSpPr>
        <p:spPr bwMode="auto">
          <a:xfrm>
            <a:off x="5486400" y="3124200"/>
            <a:ext cx="14097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Spray</a:t>
            </a:r>
          </a:p>
        </p:txBody>
      </p:sp>
      <p:sp>
        <p:nvSpPr>
          <p:cNvPr id="59438" name="Text Box 47">
            <a:extLst>
              <a:ext uri="{FF2B5EF4-FFF2-40B4-BE49-F238E27FC236}">
                <a16:creationId xmlns:a16="http://schemas.microsoft.com/office/drawing/2014/main" id="{C5D2DA88-2ED3-A443-A32C-3E9BA35899C1}"/>
              </a:ext>
            </a:extLst>
          </p:cNvPr>
          <p:cNvSpPr txBox="1">
            <a:spLocks noChangeArrowheads="1"/>
          </p:cNvSpPr>
          <p:nvPr/>
        </p:nvSpPr>
        <p:spPr bwMode="auto">
          <a:xfrm>
            <a:off x="5638800" y="4191000"/>
            <a:ext cx="990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a:solidFill>
                  <a:srgbClr val="000000"/>
                </a:solidFill>
              </a:rPr>
              <a:t>Don</a:t>
            </a:r>
            <a:r>
              <a:rPr lang="ja-JP" altLang="en-US" sz="1800">
                <a:solidFill>
                  <a:srgbClr val="000000"/>
                </a:solidFill>
              </a:rPr>
              <a:t>’</a:t>
            </a:r>
            <a:r>
              <a:rPr lang="en-US" altLang="ja-JP" sz="1800">
                <a:solidFill>
                  <a:srgbClr val="000000"/>
                </a:solidFill>
              </a:rPr>
              <a:t>t spray</a:t>
            </a:r>
            <a:endParaRPr lang="en-US" altLang="en-MX" sz="1800">
              <a:solidFill>
                <a:srgbClr val="000000"/>
              </a:solidFill>
            </a:endParaRPr>
          </a:p>
        </p:txBody>
      </p:sp>
      <p:sp>
        <p:nvSpPr>
          <p:cNvPr id="59439" name="Line 48">
            <a:extLst>
              <a:ext uri="{FF2B5EF4-FFF2-40B4-BE49-F238E27FC236}">
                <a16:creationId xmlns:a16="http://schemas.microsoft.com/office/drawing/2014/main" id="{4660A3B6-B0D7-5341-A95B-5EF4A5D3FC8C}"/>
              </a:ext>
            </a:extLst>
          </p:cNvPr>
          <p:cNvSpPr>
            <a:spLocks noChangeShapeType="1"/>
          </p:cNvSpPr>
          <p:nvPr/>
        </p:nvSpPr>
        <p:spPr bwMode="auto">
          <a:xfrm>
            <a:off x="8915400" y="19050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59440" name="Line 49">
            <a:extLst>
              <a:ext uri="{FF2B5EF4-FFF2-40B4-BE49-F238E27FC236}">
                <a16:creationId xmlns:a16="http://schemas.microsoft.com/office/drawing/2014/main" id="{162BBB2D-9A65-884C-8BA3-B474371A5D75}"/>
              </a:ext>
            </a:extLst>
          </p:cNvPr>
          <p:cNvSpPr>
            <a:spLocks noChangeShapeType="1"/>
          </p:cNvSpPr>
          <p:nvPr/>
        </p:nvSpPr>
        <p:spPr bwMode="auto">
          <a:xfrm>
            <a:off x="8915400" y="22860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59441" name="Line 50">
            <a:extLst>
              <a:ext uri="{FF2B5EF4-FFF2-40B4-BE49-F238E27FC236}">
                <a16:creationId xmlns:a16="http://schemas.microsoft.com/office/drawing/2014/main" id="{3CEFAD88-B4BD-8B41-BC57-1AB595E67E8A}"/>
              </a:ext>
            </a:extLst>
          </p:cNvPr>
          <p:cNvSpPr>
            <a:spLocks noChangeShapeType="1"/>
          </p:cNvSpPr>
          <p:nvPr/>
        </p:nvSpPr>
        <p:spPr bwMode="auto">
          <a:xfrm>
            <a:off x="8915400" y="29718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59442" name="Line 51">
            <a:extLst>
              <a:ext uri="{FF2B5EF4-FFF2-40B4-BE49-F238E27FC236}">
                <a16:creationId xmlns:a16="http://schemas.microsoft.com/office/drawing/2014/main" id="{C15AEE84-BB70-7041-A908-90AA46927AF3}"/>
              </a:ext>
            </a:extLst>
          </p:cNvPr>
          <p:cNvSpPr>
            <a:spLocks noChangeShapeType="1"/>
          </p:cNvSpPr>
          <p:nvPr/>
        </p:nvSpPr>
        <p:spPr bwMode="auto">
          <a:xfrm>
            <a:off x="8915400" y="35814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59443" name="Line 52">
            <a:extLst>
              <a:ext uri="{FF2B5EF4-FFF2-40B4-BE49-F238E27FC236}">
                <a16:creationId xmlns:a16="http://schemas.microsoft.com/office/drawing/2014/main" id="{FB9533A4-913E-3449-A7C7-088946822248}"/>
              </a:ext>
            </a:extLst>
          </p:cNvPr>
          <p:cNvSpPr>
            <a:spLocks noChangeShapeType="1"/>
          </p:cNvSpPr>
          <p:nvPr/>
        </p:nvSpPr>
        <p:spPr bwMode="auto">
          <a:xfrm>
            <a:off x="8915400" y="43434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59444" name="Line 53">
            <a:extLst>
              <a:ext uri="{FF2B5EF4-FFF2-40B4-BE49-F238E27FC236}">
                <a16:creationId xmlns:a16="http://schemas.microsoft.com/office/drawing/2014/main" id="{DBF8CC84-5A4B-934A-AC40-755E98FCC794}"/>
              </a:ext>
            </a:extLst>
          </p:cNvPr>
          <p:cNvSpPr>
            <a:spLocks noChangeShapeType="1"/>
          </p:cNvSpPr>
          <p:nvPr/>
        </p:nvSpPr>
        <p:spPr bwMode="auto">
          <a:xfrm>
            <a:off x="8915400" y="48006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59445" name="Line 54">
            <a:extLst>
              <a:ext uri="{FF2B5EF4-FFF2-40B4-BE49-F238E27FC236}">
                <a16:creationId xmlns:a16="http://schemas.microsoft.com/office/drawing/2014/main" id="{692A7E29-AFFC-2646-B20F-BB55FD94E09B}"/>
              </a:ext>
            </a:extLst>
          </p:cNvPr>
          <p:cNvSpPr>
            <a:spLocks noChangeShapeType="1"/>
          </p:cNvSpPr>
          <p:nvPr/>
        </p:nvSpPr>
        <p:spPr bwMode="auto">
          <a:xfrm>
            <a:off x="8915400" y="53340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59446" name="Line 55">
            <a:extLst>
              <a:ext uri="{FF2B5EF4-FFF2-40B4-BE49-F238E27FC236}">
                <a16:creationId xmlns:a16="http://schemas.microsoft.com/office/drawing/2014/main" id="{3AD0A763-B7AA-C144-9670-13CD1D5AC792}"/>
              </a:ext>
            </a:extLst>
          </p:cNvPr>
          <p:cNvSpPr>
            <a:spLocks noChangeShapeType="1"/>
          </p:cNvSpPr>
          <p:nvPr/>
        </p:nvSpPr>
        <p:spPr bwMode="auto">
          <a:xfrm>
            <a:off x="8915400" y="57912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59447" name="Line 56">
            <a:extLst>
              <a:ext uri="{FF2B5EF4-FFF2-40B4-BE49-F238E27FC236}">
                <a16:creationId xmlns:a16="http://schemas.microsoft.com/office/drawing/2014/main" id="{0CDD44F2-17E3-3642-93D3-F6C492BA6148}"/>
              </a:ext>
            </a:extLst>
          </p:cNvPr>
          <p:cNvSpPr>
            <a:spLocks noChangeShapeType="1"/>
          </p:cNvSpPr>
          <p:nvPr/>
        </p:nvSpPr>
        <p:spPr bwMode="auto">
          <a:xfrm>
            <a:off x="8915400" y="63246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59448" name="Rectangle 57">
            <a:extLst>
              <a:ext uri="{FF2B5EF4-FFF2-40B4-BE49-F238E27FC236}">
                <a16:creationId xmlns:a16="http://schemas.microsoft.com/office/drawing/2014/main" id="{D46AF300-969B-0B46-AD03-88057515C852}"/>
              </a:ext>
            </a:extLst>
          </p:cNvPr>
          <p:cNvSpPr>
            <a:spLocks noChangeArrowheads="1"/>
          </p:cNvSpPr>
          <p:nvPr/>
        </p:nvSpPr>
        <p:spPr bwMode="auto">
          <a:xfrm>
            <a:off x="4191000" y="2895601"/>
            <a:ext cx="117981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ja-JP" altLang="en-US" sz="1800">
                <a:solidFill>
                  <a:srgbClr val="000000"/>
                </a:solidFill>
              </a:rPr>
              <a:t>“</a:t>
            </a:r>
            <a:r>
              <a:rPr lang="en-US" altLang="ja-JP" sz="1800">
                <a:solidFill>
                  <a:srgbClr val="000000"/>
                </a:solidFill>
              </a:rPr>
              <a:t>Outbreak</a:t>
            </a:r>
            <a:r>
              <a:rPr lang="ja-JP" altLang="en-US" sz="1800">
                <a:solidFill>
                  <a:srgbClr val="000000"/>
                </a:solidFill>
              </a:rPr>
              <a:t>”</a:t>
            </a:r>
            <a:endParaRPr lang="en-US" altLang="en-MX" sz="1800">
              <a:solidFill>
                <a:srgbClr val="000000"/>
              </a:solidFill>
            </a:endParaRPr>
          </a:p>
        </p:txBody>
      </p:sp>
      <p:sp>
        <p:nvSpPr>
          <p:cNvPr id="59449" name="Rectangle 58">
            <a:extLst>
              <a:ext uri="{FF2B5EF4-FFF2-40B4-BE49-F238E27FC236}">
                <a16:creationId xmlns:a16="http://schemas.microsoft.com/office/drawing/2014/main" id="{37BF9E47-D6EC-B44A-8B99-C974E0208369}"/>
              </a:ext>
            </a:extLst>
          </p:cNvPr>
          <p:cNvSpPr>
            <a:spLocks noChangeArrowheads="1"/>
          </p:cNvSpPr>
          <p:nvPr/>
        </p:nvSpPr>
        <p:spPr bwMode="auto">
          <a:xfrm>
            <a:off x="4191000" y="3962401"/>
            <a:ext cx="10668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ja-JP" altLang="en-US" sz="1800">
                <a:solidFill>
                  <a:srgbClr val="000000"/>
                </a:solidFill>
              </a:rPr>
              <a:t>“</a:t>
            </a:r>
            <a:r>
              <a:rPr lang="en-US" altLang="ja-JP" sz="1800">
                <a:solidFill>
                  <a:srgbClr val="000000"/>
                </a:solidFill>
              </a:rPr>
              <a:t>No</a:t>
            </a:r>
          </a:p>
          <a:p>
            <a:r>
              <a:rPr lang="en-US" altLang="en-MX" sz="1800">
                <a:solidFill>
                  <a:srgbClr val="000000"/>
                </a:solidFill>
              </a:rPr>
              <a:t>Outbreak</a:t>
            </a:r>
            <a:r>
              <a:rPr lang="ja-JP" altLang="en-US" sz="1800">
                <a:solidFill>
                  <a:srgbClr val="000000"/>
                </a:solidFill>
              </a:rPr>
              <a:t>”</a:t>
            </a:r>
            <a:endParaRPr lang="en-US" altLang="en-MX" sz="1800">
              <a:solidFill>
                <a:srgbClr val="000000"/>
              </a:solidFill>
            </a:endParaRPr>
          </a:p>
        </p:txBody>
      </p:sp>
      <p:sp>
        <p:nvSpPr>
          <p:cNvPr id="59450" name="AutoShape 59">
            <a:extLst>
              <a:ext uri="{FF2B5EF4-FFF2-40B4-BE49-F238E27FC236}">
                <a16:creationId xmlns:a16="http://schemas.microsoft.com/office/drawing/2014/main" id="{4ED1B54F-E416-1D49-99DE-7F94B30406FB}"/>
              </a:ext>
            </a:extLst>
          </p:cNvPr>
          <p:cNvSpPr>
            <a:spLocks noChangeArrowheads="1"/>
          </p:cNvSpPr>
          <p:nvPr/>
        </p:nvSpPr>
        <p:spPr bwMode="auto">
          <a:xfrm>
            <a:off x="5105400" y="3124200"/>
            <a:ext cx="304800" cy="304800"/>
          </a:xfrm>
          <a:prstGeom prst="rightArrow">
            <a:avLst>
              <a:gd name="adj1" fmla="val 50000"/>
              <a:gd name="adj2" fmla="val 25000"/>
            </a:avLst>
          </a:prstGeom>
          <a:solidFill>
            <a:srgbClr val="990033"/>
          </a:solidFill>
          <a:ln w="12700">
            <a:solidFill>
              <a:srgbClr val="00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9451" name="AutoShape 60">
            <a:extLst>
              <a:ext uri="{FF2B5EF4-FFF2-40B4-BE49-F238E27FC236}">
                <a16:creationId xmlns:a16="http://schemas.microsoft.com/office/drawing/2014/main" id="{42ACD2BC-BE62-2141-9E28-C510959FFA08}"/>
              </a:ext>
            </a:extLst>
          </p:cNvPr>
          <p:cNvSpPr>
            <a:spLocks noChangeArrowheads="1"/>
          </p:cNvSpPr>
          <p:nvPr/>
        </p:nvSpPr>
        <p:spPr bwMode="auto">
          <a:xfrm>
            <a:off x="5334000" y="4343400"/>
            <a:ext cx="304800" cy="304800"/>
          </a:xfrm>
          <a:prstGeom prst="rightArrow">
            <a:avLst>
              <a:gd name="adj1" fmla="val 50000"/>
              <a:gd name="adj2" fmla="val 25000"/>
            </a:avLst>
          </a:prstGeom>
          <a:solidFill>
            <a:srgbClr val="990033"/>
          </a:solidFill>
          <a:ln w="12700">
            <a:solidFill>
              <a:srgbClr val="00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9452" name="Freeform 61">
            <a:extLst>
              <a:ext uri="{FF2B5EF4-FFF2-40B4-BE49-F238E27FC236}">
                <a16:creationId xmlns:a16="http://schemas.microsoft.com/office/drawing/2014/main" id="{B41F8BF4-FB85-AD41-9B5F-779FA22EAF05}"/>
              </a:ext>
            </a:extLst>
          </p:cNvPr>
          <p:cNvSpPr>
            <a:spLocks/>
          </p:cNvSpPr>
          <p:nvPr/>
        </p:nvSpPr>
        <p:spPr bwMode="auto">
          <a:xfrm>
            <a:off x="6235700" y="2971801"/>
            <a:ext cx="2451100" cy="396875"/>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9453" name="Freeform 62">
            <a:extLst>
              <a:ext uri="{FF2B5EF4-FFF2-40B4-BE49-F238E27FC236}">
                <a16:creationId xmlns:a16="http://schemas.microsoft.com/office/drawing/2014/main" id="{7CF85DBD-BD28-5D41-B6B6-F2DE85E0A208}"/>
              </a:ext>
            </a:extLst>
          </p:cNvPr>
          <p:cNvSpPr>
            <a:spLocks/>
          </p:cNvSpPr>
          <p:nvPr/>
        </p:nvSpPr>
        <p:spPr bwMode="auto">
          <a:xfrm>
            <a:off x="6235700" y="3249614"/>
            <a:ext cx="2374900" cy="331787"/>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9454" name="Rectangle 63">
            <a:extLst>
              <a:ext uri="{FF2B5EF4-FFF2-40B4-BE49-F238E27FC236}">
                <a16:creationId xmlns:a16="http://schemas.microsoft.com/office/drawing/2014/main" id="{054F635E-69DE-BF45-847D-6A4A5136F875}"/>
              </a:ext>
            </a:extLst>
          </p:cNvPr>
          <p:cNvSpPr>
            <a:spLocks noChangeArrowheads="1"/>
          </p:cNvSpPr>
          <p:nvPr/>
        </p:nvSpPr>
        <p:spPr bwMode="auto">
          <a:xfrm>
            <a:off x="6535738" y="2682875"/>
            <a:ext cx="12319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Encephalitis</a:t>
            </a:r>
          </a:p>
        </p:txBody>
      </p:sp>
      <p:sp>
        <p:nvSpPr>
          <p:cNvPr id="59455" name="Rectangle 64">
            <a:extLst>
              <a:ext uri="{FF2B5EF4-FFF2-40B4-BE49-F238E27FC236}">
                <a16:creationId xmlns:a16="http://schemas.microsoft.com/office/drawing/2014/main" id="{32024EBA-988C-2142-B256-3B7614268160}"/>
              </a:ext>
            </a:extLst>
          </p:cNvPr>
          <p:cNvSpPr>
            <a:spLocks noChangeArrowheads="1"/>
          </p:cNvSpPr>
          <p:nvPr/>
        </p:nvSpPr>
        <p:spPr bwMode="auto">
          <a:xfrm>
            <a:off x="6477000" y="3276600"/>
            <a:ext cx="1752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Encephalitis</a:t>
            </a:r>
          </a:p>
        </p:txBody>
      </p:sp>
      <p:sp>
        <p:nvSpPr>
          <p:cNvPr id="59456" name="Oval 65">
            <a:extLst>
              <a:ext uri="{FF2B5EF4-FFF2-40B4-BE49-F238E27FC236}">
                <a16:creationId xmlns:a16="http://schemas.microsoft.com/office/drawing/2014/main" id="{F7B2E18E-EC52-6944-A79B-CAD009BB037D}"/>
              </a:ext>
            </a:extLst>
          </p:cNvPr>
          <p:cNvSpPr>
            <a:spLocks noChangeArrowheads="1"/>
          </p:cNvSpPr>
          <p:nvPr/>
        </p:nvSpPr>
        <p:spPr bwMode="auto">
          <a:xfrm>
            <a:off x="6172201" y="3124200"/>
            <a:ext cx="238125" cy="261938"/>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9457" name="Freeform 66">
            <a:extLst>
              <a:ext uri="{FF2B5EF4-FFF2-40B4-BE49-F238E27FC236}">
                <a16:creationId xmlns:a16="http://schemas.microsoft.com/office/drawing/2014/main" id="{F0884F56-190D-204C-8B53-F416006970EA}"/>
              </a:ext>
            </a:extLst>
          </p:cNvPr>
          <p:cNvSpPr>
            <a:spLocks/>
          </p:cNvSpPr>
          <p:nvPr/>
        </p:nvSpPr>
        <p:spPr bwMode="auto">
          <a:xfrm>
            <a:off x="6540500" y="4251326"/>
            <a:ext cx="2146300" cy="396875"/>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9458" name="Freeform 67">
            <a:extLst>
              <a:ext uri="{FF2B5EF4-FFF2-40B4-BE49-F238E27FC236}">
                <a16:creationId xmlns:a16="http://schemas.microsoft.com/office/drawing/2014/main" id="{0A347B24-8AD1-5A49-8D6A-6EDE5096B7F5}"/>
              </a:ext>
            </a:extLst>
          </p:cNvPr>
          <p:cNvSpPr>
            <a:spLocks/>
          </p:cNvSpPr>
          <p:nvPr/>
        </p:nvSpPr>
        <p:spPr bwMode="auto">
          <a:xfrm>
            <a:off x="6540500" y="4529139"/>
            <a:ext cx="2070100" cy="331787"/>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59459" name="Rectangle 68">
            <a:extLst>
              <a:ext uri="{FF2B5EF4-FFF2-40B4-BE49-F238E27FC236}">
                <a16:creationId xmlns:a16="http://schemas.microsoft.com/office/drawing/2014/main" id="{7CAA1628-074E-E042-88D8-6142D4F5186D}"/>
              </a:ext>
            </a:extLst>
          </p:cNvPr>
          <p:cNvSpPr>
            <a:spLocks noChangeArrowheads="1"/>
          </p:cNvSpPr>
          <p:nvPr/>
        </p:nvSpPr>
        <p:spPr bwMode="auto">
          <a:xfrm>
            <a:off x="6840538" y="3962400"/>
            <a:ext cx="12319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Encephalitis</a:t>
            </a:r>
          </a:p>
        </p:txBody>
      </p:sp>
      <p:sp>
        <p:nvSpPr>
          <p:cNvPr id="59460" name="Rectangle 69">
            <a:extLst>
              <a:ext uri="{FF2B5EF4-FFF2-40B4-BE49-F238E27FC236}">
                <a16:creationId xmlns:a16="http://schemas.microsoft.com/office/drawing/2014/main" id="{5F71E84A-BD21-044E-ABCF-73A94570ADDE}"/>
              </a:ext>
            </a:extLst>
          </p:cNvPr>
          <p:cNvSpPr>
            <a:spLocks noChangeArrowheads="1"/>
          </p:cNvSpPr>
          <p:nvPr/>
        </p:nvSpPr>
        <p:spPr bwMode="auto">
          <a:xfrm>
            <a:off x="6781800" y="4556125"/>
            <a:ext cx="1752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Encephalitis</a:t>
            </a:r>
          </a:p>
        </p:txBody>
      </p:sp>
      <p:sp>
        <p:nvSpPr>
          <p:cNvPr id="59461" name="Oval 70">
            <a:extLst>
              <a:ext uri="{FF2B5EF4-FFF2-40B4-BE49-F238E27FC236}">
                <a16:creationId xmlns:a16="http://schemas.microsoft.com/office/drawing/2014/main" id="{5705D7D3-A7C8-F64E-BB11-0D1579C355DD}"/>
              </a:ext>
            </a:extLst>
          </p:cNvPr>
          <p:cNvSpPr>
            <a:spLocks noChangeArrowheads="1"/>
          </p:cNvSpPr>
          <p:nvPr/>
        </p:nvSpPr>
        <p:spPr bwMode="auto">
          <a:xfrm>
            <a:off x="6467476" y="4403725"/>
            <a:ext cx="238125" cy="261938"/>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9462" name="AutoShape 71">
            <a:extLst>
              <a:ext uri="{FF2B5EF4-FFF2-40B4-BE49-F238E27FC236}">
                <a16:creationId xmlns:a16="http://schemas.microsoft.com/office/drawing/2014/main" id="{3D2105C0-74E6-8244-8F62-14C2BA322498}"/>
              </a:ext>
            </a:extLst>
          </p:cNvPr>
          <p:cNvSpPr>
            <a:spLocks noChangeArrowheads="1"/>
          </p:cNvSpPr>
          <p:nvPr/>
        </p:nvSpPr>
        <p:spPr bwMode="auto">
          <a:xfrm>
            <a:off x="8534400" y="12192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9463" name="AutoShape 72">
            <a:extLst>
              <a:ext uri="{FF2B5EF4-FFF2-40B4-BE49-F238E27FC236}">
                <a16:creationId xmlns:a16="http://schemas.microsoft.com/office/drawing/2014/main" id="{03C8AF2B-0AA6-354E-A194-ADF713FDE2D7}"/>
              </a:ext>
            </a:extLst>
          </p:cNvPr>
          <p:cNvSpPr>
            <a:spLocks noChangeArrowheads="1"/>
          </p:cNvSpPr>
          <p:nvPr/>
        </p:nvSpPr>
        <p:spPr bwMode="auto">
          <a:xfrm>
            <a:off x="8534400" y="16764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9464" name="AutoShape 73">
            <a:extLst>
              <a:ext uri="{FF2B5EF4-FFF2-40B4-BE49-F238E27FC236}">
                <a16:creationId xmlns:a16="http://schemas.microsoft.com/office/drawing/2014/main" id="{D6E29AFC-D00C-5243-9C57-C002E36FCEE3}"/>
              </a:ext>
            </a:extLst>
          </p:cNvPr>
          <p:cNvSpPr>
            <a:spLocks noChangeArrowheads="1"/>
          </p:cNvSpPr>
          <p:nvPr/>
        </p:nvSpPr>
        <p:spPr bwMode="auto">
          <a:xfrm>
            <a:off x="8534400" y="20574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9465" name="AutoShape 74">
            <a:extLst>
              <a:ext uri="{FF2B5EF4-FFF2-40B4-BE49-F238E27FC236}">
                <a16:creationId xmlns:a16="http://schemas.microsoft.com/office/drawing/2014/main" id="{324B9347-922F-D34E-91C0-7AEA755D5457}"/>
              </a:ext>
            </a:extLst>
          </p:cNvPr>
          <p:cNvSpPr>
            <a:spLocks noChangeArrowheads="1"/>
          </p:cNvSpPr>
          <p:nvPr/>
        </p:nvSpPr>
        <p:spPr bwMode="auto">
          <a:xfrm>
            <a:off x="8534400" y="33528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9466" name="AutoShape 75">
            <a:extLst>
              <a:ext uri="{FF2B5EF4-FFF2-40B4-BE49-F238E27FC236}">
                <a16:creationId xmlns:a16="http://schemas.microsoft.com/office/drawing/2014/main" id="{657B1E26-D1C5-F245-9E14-74AE5A3B6246}"/>
              </a:ext>
            </a:extLst>
          </p:cNvPr>
          <p:cNvSpPr>
            <a:spLocks noChangeArrowheads="1"/>
          </p:cNvSpPr>
          <p:nvPr/>
        </p:nvSpPr>
        <p:spPr bwMode="auto">
          <a:xfrm>
            <a:off x="8534400" y="28194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9467" name="AutoShape 76">
            <a:extLst>
              <a:ext uri="{FF2B5EF4-FFF2-40B4-BE49-F238E27FC236}">
                <a16:creationId xmlns:a16="http://schemas.microsoft.com/office/drawing/2014/main" id="{D99DE07F-15E4-8247-BC66-9564B90CF7A5}"/>
              </a:ext>
            </a:extLst>
          </p:cNvPr>
          <p:cNvSpPr>
            <a:spLocks noChangeArrowheads="1"/>
          </p:cNvSpPr>
          <p:nvPr/>
        </p:nvSpPr>
        <p:spPr bwMode="auto">
          <a:xfrm>
            <a:off x="8547100" y="5121275"/>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9468" name="AutoShape 77">
            <a:extLst>
              <a:ext uri="{FF2B5EF4-FFF2-40B4-BE49-F238E27FC236}">
                <a16:creationId xmlns:a16="http://schemas.microsoft.com/office/drawing/2014/main" id="{6FA8CB97-7138-2E4E-B60E-7800B45E7830}"/>
              </a:ext>
            </a:extLst>
          </p:cNvPr>
          <p:cNvSpPr>
            <a:spLocks noChangeArrowheads="1"/>
          </p:cNvSpPr>
          <p:nvPr/>
        </p:nvSpPr>
        <p:spPr bwMode="auto">
          <a:xfrm>
            <a:off x="8547100" y="5578475"/>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9469" name="AutoShape 78">
            <a:extLst>
              <a:ext uri="{FF2B5EF4-FFF2-40B4-BE49-F238E27FC236}">
                <a16:creationId xmlns:a16="http://schemas.microsoft.com/office/drawing/2014/main" id="{EF802CC3-2156-174E-B747-11B00410DB3F}"/>
              </a:ext>
            </a:extLst>
          </p:cNvPr>
          <p:cNvSpPr>
            <a:spLocks noChangeArrowheads="1"/>
          </p:cNvSpPr>
          <p:nvPr/>
        </p:nvSpPr>
        <p:spPr bwMode="auto">
          <a:xfrm>
            <a:off x="8534400" y="6065838"/>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9470" name="AutoShape 79">
            <a:extLst>
              <a:ext uri="{FF2B5EF4-FFF2-40B4-BE49-F238E27FC236}">
                <a16:creationId xmlns:a16="http://schemas.microsoft.com/office/drawing/2014/main" id="{45F163CC-BDFD-CD47-AF01-6B6CDFF1CC4A}"/>
              </a:ext>
            </a:extLst>
          </p:cNvPr>
          <p:cNvSpPr>
            <a:spLocks noChangeArrowheads="1"/>
          </p:cNvSpPr>
          <p:nvPr/>
        </p:nvSpPr>
        <p:spPr bwMode="auto">
          <a:xfrm>
            <a:off x="8547100" y="41148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59471" name="AutoShape 80">
            <a:extLst>
              <a:ext uri="{FF2B5EF4-FFF2-40B4-BE49-F238E27FC236}">
                <a16:creationId xmlns:a16="http://schemas.microsoft.com/office/drawing/2014/main" id="{BEC3E77F-B754-C940-87E8-56C89A423E7C}"/>
              </a:ext>
            </a:extLst>
          </p:cNvPr>
          <p:cNvSpPr>
            <a:spLocks noChangeArrowheads="1"/>
          </p:cNvSpPr>
          <p:nvPr/>
        </p:nvSpPr>
        <p:spPr bwMode="auto">
          <a:xfrm>
            <a:off x="8547100" y="45720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Tree>
    <p:extLst>
      <p:ext uri="{BB962C8B-B14F-4D97-AF65-F5344CB8AC3E}">
        <p14:creationId xmlns:p14="http://schemas.microsoft.com/office/powerpoint/2010/main" val="150266089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a:extLst>
              <a:ext uri="{FF2B5EF4-FFF2-40B4-BE49-F238E27FC236}">
                <a16:creationId xmlns:a16="http://schemas.microsoft.com/office/drawing/2014/main" id="{D6BFD975-BB0E-D946-AD39-BBA90A1361E0}"/>
              </a:ext>
            </a:extLst>
          </p:cNvPr>
          <p:cNvSpPr>
            <a:spLocks noGrp="1" noChangeArrowheads="1"/>
          </p:cNvSpPr>
          <p:nvPr>
            <p:ph type="title"/>
          </p:nvPr>
        </p:nvSpPr>
        <p:spPr>
          <a:xfrm>
            <a:off x="765313" y="152400"/>
            <a:ext cx="9216887" cy="762000"/>
          </a:xfrm>
        </p:spPr>
        <p:txBody>
          <a:bodyPr/>
          <a:lstStyle/>
          <a:p>
            <a:pPr eaLnBrk="1" hangingPunct="1"/>
            <a:r>
              <a:rPr lang="en-US" altLang="en-MX">
                <a:ea typeface="ＭＳ Ｐゴシック" panose="020B0600070205080204" pitchFamily="34" charset="-128"/>
              </a:rPr>
              <a:t>Estimate Probabilities</a:t>
            </a:r>
          </a:p>
        </p:txBody>
      </p:sp>
      <p:sp>
        <p:nvSpPr>
          <p:cNvPr id="61442" name="Line 3">
            <a:extLst>
              <a:ext uri="{FF2B5EF4-FFF2-40B4-BE49-F238E27FC236}">
                <a16:creationId xmlns:a16="http://schemas.microsoft.com/office/drawing/2014/main" id="{98317CEF-80D9-874D-91C3-1558BDD1E494}"/>
              </a:ext>
            </a:extLst>
          </p:cNvPr>
          <p:cNvSpPr>
            <a:spLocks noChangeShapeType="1"/>
          </p:cNvSpPr>
          <p:nvPr/>
        </p:nvSpPr>
        <p:spPr bwMode="auto">
          <a:xfrm>
            <a:off x="4114800" y="1676400"/>
            <a:ext cx="1447800"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61443" name="Rectangle 4">
            <a:extLst>
              <a:ext uri="{FF2B5EF4-FFF2-40B4-BE49-F238E27FC236}">
                <a16:creationId xmlns:a16="http://schemas.microsoft.com/office/drawing/2014/main" id="{CDE761C2-6325-0D44-9FDB-DF69619C615F}"/>
              </a:ext>
            </a:extLst>
          </p:cNvPr>
          <p:cNvSpPr>
            <a:spLocks noChangeArrowheads="1"/>
          </p:cNvSpPr>
          <p:nvPr/>
        </p:nvSpPr>
        <p:spPr bwMode="auto">
          <a:xfrm>
            <a:off x="4267200" y="1325564"/>
            <a:ext cx="9398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Outbreak</a:t>
            </a:r>
          </a:p>
        </p:txBody>
      </p:sp>
      <p:sp>
        <p:nvSpPr>
          <p:cNvPr id="61444" name="Rectangle 5">
            <a:extLst>
              <a:ext uri="{FF2B5EF4-FFF2-40B4-BE49-F238E27FC236}">
                <a16:creationId xmlns:a16="http://schemas.microsoft.com/office/drawing/2014/main" id="{4E6905CF-3206-8D4A-9D24-1B7F86DEB364}"/>
              </a:ext>
            </a:extLst>
          </p:cNvPr>
          <p:cNvSpPr>
            <a:spLocks noChangeArrowheads="1"/>
          </p:cNvSpPr>
          <p:nvPr/>
        </p:nvSpPr>
        <p:spPr bwMode="auto">
          <a:xfrm>
            <a:off x="4267200" y="1981200"/>
            <a:ext cx="1295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Outbreak</a:t>
            </a:r>
          </a:p>
        </p:txBody>
      </p:sp>
      <p:sp>
        <p:nvSpPr>
          <p:cNvPr id="61445" name="Freeform 6">
            <a:extLst>
              <a:ext uri="{FF2B5EF4-FFF2-40B4-BE49-F238E27FC236}">
                <a16:creationId xmlns:a16="http://schemas.microsoft.com/office/drawing/2014/main" id="{AD8E49B0-5F9E-BF4B-AA16-4CFAFCA33B08}"/>
              </a:ext>
            </a:extLst>
          </p:cNvPr>
          <p:cNvSpPr>
            <a:spLocks/>
          </p:cNvSpPr>
          <p:nvPr/>
        </p:nvSpPr>
        <p:spPr bwMode="auto">
          <a:xfrm>
            <a:off x="4040188" y="1676400"/>
            <a:ext cx="303212" cy="369888"/>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1446" name="Freeform 7">
            <a:extLst>
              <a:ext uri="{FF2B5EF4-FFF2-40B4-BE49-F238E27FC236}">
                <a16:creationId xmlns:a16="http://schemas.microsoft.com/office/drawing/2014/main" id="{17CA7DE8-86AA-BE42-AFD1-38382B1FEDA4}"/>
              </a:ext>
            </a:extLst>
          </p:cNvPr>
          <p:cNvSpPr>
            <a:spLocks/>
          </p:cNvSpPr>
          <p:nvPr/>
        </p:nvSpPr>
        <p:spPr bwMode="auto">
          <a:xfrm>
            <a:off x="4038601" y="2089150"/>
            <a:ext cx="303213" cy="196850"/>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1447" name="Line 8">
            <a:extLst>
              <a:ext uri="{FF2B5EF4-FFF2-40B4-BE49-F238E27FC236}">
                <a16:creationId xmlns:a16="http://schemas.microsoft.com/office/drawing/2014/main" id="{59A5CBAF-86B7-8340-A81F-FC55FF7A46E1}"/>
              </a:ext>
            </a:extLst>
          </p:cNvPr>
          <p:cNvSpPr>
            <a:spLocks noChangeShapeType="1"/>
          </p:cNvSpPr>
          <p:nvPr/>
        </p:nvSpPr>
        <p:spPr bwMode="auto">
          <a:xfrm>
            <a:off x="2362200" y="2057400"/>
            <a:ext cx="161448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61448" name="Oval 9">
            <a:extLst>
              <a:ext uri="{FF2B5EF4-FFF2-40B4-BE49-F238E27FC236}">
                <a16:creationId xmlns:a16="http://schemas.microsoft.com/office/drawing/2014/main" id="{1E7596CB-5417-314B-A9A8-9C6CC6983EDF}"/>
              </a:ext>
            </a:extLst>
          </p:cNvPr>
          <p:cNvSpPr>
            <a:spLocks noChangeArrowheads="1"/>
          </p:cNvSpPr>
          <p:nvPr/>
        </p:nvSpPr>
        <p:spPr bwMode="auto">
          <a:xfrm>
            <a:off x="3876676" y="1905000"/>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1449" name="Rectangle 10">
            <a:extLst>
              <a:ext uri="{FF2B5EF4-FFF2-40B4-BE49-F238E27FC236}">
                <a16:creationId xmlns:a16="http://schemas.microsoft.com/office/drawing/2014/main" id="{FF057166-A28E-FA4C-A8A8-542DEFCB5562}"/>
              </a:ext>
            </a:extLst>
          </p:cNvPr>
          <p:cNvSpPr>
            <a:spLocks noChangeArrowheads="1"/>
          </p:cNvSpPr>
          <p:nvPr/>
        </p:nvSpPr>
        <p:spPr bwMode="auto">
          <a:xfrm>
            <a:off x="2438401" y="1676400"/>
            <a:ext cx="663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000">
                <a:solidFill>
                  <a:srgbClr val="000000"/>
                </a:solidFill>
              </a:rPr>
              <a:t>Spray</a:t>
            </a:r>
          </a:p>
        </p:txBody>
      </p:sp>
      <p:sp>
        <p:nvSpPr>
          <p:cNvPr id="61450" name="Rectangle 11">
            <a:extLst>
              <a:ext uri="{FF2B5EF4-FFF2-40B4-BE49-F238E27FC236}">
                <a16:creationId xmlns:a16="http://schemas.microsoft.com/office/drawing/2014/main" id="{B812B281-8586-5E4D-A97A-7B1D16A0C66F}"/>
              </a:ext>
            </a:extLst>
          </p:cNvPr>
          <p:cNvSpPr>
            <a:spLocks noChangeArrowheads="1"/>
          </p:cNvSpPr>
          <p:nvPr/>
        </p:nvSpPr>
        <p:spPr bwMode="auto">
          <a:xfrm>
            <a:off x="4224338" y="5241925"/>
            <a:ext cx="9398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MX" sz="1800">
                <a:solidFill>
                  <a:srgbClr val="000000"/>
                </a:solidFill>
              </a:rPr>
              <a:t>Outbreak</a:t>
            </a:r>
          </a:p>
        </p:txBody>
      </p:sp>
      <p:sp>
        <p:nvSpPr>
          <p:cNvPr id="61451" name="Freeform 12">
            <a:extLst>
              <a:ext uri="{FF2B5EF4-FFF2-40B4-BE49-F238E27FC236}">
                <a16:creationId xmlns:a16="http://schemas.microsoft.com/office/drawing/2014/main" id="{AD9E50FB-DCB6-B147-838E-94CE97BAAF3E}"/>
              </a:ext>
            </a:extLst>
          </p:cNvPr>
          <p:cNvSpPr>
            <a:spLocks/>
          </p:cNvSpPr>
          <p:nvPr/>
        </p:nvSpPr>
        <p:spPr bwMode="auto">
          <a:xfrm>
            <a:off x="5716588" y="1382714"/>
            <a:ext cx="303212" cy="369887"/>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1452" name="Freeform 13">
            <a:extLst>
              <a:ext uri="{FF2B5EF4-FFF2-40B4-BE49-F238E27FC236}">
                <a16:creationId xmlns:a16="http://schemas.microsoft.com/office/drawing/2014/main" id="{9D0A7BD0-03B6-914D-BAB6-9D40CC153828}"/>
              </a:ext>
            </a:extLst>
          </p:cNvPr>
          <p:cNvSpPr>
            <a:spLocks/>
          </p:cNvSpPr>
          <p:nvPr/>
        </p:nvSpPr>
        <p:spPr bwMode="auto">
          <a:xfrm>
            <a:off x="5716588" y="1633538"/>
            <a:ext cx="303212" cy="347662"/>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1453" name="Rectangle 14">
            <a:extLst>
              <a:ext uri="{FF2B5EF4-FFF2-40B4-BE49-F238E27FC236}">
                <a16:creationId xmlns:a16="http://schemas.microsoft.com/office/drawing/2014/main" id="{C3AFA579-F12A-DB4C-9CFE-EE15C7719980}"/>
              </a:ext>
            </a:extLst>
          </p:cNvPr>
          <p:cNvSpPr>
            <a:spLocks noChangeArrowheads="1"/>
          </p:cNvSpPr>
          <p:nvPr/>
        </p:nvSpPr>
        <p:spPr bwMode="auto">
          <a:xfrm>
            <a:off x="3644900" y="6019800"/>
            <a:ext cx="2286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MX" sz="1800">
                <a:solidFill>
                  <a:srgbClr val="000000"/>
                </a:solidFill>
              </a:rPr>
              <a:t>No Outbreak</a:t>
            </a:r>
          </a:p>
        </p:txBody>
      </p:sp>
      <p:sp>
        <p:nvSpPr>
          <p:cNvPr id="61454" name="Freeform 15">
            <a:extLst>
              <a:ext uri="{FF2B5EF4-FFF2-40B4-BE49-F238E27FC236}">
                <a16:creationId xmlns:a16="http://schemas.microsoft.com/office/drawing/2014/main" id="{0BA6D306-53F7-834B-AE39-8DF3D6A0BC84}"/>
              </a:ext>
            </a:extLst>
          </p:cNvPr>
          <p:cNvSpPr>
            <a:spLocks/>
          </p:cNvSpPr>
          <p:nvPr/>
        </p:nvSpPr>
        <p:spPr bwMode="auto">
          <a:xfrm>
            <a:off x="4114801" y="5562601"/>
            <a:ext cx="290513" cy="415925"/>
          </a:xfrm>
          <a:custGeom>
            <a:avLst/>
            <a:gdLst>
              <a:gd name="T0" fmla="*/ 0 w 14"/>
              <a:gd name="T1" fmla="*/ 2147483647 h 24"/>
              <a:gd name="T2" fmla="*/ 0 w 14"/>
              <a:gd name="T3" fmla="*/ 0 h 24"/>
              <a:gd name="T4" fmla="*/ 2147483647 w 14"/>
              <a:gd name="T5" fmla="*/ 0 h 24"/>
              <a:gd name="T6" fmla="*/ 0 60000 65536"/>
              <a:gd name="T7" fmla="*/ 0 60000 65536"/>
              <a:gd name="T8" fmla="*/ 0 60000 65536"/>
              <a:gd name="T9" fmla="*/ 0 w 14"/>
              <a:gd name="T10" fmla="*/ 0 h 24"/>
              <a:gd name="T11" fmla="*/ 14 w 14"/>
              <a:gd name="T12" fmla="*/ 24 h 24"/>
            </a:gdLst>
            <a:ahLst/>
            <a:cxnLst>
              <a:cxn ang="T6">
                <a:pos x="T0" y="T1"/>
              </a:cxn>
              <a:cxn ang="T7">
                <a:pos x="T2" y="T3"/>
              </a:cxn>
              <a:cxn ang="T8">
                <a:pos x="T4" y="T5"/>
              </a:cxn>
            </a:cxnLst>
            <a:rect l="T9" t="T10" r="T11" b="T12"/>
            <a:pathLst>
              <a:path w="14" h="24">
                <a:moveTo>
                  <a:pt x="0" y="24"/>
                </a:moveTo>
                <a:lnTo>
                  <a:pt x="0" y="0"/>
                </a:lnTo>
                <a:lnTo>
                  <a:pt x="14" y="0"/>
                </a:lnTo>
              </a:path>
            </a:pathLst>
          </a:custGeom>
          <a:noFill/>
          <a:ln w="19050"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1455" name="Freeform 16">
            <a:extLst>
              <a:ext uri="{FF2B5EF4-FFF2-40B4-BE49-F238E27FC236}">
                <a16:creationId xmlns:a16="http://schemas.microsoft.com/office/drawing/2014/main" id="{FD61D4AE-B917-1940-938C-4563D680D8CB}"/>
              </a:ext>
            </a:extLst>
          </p:cNvPr>
          <p:cNvSpPr>
            <a:spLocks/>
          </p:cNvSpPr>
          <p:nvPr/>
        </p:nvSpPr>
        <p:spPr bwMode="auto">
          <a:xfrm>
            <a:off x="4094164" y="5749926"/>
            <a:ext cx="4592637" cy="574675"/>
          </a:xfrm>
          <a:custGeom>
            <a:avLst/>
            <a:gdLst>
              <a:gd name="T0" fmla="*/ 0 w 14"/>
              <a:gd name="T1" fmla="*/ 0 h 25"/>
              <a:gd name="T2" fmla="*/ 0 w 14"/>
              <a:gd name="T3" fmla="*/ 2147483647 h 25"/>
              <a:gd name="T4" fmla="*/ 2147483647 w 14"/>
              <a:gd name="T5" fmla="*/ 2147483647 h 25"/>
              <a:gd name="T6" fmla="*/ 0 60000 65536"/>
              <a:gd name="T7" fmla="*/ 0 60000 65536"/>
              <a:gd name="T8" fmla="*/ 0 60000 65536"/>
              <a:gd name="T9" fmla="*/ 0 w 14"/>
              <a:gd name="T10" fmla="*/ 0 h 25"/>
              <a:gd name="T11" fmla="*/ 14 w 14"/>
              <a:gd name="T12" fmla="*/ 25 h 25"/>
            </a:gdLst>
            <a:ahLst/>
            <a:cxnLst>
              <a:cxn ang="T6">
                <a:pos x="T0" y="T1"/>
              </a:cxn>
              <a:cxn ang="T7">
                <a:pos x="T2" y="T3"/>
              </a:cxn>
              <a:cxn ang="T8">
                <a:pos x="T4" y="T5"/>
              </a:cxn>
            </a:cxnLst>
            <a:rect l="T9" t="T10" r="T11" b="T12"/>
            <a:pathLst>
              <a:path w="14" h="25">
                <a:moveTo>
                  <a:pt x="0" y="0"/>
                </a:moveTo>
                <a:lnTo>
                  <a:pt x="0" y="25"/>
                </a:lnTo>
                <a:lnTo>
                  <a:pt x="14" y="25"/>
                </a:lnTo>
              </a:path>
            </a:pathLst>
          </a:custGeom>
          <a:noFill/>
          <a:ln w="19050"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1456" name="Line 17">
            <a:extLst>
              <a:ext uri="{FF2B5EF4-FFF2-40B4-BE49-F238E27FC236}">
                <a16:creationId xmlns:a16="http://schemas.microsoft.com/office/drawing/2014/main" id="{5CC30B30-396A-4E4C-A5D9-45CB00191934}"/>
              </a:ext>
            </a:extLst>
          </p:cNvPr>
          <p:cNvSpPr>
            <a:spLocks noChangeShapeType="1"/>
          </p:cNvSpPr>
          <p:nvPr/>
        </p:nvSpPr>
        <p:spPr bwMode="auto">
          <a:xfrm>
            <a:off x="2547938" y="3808414"/>
            <a:ext cx="14287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61457" name="Rectangle 18">
            <a:extLst>
              <a:ext uri="{FF2B5EF4-FFF2-40B4-BE49-F238E27FC236}">
                <a16:creationId xmlns:a16="http://schemas.microsoft.com/office/drawing/2014/main" id="{FB828CB6-D4B7-9E48-9D1F-BA9159CF28B4}"/>
              </a:ext>
            </a:extLst>
          </p:cNvPr>
          <p:cNvSpPr>
            <a:spLocks noChangeArrowheads="1"/>
          </p:cNvSpPr>
          <p:nvPr/>
        </p:nvSpPr>
        <p:spPr bwMode="auto">
          <a:xfrm>
            <a:off x="2438401" y="5410201"/>
            <a:ext cx="141064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000">
                <a:solidFill>
                  <a:srgbClr val="000000"/>
                </a:solidFill>
              </a:rPr>
              <a:t>Don</a:t>
            </a:r>
            <a:r>
              <a:rPr lang="ja-JP" altLang="en-US" sz="2000">
                <a:solidFill>
                  <a:srgbClr val="000000"/>
                </a:solidFill>
              </a:rPr>
              <a:t>’</a:t>
            </a:r>
            <a:r>
              <a:rPr lang="en-US" altLang="ja-JP" sz="2000">
                <a:solidFill>
                  <a:srgbClr val="000000"/>
                </a:solidFill>
              </a:rPr>
              <a:t>t Spray</a:t>
            </a:r>
            <a:endParaRPr lang="en-US" altLang="en-MX" sz="2000">
              <a:solidFill>
                <a:srgbClr val="000000"/>
              </a:solidFill>
            </a:endParaRPr>
          </a:p>
        </p:txBody>
      </p:sp>
      <p:sp>
        <p:nvSpPr>
          <p:cNvPr id="61458" name="Line 19">
            <a:extLst>
              <a:ext uri="{FF2B5EF4-FFF2-40B4-BE49-F238E27FC236}">
                <a16:creationId xmlns:a16="http://schemas.microsoft.com/office/drawing/2014/main" id="{57F03FF3-5FDC-2845-836D-F4FBF585F3B2}"/>
              </a:ext>
            </a:extLst>
          </p:cNvPr>
          <p:cNvSpPr>
            <a:spLocks noChangeShapeType="1"/>
          </p:cNvSpPr>
          <p:nvPr/>
        </p:nvSpPr>
        <p:spPr bwMode="auto">
          <a:xfrm>
            <a:off x="2514600" y="5867400"/>
            <a:ext cx="14287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61459" name="Rectangle 20">
            <a:extLst>
              <a:ext uri="{FF2B5EF4-FFF2-40B4-BE49-F238E27FC236}">
                <a16:creationId xmlns:a16="http://schemas.microsoft.com/office/drawing/2014/main" id="{9A9C9985-AB70-AD41-8B2C-C0B5DA3BA72F}"/>
              </a:ext>
            </a:extLst>
          </p:cNvPr>
          <p:cNvSpPr>
            <a:spLocks noChangeArrowheads="1"/>
          </p:cNvSpPr>
          <p:nvPr/>
        </p:nvSpPr>
        <p:spPr bwMode="auto">
          <a:xfrm>
            <a:off x="2362201" y="3429001"/>
            <a:ext cx="4701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000">
                <a:solidFill>
                  <a:srgbClr val="000000"/>
                </a:solidFill>
              </a:rPr>
              <a:t>Test</a:t>
            </a:r>
          </a:p>
        </p:txBody>
      </p:sp>
      <p:sp>
        <p:nvSpPr>
          <p:cNvPr id="61460" name="Freeform 21">
            <a:extLst>
              <a:ext uri="{FF2B5EF4-FFF2-40B4-BE49-F238E27FC236}">
                <a16:creationId xmlns:a16="http://schemas.microsoft.com/office/drawing/2014/main" id="{668207FC-8FC8-9342-80C9-F621A8802A74}"/>
              </a:ext>
            </a:extLst>
          </p:cNvPr>
          <p:cNvSpPr>
            <a:spLocks/>
          </p:cNvSpPr>
          <p:nvPr/>
        </p:nvSpPr>
        <p:spPr bwMode="auto">
          <a:xfrm>
            <a:off x="2209800" y="2057400"/>
            <a:ext cx="261938" cy="2198688"/>
          </a:xfrm>
          <a:custGeom>
            <a:avLst/>
            <a:gdLst>
              <a:gd name="T0" fmla="*/ 0 w 14"/>
              <a:gd name="T1" fmla="*/ 2147483647 h 87"/>
              <a:gd name="T2" fmla="*/ 0 w 14"/>
              <a:gd name="T3" fmla="*/ 0 h 87"/>
              <a:gd name="T4" fmla="*/ 2147483647 w 14"/>
              <a:gd name="T5" fmla="*/ 0 h 87"/>
              <a:gd name="T6" fmla="*/ 0 60000 65536"/>
              <a:gd name="T7" fmla="*/ 0 60000 65536"/>
              <a:gd name="T8" fmla="*/ 0 60000 65536"/>
              <a:gd name="T9" fmla="*/ 0 w 14"/>
              <a:gd name="T10" fmla="*/ 0 h 87"/>
              <a:gd name="T11" fmla="*/ 14 w 14"/>
              <a:gd name="T12" fmla="*/ 87 h 87"/>
            </a:gdLst>
            <a:ahLst/>
            <a:cxnLst>
              <a:cxn ang="T6">
                <a:pos x="T0" y="T1"/>
              </a:cxn>
              <a:cxn ang="T7">
                <a:pos x="T2" y="T3"/>
              </a:cxn>
              <a:cxn ang="T8">
                <a:pos x="T4" y="T5"/>
              </a:cxn>
            </a:cxnLst>
            <a:rect l="T9" t="T10" r="T11" b="T12"/>
            <a:pathLst>
              <a:path w="14" h="87">
                <a:moveTo>
                  <a:pt x="0" y="8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1461" name="Freeform 22">
            <a:extLst>
              <a:ext uri="{FF2B5EF4-FFF2-40B4-BE49-F238E27FC236}">
                <a16:creationId xmlns:a16="http://schemas.microsoft.com/office/drawing/2014/main" id="{60484857-6A3F-6A41-946F-C547249764E7}"/>
              </a:ext>
            </a:extLst>
          </p:cNvPr>
          <p:cNvSpPr>
            <a:spLocks/>
          </p:cNvSpPr>
          <p:nvPr/>
        </p:nvSpPr>
        <p:spPr bwMode="auto">
          <a:xfrm>
            <a:off x="2244726" y="3810001"/>
            <a:ext cx="303213" cy="42863"/>
          </a:xfrm>
          <a:custGeom>
            <a:avLst/>
            <a:gdLst>
              <a:gd name="T0" fmla="*/ 0 w 14"/>
              <a:gd name="T1" fmla="*/ 2147483647 h 2"/>
              <a:gd name="T2" fmla="*/ 0 w 14"/>
              <a:gd name="T3" fmla="*/ 0 h 2"/>
              <a:gd name="T4" fmla="*/ 2147483647 w 14"/>
              <a:gd name="T5" fmla="*/ 0 h 2"/>
              <a:gd name="T6" fmla="*/ 0 60000 65536"/>
              <a:gd name="T7" fmla="*/ 0 60000 65536"/>
              <a:gd name="T8" fmla="*/ 0 60000 65536"/>
              <a:gd name="T9" fmla="*/ 0 w 14"/>
              <a:gd name="T10" fmla="*/ 0 h 2"/>
              <a:gd name="T11" fmla="*/ 14 w 14"/>
              <a:gd name="T12" fmla="*/ 2 h 2"/>
            </a:gdLst>
            <a:ahLst/>
            <a:cxnLst>
              <a:cxn ang="T6">
                <a:pos x="T0" y="T1"/>
              </a:cxn>
              <a:cxn ang="T7">
                <a:pos x="T2" y="T3"/>
              </a:cxn>
              <a:cxn ang="T8">
                <a:pos x="T4" y="T5"/>
              </a:cxn>
            </a:cxnLst>
            <a:rect l="T9" t="T10" r="T11" b="T12"/>
            <a:pathLst>
              <a:path w="14" h="2">
                <a:moveTo>
                  <a:pt x="0" y="2"/>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1462" name="Freeform 23">
            <a:extLst>
              <a:ext uri="{FF2B5EF4-FFF2-40B4-BE49-F238E27FC236}">
                <a16:creationId xmlns:a16="http://schemas.microsoft.com/office/drawing/2014/main" id="{4E189B36-49CC-F54A-83E6-2706D1F9566A}"/>
              </a:ext>
            </a:extLst>
          </p:cNvPr>
          <p:cNvSpPr>
            <a:spLocks/>
          </p:cNvSpPr>
          <p:nvPr/>
        </p:nvSpPr>
        <p:spPr bwMode="auto">
          <a:xfrm>
            <a:off x="2209801" y="3957638"/>
            <a:ext cx="303213" cy="1916112"/>
          </a:xfrm>
          <a:custGeom>
            <a:avLst/>
            <a:gdLst>
              <a:gd name="T0" fmla="*/ 0 w 14"/>
              <a:gd name="T1" fmla="*/ 0 h 88"/>
              <a:gd name="T2" fmla="*/ 0 w 14"/>
              <a:gd name="T3" fmla="*/ 2147483647 h 88"/>
              <a:gd name="T4" fmla="*/ 2147483647 w 14"/>
              <a:gd name="T5" fmla="*/ 2147483647 h 88"/>
              <a:gd name="T6" fmla="*/ 0 60000 65536"/>
              <a:gd name="T7" fmla="*/ 0 60000 65536"/>
              <a:gd name="T8" fmla="*/ 0 60000 65536"/>
              <a:gd name="T9" fmla="*/ 0 w 14"/>
              <a:gd name="T10" fmla="*/ 0 h 88"/>
              <a:gd name="T11" fmla="*/ 14 w 14"/>
              <a:gd name="T12" fmla="*/ 88 h 88"/>
            </a:gdLst>
            <a:ahLst/>
            <a:cxnLst>
              <a:cxn ang="T6">
                <a:pos x="T0" y="T1"/>
              </a:cxn>
              <a:cxn ang="T7">
                <a:pos x="T2" y="T3"/>
              </a:cxn>
              <a:cxn ang="T8">
                <a:pos x="T4" y="T5"/>
              </a:cxn>
            </a:cxnLst>
            <a:rect l="T9" t="T10" r="T11" b="T12"/>
            <a:pathLst>
              <a:path w="14" h="88">
                <a:moveTo>
                  <a:pt x="0" y="0"/>
                </a:moveTo>
                <a:lnTo>
                  <a:pt x="0" y="88"/>
                </a:lnTo>
                <a:lnTo>
                  <a:pt x="14" y="88"/>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1463" name="Rectangle 24">
            <a:extLst>
              <a:ext uri="{FF2B5EF4-FFF2-40B4-BE49-F238E27FC236}">
                <a16:creationId xmlns:a16="http://schemas.microsoft.com/office/drawing/2014/main" id="{DA2DC2F3-E1FF-EA48-A00E-11ED71FDE3E3}"/>
              </a:ext>
            </a:extLst>
          </p:cNvPr>
          <p:cNvSpPr>
            <a:spLocks noChangeArrowheads="1"/>
          </p:cNvSpPr>
          <p:nvPr/>
        </p:nvSpPr>
        <p:spPr bwMode="auto">
          <a:xfrm>
            <a:off x="2093914" y="3657600"/>
            <a:ext cx="238125" cy="261938"/>
          </a:xfrm>
          <a:prstGeom prst="rect">
            <a:avLst/>
          </a:prstGeom>
          <a:solidFill>
            <a:schemeClr val="bg1"/>
          </a:solidFill>
          <a:ln w="25400">
            <a:solidFill>
              <a:srgbClr val="0000FF"/>
            </a:solidFill>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1464" name="Text Box 25">
            <a:extLst>
              <a:ext uri="{FF2B5EF4-FFF2-40B4-BE49-F238E27FC236}">
                <a16:creationId xmlns:a16="http://schemas.microsoft.com/office/drawing/2014/main" id="{53117F8E-99B9-DA4F-BB6D-22D653426989}"/>
              </a:ext>
            </a:extLst>
          </p:cNvPr>
          <p:cNvSpPr txBox="1">
            <a:spLocks noChangeArrowheads="1"/>
          </p:cNvSpPr>
          <p:nvPr/>
        </p:nvSpPr>
        <p:spPr bwMode="auto">
          <a:xfrm>
            <a:off x="8534400" y="609601"/>
            <a:ext cx="213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1800" b="1" u="sng">
                <a:solidFill>
                  <a:srgbClr val="000000"/>
                </a:solidFill>
              </a:rPr>
              <a:t>P(Death</a:t>
            </a:r>
            <a:r>
              <a:rPr lang="en-US" altLang="en-MX" sz="1800" b="1" u="sng">
                <a:solidFill>
                  <a:srgbClr val="000000"/>
                </a:solidFill>
                <a:latin typeface="Garamond" panose="02020404030301010803" pitchFamily="18" charset="0"/>
              </a:rPr>
              <a:t>)</a:t>
            </a:r>
          </a:p>
        </p:txBody>
      </p:sp>
      <p:sp>
        <p:nvSpPr>
          <p:cNvPr id="61465" name="Line 26">
            <a:extLst>
              <a:ext uri="{FF2B5EF4-FFF2-40B4-BE49-F238E27FC236}">
                <a16:creationId xmlns:a16="http://schemas.microsoft.com/office/drawing/2014/main" id="{AAB7ACA8-41B0-534F-84C0-73983B2CD180}"/>
              </a:ext>
            </a:extLst>
          </p:cNvPr>
          <p:cNvSpPr>
            <a:spLocks noChangeShapeType="1"/>
          </p:cNvSpPr>
          <p:nvPr/>
        </p:nvSpPr>
        <p:spPr bwMode="auto">
          <a:xfrm>
            <a:off x="8915400" y="14478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61466" name="Line 27">
            <a:extLst>
              <a:ext uri="{FF2B5EF4-FFF2-40B4-BE49-F238E27FC236}">
                <a16:creationId xmlns:a16="http://schemas.microsoft.com/office/drawing/2014/main" id="{D2DC17F8-3D77-7E4B-BFA0-BAAAC18D4F62}"/>
              </a:ext>
            </a:extLst>
          </p:cNvPr>
          <p:cNvSpPr>
            <a:spLocks noChangeShapeType="1"/>
          </p:cNvSpPr>
          <p:nvPr/>
        </p:nvSpPr>
        <p:spPr bwMode="auto">
          <a:xfrm>
            <a:off x="4267200" y="2286000"/>
            <a:ext cx="43434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61467" name="Line 28">
            <a:extLst>
              <a:ext uri="{FF2B5EF4-FFF2-40B4-BE49-F238E27FC236}">
                <a16:creationId xmlns:a16="http://schemas.microsoft.com/office/drawing/2014/main" id="{4D39CDDB-81D2-BB4C-AD33-DA10D7FD4BAE}"/>
              </a:ext>
            </a:extLst>
          </p:cNvPr>
          <p:cNvSpPr>
            <a:spLocks noChangeShapeType="1"/>
          </p:cNvSpPr>
          <p:nvPr/>
        </p:nvSpPr>
        <p:spPr bwMode="auto">
          <a:xfrm>
            <a:off x="4343400" y="5562600"/>
            <a:ext cx="1295400" cy="0"/>
          </a:xfrm>
          <a:prstGeom prst="line">
            <a:avLst/>
          </a:prstGeom>
          <a:noFill/>
          <a:ln w="1905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61468" name="Oval 29">
            <a:extLst>
              <a:ext uri="{FF2B5EF4-FFF2-40B4-BE49-F238E27FC236}">
                <a16:creationId xmlns:a16="http://schemas.microsoft.com/office/drawing/2014/main" id="{8071397F-647A-D242-A9D6-22904DE7D3DA}"/>
              </a:ext>
            </a:extLst>
          </p:cNvPr>
          <p:cNvSpPr>
            <a:spLocks noChangeArrowheads="1"/>
          </p:cNvSpPr>
          <p:nvPr/>
        </p:nvSpPr>
        <p:spPr bwMode="auto">
          <a:xfrm>
            <a:off x="5562601" y="1566864"/>
            <a:ext cx="238125" cy="261937"/>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1469" name="Rectangle 30">
            <a:extLst>
              <a:ext uri="{FF2B5EF4-FFF2-40B4-BE49-F238E27FC236}">
                <a16:creationId xmlns:a16="http://schemas.microsoft.com/office/drawing/2014/main" id="{2E757B93-7E43-1647-8722-A12C784D51FE}"/>
              </a:ext>
            </a:extLst>
          </p:cNvPr>
          <p:cNvSpPr>
            <a:spLocks noChangeArrowheads="1"/>
          </p:cNvSpPr>
          <p:nvPr/>
        </p:nvSpPr>
        <p:spPr bwMode="auto">
          <a:xfrm>
            <a:off x="5943600" y="1066800"/>
            <a:ext cx="12319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Encephalitis</a:t>
            </a:r>
          </a:p>
        </p:txBody>
      </p:sp>
      <p:sp>
        <p:nvSpPr>
          <p:cNvPr id="61470" name="Line 31">
            <a:extLst>
              <a:ext uri="{FF2B5EF4-FFF2-40B4-BE49-F238E27FC236}">
                <a16:creationId xmlns:a16="http://schemas.microsoft.com/office/drawing/2014/main" id="{059DF3D9-C31B-6141-AE18-6B7442341508}"/>
              </a:ext>
            </a:extLst>
          </p:cNvPr>
          <p:cNvSpPr>
            <a:spLocks noChangeShapeType="1"/>
          </p:cNvSpPr>
          <p:nvPr/>
        </p:nvSpPr>
        <p:spPr bwMode="auto">
          <a:xfrm flipV="1">
            <a:off x="5957888" y="1371601"/>
            <a:ext cx="2652712" cy="1587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61471" name="Line 32">
            <a:extLst>
              <a:ext uri="{FF2B5EF4-FFF2-40B4-BE49-F238E27FC236}">
                <a16:creationId xmlns:a16="http://schemas.microsoft.com/office/drawing/2014/main" id="{19F37491-585D-3340-A552-560B261A5CAE}"/>
              </a:ext>
            </a:extLst>
          </p:cNvPr>
          <p:cNvSpPr>
            <a:spLocks noChangeShapeType="1"/>
          </p:cNvSpPr>
          <p:nvPr/>
        </p:nvSpPr>
        <p:spPr bwMode="auto">
          <a:xfrm>
            <a:off x="5943600" y="1981200"/>
            <a:ext cx="25908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61472" name="Freeform 33">
            <a:extLst>
              <a:ext uri="{FF2B5EF4-FFF2-40B4-BE49-F238E27FC236}">
                <a16:creationId xmlns:a16="http://schemas.microsoft.com/office/drawing/2014/main" id="{FA040A20-EC84-AC40-839B-82E928FF57A5}"/>
              </a:ext>
            </a:extLst>
          </p:cNvPr>
          <p:cNvSpPr>
            <a:spLocks/>
          </p:cNvSpPr>
          <p:nvPr/>
        </p:nvSpPr>
        <p:spPr bwMode="auto">
          <a:xfrm>
            <a:off x="5715000" y="5257801"/>
            <a:ext cx="2895600" cy="396875"/>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1473" name="Freeform 34">
            <a:extLst>
              <a:ext uri="{FF2B5EF4-FFF2-40B4-BE49-F238E27FC236}">
                <a16:creationId xmlns:a16="http://schemas.microsoft.com/office/drawing/2014/main" id="{7C635BFC-124E-494F-ACE9-D1318363C864}"/>
              </a:ext>
            </a:extLst>
          </p:cNvPr>
          <p:cNvSpPr>
            <a:spLocks/>
          </p:cNvSpPr>
          <p:nvPr/>
        </p:nvSpPr>
        <p:spPr bwMode="auto">
          <a:xfrm>
            <a:off x="5716588" y="5502276"/>
            <a:ext cx="303212" cy="347663"/>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1474" name="Line 35">
            <a:extLst>
              <a:ext uri="{FF2B5EF4-FFF2-40B4-BE49-F238E27FC236}">
                <a16:creationId xmlns:a16="http://schemas.microsoft.com/office/drawing/2014/main" id="{9BFA8041-8034-D045-9637-B592416B8498}"/>
              </a:ext>
            </a:extLst>
          </p:cNvPr>
          <p:cNvSpPr>
            <a:spLocks noChangeShapeType="1"/>
          </p:cNvSpPr>
          <p:nvPr/>
        </p:nvSpPr>
        <p:spPr bwMode="auto">
          <a:xfrm>
            <a:off x="6005513" y="5849938"/>
            <a:ext cx="25146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61475" name="Rectangle 36">
            <a:extLst>
              <a:ext uri="{FF2B5EF4-FFF2-40B4-BE49-F238E27FC236}">
                <a16:creationId xmlns:a16="http://schemas.microsoft.com/office/drawing/2014/main" id="{E57F9E0A-3551-F847-B75A-4179C0792C7B}"/>
              </a:ext>
            </a:extLst>
          </p:cNvPr>
          <p:cNvSpPr>
            <a:spLocks noChangeArrowheads="1"/>
          </p:cNvSpPr>
          <p:nvPr/>
        </p:nvSpPr>
        <p:spPr bwMode="auto">
          <a:xfrm>
            <a:off x="5943600" y="1660525"/>
            <a:ext cx="1752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Encephalitis</a:t>
            </a:r>
          </a:p>
        </p:txBody>
      </p:sp>
      <p:sp>
        <p:nvSpPr>
          <p:cNvPr id="61476" name="Rectangle 37">
            <a:extLst>
              <a:ext uri="{FF2B5EF4-FFF2-40B4-BE49-F238E27FC236}">
                <a16:creationId xmlns:a16="http://schemas.microsoft.com/office/drawing/2014/main" id="{2A627B9A-F078-3E4A-8B46-9AAFE5B5F64F}"/>
              </a:ext>
            </a:extLst>
          </p:cNvPr>
          <p:cNvSpPr>
            <a:spLocks noChangeArrowheads="1"/>
          </p:cNvSpPr>
          <p:nvPr/>
        </p:nvSpPr>
        <p:spPr bwMode="auto">
          <a:xfrm>
            <a:off x="5956300" y="4999039"/>
            <a:ext cx="12319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Encephalitis</a:t>
            </a:r>
          </a:p>
        </p:txBody>
      </p:sp>
      <p:sp>
        <p:nvSpPr>
          <p:cNvPr id="61477" name="Rectangle 38">
            <a:extLst>
              <a:ext uri="{FF2B5EF4-FFF2-40B4-BE49-F238E27FC236}">
                <a16:creationId xmlns:a16="http://schemas.microsoft.com/office/drawing/2014/main" id="{35F8F912-6A7B-E54F-8FE1-55EC2E61B2DC}"/>
              </a:ext>
            </a:extLst>
          </p:cNvPr>
          <p:cNvSpPr>
            <a:spLocks noChangeArrowheads="1"/>
          </p:cNvSpPr>
          <p:nvPr/>
        </p:nvSpPr>
        <p:spPr bwMode="auto">
          <a:xfrm>
            <a:off x="5943600" y="5562600"/>
            <a:ext cx="1752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Encephalitis</a:t>
            </a:r>
          </a:p>
        </p:txBody>
      </p:sp>
      <p:sp>
        <p:nvSpPr>
          <p:cNvPr id="61478" name="Oval 39">
            <a:extLst>
              <a:ext uri="{FF2B5EF4-FFF2-40B4-BE49-F238E27FC236}">
                <a16:creationId xmlns:a16="http://schemas.microsoft.com/office/drawing/2014/main" id="{40A1CDDC-4817-2F44-966D-931085B17E2B}"/>
              </a:ext>
            </a:extLst>
          </p:cNvPr>
          <p:cNvSpPr>
            <a:spLocks noChangeArrowheads="1"/>
          </p:cNvSpPr>
          <p:nvPr/>
        </p:nvSpPr>
        <p:spPr bwMode="auto">
          <a:xfrm>
            <a:off x="5629276" y="5426075"/>
            <a:ext cx="238125" cy="261938"/>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1479" name="Oval 40">
            <a:extLst>
              <a:ext uri="{FF2B5EF4-FFF2-40B4-BE49-F238E27FC236}">
                <a16:creationId xmlns:a16="http://schemas.microsoft.com/office/drawing/2014/main" id="{75918938-8CEC-B24D-8128-44971BF1D295}"/>
              </a:ext>
            </a:extLst>
          </p:cNvPr>
          <p:cNvSpPr>
            <a:spLocks noChangeArrowheads="1"/>
          </p:cNvSpPr>
          <p:nvPr/>
        </p:nvSpPr>
        <p:spPr bwMode="auto">
          <a:xfrm>
            <a:off x="3963989" y="5729288"/>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1480" name="Freeform 41">
            <a:extLst>
              <a:ext uri="{FF2B5EF4-FFF2-40B4-BE49-F238E27FC236}">
                <a16:creationId xmlns:a16="http://schemas.microsoft.com/office/drawing/2014/main" id="{27BB1CB1-7E18-294A-86CE-C8CA77D23DF8}"/>
              </a:ext>
            </a:extLst>
          </p:cNvPr>
          <p:cNvSpPr>
            <a:spLocks/>
          </p:cNvSpPr>
          <p:nvPr/>
        </p:nvSpPr>
        <p:spPr bwMode="auto">
          <a:xfrm>
            <a:off x="4114801" y="3276600"/>
            <a:ext cx="371475" cy="533400"/>
          </a:xfrm>
          <a:custGeom>
            <a:avLst/>
            <a:gdLst>
              <a:gd name="T0" fmla="*/ 0 w 14"/>
              <a:gd name="T1" fmla="*/ 2147483647 h 16"/>
              <a:gd name="T2" fmla="*/ 0 w 14"/>
              <a:gd name="T3" fmla="*/ 0 h 16"/>
              <a:gd name="T4" fmla="*/ 2147483647 w 14"/>
              <a:gd name="T5" fmla="*/ 0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16"/>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1481" name="Freeform 42">
            <a:extLst>
              <a:ext uri="{FF2B5EF4-FFF2-40B4-BE49-F238E27FC236}">
                <a16:creationId xmlns:a16="http://schemas.microsoft.com/office/drawing/2014/main" id="{F447DBA5-9CFB-114F-B179-F6D6FDB8F6B8}"/>
              </a:ext>
            </a:extLst>
          </p:cNvPr>
          <p:cNvSpPr>
            <a:spLocks/>
          </p:cNvSpPr>
          <p:nvPr/>
        </p:nvSpPr>
        <p:spPr bwMode="auto">
          <a:xfrm>
            <a:off x="4114801" y="3962400"/>
            <a:ext cx="295275" cy="533400"/>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1482" name="Oval 43">
            <a:extLst>
              <a:ext uri="{FF2B5EF4-FFF2-40B4-BE49-F238E27FC236}">
                <a16:creationId xmlns:a16="http://schemas.microsoft.com/office/drawing/2014/main" id="{F91172E6-90D7-104E-B7C6-887434407600}"/>
              </a:ext>
            </a:extLst>
          </p:cNvPr>
          <p:cNvSpPr>
            <a:spLocks noChangeArrowheads="1"/>
          </p:cNvSpPr>
          <p:nvPr/>
        </p:nvSpPr>
        <p:spPr bwMode="auto">
          <a:xfrm>
            <a:off x="3976689" y="3733800"/>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1483" name="Line 44">
            <a:extLst>
              <a:ext uri="{FF2B5EF4-FFF2-40B4-BE49-F238E27FC236}">
                <a16:creationId xmlns:a16="http://schemas.microsoft.com/office/drawing/2014/main" id="{31062DAA-77A8-C642-B15E-81D3777C9AB9}"/>
              </a:ext>
            </a:extLst>
          </p:cNvPr>
          <p:cNvSpPr>
            <a:spLocks noChangeShapeType="1"/>
          </p:cNvSpPr>
          <p:nvPr/>
        </p:nvSpPr>
        <p:spPr bwMode="auto">
          <a:xfrm>
            <a:off x="4419600" y="3276600"/>
            <a:ext cx="7620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61484" name="Line 45">
            <a:extLst>
              <a:ext uri="{FF2B5EF4-FFF2-40B4-BE49-F238E27FC236}">
                <a16:creationId xmlns:a16="http://schemas.microsoft.com/office/drawing/2014/main" id="{A1CFEB07-9E48-3B41-B66C-A1CF9B9B572A}"/>
              </a:ext>
            </a:extLst>
          </p:cNvPr>
          <p:cNvSpPr>
            <a:spLocks noChangeShapeType="1"/>
          </p:cNvSpPr>
          <p:nvPr/>
        </p:nvSpPr>
        <p:spPr bwMode="auto">
          <a:xfrm>
            <a:off x="4419600" y="4495800"/>
            <a:ext cx="960438"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61485" name="Rectangle 46">
            <a:extLst>
              <a:ext uri="{FF2B5EF4-FFF2-40B4-BE49-F238E27FC236}">
                <a16:creationId xmlns:a16="http://schemas.microsoft.com/office/drawing/2014/main" id="{013723CF-BFF6-BF4C-BECA-32E62694742D}"/>
              </a:ext>
            </a:extLst>
          </p:cNvPr>
          <p:cNvSpPr>
            <a:spLocks noChangeArrowheads="1"/>
          </p:cNvSpPr>
          <p:nvPr/>
        </p:nvSpPr>
        <p:spPr bwMode="auto">
          <a:xfrm>
            <a:off x="5486400" y="3124200"/>
            <a:ext cx="14097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Spray</a:t>
            </a:r>
          </a:p>
        </p:txBody>
      </p:sp>
      <p:sp>
        <p:nvSpPr>
          <p:cNvPr id="61486" name="Text Box 47">
            <a:extLst>
              <a:ext uri="{FF2B5EF4-FFF2-40B4-BE49-F238E27FC236}">
                <a16:creationId xmlns:a16="http://schemas.microsoft.com/office/drawing/2014/main" id="{2C87B5BB-0B24-7C40-AE67-5FDA0612CDAE}"/>
              </a:ext>
            </a:extLst>
          </p:cNvPr>
          <p:cNvSpPr txBox="1">
            <a:spLocks noChangeArrowheads="1"/>
          </p:cNvSpPr>
          <p:nvPr/>
        </p:nvSpPr>
        <p:spPr bwMode="auto">
          <a:xfrm>
            <a:off x="5638800" y="4191000"/>
            <a:ext cx="990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a:solidFill>
                  <a:srgbClr val="000000"/>
                </a:solidFill>
              </a:rPr>
              <a:t>Don</a:t>
            </a:r>
            <a:r>
              <a:rPr lang="ja-JP" altLang="en-US" sz="1800">
                <a:solidFill>
                  <a:srgbClr val="000000"/>
                </a:solidFill>
              </a:rPr>
              <a:t>’</a:t>
            </a:r>
            <a:r>
              <a:rPr lang="en-US" altLang="ja-JP" sz="1800">
                <a:solidFill>
                  <a:srgbClr val="000000"/>
                </a:solidFill>
              </a:rPr>
              <a:t>t spray</a:t>
            </a:r>
            <a:endParaRPr lang="en-US" altLang="en-MX" sz="1800">
              <a:solidFill>
                <a:srgbClr val="000000"/>
              </a:solidFill>
            </a:endParaRPr>
          </a:p>
        </p:txBody>
      </p:sp>
      <p:sp>
        <p:nvSpPr>
          <p:cNvPr id="61487" name="Line 48">
            <a:extLst>
              <a:ext uri="{FF2B5EF4-FFF2-40B4-BE49-F238E27FC236}">
                <a16:creationId xmlns:a16="http://schemas.microsoft.com/office/drawing/2014/main" id="{62EB713E-512F-B242-ADBF-A9D569CAA567}"/>
              </a:ext>
            </a:extLst>
          </p:cNvPr>
          <p:cNvSpPr>
            <a:spLocks noChangeShapeType="1"/>
          </p:cNvSpPr>
          <p:nvPr/>
        </p:nvSpPr>
        <p:spPr bwMode="auto">
          <a:xfrm>
            <a:off x="8915400" y="19050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61488" name="Line 49">
            <a:extLst>
              <a:ext uri="{FF2B5EF4-FFF2-40B4-BE49-F238E27FC236}">
                <a16:creationId xmlns:a16="http://schemas.microsoft.com/office/drawing/2014/main" id="{450A0FF3-6FBF-AA4C-B8AF-BBB265010153}"/>
              </a:ext>
            </a:extLst>
          </p:cNvPr>
          <p:cNvSpPr>
            <a:spLocks noChangeShapeType="1"/>
          </p:cNvSpPr>
          <p:nvPr/>
        </p:nvSpPr>
        <p:spPr bwMode="auto">
          <a:xfrm>
            <a:off x="8915400" y="22860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61489" name="Line 50">
            <a:extLst>
              <a:ext uri="{FF2B5EF4-FFF2-40B4-BE49-F238E27FC236}">
                <a16:creationId xmlns:a16="http://schemas.microsoft.com/office/drawing/2014/main" id="{0BB49E05-0798-2742-9B46-1E628F21E4A6}"/>
              </a:ext>
            </a:extLst>
          </p:cNvPr>
          <p:cNvSpPr>
            <a:spLocks noChangeShapeType="1"/>
          </p:cNvSpPr>
          <p:nvPr/>
        </p:nvSpPr>
        <p:spPr bwMode="auto">
          <a:xfrm>
            <a:off x="8915400" y="29718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61490" name="Line 51">
            <a:extLst>
              <a:ext uri="{FF2B5EF4-FFF2-40B4-BE49-F238E27FC236}">
                <a16:creationId xmlns:a16="http://schemas.microsoft.com/office/drawing/2014/main" id="{24FAA83B-27C9-8646-AC14-10178CC7FEBB}"/>
              </a:ext>
            </a:extLst>
          </p:cNvPr>
          <p:cNvSpPr>
            <a:spLocks noChangeShapeType="1"/>
          </p:cNvSpPr>
          <p:nvPr/>
        </p:nvSpPr>
        <p:spPr bwMode="auto">
          <a:xfrm>
            <a:off x="8915400" y="35814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61491" name="Line 52">
            <a:extLst>
              <a:ext uri="{FF2B5EF4-FFF2-40B4-BE49-F238E27FC236}">
                <a16:creationId xmlns:a16="http://schemas.microsoft.com/office/drawing/2014/main" id="{89389C6F-C5B4-E24B-9D65-55FF3B286836}"/>
              </a:ext>
            </a:extLst>
          </p:cNvPr>
          <p:cNvSpPr>
            <a:spLocks noChangeShapeType="1"/>
          </p:cNvSpPr>
          <p:nvPr/>
        </p:nvSpPr>
        <p:spPr bwMode="auto">
          <a:xfrm>
            <a:off x="8915400" y="43434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61492" name="Line 53">
            <a:extLst>
              <a:ext uri="{FF2B5EF4-FFF2-40B4-BE49-F238E27FC236}">
                <a16:creationId xmlns:a16="http://schemas.microsoft.com/office/drawing/2014/main" id="{06253FDC-4165-E84D-841A-000EBBAA14B8}"/>
              </a:ext>
            </a:extLst>
          </p:cNvPr>
          <p:cNvSpPr>
            <a:spLocks noChangeShapeType="1"/>
          </p:cNvSpPr>
          <p:nvPr/>
        </p:nvSpPr>
        <p:spPr bwMode="auto">
          <a:xfrm>
            <a:off x="8915400" y="48006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61493" name="Line 54">
            <a:extLst>
              <a:ext uri="{FF2B5EF4-FFF2-40B4-BE49-F238E27FC236}">
                <a16:creationId xmlns:a16="http://schemas.microsoft.com/office/drawing/2014/main" id="{67A7FF12-53C9-684B-AFDB-36F64A294AAC}"/>
              </a:ext>
            </a:extLst>
          </p:cNvPr>
          <p:cNvSpPr>
            <a:spLocks noChangeShapeType="1"/>
          </p:cNvSpPr>
          <p:nvPr/>
        </p:nvSpPr>
        <p:spPr bwMode="auto">
          <a:xfrm>
            <a:off x="8915400" y="53340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61494" name="Line 55">
            <a:extLst>
              <a:ext uri="{FF2B5EF4-FFF2-40B4-BE49-F238E27FC236}">
                <a16:creationId xmlns:a16="http://schemas.microsoft.com/office/drawing/2014/main" id="{08B8E097-35B1-FF45-82E1-151EE7232DD0}"/>
              </a:ext>
            </a:extLst>
          </p:cNvPr>
          <p:cNvSpPr>
            <a:spLocks noChangeShapeType="1"/>
          </p:cNvSpPr>
          <p:nvPr/>
        </p:nvSpPr>
        <p:spPr bwMode="auto">
          <a:xfrm>
            <a:off x="8915400" y="57912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61495" name="Line 56">
            <a:extLst>
              <a:ext uri="{FF2B5EF4-FFF2-40B4-BE49-F238E27FC236}">
                <a16:creationId xmlns:a16="http://schemas.microsoft.com/office/drawing/2014/main" id="{5786C535-599C-3A47-9482-2BA1809644B5}"/>
              </a:ext>
            </a:extLst>
          </p:cNvPr>
          <p:cNvSpPr>
            <a:spLocks noChangeShapeType="1"/>
          </p:cNvSpPr>
          <p:nvPr/>
        </p:nvSpPr>
        <p:spPr bwMode="auto">
          <a:xfrm>
            <a:off x="8915400" y="63246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61496" name="Rectangle 57">
            <a:extLst>
              <a:ext uri="{FF2B5EF4-FFF2-40B4-BE49-F238E27FC236}">
                <a16:creationId xmlns:a16="http://schemas.microsoft.com/office/drawing/2014/main" id="{FF2A6343-489D-B543-9DAC-C6C804496596}"/>
              </a:ext>
            </a:extLst>
          </p:cNvPr>
          <p:cNvSpPr>
            <a:spLocks noChangeArrowheads="1"/>
          </p:cNvSpPr>
          <p:nvPr/>
        </p:nvSpPr>
        <p:spPr bwMode="auto">
          <a:xfrm>
            <a:off x="4191000" y="2895601"/>
            <a:ext cx="117981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ja-JP" altLang="en-US" sz="1800">
                <a:solidFill>
                  <a:srgbClr val="000000"/>
                </a:solidFill>
              </a:rPr>
              <a:t>“</a:t>
            </a:r>
            <a:r>
              <a:rPr lang="en-US" altLang="ja-JP" sz="1800">
                <a:solidFill>
                  <a:srgbClr val="000000"/>
                </a:solidFill>
              </a:rPr>
              <a:t>Outbreak</a:t>
            </a:r>
            <a:r>
              <a:rPr lang="ja-JP" altLang="en-US" sz="1800">
                <a:solidFill>
                  <a:srgbClr val="000000"/>
                </a:solidFill>
              </a:rPr>
              <a:t>”</a:t>
            </a:r>
            <a:endParaRPr lang="en-US" altLang="en-MX" sz="1800">
              <a:solidFill>
                <a:srgbClr val="000000"/>
              </a:solidFill>
            </a:endParaRPr>
          </a:p>
        </p:txBody>
      </p:sp>
      <p:sp>
        <p:nvSpPr>
          <p:cNvPr id="61497" name="Rectangle 58">
            <a:extLst>
              <a:ext uri="{FF2B5EF4-FFF2-40B4-BE49-F238E27FC236}">
                <a16:creationId xmlns:a16="http://schemas.microsoft.com/office/drawing/2014/main" id="{CA891520-3491-214F-91BE-181BF21B6461}"/>
              </a:ext>
            </a:extLst>
          </p:cNvPr>
          <p:cNvSpPr>
            <a:spLocks noChangeArrowheads="1"/>
          </p:cNvSpPr>
          <p:nvPr/>
        </p:nvSpPr>
        <p:spPr bwMode="auto">
          <a:xfrm>
            <a:off x="4191000" y="3962401"/>
            <a:ext cx="10668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ja-JP" altLang="en-US" sz="1800">
                <a:solidFill>
                  <a:srgbClr val="000000"/>
                </a:solidFill>
              </a:rPr>
              <a:t>“</a:t>
            </a:r>
            <a:r>
              <a:rPr lang="en-US" altLang="ja-JP" sz="1800">
                <a:solidFill>
                  <a:srgbClr val="000000"/>
                </a:solidFill>
              </a:rPr>
              <a:t>No</a:t>
            </a:r>
          </a:p>
          <a:p>
            <a:r>
              <a:rPr lang="en-US" altLang="en-MX" sz="1800">
                <a:solidFill>
                  <a:srgbClr val="000000"/>
                </a:solidFill>
              </a:rPr>
              <a:t>Outbreak</a:t>
            </a:r>
            <a:r>
              <a:rPr lang="ja-JP" altLang="en-US" sz="1800">
                <a:solidFill>
                  <a:srgbClr val="000000"/>
                </a:solidFill>
              </a:rPr>
              <a:t>”</a:t>
            </a:r>
            <a:endParaRPr lang="en-US" altLang="en-MX" sz="1800">
              <a:solidFill>
                <a:srgbClr val="000000"/>
              </a:solidFill>
            </a:endParaRPr>
          </a:p>
        </p:txBody>
      </p:sp>
      <p:sp>
        <p:nvSpPr>
          <p:cNvPr id="61498" name="AutoShape 59">
            <a:extLst>
              <a:ext uri="{FF2B5EF4-FFF2-40B4-BE49-F238E27FC236}">
                <a16:creationId xmlns:a16="http://schemas.microsoft.com/office/drawing/2014/main" id="{D46423B0-C3D0-2D4C-A1D0-44DC406C7519}"/>
              </a:ext>
            </a:extLst>
          </p:cNvPr>
          <p:cNvSpPr>
            <a:spLocks noChangeArrowheads="1"/>
          </p:cNvSpPr>
          <p:nvPr/>
        </p:nvSpPr>
        <p:spPr bwMode="auto">
          <a:xfrm>
            <a:off x="5105400" y="3124200"/>
            <a:ext cx="304800" cy="304800"/>
          </a:xfrm>
          <a:prstGeom prst="rightArrow">
            <a:avLst>
              <a:gd name="adj1" fmla="val 50000"/>
              <a:gd name="adj2" fmla="val 25000"/>
            </a:avLst>
          </a:prstGeom>
          <a:solidFill>
            <a:srgbClr val="990033"/>
          </a:solidFill>
          <a:ln w="12700">
            <a:solidFill>
              <a:srgbClr val="00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1499" name="AutoShape 60">
            <a:extLst>
              <a:ext uri="{FF2B5EF4-FFF2-40B4-BE49-F238E27FC236}">
                <a16:creationId xmlns:a16="http://schemas.microsoft.com/office/drawing/2014/main" id="{CB9E1DAE-A37D-1144-9A5F-BE28B6721773}"/>
              </a:ext>
            </a:extLst>
          </p:cNvPr>
          <p:cNvSpPr>
            <a:spLocks noChangeArrowheads="1"/>
          </p:cNvSpPr>
          <p:nvPr/>
        </p:nvSpPr>
        <p:spPr bwMode="auto">
          <a:xfrm>
            <a:off x="5334000" y="4343400"/>
            <a:ext cx="304800" cy="304800"/>
          </a:xfrm>
          <a:prstGeom prst="rightArrow">
            <a:avLst>
              <a:gd name="adj1" fmla="val 50000"/>
              <a:gd name="adj2" fmla="val 25000"/>
            </a:avLst>
          </a:prstGeom>
          <a:solidFill>
            <a:srgbClr val="990033"/>
          </a:solidFill>
          <a:ln w="12700">
            <a:solidFill>
              <a:srgbClr val="00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1500" name="Freeform 61">
            <a:extLst>
              <a:ext uri="{FF2B5EF4-FFF2-40B4-BE49-F238E27FC236}">
                <a16:creationId xmlns:a16="http://schemas.microsoft.com/office/drawing/2014/main" id="{FC698FCA-E53F-C144-B42F-C8B95EC2FE3B}"/>
              </a:ext>
            </a:extLst>
          </p:cNvPr>
          <p:cNvSpPr>
            <a:spLocks/>
          </p:cNvSpPr>
          <p:nvPr/>
        </p:nvSpPr>
        <p:spPr bwMode="auto">
          <a:xfrm>
            <a:off x="6235700" y="2971801"/>
            <a:ext cx="2451100" cy="396875"/>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1501" name="Freeform 62">
            <a:extLst>
              <a:ext uri="{FF2B5EF4-FFF2-40B4-BE49-F238E27FC236}">
                <a16:creationId xmlns:a16="http://schemas.microsoft.com/office/drawing/2014/main" id="{17AB5870-7C85-C746-B833-ECA3FB0DA61B}"/>
              </a:ext>
            </a:extLst>
          </p:cNvPr>
          <p:cNvSpPr>
            <a:spLocks/>
          </p:cNvSpPr>
          <p:nvPr/>
        </p:nvSpPr>
        <p:spPr bwMode="auto">
          <a:xfrm>
            <a:off x="6235700" y="3249614"/>
            <a:ext cx="2374900" cy="331787"/>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1502" name="Rectangle 63">
            <a:extLst>
              <a:ext uri="{FF2B5EF4-FFF2-40B4-BE49-F238E27FC236}">
                <a16:creationId xmlns:a16="http://schemas.microsoft.com/office/drawing/2014/main" id="{11FBA722-B569-9E41-A67D-E4EF06FBFC76}"/>
              </a:ext>
            </a:extLst>
          </p:cNvPr>
          <p:cNvSpPr>
            <a:spLocks noChangeArrowheads="1"/>
          </p:cNvSpPr>
          <p:nvPr/>
        </p:nvSpPr>
        <p:spPr bwMode="auto">
          <a:xfrm>
            <a:off x="6535738" y="2682875"/>
            <a:ext cx="12319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Encephalitis</a:t>
            </a:r>
          </a:p>
        </p:txBody>
      </p:sp>
      <p:sp>
        <p:nvSpPr>
          <p:cNvPr id="61503" name="Rectangle 64">
            <a:extLst>
              <a:ext uri="{FF2B5EF4-FFF2-40B4-BE49-F238E27FC236}">
                <a16:creationId xmlns:a16="http://schemas.microsoft.com/office/drawing/2014/main" id="{2B96CC04-E972-B849-8AA0-CE38AAE98A9A}"/>
              </a:ext>
            </a:extLst>
          </p:cNvPr>
          <p:cNvSpPr>
            <a:spLocks noChangeArrowheads="1"/>
          </p:cNvSpPr>
          <p:nvPr/>
        </p:nvSpPr>
        <p:spPr bwMode="auto">
          <a:xfrm>
            <a:off x="6477000" y="3276600"/>
            <a:ext cx="1752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Encephalitis</a:t>
            </a:r>
          </a:p>
        </p:txBody>
      </p:sp>
      <p:sp>
        <p:nvSpPr>
          <p:cNvPr id="61504" name="Oval 65">
            <a:extLst>
              <a:ext uri="{FF2B5EF4-FFF2-40B4-BE49-F238E27FC236}">
                <a16:creationId xmlns:a16="http://schemas.microsoft.com/office/drawing/2014/main" id="{DCC95967-FFA5-F948-8F4D-D25490CA50E3}"/>
              </a:ext>
            </a:extLst>
          </p:cNvPr>
          <p:cNvSpPr>
            <a:spLocks noChangeArrowheads="1"/>
          </p:cNvSpPr>
          <p:nvPr/>
        </p:nvSpPr>
        <p:spPr bwMode="auto">
          <a:xfrm>
            <a:off x="6172201" y="3124200"/>
            <a:ext cx="238125" cy="261938"/>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1505" name="Freeform 66">
            <a:extLst>
              <a:ext uri="{FF2B5EF4-FFF2-40B4-BE49-F238E27FC236}">
                <a16:creationId xmlns:a16="http://schemas.microsoft.com/office/drawing/2014/main" id="{F39BEF2E-F5A6-B049-BC6F-30D0E183C717}"/>
              </a:ext>
            </a:extLst>
          </p:cNvPr>
          <p:cNvSpPr>
            <a:spLocks/>
          </p:cNvSpPr>
          <p:nvPr/>
        </p:nvSpPr>
        <p:spPr bwMode="auto">
          <a:xfrm>
            <a:off x="6540500" y="4251326"/>
            <a:ext cx="2146300" cy="396875"/>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1506" name="Freeform 67">
            <a:extLst>
              <a:ext uri="{FF2B5EF4-FFF2-40B4-BE49-F238E27FC236}">
                <a16:creationId xmlns:a16="http://schemas.microsoft.com/office/drawing/2014/main" id="{70CFECE8-9A14-E340-A638-979F198FAE5F}"/>
              </a:ext>
            </a:extLst>
          </p:cNvPr>
          <p:cNvSpPr>
            <a:spLocks/>
          </p:cNvSpPr>
          <p:nvPr/>
        </p:nvSpPr>
        <p:spPr bwMode="auto">
          <a:xfrm>
            <a:off x="6540500" y="4529139"/>
            <a:ext cx="2070100" cy="331787"/>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1507" name="Rectangle 68">
            <a:extLst>
              <a:ext uri="{FF2B5EF4-FFF2-40B4-BE49-F238E27FC236}">
                <a16:creationId xmlns:a16="http://schemas.microsoft.com/office/drawing/2014/main" id="{2EC82BDE-26E3-B34D-8583-CA327C8F0800}"/>
              </a:ext>
            </a:extLst>
          </p:cNvPr>
          <p:cNvSpPr>
            <a:spLocks noChangeArrowheads="1"/>
          </p:cNvSpPr>
          <p:nvPr/>
        </p:nvSpPr>
        <p:spPr bwMode="auto">
          <a:xfrm>
            <a:off x="6840538" y="3962400"/>
            <a:ext cx="12319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Encephalitis</a:t>
            </a:r>
          </a:p>
        </p:txBody>
      </p:sp>
      <p:sp>
        <p:nvSpPr>
          <p:cNvPr id="61508" name="Rectangle 69">
            <a:extLst>
              <a:ext uri="{FF2B5EF4-FFF2-40B4-BE49-F238E27FC236}">
                <a16:creationId xmlns:a16="http://schemas.microsoft.com/office/drawing/2014/main" id="{05BB83DA-800B-1A41-A1B5-6A85D67C1FBE}"/>
              </a:ext>
            </a:extLst>
          </p:cNvPr>
          <p:cNvSpPr>
            <a:spLocks noChangeArrowheads="1"/>
          </p:cNvSpPr>
          <p:nvPr/>
        </p:nvSpPr>
        <p:spPr bwMode="auto">
          <a:xfrm>
            <a:off x="6781800" y="4556125"/>
            <a:ext cx="1752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Encephalitis</a:t>
            </a:r>
          </a:p>
        </p:txBody>
      </p:sp>
      <p:sp>
        <p:nvSpPr>
          <p:cNvPr id="61509" name="Oval 70">
            <a:extLst>
              <a:ext uri="{FF2B5EF4-FFF2-40B4-BE49-F238E27FC236}">
                <a16:creationId xmlns:a16="http://schemas.microsoft.com/office/drawing/2014/main" id="{3FF49046-CA56-C44A-A40C-AE543889484D}"/>
              </a:ext>
            </a:extLst>
          </p:cNvPr>
          <p:cNvSpPr>
            <a:spLocks noChangeArrowheads="1"/>
          </p:cNvSpPr>
          <p:nvPr/>
        </p:nvSpPr>
        <p:spPr bwMode="auto">
          <a:xfrm>
            <a:off x="6467476" y="4403725"/>
            <a:ext cx="238125" cy="261938"/>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1510" name="AutoShape 71">
            <a:extLst>
              <a:ext uri="{FF2B5EF4-FFF2-40B4-BE49-F238E27FC236}">
                <a16:creationId xmlns:a16="http://schemas.microsoft.com/office/drawing/2014/main" id="{E055D8A8-5C83-4B4B-B55F-6C9D9F97819F}"/>
              </a:ext>
            </a:extLst>
          </p:cNvPr>
          <p:cNvSpPr>
            <a:spLocks noChangeArrowheads="1"/>
          </p:cNvSpPr>
          <p:nvPr/>
        </p:nvSpPr>
        <p:spPr bwMode="auto">
          <a:xfrm>
            <a:off x="8534400" y="12192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1511" name="AutoShape 72">
            <a:extLst>
              <a:ext uri="{FF2B5EF4-FFF2-40B4-BE49-F238E27FC236}">
                <a16:creationId xmlns:a16="http://schemas.microsoft.com/office/drawing/2014/main" id="{C235CD88-50EE-964D-97EB-7F538AF588E2}"/>
              </a:ext>
            </a:extLst>
          </p:cNvPr>
          <p:cNvSpPr>
            <a:spLocks noChangeArrowheads="1"/>
          </p:cNvSpPr>
          <p:nvPr/>
        </p:nvSpPr>
        <p:spPr bwMode="auto">
          <a:xfrm>
            <a:off x="8534400" y="16764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1512" name="AutoShape 73">
            <a:extLst>
              <a:ext uri="{FF2B5EF4-FFF2-40B4-BE49-F238E27FC236}">
                <a16:creationId xmlns:a16="http://schemas.microsoft.com/office/drawing/2014/main" id="{30F57C44-5434-9C4B-9FAC-CFA1BAA24F19}"/>
              </a:ext>
            </a:extLst>
          </p:cNvPr>
          <p:cNvSpPr>
            <a:spLocks noChangeArrowheads="1"/>
          </p:cNvSpPr>
          <p:nvPr/>
        </p:nvSpPr>
        <p:spPr bwMode="auto">
          <a:xfrm>
            <a:off x="8534400" y="20574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1513" name="AutoShape 74">
            <a:extLst>
              <a:ext uri="{FF2B5EF4-FFF2-40B4-BE49-F238E27FC236}">
                <a16:creationId xmlns:a16="http://schemas.microsoft.com/office/drawing/2014/main" id="{060715DD-50D5-FA4C-A80D-EBD085EA1413}"/>
              </a:ext>
            </a:extLst>
          </p:cNvPr>
          <p:cNvSpPr>
            <a:spLocks noChangeArrowheads="1"/>
          </p:cNvSpPr>
          <p:nvPr/>
        </p:nvSpPr>
        <p:spPr bwMode="auto">
          <a:xfrm>
            <a:off x="8534400" y="33528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1514" name="AutoShape 75">
            <a:extLst>
              <a:ext uri="{FF2B5EF4-FFF2-40B4-BE49-F238E27FC236}">
                <a16:creationId xmlns:a16="http://schemas.microsoft.com/office/drawing/2014/main" id="{C43CB81D-9B0E-EF46-9BBC-957DB8538E99}"/>
              </a:ext>
            </a:extLst>
          </p:cNvPr>
          <p:cNvSpPr>
            <a:spLocks noChangeArrowheads="1"/>
          </p:cNvSpPr>
          <p:nvPr/>
        </p:nvSpPr>
        <p:spPr bwMode="auto">
          <a:xfrm>
            <a:off x="8534400" y="28194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1515" name="AutoShape 76">
            <a:extLst>
              <a:ext uri="{FF2B5EF4-FFF2-40B4-BE49-F238E27FC236}">
                <a16:creationId xmlns:a16="http://schemas.microsoft.com/office/drawing/2014/main" id="{513C6ED7-3AFA-0A46-A6E3-98474C15E727}"/>
              </a:ext>
            </a:extLst>
          </p:cNvPr>
          <p:cNvSpPr>
            <a:spLocks noChangeArrowheads="1"/>
          </p:cNvSpPr>
          <p:nvPr/>
        </p:nvSpPr>
        <p:spPr bwMode="auto">
          <a:xfrm>
            <a:off x="8547100" y="5121275"/>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1516" name="AutoShape 77">
            <a:extLst>
              <a:ext uri="{FF2B5EF4-FFF2-40B4-BE49-F238E27FC236}">
                <a16:creationId xmlns:a16="http://schemas.microsoft.com/office/drawing/2014/main" id="{CA39B765-FEE7-8442-9A76-AB422138B41B}"/>
              </a:ext>
            </a:extLst>
          </p:cNvPr>
          <p:cNvSpPr>
            <a:spLocks noChangeArrowheads="1"/>
          </p:cNvSpPr>
          <p:nvPr/>
        </p:nvSpPr>
        <p:spPr bwMode="auto">
          <a:xfrm>
            <a:off x="8547100" y="5578475"/>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1517" name="AutoShape 78">
            <a:extLst>
              <a:ext uri="{FF2B5EF4-FFF2-40B4-BE49-F238E27FC236}">
                <a16:creationId xmlns:a16="http://schemas.microsoft.com/office/drawing/2014/main" id="{8F751098-2613-6A4A-9214-0AA9038AE8C8}"/>
              </a:ext>
            </a:extLst>
          </p:cNvPr>
          <p:cNvSpPr>
            <a:spLocks noChangeArrowheads="1"/>
          </p:cNvSpPr>
          <p:nvPr/>
        </p:nvSpPr>
        <p:spPr bwMode="auto">
          <a:xfrm>
            <a:off x="8534400" y="6065838"/>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1518" name="AutoShape 79">
            <a:extLst>
              <a:ext uri="{FF2B5EF4-FFF2-40B4-BE49-F238E27FC236}">
                <a16:creationId xmlns:a16="http://schemas.microsoft.com/office/drawing/2014/main" id="{FDE55362-8739-7041-B04B-90876BF4B8FF}"/>
              </a:ext>
            </a:extLst>
          </p:cNvPr>
          <p:cNvSpPr>
            <a:spLocks noChangeArrowheads="1"/>
          </p:cNvSpPr>
          <p:nvPr/>
        </p:nvSpPr>
        <p:spPr bwMode="auto">
          <a:xfrm>
            <a:off x="8547100" y="41148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1519" name="AutoShape 80">
            <a:extLst>
              <a:ext uri="{FF2B5EF4-FFF2-40B4-BE49-F238E27FC236}">
                <a16:creationId xmlns:a16="http://schemas.microsoft.com/office/drawing/2014/main" id="{28095727-AE30-6E47-9F03-E0749A1F519F}"/>
              </a:ext>
            </a:extLst>
          </p:cNvPr>
          <p:cNvSpPr>
            <a:spLocks noChangeArrowheads="1"/>
          </p:cNvSpPr>
          <p:nvPr/>
        </p:nvSpPr>
        <p:spPr bwMode="auto">
          <a:xfrm>
            <a:off x="8547100" y="45720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1520" name="Text Box 81">
            <a:extLst>
              <a:ext uri="{FF2B5EF4-FFF2-40B4-BE49-F238E27FC236}">
                <a16:creationId xmlns:a16="http://schemas.microsoft.com/office/drawing/2014/main" id="{08B22DCE-D1A1-3845-A563-D5B4412E37D9}"/>
              </a:ext>
            </a:extLst>
          </p:cNvPr>
          <p:cNvSpPr txBox="1">
            <a:spLocks noChangeArrowheads="1"/>
          </p:cNvSpPr>
          <p:nvPr/>
        </p:nvSpPr>
        <p:spPr bwMode="auto">
          <a:xfrm>
            <a:off x="4343400" y="164465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0.20</a:t>
            </a:r>
          </a:p>
        </p:txBody>
      </p:sp>
      <p:sp>
        <p:nvSpPr>
          <p:cNvPr id="61521" name="Text Box 82">
            <a:extLst>
              <a:ext uri="{FF2B5EF4-FFF2-40B4-BE49-F238E27FC236}">
                <a16:creationId xmlns:a16="http://schemas.microsoft.com/office/drawing/2014/main" id="{34DB57E4-8B42-5F41-951E-A74D8CDF5135}"/>
              </a:ext>
            </a:extLst>
          </p:cNvPr>
          <p:cNvSpPr txBox="1">
            <a:spLocks noChangeArrowheads="1"/>
          </p:cNvSpPr>
          <p:nvPr/>
        </p:nvSpPr>
        <p:spPr bwMode="auto">
          <a:xfrm>
            <a:off x="4343400" y="228600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0.80</a:t>
            </a:r>
          </a:p>
        </p:txBody>
      </p:sp>
      <p:sp>
        <p:nvSpPr>
          <p:cNvPr id="61522" name="Text Box 83">
            <a:extLst>
              <a:ext uri="{FF2B5EF4-FFF2-40B4-BE49-F238E27FC236}">
                <a16:creationId xmlns:a16="http://schemas.microsoft.com/office/drawing/2014/main" id="{833617AB-A134-0849-9589-229B4C1CCD89}"/>
              </a:ext>
            </a:extLst>
          </p:cNvPr>
          <p:cNvSpPr txBox="1">
            <a:spLocks noChangeArrowheads="1"/>
          </p:cNvSpPr>
          <p:nvPr/>
        </p:nvSpPr>
        <p:spPr bwMode="auto">
          <a:xfrm>
            <a:off x="6019800" y="133985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0.001</a:t>
            </a:r>
          </a:p>
        </p:txBody>
      </p:sp>
      <p:sp>
        <p:nvSpPr>
          <p:cNvPr id="61523" name="Text Box 84">
            <a:extLst>
              <a:ext uri="{FF2B5EF4-FFF2-40B4-BE49-F238E27FC236}">
                <a16:creationId xmlns:a16="http://schemas.microsoft.com/office/drawing/2014/main" id="{E5246C08-960D-EB47-A835-CA80E4D4B73F}"/>
              </a:ext>
            </a:extLst>
          </p:cNvPr>
          <p:cNvSpPr txBox="1">
            <a:spLocks noChangeArrowheads="1"/>
          </p:cNvSpPr>
          <p:nvPr/>
        </p:nvSpPr>
        <p:spPr bwMode="auto">
          <a:xfrm>
            <a:off x="6019800" y="194945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0.999</a:t>
            </a:r>
          </a:p>
        </p:txBody>
      </p:sp>
      <p:sp>
        <p:nvSpPr>
          <p:cNvPr id="61524" name="Text Box 85">
            <a:extLst>
              <a:ext uri="{FF2B5EF4-FFF2-40B4-BE49-F238E27FC236}">
                <a16:creationId xmlns:a16="http://schemas.microsoft.com/office/drawing/2014/main" id="{FFE74322-503D-FA42-B8DA-21808BA9B860}"/>
              </a:ext>
            </a:extLst>
          </p:cNvPr>
          <p:cNvSpPr txBox="1">
            <a:spLocks noChangeArrowheads="1"/>
          </p:cNvSpPr>
          <p:nvPr/>
        </p:nvSpPr>
        <p:spPr bwMode="auto">
          <a:xfrm>
            <a:off x="4419600" y="556260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0.20</a:t>
            </a:r>
          </a:p>
        </p:txBody>
      </p:sp>
      <p:sp>
        <p:nvSpPr>
          <p:cNvPr id="61525" name="Text Box 86">
            <a:extLst>
              <a:ext uri="{FF2B5EF4-FFF2-40B4-BE49-F238E27FC236}">
                <a16:creationId xmlns:a16="http://schemas.microsoft.com/office/drawing/2014/main" id="{22645123-E067-0141-9907-285097E10DC4}"/>
              </a:ext>
            </a:extLst>
          </p:cNvPr>
          <p:cNvSpPr txBox="1">
            <a:spLocks noChangeArrowheads="1"/>
          </p:cNvSpPr>
          <p:nvPr/>
        </p:nvSpPr>
        <p:spPr bwMode="auto">
          <a:xfrm>
            <a:off x="4419600" y="629285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0.80</a:t>
            </a:r>
          </a:p>
        </p:txBody>
      </p:sp>
      <p:sp>
        <p:nvSpPr>
          <p:cNvPr id="61526" name="Text Box 87">
            <a:extLst>
              <a:ext uri="{FF2B5EF4-FFF2-40B4-BE49-F238E27FC236}">
                <a16:creationId xmlns:a16="http://schemas.microsoft.com/office/drawing/2014/main" id="{2E84549C-BCC1-AD42-9055-B48F36DA106C}"/>
              </a:ext>
            </a:extLst>
          </p:cNvPr>
          <p:cNvSpPr txBox="1">
            <a:spLocks noChangeArrowheads="1"/>
          </p:cNvSpPr>
          <p:nvPr/>
        </p:nvSpPr>
        <p:spPr bwMode="auto">
          <a:xfrm>
            <a:off x="6019800" y="525780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0.02</a:t>
            </a:r>
          </a:p>
        </p:txBody>
      </p:sp>
      <p:sp>
        <p:nvSpPr>
          <p:cNvPr id="61527" name="Text Box 88">
            <a:extLst>
              <a:ext uri="{FF2B5EF4-FFF2-40B4-BE49-F238E27FC236}">
                <a16:creationId xmlns:a16="http://schemas.microsoft.com/office/drawing/2014/main" id="{3EA45E80-35E9-B94C-BF58-3407D356578C}"/>
              </a:ext>
            </a:extLst>
          </p:cNvPr>
          <p:cNvSpPr txBox="1">
            <a:spLocks noChangeArrowheads="1"/>
          </p:cNvSpPr>
          <p:nvPr/>
        </p:nvSpPr>
        <p:spPr bwMode="auto">
          <a:xfrm>
            <a:off x="6019800" y="583565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0.98</a:t>
            </a:r>
          </a:p>
        </p:txBody>
      </p:sp>
      <p:sp>
        <p:nvSpPr>
          <p:cNvPr id="61528" name="Text Box 89">
            <a:extLst>
              <a:ext uri="{FF2B5EF4-FFF2-40B4-BE49-F238E27FC236}">
                <a16:creationId xmlns:a16="http://schemas.microsoft.com/office/drawing/2014/main" id="{ED68571E-677A-F44E-A1F4-1630A4B69EE0}"/>
              </a:ext>
            </a:extLst>
          </p:cNvPr>
          <p:cNvSpPr txBox="1">
            <a:spLocks noChangeArrowheads="1"/>
          </p:cNvSpPr>
          <p:nvPr/>
        </p:nvSpPr>
        <p:spPr bwMode="auto">
          <a:xfrm>
            <a:off x="4343400" y="327660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0.20</a:t>
            </a:r>
          </a:p>
        </p:txBody>
      </p:sp>
      <p:sp>
        <p:nvSpPr>
          <p:cNvPr id="61529" name="Text Box 90">
            <a:extLst>
              <a:ext uri="{FF2B5EF4-FFF2-40B4-BE49-F238E27FC236}">
                <a16:creationId xmlns:a16="http://schemas.microsoft.com/office/drawing/2014/main" id="{E92DD8A3-79FF-A44C-8FD5-E7116C887E92}"/>
              </a:ext>
            </a:extLst>
          </p:cNvPr>
          <p:cNvSpPr txBox="1">
            <a:spLocks noChangeArrowheads="1"/>
          </p:cNvSpPr>
          <p:nvPr/>
        </p:nvSpPr>
        <p:spPr bwMode="auto">
          <a:xfrm>
            <a:off x="4343400" y="446405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0.80</a:t>
            </a:r>
          </a:p>
        </p:txBody>
      </p:sp>
      <p:sp>
        <p:nvSpPr>
          <p:cNvPr id="61530" name="Text Box 91">
            <a:extLst>
              <a:ext uri="{FF2B5EF4-FFF2-40B4-BE49-F238E27FC236}">
                <a16:creationId xmlns:a16="http://schemas.microsoft.com/office/drawing/2014/main" id="{CB367BA6-64FF-9E4D-933D-56AB08CA1E66}"/>
              </a:ext>
            </a:extLst>
          </p:cNvPr>
          <p:cNvSpPr txBox="1">
            <a:spLocks noChangeArrowheads="1"/>
          </p:cNvSpPr>
          <p:nvPr/>
        </p:nvSpPr>
        <p:spPr bwMode="auto">
          <a:xfrm>
            <a:off x="6629400" y="297180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0.01</a:t>
            </a:r>
          </a:p>
        </p:txBody>
      </p:sp>
      <p:sp>
        <p:nvSpPr>
          <p:cNvPr id="61531" name="Text Box 92">
            <a:extLst>
              <a:ext uri="{FF2B5EF4-FFF2-40B4-BE49-F238E27FC236}">
                <a16:creationId xmlns:a16="http://schemas.microsoft.com/office/drawing/2014/main" id="{7586EDE1-3D60-6E4E-B395-F842F2F0919A}"/>
              </a:ext>
            </a:extLst>
          </p:cNvPr>
          <p:cNvSpPr txBox="1">
            <a:spLocks noChangeArrowheads="1"/>
          </p:cNvSpPr>
          <p:nvPr/>
        </p:nvSpPr>
        <p:spPr bwMode="auto">
          <a:xfrm>
            <a:off x="6629400" y="358140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0.99</a:t>
            </a:r>
          </a:p>
        </p:txBody>
      </p:sp>
      <p:sp>
        <p:nvSpPr>
          <p:cNvPr id="61532" name="Text Box 93">
            <a:extLst>
              <a:ext uri="{FF2B5EF4-FFF2-40B4-BE49-F238E27FC236}">
                <a16:creationId xmlns:a16="http://schemas.microsoft.com/office/drawing/2014/main" id="{C2365B68-3E9A-A54D-9E88-09C13CFC5D49}"/>
              </a:ext>
            </a:extLst>
          </p:cNvPr>
          <p:cNvSpPr txBox="1">
            <a:spLocks noChangeArrowheads="1"/>
          </p:cNvSpPr>
          <p:nvPr/>
        </p:nvSpPr>
        <p:spPr bwMode="auto">
          <a:xfrm>
            <a:off x="7010400" y="419100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a:t>
            </a:r>
          </a:p>
        </p:txBody>
      </p:sp>
      <p:sp>
        <p:nvSpPr>
          <p:cNvPr id="61533" name="Text Box 94">
            <a:extLst>
              <a:ext uri="{FF2B5EF4-FFF2-40B4-BE49-F238E27FC236}">
                <a16:creationId xmlns:a16="http://schemas.microsoft.com/office/drawing/2014/main" id="{BB6B8875-209B-7C43-B425-C35B28930C02}"/>
              </a:ext>
            </a:extLst>
          </p:cNvPr>
          <p:cNvSpPr txBox="1">
            <a:spLocks noChangeArrowheads="1"/>
          </p:cNvSpPr>
          <p:nvPr/>
        </p:nvSpPr>
        <p:spPr bwMode="auto">
          <a:xfrm>
            <a:off x="7010400" y="480060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1</a:t>
            </a:r>
          </a:p>
        </p:txBody>
      </p:sp>
    </p:spTree>
    <p:extLst>
      <p:ext uri="{BB962C8B-B14F-4D97-AF65-F5344CB8AC3E}">
        <p14:creationId xmlns:p14="http://schemas.microsoft.com/office/powerpoint/2010/main" val="196487427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2">
            <a:extLst>
              <a:ext uri="{FF2B5EF4-FFF2-40B4-BE49-F238E27FC236}">
                <a16:creationId xmlns:a16="http://schemas.microsoft.com/office/drawing/2014/main" id="{ACC3A6FF-45D6-4642-BE4F-52C2E1698E64}"/>
              </a:ext>
            </a:extLst>
          </p:cNvPr>
          <p:cNvSpPr>
            <a:spLocks noGrp="1" noChangeArrowheads="1"/>
          </p:cNvSpPr>
          <p:nvPr>
            <p:ph type="title"/>
          </p:nvPr>
        </p:nvSpPr>
        <p:spPr>
          <a:xfrm>
            <a:off x="864704" y="162339"/>
            <a:ext cx="9147313" cy="762000"/>
          </a:xfrm>
        </p:spPr>
        <p:txBody>
          <a:bodyPr/>
          <a:lstStyle/>
          <a:p>
            <a:pPr eaLnBrk="1" hangingPunct="1"/>
            <a:r>
              <a:rPr lang="en-US" altLang="en-MX" dirty="0">
                <a:ea typeface="ＭＳ Ｐゴシック" panose="020B0600070205080204" pitchFamily="34" charset="-128"/>
              </a:rPr>
              <a:t>Assign Outcomes</a:t>
            </a:r>
          </a:p>
        </p:txBody>
      </p:sp>
      <p:sp>
        <p:nvSpPr>
          <p:cNvPr id="63490" name="Line 3">
            <a:extLst>
              <a:ext uri="{FF2B5EF4-FFF2-40B4-BE49-F238E27FC236}">
                <a16:creationId xmlns:a16="http://schemas.microsoft.com/office/drawing/2014/main" id="{3B827D19-38AB-1E44-9F6D-B67B5B661C36}"/>
              </a:ext>
            </a:extLst>
          </p:cNvPr>
          <p:cNvSpPr>
            <a:spLocks noChangeShapeType="1"/>
          </p:cNvSpPr>
          <p:nvPr/>
        </p:nvSpPr>
        <p:spPr bwMode="auto">
          <a:xfrm>
            <a:off x="4114800" y="1676400"/>
            <a:ext cx="1447800"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63491" name="Rectangle 4">
            <a:extLst>
              <a:ext uri="{FF2B5EF4-FFF2-40B4-BE49-F238E27FC236}">
                <a16:creationId xmlns:a16="http://schemas.microsoft.com/office/drawing/2014/main" id="{F271A8E1-7E95-474D-AC66-8477C9F1098A}"/>
              </a:ext>
            </a:extLst>
          </p:cNvPr>
          <p:cNvSpPr>
            <a:spLocks noChangeArrowheads="1"/>
          </p:cNvSpPr>
          <p:nvPr/>
        </p:nvSpPr>
        <p:spPr bwMode="auto">
          <a:xfrm>
            <a:off x="4267200" y="1325564"/>
            <a:ext cx="9398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Outbreak</a:t>
            </a:r>
          </a:p>
        </p:txBody>
      </p:sp>
      <p:sp>
        <p:nvSpPr>
          <p:cNvPr id="63492" name="Rectangle 5">
            <a:extLst>
              <a:ext uri="{FF2B5EF4-FFF2-40B4-BE49-F238E27FC236}">
                <a16:creationId xmlns:a16="http://schemas.microsoft.com/office/drawing/2014/main" id="{17DAFC72-71F5-EF4F-B330-B7FE063F227F}"/>
              </a:ext>
            </a:extLst>
          </p:cNvPr>
          <p:cNvSpPr>
            <a:spLocks noChangeArrowheads="1"/>
          </p:cNvSpPr>
          <p:nvPr/>
        </p:nvSpPr>
        <p:spPr bwMode="auto">
          <a:xfrm>
            <a:off x="4267200" y="1981200"/>
            <a:ext cx="1295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Outbreak</a:t>
            </a:r>
          </a:p>
        </p:txBody>
      </p:sp>
      <p:sp>
        <p:nvSpPr>
          <p:cNvPr id="63493" name="Freeform 6">
            <a:extLst>
              <a:ext uri="{FF2B5EF4-FFF2-40B4-BE49-F238E27FC236}">
                <a16:creationId xmlns:a16="http://schemas.microsoft.com/office/drawing/2014/main" id="{87C8C14E-9903-DC41-9FB6-7F13A39C4502}"/>
              </a:ext>
            </a:extLst>
          </p:cNvPr>
          <p:cNvSpPr>
            <a:spLocks/>
          </p:cNvSpPr>
          <p:nvPr/>
        </p:nvSpPr>
        <p:spPr bwMode="auto">
          <a:xfrm>
            <a:off x="4040188" y="1676400"/>
            <a:ext cx="303212" cy="369888"/>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3494" name="Freeform 7">
            <a:extLst>
              <a:ext uri="{FF2B5EF4-FFF2-40B4-BE49-F238E27FC236}">
                <a16:creationId xmlns:a16="http://schemas.microsoft.com/office/drawing/2014/main" id="{DB644D7A-7AD3-7D48-B358-2FC4C40A0058}"/>
              </a:ext>
            </a:extLst>
          </p:cNvPr>
          <p:cNvSpPr>
            <a:spLocks/>
          </p:cNvSpPr>
          <p:nvPr/>
        </p:nvSpPr>
        <p:spPr bwMode="auto">
          <a:xfrm>
            <a:off x="4038601" y="2089150"/>
            <a:ext cx="303213" cy="196850"/>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3495" name="Line 8">
            <a:extLst>
              <a:ext uri="{FF2B5EF4-FFF2-40B4-BE49-F238E27FC236}">
                <a16:creationId xmlns:a16="http://schemas.microsoft.com/office/drawing/2014/main" id="{630B5778-F52B-B943-B158-EA25FE5B1EDE}"/>
              </a:ext>
            </a:extLst>
          </p:cNvPr>
          <p:cNvSpPr>
            <a:spLocks noChangeShapeType="1"/>
          </p:cNvSpPr>
          <p:nvPr/>
        </p:nvSpPr>
        <p:spPr bwMode="auto">
          <a:xfrm>
            <a:off x="2362200" y="2057400"/>
            <a:ext cx="161448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63496" name="Oval 9">
            <a:extLst>
              <a:ext uri="{FF2B5EF4-FFF2-40B4-BE49-F238E27FC236}">
                <a16:creationId xmlns:a16="http://schemas.microsoft.com/office/drawing/2014/main" id="{1420EABD-381F-6F4C-9DC9-1EB665DD7C0E}"/>
              </a:ext>
            </a:extLst>
          </p:cNvPr>
          <p:cNvSpPr>
            <a:spLocks noChangeArrowheads="1"/>
          </p:cNvSpPr>
          <p:nvPr/>
        </p:nvSpPr>
        <p:spPr bwMode="auto">
          <a:xfrm>
            <a:off x="3876676" y="1905000"/>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3497" name="Rectangle 10">
            <a:extLst>
              <a:ext uri="{FF2B5EF4-FFF2-40B4-BE49-F238E27FC236}">
                <a16:creationId xmlns:a16="http://schemas.microsoft.com/office/drawing/2014/main" id="{F79EA90C-FFA1-1E43-BAC4-E3D2ECF9210B}"/>
              </a:ext>
            </a:extLst>
          </p:cNvPr>
          <p:cNvSpPr>
            <a:spLocks noChangeArrowheads="1"/>
          </p:cNvSpPr>
          <p:nvPr/>
        </p:nvSpPr>
        <p:spPr bwMode="auto">
          <a:xfrm>
            <a:off x="2438401" y="1676400"/>
            <a:ext cx="663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000">
                <a:solidFill>
                  <a:srgbClr val="000000"/>
                </a:solidFill>
              </a:rPr>
              <a:t>Spray</a:t>
            </a:r>
          </a:p>
        </p:txBody>
      </p:sp>
      <p:sp>
        <p:nvSpPr>
          <p:cNvPr id="63498" name="Rectangle 11">
            <a:extLst>
              <a:ext uri="{FF2B5EF4-FFF2-40B4-BE49-F238E27FC236}">
                <a16:creationId xmlns:a16="http://schemas.microsoft.com/office/drawing/2014/main" id="{E3D0554B-1B4C-FC4A-A768-F252A85D4492}"/>
              </a:ext>
            </a:extLst>
          </p:cNvPr>
          <p:cNvSpPr>
            <a:spLocks noChangeArrowheads="1"/>
          </p:cNvSpPr>
          <p:nvPr/>
        </p:nvSpPr>
        <p:spPr bwMode="auto">
          <a:xfrm>
            <a:off x="4224338" y="5241925"/>
            <a:ext cx="9398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MX" sz="1800">
                <a:solidFill>
                  <a:srgbClr val="000000"/>
                </a:solidFill>
              </a:rPr>
              <a:t>Outbreak</a:t>
            </a:r>
          </a:p>
        </p:txBody>
      </p:sp>
      <p:sp>
        <p:nvSpPr>
          <p:cNvPr id="63499" name="Freeform 12">
            <a:extLst>
              <a:ext uri="{FF2B5EF4-FFF2-40B4-BE49-F238E27FC236}">
                <a16:creationId xmlns:a16="http://schemas.microsoft.com/office/drawing/2014/main" id="{FB0AF87A-CE93-CD47-82D9-204A9F3D24C5}"/>
              </a:ext>
            </a:extLst>
          </p:cNvPr>
          <p:cNvSpPr>
            <a:spLocks/>
          </p:cNvSpPr>
          <p:nvPr/>
        </p:nvSpPr>
        <p:spPr bwMode="auto">
          <a:xfrm>
            <a:off x="5716588" y="1382714"/>
            <a:ext cx="303212" cy="369887"/>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3500" name="Freeform 13">
            <a:extLst>
              <a:ext uri="{FF2B5EF4-FFF2-40B4-BE49-F238E27FC236}">
                <a16:creationId xmlns:a16="http://schemas.microsoft.com/office/drawing/2014/main" id="{0DEF4C14-6D87-1147-8BAF-52D57BF64312}"/>
              </a:ext>
            </a:extLst>
          </p:cNvPr>
          <p:cNvSpPr>
            <a:spLocks/>
          </p:cNvSpPr>
          <p:nvPr/>
        </p:nvSpPr>
        <p:spPr bwMode="auto">
          <a:xfrm>
            <a:off x="5716588" y="1633538"/>
            <a:ext cx="303212" cy="347662"/>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3501" name="Rectangle 14">
            <a:extLst>
              <a:ext uri="{FF2B5EF4-FFF2-40B4-BE49-F238E27FC236}">
                <a16:creationId xmlns:a16="http://schemas.microsoft.com/office/drawing/2014/main" id="{62ADF52F-BEDA-384E-97B9-6BBBC0989153}"/>
              </a:ext>
            </a:extLst>
          </p:cNvPr>
          <p:cNvSpPr>
            <a:spLocks noChangeArrowheads="1"/>
          </p:cNvSpPr>
          <p:nvPr/>
        </p:nvSpPr>
        <p:spPr bwMode="auto">
          <a:xfrm>
            <a:off x="3644900" y="6019800"/>
            <a:ext cx="2286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MX" sz="1800">
                <a:solidFill>
                  <a:srgbClr val="000000"/>
                </a:solidFill>
              </a:rPr>
              <a:t>No Outbreak</a:t>
            </a:r>
          </a:p>
        </p:txBody>
      </p:sp>
      <p:sp>
        <p:nvSpPr>
          <p:cNvPr id="63502" name="Freeform 15">
            <a:extLst>
              <a:ext uri="{FF2B5EF4-FFF2-40B4-BE49-F238E27FC236}">
                <a16:creationId xmlns:a16="http://schemas.microsoft.com/office/drawing/2014/main" id="{F4017AD7-D2FE-ED4D-9B52-8481189BB926}"/>
              </a:ext>
            </a:extLst>
          </p:cNvPr>
          <p:cNvSpPr>
            <a:spLocks/>
          </p:cNvSpPr>
          <p:nvPr/>
        </p:nvSpPr>
        <p:spPr bwMode="auto">
          <a:xfrm>
            <a:off x="4114801" y="5562601"/>
            <a:ext cx="290513" cy="415925"/>
          </a:xfrm>
          <a:custGeom>
            <a:avLst/>
            <a:gdLst>
              <a:gd name="T0" fmla="*/ 0 w 14"/>
              <a:gd name="T1" fmla="*/ 2147483647 h 24"/>
              <a:gd name="T2" fmla="*/ 0 w 14"/>
              <a:gd name="T3" fmla="*/ 0 h 24"/>
              <a:gd name="T4" fmla="*/ 2147483647 w 14"/>
              <a:gd name="T5" fmla="*/ 0 h 24"/>
              <a:gd name="T6" fmla="*/ 0 60000 65536"/>
              <a:gd name="T7" fmla="*/ 0 60000 65536"/>
              <a:gd name="T8" fmla="*/ 0 60000 65536"/>
              <a:gd name="T9" fmla="*/ 0 w 14"/>
              <a:gd name="T10" fmla="*/ 0 h 24"/>
              <a:gd name="T11" fmla="*/ 14 w 14"/>
              <a:gd name="T12" fmla="*/ 24 h 24"/>
            </a:gdLst>
            <a:ahLst/>
            <a:cxnLst>
              <a:cxn ang="T6">
                <a:pos x="T0" y="T1"/>
              </a:cxn>
              <a:cxn ang="T7">
                <a:pos x="T2" y="T3"/>
              </a:cxn>
              <a:cxn ang="T8">
                <a:pos x="T4" y="T5"/>
              </a:cxn>
            </a:cxnLst>
            <a:rect l="T9" t="T10" r="T11" b="T12"/>
            <a:pathLst>
              <a:path w="14" h="24">
                <a:moveTo>
                  <a:pt x="0" y="24"/>
                </a:moveTo>
                <a:lnTo>
                  <a:pt x="0" y="0"/>
                </a:lnTo>
                <a:lnTo>
                  <a:pt x="14" y="0"/>
                </a:lnTo>
              </a:path>
            </a:pathLst>
          </a:custGeom>
          <a:noFill/>
          <a:ln w="19050"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3503" name="Freeform 16">
            <a:extLst>
              <a:ext uri="{FF2B5EF4-FFF2-40B4-BE49-F238E27FC236}">
                <a16:creationId xmlns:a16="http://schemas.microsoft.com/office/drawing/2014/main" id="{65FB6CF5-420B-5F4E-BBA0-6975FA8D4E91}"/>
              </a:ext>
            </a:extLst>
          </p:cNvPr>
          <p:cNvSpPr>
            <a:spLocks/>
          </p:cNvSpPr>
          <p:nvPr/>
        </p:nvSpPr>
        <p:spPr bwMode="auto">
          <a:xfrm>
            <a:off x="4094164" y="5749926"/>
            <a:ext cx="4592637" cy="574675"/>
          </a:xfrm>
          <a:custGeom>
            <a:avLst/>
            <a:gdLst>
              <a:gd name="T0" fmla="*/ 0 w 14"/>
              <a:gd name="T1" fmla="*/ 0 h 25"/>
              <a:gd name="T2" fmla="*/ 0 w 14"/>
              <a:gd name="T3" fmla="*/ 2147483647 h 25"/>
              <a:gd name="T4" fmla="*/ 2147483647 w 14"/>
              <a:gd name="T5" fmla="*/ 2147483647 h 25"/>
              <a:gd name="T6" fmla="*/ 0 60000 65536"/>
              <a:gd name="T7" fmla="*/ 0 60000 65536"/>
              <a:gd name="T8" fmla="*/ 0 60000 65536"/>
              <a:gd name="T9" fmla="*/ 0 w 14"/>
              <a:gd name="T10" fmla="*/ 0 h 25"/>
              <a:gd name="T11" fmla="*/ 14 w 14"/>
              <a:gd name="T12" fmla="*/ 25 h 25"/>
            </a:gdLst>
            <a:ahLst/>
            <a:cxnLst>
              <a:cxn ang="T6">
                <a:pos x="T0" y="T1"/>
              </a:cxn>
              <a:cxn ang="T7">
                <a:pos x="T2" y="T3"/>
              </a:cxn>
              <a:cxn ang="T8">
                <a:pos x="T4" y="T5"/>
              </a:cxn>
            </a:cxnLst>
            <a:rect l="T9" t="T10" r="T11" b="T12"/>
            <a:pathLst>
              <a:path w="14" h="25">
                <a:moveTo>
                  <a:pt x="0" y="0"/>
                </a:moveTo>
                <a:lnTo>
                  <a:pt x="0" y="25"/>
                </a:lnTo>
                <a:lnTo>
                  <a:pt x="14" y="25"/>
                </a:lnTo>
              </a:path>
            </a:pathLst>
          </a:custGeom>
          <a:noFill/>
          <a:ln w="19050"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3504" name="Line 17">
            <a:extLst>
              <a:ext uri="{FF2B5EF4-FFF2-40B4-BE49-F238E27FC236}">
                <a16:creationId xmlns:a16="http://schemas.microsoft.com/office/drawing/2014/main" id="{5F61378C-2C21-3B4A-B2FD-9CCD06949946}"/>
              </a:ext>
            </a:extLst>
          </p:cNvPr>
          <p:cNvSpPr>
            <a:spLocks noChangeShapeType="1"/>
          </p:cNvSpPr>
          <p:nvPr/>
        </p:nvSpPr>
        <p:spPr bwMode="auto">
          <a:xfrm>
            <a:off x="2547938" y="3808414"/>
            <a:ext cx="14287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63505" name="Rectangle 18">
            <a:extLst>
              <a:ext uri="{FF2B5EF4-FFF2-40B4-BE49-F238E27FC236}">
                <a16:creationId xmlns:a16="http://schemas.microsoft.com/office/drawing/2014/main" id="{49A3CDB9-C75C-604D-8C22-F7EE17AC82A3}"/>
              </a:ext>
            </a:extLst>
          </p:cNvPr>
          <p:cNvSpPr>
            <a:spLocks noChangeArrowheads="1"/>
          </p:cNvSpPr>
          <p:nvPr/>
        </p:nvSpPr>
        <p:spPr bwMode="auto">
          <a:xfrm>
            <a:off x="2438401" y="5410201"/>
            <a:ext cx="141064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000">
                <a:solidFill>
                  <a:srgbClr val="000000"/>
                </a:solidFill>
              </a:rPr>
              <a:t>Don</a:t>
            </a:r>
            <a:r>
              <a:rPr lang="ja-JP" altLang="en-US" sz="2000">
                <a:solidFill>
                  <a:srgbClr val="000000"/>
                </a:solidFill>
              </a:rPr>
              <a:t>’</a:t>
            </a:r>
            <a:r>
              <a:rPr lang="en-US" altLang="ja-JP" sz="2000">
                <a:solidFill>
                  <a:srgbClr val="000000"/>
                </a:solidFill>
              </a:rPr>
              <a:t>t Spray</a:t>
            </a:r>
            <a:endParaRPr lang="en-US" altLang="en-MX" sz="2000">
              <a:solidFill>
                <a:srgbClr val="000000"/>
              </a:solidFill>
            </a:endParaRPr>
          </a:p>
        </p:txBody>
      </p:sp>
      <p:sp>
        <p:nvSpPr>
          <p:cNvPr id="63506" name="Line 19">
            <a:extLst>
              <a:ext uri="{FF2B5EF4-FFF2-40B4-BE49-F238E27FC236}">
                <a16:creationId xmlns:a16="http://schemas.microsoft.com/office/drawing/2014/main" id="{61B8C4E6-5D10-9E45-8713-E84E42CCFFB7}"/>
              </a:ext>
            </a:extLst>
          </p:cNvPr>
          <p:cNvSpPr>
            <a:spLocks noChangeShapeType="1"/>
          </p:cNvSpPr>
          <p:nvPr/>
        </p:nvSpPr>
        <p:spPr bwMode="auto">
          <a:xfrm>
            <a:off x="2514600" y="5867400"/>
            <a:ext cx="14287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63507" name="Rectangle 20">
            <a:extLst>
              <a:ext uri="{FF2B5EF4-FFF2-40B4-BE49-F238E27FC236}">
                <a16:creationId xmlns:a16="http://schemas.microsoft.com/office/drawing/2014/main" id="{2CD69992-B32E-BF43-83D9-815CB4D00768}"/>
              </a:ext>
            </a:extLst>
          </p:cNvPr>
          <p:cNvSpPr>
            <a:spLocks noChangeArrowheads="1"/>
          </p:cNvSpPr>
          <p:nvPr/>
        </p:nvSpPr>
        <p:spPr bwMode="auto">
          <a:xfrm>
            <a:off x="2362201" y="3429001"/>
            <a:ext cx="4701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000">
                <a:solidFill>
                  <a:srgbClr val="000000"/>
                </a:solidFill>
              </a:rPr>
              <a:t>Test</a:t>
            </a:r>
          </a:p>
        </p:txBody>
      </p:sp>
      <p:sp>
        <p:nvSpPr>
          <p:cNvPr id="63508" name="Freeform 21">
            <a:extLst>
              <a:ext uri="{FF2B5EF4-FFF2-40B4-BE49-F238E27FC236}">
                <a16:creationId xmlns:a16="http://schemas.microsoft.com/office/drawing/2014/main" id="{7AB19910-7032-6B49-B6BC-92B917933A9B}"/>
              </a:ext>
            </a:extLst>
          </p:cNvPr>
          <p:cNvSpPr>
            <a:spLocks/>
          </p:cNvSpPr>
          <p:nvPr/>
        </p:nvSpPr>
        <p:spPr bwMode="auto">
          <a:xfrm>
            <a:off x="2209800" y="2057400"/>
            <a:ext cx="261938" cy="2198688"/>
          </a:xfrm>
          <a:custGeom>
            <a:avLst/>
            <a:gdLst>
              <a:gd name="T0" fmla="*/ 0 w 14"/>
              <a:gd name="T1" fmla="*/ 2147483647 h 87"/>
              <a:gd name="T2" fmla="*/ 0 w 14"/>
              <a:gd name="T3" fmla="*/ 0 h 87"/>
              <a:gd name="T4" fmla="*/ 2147483647 w 14"/>
              <a:gd name="T5" fmla="*/ 0 h 87"/>
              <a:gd name="T6" fmla="*/ 0 60000 65536"/>
              <a:gd name="T7" fmla="*/ 0 60000 65536"/>
              <a:gd name="T8" fmla="*/ 0 60000 65536"/>
              <a:gd name="T9" fmla="*/ 0 w 14"/>
              <a:gd name="T10" fmla="*/ 0 h 87"/>
              <a:gd name="T11" fmla="*/ 14 w 14"/>
              <a:gd name="T12" fmla="*/ 87 h 87"/>
            </a:gdLst>
            <a:ahLst/>
            <a:cxnLst>
              <a:cxn ang="T6">
                <a:pos x="T0" y="T1"/>
              </a:cxn>
              <a:cxn ang="T7">
                <a:pos x="T2" y="T3"/>
              </a:cxn>
              <a:cxn ang="T8">
                <a:pos x="T4" y="T5"/>
              </a:cxn>
            </a:cxnLst>
            <a:rect l="T9" t="T10" r="T11" b="T12"/>
            <a:pathLst>
              <a:path w="14" h="87">
                <a:moveTo>
                  <a:pt x="0" y="8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3509" name="Freeform 22">
            <a:extLst>
              <a:ext uri="{FF2B5EF4-FFF2-40B4-BE49-F238E27FC236}">
                <a16:creationId xmlns:a16="http://schemas.microsoft.com/office/drawing/2014/main" id="{1F80D91C-05A6-E940-A8C2-9A2A9E962BF8}"/>
              </a:ext>
            </a:extLst>
          </p:cNvPr>
          <p:cNvSpPr>
            <a:spLocks/>
          </p:cNvSpPr>
          <p:nvPr/>
        </p:nvSpPr>
        <p:spPr bwMode="auto">
          <a:xfrm>
            <a:off x="2244726" y="3810001"/>
            <a:ext cx="303213" cy="42863"/>
          </a:xfrm>
          <a:custGeom>
            <a:avLst/>
            <a:gdLst>
              <a:gd name="T0" fmla="*/ 0 w 14"/>
              <a:gd name="T1" fmla="*/ 2147483647 h 2"/>
              <a:gd name="T2" fmla="*/ 0 w 14"/>
              <a:gd name="T3" fmla="*/ 0 h 2"/>
              <a:gd name="T4" fmla="*/ 2147483647 w 14"/>
              <a:gd name="T5" fmla="*/ 0 h 2"/>
              <a:gd name="T6" fmla="*/ 0 60000 65536"/>
              <a:gd name="T7" fmla="*/ 0 60000 65536"/>
              <a:gd name="T8" fmla="*/ 0 60000 65536"/>
              <a:gd name="T9" fmla="*/ 0 w 14"/>
              <a:gd name="T10" fmla="*/ 0 h 2"/>
              <a:gd name="T11" fmla="*/ 14 w 14"/>
              <a:gd name="T12" fmla="*/ 2 h 2"/>
            </a:gdLst>
            <a:ahLst/>
            <a:cxnLst>
              <a:cxn ang="T6">
                <a:pos x="T0" y="T1"/>
              </a:cxn>
              <a:cxn ang="T7">
                <a:pos x="T2" y="T3"/>
              </a:cxn>
              <a:cxn ang="T8">
                <a:pos x="T4" y="T5"/>
              </a:cxn>
            </a:cxnLst>
            <a:rect l="T9" t="T10" r="T11" b="T12"/>
            <a:pathLst>
              <a:path w="14" h="2">
                <a:moveTo>
                  <a:pt x="0" y="2"/>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3510" name="Freeform 23">
            <a:extLst>
              <a:ext uri="{FF2B5EF4-FFF2-40B4-BE49-F238E27FC236}">
                <a16:creationId xmlns:a16="http://schemas.microsoft.com/office/drawing/2014/main" id="{74C733CF-84F0-2142-A0A0-85C03DAE67E4}"/>
              </a:ext>
            </a:extLst>
          </p:cNvPr>
          <p:cNvSpPr>
            <a:spLocks/>
          </p:cNvSpPr>
          <p:nvPr/>
        </p:nvSpPr>
        <p:spPr bwMode="auto">
          <a:xfrm>
            <a:off x="2209801" y="3957638"/>
            <a:ext cx="303213" cy="1916112"/>
          </a:xfrm>
          <a:custGeom>
            <a:avLst/>
            <a:gdLst>
              <a:gd name="T0" fmla="*/ 0 w 14"/>
              <a:gd name="T1" fmla="*/ 0 h 88"/>
              <a:gd name="T2" fmla="*/ 0 w 14"/>
              <a:gd name="T3" fmla="*/ 2147483647 h 88"/>
              <a:gd name="T4" fmla="*/ 2147483647 w 14"/>
              <a:gd name="T5" fmla="*/ 2147483647 h 88"/>
              <a:gd name="T6" fmla="*/ 0 60000 65536"/>
              <a:gd name="T7" fmla="*/ 0 60000 65536"/>
              <a:gd name="T8" fmla="*/ 0 60000 65536"/>
              <a:gd name="T9" fmla="*/ 0 w 14"/>
              <a:gd name="T10" fmla="*/ 0 h 88"/>
              <a:gd name="T11" fmla="*/ 14 w 14"/>
              <a:gd name="T12" fmla="*/ 88 h 88"/>
            </a:gdLst>
            <a:ahLst/>
            <a:cxnLst>
              <a:cxn ang="T6">
                <a:pos x="T0" y="T1"/>
              </a:cxn>
              <a:cxn ang="T7">
                <a:pos x="T2" y="T3"/>
              </a:cxn>
              <a:cxn ang="T8">
                <a:pos x="T4" y="T5"/>
              </a:cxn>
            </a:cxnLst>
            <a:rect l="T9" t="T10" r="T11" b="T12"/>
            <a:pathLst>
              <a:path w="14" h="88">
                <a:moveTo>
                  <a:pt x="0" y="0"/>
                </a:moveTo>
                <a:lnTo>
                  <a:pt x="0" y="88"/>
                </a:lnTo>
                <a:lnTo>
                  <a:pt x="14" y="88"/>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3511" name="Rectangle 24">
            <a:extLst>
              <a:ext uri="{FF2B5EF4-FFF2-40B4-BE49-F238E27FC236}">
                <a16:creationId xmlns:a16="http://schemas.microsoft.com/office/drawing/2014/main" id="{BF512337-B797-C94B-951D-F545688646EF}"/>
              </a:ext>
            </a:extLst>
          </p:cNvPr>
          <p:cNvSpPr>
            <a:spLocks noChangeArrowheads="1"/>
          </p:cNvSpPr>
          <p:nvPr/>
        </p:nvSpPr>
        <p:spPr bwMode="auto">
          <a:xfrm>
            <a:off x="2093914" y="3657600"/>
            <a:ext cx="238125" cy="261938"/>
          </a:xfrm>
          <a:prstGeom prst="rect">
            <a:avLst/>
          </a:prstGeom>
          <a:solidFill>
            <a:schemeClr val="bg1"/>
          </a:solidFill>
          <a:ln w="25400">
            <a:solidFill>
              <a:srgbClr val="0000FF"/>
            </a:solidFill>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3512" name="Text Box 25">
            <a:extLst>
              <a:ext uri="{FF2B5EF4-FFF2-40B4-BE49-F238E27FC236}">
                <a16:creationId xmlns:a16="http://schemas.microsoft.com/office/drawing/2014/main" id="{CADD856A-4954-A84A-8EE2-C410FFE9F720}"/>
              </a:ext>
            </a:extLst>
          </p:cNvPr>
          <p:cNvSpPr txBox="1">
            <a:spLocks noChangeArrowheads="1"/>
          </p:cNvSpPr>
          <p:nvPr/>
        </p:nvSpPr>
        <p:spPr bwMode="auto">
          <a:xfrm>
            <a:off x="8458200" y="669130"/>
            <a:ext cx="213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1800" b="1" u="sng" dirty="0">
                <a:solidFill>
                  <a:srgbClr val="000000"/>
                </a:solidFill>
              </a:rPr>
              <a:t>P(Death</a:t>
            </a:r>
            <a:r>
              <a:rPr lang="en-US" altLang="en-MX" sz="1800" b="1" u="sng" dirty="0">
                <a:solidFill>
                  <a:srgbClr val="000000"/>
                </a:solidFill>
                <a:latin typeface="Garamond" panose="02020404030301010803" pitchFamily="18" charset="0"/>
              </a:rPr>
              <a:t>)</a:t>
            </a:r>
          </a:p>
        </p:txBody>
      </p:sp>
      <p:sp>
        <p:nvSpPr>
          <p:cNvPr id="63513" name="Line 26">
            <a:extLst>
              <a:ext uri="{FF2B5EF4-FFF2-40B4-BE49-F238E27FC236}">
                <a16:creationId xmlns:a16="http://schemas.microsoft.com/office/drawing/2014/main" id="{61128401-2710-7441-8029-CDC721A69AC4}"/>
              </a:ext>
            </a:extLst>
          </p:cNvPr>
          <p:cNvSpPr>
            <a:spLocks noChangeShapeType="1"/>
          </p:cNvSpPr>
          <p:nvPr/>
        </p:nvSpPr>
        <p:spPr bwMode="auto">
          <a:xfrm>
            <a:off x="8915400" y="14478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63514" name="Line 27">
            <a:extLst>
              <a:ext uri="{FF2B5EF4-FFF2-40B4-BE49-F238E27FC236}">
                <a16:creationId xmlns:a16="http://schemas.microsoft.com/office/drawing/2014/main" id="{066A0997-A24C-9047-B9FC-04A01637A310}"/>
              </a:ext>
            </a:extLst>
          </p:cNvPr>
          <p:cNvSpPr>
            <a:spLocks noChangeShapeType="1"/>
          </p:cNvSpPr>
          <p:nvPr/>
        </p:nvSpPr>
        <p:spPr bwMode="auto">
          <a:xfrm>
            <a:off x="4267200" y="2286000"/>
            <a:ext cx="43434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63515" name="Line 28">
            <a:extLst>
              <a:ext uri="{FF2B5EF4-FFF2-40B4-BE49-F238E27FC236}">
                <a16:creationId xmlns:a16="http://schemas.microsoft.com/office/drawing/2014/main" id="{522271FA-5CDE-9C44-AAD4-D9B08CDB1CCB}"/>
              </a:ext>
            </a:extLst>
          </p:cNvPr>
          <p:cNvSpPr>
            <a:spLocks noChangeShapeType="1"/>
          </p:cNvSpPr>
          <p:nvPr/>
        </p:nvSpPr>
        <p:spPr bwMode="auto">
          <a:xfrm>
            <a:off x="4343400" y="5562600"/>
            <a:ext cx="1295400" cy="0"/>
          </a:xfrm>
          <a:prstGeom prst="line">
            <a:avLst/>
          </a:prstGeom>
          <a:noFill/>
          <a:ln w="1905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63516" name="Oval 29">
            <a:extLst>
              <a:ext uri="{FF2B5EF4-FFF2-40B4-BE49-F238E27FC236}">
                <a16:creationId xmlns:a16="http://schemas.microsoft.com/office/drawing/2014/main" id="{B67B7D27-2B60-894C-8922-A488F18ED0C7}"/>
              </a:ext>
            </a:extLst>
          </p:cNvPr>
          <p:cNvSpPr>
            <a:spLocks noChangeArrowheads="1"/>
          </p:cNvSpPr>
          <p:nvPr/>
        </p:nvSpPr>
        <p:spPr bwMode="auto">
          <a:xfrm>
            <a:off x="5562601" y="1566864"/>
            <a:ext cx="238125" cy="261937"/>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3517" name="Rectangle 30">
            <a:extLst>
              <a:ext uri="{FF2B5EF4-FFF2-40B4-BE49-F238E27FC236}">
                <a16:creationId xmlns:a16="http://schemas.microsoft.com/office/drawing/2014/main" id="{19626718-B22B-E344-BA4F-DCD537F4ABDD}"/>
              </a:ext>
            </a:extLst>
          </p:cNvPr>
          <p:cNvSpPr>
            <a:spLocks noChangeArrowheads="1"/>
          </p:cNvSpPr>
          <p:nvPr/>
        </p:nvSpPr>
        <p:spPr bwMode="auto">
          <a:xfrm>
            <a:off x="5943600" y="1066800"/>
            <a:ext cx="12319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Encephalitis</a:t>
            </a:r>
          </a:p>
        </p:txBody>
      </p:sp>
      <p:sp>
        <p:nvSpPr>
          <p:cNvPr id="63518" name="Line 31">
            <a:extLst>
              <a:ext uri="{FF2B5EF4-FFF2-40B4-BE49-F238E27FC236}">
                <a16:creationId xmlns:a16="http://schemas.microsoft.com/office/drawing/2014/main" id="{037ADFF9-E85C-A045-BF4B-A1E8EDE9BD0C}"/>
              </a:ext>
            </a:extLst>
          </p:cNvPr>
          <p:cNvSpPr>
            <a:spLocks noChangeShapeType="1"/>
          </p:cNvSpPr>
          <p:nvPr/>
        </p:nvSpPr>
        <p:spPr bwMode="auto">
          <a:xfrm flipV="1">
            <a:off x="5957888" y="1371601"/>
            <a:ext cx="2652712" cy="1587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63519" name="Line 32">
            <a:extLst>
              <a:ext uri="{FF2B5EF4-FFF2-40B4-BE49-F238E27FC236}">
                <a16:creationId xmlns:a16="http://schemas.microsoft.com/office/drawing/2014/main" id="{CF22C961-0029-F249-88A5-D167CFD4DCE5}"/>
              </a:ext>
            </a:extLst>
          </p:cNvPr>
          <p:cNvSpPr>
            <a:spLocks noChangeShapeType="1"/>
          </p:cNvSpPr>
          <p:nvPr/>
        </p:nvSpPr>
        <p:spPr bwMode="auto">
          <a:xfrm>
            <a:off x="5943600" y="1981200"/>
            <a:ext cx="25908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63520" name="Freeform 33">
            <a:extLst>
              <a:ext uri="{FF2B5EF4-FFF2-40B4-BE49-F238E27FC236}">
                <a16:creationId xmlns:a16="http://schemas.microsoft.com/office/drawing/2014/main" id="{10E74DD3-4BE4-2643-BA21-58194C65067D}"/>
              </a:ext>
            </a:extLst>
          </p:cNvPr>
          <p:cNvSpPr>
            <a:spLocks/>
          </p:cNvSpPr>
          <p:nvPr/>
        </p:nvSpPr>
        <p:spPr bwMode="auto">
          <a:xfrm>
            <a:off x="5715000" y="5257801"/>
            <a:ext cx="2895600" cy="396875"/>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3521" name="Freeform 34">
            <a:extLst>
              <a:ext uri="{FF2B5EF4-FFF2-40B4-BE49-F238E27FC236}">
                <a16:creationId xmlns:a16="http://schemas.microsoft.com/office/drawing/2014/main" id="{B75C8146-83A7-214B-88E9-874F6C44E864}"/>
              </a:ext>
            </a:extLst>
          </p:cNvPr>
          <p:cNvSpPr>
            <a:spLocks/>
          </p:cNvSpPr>
          <p:nvPr/>
        </p:nvSpPr>
        <p:spPr bwMode="auto">
          <a:xfrm>
            <a:off x="5716588" y="5502276"/>
            <a:ext cx="303212" cy="347663"/>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3522" name="Line 35">
            <a:extLst>
              <a:ext uri="{FF2B5EF4-FFF2-40B4-BE49-F238E27FC236}">
                <a16:creationId xmlns:a16="http://schemas.microsoft.com/office/drawing/2014/main" id="{709C506A-3559-5341-AD39-A2FED8BC6A6C}"/>
              </a:ext>
            </a:extLst>
          </p:cNvPr>
          <p:cNvSpPr>
            <a:spLocks noChangeShapeType="1"/>
          </p:cNvSpPr>
          <p:nvPr/>
        </p:nvSpPr>
        <p:spPr bwMode="auto">
          <a:xfrm>
            <a:off x="6005513" y="5849938"/>
            <a:ext cx="25146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63523" name="Rectangle 36">
            <a:extLst>
              <a:ext uri="{FF2B5EF4-FFF2-40B4-BE49-F238E27FC236}">
                <a16:creationId xmlns:a16="http://schemas.microsoft.com/office/drawing/2014/main" id="{1FB988BB-F774-7347-854C-AE2C9C8434D7}"/>
              </a:ext>
            </a:extLst>
          </p:cNvPr>
          <p:cNvSpPr>
            <a:spLocks noChangeArrowheads="1"/>
          </p:cNvSpPr>
          <p:nvPr/>
        </p:nvSpPr>
        <p:spPr bwMode="auto">
          <a:xfrm>
            <a:off x="5943600" y="1660525"/>
            <a:ext cx="1752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Encephalitis</a:t>
            </a:r>
          </a:p>
        </p:txBody>
      </p:sp>
      <p:sp>
        <p:nvSpPr>
          <p:cNvPr id="63524" name="Rectangle 37">
            <a:extLst>
              <a:ext uri="{FF2B5EF4-FFF2-40B4-BE49-F238E27FC236}">
                <a16:creationId xmlns:a16="http://schemas.microsoft.com/office/drawing/2014/main" id="{46ECCD0E-235F-F142-B477-8F85F134C17C}"/>
              </a:ext>
            </a:extLst>
          </p:cNvPr>
          <p:cNvSpPr>
            <a:spLocks noChangeArrowheads="1"/>
          </p:cNvSpPr>
          <p:nvPr/>
        </p:nvSpPr>
        <p:spPr bwMode="auto">
          <a:xfrm>
            <a:off x="5956300" y="4999039"/>
            <a:ext cx="12319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Encephalitis</a:t>
            </a:r>
          </a:p>
        </p:txBody>
      </p:sp>
      <p:sp>
        <p:nvSpPr>
          <p:cNvPr id="63525" name="Rectangle 38">
            <a:extLst>
              <a:ext uri="{FF2B5EF4-FFF2-40B4-BE49-F238E27FC236}">
                <a16:creationId xmlns:a16="http://schemas.microsoft.com/office/drawing/2014/main" id="{6F2E97A8-9B29-964B-9258-DCC49AE87DAE}"/>
              </a:ext>
            </a:extLst>
          </p:cNvPr>
          <p:cNvSpPr>
            <a:spLocks noChangeArrowheads="1"/>
          </p:cNvSpPr>
          <p:nvPr/>
        </p:nvSpPr>
        <p:spPr bwMode="auto">
          <a:xfrm>
            <a:off x="5943600" y="5562600"/>
            <a:ext cx="1752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Encephalitis</a:t>
            </a:r>
          </a:p>
        </p:txBody>
      </p:sp>
      <p:sp>
        <p:nvSpPr>
          <p:cNvPr id="63526" name="Oval 39">
            <a:extLst>
              <a:ext uri="{FF2B5EF4-FFF2-40B4-BE49-F238E27FC236}">
                <a16:creationId xmlns:a16="http://schemas.microsoft.com/office/drawing/2014/main" id="{3D514A78-B6A3-F34E-BECC-918673B6589D}"/>
              </a:ext>
            </a:extLst>
          </p:cNvPr>
          <p:cNvSpPr>
            <a:spLocks noChangeArrowheads="1"/>
          </p:cNvSpPr>
          <p:nvPr/>
        </p:nvSpPr>
        <p:spPr bwMode="auto">
          <a:xfrm>
            <a:off x="5629276" y="5426075"/>
            <a:ext cx="238125" cy="261938"/>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3527" name="Oval 40">
            <a:extLst>
              <a:ext uri="{FF2B5EF4-FFF2-40B4-BE49-F238E27FC236}">
                <a16:creationId xmlns:a16="http://schemas.microsoft.com/office/drawing/2014/main" id="{3D40454A-967F-3043-9BFC-1B21D3E26F62}"/>
              </a:ext>
            </a:extLst>
          </p:cNvPr>
          <p:cNvSpPr>
            <a:spLocks noChangeArrowheads="1"/>
          </p:cNvSpPr>
          <p:nvPr/>
        </p:nvSpPr>
        <p:spPr bwMode="auto">
          <a:xfrm>
            <a:off x="3963989" y="5729288"/>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3528" name="Freeform 41">
            <a:extLst>
              <a:ext uri="{FF2B5EF4-FFF2-40B4-BE49-F238E27FC236}">
                <a16:creationId xmlns:a16="http://schemas.microsoft.com/office/drawing/2014/main" id="{A3776FD3-7158-A245-8773-FD9F0CA07FEC}"/>
              </a:ext>
            </a:extLst>
          </p:cNvPr>
          <p:cNvSpPr>
            <a:spLocks/>
          </p:cNvSpPr>
          <p:nvPr/>
        </p:nvSpPr>
        <p:spPr bwMode="auto">
          <a:xfrm>
            <a:off x="4114801" y="3276600"/>
            <a:ext cx="371475" cy="533400"/>
          </a:xfrm>
          <a:custGeom>
            <a:avLst/>
            <a:gdLst>
              <a:gd name="T0" fmla="*/ 0 w 14"/>
              <a:gd name="T1" fmla="*/ 2147483647 h 16"/>
              <a:gd name="T2" fmla="*/ 0 w 14"/>
              <a:gd name="T3" fmla="*/ 0 h 16"/>
              <a:gd name="T4" fmla="*/ 2147483647 w 14"/>
              <a:gd name="T5" fmla="*/ 0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16"/>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3529" name="Freeform 42">
            <a:extLst>
              <a:ext uri="{FF2B5EF4-FFF2-40B4-BE49-F238E27FC236}">
                <a16:creationId xmlns:a16="http://schemas.microsoft.com/office/drawing/2014/main" id="{3D81BCE3-21F5-2D4E-A7CF-72937DCCAC1F}"/>
              </a:ext>
            </a:extLst>
          </p:cNvPr>
          <p:cNvSpPr>
            <a:spLocks/>
          </p:cNvSpPr>
          <p:nvPr/>
        </p:nvSpPr>
        <p:spPr bwMode="auto">
          <a:xfrm>
            <a:off x="4114801" y="3962400"/>
            <a:ext cx="295275" cy="533400"/>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3530" name="Oval 43">
            <a:extLst>
              <a:ext uri="{FF2B5EF4-FFF2-40B4-BE49-F238E27FC236}">
                <a16:creationId xmlns:a16="http://schemas.microsoft.com/office/drawing/2014/main" id="{0DB4CE09-6B4E-B940-972B-14FD94ED5103}"/>
              </a:ext>
            </a:extLst>
          </p:cNvPr>
          <p:cNvSpPr>
            <a:spLocks noChangeArrowheads="1"/>
          </p:cNvSpPr>
          <p:nvPr/>
        </p:nvSpPr>
        <p:spPr bwMode="auto">
          <a:xfrm>
            <a:off x="3976689" y="3733800"/>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3531" name="Line 44">
            <a:extLst>
              <a:ext uri="{FF2B5EF4-FFF2-40B4-BE49-F238E27FC236}">
                <a16:creationId xmlns:a16="http://schemas.microsoft.com/office/drawing/2014/main" id="{69BE8778-D857-1441-956C-D69B0E0AC57C}"/>
              </a:ext>
            </a:extLst>
          </p:cNvPr>
          <p:cNvSpPr>
            <a:spLocks noChangeShapeType="1"/>
          </p:cNvSpPr>
          <p:nvPr/>
        </p:nvSpPr>
        <p:spPr bwMode="auto">
          <a:xfrm>
            <a:off x="4419600" y="3276600"/>
            <a:ext cx="7620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63532" name="Line 45">
            <a:extLst>
              <a:ext uri="{FF2B5EF4-FFF2-40B4-BE49-F238E27FC236}">
                <a16:creationId xmlns:a16="http://schemas.microsoft.com/office/drawing/2014/main" id="{339EB171-A8B0-734C-9060-713F9100C454}"/>
              </a:ext>
            </a:extLst>
          </p:cNvPr>
          <p:cNvSpPr>
            <a:spLocks noChangeShapeType="1"/>
          </p:cNvSpPr>
          <p:nvPr/>
        </p:nvSpPr>
        <p:spPr bwMode="auto">
          <a:xfrm>
            <a:off x="4419600" y="4495800"/>
            <a:ext cx="960438"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63533" name="Rectangle 46">
            <a:extLst>
              <a:ext uri="{FF2B5EF4-FFF2-40B4-BE49-F238E27FC236}">
                <a16:creationId xmlns:a16="http://schemas.microsoft.com/office/drawing/2014/main" id="{CBDBF9AF-5042-FE4A-9817-C369D0D3CF4E}"/>
              </a:ext>
            </a:extLst>
          </p:cNvPr>
          <p:cNvSpPr>
            <a:spLocks noChangeArrowheads="1"/>
          </p:cNvSpPr>
          <p:nvPr/>
        </p:nvSpPr>
        <p:spPr bwMode="auto">
          <a:xfrm>
            <a:off x="5486400" y="3124200"/>
            <a:ext cx="14097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Spray</a:t>
            </a:r>
          </a:p>
        </p:txBody>
      </p:sp>
      <p:sp>
        <p:nvSpPr>
          <p:cNvPr id="63534" name="Text Box 47">
            <a:extLst>
              <a:ext uri="{FF2B5EF4-FFF2-40B4-BE49-F238E27FC236}">
                <a16:creationId xmlns:a16="http://schemas.microsoft.com/office/drawing/2014/main" id="{2C3092C4-BCE8-1642-9E10-396B69EF7380}"/>
              </a:ext>
            </a:extLst>
          </p:cNvPr>
          <p:cNvSpPr txBox="1">
            <a:spLocks noChangeArrowheads="1"/>
          </p:cNvSpPr>
          <p:nvPr/>
        </p:nvSpPr>
        <p:spPr bwMode="auto">
          <a:xfrm>
            <a:off x="5638800" y="4191000"/>
            <a:ext cx="990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a:solidFill>
                  <a:srgbClr val="000000"/>
                </a:solidFill>
              </a:rPr>
              <a:t>Don</a:t>
            </a:r>
            <a:r>
              <a:rPr lang="ja-JP" altLang="en-US" sz="1800">
                <a:solidFill>
                  <a:srgbClr val="000000"/>
                </a:solidFill>
              </a:rPr>
              <a:t>’</a:t>
            </a:r>
            <a:r>
              <a:rPr lang="en-US" altLang="ja-JP" sz="1800">
                <a:solidFill>
                  <a:srgbClr val="000000"/>
                </a:solidFill>
              </a:rPr>
              <a:t>t spray</a:t>
            </a:r>
            <a:endParaRPr lang="en-US" altLang="en-MX" sz="1800">
              <a:solidFill>
                <a:srgbClr val="000000"/>
              </a:solidFill>
            </a:endParaRPr>
          </a:p>
        </p:txBody>
      </p:sp>
      <p:sp>
        <p:nvSpPr>
          <p:cNvPr id="63535" name="Line 48">
            <a:extLst>
              <a:ext uri="{FF2B5EF4-FFF2-40B4-BE49-F238E27FC236}">
                <a16:creationId xmlns:a16="http://schemas.microsoft.com/office/drawing/2014/main" id="{9E3152A2-FE8A-F949-B7DB-06FD9907BA1C}"/>
              </a:ext>
            </a:extLst>
          </p:cNvPr>
          <p:cNvSpPr>
            <a:spLocks noChangeShapeType="1"/>
          </p:cNvSpPr>
          <p:nvPr/>
        </p:nvSpPr>
        <p:spPr bwMode="auto">
          <a:xfrm>
            <a:off x="8915400" y="19050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63536" name="Line 49">
            <a:extLst>
              <a:ext uri="{FF2B5EF4-FFF2-40B4-BE49-F238E27FC236}">
                <a16:creationId xmlns:a16="http://schemas.microsoft.com/office/drawing/2014/main" id="{2424C42B-126A-C14A-9230-2BECB10C3CB9}"/>
              </a:ext>
            </a:extLst>
          </p:cNvPr>
          <p:cNvSpPr>
            <a:spLocks noChangeShapeType="1"/>
          </p:cNvSpPr>
          <p:nvPr/>
        </p:nvSpPr>
        <p:spPr bwMode="auto">
          <a:xfrm>
            <a:off x="8915400" y="22860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63537" name="Line 50">
            <a:extLst>
              <a:ext uri="{FF2B5EF4-FFF2-40B4-BE49-F238E27FC236}">
                <a16:creationId xmlns:a16="http://schemas.microsoft.com/office/drawing/2014/main" id="{947E6B0C-B159-F043-904D-50156C7127A5}"/>
              </a:ext>
            </a:extLst>
          </p:cNvPr>
          <p:cNvSpPr>
            <a:spLocks noChangeShapeType="1"/>
          </p:cNvSpPr>
          <p:nvPr/>
        </p:nvSpPr>
        <p:spPr bwMode="auto">
          <a:xfrm>
            <a:off x="8915400" y="29718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63538" name="Line 51">
            <a:extLst>
              <a:ext uri="{FF2B5EF4-FFF2-40B4-BE49-F238E27FC236}">
                <a16:creationId xmlns:a16="http://schemas.microsoft.com/office/drawing/2014/main" id="{B9872958-B15C-704B-8A5F-B661EE5597EA}"/>
              </a:ext>
            </a:extLst>
          </p:cNvPr>
          <p:cNvSpPr>
            <a:spLocks noChangeShapeType="1"/>
          </p:cNvSpPr>
          <p:nvPr/>
        </p:nvSpPr>
        <p:spPr bwMode="auto">
          <a:xfrm>
            <a:off x="8915400" y="35814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63539" name="Line 52">
            <a:extLst>
              <a:ext uri="{FF2B5EF4-FFF2-40B4-BE49-F238E27FC236}">
                <a16:creationId xmlns:a16="http://schemas.microsoft.com/office/drawing/2014/main" id="{CFDBD008-07D5-3744-AF00-FA504B437ADD}"/>
              </a:ext>
            </a:extLst>
          </p:cNvPr>
          <p:cNvSpPr>
            <a:spLocks noChangeShapeType="1"/>
          </p:cNvSpPr>
          <p:nvPr/>
        </p:nvSpPr>
        <p:spPr bwMode="auto">
          <a:xfrm>
            <a:off x="8915400" y="43434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63540" name="Line 53">
            <a:extLst>
              <a:ext uri="{FF2B5EF4-FFF2-40B4-BE49-F238E27FC236}">
                <a16:creationId xmlns:a16="http://schemas.microsoft.com/office/drawing/2014/main" id="{5B885B3C-3270-3D44-87F6-BAAA0C948710}"/>
              </a:ext>
            </a:extLst>
          </p:cNvPr>
          <p:cNvSpPr>
            <a:spLocks noChangeShapeType="1"/>
          </p:cNvSpPr>
          <p:nvPr/>
        </p:nvSpPr>
        <p:spPr bwMode="auto">
          <a:xfrm>
            <a:off x="8915400" y="48006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63541" name="Line 54">
            <a:extLst>
              <a:ext uri="{FF2B5EF4-FFF2-40B4-BE49-F238E27FC236}">
                <a16:creationId xmlns:a16="http://schemas.microsoft.com/office/drawing/2014/main" id="{9629BE61-3210-4542-A923-491E3799D6D2}"/>
              </a:ext>
            </a:extLst>
          </p:cNvPr>
          <p:cNvSpPr>
            <a:spLocks noChangeShapeType="1"/>
          </p:cNvSpPr>
          <p:nvPr/>
        </p:nvSpPr>
        <p:spPr bwMode="auto">
          <a:xfrm>
            <a:off x="8915400" y="53340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63542" name="Line 55">
            <a:extLst>
              <a:ext uri="{FF2B5EF4-FFF2-40B4-BE49-F238E27FC236}">
                <a16:creationId xmlns:a16="http://schemas.microsoft.com/office/drawing/2014/main" id="{0A2243D5-07CD-3E45-AC1D-C5D6D8D802C3}"/>
              </a:ext>
            </a:extLst>
          </p:cNvPr>
          <p:cNvSpPr>
            <a:spLocks noChangeShapeType="1"/>
          </p:cNvSpPr>
          <p:nvPr/>
        </p:nvSpPr>
        <p:spPr bwMode="auto">
          <a:xfrm>
            <a:off x="8915400" y="57912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63543" name="Line 56">
            <a:extLst>
              <a:ext uri="{FF2B5EF4-FFF2-40B4-BE49-F238E27FC236}">
                <a16:creationId xmlns:a16="http://schemas.microsoft.com/office/drawing/2014/main" id="{4896FBAC-45B6-DD4A-84EB-05F679B8ED56}"/>
              </a:ext>
            </a:extLst>
          </p:cNvPr>
          <p:cNvSpPr>
            <a:spLocks noChangeShapeType="1"/>
          </p:cNvSpPr>
          <p:nvPr/>
        </p:nvSpPr>
        <p:spPr bwMode="auto">
          <a:xfrm>
            <a:off x="8915400" y="63246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63544" name="Rectangle 57">
            <a:extLst>
              <a:ext uri="{FF2B5EF4-FFF2-40B4-BE49-F238E27FC236}">
                <a16:creationId xmlns:a16="http://schemas.microsoft.com/office/drawing/2014/main" id="{7B86594E-AA66-5441-B0A3-DA0B639DB58B}"/>
              </a:ext>
            </a:extLst>
          </p:cNvPr>
          <p:cNvSpPr>
            <a:spLocks noChangeArrowheads="1"/>
          </p:cNvSpPr>
          <p:nvPr/>
        </p:nvSpPr>
        <p:spPr bwMode="auto">
          <a:xfrm>
            <a:off x="4191000" y="2895601"/>
            <a:ext cx="117981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ja-JP" altLang="en-US" sz="1800">
                <a:solidFill>
                  <a:srgbClr val="000000"/>
                </a:solidFill>
              </a:rPr>
              <a:t>“</a:t>
            </a:r>
            <a:r>
              <a:rPr lang="en-US" altLang="ja-JP" sz="1800">
                <a:solidFill>
                  <a:srgbClr val="000000"/>
                </a:solidFill>
              </a:rPr>
              <a:t>Outbreak</a:t>
            </a:r>
            <a:r>
              <a:rPr lang="ja-JP" altLang="en-US" sz="1800">
                <a:solidFill>
                  <a:srgbClr val="000000"/>
                </a:solidFill>
              </a:rPr>
              <a:t>”</a:t>
            </a:r>
            <a:endParaRPr lang="en-US" altLang="en-MX" sz="1800">
              <a:solidFill>
                <a:srgbClr val="000000"/>
              </a:solidFill>
            </a:endParaRPr>
          </a:p>
        </p:txBody>
      </p:sp>
      <p:sp>
        <p:nvSpPr>
          <p:cNvPr id="63545" name="Rectangle 58">
            <a:extLst>
              <a:ext uri="{FF2B5EF4-FFF2-40B4-BE49-F238E27FC236}">
                <a16:creationId xmlns:a16="http://schemas.microsoft.com/office/drawing/2014/main" id="{CE8F69D5-65D2-C045-A755-0F54EA9B5943}"/>
              </a:ext>
            </a:extLst>
          </p:cNvPr>
          <p:cNvSpPr>
            <a:spLocks noChangeArrowheads="1"/>
          </p:cNvSpPr>
          <p:nvPr/>
        </p:nvSpPr>
        <p:spPr bwMode="auto">
          <a:xfrm>
            <a:off x="4191000" y="3962401"/>
            <a:ext cx="10668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ja-JP" altLang="en-US" sz="1800">
                <a:solidFill>
                  <a:srgbClr val="000000"/>
                </a:solidFill>
              </a:rPr>
              <a:t>“</a:t>
            </a:r>
            <a:r>
              <a:rPr lang="en-US" altLang="ja-JP" sz="1800">
                <a:solidFill>
                  <a:srgbClr val="000000"/>
                </a:solidFill>
              </a:rPr>
              <a:t>No</a:t>
            </a:r>
          </a:p>
          <a:p>
            <a:r>
              <a:rPr lang="en-US" altLang="en-MX" sz="1800">
                <a:solidFill>
                  <a:srgbClr val="000000"/>
                </a:solidFill>
              </a:rPr>
              <a:t>Outbreak</a:t>
            </a:r>
            <a:r>
              <a:rPr lang="ja-JP" altLang="en-US" sz="1800">
                <a:solidFill>
                  <a:srgbClr val="000000"/>
                </a:solidFill>
              </a:rPr>
              <a:t>”</a:t>
            </a:r>
            <a:endParaRPr lang="en-US" altLang="en-MX" sz="1800">
              <a:solidFill>
                <a:srgbClr val="000000"/>
              </a:solidFill>
            </a:endParaRPr>
          </a:p>
        </p:txBody>
      </p:sp>
      <p:sp>
        <p:nvSpPr>
          <p:cNvPr id="63546" name="AutoShape 59">
            <a:extLst>
              <a:ext uri="{FF2B5EF4-FFF2-40B4-BE49-F238E27FC236}">
                <a16:creationId xmlns:a16="http://schemas.microsoft.com/office/drawing/2014/main" id="{808EA919-AF7A-8946-8EE5-3D4E7F713017}"/>
              </a:ext>
            </a:extLst>
          </p:cNvPr>
          <p:cNvSpPr>
            <a:spLocks noChangeArrowheads="1"/>
          </p:cNvSpPr>
          <p:nvPr/>
        </p:nvSpPr>
        <p:spPr bwMode="auto">
          <a:xfrm>
            <a:off x="5105400" y="3124200"/>
            <a:ext cx="304800" cy="304800"/>
          </a:xfrm>
          <a:prstGeom prst="rightArrow">
            <a:avLst>
              <a:gd name="adj1" fmla="val 50000"/>
              <a:gd name="adj2" fmla="val 25000"/>
            </a:avLst>
          </a:prstGeom>
          <a:solidFill>
            <a:srgbClr val="990033"/>
          </a:solidFill>
          <a:ln w="12700">
            <a:solidFill>
              <a:srgbClr val="00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3547" name="AutoShape 60">
            <a:extLst>
              <a:ext uri="{FF2B5EF4-FFF2-40B4-BE49-F238E27FC236}">
                <a16:creationId xmlns:a16="http://schemas.microsoft.com/office/drawing/2014/main" id="{D8808A4E-6CEB-1241-8F5A-483499F242F9}"/>
              </a:ext>
            </a:extLst>
          </p:cNvPr>
          <p:cNvSpPr>
            <a:spLocks noChangeArrowheads="1"/>
          </p:cNvSpPr>
          <p:nvPr/>
        </p:nvSpPr>
        <p:spPr bwMode="auto">
          <a:xfrm>
            <a:off x="5334000" y="4343400"/>
            <a:ext cx="304800" cy="304800"/>
          </a:xfrm>
          <a:prstGeom prst="rightArrow">
            <a:avLst>
              <a:gd name="adj1" fmla="val 50000"/>
              <a:gd name="adj2" fmla="val 25000"/>
            </a:avLst>
          </a:prstGeom>
          <a:solidFill>
            <a:srgbClr val="990033"/>
          </a:solidFill>
          <a:ln w="12700">
            <a:solidFill>
              <a:srgbClr val="00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3548" name="Freeform 61">
            <a:extLst>
              <a:ext uri="{FF2B5EF4-FFF2-40B4-BE49-F238E27FC236}">
                <a16:creationId xmlns:a16="http://schemas.microsoft.com/office/drawing/2014/main" id="{3F66D258-AD10-554C-BA18-4D43555FE738}"/>
              </a:ext>
            </a:extLst>
          </p:cNvPr>
          <p:cNvSpPr>
            <a:spLocks/>
          </p:cNvSpPr>
          <p:nvPr/>
        </p:nvSpPr>
        <p:spPr bwMode="auto">
          <a:xfrm>
            <a:off x="6235700" y="2971801"/>
            <a:ext cx="2451100" cy="396875"/>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3549" name="Freeform 62">
            <a:extLst>
              <a:ext uri="{FF2B5EF4-FFF2-40B4-BE49-F238E27FC236}">
                <a16:creationId xmlns:a16="http://schemas.microsoft.com/office/drawing/2014/main" id="{ECE7EF6F-D569-F744-850E-6B62451E42D3}"/>
              </a:ext>
            </a:extLst>
          </p:cNvPr>
          <p:cNvSpPr>
            <a:spLocks/>
          </p:cNvSpPr>
          <p:nvPr/>
        </p:nvSpPr>
        <p:spPr bwMode="auto">
          <a:xfrm>
            <a:off x="6235700" y="3249614"/>
            <a:ext cx="2374900" cy="331787"/>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3550" name="Rectangle 63">
            <a:extLst>
              <a:ext uri="{FF2B5EF4-FFF2-40B4-BE49-F238E27FC236}">
                <a16:creationId xmlns:a16="http://schemas.microsoft.com/office/drawing/2014/main" id="{B94A3D4F-6BC6-4244-BA6C-3853951EFD49}"/>
              </a:ext>
            </a:extLst>
          </p:cNvPr>
          <p:cNvSpPr>
            <a:spLocks noChangeArrowheads="1"/>
          </p:cNvSpPr>
          <p:nvPr/>
        </p:nvSpPr>
        <p:spPr bwMode="auto">
          <a:xfrm>
            <a:off x="6535738" y="2682875"/>
            <a:ext cx="12319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Encephalitis</a:t>
            </a:r>
          </a:p>
        </p:txBody>
      </p:sp>
      <p:sp>
        <p:nvSpPr>
          <p:cNvPr id="63551" name="Rectangle 64">
            <a:extLst>
              <a:ext uri="{FF2B5EF4-FFF2-40B4-BE49-F238E27FC236}">
                <a16:creationId xmlns:a16="http://schemas.microsoft.com/office/drawing/2014/main" id="{616E2362-7E5A-0E49-840D-EB2DC79B7E5B}"/>
              </a:ext>
            </a:extLst>
          </p:cNvPr>
          <p:cNvSpPr>
            <a:spLocks noChangeArrowheads="1"/>
          </p:cNvSpPr>
          <p:nvPr/>
        </p:nvSpPr>
        <p:spPr bwMode="auto">
          <a:xfrm>
            <a:off x="6477000" y="3276600"/>
            <a:ext cx="1752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Encephalitis</a:t>
            </a:r>
          </a:p>
        </p:txBody>
      </p:sp>
      <p:sp>
        <p:nvSpPr>
          <p:cNvPr id="63552" name="Oval 65">
            <a:extLst>
              <a:ext uri="{FF2B5EF4-FFF2-40B4-BE49-F238E27FC236}">
                <a16:creationId xmlns:a16="http://schemas.microsoft.com/office/drawing/2014/main" id="{C782D877-F37E-0E4E-ACC0-3C5CE5506CDB}"/>
              </a:ext>
            </a:extLst>
          </p:cNvPr>
          <p:cNvSpPr>
            <a:spLocks noChangeArrowheads="1"/>
          </p:cNvSpPr>
          <p:nvPr/>
        </p:nvSpPr>
        <p:spPr bwMode="auto">
          <a:xfrm>
            <a:off x="6172201" y="3124200"/>
            <a:ext cx="238125" cy="261938"/>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3553" name="Freeform 66">
            <a:extLst>
              <a:ext uri="{FF2B5EF4-FFF2-40B4-BE49-F238E27FC236}">
                <a16:creationId xmlns:a16="http://schemas.microsoft.com/office/drawing/2014/main" id="{C8F6A6E6-91AE-8345-8E41-34EB7EF3EF83}"/>
              </a:ext>
            </a:extLst>
          </p:cNvPr>
          <p:cNvSpPr>
            <a:spLocks/>
          </p:cNvSpPr>
          <p:nvPr/>
        </p:nvSpPr>
        <p:spPr bwMode="auto">
          <a:xfrm>
            <a:off x="6540500" y="4251326"/>
            <a:ext cx="2146300" cy="396875"/>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3554" name="Freeform 67">
            <a:extLst>
              <a:ext uri="{FF2B5EF4-FFF2-40B4-BE49-F238E27FC236}">
                <a16:creationId xmlns:a16="http://schemas.microsoft.com/office/drawing/2014/main" id="{C3E26322-4809-5445-AA24-F001A2DD605A}"/>
              </a:ext>
            </a:extLst>
          </p:cNvPr>
          <p:cNvSpPr>
            <a:spLocks/>
          </p:cNvSpPr>
          <p:nvPr/>
        </p:nvSpPr>
        <p:spPr bwMode="auto">
          <a:xfrm>
            <a:off x="6540500" y="4529139"/>
            <a:ext cx="2070100" cy="331787"/>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3555" name="Rectangle 68">
            <a:extLst>
              <a:ext uri="{FF2B5EF4-FFF2-40B4-BE49-F238E27FC236}">
                <a16:creationId xmlns:a16="http://schemas.microsoft.com/office/drawing/2014/main" id="{C6ACD106-74B5-7640-A442-2B017DA2E68C}"/>
              </a:ext>
            </a:extLst>
          </p:cNvPr>
          <p:cNvSpPr>
            <a:spLocks noChangeArrowheads="1"/>
          </p:cNvSpPr>
          <p:nvPr/>
        </p:nvSpPr>
        <p:spPr bwMode="auto">
          <a:xfrm>
            <a:off x="6840538" y="3962400"/>
            <a:ext cx="12319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Encephalitis</a:t>
            </a:r>
          </a:p>
        </p:txBody>
      </p:sp>
      <p:sp>
        <p:nvSpPr>
          <p:cNvPr id="63556" name="Rectangle 69">
            <a:extLst>
              <a:ext uri="{FF2B5EF4-FFF2-40B4-BE49-F238E27FC236}">
                <a16:creationId xmlns:a16="http://schemas.microsoft.com/office/drawing/2014/main" id="{488BE7AC-B44E-E540-AC0B-7463D5BA2EC3}"/>
              </a:ext>
            </a:extLst>
          </p:cNvPr>
          <p:cNvSpPr>
            <a:spLocks noChangeArrowheads="1"/>
          </p:cNvSpPr>
          <p:nvPr/>
        </p:nvSpPr>
        <p:spPr bwMode="auto">
          <a:xfrm>
            <a:off x="6781800" y="4556125"/>
            <a:ext cx="1752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Encephalitis</a:t>
            </a:r>
          </a:p>
        </p:txBody>
      </p:sp>
      <p:sp>
        <p:nvSpPr>
          <p:cNvPr id="63557" name="Oval 70">
            <a:extLst>
              <a:ext uri="{FF2B5EF4-FFF2-40B4-BE49-F238E27FC236}">
                <a16:creationId xmlns:a16="http://schemas.microsoft.com/office/drawing/2014/main" id="{9BF80379-8277-D741-A09C-44C66A1B1938}"/>
              </a:ext>
            </a:extLst>
          </p:cNvPr>
          <p:cNvSpPr>
            <a:spLocks noChangeArrowheads="1"/>
          </p:cNvSpPr>
          <p:nvPr/>
        </p:nvSpPr>
        <p:spPr bwMode="auto">
          <a:xfrm>
            <a:off x="6467476" y="4403725"/>
            <a:ext cx="238125" cy="261938"/>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3558" name="AutoShape 71">
            <a:extLst>
              <a:ext uri="{FF2B5EF4-FFF2-40B4-BE49-F238E27FC236}">
                <a16:creationId xmlns:a16="http://schemas.microsoft.com/office/drawing/2014/main" id="{E219CA04-CC1F-9D45-A5B1-BDE7BFA3A34A}"/>
              </a:ext>
            </a:extLst>
          </p:cNvPr>
          <p:cNvSpPr>
            <a:spLocks noChangeArrowheads="1"/>
          </p:cNvSpPr>
          <p:nvPr/>
        </p:nvSpPr>
        <p:spPr bwMode="auto">
          <a:xfrm>
            <a:off x="8534400" y="12192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3559" name="AutoShape 72">
            <a:extLst>
              <a:ext uri="{FF2B5EF4-FFF2-40B4-BE49-F238E27FC236}">
                <a16:creationId xmlns:a16="http://schemas.microsoft.com/office/drawing/2014/main" id="{40C72582-68C9-814E-BF96-5D8AAE4B6D5B}"/>
              </a:ext>
            </a:extLst>
          </p:cNvPr>
          <p:cNvSpPr>
            <a:spLocks noChangeArrowheads="1"/>
          </p:cNvSpPr>
          <p:nvPr/>
        </p:nvSpPr>
        <p:spPr bwMode="auto">
          <a:xfrm>
            <a:off x="8534400" y="16764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3560" name="AutoShape 73">
            <a:extLst>
              <a:ext uri="{FF2B5EF4-FFF2-40B4-BE49-F238E27FC236}">
                <a16:creationId xmlns:a16="http://schemas.microsoft.com/office/drawing/2014/main" id="{DE8A778A-62AD-8544-B6A9-8DF448309B32}"/>
              </a:ext>
            </a:extLst>
          </p:cNvPr>
          <p:cNvSpPr>
            <a:spLocks noChangeArrowheads="1"/>
          </p:cNvSpPr>
          <p:nvPr/>
        </p:nvSpPr>
        <p:spPr bwMode="auto">
          <a:xfrm>
            <a:off x="8534400" y="20574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3561" name="AutoShape 74">
            <a:extLst>
              <a:ext uri="{FF2B5EF4-FFF2-40B4-BE49-F238E27FC236}">
                <a16:creationId xmlns:a16="http://schemas.microsoft.com/office/drawing/2014/main" id="{F670C318-8C62-DF4F-9375-E0FB7AC3827A}"/>
              </a:ext>
            </a:extLst>
          </p:cNvPr>
          <p:cNvSpPr>
            <a:spLocks noChangeArrowheads="1"/>
          </p:cNvSpPr>
          <p:nvPr/>
        </p:nvSpPr>
        <p:spPr bwMode="auto">
          <a:xfrm>
            <a:off x="8534400" y="33528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3562" name="AutoShape 75">
            <a:extLst>
              <a:ext uri="{FF2B5EF4-FFF2-40B4-BE49-F238E27FC236}">
                <a16:creationId xmlns:a16="http://schemas.microsoft.com/office/drawing/2014/main" id="{8C959C29-F7F5-A948-ADF7-6EB71C89BFC8}"/>
              </a:ext>
            </a:extLst>
          </p:cNvPr>
          <p:cNvSpPr>
            <a:spLocks noChangeArrowheads="1"/>
          </p:cNvSpPr>
          <p:nvPr/>
        </p:nvSpPr>
        <p:spPr bwMode="auto">
          <a:xfrm>
            <a:off x="8534400" y="28194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3563" name="AutoShape 76">
            <a:extLst>
              <a:ext uri="{FF2B5EF4-FFF2-40B4-BE49-F238E27FC236}">
                <a16:creationId xmlns:a16="http://schemas.microsoft.com/office/drawing/2014/main" id="{4C51B70C-0D2B-8348-94AD-7671425F77E6}"/>
              </a:ext>
            </a:extLst>
          </p:cNvPr>
          <p:cNvSpPr>
            <a:spLocks noChangeArrowheads="1"/>
          </p:cNvSpPr>
          <p:nvPr/>
        </p:nvSpPr>
        <p:spPr bwMode="auto">
          <a:xfrm>
            <a:off x="8547100" y="5121275"/>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3564" name="AutoShape 77">
            <a:extLst>
              <a:ext uri="{FF2B5EF4-FFF2-40B4-BE49-F238E27FC236}">
                <a16:creationId xmlns:a16="http://schemas.microsoft.com/office/drawing/2014/main" id="{46D87BD1-92DF-A147-B876-1F43E9A1112F}"/>
              </a:ext>
            </a:extLst>
          </p:cNvPr>
          <p:cNvSpPr>
            <a:spLocks noChangeArrowheads="1"/>
          </p:cNvSpPr>
          <p:nvPr/>
        </p:nvSpPr>
        <p:spPr bwMode="auto">
          <a:xfrm>
            <a:off x="8547100" y="5578475"/>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3565" name="AutoShape 78">
            <a:extLst>
              <a:ext uri="{FF2B5EF4-FFF2-40B4-BE49-F238E27FC236}">
                <a16:creationId xmlns:a16="http://schemas.microsoft.com/office/drawing/2014/main" id="{DCC16379-9111-1948-BA83-50ADF7122D89}"/>
              </a:ext>
            </a:extLst>
          </p:cNvPr>
          <p:cNvSpPr>
            <a:spLocks noChangeArrowheads="1"/>
          </p:cNvSpPr>
          <p:nvPr/>
        </p:nvSpPr>
        <p:spPr bwMode="auto">
          <a:xfrm>
            <a:off x="8534400" y="6065838"/>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3566" name="AutoShape 79">
            <a:extLst>
              <a:ext uri="{FF2B5EF4-FFF2-40B4-BE49-F238E27FC236}">
                <a16:creationId xmlns:a16="http://schemas.microsoft.com/office/drawing/2014/main" id="{127273E0-16C5-804C-8708-7D33CA40E40C}"/>
              </a:ext>
            </a:extLst>
          </p:cNvPr>
          <p:cNvSpPr>
            <a:spLocks noChangeArrowheads="1"/>
          </p:cNvSpPr>
          <p:nvPr/>
        </p:nvSpPr>
        <p:spPr bwMode="auto">
          <a:xfrm>
            <a:off x="8547100" y="41148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3567" name="AutoShape 80">
            <a:extLst>
              <a:ext uri="{FF2B5EF4-FFF2-40B4-BE49-F238E27FC236}">
                <a16:creationId xmlns:a16="http://schemas.microsoft.com/office/drawing/2014/main" id="{F04BF47B-4F57-8F42-8C87-5C72ADBD905A}"/>
              </a:ext>
            </a:extLst>
          </p:cNvPr>
          <p:cNvSpPr>
            <a:spLocks noChangeArrowheads="1"/>
          </p:cNvSpPr>
          <p:nvPr/>
        </p:nvSpPr>
        <p:spPr bwMode="auto">
          <a:xfrm>
            <a:off x="8547100" y="45720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3568" name="Text Box 81">
            <a:extLst>
              <a:ext uri="{FF2B5EF4-FFF2-40B4-BE49-F238E27FC236}">
                <a16:creationId xmlns:a16="http://schemas.microsoft.com/office/drawing/2014/main" id="{1A3047FF-8E7F-1C4B-B74B-3977ADBD6BF0}"/>
              </a:ext>
            </a:extLst>
          </p:cNvPr>
          <p:cNvSpPr txBox="1">
            <a:spLocks noChangeArrowheads="1"/>
          </p:cNvSpPr>
          <p:nvPr/>
        </p:nvSpPr>
        <p:spPr bwMode="auto">
          <a:xfrm>
            <a:off x="4343400" y="164465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0.20</a:t>
            </a:r>
          </a:p>
        </p:txBody>
      </p:sp>
      <p:sp>
        <p:nvSpPr>
          <p:cNvPr id="63569" name="Text Box 82">
            <a:extLst>
              <a:ext uri="{FF2B5EF4-FFF2-40B4-BE49-F238E27FC236}">
                <a16:creationId xmlns:a16="http://schemas.microsoft.com/office/drawing/2014/main" id="{0849866B-1472-C54C-B053-E751D4B8F25E}"/>
              </a:ext>
            </a:extLst>
          </p:cNvPr>
          <p:cNvSpPr txBox="1">
            <a:spLocks noChangeArrowheads="1"/>
          </p:cNvSpPr>
          <p:nvPr/>
        </p:nvSpPr>
        <p:spPr bwMode="auto">
          <a:xfrm>
            <a:off x="4343400" y="228600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0.80</a:t>
            </a:r>
          </a:p>
        </p:txBody>
      </p:sp>
      <p:sp>
        <p:nvSpPr>
          <p:cNvPr id="63570" name="Text Box 83">
            <a:extLst>
              <a:ext uri="{FF2B5EF4-FFF2-40B4-BE49-F238E27FC236}">
                <a16:creationId xmlns:a16="http://schemas.microsoft.com/office/drawing/2014/main" id="{592D8E76-D2CB-5844-92F6-DCB3CA5752E6}"/>
              </a:ext>
            </a:extLst>
          </p:cNvPr>
          <p:cNvSpPr txBox="1">
            <a:spLocks noChangeArrowheads="1"/>
          </p:cNvSpPr>
          <p:nvPr/>
        </p:nvSpPr>
        <p:spPr bwMode="auto">
          <a:xfrm>
            <a:off x="6019800" y="133985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0.001</a:t>
            </a:r>
          </a:p>
        </p:txBody>
      </p:sp>
      <p:sp>
        <p:nvSpPr>
          <p:cNvPr id="63571" name="Text Box 84">
            <a:extLst>
              <a:ext uri="{FF2B5EF4-FFF2-40B4-BE49-F238E27FC236}">
                <a16:creationId xmlns:a16="http://schemas.microsoft.com/office/drawing/2014/main" id="{1A28F6CD-788E-6A48-B486-62EAEBA2DBA5}"/>
              </a:ext>
            </a:extLst>
          </p:cNvPr>
          <p:cNvSpPr txBox="1">
            <a:spLocks noChangeArrowheads="1"/>
          </p:cNvSpPr>
          <p:nvPr/>
        </p:nvSpPr>
        <p:spPr bwMode="auto">
          <a:xfrm>
            <a:off x="6019800" y="194945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0.999</a:t>
            </a:r>
          </a:p>
        </p:txBody>
      </p:sp>
      <p:sp>
        <p:nvSpPr>
          <p:cNvPr id="63572" name="Text Box 85">
            <a:extLst>
              <a:ext uri="{FF2B5EF4-FFF2-40B4-BE49-F238E27FC236}">
                <a16:creationId xmlns:a16="http://schemas.microsoft.com/office/drawing/2014/main" id="{24E1E10F-6ABC-FB4F-90B7-E5A8C2B3C181}"/>
              </a:ext>
            </a:extLst>
          </p:cNvPr>
          <p:cNvSpPr txBox="1">
            <a:spLocks noChangeArrowheads="1"/>
          </p:cNvSpPr>
          <p:nvPr/>
        </p:nvSpPr>
        <p:spPr bwMode="auto">
          <a:xfrm>
            <a:off x="4419600" y="556260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0.20</a:t>
            </a:r>
          </a:p>
        </p:txBody>
      </p:sp>
      <p:sp>
        <p:nvSpPr>
          <p:cNvPr id="63573" name="Text Box 86">
            <a:extLst>
              <a:ext uri="{FF2B5EF4-FFF2-40B4-BE49-F238E27FC236}">
                <a16:creationId xmlns:a16="http://schemas.microsoft.com/office/drawing/2014/main" id="{24B039E7-FEA3-024B-8E6D-7121D25EA1D0}"/>
              </a:ext>
            </a:extLst>
          </p:cNvPr>
          <p:cNvSpPr txBox="1">
            <a:spLocks noChangeArrowheads="1"/>
          </p:cNvSpPr>
          <p:nvPr/>
        </p:nvSpPr>
        <p:spPr bwMode="auto">
          <a:xfrm>
            <a:off x="4419600" y="629285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0.80</a:t>
            </a:r>
          </a:p>
        </p:txBody>
      </p:sp>
      <p:sp>
        <p:nvSpPr>
          <p:cNvPr id="63574" name="Text Box 87">
            <a:extLst>
              <a:ext uri="{FF2B5EF4-FFF2-40B4-BE49-F238E27FC236}">
                <a16:creationId xmlns:a16="http://schemas.microsoft.com/office/drawing/2014/main" id="{1F79078D-4654-214E-B6B0-916F7FCC3966}"/>
              </a:ext>
            </a:extLst>
          </p:cNvPr>
          <p:cNvSpPr txBox="1">
            <a:spLocks noChangeArrowheads="1"/>
          </p:cNvSpPr>
          <p:nvPr/>
        </p:nvSpPr>
        <p:spPr bwMode="auto">
          <a:xfrm>
            <a:off x="6019800" y="525780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0.02</a:t>
            </a:r>
          </a:p>
        </p:txBody>
      </p:sp>
      <p:sp>
        <p:nvSpPr>
          <p:cNvPr id="63575" name="Text Box 88">
            <a:extLst>
              <a:ext uri="{FF2B5EF4-FFF2-40B4-BE49-F238E27FC236}">
                <a16:creationId xmlns:a16="http://schemas.microsoft.com/office/drawing/2014/main" id="{C5A9BD8A-39AB-0F41-ADBF-101A4E158035}"/>
              </a:ext>
            </a:extLst>
          </p:cNvPr>
          <p:cNvSpPr txBox="1">
            <a:spLocks noChangeArrowheads="1"/>
          </p:cNvSpPr>
          <p:nvPr/>
        </p:nvSpPr>
        <p:spPr bwMode="auto">
          <a:xfrm>
            <a:off x="6019800" y="583565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0.98</a:t>
            </a:r>
          </a:p>
        </p:txBody>
      </p:sp>
      <p:sp>
        <p:nvSpPr>
          <p:cNvPr id="63576" name="Text Box 89">
            <a:extLst>
              <a:ext uri="{FF2B5EF4-FFF2-40B4-BE49-F238E27FC236}">
                <a16:creationId xmlns:a16="http://schemas.microsoft.com/office/drawing/2014/main" id="{223E9E1C-4174-0943-AB83-4409D15255EA}"/>
              </a:ext>
            </a:extLst>
          </p:cNvPr>
          <p:cNvSpPr txBox="1">
            <a:spLocks noChangeArrowheads="1"/>
          </p:cNvSpPr>
          <p:nvPr/>
        </p:nvSpPr>
        <p:spPr bwMode="auto">
          <a:xfrm>
            <a:off x="4343400" y="327660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0.20</a:t>
            </a:r>
          </a:p>
        </p:txBody>
      </p:sp>
      <p:sp>
        <p:nvSpPr>
          <p:cNvPr id="63577" name="Text Box 90">
            <a:extLst>
              <a:ext uri="{FF2B5EF4-FFF2-40B4-BE49-F238E27FC236}">
                <a16:creationId xmlns:a16="http://schemas.microsoft.com/office/drawing/2014/main" id="{7FEEEC9F-EE59-974E-B1D7-D7A313914E7D}"/>
              </a:ext>
            </a:extLst>
          </p:cNvPr>
          <p:cNvSpPr txBox="1">
            <a:spLocks noChangeArrowheads="1"/>
          </p:cNvSpPr>
          <p:nvPr/>
        </p:nvSpPr>
        <p:spPr bwMode="auto">
          <a:xfrm>
            <a:off x="4343400" y="446405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0.80</a:t>
            </a:r>
          </a:p>
        </p:txBody>
      </p:sp>
      <p:sp>
        <p:nvSpPr>
          <p:cNvPr id="63578" name="Text Box 91">
            <a:extLst>
              <a:ext uri="{FF2B5EF4-FFF2-40B4-BE49-F238E27FC236}">
                <a16:creationId xmlns:a16="http://schemas.microsoft.com/office/drawing/2014/main" id="{DD8F22DD-5202-494F-8BBF-CA24B76A88C5}"/>
              </a:ext>
            </a:extLst>
          </p:cNvPr>
          <p:cNvSpPr txBox="1">
            <a:spLocks noChangeArrowheads="1"/>
          </p:cNvSpPr>
          <p:nvPr/>
        </p:nvSpPr>
        <p:spPr bwMode="auto">
          <a:xfrm>
            <a:off x="6629400" y="297180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0.01</a:t>
            </a:r>
          </a:p>
        </p:txBody>
      </p:sp>
      <p:sp>
        <p:nvSpPr>
          <p:cNvPr id="63579" name="Text Box 92">
            <a:extLst>
              <a:ext uri="{FF2B5EF4-FFF2-40B4-BE49-F238E27FC236}">
                <a16:creationId xmlns:a16="http://schemas.microsoft.com/office/drawing/2014/main" id="{D1E8B905-CBDF-EA42-8C38-C62CEADE62CD}"/>
              </a:ext>
            </a:extLst>
          </p:cNvPr>
          <p:cNvSpPr txBox="1">
            <a:spLocks noChangeArrowheads="1"/>
          </p:cNvSpPr>
          <p:nvPr/>
        </p:nvSpPr>
        <p:spPr bwMode="auto">
          <a:xfrm>
            <a:off x="6629400" y="358140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0.99</a:t>
            </a:r>
          </a:p>
        </p:txBody>
      </p:sp>
      <p:sp>
        <p:nvSpPr>
          <p:cNvPr id="63580" name="Text Box 93">
            <a:extLst>
              <a:ext uri="{FF2B5EF4-FFF2-40B4-BE49-F238E27FC236}">
                <a16:creationId xmlns:a16="http://schemas.microsoft.com/office/drawing/2014/main" id="{CC2D999F-5785-8140-B157-9E93E6B4D487}"/>
              </a:ext>
            </a:extLst>
          </p:cNvPr>
          <p:cNvSpPr txBox="1">
            <a:spLocks noChangeArrowheads="1"/>
          </p:cNvSpPr>
          <p:nvPr/>
        </p:nvSpPr>
        <p:spPr bwMode="auto">
          <a:xfrm>
            <a:off x="7010400" y="419100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a:t>
            </a:r>
          </a:p>
        </p:txBody>
      </p:sp>
      <p:sp>
        <p:nvSpPr>
          <p:cNvPr id="63581" name="Text Box 94">
            <a:extLst>
              <a:ext uri="{FF2B5EF4-FFF2-40B4-BE49-F238E27FC236}">
                <a16:creationId xmlns:a16="http://schemas.microsoft.com/office/drawing/2014/main" id="{E063FB0F-1FBB-8D43-9EAC-D84014C1B518}"/>
              </a:ext>
            </a:extLst>
          </p:cNvPr>
          <p:cNvSpPr txBox="1">
            <a:spLocks noChangeArrowheads="1"/>
          </p:cNvSpPr>
          <p:nvPr/>
        </p:nvSpPr>
        <p:spPr bwMode="auto">
          <a:xfrm>
            <a:off x="7010400" y="480060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1</a:t>
            </a:r>
          </a:p>
        </p:txBody>
      </p:sp>
      <p:sp>
        <p:nvSpPr>
          <p:cNvPr id="63582" name="Text Box 95">
            <a:extLst>
              <a:ext uri="{FF2B5EF4-FFF2-40B4-BE49-F238E27FC236}">
                <a16:creationId xmlns:a16="http://schemas.microsoft.com/office/drawing/2014/main" id="{1123E4D9-0D35-1945-81BD-4EDDB765C7AB}"/>
              </a:ext>
            </a:extLst>
          </p:cNvPr>
          <p:cNvSpPr txBox="1">
            <a:spLocks noChangeArrowheads="1"/>
          </p:cNvSpPr>
          <p:nvPr/>
        </p:nvSpPr>
        <p:spPr bwMode="auto">
          <a:xfrm>
            <a:off x="9144000" y="4953001"/>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0.3</a:t>
            </a:r>
          </a:p>
        </p:txBody>
      </p:sp>
      <p:sp>
        <p:nvSpPr>
          <p:cNvPr id="63583" name="AutoShape 96">
            <a:extLst>
              <a:ext uri="{FF2B5EF4-FFF2-40B4-BE49-F238E27FC236}">
                <a16:creationId xmlns:a16="http://schemas.microsoft.com/office/drawing/2014/main" id="{CD5AC820-33C7-3446-BADC-B6E8696A6794}"/>
              </a:ext>
            </a:extLst>
          </p:cNvPr>
          <p:cNvSpPr>
            <a:spLocks noChangeArrowheads="1"/>
          </p:cNvSpPr>
          <p:nvPr/>
        </p:nvSpPr>
        <p:spPr bwMode="auto">
          <a:xfrm>
            <a:off x="1905000" y="2667000"/>
            <a:ext cx="8153400" cy="1447800"/>
          </a:xfrm>
          <a:prstGeom prst="wedgeRoundRectCallout">
            <a:avLst>
              <a:gd name="adj1" fmla="val 40032"/>
              <a:gd name="adj2" fmla="val 121931"/>
              <a:gd name="adj3" fmla="val 16667"/>
            </a:avLst>
          </a:prstGeom>
          <a:solidFill>
            <a:srgbClr val="FFFF99"/>
          </a:solidFill>
          <a:ln w="12700">
            <a:solidFill>
              <a:srgbClr val="000000"/>
            </a:solidFill>
            <a:miter lim="800000"/>
            <a:headEnd type="none" w="sm" len="sm"/>
            <a:tailEnd type="none" w="sm" len="sm"/>
          </a:ln>
        </p:spPr>
        <p:txBody>
          <a:bodyPr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800" dirty="0">
                <a:solidFill>
                  <a:srgbClr val="000000"/>
                </a:solidFill>
              </a:rPr>
              <a:t>e.g., 30% risk of death if don</a:t>
            </a:r>
            <a:r>
              <a:rPr lang="es-ES" altLang="en-MX" sz="2800" dirty="0">
                <a:solidFill>
                  <a:srgbClr val="000000"/>
                </a:solidFill>
              </a:rPr>
              <a:t>’</a:t>
            </a:r>
            <a:r>
              <a:rPr lang="en-US" altLang="ja-JP" sz="2800" dirty="0">
                <a:solidFill>
                  <a:srgbClr val="000000"/>
                </a:solidFill>
              </a:rPr>
              <a:t>t spray, outbreak occurs, and get encephalitis</a:t>
            </a:r>
            <a:endParaRPr lang="en-US" altLang="en-MX" sz="3200" dirty="0">
              <a:latin typeface="Times New Roman" panose="02020603050405020304" pitchFamily="18" charset="0"/>
            </a:endParaRPr>
          </a:p>
        </p:txBody>
      </p:sp>
    </p:spTree>
    <p:extLst>
      <p:ext uri="{BB962C8B-B14F-4D97-AF65-F5344CB8AC3E}">
        <p14:creationId xmlns:p14="http://schemas.microsoft.com/office/powerpoint/2010/main" val="282180385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2">
            <a:extLst>
              <a:ext uri="{FF2B5EF4-FFF2-40B4-BE49-F238E27FC236}">
                <a16:creationId xmlns:a16="http://schemas.microsoft.com/office/drawing/2014/main" id="{887C13B3-5B34-E547-B9F1-A417C4E0419B}"/>
              </a:ext>
            </a:extLst>
          </p:cNvPr>
          <p:cNvSpPr>
            <a:spLocks noGrp="1" noChangeArrowheads="1"/>
          </p:cNvSpPr>
          <p:nvPr>
            <p:ph type="title"/>
          </p:nvPr>
        </p:nvSpPr>
        <p:spPr>
          <a:xfrm>
            <a:off x="864704" y="162339"/>
            <a:ext cx="9117496" cy="762000"/>
          </a:xfrm>
        </p:spPr>
        <p:txBody>
          <a:bodyPr/>
          <a:lstStyle/>
          <a:p>
            <a:pPr eaLnBrk="1" hangingPunct="1"/>
            <a:r>
              <a:rPr lang="en-US" altLang="en-MX" dirty="0">
                <a:ea typeface="ＭＳ Ｐゴシック" panose="020B0600070205080204" pitchFamily="34" charset="-128"/>
              </a:rPr>
              <a:t>Assign Outcomes</a:t>
            </a:r>
          </a:p>
        </p:txBody>
      </p:sp>
      <p:sp>
        <p:nvSpPr>
          <p:cNvPr id="65538" name="Line 3">
            <a:extLst>
              <a:ext uri="{FF2B5EF4-FFF2-40B4-BE49-F238E27FC236}">
                <a16:creationId xmlns:a16="http://schemas.microsoft.com/office/drawing/2014/main" id="{471FE05D-8637-8F44-ACFE-B136698CD89C}"/>
              </a:ext>
            </a:extLst>
          </p:cNvPr>
          <p:cNvSpPr>
            <a:spLocks noChangeShapeType="1"/>
          </p:cNvSpPr>
          <p:nvPr/>
        </p:nvSpPr>
        <p:spPr bwMode="auto">
          <a:xfrm>
            <a:off x="4114800" y="1676400"/>
            <a:ext cx="1447800"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65539" name="Rectangle 4">
            <a:extLst>
              <a:ext uri="{FF2B5EF4-FFF2-40B4-BE49-F238E27FC236}">
                <a16:creationId xmlns:a16="http://schemas.microsoft.com/office/drawing/2014/main" id="{9DB41830-7772-7C49-9E14-F085D9A6926E}"/>
              </a:ext>
            </a:extLst>
          </p:cNvPr>
          <p:cNvSpPr>
            <a:spLocks noChangeArrowheads="1"/>
          </p:cNvSpPr>
          <p:nvPr/>
        </p:nvSpPr>
        <p:spPr bwMode="auto">
          <a:xfrm>
            <a:off x="4267200" y="1325564"/>
            <a:ext cx="9398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Outbreak</a:t>
            </a:r>
          </a:p>
        </p:txBody>
      </p:sp>
      <p:sp>
        <p:nvSpPr>
          <p:cNvPr id="65540" name="Rectangle 5">
            <a:extLst>
              <a:ext uri="{FF2B5EF4-FFF2-40B4-BE49-F238E27FC236}">
                <a16:creationId xmlns:a16="http://schemas.microsoft.com/office/drawing/2014/main" id="{27529AA2-CF88-AB49-BEBA-0D2D605C3A24}"/>
              </a:ext>
            </a:extLst>
          </p:cNvPr>
          <p:cNvSpPr>
            <a:spLocks noChangeArrowheads="1"/>
          </p:cNvSpPr>
          <p:nvPr/>
        </p:nvSpPr>
        <p:spPr bwMode="auto">
          <a:xfrm>
            <a:off x="4267200" y="1981200"/>
            <a:ext cx="1295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Outbreak</a:t>
            </a:r>
          </a:p>
        </p:txBody>
      </p:sp>
      <p:sp>
        <p:nvSpPr>
          <p:cNvPr id="65541" name="Freeform 6">
            <a:extLst>
              <a:ext uri="{FF2B5EF4-FFF2-40B4-BE49-F238E27FC236}">
                <a16:creationId xmlns:a16="http://schemas.microsoft.com/office/drawing/2014/main" id="{55C5B5E5-D561-5F4D-8C7C-FFBFEAC67D70}"/>
              </a:ext>
            </a:extLst>
          </p:cNvPr>
          <p:cNvSpPr>
            <a:spLocks/>
          </p:cNvSpPr>
          <p:nvPr/>
        </p:nvSpPr>
        <p:spPr bwMode="auto">
          <a:xfrm>
            <a:off x="4040188" y="1676400"/>
            <a:ext cx="303212" cy="369888"/>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5542" name="Freeform 7">
            <a:extLst>
              <a:ext uri="{FF2B5EF4-FFF2-40B4-BE49-F238E27FC236}">
                <a16:creationId xmlns:a16="http://schemas.microsoft.com/office/drawing/2014/main" id="{3A9F9B27-B7CC-4F4F-9222-DC3236A3D9D1}"/>
              </a:ext>
            </a:extLst>
          </p:cNvPr>
          <p:cNvSpPr>
            <a:spLocks/>
          </p:cNvSpPr>
          <p:nvPr/>
        </p:nvSpPr>
        <p:spPr bwMode="auto">
          <a:xfrm>
            <a:off x="4038601" y="2089150"/>
            <a:ext cx="303213" cy="196850"/>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5543" name="Line 8">
            <a:extLst>
              <a:ext uri="{FF2B5EF4-FFF2-40B4-BE49-F238E27FC236}">
                <a16:creationId xmlns:a16="http://schemas.microsoft.com/office/drawing/2014/main" id="{E0AACD02-18FC-1740-840F-70EC7EFDFA3C}"/>
              </a:ext>
            </a:extLst>
          </p:cNvPr>
          <p:cNvSpPr>
            <a:spLocks noChangeShapeType="1"/>
          </p:cNvSpPr>
          <p:nvPr/>
        </p:nvSpPr>
        <p:spPr bwMode="auto">
          <a:xfrm>
            <a:off x="2362200" y="2057400"/>
            <a:ext cx="161448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65544" name="Oval 9">
            <a:extLst>
              <a:ext uri="{FF2B5EF4-FFF2-40B4-BE49-F238E27FC236}">
                <a16:creationId xmlns:a16="http://schemas.microsoft.com/office/drawing/2014/main" id="{3F77C3D9-D4D8-6B45-8A52-58945A1A2B8C}"/>
              </a:ext>
            </a:extLst>
          </p:cNvPr>
          <p:cNvSpPr>
            <a:spLocks noChangeArrowheads="1"/>
          </p:cNvSpPr>
          <p:nvPr/>
        </p:nvSpPr>
        <p:spPr bwMode="auto">
          <a:xfrm>
            <a:off x="3876676" y="1905000"/>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5545" name="Rectangle 10">
            <a:extLst>
              <a:ext uri="{FF2B5EF4-FFF2-40B4-BE49-F238E27FC236}">
                <a16:creationId xmlns:a16="http://schemas.microsoft.com/office/drawing/2014/main" id="{78606B5A-7415-E64F-8A39-2AD8A1A0222E}"/>
              </a:ext>
            </a:extLst>
          </p:cNvPr>
          <p:cNvSpPr>
            <a:spLocks noChangeArrowheads="1"/>
          </p:cNvSpPr>
          <p:nvPr/>
        </p:nvSpPr>
        <p:spPr bwMode="auto">
          <a:xfrm>
            <a:off x="2438401" y="1676400"/>
            <a:ext cx="663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000">
                <a:solidFill>
                  <a:srgbClr val="000000"/>
                </a:solidFill>
              </a:rPr>
              <a:t>Spray</a:t>
            </a:r>
          </a:p>
        </p:txBody>
      </p:sp>
      <p:sp>
        <p:nvSpPr>
          <p:cNvPr id="65546" name="Rectangle 11">
            <a:extLst>
              <a:ext uri="{FF2B5EF4-FFF2-40B4-BE49-F238E27FC236}">
                <a16:creationId xmlns:a16="http://schemas.microsoft.com/office/drawing/2014/main" id="{961B5215-5CD6-9443-A59F-CD3AAE7B27BC}"/>
              </a:ext>
            </a:extLst>
          </p:cNvPr>
          <p:cNvSpPr>
            <a:spLocks noChangeArrowheads="1"/>
          </p:cNvSpPr>
          <p:nvPr/>
        </p:nvSpPr>
        <p:spPr bwMode="auto">
          <a:xfrm>
            <a:off x="4224338" y="5241925"/>
            <a:ext cx="9398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MX" sz="1800">
                <a:solidFill>
                  <a:srgbClr val="000000"/>
                </a:solidFill>
              </a:rPr>
              <a:t>Outbreak</a:t>
            </a:r>
          </a:p>
        </p:txBody>
      </p:sp>
      <p:sp>
        <p:nvSpPr>
          <p:cNvPr id="65547" name="Freeform 12">
            <a:extLst>
              <a:ext uri="{FF2B5EF4-FFF2-40B4-BE49-F238E27FC236}">
                <a16:creationId xmlns:a16="http://schemas.microsoft.com/office/drawing/2014/main" id="{158DA030-B312-1C45-BB4B-D96FD46AAF23}"/>
              </a:ext>
            </a:extLst>
          </p:cNvPr>
          <p:cNvSpPr>
            <a:spLocks/>
          </p:cNvSpPr>
          <p:nvPr/>
        </p:nvSpPr>
        <p:spPr bwMode="auto">
          <a:xfrm>
            <a:off x="5716588" y="1382714"/>
            <a:ext cx="303212" cy="369887"/>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5548" name="Freeform 13">
            <a:extLst>
              <a:ext uri="{FF2B5EF4-FFF2-40B4-BE49-F238E27FC236}">
                <a16:creationId xmlns:a16="http://schemas.microsoft.com/office/drawing/2014/main" id="{6F2C02E8-2CBA-0A44-89EE-85D0FEDBC7A9}"/>
              </a:ext>
            </a:extLst>
          </p:cNvPr>
          <p:cNvSpPr>
            <a:spLocks/>
          </p:cNvSpPr>
          <p:nvPr/>
        </p:nvSpPr>
        <p:spPr bwMode="auto">
          <a:xfrm>
            <a:off x="5716588" y="1633538"/>
            <a:ext cx="303212" cy="347662"/>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5549" name="Rectangle 14">
            <a:extLst>
              <a:ext uri="{FF2B5EF4-FFF2-40B4-BE49-F238E27FC236}">
                <a16:creationId xmlns:a16="http://schemas.microsoft.com/office/drawing/2014/main" id="{0F18838D-061F-BF43-8B38-5A78C2D4D554}"/>
              </a:ext>
            </a:extLst>
          </p:cNvPr>
          <p:cNvSpPr>
            <a:spLocks noChangeArrowheads="1"/>
          </p:cNvSpPr>
          <p:nvPr/>
        </p:nvSpPr>
        <p:spPr bwMode="auto">
          <a:xfrm>
            <a:off x="3644900" y="6019800"/>
            <a:ext cx="2286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MX" sz="1800">
                <a:solidFill>
                  <a:srgbClr val="000000"/>
                </a:solidFill>
              </a:rPr>
              <a:t>No Outbreak</a:t>
            </a:r>
          </a:p>
        </p:txBody>
      </p:sp>
      <p:sp>
        <p:nvSpPr>
          <p:cNvPr id="65550" name="Freeform 15">
            <a:extLst>
              <a:ext uri="{FF2B5EF4-FFF2-40B4-BE49-F238E27FC236}">
                <a16:creationId xmlns:a16="http://schemas.microsoft.com/office/drawing/2014/main" id="{7F491BDD-5888-6649-AA90-D4B70B142294}"/>
              </a:ext>
            </a:extLst>
          </p:cNvPr>
          <p:cNvSpPr>
            <a:spLocks/>
          </p:cNvSpPr>
          <p:nvPr/>
        </p:nvSpPr>
        <p:spPr bwMode="auto">
          <a:xfrm>
            <a:off x="4114801" y="5562601"/>
            <a:ext cx="290513" cy="415925"/>
          </a:xfrm>
          <a:custGeom>
            <a:avLst/>
            <a:gdLst>
              <a:gd name="T0" fmla="*/ 0 w 14"/>
              <a:gd name="T1" fmla="*/ 2147483647 h 24"/>
              <a:gd name="T2" fmla="*/ 0 w 14"/>
              <a:gd name="T3" fmla="*/ 0 h 24"/>
              <a:gd name="T4" fmla="*/ 2147483647 w 14"/>
              <a:gd name="T5" fmla="*/ 0 h 24"/>
              <a:gd name="T6" fmla="*/ 0 60000 65536"/>
              <a:gd name="T7" fmla="*/ 0 60000 65536"/>
              <a:gd name="T8" fmla="*/ 0 60000 65536"/>
              <a:gd name="T9" fmla="*/ 0 w 14"/>
              <a:gd name="T10" fmla="*/ 0 h 24"/>
              <a:gd name="T11" fmla="*/ 14 w 14"/>
              <a:gd name="T12" fmla="*/ 24 h 24"/>
            </a:gdLst>
            <a:ahLst/>
            <a:cxnLst>
              <a:cxn ang="T6">
                <a:pos x="T0" y="T1"/>
              </a:cxn>
              <a:cxn ang="T7">
                <a:pos x="T2" y="T3"/>
              </a:cxn>
              <a:cxn ang="T8">
                <a:pos x="T4" y="T5"/>
              </a:cxn>
            </a:cxnLst>
            <a:rect l="T9" t="T10" r="T11" b="T12"/>
            <a:pathLst>
              <a:path w="14" h="24">
                <a:moveTo>
                  <a:pt x="0" y="24"/>
                </a:moveTo>
                <a:lnTo>
                  <a:pt x="0" y="0"/>
                </a:lnTo>
                <a:lnTo>
                  <a:pt x="14" y="0"/>
                </a:lnTo>
              </a:path>
            </a:pathLst>
          </a:custGeom>
          <a:noFill/>
          <a:ln w="19050"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5551" name="Freeform 16">
            <a:extLst>
              <a:ext uri="{FF2B5EF4-FFF2-40B4-BE49-F238E27FC236}">
                <a16:creationId xmlns:a16="http://schemas.microsoft.com/office/drawing/2014/main" id="{2FC50B48-A707-E44E-9EE0-AA2682E164D8}"/>
              </a:ext>
            </a:extLst>
          </p:cNvPr>
          <p:cNvSpPr>
            <a:spLocks/>
          </p:cNvSpPr>
          <p:nvPr/>
        </p:nvSpPr>
        <p:spPr bwMode="auto">
          <a:xfrm>
            <a:off x="4094164" y="5749926"/>
            <a:ext cx="4592637" cy="574675"/>
          </a:xfrm>
          <a:custGeom>
            <a:avLst/>
            <a:gdLst>
              <a:gd name="T0" fmla="*/ 0 w 14"/>
              <a:gd name="T1" fmla="*/ 0 h 25"/>
              <a:gd name="T2" fmla="*/ 0 w 14"/>
              <a:gd name="T3" fmla="*/ 2147483647 h 25"/>
              <a:gd name="T4" fmla="*/ 2147483647 w 14"/>
              <a:gd name="T5" fmla="*/ 2147483647 h 25"/>
              <a:gd name="T6" fmla="*/ 0 60000 65536"/>
              <a:gd name="T7" fmla="*/ 0 60000 65536"/>
              <a:gd name="T8" fmla="*/ 0 60000 65536"/>
              <a:gd name="T9" fmla="*/ 0 w 14"/>
              <a:gd name="T10" fmla="*/ 0 h 25"/>
              <a:gd name="T11" fmla="*/ 14 w 14"/>
              <a:gd name="T12" fmla="*/ 25 h 25"/>
            </a:gdLst>
            <a:ahLst/>
            <a:cxnLst>
              <a:cxn ang="T6">
                <a:pos x="T0" y="T1"/>
              </a:cxn>
              <a:cxn ang="T7">
                <a:pos x="T2" y="T3"/>
              </a:cxn>
              <a:cxn ang="T8">
                <a:pos x="T4" y="T5"/>
              </a:cxn>
            </a:cxnLst>
            <a:rect l="T9" t="T10" r="T11" b="T12"/>
            <a:pathLst>
              <a:path w="14" h="25">
                <a:moveTo>
                  <a:pt x="0" y="0"/>
                </a:moveTo>
                <a:lnTo>
                  <a:pt x="0" y="25"/>
                </a:lnTo>
                <a:lnTo>
                  <a:pt x="14" y="25"/>
                </a:lnTo>
              </a:path>
            </a:pathLst>
          </a:custGeom>
          <a:noFill/>
          <a:ln w="19050"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5552" name="Line 17">
            <a:extLst>
              <a:ext uri="{FF2B5EF4-FFF2-40B4-BE49-F238E27FC236}">
                <a16:creationId xmlns:a16="http://schemas.microsoft.com/office/drawing/2014/main" id="{6C181F2C-F272-0541-BFF2-EE833CFE135A}"/>
              </a:ext>
            </a:extLst>
          </p:cNvPr>
          <p:cNvSpPr>
            <a:spLocks noChangeShapeType="1"/>
          </p:cNvSpPr>
          <p:nvPr/>
        </p:nvSpPr>
        <p:spPr bwMode="auto">
          <a:xfrm>
            <a:off x="2547938" y="3808414"/>
            <a:ext cx="14287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65553" name="Rectangle 18">
            <a:extLst>
              <a:ext uri="{FF2B5EF4-FFF2-40B4-BE49-F238E27FC236}">
                <a16:creationId xmlns:a16="http://schemas.microsoft.com/office/drawing/2014/main" id="{D01E2740-83BE-4346-9EE5-A1305F6CBDCB}"/>
              </a:ext>
            </a:extLst>
          </p:cNvPr>
          <p:cNvSpPr>
            <a:spLocks noChangeArrowheads="1"/>
          </p:cNvSpPr>
          <p:nvPr/>
        </p:nvSpPr>
        <p:spPr bwMode="auto">
          <a:xfrm>
            <a:off x="2438401" y="5410201"/>
            <a:ext cx="141064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000">
                <a:solidFill>
                  <a:srgbClr val="000000"/>
                </a:solidFill>
              </a:rPr>
              <a:t>Don</a:t>
            </a:r>
            <a:r>
              <a:rPr lang="ja-JP" altLang="en-US" sz="2000">
                <a:solidFill>
                  <a:srgbClr val="000000"/>
                </a:solidFill>
              </a:rPr>
              <a:t>’</a:t>
            </a:r>
            <a:r>
              <a:rPr lang="en-US" altLang="ja-JP" sz="2000">
                <a:solidFill>
                  <a:srgbClr val="000000"/>
                </a:solidFill>
              </a:rPr>
              <a:t>t Spray</a:t>
            </a:r>
            <a:endParaRPr lang="en-US" altLang="en-MX" sz="2000">
              <a:solidFill>
                <a:srgbClr val="000000"/>
              </a:solidFill>
            </a:endParaRPr>
          </a:p>
        </p:txBody>
      </p:sp>
      <p:sp>
        <p:nvSpPr>
          <p:cNvPr id="65554" name="Line 19">
            <a:extLst>
              <a:ext uri="{FF2B5EF4-FFF2-40B4-BE49-F238E27FC236}">
                <a16:creationId xmlns:a16="http://schemas.microsoft.com/office/drawing/2014/main" id="{ED6AE62E-B29C-6045-972F-9C6C0F4278AF}"/>
              </a:ext>
            </a:extLst>
          </p:cNvPr>
          <p:cNvSpPr>
            <a:spLocks noChangeShapeType="1"/>
          </p:cNvSpPr>
          <p:nvPr/>
        </p:nvSpPr>
        <p:spPr bwMode="auto">
          <a:xfrm>
            <a:off x="2514600" y="5867400"/>
            <a:ext cx="14287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65555" name="Rectangle 20">
            <a:extLst>
              <a:ext uri="{FF2B5EF4-FFF2-40B4-BE49-F238E27FC236}">
                <a16:creationId xmlns:a16="http://schemas.microsoft.com/office/drawing/2014/main" id="{E0E6B216-7432-FC4A-9C77-E8DFEAEE0B7D}"/>
              </a:ext>
            </a:extLst>
          </p:cNvPr>
          <p:cNvSpPr>
            <a:spLocks noChangeArrowheads="1"/>
          </p:cNvSpPr>
          <p:nvPr/>
        </p:nvSpPr>
        <p:spPr bwMode="auto">
          <a:xfrm>
            <a:off x="2362201" y="3429001"/>
            <a:ext cx="4701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000">
                <a:solidFill>
                  <a:srgbClr val="000000"/>
                </a:solidFill>
              </a:rPr>
              <a:t>Test</a:t>
            </a:r>
          </a:p>
        </p:txBody>
      </p:sp>
      <p:sp>
        <p:nvSpPr>
          <p:cNvPr id="65556" name="Freeform 21">
            <a:extLst>
              <a:ext uri="{FF2B5EF4-FFF2-40B4-BE49-F238E27FC236}">
                <a16:creationId xmlns:a16="http://schemas.microsoft.com/office/drawing/2014/main" id="{613836BF-3FE8-8949-9E05-1502EC0D360B}"/>
              </a:ext>
            </a:extLst>
          </p:cNvPr>
          <p:cNvSpPr>
            <a:spLocks/>
          </p:cNvSpPr>
          <p:nvPr/>
        </p:nvSpPr>
        <p:spPr bwMode="auto">
          <a:xfrm>
            <a:off x="2209800" y="2057400"/>
            <a:ext cx="261938" cy="2198688"/>
          </a:xfrm>
          <a:custGeom>
            <a:avLst/>
            <a:gdLst>
              <a:gd name="T0" fmla="*/ 0 w 14"/>
              <a:gd name="T1" fmla="*/ 2147483647 h 87"/>
              <a:gd name="T2" fmla="*/ 0 w 14"/>
              <a:gd name="T3" fmla="*/ 0 h 87"/>
              <a:gd name="T4" fmla="*/ 2147483647 w 14"/>
              <a:gd name="T5" fmla="*/ 0 h 87"/>
              <a:gd name="T6" fmla="*/ 0 60000 65536"/>
              <a:gd name="T7" fmla="*/ 0 60000 65536"/>
              <a:gd name="T8" fmla="*/ 0 60000 65536"/>
              <a:gd name="T9" fmla="*/ 0 w 14"/>
              <a:gd name="T10" fmla="*/ 0 h 87"/>
              <a:gd name="T11" fmla="*/ 14 w 14"/>
              <a:gd name="T12" fmla="*/ 87 h 87"/>
            </a:gdLst>
            <a:ahLst/>
            <a:cxnLst>
              <a:cxn ang="T6">
                <a:pos x="T0" y="T1"/>
              </a:cxn>
              <a:cxn ang="T7">
                <a:pos x="T2" y="T3"/>
              </a:cxn>
              <a:cxn ang="T8">
                <a:pos x="T4" y="T5"/>
              </a:cxn>
            </a:cxnLst>
            <a:rect l="T9" t="T10" r="T11" b="T12"/>
            <a:pathLst>
              <a:path w="14" h="87">
                <a:moveTo>
                  <a:pt x="0" y="8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5557" name="Freeform 22">
            <a:extLst>
              <a:ext uri="{FF2B5EF4-FFF2-40B4-BE49-F238E27FC236}">
                <a16:creationId xmlns:a16="http://schemas.microsoft.com/office/drawing/2014/main" id="{F6169A18-258A-554F-B1D0-B75BAD7255F6}"/>
              </a:ext>
            </a:extLst>
          </p:cNvPr>
          <p:cNvSpPr>
            <a:spLocks/>
          </p:cNvSpPr>
          <p:nvPr/>
        </p:nvSpPr>
        <p:spPr bwMode="auto">
          <a:xfrm>
            <a:off x="2244726" y="3810001"/>
            <a:ext cx="303213" cy="42863"/>
          </a:xfrm>
          <a:custGeom>
            <a:avLst/>
            <a:gdLst>
              <a:gd name="T0" fmla="*/ 0 w 14"/>
              <a:gd name="T1" fmla="*/ 2147483647 h 2"/>
              <a:gd name="T2" fmla="*/ 0 w 14"/>
              <a:gd name="T3" fmla="*/ 0 h 2"/>
              <a:gd name="T4" fmla="*/ 2147483647 w 14"/>
              <a:gd name="T5" fmla="*/ 0 h 2"/>
              <a:gd name="T6" fmla="*/ 0 60000 65536"/>
              <a:gd name="T7" fmla="*/ 0 60000 65536"/>
              <a:gd name="T8" fmla="*/ 0 60000 65536"/>
              <a:gd name="T9" fmla="*/ 0 w 14"/>
              <a:gd name="T10" fmla="*/ 0 h 2"/>
              <a:gd name="T11" fmla="*/ 14 w 14"/>
              <a:gd name="T12" fmla="*/ 2 h 2"/>
            </a:gdLst>
            <a:ahLst/>
            <a:cxnLst>
              <a:cxn ang="T6">
                <a:pos x="T0" y="T1"/>
              </a:cxn>
              <a:cxn ang="T7">
                <a:pos x="T2" y="T3"/>
              </a:cxn>
              <a:cxn ang="T8">
                <a:pos x="T4" y="T5"/>
              </a:cxn>
            </a:cxnLst>
            <a:rect l="T9" t="T10" r="T11" b="T12"/>
            <a:pathLst>
              <a:path w="14" h="2">
                <a:moveTo>
                  <a:pt x="0" y="2"/>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5558" name="Freeform 23">
            <a:extLst>
              <a:ext uri="{FF2B5EF4-FFF2-40B4-BE49-F238E27FC236}">
                <a16:creationId xmlns:a16="http://schemas.microsoft.com/office/drawing/2014/main" id="{FB079003-6B1B-FE45-87E5-BA958FB15FAB}"/>
              </a:ext>
            </a:extLst>
          </p:cNvPr>
          <p:cNvSpPr>
            <a:spLocks/>
          </p:cNvSpPr>
          <p:nvPr/>
        </p:nvSpPr>
        <p:spPr bwMode="auto">
          <a:xfrm>
            <a:off x="2209801" y="3957638"/>
            <a:ext cx="303213" cy="1916112"/>
          </a:xfrm>
          <a:custGeom>
            <a:avLst/>
            <a:gdLst>
              <a:gd name="T0" fmla="*/ 0 w 14"/>
              <a:gd name="T1" fmla="*/ 0 h 88"/>
              <a:gd name="T2" fmla="*/ 0 w 14"/>
              <a:gd name="T3" fmla="*/ 2147483647 h 88"/>
              <a:gd name="T4" fmla="*/ 2147483647 w 14"/>
              <a:gd name="T5" fmla="*/ 2147483647 h 88"/>
              <a:gd name="T6" fmla="*/ 0 60000 65536"/>
              <a:gd name="T7" fmla="*/ 0 60000 65536"/>
              <a:gd name="T8" fmla="*/ 0 60000 65536"/>
              <a:gd name="T9" fmla="*/ 0 w 14"/>
              <a:gd name="T10" fmla="*/ 0 h 88"/>
              <a:gd name="T11" fmla="*/ 14 w 14"/>
              <a:gd name="T12" fmla="*/ 88 h 88"/>
            </a:gdLst>
            <a:ahLst/>
            <a:cxnLst>
              <a:cxn ang="T6">
                <a:pos x="T0" y="T1"/>
              </a:cxn>
              <a:cxn ang="T7">
                <a:pos x="T2" y="T3"/>
              </a:cxn>
              <a:cxn ang="T8">
                <a:pos x="T4" y="T5"/>
              </a:cxn>
            </a:cxnLst>
            <a:rect l="T9" t="T10" r="T11" b="T12"/>
            <a:pathLst>
              <a:path w="14" h="88">
                <a:moveTo>
                  <a:pt x="0" y="0"/>
                </a:moveTo>
                <a:lnTo>
                  <a:pt x="0" y="88"/>
                </a:lnTo>
                <a:lnTo>
                  <a:pt x="14" y="88"/>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5559" name="Rectangle 24">
            <a:extLst>
              <a:ext uri="{FF2B5EF4-FFF2-40B4-BE49-F238E27FC236}">
                <a16:creationId xmlns:a16="http://schemas.microsoft.com/office/drawing/2014/main" id="{BDF3732A-F289-524C-ABAF-DA2329A20E30}"/>
              </a:ext>
            </a:extLst>
          </p:cNvPr>
          <p:cNvSpPr>
            <a:spLocks noChangeArrowheads="1"/>
          </p:cNvSpPr>
          <p:nvPr/>
        </p:nvSpPr>
        <p:spPr bwMode="auto">
          <a:xfrm>
            <a:off x="2093914" y="3657600"/>
            <a:ext cx="238125" cy="261938"/>
          </a:xfrm>
          <a:prstGeom prst="rect">
            <a:avLst/>
          </a:prstGeom>
          <a:solidFill>
            <a:schemeClr val="bg1"/>
          </a:solidFill>
          <a:ln w="25400">
            <a:solidFill>
              <a:srgbClr val="0000FF"/>
            </a:solidFill>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5560" name="Text Box 25">
            <a:extLst>
              <a:ext uri="{FF2B5EF4-FFF2-40B4-BE49-F238E27FC236}">
                <a16:creationId xmlns:a16="http://schemas.microsoft.com/office/drawing/2014/main" id="{4718F705-1B0C-0048-BEB8-B0E41081B672}"/>
              </a:ext>
            </a:extLst>
          </p:cNvPr>
          <p:cNvSpPr txBox="1">
            <a:spLocks noChangeArrowheads="1"/>
          </p:cNvSpPr>
          <p:nvPr/>
        </p:nvSpPr>
        <p:spPr bwMode="auto">
          <a:xfrm>
            <a:off x="8699500" y="667370"/>
            <a:ext cx="1600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1800" b="1" u="sng" dirty="0">
                <a:solidFill>
                  <a:srgbClr val="000000"/>
                </a:solidFill>
              </a:rPr>
              <a:t>P(Death</a:t>
            </a:r>
            <a:r>
              <a:rPr lang="en-US" altLang="en-MX" sz="1800" b="1" u="sng" dirty="0">
                <a:solidFill>
                  <a:srgbClr val="000000"/>
                </a:solidFill>
                <a:latin typeface="Garamond" panose="02020404030301010803" pitchFamily="18" charset="0"/>
              </a:rPr>
              <a:t>)</a:t>
            </a:r>
          </a:p>
        </p:txBody>
      </p:sp>
      <p:sp>
        <p:nvSpPr>
          <p:cNvPr id="65561" name="Line 26">
            <a:extLst>
              <a:ext uri="{FF2B5EF4-FFF2-40B4-BE49-F238E27FC236}">
                <a16:creationId xmlns:a16="http://schemas.microsoft.com/office/drawing/2014/main" id="{783D415D-463C-AE4B-ABF9-9F52154A5A58}"/>
              </a:ext>
            </a:extLst>
          </p:cNvPr>
          <p:cNvSpPr>
            <a:spLocks noChangeShapeType="1"/>
          </p:cNvSpPr>
          <p:nvPr/>
        </p:nvSpPr>
        <p:spPr bwMode="auto">
          <a:xfrm>
            <a:off x="8915400" y="14478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65562" name="Line 27">
            <a:extLst>
              <a:ext uri="{FF2B5EF4-FFF2-40B4-BE49-F238E27FC236}">
                <a16:creationId xmlns:a16="http://schemas.microsoft.com/office/drawing/2014/main" id="{5D53E077-D9BC-C749-9BC4-895D7D94F214}"/>
              </a:ext>
            </a:extLst>
          </p:cNvPr>
          <p:cNvSpPr>
            <a:spLocks noChangeShapeType="1"/>
          </p:cNvSpPr>
          <p:nvPr/>
        </p:nvSpPr>
        <p:spPr bwMode="auto">
          <a:xfrm>
            <a:off x="4267200" y="2286000"/>
            <a:ext cx="43434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65563" name="Line 28">
            <a:extLst>
              <a:ext uri="{FF2B5EF4-FFF2-40B4-BE49-F238E27FC236}">
                <a16:creationId xmlns:a16="http://schemas.microsoft.com/office/drawing/2014/main" id="{CD12BCD5-7FF8-804B-87AF-1851EFB4165C}"/>
              </a:ext>
            </a:extLst>
          </p:cNvPr>
          <p:cNvSpPr>
            <a:spLocks noChangeShapeType="1"/>
          </p:cNvSpPr>
          <p:nvPr/>
        </p:nvSpPr>
        <p:spPr bwMode="auto">
          <a:xfrm>
            <a:off x="4343400" y="5562600"/>
            <a:ext cx="1295400" cy="0"/>
          </a:xfrm>
          <a:prstGeom prst="line">
            <a:avLst/>
          </a:prstGeom>
          <a:noFill/>
          <a:ln w="1905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65564" name="Oval 29">
            <a:extLst>
              <a:ext uri="{FF2B5EF4-FFF2-40B4-BE49-F238E27FC236}">
                <a16:creationId xmlns:a16="http://schemas.microsoft.com/office/drawing/2014/main" id="{50329C6B-0468-634F-B413-5A13B2132BB0}"/>
              </a:ext>
            </a:extLst>
          </p:cNvPr>
          <p:cNvSpPr>
            <a:spLocks noChangeArrowheads="1"/>
          </p:cNvSpPr>
          <p:nvPr/>
        </p:nvSpPr>
        <p:spPr bwMode="auto">
          <a:xfrm>
            <a:off x="5562601" y="1566864"/>
            <a:ext cx="238125" cy="261937"/>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5565" name="Rectangle 30">
            <a:extLst>
              <a:ext uri="{FF2B5EF4-FFF2-40B4-BE49-F238E27FC236}">
                <a16:creationId xmlns:a16="http://schemas.microsoft.com/office/drawing/2014/main" id="{80D4DDEF-63F5-3049-ACC8-ADF6253BB138}"/>
              </a:ext>
            </a:extLst>
          </p:cNvPr>
          <p:cNvSpPr>
            <a:spLocks noChangeArrowheads="1"/>
          </p:cNvSpPr>
          <p:nvPr/>
        </p:nvSpPr>
        <p:spPr bwMode="auto">
          <a:xfrm>
            <a:off x="5943600" y="1066800"/>
            <a:ext cx="12319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Encephalitis</a:t>
            </a:r>
          </a:p>
        </p:txBody>
      </p:sp>
      <p:sp>
        <p:nvSpPr>
          <p:cNvPr id="65566" name="Line 31">
            <a:extLst>
              <a:ext uri="{FF2B5EF4-FFF2-40B4-BE49-F238E27FC236}">
                <a16:creationId xmlns:a16="http://schemas.microsoft.com/office/drawing/2014/main" id="{3A90C3B4-833C-A540-8EA5-02A7FE8A27B2}"/>
              </a:ext>
            </a:extLst>
          </p:cNvPr>
          <p:cNvSpPr>
            <a:spLocks noChangeShapeType="1"/>
          </p:cNvSpPr>
          <p:nvPr/>
        </p:nvSpPr>
        <p:spPr bwMode="auto">
          <a:xfrm flipV="1">
            <a:off x="5957888" y="1371601"/>
            <a:ext cx="2652712" cy="1587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65567" name="Line 32">
            <a:extLst>
              <a:ext uri="{FF2B5EF4-FFF2-40B4-BE49-F238E27FC236}">
                <a16:creationId xmlns:a16="http://schemas.microsoft.com/office/drawing/2014/main" id="{2FEBCFE8-A0F3-8342-83FA-E00BCEB88324}"/>
              </a:ext>
            </a:extLst>
          </p:cNvPr>
          <p:cNvSpPr>
            <a:spLocks noChangeShapeType="1"/>
          </p:cNvSpPr>
          <p:nvPr/>
        </p:nvSpPr>
        <p:spPr bwMode="auto">
          <a:xfrm>
            <a:off x="5943600" y="1981200"/>
            <a:ext cx="25908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65568" name="Freeform 33">
            <a:extLst>
              <a:ext uri="{FF2B5EF4-FFF2-40B4-BE49-F238E27FC236}">
                <a16:creationId xmlns:a16="http://schemas.microsoft.com/office/drawing/2014/main" id="{0203FDD0-7D57-A642-BC5E-D8AF8654136C}"/>
              </a:ext>
            </a:extLst>
          </p:cNvPr>
          <p:cNvSpPr>
            <a:spLocks/>
          </p:cNvSpPr>
          <p:nvPr/>
        </p:nvSpPr>
        <p:spPr bwMode="auto">
          <a:xfrm>
            <a:off x="5715000" y="5257801"/>
            <a:ext cx="2895600" cy="396875"/>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5569" name="Freeform 34">
            <a:extLst>
              <a:ext uri="{FF2B5EF4-FFF2-40B4-BE49-F238E27FC236}">
                <a16:creationId xmlns:a16="http://schemas.microsoft.com/office/drawing/2014/main" id="{5164E909-F710-674F-85A2-41D1C5750C43}"/>
              </a:ext>
            </a:extLst>
          </p:cNvPr>
          <p:cNvSpPr>
            <a:spLocks/>
          </p:cNvSpPr>
          <p:nvPr/>
        </p:nvSpPr>
        <p:spPr bwMode="auto">
          <a:xfrm>
            <a:off x="5716588" y="5502276"/>
            <a:ext cx="303212" cy="347663"/>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5570" name="Line 35">
            <a:extLst>
              <a:ext uri="{FF2B5EF4-FFF2-40B4-BE49-F238E27FC236}">
                <a16:creationId xmlns:a16="http://schemas.microsoft.com/office/drawing/2014/main" id="{986A2718-DF94-824E-8E79-F4E055BE34CC}"/>
              </a:ext>
            </a:extLst>
          </p:cNvPr>
          <p:cNvSpPr>
            <a:spLocks noChangeShapeType="1"/>
          </p:cNvSpPr>
          <p:nvPr/>
        </p:nvSpPr>
        <p:spPr bwMode="auto">
          <a:xfrm>
            <a:off x="6005513" y="5849938"/>
            <a:ext cx="25146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65571" name="Rectangle 36">
            <a:extLst>
              <a:ext uri="{FF2B5EF4-FFF2-40B4-BE49-F238E27FC236}">
                <a16:creationId xmlns:a16="http://schemas.microsoft.com/office/drawing/2014/main" id="{09E47C50-D108-2B4C-9F92-C147DB629556}"/>
              </a:ext>
            </a:extLst>
          </p:cNvPr>
          <p:cNvSpPr>
            <a:spLocks noChangeArrowheads="1"/>
          </p:cNvSpPr>
          <p:nvPr/>
        </p:nvSpPr>
        <p:spPr bwMode="auto">
          <a:xfrm>
            <a:off x="5943600" y="1660525"/>
            <a:ext cx="1752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Encephalitis</a:t>
            </a:r>
          </a:p>
        </p:txBody>
      </p:sp>
      <p:sp>
        <p:nvSpPr>
          <p:cNvPr id="65572" name="Rectangle 37">
            <a:extLst>
              <a:ext uri="{FF2B5EF4-FFF2-40B4-BE49-F238E27FC236}">
                <a16:creationId xmlns:a16="http://schemas.microsoft.com/office/drawing/2014/main" id="{28AB705A-A616-764C-927C-41BAB0AB84DB}"/>
              </a:ext>
            </a:extLst>
          </p:cNvPr>
          <p:cNvSpPr>
            <a:spLocks noChangeArrowheads="1"/>
          </p:cNvSpPr>
          <p:nvPr/>
        </p:nvSpPr>
        <p:spPr bwMode="auto">
          <a:xfrm>
            <a:off x="5956300" y="4999039"/>
            <a:ext cx="12319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Encephalitis</a:t>
            </a:r>
          </a:p>
        </p:txBody>
      </p:sp>
      <p:sp>
        <p:nvSpPr>
          <p:cNvPr id="65573" name="Rectangle 38">
            <a:extLst>
              <a:ext uri="{FF2B5EF4-FFF2-40B4-BE49-F238E27FC236}">
                <a16:creationId xmlns:a16="http://schemas.microsoft.com/office/drawing/2014/main" id="{4C492700-D04D-4A45-82E8-086D34A7B99B}"/>
              </a:ext>
            </a:extLst>
          </p:cNvPr>
          <p:cNvSpPr>
            <a:spLocks noChangeArrowheads="1"/>
          </p:cNvSpPr>
          <p:nvPr/>
        </p:nvSpPr>
        <p:spPr bwMode="auto">
          <a:xfrm>
            <a:off x="5943600" y="5562600"/>
            <a:ext cx="1752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Encephalitis</a:t>
            </a:r>
          </a:p>
        </p:txBody>
      </p:sp>
      <p:sp>
        <p:nvSpPr>
          <p:cNvPr id="65574" name="Oval 39">
            <a:extLst>
              <a:ext uri="{FF2B5EF4-FFF2-40B4-BE49-F238E27FC236}">
                <a16:creationId xmlns:a16="http://schemas.microsoft.com/office/drawing/2014/main" id="{0E35F8BF-D47F-064C-8A73-19B2EBC6FF8B}"/>
              </a:ext>
            </a:extLst>
          </p:cNvPr>
          <p:cNvSpPr>
            <a:spLocks noChangeArrowheads="1"/>
          </p:cNvSpPr>
          <p:nvPr/>
        </p:nvSpPr>
        <p:spPr bwMode="auto">
          <a:xfrm>
            <a:off x="5629276" y="5426075"/>
            <a:ext cx="238125" cy="261938"/>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5575" name="Oval 40">
            <a:extLst>
              <a:ext uri="{FF2B5EF4-FFF2-40B4-BE49-F238E27FC236}">
                <a16:creationId xmlns:a16="http://schemas.microsoft.com/office/drawing/2014/main" id="{38FDACBE-B944-954E-828B-E43AE9E3C611}"/>
              </a:ext>
            </a:extLst>
          </p:cNvPr>
          <p:cNvSpPr>
            <a:spLocks noChangeArrowheads="1"/>
          </p:cNvSpPr>
          <p:nvPr/>
        </p:nvSpPr>
        <p:spPr bwMode="auto">
          <a:xfrm>
            <a:off x="3963989" y="5729288"/>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5576" name="Freeform 41">
            <a:extLst>
              <a:ext uri="{FF2B5EF4-FFF2-40B4-BE49-F238E27FC236}">
                <a16:creationId xmlns:a16="http://schemas.microsoft.com/office/drawing/2014/main" id="{FE49FD5C-14E9-AC41-9CE6-DCB2F0C9AEA2}"/>
              </a:ext>
            </a:extLst>
          </p:cNvPr>
          <p:cNvSpPr>
            <a:spLocks/>
          </p:cNvSpPr>
          <p:nvPr/>
        </p:nvSpPr>
        <p:spPr bwMode="auto">
          <a:xfrm>
            <a:off x="4114801" y="3276600"/>
            <a:ext cx="371475" cy="533400"/>
          </a:xfrm>
          <a:custGeom>
            <a:avLst/>
            <a:gdLst>
              <a:gd name="T0" fmla="*/ 0 w 14"/>
              <a:gd name="T1" fmla="*/ 2147483647 h 16"/>
              <a:gd name="T2" fmla="*/ 0 w 14"/>
              <a:gd name="T3" fmla="*/ 0 h 16"/>
              <a:gd name="T4" fmla="*/ 2147483647 w 14"/>
              <a:gd name="T5" fmla="*/ 0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16"/>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5577" name="Freeform 42">
            <a:extLst>
              <a:ext uri="{FF2B5EF4-FFF2-40B4-BE49-F238E27FC236}">
                <a16:creationId xmlns:a16="http://schemas.microsoft.com/office/drawing/2014/main" id="{95206EDE-9039-3541-A35C-A82C018B9BCF}"/>
              </a:ext>
            </a:extLst>
          </p:cNvPr>
          <p:cNvSpPr>
            <a:spLocks/>
          </p:cNvSpPr>
          <p:nvPr/>
        </p:nvSpPr>
        <p:spPr bwMode="auto">
          <a:xfrm>
            <a:off x="4114801" y="3962400"/>
            <a:ext cx="295275" cy="533400"/>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5578" name="Oval 43">
            <a:extLst>
              <a:ext uri="{FF2B5EF4-FFF2-40B4-BE49-F238E27FC236}">
                <a16:creationId xmlns:a16="http://schemas.microsoft.com/office/drawing/2014/main" id="{FF259070-4001-8B46-82F8-01F088EAC285}"/>
              </a:ext>
            </a:extLst>
          </p:cNvPr>
          <p:cNvSpPr>
            <a:spLocks noChangeArrowheads="1"/>
          </p:cNvSpPr>
          <p:nvPr/>
        </p:nvSpPr>
        <p:spPr bwMode="auto">
          <a:xfrm>
            <a:off x="3976689" y="3733800"/>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5579" name="Line 44">
            <a:extLst>
              <a:ext uri="{FF2B5EF4-FFF2-40B4-BE49-F238E27FC236}">
                <a16:creationId xmlns:a16="http://schemas.microsoft.com/office/drawing/2014/main" id="{E1591BAC-0F26-F641-B1ED-7080831023EF}"/>
              </a:ext>
            </a:extLst>
          </p:cNvPr>
          <p:cNvSpPr>
            <a:spLocks noChangeShapeType="1"/>
          </p:cNvSpPr>
          <p:nvPr/>
        </p:nvSpPr>
        <p:spPr bwMode="auto">
          <a:xfrm>
            <a:off x="4419600" y="3276600"/>
            <a:ext cx="7620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65580" name="Line 45">
            <a:extLst>
              <a:ext uri="{FF2B5EF4-FFF2-40B4-BE49-F238E27FC236}">
                <a16:creationId xmlns:a16="http://schemas.microsoft.com/office/drawing/2014/main" id="{1573CA5C-BABF-764A-BABB-700447ADC1A7}"/>
              </a:ext>
            </a:extLst>
          </p:cNvPr>
          <p:cNvSpPr>
            <a:spLocks noChangeShapeType="1"/>
          </p:cNvSpPr>
          <p:nvPr/>
        </p:nvSpPr>
        <p:spPr bwMode="auto">
          <a:xfrm>
            <a:off x="4419600" y="4495800"/>
            <a:ext cx="960438"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65581" name="Rectangle 46">
            <a:extLst>
              <a:ext uri="{FF2B5EF4-FFF2-40B4-BE49-F238E27FC236}">
                <a16:creationId xmlns:a16="http://schemas.microsoft.com/office/drawing/2014/main" id="{37E61F81-AE14-1041-98BE-F6C41C495818}"/>
              </a:ext>
            </a:extLst>
          </p:cNvPr>
          <p:cNvSpPr>
            <a:spLocks noChangeArrowheads="1"/>
          </p:cNvSpPr>
          <p:nvPr/>
        </p:nvSpPr>
        <p:spPr bwMode="auto">
          <a:xfrm>
            <a:off x="5486400" y="3124200"/>
            <a:ext cx="14097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Spray</a:t>
            </a:r>
          </a:p>
        </p:txBody>
      </p:sp>
      <p:sp>
        <p:nvSpPr>
          <p:cNvPr id="65582" name="Text Box 47">
            <a:extLst>
              <a:ext uri="{FF2B5EF4-FFF2-40B4-BE49-F238E27FC236}">
                <a16:creationId xmlns:a16="http://schemas.microsoft.com/office/drawing/2014/main" id="{FF1CB01C-72BB-B247-80CF-2A3F4F9411DC}"/>
              </a:ext>
            </a:extLst>
          </p:cNvPr>
          <p:cNvSpPr txBox="1">
            <a:spLocks noChangeArrowheads="1"/>
          </p:cNvSpPr>
          <p:nvPr/>
        </p:nvSpPr>
        <p:spPr bwMode="auto">
          <a:xfrm>
            <a:off x="5638800" y="4191000"/>
            <a:ext cx="990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a:solidFill>
                  <a:srgbClr val="000000"/>
                </a:solidFill>
              </a:rPr>
              <a:t>Don</a:t>
            </a:r>
            <a:r>
              <a:rPr lang="ja-JP" altLang="en-US" sz="1800">
                <a:solidFill>
                  <a:srgbClr val="000000"/>
                </a:solidFill>
              </a:rPr>
              <a:t>’</a:t>
            </a:r>
            <a:r>
              <a:rPr lang="en-US" altLang="ja-JP" sz="1800">
                <a:solidFill>
                  <a:srgbClr val="000000"/>
                </a:solidFill>
              </a:rPr>
              <a:t>t spray</a:t>
            </a:r>
            <a:endParaRPr lang="en-US" altLang="en-MX" sz="1800">
              <a:solidFill>
                <a:srgbClr val="000000"/>
              </a:solidFill>
            </a:endParaRPr>
          </a:p>
        </p:txBody>
      </p:sp>
      <p:sp>
        <p:nvSpPr>
          <p:cNvPr id="65583" name="Line 48">
            <a:extLst>
              <a:ext uri="{FF2B5EF4-FFF2-40B4-BE49-F238E27FC236}">
                <a16:creationId xmlns:a16="http://schemas.microsoft.com/office/drawing/2014/main" id="{E7D1C4B7-1055-FD4A-95BF-C52D8666D659}"/>
              </a:ext>
            </a:extLst>
          </p:cNvPr>
          <p:cNvSpPr>
            <a:spLocks noChangeShapeType="1"/>
          </p:cNvSpPr>
          <p:nvPr/>
        </p:nvSpPr>
        <p:spPr bwMode="auto">
          <a:xfrm>
            <a:off x="8915400" y="19050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65584" name="Line 49">
            <a:extLst>
              <a:ext uri="{FF2B5EF4-FFF2-40B4-BE49-F238E27FC236}">
                <a16:creationId xmlns:a16="http://schemas.microsoft.com/office/drawing/2014/main" id="{283B8A76-14C4-9B4A-BB8C-1C99FA7267CF}"/>
              </a:ext>
            </a:extLst>
          </p:cNvPr>
          <p:cNvSpPr>
            <a:spLocks noChangeShapeType="1"/>
          </p:cNvSpPr>
          <p:nvPr/>
        </p:nvSpPr>
        <p:spPr bwMode="auto">
          <a:xfrm>
            <a:off x="8915400" y="22860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65585" name="Line 50">
            <a:extLst>
              <a:ext uri="{FF2B5EF4-FFF2-40B4-BE49-F238E27FC236}">
                <a16:creationId xmlns:a16="http://schemas.microsoft.com/office/drawing/2014/main" id="{15330E92-D054-664F-87E6-306CCA80F319}"/>
              </a:ext>
            </a:extLst>
          </p:cNvPr>
          <p:cNvSpPr>
            <a:spLocks noChangeShapeType="1"/>
          </p:cNvSpPr>
          <p:nvPr/>
        </p:nvSpPr>
        <p:spPr bwMode="auto">
          <a:xfrm>
            <a:off x="8915400" y="29718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65586" name="Line 51">
            <a:extLst>
              <a:ext uri="{FF2B5EF4-FFF2-40B4-BE49-F238E27FC236}">
                <a16:creationId xmlns:a16="http://schemas.microsoft.com/office/drawing/2014/main" id="{54B8D6F2-058B-3245-8EE3-91D6053BC334}"/>
              </a:ext>
            </a:extLst>
          </p:cNvPr>
          <p:cNvSpPr>
            <a:spLocks noChangeShapeType="1"/>
          </p:cNvSpPr>
          <p:nvPr/>
        </p:nvSpPr>
        <p:spPr bwMode="auto">
          <a:xfrm>
            <a:off x="8915400" y="35814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65587" name="Line 52">
            <a:extLst>
              <a:ext uri="{FF2B5EF4-FFF2-40B4-BE49-F238E27FC236}">
                <a16:creationId xmlns:a16="http://schemas.microsoft.com/office/drawing/2014/main" id="{D005D556-C632-F947-98AA-AE12B179A104}"/>
              </a:ext>
            </a:extLst>
          </p:cNvPr>
          <p:cNvSpPr>
            <a:spLocks noChangeShapeType="1"/>
          </p:cNvSpPr>
          <p:nvPr/>
        </p:nvSpPr>
        <p:spPr bwMode="auto">
          <a:xfrm>
            <a:off x="8915400" y="43434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65588" name="Line 53">
            <a:extLst>
              <a:ext uri="{FF2B5EF4-FFF2-40B4-BE49-F238E27FC236}">
                <a16:creationId xmlns:a16="http://schemas.microsoft.com/office/drawing/2014/main" id="{535DB423-8E1F-6B4F-AE61-584731DE21E4}"/>
              </a:ext>
            </a:extLst>
          </p:cNvPr>
          <p:cNvSpPr>
            <a:spLocks noChangeShapeType="1"/>
          </p:cNvSpPr>
          <p:nvPr/>
        </p:nvSpPr>
        <p:spPr bwMode="auto">
          <a:xfrm>
            <a:off x="8915400" y="48006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65589" name="Line 54">
            <a:extLst>
              <a:ext uri="{FF2B5EF4-FFF2-40B4-BE49-F238E27FC236}">
                <a16:creationId xmlns:a16="http://schemas.microsoft.com/office/drawing/2014/main" id="{36AF2EA6-52A1-594F-86CD-830A7AF7328E}"/>
              </a:ext>
            </a:extLst>
          </p:cNvPr>
          <p:cNvSpPr>
            <a:spLocks noChangeShapeType="1"/>
          </p:cNvSpPr>
          <p:nvPr/>
        </p:nvSpPr>
        <p:spPr bwMode="auto">
          <a:xfrm>
            <a:off x="8915400" y="53340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65590" name="Line 55">
            <a:extLst>
              <a:ext uri="{FF2B5EF4-FFF2-40B4-BE49-F238E27FC236}">
                <a16:creationId xmlns:a16="http://schemas.microsoft.com/office/drawing/2014/main" id="{C4DCADEC-19F1-4A47-97B0-0D9F5558FFFB}"/>
              </a:ext>
            </a:extLst>
          </p:cNvPr>
          <p:cNvSpPr>
            <a:spLocks noChangeShapeType="1"/>
          </p:cNvSpPr>
          <p:nvPr/>
        </p:nvSpPr>
        <p:spPr bwMode="auto">
          <a:xfrm>
            <a:off x="8915400" y="57912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65591" name="Line 56">
            <a:extLst>
              <a:ext uri="{FF2B5EF4-FFF2-40B4-BE49-F238E27FC236}">
                <a16:creationId xmlns:a16="http://schemas.microsoft.com/office/drawing/2014/main" id="{16E2321B-14E0-4644-9981-DD10404791B5}"/>
              </a:ext>
            </a:extLst>
          </p:cNvPr>
          <p:cNvSpPr>
            <a:spLocks noChangeShapeType="1"/>
          </p:cNvSpPr>
          <p:nvPr/>
        </p:nvSpPr>
        <p:spPr bwMode="auto">
          <a:xfrm>
            <a:off x="8915400" y="63246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65592" name="Rectangle 57">
            <a:extLst>
              <a:ext uri="{FF2B5EF4-FFF2-40B4-BE49-F238E27FC236}">
                <a16:creationId xmlns:a16="http://schemas.microsoft.com/office/drawing/2014/main" id="{0A743DF7-EDB1-954C-AC84-2B9003AAD969}"/>
              </a:ext>
            </a:extLst>
          </p:cNvPr>
          <p:cNvSpPr>
            <a:spLocks noChangeArrowheads="1"/>
          </p:cNvSpPr>
          <p:nvPr/>
        </p:nvSpPr>
        <p:spPr bwMode="auto">
          <a:xfrm>
            <a:off x="4191000" y="2895601"/>
            <a:ext cx="117981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ja-JP" altLang="en-US" sz="1800">
                <a:solidFill>
                  <a:srgbClr val="000000"/>
                </a:solidFill>
              </a:rPr>
              <a:t>“</a:t>
            </a:r>
            <a:r>
              <a:rPr lang="en-US" altLang="ja-JP" sz="1800">
                <a:solidFill>
                  <a:srgbClr val="000000"/>
                </a:solidFill>
              </a:rPr>
              <a:t>Outbreak</a:t>
            </a:r>
            <a:r>
              <a:rPr lang="ja-JP" altLang="en-US" sz="1800">
                <a:solidFill>
                  <a:srgbClr val="000000"/>
                </a:solidFill>
              </a:rPr>
              <a:t>”</a:t>
            </a:r>
            <a:endParaRPr lang="en-US" altLang="en-MX" sz="1800">
              <a:solidFill>
                <a:srgbClr val="000000"/>
              </a:solidFill>
            </a:endParaRPr>
          </a:p>
        </p:txBody>
      </p:sp>
      <p:sp>
        <p:nvSpPr>
          <p:cNvPr id="65593" name="Rectangle 58">
            <a:extLst>
              <a:ext uri="{FF2B5EF4-FFF2-40B4-BE49-F238E27FC236}">
                <a16:creationId xmlns:a16="http://schemas.microsoft.com/office/drawing/2014/main" id="{365AD062-BE2F-4F43-9FB7-5451FC38791E}"/>
              </a:ext>
            </a:extLst>
          </p:cNvPr>
          <p:cNvSpPr>
            <a:spLocks noChangeArrowheads="1"/>
          </p:cNvSpPr>
          <p:nvPr/>
        </p:nvSpPr>
        <p:spPr bwMode="auto">
          <a:xfrm>
            <a:off x="4191000" y="3962401"/>
            <a:ext cx="10668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ja-JP" altLang="en-US" sz="1800">
                <a:solidFill>
                  <a:srgbClr val="000000"/>
                </a:solidFill>
              </a:rPr>
              <a:t>“</a:t>
            </a:r>
            <a:r>
              <a:rPr lang="en-US" altLang="ja-JP" sz="1800">
                <a:solidFill>
                  <a:srgbClr val="000000"/>
                </a:solidFill>
              </a:rPr>
              <a:t>No</a:t>
            </a:r>
          </a:p>
          <a:p>
            <a:r>
              <a:rPr lang="en-US" altLang="en-MX" sz="1800">
                <a:solidFill>
                  <a:srgbClr val="000000"/>
                </a:solidFill>
              </a:rPr>
              <a:t>Outbreak</a:t>
            </a:r>
            <a:r>
              <a:rPr lang="ja-JP" altLang="en-US" sz="1800">
                <a:solidFill>
                  <a:srgbClr val="000000"/>
                </a:solidFill>
              </a:rPr>
              <a:t>”</a:t>
            </a:r>
            <a:endParaRPr lang="en-US" altLang="en-MX" sz="1800">
              <a:solidFill>
                <a:srgbClr val="000000"/>
              </a:solidFill>
            </a:endParaRPr>
          </a:p>
        </p:txBody>
      </p:sp>
      <p:sp>
        <p:nvSpPr>
          <p:cNvPr id="65594" name="AutoShape 59">
            <a:extLst>
              <a:ext uri="{FF2B5EF4-FFF2-40B4-BE49-F238E27FC236}">
                <a16:creationId xmlns:a16="http://schemas.microsoft.com/office/drawing/2014/main" id="{5F95B5C9-6978-BC4A-AF2A-B37A9789F128}"/>
              </a:ext>
            </a:extLst>
          </p:cNvPr>
          <p:cNvSpPr>
            <a:spLocks noChangeArrowheads="1"/>
          </p:cNvSpPr>
          <p:nvPr/>
        </p:nvSpPr>
        <p:spPr bwMode="auto">
          <a:xfrm>
            <a:off x="5105400" y="3124200"/>
            <a:ext cx="304800" cy="304800"/>
          </a:xfrm>
          <a:prstGeom prst="rightArrow">
            <a:avLst>
              <a:gd name="adj1" fmla="val 50000"/>
              <a:gd name="adj2" fmla="val 25000"/>
            </a:avLst>
          </a:prstGeom>
          <a:solidFill>
            <a:srgbClr val="990033"/>
          </a:solidFill>
          <a:ln w="12700">
            <a:solidFill>
              <a:srgbClr val="00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5595" name="AutoShape 60">
            <a:extLst>
              <a:ext uri="{FF2B5EF4-FFF2-40B4-BE49-F238E27FC236}">
                <a16:creationId xmlns:a16="http://schemas.microsoft.com/office/drawing/2014/main" id="{3DA5AF15-F778-F748-9AE8-38B5038C0AE7}"/>
              </a:ext>
            </a:extLst>
          </p:cNvPr>
          <p:cNvSpPr>
            <a:spLocks noChangeArrowheads="1"/>
          </p:cNvSpPr>
          <p:nvPr/>
        </p:nvSpPr>
        <p:spPr bwMode="auto">
          <a:xfrm>
            <a:off x="5334000" y="4343400"/>
            <a:ext cx="304800" cy="304800"/>
          </a:xfrm>
          <a:prstGeom prst="rightArrow">
            <a:avLst>
              <a:gd name="adj1" fmla="val 50000"/>
              <a:gd name="adj2" fmla="val 25000"/>
            </a:avLst>
          </a:prstGeom>
          <a:solidFill>
            <a:srgbClr val="990033"/>
          </a:solidFill>
          <a:ln w="12700">
            <a:solidFill>
              <a:srgbClr val="00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5596" name="Freeform 61">
            <a:extLst>
              <a:ext uri="{FF2B5EF4-FFF2-40B4-BE49-F238E27FC236}">
                <a16:creationId xmlns:a16="http://schemas.microsoft.com/office/drawing/2014/main" id="{2740B5DC-43F7-464E-A3D3-2A7DA230295F}"/>
              </a:ext>
            </a:extLst>
          </p:cNvPr>
          <p:cNvSpPr>
            <a:spLocks/>
          </p:cNvSpPr>
          <p:nvPr/>
        </p:nvSpPr>
        <p:spPr bwMode="auto">
          <a:xfrm>
            <a:off x="6235700" y="2971801"/>
            <a:ext cx="2451100" cy="396875"/>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5597" name="Freeform 62">
            <a:extLst>
              <a:ext uri="{FF2B5EF4-FFF2-40B4-BE49-F238E27FC236}">
                <a16:creationId xmlns:a16="http://schemas.microsoft.com/office/drawing/2014/main" id="{F270ACA4-7536-AA41-A896-63994E6BBD4A}"/>
              </a:ext>
            </a:extLst>
          </p:cNvPr>
          <p:cNvSpPr>
            <a:spLocks/>
          </p:cNvSpPr>
          <p:nvPr/>
        </p:nvSpPr>
        <p:spPr bwMode="auto">
          <a:xfrm>
            <a:off x="6235700" y="3249614"/>
            <a:ext cx="2374900" cy="331787"/>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5598" name="Rectangle 63">
            <a:extLst>
              <a:ext uri="{FF2B5EF4-FFF2-40B4-BE49-F238E27FC236}">
                <a16:creationId xmlns:a16="http://schemas.microsoft.com/office/drawing/2014/main" id="{334F1F77-9C53-6340-9585-3F47519C243A}"/>
              </a:ext>
            </a:extLst>
          </p:cNvPr>
          <p:cNvSpPr>
            <a:spLocks noChangeArrowheads="1"/>
          </p:cNvSpPr>
          <p:nvPr/>
        </p:nvSpPr>
        <p:spPr bwMode="auto">
          <a:xfrm>
            <a:off x="6535738" y="2682875"/>
            <a:ext cx="12319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Encephalitis</a:t>
            </a:r>
          </a:p>
        </p:txBody>
      </p:sp>
      <p:sp>
        <p:nvSpPr>
          <p:cNvPr id="65599" name="Rectangle 64">
            <a:extLst>
              <a:ext uri="{FF2B5EF4-FFF2-40B4-BE49-F238E27FC236}">
                <a16:creationId xmlns:a16="http://schemas.microsoft.com/office/drawing/2014/main" id="{34FF1F27-A53F-974D-8E14-B4AAB79FEDE0}"/>
              </a:ext>
            </a:extLst>
          </p:cNvPr>
          <p:cNvSpPr>
            <a:spLocks noChangeArrowheads="1"/>
          </p:cNvSpPr>
          <p:nvPr/>
        </p:nvSpPr>
        <p:spPr bwMode="auto">
          <a:xfrm>
            <a:off x="6477000" y="3276600"/>
            <a:ext cx="1752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Encephalitis</a:t>
            </a:r>
          </a:p>
        </p:txBody>
      </p:sp>
      <p:sp>
        <p:nvSpPr>
          <p:cNvPr id="65600" name="Oval 65">
            <a:extLst>
              <a:ext uri="{FF2B5EF4-FFF2-40B4-BE49-F238E27FC236}">
                <a16:creationId xmlns:a16="http://schemas.microsoft.com/office/drawing/2014/main" id="{0B53D628-DF1C-EB46-AEE3-2163925ED349}"/>
              </a:ext>
            </a:extLst>
          </p:cNvPr>
          <p:cNvSpPr>
            <a:spLocks noChangeArrowheads="1"/>
          </p:cNvSpPr>
          <p:nvPr/>
        </p:nvSpPr>
        <p:spPr bwMode="auto">
          <a:xfrm>
            <a:off x="6172201" y="3124200"/>
            <a:ext cx="238125" cy="261938"/>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5601" name="Freeform 66">
            <a:extLst>
              <a:ext uri="{FF2B5EF4-FFF2-40B4-BE49-F238E27FC236}">
                <a16:creationId xmlns:a16="http://schemas.microsoft.com/office/drawing/2014/main" id="{4CD47FE2-231D-5043-B1D7-73EE16C95E87}"/>
              </a:ext>
            </a:extLst>
          </p:cNvPr>
          <p:cNvSpPr>
            <a:spLocks/>
          </p:cNvSpPr>
          <p:nvPr/>
        </p:nvSpPr>
        <p:spPr bwMode="auto">
          <a:xfrm>
            <a:off x="6540500" y="4251326"/>
            <a:ext cx="2146300" cy="396875"/>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5602" name="Freeform 67">
            <a:extLst>
              <a:ext uri="{FF2B5EF4-FFF2-40B4-BE49-F238E27FC236}">
                <a16:creationId xmlns:a16="http://schemas.microsoft.com/office/drawing/2014/main" id="{1B82F25C-3459-EF41-89E0-E0F07529F46C}"/>
              </a:ext>
            </a:extLst>
          </p:cNvPr>
          <p:cNvSpPr>
            <a:spLocks/>
          </p:cNvSpPr>
          <p:nvPr/>
        </p:nvSpPr>
        <p:spPr bwMode="auto">
          <a:xfrm>
            <a:off x="6540500" y="4529139"/>
            <a:ext cx="2070100" cy="331787"/>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5603" name="Rectangle 68">
            <a:extLst>
              <a:ext uri="{FF2B5EF4-FFF2-40B4-BE49-F238E27FC236}">
                <a16:creationId xmlns:a16="http://schemas.microsoft.com/office/drawing/2014/main" id="{0499F22E-5136-4D4C-9AA1-2A4561FA91C2}"/>
              </a:ext>
            </a:extLst>
          </p:cNvPr>
          <p:cNvSpPr>
            <a:spLocks noChangeArrowheads="1"/>
          </p:cNvSpPr>
          <p:nvPr/>
        </p:nvSpPr>
        <p:spPr bwMode="auto">
          <a:xfrm>
            <a:off x="6840538" y="3962400"/>
            <a:ext cx="12319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Encephalitis</a:t>
            </a:r>
          </a:p>
        </p:txBody>
      </p:sp>
      <p:sp>
        <p:nvSpPr>
          <p:cNvPr id="65604" name="Rectangle 69">
            <a:extLst>
              <a:ext uri="{FF2B5EF4-FFF2-40B4-BE49-F238E27FC236}">
                <a16:creationId xmlns:a16="http://schemas.microsoft.com/office/drawing/2014/main" id="{5F370E9A-B01C-F745-8B68-6244BBD03F79}"/>
              </a:ext>
            </a:extLst>
          </p:cNvPr>
          <p:cNvSpPr>
            <a:spLocks noChangeArrowheads="1"/>
          </p:cNvSpPr>
          <p:nvPr/>
        </p:nvSpPr>
        <p:spPr bwMode="auto">
          <a:xfrm>
            <a:off x="6781800" y="4556125"/>
            <a:ext cx="1752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Encephalitis</a:t>
            </a:r>
          </a:p>
        </p:txBody>
      </p:sp>
      <p:sp>
        <p:nvSpPr>
          <p:cNvPr id="65605" name="Oval 70">
            <a:extLst>
              <a:ext uri="{FF2B5EF4-FFF2-40B4-BE49-F238E27FC236}">
                <a16:creationId xmlns:a16="http://schemas.microsoft.com/office/drawing/2014/main" id="{7EC676E0-6BFA-6C41-ABDA-9D3667AC2C55}"/>
              </a:ext>
            </a:extLst>
          </p:cNvPr>
          <p:cNvSpPr>
            <a:spLocks noChangeArrowheads="1"/>
          </p:cNvSpPr>
          <p:nvPr/>
        </p:nvSpPr>
        <p:spPr bwMode="auto">
          <a:xfrm>
            <a:off x="6467476" y="4403725"/>
            <a:ext cx="238125" cy="261938"/>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5606" name="AutoShape 71">
            <a:extLst>
              <a:ext uri="{FF2B5EF4-FFF2-40B4-BE49-F238E27FC236}">
                <a16:creationId xmlns:a16="http://schemas.microsoft.com/office/drawing/2014/main" id="{37E76471-9634-894E-B679-7A22770F4ABF}"/>
              </a:ext>
            </a:extLst>
          </p:cNvPr>
          <p:cNvSpPr>
            <a:spLocks noChangeArrowheads="1"/>
          </p:cNvSpPr>
          <p:nvPr/>
        </p:nvSpPr>
        <p:spPr bwMode="auto">
          <a:xfrm>
            <a:off x="8534400" y="12192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5607" name="AutoShape 72">
            <a:extLst>
              <a:ext uri="{FF2B5EF4-FFF2-40B4-BE49-F238E27FC236}">
                <a16:creationId xmlns:a16="http://schemas.microsoft.com/office/drawing/2014/main" id="{13CE87B4-7BF6-EA4D-9E85-0A2C95971C8D}"/>
              </a:ext>
            </a:extLst>
          </p:cNvPr>
          <p:cNvSpPr>
            <a:spLocks noChangeArrowheads="1"/>
          </p:cNvSpPr>
          <p:nvPr/>
        </p:nvSpPr>
        <p:spPr bwMode="auto">
          <a:xfrm>
            <a:off x="8534400" y="16764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5608" name="AutoShape 73">
            <a:extLst>
              <a:ext uri="{FF2B5EF4-FFF2-40B4-BE49-F238E27FC236}">
                <a16:creationId xmlns:a16="http://schemas.microsoft.com/office/drawing/2014/main" id="{4ABBB5B9-F5B6-474A-8E20-AFE8F0F8EF01}"/>
              </a:ext>
            </a:extLst>
          </p:cNvPr>
          <p:cNvSpPr>
            <a:spLocks noChangeArrowheads="1"/>
          </p:cNvSpPr>
          <p:nvPr/>
        </p:nvSpPr>
        <p:spPr bwMode="auto">
          <a:xfrm>
            <a:off x="8534400" y="20574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5609" name="AutoShape 74">
            <a:extLst>
              <a:ext uri="{FF2B5EF4-FFF2-40B4-BE49-F238E27FC236}">
                <a16:creationId xmlns:a16="http://schemas.microsoft.com/office/drawing/2014/main" id="{81AADE39-1757-3944-B29A-71157BD6F6BB}"/>
              </a:ext>
            </a:extLst>
          </p:cNvPr>
          <p:cNvSpPr>
            <a:spLocks noChangeArrowheads="1"/>
          </p:cNvSpPr>
          <p:nvPr/>
        </p:nvSpPr>
        <p:spPr bwMode="auto">
          <a:xfrm>
            <a:off x="8534400" y="33528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5610" name="AutoShape 75">
            <a:extLst>
              <a:ext uri="{FF2B5EF4-FFF2-40B4-BE49-F238E27FC236}">
                <a16:creationId xmlns:a16="http://schemas.microsoft.com/office/drawing/2014/main" id="{46AB3007-9CA5-FC42-BD07-941909E00ABD}"/>
              </a:ext>
            </a:extLst>
          </p:cNvPr>
          <p:cNvSpPr>
            <a:spLocks noChangeArrowheads="1"/>
          </p:cNvSpPr>
          <p:nvPr/>
        </p:nvSpPr>
        <p:spPr bwMode="auto">
          <a:xfrm>
            <a:off x="8534400" y="28194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5611" name="AutoShape 76">
            <a:extLst>
              <a:ext uri="{FF2B5EF4-FFF2-40B4-BE49-F238E27FC236}">
                <a16:creationId xmlns:a16="http://schemas.microsoft.com/office/drawing/2014/main" id="{1990C1E7-1BCF-994B-8235-56046CAFC9B6}"/>
              </a:ext>
            </a:extLst>
          </p:cNvPr>
          <p:cNvSpPr>
            <a:spLocks noChangeArrowheads="1"/>
          </p:cNvSpPr>
          <p:nvPr/>
        </p:nvSpPr>
        <p:spPr bwMode="auto">
          <a:xfrm>
            <a:off x="8547100" y="5121275"/>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5612" name="AutoShape 77">
            <a:extLst>
              <a:ext uri="{FF2B5EF4-FFF2-40B4-BE49-F238E27FC236}">
                <a16:creationId xmlns:a16="http://schemas.microsoft.com/office/drawing/2014/main" id="{E46A6490-F6AC-994E-B314-AF52E0416161}"/>
              </a:ext>
            </a:extLst>
          </p:cNvPr>
          <p:cNvSpPr>
            <a:spLocks noChangeArrowheads="1"/>
          </p:cNvSpPr>
          <p:nvPr/>
        </p:nvSpPr>
        <p:spPr bwMode="auto">
          <a:xfrm>
            <a:off x="8547100" y="5578475"/>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5613" name="AutoShape 78">
            <a:extLst>
              <a:ext uri="{FF2B5EF4-FFF2-40B4-BE49-F238E27FC236}">
                <a16:creationId xmlns:a16="http://schemas.microsoft.com/office/drawing/2014/main" id="{3D633469-F6E2-B546-97F0-262301ECC00F}"/>
              </a:ext>
            </a:extLst>
          </p:cNvPr>
          <p:cNvSpPr>
            <a:spLocks noChangeArrowheads="1"/>
          </p:cNvSpPr>
          <p:nvPr/>
        </p:nvSpPr>
        <p:spPr bwMode="auto">
          <a:xfrm>
            <a:off x="8534400" y="6065838"/>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5614" name="AutoShape 79">
            <a:extLst>
              <a:ext uri="{FF2B5EF4-FFF2-40B4-BE49-F238E27FC236}">
                <a16:creationId xmlns:a16="http://schemas.microsoft.com/office/drawing/2014/main" id="{0D21380A-FFAA-C041-B437-FEA4B0F98BBD}"/>
              </a:ext>
            </a:extLst>
          </p:cNvPr>
          <p:cNvSpPr>
            <a:spLocks noChangeArrowheads="1"/>
          </p:cNvSpPr>
          <p:nvPr/>
        </p:nvSpPr>
        <p:spPr bwMode="auto">
          <a:xfrm>
            <a:off x="8547100" y="41148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5615" name="AutoShape 80">
            <a:extLst>
              <a:ext uri="{FF2B5EF4-FFF2-40B4-BE49-F238E27FC236}">
                <a16:creationId xmlns:a16="http://schemas.microsoft.com/office/drawing/2014/main" id="{819C321D-F43D-DD4A-8EBA-5F527E78CB7B}"/>
              </a:ext>
            </a:extLst>
          </p:cNvPr>
          <p:cNvSpPr>
            <a:spLocks noChangeArrowheads="1"/>
          </p:cNvSpPr>
          <p:nvPr/>
        </p:nvSpPr>
        <p:spPr bwMode="auto">
          <a:xfrm>
            <a:off x="8547100" y="45720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5616" name="Text Box 81">
            <a:extLst>
              <a:ext uri="{FF2B5EF4-FFF2-40B4-BE49-F238E27FC236}">
                <a16:creationId xmlns:a16="http://schemas.microsoft.com/office/drawing/2014/main" id="{47CD5254-315B-A349-AAFA-68A2E0538919}"/>
              </a:ext>
            </a:extLst>
          </p:cNvPr>
          <p:cNvSpPr txBox="1">
            <a:spLocks noChangeArrowheads="1"/>
          </p:cNvSpPr>
          <p:nvPr/>
        </p:nvSpPr>
        <p:spPr bwMode="auto">
          <a:xfrm>
            <a:off x="4343400" y="164465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0.20</a:t>
            </a:r>
          </a:p>
        </p:txBody>
      </p:sp>
      <p:sp>
        <p:nvSpPr>
          <p:cNvPr id="65617" name="Text Box 82">
            <a:extLst>
              <a:ext uri="{FF2B5EF4-FFF2-40B4-BE49-F238E27FC236}">
                <a16:creationId xmlns:a16="http://schemas.microsoft.com/office/drawing/2014/main" id="{3A502A29-1AF2-DA48-A958-72853B322386}"/>
              </a:ext>
            </a:extLst>
          </p:cNvPr>
          <p:cNvSpPr txBox="1">
            <a:spLocks noChangeArrowheads="1"/>
          </p:cNvSpPr>
          <p:nvPr/>
        </p:nvSpPr>
        <p:spPr bwMode="auto">
          <a:xfrm>
            <a:off x="4343400" y="228600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0.80</a:t>
            </a:r>
          </a:p>
        </p:txBody>
      </p:sp>
      <p:sp>
        <p:nvSpPr>
          <p:cNvPr id="65618" name="Text Box 83">
            <a:extLst>
              <a:ext uri="{FF2B5EF4-FFF2-40B4-BE49-F238E27FC236}">
                <a16:creationId xmlns:a16="http://schemas.microsoft.com/office/drawing/2014/main" id="{84BD29C9-B380-924C-BB37-451FA25D2FE9}"/>
              </a:ext>
            </a:extLst>
          </p:cNvPr>
          <p:cNvSpPr txBox="1">
            <a:spLocks noChangeArrowheads="1"/>
          </p:cNvSpPr>
          <p:nvPr/>
        </p:nvSpPr>
        <p:spPr bwMode="auto">
          <a:xfrm>
            <a:off x="6019800" y="133985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0.001</a:t>
            </a:r>
          </a:p>
        </p:txBody>
      </p:sp>
      <p:sp>
        <p:nvSpPr>
          <p:cNvPr id="65619" name="Text Box 84">
            <a:extLst>
              <a:ext uri="{FF2B5EF4-FFF2-40B4-BE49-F238E27FC236}">
                <a16:creationId xmlns:a16="http://schemas.microsoft.com/office/drawing/2014/main" id="{759C5718-4988-194B-BE18-D7944A26E571}"/>
              </a:ext>
            </a:extLst>
          </p:cNvPr>
          <p:cNvSpPr txBox="1">
            <a:spLocks noChangeArrowheads="1"/>
          </p:cNvSpPr>
          <p:nvPr/>
        </p:nvSpPr>
        <p:spPr bwMode="auto">
          <a:xfrm>
            <a:off x="6019800" y="194945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0.999</a:t>
            </a:r>
          </a:p>
        </p:txBody>
      </p:sp>
      <p:sp>
        <p:nvSpPr>
          <p:cNvPr id="65620" name="Text Box 85">
            <a:extLst>
              <a:ext uri="{FF2B5EF4-FFF2-40B4-BE49-F238E27FC236}">
                <a16:creationId xmlns:a16="http://schemas.microsoft.com/office/drawing/2014/main" id="{6A08DCDE-1F5E-704A-8D3E-CEAA6D97CAFB}"/>
              </a:ext>
            </a:extLst>
          </p:cNvPr>
          <p:cNvSpPr txBox="1">
            <a:spLocks noChangeArrowheads="1"/>
          </p:cNvSpPr>
          <p:nvPr/>
        </p:nvSpPr>
        <p:spPr bwMode="auto">
          <a:xfrm>
            <a:off x="4419600" y="556260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0.20</a:t>
            </a:r>
          </a:p>
        </p:txBody>
      </p:sp>
      <p:sp>
        <p:nvSpPr>
          <p:cNvPr id="65621" name="Text Box 86">
            <a:extLst>
              <a:ext uri="{FF2B5EF4-FFF2-40B4-BE49-F238E27FC236}">
                <a16:creationId xmlns:a16="http://schemas.microsoft.com/office/drawing/2014/main" id="{5D1E5B16-CC59-3640-B206-70DC64A56309}"/>
              </a:ext>
            </a:extLst>
          </p:cNvPr>
          <p:cNvSpPr txBox="1">
            <a:spLocks noChangeArrowheads="1"/>
          </p:cNvSpPr>
          <p:nvPr/>
        </p:nvSpPr>
        <p:spPr bwMode="auto">
          <a:xfrm>
            <a:off x="4419600" y="629285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0.80</a:t>
            </a:r>
          </a:p>
        </p:txBody>
      </p:sp>
      <p:sp>
        <p:nvSpPr>
          <p:cNvPr id="65622" name="Text Box 87">
            <a:extLst>
              <a:ext uri="{FF2B5EF4-FFF2-40B4-BE49-F238E27FC236}">
                <a16:creationId xmlns:a16="http://schemas.microsoft.com/office/drawing/2014/main" id="{932675B7-8062-6B40-B8F2-E72EDC8AEC51}"/>
              </a:ext>
            </a:extLst>
          </p:cNvPr>
          <p:cNvSpPr txBox="1">
            <a:spLocks noChangeArrowheads="1"/>
          </p:cNvSpPr>
          <p:nvPr/>
        </p:nvSpPr>
        <p:spPr bwMode="auto">
          <a:xfrm>
            <a:off x="6019800" y="525780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0.02</a:t>
            </a:r>
          </a:p>
        </p:txBody>
      </p:sp>
      <p:sp>
        <p:nvSpPr>
          <p:cNvPr id="65623" name="Text Box 88">
            <a:extLst>
              <a:ext uri="{FF2B5EF4-FFF2-40B4-BE49-F238E27FC236}">
                <a16:creationId xmlns:a16="http://schemas.microsoft.com/office/drawing/2014/main" id="{8896234E-6609-DA47-B348-402E8B411F8C}"/>
              </a:ext>
            </a:extLst>
          </p:cNvPr>
          <p:cNvSpPr txBox="1">
            <a:spLocks noChangeArrowheads="1"/>
          </p:cNvSpPr>
          <p:nvPr/>
        </p:nvSpPr>
        <p:spPr bwMode="auto">
          <a:xfrm>
            <a:off x="6019800" y="583565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0.98</a:t>
            </a:r>
          </a:p>
        </p:txBody>
      </p:sp>
      <p:sp>
        <p:nvSpPr>
          <p:cNvPr id="65624" name="Text Box 89">
            <a:extLst>
              <a:ext uri="{FF2B5EF4-FFF2-40B4-BE49-F238E27FC236}">
                <a16:creationId xmlns:a16="http://schemas.microsoft.com/office/drawing/2014/main" id="{DAB2DAE0-5F05-F54C-A4AE-976E7E4216FC}"/>
              </a:ext>
            </a:extLst>
          </p:cNvPr>
          <p:cNvSpPr txBox="1">
            <a:spLocks noChangeArrowheads="1"/>
          </p:cNvSpPr>
          <p:nvPr/>
        </p:nvSpPr>
        <p:spPr bwMode="auto">
          <a:xfrm>
            <a:off x="4343400" y="327660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0.20</a:t>
            </a:r>
          </a:p>
        </p:txBody>
      </p:sp>
      <p:sp>
        <p:nvSpPr>
          <p:cNvPr id="65625" name="Text Box 90">
            <a:extLst>
              <a:ext uri="{FF2B5EF4-FFF2-40B4-BE49-F238E27FC236}">
                <a16:creationId xmlns:a16="http://schemas.microsoft.com/office/drawing/2014/main" id="{2FD68838-F769-9F46-A47E-68D9A7B518A0}"/>
              </a:ext>
            </a:extLst>
          </p:cNvPr>
          <p:cNvSpPr txBox="1">
            <a:spLocks noChangeArrowheads="1"/>
          </p:cNvSpPr>
          <p:nvPr/>
        </p:nvSpPr>
        <p:spPr bwMode="auto">
          <a:xfrm>
            <a:off x="4343400" y="446405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0.80</a:t>
            </a:r>
          </a:p>
        </p:txBody>
      </p:sp>
      <p:sp>
        <p:nvSpPr>
          <p:cNvPr id="65626" name="Text Box 91">
            <a:extLst>
              <a:ext uri="{FF2B5EF4-FFF2-40B4-BE49-F238E27FC236}">
                <a16:creationId xmlns:a16="http://schemas.microsoft.com/office/drawing/2014/main" id="{4DC718ED-BB4E-1543-8891-F6170CC6ACBA}"/>
              </a:ext>
            </a:extLst>
          </p:cNvPr>
          <p:cNvSpPr txBox="1">
            <a:spLocks noChangeArrowheads="1"/>
          </p:cNvSpPr>
          <p:nvPr/>
        </p:nvSpPr>
        <p:spPr bwMode="auto">
          <a:xfrm>
            <a:off x="6629400" y="297180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0.01</a:t>
            </a:r>
          </a:p>
        </p:txBody>
      </p:sp>
      <p:sp>
        <p:nvSpPr>
          <p:cNvPr id="65627" name="Text Box 92">
            <a:extLst>
              <a:ext uri="{FF2B5EF4-FFF2-40B4-BE49-F238E27FC236}">
                <a16:creationId xmlns:a16="http://schemas.microsoft.com/office/drawing/2014/main" id="{96ABDA35-C252-FF4E-AF0F-8D0E4131FAB7}"/>
              </a:ext>
            </a:extLst>
          </p:cNvPr>
          <p:cNvSpPr txBox="1">
            <a:spLocks noChangeArrowheads="1"/>
          </p:cNvSpPr>
          <p:nvPr/>
        </p:nvSpPr>
        <p:spPr bwMode="auto">
          <a:xfrm>
            <a:off x="6629400" y="358140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0.99</a:t>
            </a:r>
          </a:p>
        </p:txBody>
      </p:sp>
      <p:sp>
        <p:nvSpPr>
          <p:cNvPr id="65628" name="Text Box 93">
            <a:extLst>
              <a:ext uri="{FF2B5EF4-FFF2-40B4-BE49-F238E27FC236}">
                <a16:creationId xmlns:a16="http://schemas.microsoft.com/office/drawing/2014/main" id="{4101A549-1EFA-8545-930A-DFAA204E550F}"/>
              </a:ext>
            </a:extLst>
          </p:cNvPr>
          <p:cNvSpPr txBox="1">
            <a:spLocks noChangeArrowheads="1"/>
          </p:cNvSpPr>
          <p:nvPr/>
        </p:nvSpPr>
        <p:spPr bwMode="auto">
          <a:xfrm>
            <a:off x="7010400" y="419100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a:t>
            </a:r>
          </a:p>
        </p:txBody>
      </p:sp>
      <p:sp>
        <p:nvSpPr>
          <p:cNvPr id="65629" name="Text Box 94">
            <a:extLst>
              <a:ext uri="{FF2B5EF4-FFF2-40B4-BE49-F238E27FC236}">
                <a16:creationId xmlns:a16="http://schemas.microsoft.com/office/drawing/2014/main" id="{A0762258-2969-B947-9B7A-AD18ED51EE04}"/>
              </a:ext>
            </a:extLst>
          </p:cNvPr>
          <p:cNvSpPr txBox="1">
            <a:spLocks noChangeArrowheads="1"/>
          </p:cNvSpPr>
          <p:nvPr/>
        </p:nvSpPr>
        <p:spPr bwMode="auto">
          <a:xfrm>
            <a:off x="7010400" y="480060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1</a:t>
            </a:r>
          </a:p>
        </p:txBody>
      </p:sp>
      <p:sp>
        <p:nvSpPr>
          <p:cNvPr id="65630" name="Text Box 95">
            <a:extLst>
              <a:ext uri="{FF2B5EF4-FFF2-40B4-BE49-F238E27FC236}">
                <a16:creationId xmlns:a16="http://schemas.microsoft.com/office/drawing/2014/main" id="{18C2D8D7-6D74-2543-84ED-F22D8BAAF28D}"/>
              </a:ext>
            </a:extLst>
          </p:cNvPr>
          <p:cNvSpPr txBox="1">
            <a:spLocks noChangeArrowheads="1"/>
          </p:cNvSpPr>
          <p:nvPr/>
        </p:nvSpPr>
        <p:spPr bwMode="auto">
          <a:xfrm>
            <a:off x="9144000" y="4953001"/>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0.3</a:t>
            </a:r>
          </a:p>
        </p:txBody>
      </p:sp>
      <p:sp>
        <p:nvSpPr>
          <p:cNvPr id="65631" name="Text Box 97">
            <a:extLst>
              <a:ext uri="{FF2B5EF4-FFF2-40B4-BE49-F238E27FC236}">
                <a16:creationId xmlns:a16="http://schemas.microsoft.com/office/drawing/2014/main" id="{7C1F7279-04F5-EF42-96D6-3AD22AA6739E}"/>
              </a:ext>
            </a:extLst>
          </p:cNvPr>
          <p:cNvSpPr txBox="1">
            <a:spLocks noChangeArrowheads="1"/>
          </p:cNvSpPr>
          <p:nvPr/>
        </p:nvSpPr>
        <p:spPr bwMode="auto">
          <a:xfrm>
            <a:off x="9110663" y="1157289"/>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0.3</a:t>
            </a:r>
          </a:p>
        </p:txBody>
      </p:sp>
      <p:sp>
        <p:nvSpPr>
          <p:cNvPr id="65632" name="Text Box 98">
            <a:extLst>
              <a:ext uri="{FF2B5EF4-FFF2-40B4-BE49-F238E27FC236}">
                <a16:creationId xmlns:a16="http://schemas.microsoft.com/office/drawing/2014/main" id="{810E5332-C2CF-0346-A2F1-817BA8D477D3}"/>
              </a:ext>
            </a:extLst>
          </p:cNvPr>
          <p:cNvSpPr txBox="1">
            <a:spLocks noChangeArrowheads="1"/>
          </p:cNvSpPr>
          <p:nvPr/>
        </p:nvSpPr>
        <p:spPr bwMode="auto">
          <a:xfrm>
            <a:off x="9110663" y="1538289"/>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0.001</a:t>
            </a:r>
          </a:p>
        </p:txBody>
      </p:sp>
      <p:sp>
        <p:nvSpPr>
          <p:cNvPr id="65633" name="Text Box 99">
            <a:extLst>
              <a:ext uri="{FF2B5EF4-FFF2-40B4-BE49-F238E27FC236}">
                <a16:creationId xmlns:a16="http://schemas.microsoft.com/office/drawing/2014/main" id="{40F41ADD-A1BB-164B-8680-120532E3A60D}"/>
              </a:ext>
            </a:extLst>
          </p:cNvPr>
          <p:cNvSpPr txBox="1">
            <a:spLocks noChangeArrowheads="1"/>
          </p:cNvSpPr>
          <p:nvPr/>
        </p:nvSpPr>
        <p:spPr bwMode="auto">
          <a:xfrm>
            <a:off x="9110663" y="1995489"/>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0.001</a:t>
            </a:r>
          </a:p>
        </p:txBody>
      </p:sp>
      <p:sp>
        <p:nvSpPr>
          <p:cNvPr id="65634" name="Text Box 100">
            <a:extLst>
              <a:ext uri="{FF2B5EF4-FFF2-40B4-BE49-F238E27FC236}">
                <a16:creationId xmlns:a16="http://schemas.microsoft.com/office/drawing/2014/main" id="{AB16E9AB-26BD-5B43-A892-852A343D066C}"/>
              </a:ext>
            </a:extLst>
          </p:cNvPr>
          <p:cNvSpPr txBox="1">
            <a:spLocks noChangeArrowheads="1"/>
          </p:cNvSpPr>
          <p:nvPr/>
        </p:nvSpPr>
        <p:spPr bwMode="auto">
          <a:xfrm>
            <a:off x="9110663" y="5486401"/>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a:t>
            </a:r>
          </a:p>
        </p:txBody>
      </p:sp>
      <p:sp>
        <p:nvSpPr>
          <p:cNvPr id="65635" name="Text Box 101">
            <a:extLst>
              <a:ext uri="{FF2B5EF4-FFF2-40B4-BE49-F238E27FC236}">
                <a16:creationId xmlns:a16="http://schemas.microsoft.com/office/drawing/2014/main" id="{50F7313E-5062-1B43-AEFC-9749A7820A31}"/>
              </a:ext>
            </a:extLst>
          </p:cNvPr>
          <p:cNvSpPr txBox="1">
            <a:spLocks noChangeArrowheads="1"/>
          </p:cNvSpPr>
          <p:nvPr/>
        </p:nvSpPr>
        <p:spPr bwMode="auto">
          <a:xfrm>
            <a:off x="9110663" y="5943601"/>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a:t>
            </a:r>
          </a:p>
        </p:txBody>
      </p:sp>
      <p:sp>
        <p:nvSpPr>
          <p:cNvPr id="65636" name="Text Box 102">
            <a:extLst>
              <a:ext uri="{FF2B5EF4-FFF2-40B4-BE49-F238E27FC236}">
                <a16:creationId xmlns:a16="http://schemas.microsoft.com/office/drawing/2014/main" id="{D1974417-A203-3A41-A6D4-EE3FAFE0BD61}"/>
              </a:ext>
            </a:extLst>
          </p:cNvPr>
          <p:cNvSpPr txBox="1">
            <a:spLocks noChangeArrowheads="1"/>
          </p:cNvSpPr>
          <p:nvPr/>
        </p:nvSpPr>
        <p:spPr bwMode="auto">
          <a:xfrm>
            <a:off x="9110663" y="4495801"/>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a:t>
            </a:r>
          </a:p>
        </p:txBody>
      </p:sp>
      <p:sp>
        <p:nvSpPr>
          <p:cNvPr id="65637" name="Text Box 103">
            <a:extLst>
              <a:ext uri="{FF2B5EF4-FFF2-40B4-BE49-F238E27FC236}">
                <a16:creationId xmlns:a16="http://schemas.microsoft.com/office/drawing/2014/main" id="{5024F658-E838-284D-9D7B-E84D5B21547F}"/>
              </a:ext>
            </a:extLst>
          </p:cNvPr>
          <p:cNvSpPr txBox="1">
            <a:spLocks noChangeArrowheads="1"/>
          </p:cNvSpPr>
          <p:nvPr/>
        </p:nvSpPr>
        <p:spPr bwMode="auto">
          <a:xfrm>
            <a:off x="9110663" y="4038601"/>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0.3</a:t>
            </a:r>
          </a:p>
        </p:txBody>
      </p:sp>
      <p:sp>
        <p:nvSpPr>
          <p:cNvPr id="65638" name="Text Box 104">
            <a:extLst>
              <a:ext uri="{FF2B5EF4-FFF2-40B4-BE49-F238E27FC236}">
                <a16:creationId xmlns:a16="http://schemas.microsoft.com/office/drawing/2014/main" id="{6871C029-895C-994D-930D-D71FF2C822E1}"/>
              </a:ext>
            </a:extLst>
          </p:cNvPr>
          <p:cNvSpPr txBox="1">
            <a:spLocks noChangeArrowheads="1"/>
          </p:cNvSpPr>
          <p:nvPr/>
        </p:nvSpPr>
        <p:spPr bwMode="auto">
          <a:xfrm>
            <a:off x="9110663" y="2649539"/>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0.3</a:t>
            </a:r>
          </a:p>
        </p:txBody>
      </p:sp>
      <p:sp>
        <p:nvSpPr>
          <p:cNvPr id="65639" name="Text Box 105">
            <a:extLst>
              <a:ext uri="{FF2B5EF4-FFF2-40B4-BE49-F238E27FC236}">
                <a16:creationId xmlns:a16="http://schemas.microsoft.com/office/drawing/2014/main" id="{9D716546-9491-EC4C-99CA-EB269D103799}"/>
              </a:ext>
            </a:extLst>
          </p:cNvPr>
          <p:cNvSpPr txBox="1">
            <a:spLocks noChangeArrowheads="1"/>
          </p:cNvSpPr>
          <p:nvPr/>
        </p:nvSpPr>
        <p:spPr bwMode="auto">
          <a:xfrm>
            <a:off x="9110663" y="3259139"/>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0.001</a:t>
            </a:r>
          </a:p>
        </p:txBody>
      </p:sp>
    </p:spTree>
    <p:extLst>
      <p:ext uri="{BB962C8B-B14F-4D97-AF65-F5344CB8AC3E}">
        <p14:creationId xmlns:p14="http://schemas.microsoft.com/office/powerpoint/2010/main" val="98516521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2">
            <a:extLst>
              <a:ext uri="{FF2B5EF4-FFF2-40B4-BE49-F238E27FC236}">
                <a16:creationId xmlns:a16="http://schemas.microsoft.com/office/drawing/2014/main" id="{E5DB65CA-752D-AA41-B5F7-AC66EB341A7A}"/>
              </a:ext>
            </a:extLst>
          </p:cNvPr>
          <p:cNvSpPr>
            <a:spLocks noGrp="1" noChangeArrowheads="1"/>
          </p:cNvSpPr>
          <p:nvPr>
            <p:ph type="title"/>
          </p:nvPr>
        </p:nvSpPr>
        <p:spPr>
          <a:xfrm>
            <a:off x="894522" y="152400"/>
            <a:ext cx="9087678" cy="762000"/>
          </a:xfrm>
        </p:spPr>
        <p:txBody>
          <a:bodyPr/>
          <a:lstStyle/>
          <a:p>
            <a:pPr eaLnBrk="1" hangingPunct="1"/>
            <a:r>
              <a:rPr lang="en-US" altLang="en-MX" dirty="0">
                <a:ea typeface="ＭＳ Ｐゴシック" panose="020B0600070205080204" pitchFamily="34" charset="-128"/>
              </a:rPr>
              <a:t>Average Out &amp; Fold Back</a:t>
            </a:r>
          </a:p>
        </p:txBody>
      </p:sp>
      <p:sp>
        <p:nvSpPr>
          <p:cNvPr id="67586" name="Line 3">
            <a:extLst>
              <a:ext uri="{FF2B5EF4-FFF2-40B4-BE49-F238E27FC236}">
                <a16:creationId xmlns:a16="http://schemas.microsoft.com/office/drawing/2014/main" id="{179F877A-3508-1943-9285-1962C1A100A5}"/>
              </a:ext>
            </a:extLst>
          </p:cNvPr>
          <p:cNvSpPr>
            <a:spLocks noChangeShapeType="1"/>
          </p:cNvSpPr>
          <p:nvPr/>
        </p:nvSpPr>
        <p:spPr bwMode="auto">
          <a:xfrm>
            <a:off x="4114800" y="1676400"/>
            <a:ext cx="1447800"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67587" name="Rectangle 4">
            <a:extLst>
              <a:ext uri="{FF2B5EF4-FFF2-40B4-BE49-F238E27FC236}">
                <a16:creationId xmlns:a16="http://schemas.microsoft.com/office/drawing/2014/main" id="{EE6697A4-C90F-624F-87BB-AE3F7E951D54}"/>
              </a:ext>
            </a:extLst>
          </p:cNvPr>
          <p:cNvSpPr>
            <a:spLocks noChangeArrowheads="1"/>
          </p:cNvSpPr>
          <p:nvPr/>
        </p:nvSpPr>
        <p:spPr bwMode="auto">
          <a:xfrm>
            <a:off x="4267200" y="1325564"/>
            <a:ext cx="9398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Outbreak</a:t>
            </a:r>
          </a:p>
        </p:txBody>
      </p:sp>
      <p:sp>
        <p:nvSpPr>
          <p:cNvPr id="67588" name="Rectangle 5">
            <a:extLst>
              <a:ext uri="{FF2B5EF4-FFF2-40B4-BE49-F238E27FC236}">
                <a16:creationId xmlns:a16="http://schemas.microsoft.com/office/drawing/2014/main" id="{B24C51F5-F0C3-C942-B9F0-1245DCFD61DC}"/>
              </a:ext>
            </a:extLst>
          </p:cNvPr>
          <p:cNvSpPr>
            <a:spLocks noChangeArrowheads="1"/>
          </p:cNvSpPr>
          <p:nvPr/>
        </p:nvSpPr>
        <p:spPr bwMode="auto">
          <a:xfrm>
            <a:off x="4267200" y="1981200"/>
            <a:ext cx="1295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Outbreak</a:t>
            </a:r>
          </a:p>
        </p:txBody>
      </p:sp>
      <p:sp>
        <p:nvSpPr>
          <p:cNvPr id="67589" name="Freeform 6">
            <a:extLst>
              <a:ext uri="{FF2B5EF4-FFF2-40B4-BE49-F238E27FC236}">
                <a16:creationId xmlns:a16="http://schemas.microsoft.com/office/drawing/2014/main" id="{3B45DDFC-693E-AD45-918E-A2513A99135F}"/>
              </a:ext>
            </a:extLst>
          </p:cNvPr>
          <p:cNvSpPr>
            <a:spLocks/>
          </p:cNvSpPr>
          <p:nvPr/>
        </p:nvSpPr>
        <p:spPr bwMode="auto">
          <a:xfrm>
            <a:off x="4040188" y="1676400"/>
            <a:ext cx="303212" cy="369888"/>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7590" name="Freeform 7">
            <a:extLst>
              <a:ext uri="{FF2B5EF4-FFF2-40B4-BE49-F238E27FC236}">
                <a16:creationId xmlns:a16="http://schemas.microsoft.com/office/drawing/2014/main" id="{BCC22648-199A-2B4F-A321-33081AB83DA4}"/>
              </a:ext>
            </a:extLst>
          </p:cNvPr>
          <p:cNvSpPr>
            <a:spLocks/>
          </p:cNvSpPr>
          <p:nvPr/>
        </p:nvSpPr>
        <p:spPr bwMode="auto">
          <a:xfrm>
            <a:off x="4038601" y="2089150"/>
            <a:ext cx="303213" cy="196850"/>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7591" name="Line 8">
            <a:extLst>
              <a:ext uri="{FF2B5EF4-FFF2-40B4-BE49-F238E27FC236}">
                <a16:creationId xmlns:a16="http://schemas.microsoft.com/office/drawing/2014/main" id="{58D28683-F080-AA4F-A4A9-A63C84A4C7FE}"/>
              </a:ext>
            </a:extLst>
          </p:cNvPr>
          <p:cNvSpPr>
            <a:spLocks noChangeShapeType="1"/>
          </p:cNvSpPr>
          <p:nvPr/>
        </p:nvSpPr>
        <p:spPr bwMode="auto">
          <a:xfrm>
            <a:off x="2362200" y="2057400"/>
            <a:ext cx="161448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67592" name="Oval 9">
            <a:extLst>
              <a:ext uri="{FF2B5EF4-FFF2-40B4-BE49-F238E27FC236}">
                <a16:creationId xmlns:a16="http://schemas.microsoft.com/office/drawing/2014/main" id="{2B50F02A-8C7C-8A47-849D-4F7411B738CA}"/>
              </a:ext>
            </a:extLst>
          </p:cNvPr>
          <p:cNvSpPr>
            <a:spLocks noChangeArrowheads="1"/>
          </p:cNvSpPr>
          <p:nvPr/>
        </p:nvSpPr>
        <p:spPr bwMode="auto">
          <a:xfrm>
            <a:off x="3876676" y="1905000"/>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7593" name="Rectangle 10">
            <a:extLst>
              <a:ext uri="{FF2B5EF4-FFF2-40B4-BE49-F238E27FC236}">
                <a16:creationId xmlns:a16="http://schemas.microsoft.com/office/drawing/2014/main" id="{EC405888-312E-2549-9B1E-CE4BFAAE1154}"/>
              </a:ext>
            </a:extLst>
          </p:cNvPr>
          <p:cNvSpPr>
            <a:spLocks noChangeArrowheads="1"/>
          </p:cNvSpPr>
          <p:nvPr/>
        </p:nvSpPr>
        <p:spPr bwMode="auto">
          <a:xfrm>
            <a:off x="2438401" y="1676400"/>
            <a:ext cx="663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000">
                <a:solidFill>
                  <a:srgbClr val="000000"/>
                </a:solidFill>
              </a:rPr>
              <a:t>Spray</a:t>
            </a:r>
          </a:p>
        </p:txBody>
      </p:sp>
      <p:sp>
        <p:nvSpPr>
          <p:cNvPr id="67594" name="Rectangle 11">
            <a:extLst>
              <a:ext uri="{FF2B5EF4-FFF2-40B4-BE49-F238E27FC236}">
                <a16:creationId xmlns:a16="http://schemas.microsoft.com/office/drawing/2014/main" id="{6E704CE6-1743-9F41-9C6D-0AECC92C0D75}"/>
              </a:ext>
            </a:extLst>
          </p:cNvPr>
          <p:cNvSpPr>
            <a:spLocks noChangeArrowheads="1"/>
          </p:cNvSpPr>
          <p:nvPr/>
        </p:nvSpPr>
        <p:spPr bwMode="auto">
          <a:xfrm>
            <a:off x="4224338" y="5241925"/>
            <a:ext cx="9398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MX" sz="1800">
                <a:solidFill>
                  <a:srgbClr val="000000"/>
                </a:solidFill>
              </a:rPr>
              <a:t>Outbreak</a:t>
            </a:r>
          </a:p>
        </p:txBody>
      </p:sp>
      <p:sp>
        <p:nvSpPr>
          <p:cNvPr id="67595" name="Freeform 12">
            <a:extLst>
              <a:ext uri="{FF2B5EF4-FFF2-40B4-BE49-F238E27FC236}">
                <a16:creationId xmlns:a16="http://schemas.microsoft.com/office/drawing/2014/main" id="{82140DC2-00F4-7044-9D84-EDD7BB59393C}"/>
              </a:ext>
            </a:extLst>
          </p:cNvPr>
          <p:cNvSpPr>
            <a:spLocks/>
          </p:cNvSpPr>
          <p:nvPr/>
        </p:nvSpPr>
        <p:spPr bwMode="auto">
          <a:xfrm>
            <a:off x="5716588" y="1382714"/>
            <a:ext cx="303212" cy="369887"/>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7596" name="Freeform 13">
            <a:extLst>
              <a:ext uri="{FF2B5EF4-FFF2-40B4-BE49-F238E27FC236}">
                <a16:creationId xmlns:a16="http://schemas.microsoft.com/office/drawing/2014/main" id="{C6F2C7F3-277C-CD48-9E5E-5FBC5D406678}"/>
              </a:ext>
            </a:extLst>
          </p:cNvPr>
          <p:cNvSpPr>
            <a:spLocks/>
          </p:cNvSpPr>
          <p:nvPr/>
        </p:nvSpPr>
        <p:spPr bwMode="auto">
          <a:xfrm>
            <a:off x="5716588" y="1633538"/>
            <a:ext cx="303212" cy="347662"/>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7597" name="Rectangle 14">
            <a:extLst>
              <a:ext uri="{FF2B5EF4-FFF2-40B4-BE49-F238E27FC236}">
                <a16:creationId xmlns:a16="http://schemas.microsoft.com/office/drawing/2014/main" id="{379FBB96-A4AF-534A-B283-494C2F486684}"/>
              </a:ext>
            </a:extLst>
          </p:cNvPr>
          <p:cNvSpPr>
            <a:spLocks noChangeArrowheads="1"/>
          </p:cNvSpPr>
          <p:nvPr/>
        </p:nvSpPr>
        <p:spPr bwMode="auto">
          <a:xfrm>
            <a:off x="3644900" y="6019800"/>
            <a:ext cx="2286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MX" sz="1800">
                <a:solidFill>
                  <a:srgbClr val="000000"/>
                </a:solidFill>
              </a:rPr>
              <a:t>No Outbreak</a:t>
            </a:r>
          </a:p>
        </p:txBody>
      </p:sp>
      <p:sp>
        <p:nvSpPr>
          <p:cNvPr id="67598" name="Freeform 15">
            <a:extLst>
              <a:ext uri="{FF2B5EF4-FFF2-40B4-BE49-F238E27FC236}">
                <a16:creationId xmlns:a16="http://schemas.microsoft.com/office/drawing/2014/main" id="{09011962-F03E-9440-94AE-B0ED8DF045FF}"/>
              </a:ext>
            </a:extLst>
          </p:cNvPr>
          <p:cNvSpPr>
            <a:spLocks/>
          </p:cNvSpPr>
          <p:nvPr/>
        </p:nvSpPr>
        <p:spPr bwMode="auto">
          <a:xfrm>
            <a:off x="4114801" y="5562601"/>
            <a:ext cx="290513" cy="415925"/>
          </a:xfrm>
          <a:custGeom>
            <a:avLst/>
            <a:gdLst>
              <a:gd name="T0" fmla="*/ 0 w 14"/>
              <a:gd name="T1" fmla="*/ 2147483647 h 24"/>
              <a:gd name="T2" fmla="*/ 0 w 14"/>
              <a:gd name="T3" fmla="*/ 0 h 24"/>
              <a:gd name="T4" fmla="*/ 2147483647 w 14"/>
              <a:gd name="T5" fmla="*/ 0 h 24"/>
              <a:gd name="T6" fmla="*/ 0 60000 65536"/>
              <a:gd name="T7" fmla="*/ 0 60000 65536"/>
              <a:gd name="T8" fmla="*/ 0 60000 65536"/>
              <a:gd name="T9" fmla="*/ 0 w 14"/>
              <a:gd name="T10" fmla="*/ 0 h 24"/>
              <a:gd name="T11" fmla="*/ 14 w 14"/>
              <a:gd name="T12" fmla="*/ 24 h 24"/>
            </a:gdLst>
            <a:ahLst/>
            <a:cxnLst>
              <a:cxn ang="T6">
                <a:pos x="T0" y="T1"/>
              </a:cxn>
              <a:cxn ang="T7">
                <a:pos x="T2" y="T3"/>
              </a:cxn>
              <a:cxn ang="T8">
                <a:pos x="T4" y="T5"/>
              </a:cxn>
            </a:cxnLst>
            <a:rect l="T9" t="T10" r="T11" b="T12"/>
            <a:pathLst>
              <a:path w="14" h="24">
                <a:moveTo>
                  <a:pt x="0" y="24"/>
                </a:moveTo>
                <a:lnTo>
                  <a:pt x="0" y="0"/>
                </a:lnTo>
                <a:lnTo>
                  <a:pt x="14" y="0"/>
                </a:lnTo>
              </a:path>
            </a:pathLst>
          </a:custGeom>
          <a:noFill/>
          <a:ln w="19050"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7599" name="Freeform 16">
            <a:extLst>
              <a:ext uri="{FF2B5EF4-FFF2-40B4-BE49-F238E27FC236}">
                <a16:creationId xmlns:a16="http://schemas.microsoft.com/office/drawing/2014/main" id="{1E1459D7-5717-E04F-9173-B97D83192D65}"/>
              </a:ext>
            </a:extLst>
          </p:cNvPr>
          <p:cNvSpPr>
            <a:spLocks/>
          </p:cNvSpPr>
          <p:nvPr/>
        </p:nvSpPr>
        <p:spPr bwMode="auto">
          <a:xfrm>
            <a:off x="4094164" y="5749926"/>
            <a:ext cx="4592637" cy="574675"/>
          </a:xfrm>
          <a:custGeom>
            <a:avLst/>
            <a:gdLst>
              <a:gd name="T0" fmla="*/ 0 w 14"/>
              <a:gd name="T1" fmla="*/ 0 h 25"/>
              <a:gd name="T2" fmla="*/ 0 w 14"/>
              <a:gd name="T3" fmla="*/ 2147483647 h 25"/>
              <a:gd name="T4" fmla="*/ 2147483647 w 14"/>
              <a:gd name="T5" fmla="*/ 2147483647 h 25"/>
              <a:gd name="T6" fmla="*/ 0 60000 65536"/>
              <a:gd name="T7" fmla="*/ 0 60000 65536"/>
              <a:gd name="T8" fmla="*/ 0 60000 65536"/>
              <a:gd name="T9" fmla="*/ 0 w 14"/>
              <a:gd name="T10" fmla="*/ 0 h 25"/>
              <a:gd name="T11" fmla="*/ 14 w 14"/>
              <a:gd name="T12" fmla="*/ 25 h 25"/>
            </a:gdLst>
            <a:ahLst/>
            <a:cxnLst>
              <a:cxn ang="T6">
                <a:pos x="T0" y="T1"/>
              </a:cxn>
              <a:cxn ang="T7">
                <a:pos x="T2" y="T3"/>
              </a:cxn>
              <a:cxn ang="T8">
                <a:pos x="T4" y="T5"/>
              </a:cxn>
            </a:cxnLst>
            <a:rect l="T9" t="T10" r="T11" b="T12"/>
            <a:pathLst>
              <a:path w="14" h="25">
                <a:moveTo>
                  <a:pt x="0" y="0"/>
                </a:moveTo>
                <a:lnTo>
                  <a:pt x="0" y="25"/>
                </a:lnTo>
                <a:lnTo>
                  <a:pt x="14" y="25"/>
                </a:lnTo>
              </a:path>
            </a:pathLst>
          </a:custGeom>
          <a:noFill/>
          <a:ln w="19050"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7600" name="Line 17">
            <a:extLst>
              <a:ext uri="{FF2B5EF4-FFF2-40B4-BE49-F238E27FC236}">
                <a16:creationId xmlns:a16="http://schemas.microsoft.com/office/drawing/2014/main" id="{4E3D27C8-DEB2-834E-9510-1472B2BC9471}"/>
              </a:ext>
            </a:extLst>
          </p:cNvPr>
          <p:cNvSpPr>
            <a:spLocks noChangeShapeType="1"/>
          </p:cNvSpPr>
          <p:nvPr/>
        </p:nvSpPr>
        <p:spPr bwMode="auto">
          <a:xfrm>
            <a:off x="2547938" y="3808414"/>
            <a:ext cx="14287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67601" name="Rectangle 18">
            <a:extLst>
              <a:ext uri="{FF2B5EF4-FFF2-40B4-BE49-F238E27FC236}">
                <a16:creationId xmlns:a16="http://schemas.microsoft.com/office/drawing/2014/main" id="{6680967A-5D2D-2F46-9D1E-15F0EE54848E}"/>
              </a:ext>
            </a:extLst>
          </p:cNvPr>
          <p:cNvSpPr>
            <a:spLocks noChangeArrowheads="1"/>
          </p:cNvSpPr>
          <p:nvPr/>
        </p:nvSpPr>
        <p:spPr bwMode="auto">
          <a:xfrm>
            <a:off x="2438401" y="5410201"/>
            <a:ext cx="141064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000">
                <a:solidFill>
                  <a:srgbClr val="000000"/>
                </a:solidFill>
              </a:rPr>
              <a:t>Don</a:t>
            </a:r>
            <a:r>
              <a:rPr lang="ja-JP" altLang="en-US" sz="2000">
                <a:solidFill>
                  <a:srgbClr val="000000"/>
                </a:solidFill>
              </a:rPr>
              <a:t>’</a:t>
            </a:r>
            <a:r>
              <a:rPr lang="en-US" altLang="ja-JP" sz="2000">
                <a:solidFill>
                  <a:srgbClr val="000000"/>
                </a:solidFill>
              </a:rPr>
              <a:t>t Spray</a:t>
            </a:r>
            <a:endParaRPr lang="en-US" altLang="en-MX" sz="2000">
              <a:solidFill>
                <a:srgbClr val="000000"/>
              </a:solidFill>
            </a:endParaRPr>
          </a:p>
        </p:txBody>
      </p:sp>
      <p:sp>
        <p:nvSpPr>
          <p:cNvPr id="67602" name="Line 19">
            <a:extLst>
              <a:ext uri="{FF2B5EF4-FFF2-40B4-BE49-F238E27FC236}">
                <a16:creationId xmlns:a16="http://schemas.microsoft.com/office/drawing/2014/main" id="{026777D9-EF69-3B4D-833C-D93A6A1095B5}"/>
              </a:ext>
            </a:extLst>
          </p:cNvPr>
          <p:cNvSpPr>
            <a:spLocks noChangeShapeType="1"/>
          </p:cNvSpPr>
          <p:nvPr/>
        </p:nvSpPr>
        <p:spPr bwMode="auto">
          <a:xfrm>
            <a:off x="2514600" y="5867400"/>
            <a:ext cx="14287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67603" name="Rectangle 20">
            <a:extLst>
              <a:ext uri="{FF2B5EF4-FFF2-40B4-BE49-F238E27FC236}">
                <a16:creationId xmlns:a16="http://schemas.microsoft.com/office/drawing/2014/main" id="{9C7386FC-4620-5345-81F9-FA0462AA5B43}"/>
              </a:ext>
            </a:extLst>
          </p:cNvPr>
          <p:cNvSpPr>
            <a:spLocks noChangeArrowheads="1"/>
          </p:cNvSpPr>
          <p:nvPr/>
        </p:nvSpPr>
        <p:spPr bwMode="auto">
          <a:xfrm>
            <a:off x="2362201" y="3429001"/>
            <a:ext cx="4701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000">
                <a:solidFill>
                  <a:srgbClr val="000000"/>
                </a:solidFill>
              </a:rPr>
              <a:t>Test</a:t>
            </a:r>
          </a:p>
        </p:txBody>
      </p:sp>
      <p:sp>
        <p:nvSpPr>
          <p:cNvPr id="67604" name="Freeform 21">
            <a:extLst>
              <a:ext uri="{FF2B5EF4-FFF2-40B4-BE49-F238E27FC236}">
                <a16:creationId xmlns:a16="http://schemas.microsoft.com/office/drawing/2014/main" id="{01334E35-0D75-AE47-B822-1F9737C44DC4}"/>
              </a:ext>
            </a:extLst>
          </p:cNvPr>
          <p:cNvSpPr>
            <a:spLocks/>
          </p:cNvSpPr>
          <p:nvPr/>
        </p:nvSpPr>
        <p:spPr bwMode="auto">
          <a:xfrm>
            <a:off x="2209800" y="2057400"/>
            <a:ext cx="261938" cy="2198688"/>
          </a:xfrm>
          <a:custGeom>
            <a:avLst/>
            <a:gdLst>
              <a:gd name="T0" fmla="*/ 0 w 14"/>
              <a:gd name="T1" fmla="*/ 2147483647 h 87"/>
              <a:gd name="T2" fmla="*/ 0 w 14"/>
              <a:gd name="T3" fmla="*/ 0 h 87"/>
              <a:gd name="T4" fmla="*/ 2147483647 w 14"/>
              <a:gd name="T5" fmla="*/ 0 h 87"/>
              <a:gd name="T6" fmla="*/ 0 60000 65536"/>
              <a:gd name="T7" fmla="*/ 0 60000 65536"/>
              <a:gd name="T8" fmla="*/ 0 60000 65536"/>
              <a:gd name="T9" fmla="*/ 0 w 14"/>
              <a:gd name="T10" fmla="*/ 0 h 87"/>
              <a:gd name="T11" fmla="*/ 14 w 14"/>
              <a:gd name="T12" fmla="*/ 87 h 87"/>
            </a:gdLst>
            <a:ahLst/>
            <a:cxnLst>
              <a:cxn ang="T6">
                <a:pos x="T0" y="T1"/>
              </a:cxn>
              <a:cxn ang="T7">
                <a:pos x="T2" y="T3"/>
              </a:cxn>
              <a:cxn ang="T8">
                <a:pos x="T4" y="T5"/>
              </a:cxn>
            </a:cxnLst>
            <a:rect l="T9" t="T10" r="T11" b="T12"/>
            <a:pathLst>
              <a:path w="14" h="87">
                <a:moveTo>
                  <a:pt x="0" y="8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7605" name="Freeform 22">
            <a:extLst>
              <a:ext uri="{FF2B5EF4-FFF2-40B4-BE49-F238E27FC236}">
                <a16:creationId xmlns:a16="http://schemas.microsoft.com/office/drawing/2014/main" id="{86410DAC-A7FC-E447-8D91-254BE64AA289}"/>
              </a:ext>
            </a:extLst>
          </p:cNvPr>
          <p:cNvSpPr>
            <a:spLocks/>
          </p:cNvSpPr>
          <p:nvPr/>
        </p:nvSpPr>
        <p:spPr bwMode="auto">
          <a:xfrm>
            <a:off x="2244726" y="3810001"/>
            <a:ext cx="303213" cy="42863"/>
          </a:xfrm>
          <a:custGeom>
            <a:avLst/>
            <a:gdLst>
              <a:gd name="T0" fmla="*/ 0 w 14"/>
              <a:gd name="T1" fmla="*/ 2147483647 h 2"/>
              <a:gd name="T2" fmla="*/ 0 w 14"/>
              <a:gd name="T3" fmla="*/ 0 h 2"/>
              <a:gd name="T4" fmla="*/ 2147483647 w 14"/>
              <a:gd name="T5" fmla="*/ 0 h 2"/>
              <a:gd name="T6" fmla="*/ 0 60000 65536"/>
              <a:gd name="T7" fmla="*/ 0 60000 65536"/>
              <a:gd name="T8" fmla="*/ 0 60000 65536"/>
              <a:gd name="T9" fmla="*/ 0 w 14"/>
              <a:gd name="T10" fmla="*/ 0 h 2"/>
              <a:gd name="T11" fmla="*/ 14 w 14"/>
              <a:gd name="T12" fmla="*/ 2 h 2"/>
            </a:gdLst>
            <a:ahLst/>
            <a:cxnLst>
              <a:cxn ang="T6">
                <a:pos x="T0" y="T1"/>
              </a:cxn>
              <a:cxn ang="T7">
                <a:pos x="T2" y="T3"/>
              </a:cxn>
              <a:cxn ang="T8">
                <a:pos x="T4" y="T5"/>
              </a:cxn>
            </a:cxnLst>
            <a:rect l="T9" t="T10" r="T11" b="T12"/>
            <a:pathLst>
              <a:path w="14" h="2">
                <a:moveTo>
                  <a:pt x="0" y="2"/>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7606" name="Freeform 23">
            <a:extLst>
              <a:ext uri="{FF2B5EF4-FFF2-40B4-BE49-F238E27FC236}">
                <a16:creationId xmlns:a16="http://schemas.microsoft.com/office/drawing/2014/main" id="{3F97D893-7551-D245-96D5-227A93B2024A}"/>
              </a:ext>
            </a:extLst>
          </p:cNvPr>
          <p:cNvSpPr>
            <a:spLocks/>
          </p:cNvSpPr>
          <p:nvPr/>
        </p:nvSpPr>
        <p:spPr bwMode="auto">
          <a:xfrm>
            <a:off x="2209801" y="3957638"/>
            <a:ext cx="303213" cy="1916112"/>
          </a:xfrm>
          <a:custGeom>
            <a:avLst/>
            <a:gdLst>
              <a:gd name="T0" fmla="*/ 0 w 14"/>
              <a:gd name="T1" fmla="*/ 0 h 88"/>
              <a:gd name="T2" fmla="*/ 0 w 14"/>
              <a:gd name="T3" fmla="*/ 2147483647 h 88"/>
              <a:gd name="T4" fmla="*/ 2147483647 w 14"/>
              <a:gd name="T5" fmla="*/ 2147483647 h 88"/>
              <a:gd name="T6" fmla="*/ 0 60000 65536"/>
              <a:gd name="T7" fmla="*/ 0 60000 65536"/>
              <a:gd name="T8" fmla="*/ 0 60000 65536"/>
              <a:gd name="T9" fmla="*/ 0 w 14"/>
              <a:gd name="T10" fmla="*/ 0 h 88"/>
              <a:gd name="T11" fmla="*/ 14 w 14"/>
              <a:gd name="T12" fmla="*/ 88 h 88"/>
            </a:gdLst>
            <a:ahLst/>
            <a:cxnLst>
              <a:cxn ang="T6">
                <a:pos x="T0" y="T1"/>
              </a:cxn>
              <a:cxn ang="T7">
                <a:pos x="T2" y="T3"/>
              </a:cxn>
              <a:cxn ang="T8">
                <a:pos x="T4" y="T5"/>
              </a:cxn>
            </a:cxnLst>
            <a:rect l="T9" t="T10" r="T11" b="T12"/>
            <a:pathLst>
              <a:path w="14" h="88">
                <a:moveTo>
                  <a:pt x="0" y="0"/>
                </a:moveTo>
                <a:lnTo>
                  <a:pt x="0" y="88"/>
                </a:lnTo>
                <a:lnTo>
                  <a:pt x="14" y="88"/>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7607" name="Rectangle 24">
            <a:extLst>
              <a:ext uri="{FF2B5EF4-FFF2-40B4-BE49-F238E27FC236}">
                <a16:creationId xmlns:a16="http://schemas.microsoft.com/office/drawing/2014/main" id="{5DD49DFA-B213-444A-A98E-8C4C9B5715E2}"/>
              </a:ext>
            </a:extLst>
          </p:cNvPr>
          <p:cNvSpPr>
            <a:spLocks noChangeArrowheads="1"/>
          </p:cNvSpPr>
          <p:nvPr/>
        </p:nvSpPr>
        <p:spPr bwMode="auto">
          <a:xfrm>
            <a:off x="2093914" y="3657600"/>
            <a:ext cx="238125" cy="261938"/>
          </a:xfrm>
          <a:prstGeom prst="rect">
            <a:avLst/>
          </a:prstGeom>
          <a:solidFill>
            <a:schemeClr val="bg1"/>
          </a:solidFill>
          <a:ln w="25400">
            <a:solidFill>
              <a:srgbClr val="0000FF"/>
            </a:solidFill>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7608" name="Text Box 25">
            <a:extLst>
              <a:ext uri="{FF2B5EF4-FFF2-40B4-BE49-F238E27FC236}">
                <a16:creationId xmlns:a16="http://schemas.microsoft.com/office/drawing/2014/main" id="{B7FFBC92-6A67-E04A-AECC-E57C6B050CF8}"/>
              </a:ext>
            </a:extLst>
          </p:cNvPr>
          <p:cNvSpPr txBox="1">
            <a:spLocks noChangeArrowheads="1"/>
          </p:cNvSpPr>
          <p:nvPr/>
        </p:nvSpPr>
        <p:spPr bwMode="auto">
          <a:xfrm>
            <a:off x="8703366" y="665923"/>
            <a:ext cx="1600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1800" b="1" u="sng" dirty="0">
                <a:solidFill>
                  <a:srgbClr val="000000"/>
                </a:solidFill>
              </a:rPr>
              <a:t>P(Death</a:t>
            </a:r>
            <a:r>
              <a:rPr lang="en-US" altLang="en-MX" sz="1800" b="1" u="sng" dirty="0">
                <a:solidFill>
                  <a:srgbClr val="000000"/>
                </a:solidFill>
                <a:latin typeface="Garamond" panose="02020404030301010803" pitchFamily="18" charset="0"/>
              </a:rPr>
              <a:t>)</a:t>
            </a:r>
          </a:p>
        </p:txBody>
      </p:sp>
      <p:sp>
        <p:nvSpPr>
          <p:cNvPr id="67609" name="Line 26">
            <a:extLst>
              <a:ext uri="{FF2B5EF4-FFF2-40B4-BE49-F238E27FC236}">
                <a16:creationId xmlns:a16="http://schemas.microsoft.com/office/drawing/2014/main" id="{85E452F8-4BBE-F24B-8C73-6C936FAE9F33}"/>
              </a:ext>
            </a:extLst>
          </p:cNvPr>
          <p:cNvSpPr>
            <a:spLocks noChangeShapeType="1"/>
          </p:cNvSpPr>
          <p:nvPr/>
        </p:nvSpPr>
        <p:spPr bwMode="auto">
          <a:xfrm>
            <a:off x="8915400" y="14478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67610" name="Line 27">
            <a:extLst>
              <a:ext uri="{FF2B5EF4-FFF2-40B4-BE49-F238E27FC236}">
                <a16:creationId xmlns:a16="http://schemas.microsoft.com/office/drawing/2014/main" id="{7642552A-7256-BD40-968B-D151FB31FCE7}"/>
              </a:ext>
            </a:extLst>
          </p:cNvPr>
          <p:cNvSpPr>
            <a:spLocks noChangeShapeType="1"/>
          </p:cNvSpPr>
          <p:nvPr/>
        </p:nvSpPr>
        <p:spPr bwMode="auto">
          <a:xfrm>
            <a:off x="4267200" y="2286000"/>
            <a:ext cx="43434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67611" name="Line 28">
            <a:extLst>
              <a:ext uri="{FF2B5EF4-FFF2-40B4-BE49-F238E27FC236}">
                <a16:creationId xmlns:a16="http://schemas.microsoft.com/office/drawing/2014/main" id="{D82ABD5B-6440-264B-8881-F30459B25FD8}"/>
              </a:ext>
            </a:extLst>
          </p:cNvPr>
          <p:cNvSpPr>
            <a:spLocks noChangeShapeType="1"/>
          </p:cNvSpPr>
          <p:nvPr/>
        </p:nvSpPr>
        <p:spPr bwMode="auto">
          <a:xfrm>
            <a:off x="4343400" y="5562600"/>
            <a:ext cx="1295400" cy="0"/>
          </a:xfrm>
          <a:prstGeom prst="line">
            <a:avLst/>
          </a:prstGeom>
          <a:noFill/>
          <a:ln w="1905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67612" name="Oval 29">
            <a:extLst>
              <a:ext uri="{FF2B5EF4-FFF2-40B4-BE49-F238E27FC236}">
                <a16:creationId xmlns:a16="http://schemas.microsoft.com/office/drawing/2014/main" id="{FDB601A8-4873-F640-BB4E-7D4F1FDA3CA2}"/>
              </a:ext>
            </a:extLst>
          </p:cNvPr>
          <p:cNvSpPr>
            <a:spLocks noChangeArrowheads="1"/>
          </p:cNvSpPr>
          <p:nvPr/>
        </p:nvSpPr>
        <p:spPr bwMode="auto">
          <a:xfrm>
            <a:off x="5562601" y="1566864"/>
            <a:ext cx="238125" cy="261937"/>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7613" name="Rectangle 30">
            <a:extLst>
              <a:ext uri="{FF2B5EF4-FFF2-40B4-BE49-F238E27FC236}">
                <a16:creationId xmlns:a16="http://schemas.microsoft.com/office/drawing/2014/main" id="{73249FA5-C5C1-3A4B-AC28-ADFF36883E2B}"/>
              </a:ext>
            </a:extLst>
          </p:cNvPr>
          <p:cNvSpPr>
            <a:spLocks noChangeArrowheads="1"/>
          </p:cNvSpPr>
          <p:nvPr/>
        </p:nvSpPr>
        <p:spPr bwMode="auto">
          <a:xfrm>
            <a:off x="5943600" y="1066800"/>
            <a:ext cx="12319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Encephalitis</a:t>
            </a:r>
          </a:p>
        </p:txBody>
      </p:sp>
      <p:sp>
        <p:nvSpPr>
          <p:cNvPr id="67614" name="Line 31">
            <a:extLst>
              <a:ext uri="{FF2B5EF4-FFF2-40B4-BE49-F238E27FC236}">
                <a16:creationId xmlns:a16="http://schemas.microsoft.com/office/drawing/2014/main" id="{F0134A8C-C0B1-A844-9CC7-6684555342D6}"/>
              </a:ext>
            </a:extLst>
          </p:cNvPr>
          <p:cNvSpPr>
            <a:spLocks noChangeShapeType="1"/>
          </p:cNvSpPr>
          <p:nvPr/>
        </p:nvSpPr>
        <p:spPr bwMode="auto">
          <a:xfrm flipV="1">
            <a:off x="5957888" y="1371601"/>
            <a:ext cx="2652712" cy="1587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67615" name="Line 32">
            <a:extLst>
              <a:ext uri="{FF2B5EF4-FFF2-40B4-BE49-F238E27FC236}">
                <a16:creationId xmlns:a16="http://schemas.microsoft.com/office/drawing/2014/main" id="{5993EE5B-393E-E346-BC1D-7C8E18A8D63B}"/>
              </a:ext>
            </a:extLst>
          </p:cNvPr>
          <p:cNvSpPr>
            <a:spLocks noChangeShapeType="1"/>
          </p:cNvSpPr>
          <p:nvPr/>
        </p:nvSpPr>
        <p:spPr bwMode="auto">
          <a:xfrm>
            <a:off x="5943600" y="1981200"/>
            <a:ext cx="25908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67616" name="Freeform 33">
            <a:extLst>
              <a:ext uri="{FF2B5EF4-FFF2-40B4-BE49-F238E27FC236}">
                <a16:creationId xmlns:a16="http://schemas.microsoft.com/office/drawing/2014/main" id="{22D382C6-FDBB-8244-8E70-C08C1976AFBD}"/>
              </a:ext>
            </a:extLst>
          </p:cNvPr>
          <p:cNvSpPr>
            <a:spLocks/>
          </p:cNvSpPr>
          <p:nvPr/>
        </p:nvSpPr>
        <p:spPr bwMode="auto">
          <a:xfrm>
            <a:off x="5715000" y="5257801"/>
            <a:ext cx="2895600" cy="396875"/>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7617" name="Freeform 34">
            <a:extLst>
              <a:ext uri="{FF2B5EF4-FFF2-40B4-BE49-F238E27FC236}">
                <a16:creationId xmlns:a16="http://schemas.microsoft.com/office/drawing/2014/main" id="{FF6AAD91-DF92-284C-9DE1-F6574C7FA64C}"/>
              </a:ext>
            </a:extLst>
          </p:cNvPr>
          <p:cNvSpPr>
            <a:spLocks/>
          </p:cNvSpPr>
          <p:nvPr/>
        </p:nvSpPr>
        <p:spPr bwMode="auto">
          <a:xfrm>
            <a:off x="5716588" y="5502276"/>
            <a:ext cx="303212" cy="347663"/>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7618" name="Line 35">
            <a:extLst>
              <a:ext uri="{FF2B5EF4-FFF2-40B4-BE49-F238E27FC236}">
                <a16:creationId xmlns:a16="http://schemas.microsoft.com/office/drawing/2014/main" id="{6A1D91AF-C7B5-844E-87BD-AFB2C89185B3}"/>
              </a:ext>
            </a:extLst>
          </p:cNvPr>
          <p:cNvSpPr>
            <a:spLocks noChangeShapeType="1"/>
          </p:cNvSpPr>
          <p:nvPr/>
        </p:nvSpPr>
        <p:spPr bwMode="auto">
          <a:xfrm>
            <a:off x="6005513" y="5849938"/>
            <a:ext cx="25146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67619" name="Rectangle 36">
            <a:extLst>
              <a:ext uri="{FF2B5EF4-FFF2-40B4-BE49-F238E27FC236}">
                <a16:creationId xmlns:a16="http://schemas.microsoft.com/office/drawing/2014/main" id="{A30C8E61-6AC9-B341-822D-B461E3BAACE2}"/>
              </a:ext>
            </a:extLst>
          </p:cNvPr>
          <p:cNvSpPr>
            <a:spLocks noChangeArrowheads="1"/>
          </p:cNvSpPr>
          <p:nvPr/>
        </p:nvSpPr>
        <p:spPr bwMode="auto">
          <a:xfrm>
            <a:off x="5943600" y="1660525"/>
            <a:ext cx="1752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Encephalitis</a:t>
            </a:r>
          </a:p>
        </p:txBody>
      </p:sp>
      <p:sp>
        <p:nvSpPr>
          <p:cNvPr id="67620" name="Rectangle 37">
            <a:extLst>
              <a:ext uri="{FF2B5EF4-FFF2-40B4-BE49-F238E27FC236}">
                <a16:creationId xmlns:a16="http://schemas.microsoft.com/office/drawing/2014/main" id="{BD9E748E-3084-F94A-A01C-AE2E00D92210}"/>
              </a:ext>
            </a:extLst>
          </p:cNvPr>
          <p:cNvSpPr>
            <a:spLocks noChangeArrowheads="1"/>
          </p:cNvSpPr>
          <p:nvPr/>
        </p:nvSpPr>
        <p:spPr bwMode="auto">
          <a:xfrm>
            <a:off x="5956300" y="4999039"/>
            <a:ext cx="12319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Encephalitis</a:t>
            </a:r>
          </a:p>
        </p:txBody>
      </p:sp>
      <p:sp>
        <p:nvSpPr>
          <p:cNvPr id="67621" name="Rectangle 38">
            <a:extLst>
              <a:ext uri="{FF2B5EF4-FFF2-40B4-BE49-F238E27FC236}">
                <a16:creationId xmlns:a16="http://schemas.microsoft.com/office/drawing/2014/main" id="{DA2BADD7-1501-3943-BA4F-ECA22136A96F}"/>
              </a:ext>
            </a:extLst>
          </p:cNvPr>
          <p:cNvSpPr>
            <a:spLocks noChangeArrowheads="1"/>
          </p:cNvSpPr>
          <p:nvPr/>
        </p:nvSpPr>
        <p:spPr bwMode="auto">
          <a:xfrm>
            <a:off x="5943600" y="5562600"/>
            <a:ext cx="1752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Encephalitis</a:t>
            </a:r>
          </a:p>
        </p:txBody>
      </p:sp>
      <p:sp>
        <p:nvSpPr>
          <p:cNvPr id="67622" name="Oval 39">
            <a:extLst>
              <a:ext uri="{FF2B5EF4-FFF2-40B4-BE49-F238E27FC236}">
                <a16:creationId xmlns:a16="http://schemas.microsoft.com/office/drawing/2014/main" id="{6127FEF4-DFD8-1247-A0ED-221C87F9B805}"/>
              </a:ext>
            </a:extLst>
          </p:cNvPr>
          <p:cNvSpPr>
            <a:spLocks noChangeArrowheads="1"/>
          </p:cNvSpPr>
          <p:nvPr/>
        </p:nvSpPr>
        <p:spPr bwMode="auto">
          <a:xfrm>
            <a:off x="5629276" y="5426075"/>
            <a:ext cx="238125" cy="261938"/>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7623" name="Oval 40">
            <a:extLst>
              <a:ext uri="{FF2B5EF4-FFF2-40B4-BE49-F238E27FC236}">
                <a16:creationId xmlns:a16="http://schemas.microsoft.com/office/drawing/2014/main" id="{C907B245-683B-1540-8751-DAFDD8E43313}"/>
              </a:ext>
            </a:extLst>
          </p:cNvPr>
          <p:cNvSpPr>
            <a:spLocks noChangeArrowheads="1"/>
          </p:cNvSpPr>
          <p:nvPr/>
        </p:nvSpPr>
        <p:spPr bwMode="auto">
          <a:xfrm>
            <a:off x="3963989" y="5729288"/>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7624" name="Freeform 41">
            <a:extLst>
              <a:ext uri="{FF2B5EF4-FFF2-40B4-BE49-F238E27FC236}">
                <a16:creationId xmlns:a16="http://schemas.microsoft.com/office/drawing/2014/main" id="{7DABC1DD-5AF1-0548-A570-0EDB6FFD09F1}"/>
              </a:ext>
            </a:extLst>
          </p:cNvPr>
          <p:cNvSpPr>
            <a:spLocks/>
          </p:cNvSpPr>
          <p:nvPr/>
        </p:nvSpPr>
        <p:spPr bwMode="auto">
          <a:xfrm>
            <a:off x="4114801" y="3276600"/>
            <a:ext cx="371475" cy="533400"/>
          </a:xfrm>
          <a:custGeom>
            <a:avLst/>
            <a:gdLst>
              <a:gd name="T0" fmla="*/ 0 w 14"/>
              <a:gd name="T1" fmla="*/ 2147483647 h 16"/>
              <a:gd name="T2" fmla="*/ 0 w 14"/>
              <a:gd name="T3" fmla="*/ 0 h 16"/>
              <a:gd name="T4" fmla="*/ 2147483647 w 14"/>
              <a:gd name="T5" fmla="*/ 0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16"/>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7625" name="Freeform 42">
            <a:extLst>
              <a:ext uri="{FF2B5EF4-FFF2-40B4-BE49-F238E27FC236}">
                <a16:creationId xmlns:a16="http://schemas.microsoft.com/office/drawing/2014/main" id="{B1A96962-197E-FD44-931D-F5A6FE4B172B}"/>
              </a:ext>
            </a:extLst>
          </p:cNvPr>
          <p:cNvSpPr>
            <a:spLocks/>
          </p:cNvSpPr>
          <p:nvPr/>
        </p:nvSpPr>
        <p:spPr bwMode="auto">
          <a:xfrm>
            <a:off x="4114801" y="3962400"/>
            <a:ext cx="295275" cy="533400"/>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7626" name="Oval 43">
            <a:extLst>
              <a:ext uri="{FF2B5EF4-FFF2-40B4-BE49-F238E27FC236}">
                <a16:creationId xmlns:a16="http://schemas.microsoft.com/office/drawing/2014/main" id="{3509A7CC-6F4F-6F43-ABCD-2C0C99B2D022}"/>
              </a:ext>
            </a:extLst>
          </p:cNvPr>
          <p:cNvSpPr>
            <a:spLocks noChangeArrowheads="1"/>
          </p:cNvSpPr>
          <p:nvPr/>
        </p:nvSpPr>
        <p:spPr bwMode="auto">
          <a:xfrm>
            <a:off x="3976689" y="3733800"/>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7627" name="Line 44">
            <a:extLst>
              <a:ext uri="{FF2B5EF4-FFF2-40B4-BE49-F238E27FC236}">
                <a16:creationId xmlns:a16="http://schemas.microsoft.com/office/drawing/2014/main" id="{3F26C1A8-AC42-A940-BD38-C7C24638420D}"/>
              </a:ext>
            </a:extLst>
          </p:cNvPr>
          <p:cNvSpPr>
            <a:spLocks noChangeShapeType="1"/>
          </p:cNvSpPr>
          <p:nvPr/>
        </p:nvSpPr>
        <p:spPr bwMode="auto">
          <a:xfrm>
            <a:off x="4419600" y="3276600"/>
            <a:ext cx="7620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67628" name="Line 45">
            <a:extLst>
              <a:ext uri="{FF2B5EF4-FFF2-40B4-BE49-F238E27FC236}">
                <a16:creationId xmlns:a16="http://schemas.microsoft.com/office/drawing/2014/main" id="{A7601C85-F539-634A-83EA-894B435631A6}"/>
              </a:ext>
            </a:extLst>
          </p:cNvPr>
          <p:cNvSpPr>
            <a:spLocks noChangeShapeType="1"/>
          </p:cNvSpPr>
          <p:nvPr/>
        </p:nvSpPr>
        <p:spPr bwMode="auto">
          <a:xfrm>
            <a:off x="4419600" y="4495800"/>
            <a:ext cx="960438"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67629" name="Rectangle 46">
            <a:extLst>
              <a:ext uri="{FF2B5EF4-FFF2-40B4-BE49-F238E27FC236}">
                <a16:creationId xmlns:a16="http://schemas.microsoft.com/office/drawing/2014/main" id="{3C870DC2-2809-9444-AB49-A5190C29006F}"/>
              </a:ext>
            </a:extLst>
          </p:cNvPr>
          <p:cNvSpPr>
            <a:spLocks noChangeArrowheads="1"/>
          </p:cNvSpPr>
          <p:nvPr/>
        </p:nvSpPr>
        <p:spPr bwMode="auto">
          <a:xfrm>
            <a:off x="5486400" y="3124200"/>
            <a:ext cx="14097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Spray</a:t>
            </a:r>
          </a:p>
        </p:txBody>
      </p:sp>
      <p:sp>
        <p:nvSpPr>
          <p:cNvPr id="67630" name="Text Box 47">
            <a:extLst>
              <a:ext uri="{FF2B5EF4-FFF2-40B4-BE49-F238E27FC236}">
                <a16:creationId xmlns:a16="http://schemas.microsoft.com/office/drawing/2014/main" id="{9532B186-84CE-C149-A8D6-FE43958D2361}"/>
              </a:ext>
            </a:extLst>
          </p:cNvPr>
          <p:cNvSpPr txBox="1">
            <a:spLocks noChangeArrowheads="1"/>
          </p:cNvSpPr>
          <p:nvPr/>
        </p:nvSpPr>
        <p:spPr bwMode="auto">
          <a:xfrm>
            <a:off x="5638800" y="4191000"/>
            <a:ext cx="990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a:solidFill>
                  <a:srgbClr val="000000"/>
                </a:solidFill>
              </a:rPr>
              <a:t>Don</a:t>
            </a:r>
            <a:r>
              <a:rPr lang="ja-JP" altLang="en-US" sz="1800">
                <a:solidFill>
                  <a:srgbClr val="000000"/>
                </a:solidFill>
              </a:rPr>
              <a:t>’</a:t>
            </a:r>
            <a:r>
              <a:rPr lang="en-US" altLang="ja-JP" sz="1800">
                <a:solidFill>
                  <a:srgbClr val="000000"/>
                </a:solidFill>
              </a:rPr>
              <a:t>t spray</a:t>
            </a:r>
            <a:endParaRPr lang="en-US" altLang="en-MX" sz="1800">
              <a:solidFill>
                <a:srgbClr val="000000"/>
              </a:solidFill>
            </a:endParaRPr>
          </a:p>
        </p:txBody>
      </p:sp>
      <p:sp>
        <p:nvSpPr>
          <p:cNvPr id="67631" name="Line 48">
            <a:extLst>
              <a:ext uri="{FF2B5EF4-FFF2-40B4-BE49-F238E27FC236}">
                <a16:creationId xmlns:a16="http://schemas.microsoft.com/office/drawing/2014/main" id="{EB2DEF50-9EEE-914B-A7A3-C77F0CAFAB86}"/>
              </a:ext>
            </a:extLst>
          </p:cNvPr>
          <p:cNvSpPr>
            <a:spLocks noChangeShapeType="1"/>
          </p:cNvSpPr>
          <p:nvPr/>
        </p:nvSpPr>
        <p:spPr bwMode="auto">
          <a:xfrm>
            <a:off x="8915400" y="19050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67632" name="Line 49">
            <a:extLst>
              <a:ext uri="{FF2B5EF4-FFF2-40B4-BE49-F238E27FC236}">
                <a16:creationId xmlns:a16="http://schemas.microsoft.com/office/drawing/2014/main" id="{C6AADC7B-1CD0-C348-80CA-BDAD7A3EFA1F}"/>
              </a:ext>
            </a:extLst>
          </p:cNvPr>
          <p:cNvSpPr>
            <a:spLocks noChangeShapeType="1"/>
          </p:cNvSpPr>
          <p:nvPr/>
        </p:nvSpPr>
        <p:spPr bwMode="auto">
          <a:xfrm>
            <a:off x="8915400" y="22860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67633" name="Line 50">
            <a:extLst>
              <a:ext uri="{FF2B5EF4-FFF2-40B4-BE49-F238E27FC236}">
                <a16:creationId xmlns:a16="http://schemas.microsoft.com/office/drawing/2014/main" id="{37F3F70B-B60D-7B4A-B9E5-4A9A7F3A0421}"/>
              </a:ext>
            </a:extLst>
          </p:cNvPr>
          <p:cNvSpPr>
            <a:spLocks noChangeShapeType="1"/>
          </p:cNvSpPr>
          <p:nvPr/>
        </p:nvSpPr>
        <p:spPr bwMode="auto">
          <a:xfrm>
            <a:off x="8915400" y="29718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67634" name="Line 51">
            <a:extLst>
              <a:ext uri="{FF2B5EF4-FFF2-40B4-BE49-F238E27FC236}">
                <a16:creationId xmlns:a16="http://schemas.microsoft.com/office/drawing/2014/main" id="{CD3165DA-6A83-AF4F-8E06-AE9AF2968847}"/>
              </a:ext>
            </a:extLst>
          </p:cNvPr>
          <p:cNvSpPr>
            <a:spLocks noChangeShapeType="1"/>
          </p:cNvSpPr>
          <p:nvPr/>
        </p:nvSpPr>
        <p:spPr bwMode="auto">
          <a:xfrm>
            <a:off x="8915400" y="35814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67635" name="Line 52">
            <a:extLst>
              <a:ext uri="{FF2B5EF4-FFF2-40B4-BE49-F238E27FC236}">
                <a16:creationId xmlns:a16="http://schemas.microsoft.com/office/drawing/2014/main" id="{0A7D67E9-D59A-784D-8FC2-2F86B70A11A7}"/>
              </a:ext>
            </a:extLst>
          </p:cNvPr>
          <p:cNvSpPr>
            <a:spLocks noChangeShapeType="1"/>
          </p:cNvSpPr>
          <p:nvPr/>
        </p:nvSpPr>
        <p:spPr bwMode="auto">
          <a:xfrm>
            <a:off x="8915400" y="43434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67636" name="Line 53">
            <a:extLst>
              <a:ext uri="{FF2B5EF4-FFF2-40B4-BE49-F238E27FC236}">
                <a16:creationId xmlns:a16="http://schemas.microsoft.com/office/drawing/2014/main" id="{03E80347-E8F3-F449-BF51-D0FD64B2A16F}"/>
              </a:ext>
            </a:extLst>
          </p:cNvPr>
          <p:cNvSpPr>
            <a:spLocks noChangeShapeType="1"/>
          </p:cNvSpPr>
          <p:nvPr/>
        </p:nvSpPr>
        <p:spPr bwMode="auto">
          <a:xfrm>
            <a:off x="8915400" y="48006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67637" name="Line 54">
            <a:extLst>
              <a:ext uri="{FF2B5EF4-FFF2-40B4-BE49-F238E27FC236}">
                <a16:creationId xmlns:a16="http://schemas.microsoft.com/office/drawing/2014/main" id="{918A7AB0-D94F-4845-8BEB-9E4A53E075D3}"/>
              </a:ext>
            </a:extLst>
          </p:cNvPr>
          <p:cNvSpPr>
            <a:spLocks noChangeShapeType="1"/>
          </p:cNvSpPr>
          <p:nvPr/>
        </p:nvSpPr>
        <p:spPr bwMode="auto">
          <a:xfrm>
            <a:off x="8915400" y="53340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67638" name="Line 55">
            <a:extLst>
              <a:ext uri="{FF2B5EF4-FFF2-40B4-BE49-F238E27FC236}">
                <a16:creationId xmlns:a16="http://schemas.microsoft.com/office/drawing/2014/main" id="{83572719-801D-AA4F-B0A1-880081FFCCCA}"/>
              </a:ext>
            </a:extLst>
          </p:cNvPr>
          <p:cNvSpPr>
            <a:spLocks noChangeShapeType="1"/>
          </p:cNvSpPr>
          <p:nvPr/>
        </p:nvSpPr>
        <p:spPr bwMode="auto">
          <a:xfrm>
            <a:off x="8915400" y="57912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67639" name="Line 56">
            <a:extLst>
              <a:ext uri="{FF2B5EF4-FFF2-40B4-BE49-F238E27FC236}">
                <a16:creationId xmlns:a16="http://schemas.microsoft.com/office/drawing/2014/main" id="{BAFC119A-F69A-0248-8903-98927EF12F7D}"/>
              </a:ext>
            </a:extLst>
          </p:cNvPr>
          <p:cNvSpPr>
            <a:spLocks noChangeShapeType="1"/>
          </p:cNvSpPr>
          <p:nvPr/>
        </p:nvSpPr>
        <p:spPr bwMode="auto">
          <a:xfrm>
            <a:off x="8915400" y="63246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67640" name="Rectangle 57">
            <a:extLst>
              <a:ext uri="{FF2B5EF4-FFF2-40B4-BE49-F238E27FC236}">
                <a16:creationId xmlns:a16="http://schemas.microsoft.com/office/drawing/2014/main" id="{1E3D7F39-814A-784A-81AC-BD3C1C4F7ECB}"/>
              </a:ext>
            </a:extLst>
          </p:cNvPr>
          <p:cNvSpPr>
            <a:spLocks noChangeArrowheads="1"/>
          </p:cNvSpPr>
          <p:nvPr/>
        </p:nvSpPr>
        <p:spPr bwMode="auto">
          <a:xfrm>
            <a:off x="4191000" y="2895601"/>
            <a:ext cx="117981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ja-JP" altLang="en-US" sz="1800">
                <a:solidFill>
                  <a:srgbClr val="000000"/>
                </a:solidFill>
              </a:rPr>
              <a:t>“</a:t>
            </a:r>
            <a:r>
              <a:rPr lang="en-US" altLang="ja-JP" sz="1800">
                <a:solidFill>
                  <a:srgbClr val="000000"/>
                </a:solidFill>
              </a:rPr>
              <a:t>Outbreak</a:t>
            </a:r>
            <a:r>
              <a:rPr lang="ja-JP" altLang="en-US" sz="1800">
                <a:solidFill>
                  <a:srgbClr val="000000"/>
                </a:solidFill>
              </a:rPr>
              <a:t>”</a:t>
            </a:r>
            <a:endParaRPr lang="en-US" altLang="en-MX" sz="1800">
              <a:solidFill>
                <a:srgbClr val="000000"/>
              </a:solidFill>
            </a:endParaRPr>
          </a:p>
        </p:txBody>
      </p:sp>
      <p:sp>
        <p:nvSpPr>
          <p:cNvPr id="67641" name="Rectangle 58">
            <a:extLst>
              <a:ext uri="{FF2B5EF4-FFF2-40B4-BE49-F238E27FC236}">
                <a16:creationId xmlns:a16="http://schemas.microsoft.com/office/drawing/2014/main" id="{71CDCE27-1DDB-3743-813C-808DB4BE2EE5}"/>
              </a:ext>
            </a:extLst>
          </p:cNvPr>
          <p:cNvSpPr>
            <a:spLocks noChangeArrowheads="1"/>
          </p:cNvSpPr>
          <p:nvPr/>
        </p:nvSpPr>
        <p:spPr bwMode="auto">
          <a:xfrm>
            <a:off x="4191000" y="3962401"/>
            <a:ext cx="10668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ja-JP" altLang="en-US" sz="1800">
                <a:solidFill>
                  <a:srgbClr val="000000"/>
                </a:solidFill>
              </a:rPr>
              <a:t>“</a:t>
            </a:r>
            <a:r>
              <a:rPr lang="en-US" altLang="ja-JP" sz="1800">
                <a:solidFill>
                  <a:srgbClr val="000000"/>
                </a:solidFill>
              </a:rPr>
              <a:t>No</a:t>
            </a:r>
          </a:p>
          <a:p>
            <a:r>
              <a:rPr lang="en-US" altLang="en-MX" sz="1800">
                <a:solidFill>
                  <a:srgbClr val="000000"/>
                </a:solidFill>
              </a:rPr>
              <a:t>Outbreak</a:t>
            </a:r>
            <a:r>
              <a:rPr lang="ja-JP" altLang="en-US" sz="1800">
                <a:solidFill>
                  <a:srgbClr val="000000"/>
                </a:solidFill>
              </a:rPr>
              <a:t>”</a:t>
            </a:r>
            <a:endParaRPr lang="en-US" altLang="en-MX" sz="1800">
              <a:solidFill>
                <a:srgbClr val="000000"/>
              </a:solidFill>
            </a:endParaRPr>
          </a:p>
        </p:txBody>
      </p:sp>
      <p:sp>
        <p:nvSpPr>
          <p:cNvPr id="67642" name="AutoShape 59">
            <a:extLst>
              <a:ext uri="{FF2B5EF4-FFF2-40B4-BE49-F238E27FC236}">
                <a16:creationId xmlns:a16="http://schemas.microsoft.com/office/drawing/2014/main" id="{9BC1FA26-8150-D646-9811-C3074A5DD825}"/>
              </a:ext>
            </a:extLst>
          </p:cNvPr>
          <p:cNvSpPr>
            <a:spLocks noChangeArrowheads="1"/>
          </p:cNvSpPr>
          <p:nvPr/>
        </p:nvSpPr>
        <p:spPr bwMode="auto">
          <a:xfrm>
            <a:off x="5105400" y="3124200"/>
            <a:ext cx="304800" cy="304800"/>
          </a:xfrm>
          <a:prstGeom prst="rightArrow">
            <a:avLst>
              <a:gd name="adj1" fmla="val 50000"/>
              <a:gd name="adj2" fmla="val 25000"/>
            </a:avLst>
          </a:prstGeom>
          <a:solidFill>
            <a:srgbClr val="990033"/>
          </a:solidFill>
          <a:ln w="12700">
            <a:solidFill>
              <a:srgbClr val="00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7643" name="AutoShape 60">
            <a:extLst>
              <a:ext uri="{FF2B5EF4-FFF2-40B4-BE49-F238E27FC236}">
                <a16:creationId xmlns:a16="http://schemas.microsoft.com/office/drawing/2014/main" id="{5C32E7D1-DA72-244C-B7E4-FEA0422FD20F}"/>
              </a:ext>
            </a:extLst>
          </p:cNvPr>
          <p:cNvSpPr>
            <a:spLocks noChangeArrowheads="1"/>
          </p:cNvSpPr>
          <p:nvPr/>
        </p:nvSpPr>
        <p:spPr bwMode="auto">
          <a:xfrm>
            <a:off x="5334000" y="4343400"/>
            <a:ext cx="304800" cy="304800"/>
          </a:xfrm>
          <a:prstGeom prst="rightArrow">
            <a:avLst>
              <a:gd name="adj1" fmla="val 50000"/>
              <a:gd name="adj2" fmla="val 25000"/>
            </a:avLst>
          </a:prstGeom>
          <a:solidFill>
            <a:srgbClr val="990033"/>
          </a:solidFill>
          <a:ln w="12700">
            <a:solidFill>
              <a:srgbClr val="00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7644" name="Freeform 61">
            <a:extLst>
              <a:ext uri="{FF2B5EF4-FFF2-40B4-BE49-F238E27FC236}">
                <a16:creationId xmlns:a16="http://schemas.microsoft.com/office/drawing/2014/main" id="{4E1FE8B6-C276-BA48-9BCD-D02E61F27067}"/>
              </a:ext>
            </a:extLst>
          </p:cNvPr>
          <p:cNvSpPr>
            <a:spLocks/>
          </p:cNvSpPr>
          <p:nvPr/>
        </p:nvSpPr>
        <p:spPr bwMode="auto">
          <a:xfrm>
            <a:off x="6235700" y="2971801"/>
            <a:ext cx="2451100" cy="396875"/>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7645" name="Freeform 62">
            <a:extLst>
              <a:ext uri="{FF2B5EF4-FFF2-40B4-BE49-F238E27FC236}">
                <a16:creationId xmlns:a16="http://schemas.microsoft.com/office/drawing/2014/main" id="{BCA63163-8D87-B348-BE53-67D6417B1CBA}"/>
              </a:ext>
            </a:extLst>
          </p:cNvPr>
          <p:cNvSpPr>
            <a:spLocks/>
          </p:cNvSpPr>
          <p:nvPr/>
        </p:nvSpPr>
        <p:spPr bwMode="auto">
          <a:xfrm>
            <a:off x="6235700" y="3249614"/>
            <a:ext cx="2374900" cy="331787"/>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7646" name="Rectangle 63">
            <a:extLst>
              <a:ext uri="{FF2B5EF4-FFF2-40B4-BE49-F238E27FC236}">
                <a16:creationId xmlns:a16="http://schemas.microsoft.com/office/drawing/2014/main" id="{968DB4EC-A7EA-BB4F-BF6B-D3461D7F684F}"/>
              </a:ext>
            </a:extLst>
          </p:cNvPr>
          <p:cNvSpPr>
            <a:spLocks noChangeArrowheads="1"/>
          </p:cNvSpPr>
          <p:nvPr/>
        </p:nvSpPr>
        <p:spPr bwMode="auto">
          <a:xfrm>
            <a:off x="6535738" y="2682875"/>
            <a:ext cx="12319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Encephalitis</a:t>
            </a:r>
          </a:p>
        </p:txBody>
      </p:sp>
      <p:sp>
        <p:nvSpPr>
          <p:cNvPr id="67647" name="Rectangle 64">
            <a:extLst>
              <a:ext uri="{FF2B5EF4-FFF2-40B4-BE49-F238E27FC236}">
                <a16:creationId xmlns:a16="http://schemas.microsoft.com/office/drawing/2014/main" id="{FD2E7887-93D1-6848-8306-9F4613A0276E}"/>
              </a:ext>
            </a:extLst>
          </p:cNvPr>
          <p:cNvSpPr>
            <a:spLocks noChangeArrowheads="1"/>
          </p:cNvSpPr>
          <p:nvPr/>
        </p:nvSpPr>
        <p:spPr bwMode="auto">
          <a:xfrm>
            <a:off x="6477000" y="3276600"/>
            <a:ext cx="1752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Encephalitis</a:t>
            </a:r>
          </a:p>
        </p:txBody>
      </p:sp>
      <p:sp>
        <p:nvSpPr>
          <p:cNvPr id="67648" name="Oval 65">
            <a:extLst>
              <a:ext uri="{FF2B5EF4-FFF2-40B4-BE49-F238E27FC236}">
                <a16:creationId xmlns:a16="http://schemas.microsoft.com/office/drawing/2014/main" id="{BC221ED9-0C96-6B43-881A-064AE580D509}"/>
              </a:ext>
            </a:extLst>
          </p:cNvPr>
          <p:cNvSpPr>
            <a:spLocks noChangeArrowheads="1"/>
          </p:cNvSpPr>
          <p:nvPr/>
        </p:nvSpPr>
        <p:spPr bwMode="auto">
          <a:xfrm>
            <a:off x="6172201" y="3124200"/>
            <a:ext cx="238125" cy="261938"/>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7649" name="Freeform 66">
            <a:extLst>
              <a:ext uri="{FF2B5EF4-FFF2-40B4-BE49-F238E27FC236}">
                <a16:creationId xmlns:a16="http://schemas.microsoft.com/office/drawing/2014/main" id="{EB1B4C98-AFB1-5449-AE8C-549FEBB69025}"/>
              </a:ext>
            </a:extLst>
          </p:cNvPr>
          <p:cNvSpPr>
            <a:spLocks/>
          </p:cNvSpPr>
          <p:nvPr/>
        </p:nvSpPr>
        <p:spPr bwMode="auto">
          <a:xfrm>
            <a:off x="6540500" y="4251326"/>
            <a:ext cx="2146300" cy="396875"/>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7650" name="Freeform 67">
            <a:extLst>
              <a:ext uri="{FF2B5EF4-FFF2-40B4-BE49-F238E27FC236}">
                <a16:creationId xmlns:a16="http://schemas.microsoft.com/office/drawing/2014/main" id="{E243F0CB-6C68-024E-9408-92D6F0DA5119}"/>
              </a:ext>
            </a:extLst>
          </p:cNvPr>
          <p:cNvSpPr>
            <a:spLocks/>
          </p:cNvSpPr>
          <p:nvPr/>
        </p:nvSpPr>
        <p:spPr bwMode="auto">
          <a:xfrm>
            <a:off x="6540500" y="4529139"/>
            <a:ext cx="2070100" cy="331787"/>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67651" name="Rectangle 68">
            <a:extLst>
              <a:ext uri="{FF2B5EF4-FFF2-40B4-BE49-F238E27FC236}">
                <a16:creationId xmlns:a16="http://schemas.microsoft.com/office/drawing/2014/main" id="{6CB0CC8B-F4C5-EF46-B312-1E49F5902670}"/>
              </a:ext>
            </a:extLst>
          </p:cNvPr>
          <p:cNvSpPr>
            <a:spLocks noChangeArrowheads="1"/>
          </p:cNvSpPr>
          <p:nvPr/>
        </p:nvSpPr>
        <p:spPr bwMode="auto">
          <a:xfrm>
            <a:off x="6840538" y="3962400"/>
            <a:ext cx="12319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Encephalitis</a:t>
            </a:r>
          </a:p>
        </p:txBody>
      </p:sp>
      <p:sp>
        <p:nvSpPr>
          <p:cNvPr id="67652" name="Rectangle 69">
            <a:extLst>
              <a:ext uri="{FF2B5EF4-FFF2-40B4-BE49-F238E27FC236}">
                <a16:creationId xmlns:a16="http://schemas.microsoft.com/office/drawing/2014/main" id="{91024158-123D-B14F-9690-0AF0CB04CD9C}"/>
              </a:ext>
            </a:extLst>
          </p:cNvPr>
          <p:cNvSpPr>
            <a:spLocks noChangeArrowheads="1"/>
          </p:cNvSpPr>
          <p:nvPr/>
        </p:nvSpPr>
        <p:spPr bwMode="auto">
          <a:xfrm>
            <a:off x="6781800" y="4556125"/>
            <a:ext cx="1752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Encephalitis</a:t>
            </a:r>
          </a:p>
        </p:txBody>
      </p:sp>
      <p:sp>
        <p:nvSpPr>
          <p:cNvPr id="67653" name="Oval 70">
            <a:extLst>
              <a:ext uri="{FF2B5EF4-FFF2-40B4-BE49-F238E27FC236}">
                <a16:creationId xmlns:a16="http://schemas.microsoft.com/office/drawing/2014/main" id="{7A49B06A-C4DB-114F-9782-EBB9B20EA6D2}"/>
              </a:ext>
            </a:extLst>
          </p:cNvPr>
          <p:cNvSpPr>
            <a:spLocks noChangeArrowheads="1"/>
          </p:cNvSpPr>
          <p:nvPr/>
        </p:nvSpPr>
        <p:spPr bwMode="auto">
          <a:xfrm>
            <a:off x="6467476" y="4403725"/>
            <a:ext cx="238125" cy="261938"/>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7654" name="AutoShape 71">
            <a:extLst>
              <a:ext uri="{FF2B5EF4-FFF2-40B4-BE49-F238E27FC236}">
                <a16:creationId xmlns:a16="http://schemas.microsoft.com/office/drawing/2014/main" id="{9F27E172-B40B-A847-8091-F1F93F0A7F7E}"/>
              </a:ext>
            </a:extLst>
          </p:cNvPr>
          <p:cNvSpPr>
            <a:spLocks noChangeArrowheads="1"/>
          </p:cNvSpPr>
          <p:nvPr/>
        </p:nvSpPr>
        <p:spPr bwMode="auto">
          <a:xfrm>
            <a:off x="8534400" y="12192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7655" name="AutoShape 72">
            <a:extLst>
              <a:ext uri="{FF2B5EF4-FFF2-40B4-BE49-F238E27FC236}">
                <a16:creationId xmlns:a16="http://schemas.microsoft.com/office/drawing/2014/main" id="{F502C870-D9C5-0343-B6E2-F0D606744EC2}"/>
              </a:ext>
            </a:extLst>
          </p:cNvPr>
          <p:cNvSpPr>
            <a:spLocks noChangeArrowheads="1"/>
          </p:cNvSpPr>
          <p:nvPr/>
        </p:nvSpPr>
        <p:spPr bwMode="auto">
          <a:xfrm>
            <a:off x="8534400" y="16764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7656" name="AutoShape 73">
            <a:extLst>
              <a:ext uri="{FF2B5EF4-FFF2-40B4-BE49-F238E27FC236}">
                <a16:creationId xmlns:a16="http://schemas.microsoft.com/office/drawing/2014/main" id="{3A739602-3CB4-674B-8BAF-5B51C092CD0A}"/>
              </a:ext>
            </a:extLst>
          </p:cNvPr>
          <p:cNvSpPr>
            <a:spLocks noChangeArrowheads="1"/>
          </p:cNvSpPr>
          <p:nvPr/>
        </p:nvSpPr>
        <p:spPr bwMode="auto">
          <a:xfrm>
            <a:off x="8534400" y="20574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7657" name="AutoShape 74">
            <a:extLst>
              <a:ext uri="{FF2B5EF4-FFF2-40B4-BE49-F238E27FC236}">
                <a16:creationId xmlns:a16="http://schemas.microsoft.com/office/drawing/2014/main" id="{4A9BC6D7-15EE-104B-8277-0A08C95DC4C7}"/>
              </a:ext>
            </a:extLst>
          </p:cNvPr>
          <p:cNvSpPr>
            <a:spLocks noChangeArrowheads="1"/>
          </p:cNvSpPr>
          <p:nvPr/>
        </p:nvSpPr>
        <p:spPr bwMode="auto">
          <a:xfrm>
            <a:off x="8534400" y="33528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7658" name="AutoShape 75">
            <a:extLst>
              <a:ext uri="{FF2B5EF4-FFF2-40B4-BE49-F238E27FC236}">
                <a16:creationId xmlns:a16="http://schemas.microsoft.com/office/drawing/2014/main" id="{4FEA1F5A-E663-494B-BE0A-1284451F7D17}"/>
              </a:ext>
            </a:extLst>
          </p:cNvPr>
          <p:cNvSpPr>
            <a:spLocks noChangeArrowheads="1"/>
          </p:cNvSpPr>
          <p:nvPr/>
        </p:nvSpPr>
        <p:spPr bwMode="auto">
          <a:xfrm>
            <a:off x="8534400" y="28194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7659" name="AutoShape 76">
            <a:extLst>
              <a:ext uri="{FF2B5EF4-FFF2-40B4-BE49-F238E27FC236}">
                <a16:creationId xmlns:a16="http://schemas.microsoft.com/office/drawing/2014/main" id="{B2FFE778-AFA0-2A4E-B4F3-C96C7C8BE05A}"/>
              </a:ext>
            </a:extLst>
          </p:cNvPr>
          <p:cNvSpPr>
            <a:spLocks noChangeArrowheads="1"/>
          </p:cNvSpPr>
          <p:nvPr/>
        </p:nvSpPr>
        <p:spPr bwMode="auto">
          <a:xfrm>
            <a:off x="8547100" y="5121275"/>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7660" name="AutoShape 77">
            <a:extLst>
              <a:ext uri="{FF2B5EF4-FFF2-40B4-BE49-F238E27FC236}">
                <a16:creationId xmlns:a16="http://schemas.microsoft.com/office/drawing/2014/main" id="{A49E9B7A-5623-DC48-898D-06787619C38D}"/>
              </a:ext>
            </a:extLst>
          </p:cNvPr>
          <p:cNvSpPr>
            <a:spLocks noChangeArrowheads="1"/>
          </p:cNvSpPr>
          <p:nvPr/>
        </p:nvSpPr>
        <p:spPr bwMode="auto">
          <a:xfrm>
            <a:off x="8547100" y="5578475"/>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7661" name="AutoShape 78">
            <a:extLst>
              <a:ext uri="{FF2B5EF4-FFF2-40B4-BE49-F238E27FC236}">
                <a16:creationId xmlns:a16="http://schemas.microsoft.com/office/drawing/2014/main" id="{A301BC26-A1B6-1B4E-A88E-A7CCE8EBC630}"/>
              </a:ext>
            </a:extLst>
          </p:cNvPr>
          <p:cNvSpPr>
            <a:spLocks noChangeArrowheads="1"/>
          </p:cNvSpPr>
          <p:nvPr/>
        </p:nvSpPr>
        <p:spPr bwMode="auto">
          <a:xfrm>
            <a:off x="8534400" y="6065838"/>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7662" name="AutoShape 79">
            <a:extLst>
              <a:ext uri="{FF2B5EF4-FFF2-40B4-BE49-F238E27FC236}">
                <a16:creationId xmlns:a16="http://schemas.microsoft.com/office/drawing/2014/main" id="{CDB450B3-88D6-7542-91AF-FD146A47F121}"/>
              </a:ext>
            </a:extLst>
          </p:cNvPr>
          <p:cNvSpPr>
            <a:spLocks noChangeArrowheads="1"/>
          </p:cNvSpPr>
          <p:nvPr/>
        </p:nvSpPr>
        <p:spPr bwMode="auto">
          <a:xfrm>
            <a:off x="8547100" y="41148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7663" name="AutoShape 80">
            <a:extLst>
              <a:ext uri="{FF2B5EF4-FFF2-40B4-BE49-F238E27FC236}">
                <a16:creationId xmlns:a16="http://schemas.microsoft.com/office/drawing/2014/main" id="{E6374FFD-724C-9449-B524-1EEC8BDF7DCF}"/>
              </a:ext>
            </a:extLst>
          </p:cNvPr>
          <p:cNvSpPr>
            <a:spLocks noChangeArrowheads="1"/>
          </p:cNvSpPr>
          <p:nvPr/>
        </p:nvSpPr>
        <p:spPr bwMode="auto">
          <a:xfrm>
            <a:off x="8547100" y="45720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67664" name="Text Box 81">
            <a:extLst>
              <a:ext uri="{FF2B5EF4-FFF2-40B4-BE49-F238E27FC236}">
                <a16:creationId xmlns:a16="http://schemas.microsoft.com/office/drawing/2014/main" id="{1089CF4F-F71F-4642-BD14-C2F986CBDD9C}"/>
              </a:ext>
            </a:extLst>
          </p:cNvPr>
          <p:cNvSpPr txBox="1">
            <a:spLocks noChangeArrowheads="1"/>
          </p:cNvSpPr>
          <p:nvPr/>
        </p:nvSpPr>
        <p:spPr bwMode="auto">
          <a:xfrm>
            <a:off x="4343400" y="164465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0.20</a:t>
            </a:r>
          </a:p>
        </p:txBody>
      </p:sp>
      <p:sp>
        <p:nvSpPr>
          <p:cNvPr id="67665" name="Text Box 82">
            <a:extLst>
              <a:ext uri="{FF2B5EF4-FFF2-40B4-BE49-F238E27FC236}">
                <a16:creationId xmlns:a16="http://schemas.microsoft.com/office/drawing/2014/main" id="{27918918-1F0F-2E4E-9622-0D8E9AC90431}"/>
              </a:ext>
            </a:extLst>
          </p:cNvPr>
          <p:cNvSpPr txBox="1">
            <a:spLocks noChangeArrowheads="1"/>
          </p:cNvSpPr>
          <p:nvPr/>
        </p:nvSpPr>
        <p:spPr bwMode="auto">
          <a:xfrm>
            <a:off x="4343400" y="228600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0.80</a:t>
            </a:r>
          </a:p>
        </p:txBody>
      </p:sp>
      <p:sp>
        <p:nvSpPr>
          <p:cNvPr id="67666" name="Text Box 83">
            <a:extLst>
              <a:ext uri="{FF2B5EF4-FFF2-40B4-BE49-F238E27FC236}">
                <a16:creationId xmlns:a16="http://schemas.microsoft.com/office/drawing/2014/main" id="{40B885DE-400E-3E4F-91E4-97A019B6C4B9}"/>
              </a:ext>
            </a:extLst>
          </p:cNvPr>
          <p:cNvSpPr txBox="1">
            <a:spLocks noChangeArrowheads="1"/>
          </p:cNvSpPr>
          <p:nvPr/>
        </p:nvSpPr>
        <p:spPr bwMode="auto">
          <a:xfrm>
            <a:off x="6019800" y="133985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0.001</a:t>
            </a:r>
          </a:p>
        </p:txBody>
      </p:sp>
      <p:sp>
        <p:nvSpPr>
          <p:cNvPr id="67667" name="Text Box 84">
            <a:extLst>
              <a:ext uri="{FF2B5EF4-FFF2-40B4-BE49-F238E27FC236}">
                <a16:creationId xmlns:a16="http://schemas.microsoft.com/office/drawing/2014/main" id="{8EF59FDF-7884-3843-BBD2-417BEE8C1A21}"/>
              </a:ext>
            </a:extLst>
          </p:cNvPr>
          <p:cNvSpPr txBox="1">
            <a:spLocks noChangeArrowheads="1"/>
          </p:cNvSpPr>
          <p:nvPr/>
        </p:nvSpPr>
        <p:spPr bwMode="auto">
          <a:xfrm>
            <a:off x="6019800" y="194945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0.999</a:t>
            </a:r>
          </a:p>
        </p:txBody>
      </p:sp>
      <p:sp>
        <p:nvSpPr>
          <p:cNvPr id="67668" name="Text Box 85">
            <a:extLst>
              <a:ext uri="{FF2B5EF4-FFF2-40B4-BE49-F238E27FC236}">
                <a16:creationId xmlns:a16="http://schemas.microsoft.com/office/drawing/2014/main" id="{9EEAF95E-F9C1-A540-9E5B-0E334606F56F}"/>
              </a:ext>
            </a:extLst>
          </p:cNvPr>
          <p:cNvSpPr txBox="1">
            <a:spLocks noChangeArrowheads="1"/>
          </p:cNvSpPr>
          <p:nvPr/>
        </p:nvSpPr>
        <p:spPr bwMode="auto">
          <a:xfrm>
            <a:off x="4419600" y="556260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0.20</a:t>
            </a:r>
          </a:p>
        </p:txBody>
      </p:sp>
      <p:sp>
        <p:nvSpPr>
          <p:cNvPr id="67669" name="Text Box 86">
            <a:extLst>
              <a:ext uri="{FF2B5EF4-FFF2-40B4-BE49-F238E27FC236}">
                <a16:creationId xmlns:a16="http://schemas.microsoft.com/office/drawing/2014/main" id="{DC155570-BBF0-9546-8048-BF014D4827BB}"/>
              </a:ext>
            </a:extLst>
          </p:cNvPr>
          <p:cNvSpPr txBox="1">
            <a:spLocks noChangeArrowheads="1"/>
          </p:cNvSpPr>
          <p:nvPr/>
        </p:nvSpPr>
        <p:spPr bwMode="auto">
          <a:xfrm>
            <a:off x="4419600" y="629285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0.80</a:t>
            </a:r>
          </a:p>
        </p:txBody>
      </p:sp>
      <p:sp>
        <p:nvSpPr>
          <p:cNvPr id="67670" name="Text Box 87">
            <a:extLst>
              <a:ext uri="{FF2B5EF4-FFF2-40B4-BE49-F238E27FC236}">
                <a16:creationId xmlns:a16="http://schemas.microsoft.com/office/drawing/2014/main" id="{36A52BE5-4FCF-B343-A983-87960E385DA1}"/>
              </a:ext>
            </a:extLst>
          </p:cNvPr>
          <p:cNvSpPr txBox="1">
            <a:spLocks noChangeArrowheads="1"/>
          </p:cNvSpPr>
          <p:nvPr/>
        </p:nvSpPr>
        <p:spPr bwMode="auto">
          <a:xfrm>
            <a:off x="6019800" y="525780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0.02</a:t>
            </a:r>
          </a:p>
        </p:txBody>
      </p:sp>
      <p:sp>
        <p:nvSpPr>
          <p:cNvPr id="67671" name="Text Box 88">
            <a:extLst>
              <a:ext uri="{FF2B5EF4-FFF2-40B4-BE49-F238E27FC236}">
                <a16:creationId xmlns:a16="http://schemas.microsoft.com/office/drawing/2014/main" id="{246B753F-A17C-AA4C-9747-41B9EC92127F}"/>
              </a:ext>
            </a:extLst>
          </p:cNvPr>
          <p:cNvSpPr txBox="1">
            <a:spLocks noChangeArrowheads="1"/>
          </p:cNvSpPr>
          <p:nvPr/>
        </p:nvSpPr>
        <p:spPr bwMode="auto">
          <a:xfrm>
            <a:off x="6019800" y="583565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0.98</a:t>
            </a:r>
          </a:p>
        </p:txBody>
      </p:sp>
      <p:sp>
        <p:nvSpPr>
          <p:cNvPr id="67672" name="Text Box 89">
            <a:extLst>
              <a:ext uri="{FF2B5EF4-FFF2-40B4-BE49-F238E27FC236}">
                <a16:creationId xmlns:a16="http://schemas.microsoft.com/office/drawing/2014/main" id="{8CE00BBF-4EBE-9D48-8289-2BDF6B7CBC7F}"/>
              </a:ext>
            </a:extLst>
          </p:cNvPr>
          <p:cNvSpPr txBox="1">
            <a:spLocks noChangeArrowheads="1"/>
          </p:cNvSpPr>
          <p:nvPr/>
        </p:nvSpPr>
        <p:spPr bwMode="auto">
          <a:xfrm>
            <a:off x="4343400" y="327660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0.20</a:t>
            </a:r>
          </a:p>
        </p:txBody>
      </p:sp>
      <p:sp>
        <p:nvSpPr>
          <p:cNvPr id="67673" name="Text Box 90">
            <a:extLst>
              <a:ext uri="{FF2B5EF4-FFF2-40B4-BE49-F238E27FC236}">
                <a16:creationId xmlns:a16="http://schemas.microsoft.com/office/drawing/2014/main" id="{F3D3F2C0-D696-5B40-AE6C-C585BA7A11B6}"/>
              </a:ext>
            </a:extLst>
          </p:cNvPr>
          <p:cNvSpPr txBox="1">
            <a:spLocks noChangeArrowheads="1"/>
          </p:cNvSpPr>
          <p:nvPr/>
        </p:nvSpPr>
        <p:spPr bwMode="auto">
          <a:xfrm>
            <a:off x="4343400" y="446405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0.80</a:t>
            </a:r>
          </a:p>
        </p:txBody>
      </p:sp>
      <p:sp>
        <p:nvSpPr>
          <p:cNvPr id="67674" name="Text Box 91">
            <a:extLst>
              <a:ext uri="{FF2B5EF4-FFF2-40B4-BE49-F238E27FC236}">
                <a16:creationId xmlns:a16="http://schemas.microsoft.com/office/drawing/2014/main" id="{B85BF9DB-F5FC-EA4E-9BA2-667D42209EED}"/>
              </a:ext>
            </a:extLst>
          </p:cNvPr>
          <p:cNvSpPr txBox="1">
            <a:spLocks noChangeArrowheads="1"/>
          </p:cNvSpPr>
          <p:nvPr/>
        </p:nvSpPr>
        <p:spPr bwMode="auto">
          <a:xfrm>
            <a:off x="6629400" y="297180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0.01</a:t>
            </a:r>
          </a:p>
        </p:txBody>
      </p:sp>
      <p:sp>
        <p:nvSpPr>
          <p:cNvPr id="67675" name="Text Box 92">
            <a:extLst>
              <a:ext uri="{FF2B5EF4-FFF2-40B4-BE49-F238E27FC236}">
                <a16:creationId xmlns:a16="http://schemas.microsoft.com/office/drawing/2014/main" id="{63790344-A083-BC4B-881C-9F5A9E3153DB}"/>
              </a:ext>
            </a:extLst>
          </p:cNvPr>
          <p:cNvSpPr txBox="1">
            <a:spLocks noChangeArrowheads="1"/>
          </p:cNvSpPr>
          <p:nvPr/>
        </p:nvSpPr>
        <p:spPr bwMode="auto">
          <a:xfrm>
            <a:off x="6629400" y="358140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0.99</a:t>
            </a:r>
          </a:p>
        </p:txBody>
      </p:sp>
      <p:sp>
        <p:nvSpPr>
          <p:cNvPr id="67676" name="Text Box 93">
            <a:extLst>
              <a:ext uri="{FF2B5EF4-FFF2-40B4-BE49-F238E27FC236}">
                <a16:creationId xmlns:a16="http://schemas.microsoft.com/office/drawing/2014/main" id="{E2EDDCC9-FB5D-C94A-BBF7-77F03E0F6F03}"/>
              </a:ext>
            </a:extLst>
          </p:cNvPr>
          <p:cNvSpPr txBox="1">
            <a:spLocks noChangeArrowheads="1"/>
          </p:cNvSpPr>
          <p:nvPr/>
        </p:nvSpPr>
        <p:spPr bwMode="auto">
          <a:xfrm>
            <a:off x="7010400" y="419100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a:t>
            </a:r>
          </a:p>
        </p:txBody>
      </p:sp>
      <p:sp>
        <p:nvSpPr>
          <p:cNvPr id="67677" name="Text Box 94">
            <a:extLst>
              <a:ext uri="{FF2B5EF4-FFF2-40B4-BE49-F238E27FC236}">
                <a16:creationId xmlns:a16="http://schemas.microsoft.com/office/drawing/2014/main" id="{232AECB9-208B-3E47-955A-25489AD61071}"/>
              </a:ext>
            </a:extLst>
          </p:cNvPr>
          <p:cNvSpPr txBox="1">
            <a:spLocks noChangeArrowheads="1"/>
          </p:cNvSpPr>
          <p:nvPr/>
        </p:nvSpPr>
        <p:spPr bwMode="auto">
          <a:xfrm>
            <a:off x="7010400" y="480060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1</a:t>
            </a:r>
          </a:p>
        </p:txBody>
      </p:sp>
      <p:sp>
        <p:nvSpPr>
          <p:cNvPr id="67678" name="Text Box 95">
            <a:extLst>
              <a:ext uri="{FF2B5EF4-FFF2-40B4-BE49-F238E27FC236}">
                <a16:creationId xmlns:a16="http://schemas.microsoft.com/office/drawing/2014/main" id="{3405F42D-D83E-4145-AC1D-842D1392362B}"/>
              </a:ext>
            </a:extLst>
          </p:cNvPr>
          <p:cNvSpPr txBox="1">
            <a:spLocks noChangeArrowheads="1"/>
          </p:cNvSpPr>
          <p:nvPr/>
        </p:nvSpPr>
        <p:spPr bwMode="auto">
          <a:xfrm>
            <a:off x="9144000" y="4953001"/>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0.3</a:t>
            </a:r>
          </a:p>
        </p:txBody>
      </p:sp>
      <p:sp>
        <p:nvSpPr>
          <p:cNvPr id="67679" name="Text Box 96">
            <a:extLst>
              <a:ext uri="{FF2B5EF4-FFF2-40B4-BE49-F238E27FC236}">
                <a16:creationId xmlns:a16="http://schemas.microsoft.com/office/drawing/2014/main" id="{9D0D05D5-61C1-CD4D-8DD4-B669227A4475}"/>
              </a:ext>
            </a:extLst>
          </p:cNvPr>
          <p:cNvSpPr txBox="1">
            <a:spLocks noChangeArrowheads="1"/>
          </p:cNvSpPr>
          <p:nvPr/>
        </p:nvSpPr>
        <p:spPr bwMode="auto">
          <a:xfrm>
            <a:off x="9110663" y="1157289"/>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0.3</a:t>
            </a:r>
          </a:p>
        </p:txBody>
      </p:sp>
      <p:sp>
        <p:nvSpPr>
          <p:cNvPr id="67680" name="Text Box 97">
            <a:extLst>
              <a:ext uri="{FF2B5EF4-FFF2-40B4-BE49-F238E27FC236}">
                <a16:creationId xmlns:a16="http://schemas.microsoft.com/office/drawing/2014/main" id="{F96FF77F-1FEC-4C49-A33B-A7DADADA4134}"/>
              </a:ext>
            </a:extLst>
          </p:cNvPr>
          <p:cNvSpPr txBox="1">
            <a:spLocks noChangeArrowheads="1"/>
          </p:cNvSpPr>
          <p:nvPr/>
        </p:nvSpPr>
        <p:spPr bwMode="auto">
          <a:xfrm>
            <a:off x="9110663" y="1538289"/>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0.001</a:t>
            </a:r>
          </a:p>
        </p:txBody>
      </p:sp>
      <p:sp>
        <p:nvSpPr>
          <p:cNvPr id="67681" name="Text Box 98">
            <a:extLst>
              <a:ext uri="{FF2B5EF4-FFF2-40B4-BE49-F238E27FC236}">
                <a16:creationId xmlns:a16="http://schemas.microsoft.com/office/drawing/2014/main" id="{C0E1729F-3DB6-244C-A47E-BEB72406122A}"/>
              </a:ext>
            </a:extLst>
          </p:cNvPr>
          <p:cNvSpPr txBox="1">
            <a:spLocks noChangeArrowheads="1"/>
          </p:cNvSpPr>
          <p:nvPr/>
        </p:nvSpPr>
        <p:spPr bwMode="auto">
          <a:xfrm>
            <a:off x="9110663" y="1995489"/>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0.001</a:t>
            </a:r>
          </a:p>
        </p:txBody>
      </p:sp>
      <p:sp>
        <p:nvSpPr>
          <p:cNvPr id="67682" name="Text Box 99">
            <a:extLst>
              <a:ext uri="{FF2B5EF4-FFF2-40B4-BE49-F238E27FC236}">
                <a16:creationId xmlns:a16="http://schemas.microsoft.com/office/drawing/2014/main" id="{5760CA73-2BC7-B14E-A758-06EC8EEA87FD}"/>
              </a:ext>
            </a:extLst>
          </p:cNvPr>
          <p:cNvSpPr txBox="1">
            <a:spLocks noChangeArrowheads="1"/>
          </p:cNvSpPr>
          <p:nvPr/>
        </p:nvSpPr>
        <p:spPr bwMode="auto">
          <a:xfrm>
            <a:off x="9110663" y="5486401"/>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a:t>
            </a:r>
          </a:p>
        </p:txBody>
      </p:sp>
      <p:sp>
        <p:nvSpPr>
          <p:cNvPr id="67683" name="Text Box 100">
            <a:extLst>
              <a:ext uri="{FF2B5EF4-FFF2-40B4-BE49-F238E27FC236}">
                <a16:creationId xmlns:a16="http://schemas.microsoft.com/office/drawing/2014/main" id="{58877BC8-47C2-BD47-8A13-7B206376BFDD}"/>
              </a:ext>
            </a:extLst>
          </p:cNvPr>
          <p:cNvSpPr txBox="1">
            <a:spLocks noChangeArrowheads="1"/>
          </p:cNvSpPr>
          <p:nvPr/>
        </p:nvSpPr>
        <p:spPr bwMode="auto">
          <a:xfrm>
            <a:off x="9110663" y="5943601"/>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a:t>
            </a:r>
          </a:p>
        </p:txBody>
      </p:sp>
      <p:sp>
        <p:nvSpPr>
          <p:cNvPr id="67684" name="Text Box 101">
            <a:extLst>
              <a:ext uri="{FF2B5EF4-FFF2-40B4-BE49-F238E27FC236}">
                <a16:creationId xmlns:a16="http://schemas.microsoft.com/office/drawing/2014/main" id="{4D7AD48F-0B62-214A-8D33-4B0F653924B1}"/>
              </a:ext>
            </a:extLst>
          </p:cNvPr>
          <p:cNvSpPr txBox="1">
            <a:spLocks noChangeArrowheads="1"/>
          </p:cNvSpPr>
          <p:nvPr/>
        </p:nvSpPr>
        <p:spPr bwMode="auto">
          <a:xfrm>
            <a:off x="9110663" y="4495801"/>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a:t>
            </a:r>
          </a:p>
        </p:txBody>
      </p:sp>
      <p:sp>
        <p:nvSpPr>
          <p:cNvPr id="67685" name="Text Box 102">
            <a:extLst>
              <a:ext uri="{FF2B5EF4-FFF2-40B4-BE49-F238E27FC236}">
                <a16:creationId xmlns:a16="http://schemas.microsoft.com/office/drawing/2014/main" id="{F3143969-5BD3-AE4C-B15C-99AAF237C138}"/>
              </a:ext>
            </a:extLst>
          </p:cNvPr>
          <p:cNvSpPr txBox="1">
            <a:spLocks noChangeArrowheads="1"/>
          </p:cNvSpPr>
          <p:nvPr/>
        </p:nvSpPr>
        <p:spPr bwMode="auto">
          <a:xfrm>
            <a:off x="9110663" y="4038601"/>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0.3</a:t>
            </a:r>
          </a:p>
        </p:txBody>
      </p:sp>
      <p:sp>
        <p:nvSpPr>
          <p:cNvPr id="67686" name="Text Box 103">
            <a:extLst>
              <a:ext uri="{FF2B5EF4-FFF2-40B4-BE49-F238E27FC236}">
                <a16:creationId xmlns:a16="http://schemas.microsoft.com/office/drawing/2014/main" id="{56AC3AF3-E835-9D4D-83D7-376C39EC2F30}"/>
              </a:ext>
            </a:extLst>
          </p:cNvPr>
          <p:cNvSpPr txBox="1">
            <a:spLocks noChangeArrowheads="1"/>
          </p:cNvSpPr>
          <p:nvPr/>
        </p:nvSpPr>
        <p:spPr bwMode="auto">
          <a:xfrm>
            <a:off x="9110663" y="2649539"/>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0.3</a:t>
            </a:r>
          </a:p>
        </p:txBody>
      </p:sp>
      <p:sp>
        <p:nvSpPr>
          <p:cNvPr id="67687" name="Text Box 104">
            <a:extLst>
              <a:ext uri="{FF2B5EF4-FFF2-40B4-BE49-F238E27FC236}">
                <a16:creationId xmlns:a16="http://schemas.microsoft.com/office/drawing/2014/main" id="{6B0DA3BB-984F-F848-94E3-84F5240F0F85}"/>
              </a:ext>
            </a:extLst>
          </p:cNvPr>
          <p:cNvSpPr txBox="1">
            <a:spLocks noChangeArrowheads="1"/>
          </p:cNvSpPr>
          <p:nvPr/>
        </p:nvSpPr>
        <p:spPr bwMode="auto">
          <a:xfrm>
            <a:off x="9110663" y="3259139"/>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0.001</a:t>
            </a:r>
          </a:p>
        </p:txBody>
      </p:sp>
      <p:sp>
        <p:nvSpPr>
          <p:cNvPr id="284777" name="AutoShape 105">
            <a:extLst>
              <a:ext uri="{FF2B5EF4-FFF2-40B4-BE49-F238E27FC236}">
                <a16:creationId xmlns:a16="http://schemas.microsoft.com/office/drawing/2014/main" id="{792B8BB0-A8FB-8F42-9D16-E44F8B7BDCA3}"/>
              </a:ext>
            </a:extLst>
          </p:cNvPr>
          <p:cNvSpPr>
            <a:spLocks noChangeArrowheads="1"/>
          </p:cNvSpPr>
          <p:nvPr/>
        </p:nvSpPr>
        <p:spPr bwMode="auto">
          <a:xfrm>
            <a:off x="3962400" y="304800"/>
            <a:ext cx="1676400" cy="762000"/>
          </a:xfrm>
          <a:prstGeom prst="wedgeEllipseCallout">
            <a:avLst>
              <a:gd name="adj1" fmla="val 44509"/>
              <a:gd name="adj2" fmla="val 105000"/>
            </a:avLst>
          </a:prstGeom>
          <a:solidFill>
            <a:srgbClr val="FFFF99"/>
          </a:solidFill>
          <a:ln w="12700">
            <a:solidFill>
              <a:schemeClr val="tx1"/>
            </a:solidFill>
            <a:miter lim="800000"/>
            <a:headEnd type="none" w="sm" len="sm"/>
            <a:tailEnd type="none" w="sm" len="sm"/>
          </a:ln>
        </p:spPr>
        <p:txBody>
          <a:bodyPr wrap="none" anchor="ctr"/>
          <a:lstStyle>
            <a:lvl1pPr marL="342900" indent="-342900" eaLnBrk="0" hangingPunct="0">
              <a:defRPr sz="2400">
                <a:solidFill>
                  <a:schemeClr val="tx1"/>
                </a:solidFill>
                <a:latin typeface="Arial" panose="020B0604020202020204" pitchFamily="34" charset="0"/>
                <a:ea typeface="ＭＳ Ｐゴシック" panose="020B0600070205080204" pitchFamily="34" charset="-128"/>
              </a:defRPr>
            </a:lvl1pPr>
            <a:lvl2pPr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lvl="1" algn="r"/>
            <a:r>
              <a:rPr lang="en-US" altLang="en-MX" sz="2000" b="1">
                <a:latin typeface="Times New Roman" panose="02020603050405020304" pitchFamily="18" charset="0"/>
              </a:rPr>
              <a:t>0.001299</a:t>
            </a:r>
            <a:endParaRPr lang="en-US" altLang="en-MX" sz="1000" b="1">
              <a:latin typeface="Times New Roman" panose="02020603050405020304" pitchFamily="18" charset="0"/>
            </a:endParaRPr>
          </a:p>
        </p:txBody>
      </p:sp>
      <p:sp>
        <p:nvSpPr>
          <p:cNvPr id="284778" name="AutoShape 106">
            <a:extLst>
              <a:ext uri="{FF2B5EF4-FFF2-40B4-BE49-F238E27FC236}">
                <a16:creationId xmlns:a16="http://schemas.microsoft.com/office/drawing/2014/main" id="{C466757E-3CD6-924D-BB7E-59399D407458}"/>
              </a:ext>
            </a:extLst>
          </p:cNvPr>
          <p:cNvSpPr>
            <a:spLocks noChangeArrowheads="1"/>
          </p:cNvSpPr>
          <p:nvPr/>
        </p:nvSpPr>
        <p:spPr bwMode="auto">
          <a:xfrm>
            <a:off x="2057400" y="4572000"/>
            <a:ext cx="1676400" cy="762000"/>
          </a:xfrm>
          <a:prstGeom prst="wedgeEllipseCallout">
            <a:avLst>
              <a:gd name="adj1" fmla="val 58426"/>
              <a:gd name="adj2" fmla="val 93333"/>
            </a:avLst>
          </a:prstGeom>
          <a:solidFill>
            <a:srgbClr val="CCFFFF"/>
          </a:solidFill>
          <a:ln w="12700">
            <a:solidFill>
              <a:schemeClr val="tx1"/>
            </a:solidFill>
            <a:miter lim="800000"/>
            <a:headEnd type="none" w="sm" len="sm"/>
            <a:tailEnd type="none" w="sm" len="sm"/>
          </a:ln>
        </p:spPr>
        <p:txBody>
          <a:bodyPr wrap="none" anchor="ctr"/>
          <a:lstStyle>
            <a:lvl1pPr marL="342900" indent="-342900" eaLnBrk="0" hangingPunct="0">
              <a:defRPr sz="2400">
                <a:solidFill>
                  <a:schemeClr val="tx1"/>
                </a:solidFill>
                <a:latin typeface="Arial" panose="020B0604020202020204" pitchFamily="34" charset="0"/>
                <a:ea typeface="ＭＳ Ｐゴシック" panose="020B0600070205080204" pitchFamily="34" charset="-128"/>
              </a:defRPr>
            </a:lvl1pPr>
            <a:lvl2pPr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lvl="1" algn="r"/>
            <a:r>
              <a:rPr lang="en-US" altLang="en-MX" sz="2000" b="1">
                <a:latin typeface="Times New Roman" panose="02020603050405020304" pitchFamily="18" charset="0"/>
              </a:rPr>
              <a:t>0.001200</a:t>
            </a:r>
            <a:endParaRPr lang="en-US" altLang="en-MX" sz="1000" b="1">
              <a:latin typeface="Times New Roman" panose="02020603050405020304" pitchFamily="18" charset="0"/>
            </a:endParaRPr>
          </a:p>
        </p:txBody>
      </p:sp>
      <p:sp>
        <p:nvSpPr>
          <p:cNvPr id="284779" name="AutoShape 107">
            <a:extLst>
              <a:ext uri="{FF2B5EF4-FFF2-40B4-BE49-F238E27FC236}">
                <a16:creationId xmlns:a16="http://schemas.microsoft.com/office/drawing/2014/main" id="{D27A4C55-DF72-F442-BF6B-02400AC5E9EC}"/>
              </a:ext>
            </a:extLst>
          </p:cNvPr>
          <p:cNvSpPr>
            <a:spLocks noChangeArrowheads="1"/>
          </p:cNvSpPr>
          <p:nvPr/>
        </p:nvSpPr>
        <p:spPr bwMode="auto">
          <a:xfrm>
            <a:off x="4572000" y="1981200"/>
            <a:ext cx="1447800" cy="762000"/>
          </a:xfrm>
          <a:prstGeom prst="wedgeEllipseCallout">
            <a:avLst>
              <a:gd name="adj1" fmla="val 53620"/>
              <a:gd name="adj2" fmla="val 113750"/>
            </a:avLst>
          </a:prstGeom>
          <a:solidFill>
            <a:srgbClr val="FFFF99"/>
          </a:solidFill>
          <a:ln w="12700">
            <a:solidFill>
              <a:schemeClr val="tx1"/>
            </a:solidFill>
            <a:miter lim="800000"/>
            <a:headEnd type="none" w="sm" len="sm"/>
            <a:tailEnd type="none" w="sm" len="sm"/>
          </a:ln>
        </p:spPr>
        <p:txBody>
          <a:bodyPr wrap="none" anchor="ctr"/>
          <a:lstStyle>
            <a:lvl1pPr marL="342900" indent="-342900" eaLnBrk="0" hangingPunct="0">
              <a:defRPr sz="2400">
                <a:solidFill>
                  <a:schemeClr val="tx1"/>
                </a:solidFill>
                <a:latin typeface="Arial" panose="020B0604020202020204" pitchFamily="34" charset="0"/>
                <a:ea typeface="ＭＳ Ｐゴシック" panose="020B0600070205080204" pitchFamily="34" charset="-128"/>
              </a:defRPr>
            </a:lvl1pPr>
            <a:lvl2pPr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lvl="1" algn="r"/>
            <a:r>
              <a:rPr lang="en-US" altLang="en-MX" sz="2000" b="1">
                <a:latin typeface="Times New Roman" panose="02020603050405020304" pitchFamily="18" charset="0"/>
              </a:rPr>
              <a:t>0.00399</a:t>
            </a:r>
            <a:endParaRPr lang="en-US" altLang="en-MX" sz="1000" b="1">
              <a:latin typeface="Times New Roman" panose="02020603050405020304" pitchFamily="18" charset="0"/>
            </a:endParaRPr>
          </a:p>
        </p:txBody>
      </p:sp>
      <p:sp>
        <p:nvSpPr>
          <p:cNvPr id="284780" name="AutoShape 108">
            <a:extLst>
              <a:ext uri="{FF2B5EF4-FFF2-40B4-BE49-F238E27FC236}">
                <a16:creationId xmlns:a16="http://schemas.microsoft.com/office/drawing/2014/main" id="{CD300D05-5078-F74B-8B26-4D5CE0567A4E}"/>
              </a:ext>
            </a:extLst>
          </p:cNvPr>
          <p:cNvSpPr>
            <a:spLocks noChangeArrowheads="1"/>
          </p:cNvSpPr>
          <p:nvPr/>
        </p:nvSpPr>
        <p:spPr bwMode="auto">
          <a:xfrm>
            <a:off x="4495800" y="3352800"/>
            <a:ext cx="1447800" cy="762000"/>
          </a:xfrm>
          <a:prstGeom prst="wedgeEllipseCallout">
            <a:avLst>
              <a:gd name="adj1" fmla="val 80042"/>
              <a:gd name="adj2" fmla="val 77917"/>
            </a:avLst>
          </a:prstGeom>
          <a:solidFill>
            <a:srgbClr val="FFFF99"/>
          </a:solidFill>
          <a:ln w="12700">
            <a:solidFill>
              <a:schemeClr val="tx1"/>
            </a:solidFill>
            <a:miter lim="800000"/>
            <a:headEnd type="none" w="sm" len="sm"/>
            <a:tailEnd type="none" w="sm" len="sm"/>
          </a:ln>
        </p:spPr>
        <p:txBody>
          <a:bodyPr wrap="none" anchor="ctr"/>
          <a:lstStyle>
            <a:lvl1pPr marL="342900" indent="-342900" eaLnBrk="0" hangingPunct="0">
              <a:defRPr sz="2400">
                <a:solidFill>
                  <a:schemeClr val="tx1"/>
                </a:solidFill>
                <a:latin typeface="Arial" panose="020B0604020202020204" pitchFamily="34" charset="0"/>
                <a:ea typeface="ＭＳ Ｐゴシック" panose="020B0600070205080204" pitchFamily="34" charset="-128"/>
              </a:defRPr>
            </a:lvl1pPr>
            <a:lvl2pPr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lvl="1"/>
            <a:r>
              <a:rPr lang="en-US" altLang="en-MX" sz="2000" b="1">
                <a:latin typeface="Times New Roman" panose="02020603050405020304" pitchFamily="18" charset="0"/>
              </a:rPr>
              <a:t>0</a:t>
            </a:r>
            <a:endParaRPr lang="en-US" altLang="en-MX" sz="1000" b="1">
              <a:latin typeface="Times New Roman" panose="02020603050405020304" pitchFamily="18" charset="0"/>
            </a:endParaRPr>
          </a:p>
        </p:txBody>
      </p:sp>
      <p:sp>
        <p:nvSpPr>
          <p:cNvPr id="284781" name="AutoShape 109">
            <a:extLst>
              <a:ext uri="{FF2B5EF4-FFF2-40B4-BE49-F238E27FC236}">
                <a16:creationId xmlns:a16="http://schemas.microsoft.com/office/drawing/2014/main" id="{C27F8E9C-3965-B942-A55E-D19F68FC0B08}"/>
              </a:ext>
            </a:extLst>
          </p:cNvPr>
          <p:cNvSpPr>
            <a:spLocks noChangeArrowheads="1"/>
          </p:cNvSpPr>
          <p:nvPr/>
        </p:nvSpPr>
        <p:spPr bwMode="auto">
          <a:xfrm>
            <a:off x="2133600" y="914400"/>
            <a:ext cx="1676400" cy="762000"/>
          </a:xfrm>
          <a:prstGeom prst="wedgeEllipseCallout">
            <a:avLst>
              <a:gd name="adj1" fmla="val 58426"/>
              <a:gd name="adj2" fmla="val 93333"/>
            </a:avLst>
          </a:prstGeom>
          <a:solidFill>
            <a:srgbClr val="CCFFFF"/>
          </a:solidFill>
          <a:ln w="12700">
            <a:solidFill>
              <a:schemeClr val="tx1"/>
            </a:solidFill>
            <a:miter lim="800000"/>
            <a:headEnd type="none" w="sm" len="sm"/>
            <a:tailEnd type="none" w="sm" len="sm"/>
          </a:ln>
        </p:spPr>
        <p:txBody>
          <a:bodyPr wrap="none" anchor="ctr"/>
          <a:lstStyle>
            <a:lvl1pPr marL="342900" indent="-342900" eaLnBrk="0" hangingPunct="0">
              <a:defRPr sz="2400">
                <a:solidFill>
                  <a:schemeClr val="tx1"/>
                </a:solidFill>
                <a:latin typeface="Arial" panose="020B0604020202020204" pitchFamily="34" charset="0"/>
                <a:ea typeface="ＭＳ Ｐゴシック" panose="020B0600070205080204" pitchFamily="34" charset="-128"/>
              </a:defRPr>
            </a:lvl1pPr>
            <a:lvl2pPr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lvl="1" algn="r"/>
            <a:r>
              <a:rPr lang="en-US" altLang="en-MX" sz="2000" b="1">
                <a:latin typeface="Times New Roman" panose="02020603050405020304" pitchFamily="18" charset="0"/>
              </a:rPr>
              <a:t>0.001060</a:t>
            </a:r>
            <a:endParaRPr lang="en-US" altLang="en-MX" sz="1000" b="1">
              <a:latin typeface="Times New Roman" panose="02020603050405020304" pitchFamily="18" charset="0"/>
            </a:endParaRPr>
          </a:p>
        </p:txBody>
      </p:sp>
      <p:sp>
        <p:nvSpPr>
          <p:cNvPr id="284782" name="AutoShape 110">
            <a:extLst>
              <a:ext uri="{FF2B5EF4-FFF2-40B4-BE49-F238E27FC236}">
                <a16:creationId xmlns:a16="http://schemas.microsoft.com/office/drawing/2014/main" id="{EA025F3C-261E-1941-8F92-0606E87C7103}"/>
              </a:ext>
            </a:extLst>
          </p:cNvPr>
          <p:cNvSpPr>
            <a:spLocks noChangeArrowheads="1"/>
          </p:cNvSpPr>
          <p:nvPr/>
        </p:nvSpPr>
        <p:spPr bwMode="auto">
          <a:xfrm>
            <a:off x="2133600" y="2743200"/>
            <a:ext cx="1676400" cy="762000"/>
          </a:xfrm>
          <a:prstGeom prst="wedgeEllipseCallout">
            <a:avLst>
              <a:gd name="adj1" fmla="val 58426"/>
              <a:gd name="adj2" fmla="val 93333"/>
            </a:avLst>
          </a:prstGeom>
          <a:solidFill>
            <a:srgbClr val="CCFFFF"/>
          </a:solidFill>
          <a:ln w="12700">
            <a:solidFill>
              <a:schemeClr val="tx1"/>
            </a:solidFill>
            <a:miter lim="800000"/>
            <a:headEnd type="none" w="sm" len="sm"/>
            <a:tailEnd type="none" w="sm" len="sm"/>
          </a:ln>
        </p:spPr>
        <p:txBody>
          <a:bodyPr wrap="none" anchor="ctr"/>
          <a:lstStyle>
            <a:lvl1pPr marL="342900" indent="-342900" eaLnBrk="0" hangingPunct="0">
              <a:defRPr sz="2400">
                <a:solidFill>
                  <a:schemeClr val="tx1"/>
                </a:solidFill>
                <a:latin typeface="Arial" panose="020B0604020202020204" pitchFamily="34" charset="0"/>
                <a:ea typeface="ＭＳ Ｐゴシック" panose="020B0600070205080204" pitchFamily="34" charset="-128"/>
              </a:defRPr>
            </a:lvl1pPr>
            <a:lvl2pPr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lvl="1" algn="r"/>
            <a:r>
              <a:rPr lang="en-US" altLang="en-MX" sz="2000" b="1">
                <a:latin typeface="Times New Roman" panose="02020603050405020304" pitchFamily="18" charset="0"/>
              </a:rPr>
              <a:t>0.000798</a:t>
            </a:r>
            <a:endParaRPr lang="en-US" altLang="en-MX" sz="1000" b="1">
              <a:latin typeface="Times New Roman" panose="02020603050405020304" pitchFamily="18" charset="0"/>
            </a:endParaRPr>
          </a:p>
        </p:txBody>
      </p:sp>
      <p:sp>
        <p:nvSpPr>
          <p:cNvPr id="284783" name="AutoShape 111">
            <a:extLst>
              <a:ext uri="{FF2B5EF4-FFF2-40B4-BE49-F238E27FC236}">
                <a16:creationId xmlns:a16="http://schemas.microsoft.com/office/drawing/2014/main" id="{967D85EC-6D8E-2F4F-AF6C-E1513C092FC5}"/>
              </a:ext>
            </a:extLst>
          </p:cNvPr>
          <p:cNvSpPr>
            <a:spLocks noChangeArrowheads="1"/>
          </p:cNvSpPr>
          <p:nvPr/>
        </p:nvSpPr>
        <p:spPr bwMode="auto">
          <a:xfrm>
            <a:off x="4114800" y="4267200"/>
            <a:ext cx="1676400" cy="762000"/>
          </a:xfrm>
          <a:prstGeom prst="wedgeEllipseCallout">
            <a:avLst>
              <a:gd name="adj1" fmla="val 37782"/>
              <a:gd name="adj2" fmla="val 96875"/>
            </a:avLst>
          </a:prstGeom>
          <a:solidFill>
            <a:srgbClr val="FFFF99"/>
          </a:solidFill>
          <a:ln w="12700">
            <a:solidFill>
              <a:schemeClr val="tx1"/>
            </a:solidFill>
            <a:miter lim="800000"/>
            <a:headEnd type="none" w="sm" len="sm"/>
            <a:tailEnd type="none" w="sm" len="sm"/>
          </a:ln>
        </p:spPr>
        <p:txBody>
          <a:bodyPr wrap="none" anchor="ctr"/>
          <a:lstStyle>
            <a:lvl1pPr marL="342900" indent="-342900" eaLnBrk="0" hangingPunct="0">
              <a:defRPr sz="2400">
                <a:solidFill>
                  <a:schemeClr val="tx1"/>
                </a:solidFill>
                <a:latin typeface="Arial" panose="020B0604020202020204" pitchFamily="34" charset="0"/>
                <a:ea typeface="ＭＳ Ｐゴシック" panose="020B0600070205080204" pitchFamily="34" charset="-128"/>
              </a:defRPr>
            </a:lvl1pPr>
            <a:lvl2pPr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lvl="1"/>
            <a:r>
              <a:rPr lang="en-US" altLang="en-MX" sz="2000" b="1">
                <a:latin typeface="Times New Roman" panose="02020603050405020304" pitchFamily="18" charset="0"/>
              </a:rPr>
              <a:t>0.006</a:t>
            </a:r>
            <a:endParaRPr lang="en-US" altLang="en-MX" sz="1000" b="1">
              <a:latin typeface="Times New Roman" panose="02020603050405020304" pitchFamily="18" charset="0"/>
            </a:endParaRPr>
          </a:p>
        </p:txBody>
      </p:sp>
    </p:spTree>
    <p:extLst>
      <p:ext uri="{BB962C8B-B14F-4D97-AF65-F5344CB8AC3E}">
        <p14:creationId xmlns:p14="http://schemas.microsoft.com/office/powerpoint/2010/main" val="17239254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477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478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477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478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84782"/>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84783"/>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847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777" grpId="0" animBg="1"/>
      <p:bldP spid="284778" grpId="0" animBg="1"/>
      <p:bldP spid="284779" grpId="0" animBg="1"/>
      <p:bldP spid="284780" grpId="0" animBg="1"/>
      <p:bldP spid="284781" grpId="0" animBg="1"/>
      <p:bldP spid="284782" grpId="0" animBg="1"/>
      <p:bldP spid="284783"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2">
            <a:extLst>
              <a:ext uri="{FF2B5EF4-FFF2-40B4-BE49-F238E27FC236}">
                <a16:creationId xmlns:a16="http://schemas.microsoft.com/office/drawing/2014/main" id="{402C7804-68E5-BF48-9CE9-E466A851E7B7}"/>
              </a:ext>
            </a:extLst>
          </p:cNvPr>
          <p:cNvSpPr>
            <a:spLocks noGrp="1" noChangeArrowheads="1"/>
          </p:cNvSpPr>
          <p:nvPr>
            <p:ph type="title"/>
          </p:nvPr>
        </p:nvSpPr>
        <p:spPr>
          <a:xfrm>
            <a:off x="838200" y="365125"/>
            <a:ext cx="10515600" cy="797753"/>
          </a:xfrm>
        </p:spPr>
        <p:txBody>
          <a:bodyPr/>
          <a:lstStyle/>
          <a:p>
            <a:pPr eaLnBrk="1" hangingPunct="1"/>
            <a:r>
              <a:rPr lang="en-US" altLang="en-MX" dirty="0">
                <a:ea typeface="ＭＳ Ｐゴシック" panose="020B0600070205080204" pitchFamily="34" charset="-128"/>
              </a:rPr>
              <a:t>Step 3: Base-Case Analysis</a:t>
            </a:r>
          </a:p>
        </p:txBody>
      </p:sp>
      <p:sp>
        <p:nvSpPr>
          <p:cNvPr id="69634" name="Rectangle 3">
            <a:extLst>
              <a:ext uri="{FF2B5EF4-FFF2-40B4-BE49-F238E27FC236}">
                <a16:creationId xmlns:a16="http://schemas.microsoft.com/office/drawing/2014/main" id="{1B728E7B-F377-F143-8C4F-D1EAE16D47A3}"/>
              </a:ext>
            </a:extLst>
          </p:cNvPr>
          <p:cNvSpPr>
            <a:spLocks noGrp="1" noChangeArrowheads="1"/>
          </p:cNvSpPr>
          <p:nvPr>
            <p:ph type="body" idx="1"/>
          </p:nvPr>
        </p:nvSpPr>
        <p:spPr>
          <a:xfrm>
            <a:off x="838200" y="1600200"/>
            <a:ext cx="9601200" cy="4495800"/>
          </a:xfrm>
        </p:spPr>
        <p:txBody>
          <a:bodyPr/>
          <a:lstStyle/>
          <a:p>
            <a:pPr>
              <a:tabLst>
                <a:tab pos="5773738" algn="ctr"/>
              </a:tabLst>
            </a:pPr>
            <a:r>
              <a:rPr lang="en-US" altLang="en-MX" dirty="0">
                <a:ea typeface="ＭＳ Ｐゴシック" panose="020B0600070205080204" pitchFamily="34" charset="-128"/>
              </a:rPr>
              <a:t>Convert probability of death into expected number of deaths based on the city</a:t>
            </a:r>
            <a:r>
              <a:rPr lang="ja-JP" altLang="en-US">
                <a:ea typeface="ＭＳ Ｐゴシック" panose="020B0600070205080204" pitchFamily="34" charset="-128"/>
              </a:rPr>
              <a:t>’</a:t>
            </a:r>
            <a:r>
              <a:rPr lang="en-US" altLang="ja-JP" dirty="0">
                <a:ea typeface="ＭＳ Ｐゴシック" panose="020B0600070205080204" pitchFamily="34" charset="-128"/>
              </a:rPr>
              <a:t>s population of 100,000:</a:t>
            </a:r>
          </a:p>
          <a:p>
            <a:pPr>
              <a:tabLst>
                <a:tab pos="5773738" algn="ctr"/>
              </a:tabLst>
            </a:pPr>
            <a:endParaRPr lang="en-US" altLang="en-MX" sz="1200" dirty="0">
              <a:ea typeface="ＭＳ Ｐゴシック" panose="020B0600070205080204" pitchFamily="34" charset="-128"/>
            </a:endParaRPr>
          </a:p>
          <a:p>
            <a:pPr>
              <a:buNone/>
              <a:tabLst>
                <a:tab pos="5773738" algn="ctr"/>
              </a:tabLst>
            </a:pPr>
            <a:r>
              <a:rPr lang="en-US" altLang="en-MX" dirty="0">
                <a:ea typeface="ＭＳ Ｐゴシック" panose="020B0600070205080204" pitchFamily="34" charset="-128"/>
              </a:rPr>
              <a:t>	</a:t>
            </a:r>
            <a:r>
              <a:rPr lang="en-US" altLang="en-MX" b="1" u="sng" dirty="0">
                <a:ea typeface="ＭＳ Ｐゴシック" panose="020B0600070205080204" pitchFamily="34" charset="-128"/>
              </a:rPr>
              <a:t>Strategy</a:t>
            </a:r>
            <a:r>
              <a:rPr lang="en-US" altLang="en-MX" b="1" dirty="0">
                <a:ea typeface="ＭＳ Ｐゴシック" panose="020B0600070205080204" pitchFamily="34" charset="-128"/>
              </a:rPr>
              <a:t>	</a:t>
            </a:r>
            <a:r>
              <a:rPr lang="en-US" altLang="en-MX" b="1" u="sng" dirty="0">
                <a:ea typeface="ＭＳ Ｐゴシック" panose="020B0600070205080204" pitchFamily="34" charset="-128"/>
              </a:rPr>
              <a:t>Expected # of deaths</a:t>
            </a:r>
          </a:p>
          <a:p>
            <a:pPr>
              <a:buNone/>
              <a:tabLst>
                <a:tab pos="5773738" algn="ctr"/>
              </a:tabLst>
            </a:pPr>
            <a:r>
              <a:rPr lang="en-US" altLang="en-MX" dirty="0">
                <a:ea typeface="ＭＳ Ｐゴシック" panose="020B0600070205080204" pitchFamily="34" charset="-128"/>
              </a:rPr>
              <a:t>	Spray	106	             </a:t>
            </a:r>
          </a:p>
          <a:p>
            <a:pPr>
              <a:buNone/>
              <a:tabLst>
                <a:tab pos="5773738" algn="ctr"/>
              </a:tabLst>
            </a:pPr>
            <a:r>
              <a:rPr lang="en-US" altLang="en-MX" dirty="0">
                <a:ea typeface="ＭＳ Ｐゴシック" panose="020B0600070205080204" pitchFamily="34" charset="-128"/>
              </a:rPr>
              <a:t> 	Test	80</a:t>
            </a:r>
          </a:p>
          <a:p>
            <a:pPr>
              <a:buNone/>
              <a:tabLst>
                <a:tab pos="5773738" algn="ctr"/>
              </a:tabLst>
            </a:pPr>
            <a:r>
              <a:rPr lang="en-US" altLang="en-MX" dirty="0">
                <a:ea typeface="ＭＳ Ｐゴシック" panose="020B0600070205080204" pitchFamily="34" charset="-128"/>
              </a:rPr>
              <a:t>	No Spray	120</a:t>
            </a:r>
          </a:p>
        </p:txBody>
      </p:sp>
    </p:spTree>
    <p:extLst>
      <p:ext uri="{BB962C8B-B14F-4D97-AF65-F5344CB8AC3E}">
        <p14:creationId xmlns:p14="http://schemas.microsoft.com/office/powerpoint/2010/main" val="423725863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2">
            <a:extLst>
              <a:ext uri="{FF2B5EF4-FFF2-40B4-BE49-F238E27FC236}">
                <a16:creationId xmlns:a16="http://schemas.microsoft.com/office/drawing/2014/main" id="{310A5E4E-ADB3-7244-9536-59AE10512906}"/>
              </a:ext>
            </a:extLst>
          </p:cNvPr>
          <p:cNvSpPr>
            <a:spLocks noGrp="1" noChangeArrowheads="1"/>
          </p:cNvSpPr>
          <p:nvPr>
            <p:ph type="title"/>
          </p:nvPr>
        </p:nvSpPr>
        <p:spPr>
          <a:xfrm>
            <a:off x="745435" y="609600"/>
            <a:ext cx="9465365" cy="762000"/>
          </a:xfrm>
        </p:spPr>
        <p:txBody>
          <a:bodyPr/>
          <a:lstStyle/>
          <a:p>
            <a:pPr eaLnBrk="1" hangingPunct="1"/>
            <a:r>
              <a:rPr lang="en-US" altLang="en-MX" dirty="0">
                <a:ea typeface="ＭＳ Ｐゴシック" panose="020B0600070205080204" pitchFamily="34" charset="-128"/>
              </a:rPr>
              <a:t>Step 4: Conduct Sensitivity Analysis</a:t>
            </a:r>
          </a:p>
        </p:txBody>
      </p:sp>
      <p:sp>
        <p:nvSpPr>
          <p:cNvPr id="71682" name="Rectangle 3">
            <a:extLst>
              <a:ext uri="{FF2B5EF4-FFF2-40B4-BE49-F238E27FC236}">
                <a16:creationId xmlns:a16="http://schemas.microsoft.com/office/drawing/2014/main" id="{AE24F1D8-5E1C-2C45-98B4-770C8EEF065A}"/>
              </a:ext>
            </a:extLst>
          </p:cNvPr>
          <p:cNvSpPr>
            <a:spLocks noGrp="1" noChangeArrowheads="1"/>
          </p:cNvSpPr>
          <p:nvPr>
            <p:ph type="body" idx="1"/>
          </p:nvPr>
        </p:nvSpPr>
        <p:spPr>
          <a:xfrm>
            <a:off x="745435" y="1524000"/>
            <a:ext cx="9236765" cy="4876800"/>
          </a:xfrm>
        </p:spPr>
        <p:txBody>
          <a:bodyPr/>
          <a:lstStyle/>
          <a:p>
            <a:pPr eaLnBrk="1" hangingPunct="1">
              <a:lnSpc>
                <a:spcPct val="95000"/>
              </a:lnSpc>
              <a:spcAft>
                <a:spcPct val="20000"/>
              </a:spcAft>
            </a:pPr>
            <a:r>
              <a:rPr lang="en-US" altLang="en-MX" dirty="0">
                <a:ea typeface="ＭＳ Ｐゴシック" panose="020B0600070205080204" pitchFamily="34" charset="-128"/>
              </a:rPr>
              <a:t>One-way sensitivity analysis</a:t>
            </a:r>
          </a:p>
          <a:p>
            <a:pPr eaLnBrk="1" hangingPunct="1">
              <a:lnSpc>
                <a:spcPct val="95000"/>
              </a:lnSpc>
              <a:spcAft>
                <a:spcPct val="20000"/>
              </a:spcAft>
            </a:pPr>
            <a:r>
              <a:rPr lang="en-US" altLang="en-MX" dirty="0">
                <a:ea typeface="ＭＳ Ｐゴシック" panose="020B0600070205080204" pitchFamily="34" charset="-128"/>
              </a:rPr>
              <a:t>Two-way sensitivity analysis (introduced later)</a:t>
            </a:r>
          </a:p>
          <a:p>
            <a:pPr eaLnBrk="1" hangingPunct="1">
              <a:lnSpc>
                <a:spcPct val="95000"/>
              </a:lnSpc>
              <a:spcAft>
                <a:spcPct val="20000"/>
              </a:spcAft>
            </a:pPr>
            <a:r>
              <a:rPr lang="en-US" altLang="en-MX" dirty="0">
                <a:ea typeface="ＭＳ Ｐゴシック" panose="020B0600070205080204" pitchFamily="34" charset="-128"/>
              </a:rPr>
              <a:t>Threshold analysis</a:t>
            </a:r>
          </a:p>
        </p:txBody>
      </p:sp>
    </p:spTree>
    <p:extLst>
      <p:ext uri="{BB962C8B-B14F-4D97-AF65-F5344CB8AC3E}">
        <p14:creationId xmlns:p14="http://schemas.microsoft.com/office/powerpoint/2010/main" val="1594421350"/>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a:extLst>
              <a:ext uri="{FF2B5EF4-FFF2-40B4-BE49-F238E27FC236}">
                <a16:creationId xmlns:a16="http://schemas.microsoft.com/office/drawing/2014/main" id="{F3E5DCCE-33BE-E94B-A15E-67C7B8CFC9ED}"/>
              </a:ext>
            </a:extLst>
          </p:cNvPr>
          <p:cNvSpPr>
            <a:spLocks noGrp="1" noChangeArrowheads="1"/>
          </p:cNvSpPr>
          <p:nvPr>
            <p:ph type="title"/>
          </p:nvPr>
        </p:nvSpPr>
        <p:spPr>
          <a:xfrm>
            <a:off x="838200" y="365125"/>
            <a:ext cx="10515600" cy="867327"/>
          </a:xfrm>
        </p:spPr>
        <p:txBody>
          <a:bodyPr/>
          <a:lstStyle/>
          <a:p>
            <a:pPr eaLnBrk="1" hangingPunct="1"/>
            <a:r>
              <a:rPr lang="en-US" altLang="en-MX" dirty="0">
                <a:ea typeface="ＭＳ Ｐゴシック" panose="020B0600070205080204" pitchFamily="34" charset="-128"/>
              </a:rPr>
              <a:t>Toxicity of Spraying</a:t>
            </a:r>
          </a:p>
        </p:txBody>
      </p:sp>
      <p:sp>
        <p:nvSpPr>
          <p:cNvPr id="73730" name="Rectangle 3">
            <a:extLst>
              <a:ext uri="{FF2B5EF4-FFF2-40B4-BE49-F238E27FC236}">
                <a16:creationId xmlns:a16="http://schemas.microsoft.com/office/drawing/2014/main" id="{764211AC-5A32-0845-A83A-7FD47878E7C1}"/>
              </a:ext>
            </a:extLst>
          </p:cNvPr>
          <p:cNvSpPr>
            <a:spLocks noGrp="1" noChangeArrowheads="1"/>
          </p:cNvSpPr>
          <p:nvPr>
            <p:ph type="body" idx="1"/>
          </p:nvPr>
        </p:nvSpPr>
        <p:spPr>
          <a:xfrm>
            <a:off x="838200" y="1524000"/>
            <a:ext cx="9448800" cy="4800600"/>
          </a:xfrm>
        </p:spPr>
        <p:txBody>
          <a:bodyPr/>
          <a:lstStyle/>
          <a:p>
            <a:pPr eaLnBrk="1" hangingPunct="1"/>
            <a:r>
              <a:rPr lang="en-US" altLang="en-MX" dirty="0">
                <a:ea typeface="ＭＳ Ｐゴシック" panose="020B0600070205080204" pitchFamily="34" charset="-128"/>
              </a:rPr>
              <a:t>What if the risk of death due to pesticide toxicity can be reduced by 50% if people stay inside during spraying?</a:t>
            </a:r>
          </a:p>
          <a:p>
            <a:pPr eaLnBrk="1" hangingPunct="1"/>
            <a:endParaRPr lang="en-US" altLang="en-MX" sz="1200" dirty="0">
              <a:ea typeface="ＭＳ Ｐゴシック" panose="020B0600070205080204" pitchFamily="34" charset="-128"/>
            </a:endParaRPr>
          </a:p>
          <a:p>
            <a:pPr eaLnBrk="1" hangingPunct="1"/>
            <a:r>
              <a:rPr lang="en-US" altLang="en-MX" dirty="0">
                <a:ea typeface="ＭＳ Ｐゴシック" panose="020B0600070205080204" pitchFamily="34" charset="-128"/>
              </a:rPr>
              <a:t>Replace probability of death due to pesticide toxicities p=0.001 with p=0.0005 and average out and fold back again.</a:t>
            </a:r>
            <a:endParaRPr lang="en-US" altLang="en-MX" sz="3600" dirty="0">
              <a:ea typeface="ＭＳ Ｐゴシック" panose="020B0600070205080204" pitchFamily="34" charset="-128"/>
            </a:endParaRPr>
          </a:p>
        </p:txBody>
      </p:sp>
    </p:spTree>
    <p:extLst>
      <p:ext uri="{BB962C8B-B14F-4D97-AF65-F5344CB8AC3E}">
        <p14:creationId xmlns:p14="http://schemas.microsoft.com/office/powerpoint/2010/main" val="39787676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2">
            <a:extLst>
              <a:ext uri="{FF2B5EF4-FFF2-40B4-BE49-F238E27FC236}">
                <a16:creationId xmlns:a16="http://schemas.microsoft.com/office/drawing/2014/main" id="{C786E26F-120C-854C-84AB-64C995B79E5D}"/>
              </a:ext>
            </a:extLst>
          </p:cNvPr>
          <p:cNvSpPr>
            <a:spLocks noGrp="1" noChangeArrowheads="1"/>
          </p:cNvSpPr>
          <p:nvPr>
            <p:ph type="title"/>
          </p:nvPr>
        </p:nvSpPr>
        <p:spPr>
          <a:xfrm>
            <a:off x="775252" y="152400"/>
            <a:ext cx="9206948" cy="762000"/>
          </a:xfrm>
        </p:spPr>
        <p:txBody>
          <a:bodyPr/>
          <a:lstStyle/>
          <a:p>
            <a:pPr eaLnBrk="1" hangingPunct="1"/>
            <a:r>
              <a:rPr lang="en-US" altLang="en-MX" dirty="0">
                <a:ea typeface="ＭＳ Ｐゴシック" panose="020B0600070205080204" pitchFamily="34" charset="-128"/>
              </a:rPr>
              <a:t>Sensitivity Analysis</a:t>
            </a:r>
          </a:p>
        </p:txBody>
      </p:sp>
      <p:sp>
        <p:nvSpPr>
          <p:cNvPr id="75778" name="Line 3">
            <a:extLst>
              <a:ext uri="{FF2B5EF4-FFF2-40B4-BE49-F238E27FC236}">
                <a16:creationId xmlns:a16="http://schemas.microsoft.com/office/drawing/2014/main" id="{8A157DBE-AE6B-C74B-9639-0AF729FDD574}"/>
              </a:ext>
            </a:extLst>
          </p:cNvPr>
          <p:cNvSpPr>
            <a:spLocks noChangeShapeType="1"/>
          </p:cNvSpPr>
          <p:nvPr/>
        </p:nvSpPr>
        <p:spPr bwMode="auto">
          <a:xfrm>
            <a:off x="4114800" y="1676400"/>
            <a:ext cx="1447800"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75779" name="Rectangle 4">
            <a:extLst>
              <a:ext uri="{FF2B5EF4-FFF2-40B4-BE49-F238E27FC236}">
                <a16:creationId xmlns:a16="http://schemas.microsoft.com/office/drawing/2014/main" id="{E2A552E1-9FF6-6540-AC57-52CDB67EB71D}"/>
              </a:ext>
            </a:extLst>
          </p:cNvPr>
          <p:cNvSpPr>
            <a:spLocks noChangeArrowheads="1"/>
          </p:cNvSpPr>
          <p:nvPr/>
        </p:nvSpPr>
        <p:spPr bwMode="auto">
          <a:xfrm>
            <a:off x="4267200" y="1325564"/>
            <a:ext cx="9398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Outbreak</a:t>
            </a:r>
          </a:p>
        </p:txBody>
      </p:sp>
      <p:sp>
        <p:nvSpPr>
          <p:cNvPr id="75780" name="Rectangle 5">
            <a:extLst>
              <a:ext uri="{FF2B5EF4-FFF2-40B4-BE49-F238E27FC236}">
                <a16:creationId xmlns:a16="http://schemas.microsoft.com/office/drawing/2014/main" id="{6864B3AA-495B-A74B-BDD6-9E7298C2E422}"/>
              </a:ext>
            </a:extLst>
          </p:cNvPr>
          <p:cNvSpPr>
            <a:spLocks noChangeArrowheads="1"/>
          </p:cNvSpPr>
          <p:nvPr/>
        </p:nvSpPr>
        <p:spPr bwMode="auto">
          <a:xfrm>
            <a:off x="4267200" y="1981200"/>
            <a:ext cx="1295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Outbreak</a:t>
            </a:r>
          </a:p>
        </p:txBody>
      </p:sp>
      <p:sp>
        <p:nvSpPr>
          <p:cNvPr id="75781" name="Freeform 6">
            <a:extLst>
              <a:ext uri="{FF2B5EF4-FFF2-40B4-BE49-F238E27FC236}">
                <a16:creationId xmlns:a16="http://schemas.microsoft.com/office/drawing/2014/main" id="{70A197FD-1A5D-5844-B4DF-E7706A0B5837}"/>
              </a:ext>
            </a:extLst>
          </p:cNvPr>
          <p:cNvSpPr>
            <a:spLocks/>
          </p:cNvSpPr>
          <p:nvPr/>
        </p:nvSpPr>
        <p:spPr bwMode="auto">
          <a:xfrm>
            <a:off x="4040188" y="1676400"/>
            <a:ext cx="303212" cy="369888"/>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75782" name="Freeform 7">
            <a:extLst>
              <a:ext uri="{FF2B5EF4-FFF2-40B4-BE49-F238E27FC236}">
                <a16:creationId xmlns:a16="http://schemas.microsoft.com/office/drawing/2014/main" id="{CECFFEB1-0C23-3F4C-9DA6-AF1C34E44739}"/>
              </a:ext>
            </a:extLst>
          </p:cNvPr>
          <p:cNvSpPr>
            <a:spLocks/>
          </p:cNvSpPr>
          <p:nvPr/>
        </p:nvSpPr>
        <p:spPr bwMode="auto">
          <a:xfrm>
            <a:off x="4038601" y="2089150"/>
            <a:ext cx="303213" cy="196850"/>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75783" name="Line 8">
            <a:extLst>
              <a:ext uri="{FF2B5EF4-FFF2-40B4-BE49-F238E27FC236}">
                <a16:creationId xmlns:a16="http://schemas.microsoft.com/office/drawing/2014/main" id="{F353F568-2939-BF4E-8D1E-8F5656CC5B7A}"/>
              </a:ext>
            </a:extLst>
          </p:cNvPr>
          <p:cNvSpPr>
            <a:spLocks noChangeShapeType="1"/>
          </p:cNvSpPr>
          <p:nvPr/>
        </p:nvSpPr>
        <p:spPr bwMode="auto">
          <a:xfrm>
            <a:off x="2362200" y="2057400"/>
            <a:ext cx="161448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75784" name="Oval 9">
            <a:extLst>
              <a:ext uri="{FF2B5EF4-FFF2-40B4-BE49-F238E27FC236}">
                <a16:creationId xmlns:a16="http://schemas.microsoft.com/office/drawing/2014/main" id="{F140B6EA-9023-B84C-A363-58E7B0265053}"/>
              </a:ext>
            </a:extLst>
          </p:cNvPr>
          <p:cNvSpPr>
            <a:spLocks noChangeArrowheads="1"/>
          </p:cNvSpPr>
          <p:nvPr/>
        </p:nvSpPr>
        <p:spPr bwMode="auto">
          <a:xfrm>
            <a:off x="3876676" y="1905000"/>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75785" name="Rectangle 10">
            <a:extLst>
              <a:ext uri="{FF2B5EF4-FFF2-40B4-BE49-F238E27FC236}">
                <a16:creationId xmlns:a16="http://schemas.microsoft.com/office/drawing/2014/main" id="{3CFF5554-BEEA-4840-9D2D-D03B7181A754}"/>
              </a:ext>
            </a:extLst>
          </p:cNvPr>
          <p:cNvSpPr>
            <a:spLocks noChangeArrowheads="1"/>
          </p:cNvSpPr>
          <p:nvPr/>
        </p:nvSpPr>
        <p:spPr bwMode="auto">
          <a:xfrm>
            <a:off x="2438401" y="1676400"/>
            <a:ext cx="663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000">
                <a:solidFill>
                  <a:srgbClr val="000000"/>
                </a:solidFill>
              </a:rPr>
              <a:t>Spray</a:t>
            </a:r>
          </a:p>
        </p:txBody>
      </p:sp>
      <p:sp>
        <p:nvSpPr>
          <p:cNvPr id="75786" name="Rectangle 11">
            <a:extLst>
              <a:ext uri="{FF2B5EF4-FFF2-40B4-BE49-F238E27FC236}">
                <a16:creationId xmlns:a16="http://schemas.microsoft.com/office/drawing/2014/main" id="{623C164D-C876-2044-B947-2795BFFB6563}"/>
              </a:ext>
            </a:extLst>
          </p:cNvPr>
          <p:cNvSpPr>
            <a:spLocks noChangeArrowheads="1"/>
          </p:cNvSpPr>
          <p:nvPr/>
        </p:nvSpPr>
        <p:spPr bwMode="auto">
          <a:xfrm>
            <a:off x="4224338" y="5241925"/>
            <a:ext cx="9398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MX" sz="1800">
                <a:solidFill>
                  <a:srgbClr val="000000"/>
                </a:solidFill>
              </a:rPr>
              <a:t>Outbreak</a:t>
            </a:r>
          </a:p>
        </p:txBody>
      </p:sp>
      <p:sp>
        <p:nvSpPr>
          <p:cNvPr id="75787" name="Freeform 12">
            <a:extLst>
              <a:ext uri="{FF2B5EF4-FFF2-40B4-BE49-F238E27FC236}">
                <a16:creationId xmlns:a16="http://schemas.microsoft.com/office/drawing/2014/main" id="{03037CAE-24C0-6B4C-B677-880DA6C1B0A6}"/>
              </a:ext>
            </a:extLst>
          </p:cNvPr>
          <p:cNvSpPr>
            <a:spLocks/>
          </p:cNvSpPr>
          <p:nvPr/>
        </p:nvSpPr>
        <p:spPr bwMode="auto">
          <a:xfrm>
            <a:off x="5716588" y="1382714"/>
            <a:ext cx="303212" cy="369887"/>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75788" name="Freeform 13">
            <a:extLst>
              <a:ext uri="{FF2B5EF4-FFF2-40B4-BE49-F238E27FC236}">
                <a16:creationId xmlns:a16="http://schemas.microsoft.com/office/drawing/2014/main" id="{96E868F9-2E06-A841-A326-F6BCED3BDE1F}"/>
              </a:ext>
            </a:extLst>
          </p:cNvPr>
          <p:cNvSpPr>
            <a:spLocks/>
          </p:cNvSpPr>
          <p:nvPr/>
        </p:nvSpPr>
        <p:spPr bwMode="auto">
          <a:xfrm>
            <a:off x="5716588" y="1633538"/>
            <a:ext cx="303212" cy="347662"/>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75789" name="Rectangle 14">
            <a:extLst>
              <a:ext uri="{FF2B5EF4-FFF2-40B4-BE49-F238E27FC236}">
                <a16:creationId xmlns:a16="http://schemas.microsoft.com/office/drawing/2014/main" id="{25021352-E170-0340-8D8C-231DD39AD2C3}"/>
              </a:ext>
            </a:extLst>
          </p:cNvPr>
          <p:cNvSpPr>
            <a:spLocks noChangeArrowheads="1"/>
          </p:cNvSpPr>
          <p:nvPr/>
        </p:nvSpPr>
        <p:spPr bwMode="auto">
          <a:xfrm>
            <a:off x="3644900" y="6019800"/>
            <a:ext cx="2286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MX" sz="1800">
                <a:solidFill>
                  <a:srgbClr val="000000"/>
                </a:solidFill>
              </a:rPr>
              <a:t>No Outbreak</a:t>
            </a:r>
          </a:p>
        </p:txBody>
      </p:sp>
      <p:sp>
        <p:nvSpPr>
          <p:cNvPr id="75790" name="Freeform 15">
            <a:extLst>
              <a:ext uri="{FF2B5EF4-FFF2-40B4-BE49-F238E27FC236}">
                <a16:creationId xmlns:a16="http://schemas.microsoft.com/office/drawing/2014/main" id="{CE61CA28-1A3C-554E-899D-B9376AB56E74}"/>
              </a:ext>
            </a:extLst>
          </p:cNvPr>
          <p:cNvSpPr>
            <a:spLocks/>
          </p:cNvSpPr>
          <p:nvPr/>
        </p:nvSpPr>
        <p:spPr bwMode="auto">
          <a:xfrm>
            <a:off x="4114801" y="5562601"/>
            <a:ext cx="290513" cy="415925"/>
          </a:xfrm>
          <a:custGeom>
            <a:avLst/>
            <a:gdLst>
              <a:gd name="T0" fmla="*/ 0 w 14"/>
              <a:gd name="T1" fmla="*/ 2147483647 h 24"/>
              <a:gd name="T2" fmla="*/ 0 w 14"/>
              <a:gd name="T3" fmla="*/ 0 h 24"/>
              <a:gd name="T4" fmla="*/ 2147483647 w 14"/>
              <a:gd name="T5" fmla="*/ 0 h 24"/>
              <a:gd name="T6" fmla="*/ 0 60000 65536"/>
              <a:gd name="T7" fmla="*/ 0 60000 65536"/>
              <a:gd name="T8" fmla="*/ 0 60000 65536"/>
              <a:gd name="T9" fmla="*/ 0 w 14"/>
              <a:gd name="T10" fmla="*/ 0 h 24"/>
              <a:gd name="T11" fmla="*/ 14 w 14"/>
              <a:gd name="T12" fmla="*/ 24 h 24"/>
            </a:gdLst>
            <a:ahLst/>
            <a:cxnLst>
              <a:cxn ang="T6">
                <a:pos x="T0" y="T1"/>
              </a:cxn>
              <a:cxn ang="T7">
                <a:pos x="T2" y="T3"/>
              </a:cxn>
              <a:cxn ang="T8">
                <a:pos x="T4" y="T5"/>
              </a:cxn>
            </a:cxnLst>
            <a:rect l="T9" t="T10" r="T11" b="T12"/>
            <a:pathLst>
              <a:path w="14" h="24">
                <a:moveTo>
                  <a:pt x="0" y="24"/>
                </a:moveTo>
                <a:lnTo>
                  <a:pt x="0" y="0"/>
                </a:lnTo>
                <a:lnTo>
                  <a:pt x="14" y="0"/>
                </a:lnTo>
              </a:path>
            </a:pathLst>
          </a:custGeom>
          <a:noFill/>
          <a:ln w="19050"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75791" name="Freeform 16">
            <a:extLst>
              <a:ext uri="{FF2B5EF4-FFF2-40B4-BE49-F238E27FC236}">
                <a16:creationId xmlns:a16="http://schemas.microsoft.com/office/drawing/2014/main" id="{857AC107-6335-5C4C-A857-0C7D85D967FF}"/>
              </a:ext>
            </a:extLst>
          </p:cNvPr>
          <p:cNvSpPr>
            <a:spLocks/>
          </p:cNvSpPr>
          <p:nvPr/>
        </p:nvSpPr>
        <p:spPr bwMode="auto">
          <a:xfrm>
            <a:off x="4094164" y="5749926"/>
            <a:ext cx="4592637" cy="574675"/>
          </a:xfrm>
          <a:custGeom>
            <a:avLst/>
            <a:gdLst>
              <a:gd name="T0" fmla="*/ 0 w 14"/>
              <a:gd name="T1" fmla="*/ 0 h 25"/>
              <a:gd name="T2" fmla="*/ 0 w 14"/>
              <a:gd name="T3" fmla="*/ 2147483647 h 25"/>
              <a:gd name="T4" fmla="*/ 2147483647 w 14"/>
              <a:gd name="T5" fmla="*/ 2147483647 h 25"/>
              <a:gd name="T6" fmla="*/ 0 60000 65536"/>
              <a:gd name="T7" fmla="*/ 0 60000 65536"/>
              <a:gd name="T8" fmla="*/ 0 60000 65536"/>
              <a:gd name="T9" fmla="*/ 0 w 14"/>
              <a:gd name="T10" fmla="*/ 0 h 25"/>
              <a:gd name="T11" fmla="*/ 14 w 14"/>
              <a:gd name="T12" fmla="*/ 25 h 25"/>
            </a:gdLst>
            <a:ahLst/>
            <a:cxnLst>
              <a:cxn ang="T6">
                <a:pos x="T0" y="T1"/>
              </a:cxn>
              <a:cxn ang="T7">
                <a:pos x="T2" y="T3"/>
              </a:cxn>
              <a:cxn ang="T8">
                <a:pos x="T4" y="T5"/>
              </a:cxn>
            </a:cxnLst>
            <a:rect l="T9" t="T10" r="T11" b="T12"/>
            <a:pathLst>
              <a:path w="14" h="25">
                <a:moveTo>
                  <a:pt x="0" y="0"/>
                </a:moveTo>
                <a:lnTo>
                  <a:pt x="0" y="25"/>
                </a:lnTo>
                <a:lnTo>
                  <a:pt x="14" y="25"/>
                </a:lnTo>
              </a:path>
            </a:pathLst>
          </a:custGeom>
          <a:noFill/>
          <a:ln w="19050"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75792" name="Line 17">
            <a:extLst>
              <a:ext uri="{FF2B5EF4-FFF2-40B4-BE49-F238E27FC236}">
                <a16:creationId xmlns:a16="http://schemas.microsoft.com/office/drawing/2014/main" id="{C33C9EB9-4700-B645-9DC6-8D43ED64A3C6}"/>
              </a:ext>
            </a:extLst>
          </p:cNvPr>
          <p:cNvSpPr>
            <a:spLocks noChangeShapeType="1"/>
          </p:cNvSpPr>
          <p:nvPr/>
        </p:nvSpPr>
        <p:spPr bwMode="auto">
          <a:xfrm>
            <a:off x="2547938" y="3808414"/>
            <a:ext cx="14287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75793" name="Rectangle 18">
            <a:extLst>
              <a:ext uri="{FF2B5EF4-FFF2-40B4-BE49-F238E27FC236}">
                <a16:creationId xmlns:a16="http://schemas.microsoft.com/office/drawing/2014/main" id="{61F2B56E-3047-A24F-82F0-E12FF4DC55F1}"/>
              </a:ext>
            </a:extLst>
          </p:cNvPr>
          <p:cNvSpPr>
            <a:spLocks noChangeArrowheads="1"/>
          </p:cNvSpPr>
          <p:nvPr/>
        </p:nvSpPr>
        <p:spPr bwMode="auto">
          <a:xfrm>
            <a:off x="2438401" y="5410201"/>
            <a:ext cx="141064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000">
                <a:solidFill>
                  <a:srgbClr val="000000"/>
                </a:solidFill>
              </a:rPr>
              <a:t>Don</a:t>
            </a:r>
            <a:r>
              <a:rPr lang="ja-JP" altLang="en-US" sz="2000">
                <a:solidFill>
                  <a:srgbClr val="000000"/>
                </a:solidFill>
              </a:rPr>
              <a:t>’</a:t>
            </a:r>
            <a:r>
              <a:rPr lang="en-US" altLang="ja-JP" sz="2000">
                <a:solidFill>
                  <a:srgbClr val="000000"/>
                </a:solidFill>
              </a:rPr>
              <a:t>t Spray</a:t>
            </a:r>
            <a:endParaRPr lang="en-US" altLang="en-MX" sz="2000">
              <a:solidFill>
                <a:srgbClr val="000000"/>
              </a:solidFill>
            </a:endParaRPr>
          </a:p>
        </p:txBody>
      </p:sp>
      <p:sp>
        <p:nvSpPr>
          <p:cNvPr id="75794" name="Line 19">
            <a:extLst>
              <a:ext uri="{FF2B5EF4-FFF2-40B4-BE49-F238E27FC236}">
                <a16:creationId xmlns:a16="http://schemas.microsoft.com/office/drawing/2014/main" id="{D46BF9CD-D11B-0146-B842-65538B36AC5C}"/>
              </a:ext>
            </a:extLst>
          </p:cNvPr>
          <p:cNvSpPr>
            <a:spLocks noChangeShapeType="1"/>
          </p:cNvSpPr>
          <p:nvPr/>
        </p:nvSpPr>
        <p:spPr bwMode="auto">
          <a:xfrm>
            <a:off x="2514600" y="5867400"/>
            <a:ext cx="14287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75795" name="Rectangle 20">
            <a:extLst>
              <a:ext uri="{FF2B5EF4-FFF2-40B4-BE49-F238E27FC236}">
                <a16:creationId xmlns:a16="http://schemas.microsoft.com/office/drawing/2014/main" id="{02FC9AE1-1C42-ED41-9341-C9614C06BD78}"/>
              </a:ext>
            </a:extLst>
          </p:cNvPr>
          <p:cNvSpPr>
            <a:spLocks noChangeArrowheads="1"/>
          </p:cNvSpPr>
          <p:nvPr/>
        </p:nvSpPr>
        <p:spPr bwMode="auto">
          <a:xfrm>
            <a:off x="2362201" y="3429001"/>
            <a:ext cx="4701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000">
                <a:solidFill>
                  <a:srgbClr val="000000"/>
                </a:solidFill>
              </a:rPr>
              <a:t>Test</a:t>
            </a:r>
          </a:p>
        </p:txBody>
      </p:sp>
      <p:sp>
        <p:nvSpPr>
          <p:cNvPr id="75796" name="Freeform 21">
            <a:extLst>
              <a:ext uri="{FF2B5EF4-FFF2-40B4-BE49-F238E27FC236}">
                <a16:creationId xmlns:a16="http://schemas.microsoft.com/office/drawing/2014/main" id="{324D7206-5ADD-004B-94E5-3C0A90102B67}"/>
              </a:ext>
            </a:extLst>
          </p:cNvPr>
          <p:cNvSpPr>
            <a:spLocks/>
          </p:cNvSpPr>
          <p:nvPr/>
        </p:nvSpPr>
        <p:spPr bwMode="auto">
          <a:xfrm>
            <a:off x="2209800" y="2057400"/>
            <a:ext cx="261938" cy="2198688"/>
          </a:xfrm>
          <a:custGeom>
            <a:avLst/>
            <a:gdLst>
              <a:gd name="T0" fmla="*/ 0 w 14"/>
              <a:gd name="T1" fmla="*/ 2147483647 h 87"/>
              <a:gd name="T2" fmla="*/ 0 w 14"/>
              <a:gd name="T3" fmla="*/ 0 h 87"/>
              <a:gd name="T4" fmla="*/ 2147483647 w 14"/>
              <a:gd name="T5" fmla="*/ 0 h 87"/>
              <a:gd name="T6" fmla="*/ 0 60000 65536"/>
              <a:gd name="T7" fmla="*/ 0 60000 65536"/>
              <a:gd name="T8" fmla="*/ 0 60000 65536"/>
              <a:gd name="T9" fmla="*/ 0 w 14"/>
              <a:gd name="T10" fmla="*/ 0 h 87"/>
              <a:gd name="T11" fmla="*/ 14 w 14"/>
              <a:gd name="T12" fmla="*/ 87 h 87"/>
            </a:gdLst>
            <a:ahLst/>
            <a:cxnLst>
              <a:cxn ang="T6">
                <a:pos x="T0" y="T1"/>
              </a:cxn>
              <a:cxn ang="T7">
                <a:pos x="T2" y="T3"/>
              </a:cxn>
              <a:cxn ang="T8">
                <a:pos x="T4" y="T5"/>
              </a:cxn>
            </a:cxnLst>
            <a:rect l="T9" t="T10" r="T11" b="T12"/>
            <a:pathLst>
              <a:path w="14" h="87">
                <a:moveTo>
                  <a:pt x="0" y="8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75797" name="Freeform 22">
            <a:extLst>
              <a:ext uri="{FF2B5EF4-FFF2-40B4-BE49-F238E27FC236}">
                <a16:creationId xmlns:a16="http://schemas.microsoft.com/office/drawing/2014/main" id="{0F7C77AB-87C8-4C42-8733-428284CC8A34}"/>
              </a:ext>
            </a:extLst>
          </p:cNvPr>
          <p:cNvSpPr>
            <a:spLocks/>
          </p:cNvSpPr>
          <p:nvPr/>
        </p:nvSpPr>
        <p:spPr bwMode="auto">
          <a:xfrm>
            <a:off x="2244726" y="3810001"/>
            <a:ext cx="303213" cy="42863"/>
          </a:xfrm>
          <a:custGeom>
            <a:avLst/>
            <a:gdLst>
              <a:gd name="T0" fmla="*/ 0 w 14"/>
              <a:gd name="T1" fmla="*/ 2147483647 h 2"/>
              <a:gd name="T2" fmla="*/ 0 w 14"/>
              <a:gd name="T3" fmla="*/ 0 h 2"/>
              <a:gd name="T4" fmla="*/ 2147483647 w 14"/>
              <a:gd name="T5" fmla="*/ 0 h 2"/>
              <a:gd name="T6" fmla="*/ 0 60000 65536"/>
              <a:gd name="T7" fmla="*/ 0 60000 65536"/>
              <a:gd name="T8" fmla="*/ 0 60000 65536"/>
              <a:gd name="T9" fmla="*/ 0 w 14"/>
              <a:gd name="T10" fmla="*/ 0 h 2"/>
              <a:gd name="T11" fmla="*/ 14 w 14"/>
              <a:gd name="T12" fmla="*/ 2 h 2"/>
            </a:gdLst>
            <a:ahLst/>
            <a:cxnLst>
              <a:cxn ang="T6">
                <a:pos x="T0" y="T1"/>
              </a:cxn>
              <a:cxn ang="T7">
                <a:pos x="T2" y="T3"/>
              </a:cxn>
              <a:cxn ang="T8">
                <a:pos x="T4" y="T5"/>
              </a:cxn>
            </a:cxnLst>
            <a:rect l="T9" t="T10" r="T11" b="T12"/>
            <a:pathLst>
              <a:path w="14" h="2">
                <a:moveTo>
                  <a:pt x="0" y="2"/>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75798" name="Freeform 23">
            <a:extLst>
              <a:ext uri="{FF2B5EF4-FFF2-40B4-BE49-F238E27FC236}">
                <a16:creationId xmlns:a16="http://schemas.microsoft.com/office/drawing/2014/main" id="{C7BAE7F6-22C0-6C46-90A6-70102A8808F9}"/>
              </a:ext>
            </a:extLst>
          </p:cNvPr>
          <p:cNvSpPr>
            <a:spLocks/>
          </p:cNvSpPr>
          <p:nvPr/>
        </p:nvSpPr>
        <p:spPr bwMode="auto">
          <a:xfrm>
            <a:off x="2209801" y="3957638"/>
            <a:ext cx="303213" cy="1916112"/>
          </a:xfrm>
          <a:custGeom>
            <a:avLst/>
            <a:gdLst>
              <a:gd name="T0" fmla="*/ 0 w 14"/>
              <a:gd name="T1" fmla="*/ 0 h 88"/>
              <a:gd name="T2" fmla="*/ 0 w 14"/>
              <a:gd name="T3" fmla="*/ 2147483647 h 88"/>
              <a:gd name="T4" fmla="*/ 2147483647 w 14"/>
              <a:gd name="T5" fmla="*/ 2147483647 h 88"/>
              <a:gd name="T6" fmla="*/ 0 60000 65536"/>
              <a:gd name="T7" fmla="*/ 0 60000 65536"/>
              <a:gd name="T8" fmla="*/ 0 60000 65536"/>
              <a:gd name="T9" fmla="*/ 0 w 14"/>
              <a:gd name="T10" fmla="*/ 0 h 88"/>
              <a:gd name="T11" fmla="*/ 14 w 14"/>
              <a:gd name="T12" fmla="*/ 88 h 88"/>
            </a:gdLst>
            <a:ahLst/>
            <a:cxnLst>
              <a:cxn ang="T6">
                <a:pos x="T0" y="T1"/>
              </a:cxn>
              <a:cxn ang="T7">
                <a:pos x="T2" y="T3"/>
              </a:cxn>
              <a:cxn ang="T8">
                <a:pos x="T4" y="T5"/>
              </a:cxn>
            </a:cxnLst>
            <a:rect l="T9" t="T10" r="T11" b="T12"/>
            <a:pathLst>
              <a:path w="14" h="88">
                <a:moveTo>
                  <a:pt x="0" y="0"/>
                </a:moveTo>
                <a:lnTo>
                  <a:pt x="0" y="88"/>
                </a:lnTo>
                <a:lnTo>
                  <a:pt x="14" y="88"/>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75799" name="Rectangle 24">
            <a:extLst>
              <a:ext uri="{FF2B5EF4-FFF2-40B4-BE49-F238E27FC236}">
                <a16:creationId xmlns:a16="http://schemas.microsoft.com/office/drawing/2014/main" id="{9CECD323-33D6-F94D-9B98-AC561E4C39C6}"/>
              </a:ext>
            </a:extLst>
          </p:cNvPr>
          <p:cNvSpPr>
            <a:spLocks noChangeArrowheads="1"/>
          </p:cNvSpPr>
          <p:nvPr/>
        </p:nvSpPr>
        <p:spPr bwMode="auto">
          <a:xfrm>
            <a:off x="2093914" y="3657600"/>
            <a:ext cx="238125" cy="261938"/>
          </a:xfrm>
          <a:prstGeom prst="rect">
            <a:avLst/>
          </a:prstGeom>
          <a:solidFill>
            <a:schemeClr val="bg1"/>
          </a:solidFill>
          <a:ln w="25400">
            <a:solidFill>
              <a:srgbClr val="0000FF"/>
            </a:solidFill>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75800" name="Text Box 25">
            <a:extLst>
              <a:ext uri="{FF2B5EF4-FFF2-40B4-BE49-F238E27FC236}">
                <a16:creationId xmlns:a16="http://schemas.microsoft.com/office/drawing/2014/main" id="{69A208F5-469C-A843-9600-1E66573D7AE9}"/>
              </a:ext>
            </a:extLst>
          </p:cNvPr>
          <p:cNvSpPr txBox="1">
            <a:spLocks noChangeArrowheads="1"/>
          </p:cNvSpPr>
          <p:nvPr/>
        </p:nvSpPr>
        <p:spPr bwMode="auto">
          <a:xfrm>
            <a:off x="8763000" y="685801"/>
            <a:ext cx="1600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1800" b="1" u="sng">
                <a:solidFill>
                  <a:srgbClr val="000000"/>
                </a:solidFill>
              </a:rPr>
              <a:t>P(Death</a:t>
            </a:r>
            <a:r>
              <a:rPr lang="en-US" altLang="en-MX" sz="1800" b="1" u="sng">
                <a:solidFill>
                  <a:srgbClr val="000000"/>
                </a:solidFill>
                <a:latin typeface="Garamond" panose="02020404030301010803" pitchFamily="18" charset="0"/>
              </a:rPr>
              <a:t>)</a:t>
            </a:r>
          </a:p>
        </p:txBody>
      </p:sp>
      <p:sp>
        <p:nvSpPr>
          <p:cNvPr id="75801" name="Line 26">
            <a:extLst>
              <a:ext uri="{FF2B5EF4-FFF2-40B4-BE49-F238E27FC236}">
                <a16:creationId xmlns:a16="http://schemas.microsoft.com/office/drawing/2014/main" id="{81A0B4C9-50F8-484B-B32D-64A1459EFBE8}"/>
              </a:ext>
            </a:extLst>
          </p:cNvPr>
          <p:cNvSpPr>
            <a:spLocks noChangeShapeType="1"/>
          </p:cNvSpPr>
          <p:nvPr/>
        </p:nvSpPr>
        <p:spPr bwMode="auto">
          <a:xfrm>
            <a:off x="8915400" y="14478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75802" name="Line 27">
            <a:extLst>
              <a:ext uri="{FF2B5EF4-FFF2-40B4-BE49-F238E27FC236}">
                <a16:creationId xmlns:a16="http://schemas.microsoft.com/office/drawing/2014/main" id="{46D81FA7-4CFA-1241-ADB0-C50585FB661F}"/>
              </a:ext>
            </a:extLst>
          </p:cNvPr>
          <p:cNvSpPr>
            <a:spLocks noChangeShapeType="1"/>
          </p:cNvSpPr>
          <p:nvPr/>
        </p:nvSpPr>
        <p:spPr bwMode="auto">
          <a:xfrm>
            <a:off x="4267200" y="2286000"/>
            <a:ext cx="43434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75803" name="Line 28">
            <a:extLst>
              <a:ext uri="{FF2B5EF4-FFF2-40B4-BE49-F238E27FC236}">
                <a16:creationId xmlns:a16="http://schemas.microsoft.com/office/drawing/2014/main" id="{47008CF7-0049-BE45-95FF-FC9364A0F538}"/>
              </a:ext>
            </a:extLst>
          </p:cNvPr>
          <p:cNvSpPr>
            <a:spLocks noChangeShapeType="1"/>
          </p:cNvSpPr>
          <p:nvPr/>
        </p:nvSpPr>
        <p:spPr bwMode="auto">
          <a:xfrm>
            <a:off x="4343400" y="5562600"/>
            <a:ext cx="1295400" cy="0"/>
          </a:xfrm>
          <a:prstGeom prst="line">
            <a:avLst/>
          </a:prstGeom>
          <a:noFill/>
          <a:ln w="1905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75804" name="Oval 29">
            <a:extLst>
              <a:ext uri="{FF2B5EF4-FFF2-40B4-BE49-F238E27FC236}">
                <a16:creationId xmlns:a16="http://schemas.microsoft.com/office/drawing/2014/main" id="{966506BC-D234-284E-8F27-4C6D26FCD6E3}"/>
              </a:ext>
            </a:extLst>
          </p:cNvPr>
          <p:cNvSpPr>
            <a:spLocks noChangeArrowheads="1"/>
          </p:cNvSpPr>
          <p:nvPr/>
        </p:nvSpPr>
        <p:spPr bwMode="auto">
          <a:xfrm>
            <a:off x="5562601" y="1566864"/>
            <a:ext cx="238125" cy="261937"/>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75805" name="Rectangle 30">
            <a:extLst>
              <a:ext uri="{FF2B5EF4-FFF2-40B4-BE49-F238E27FC236}">
                <a16:creationId xmlns:a16="http://schemas.microsoft.com/office/drawing/2014/main" id="{69C7841F-32A2-5F4A-8AFE-E9F521C0D914}"/>
              </a:ext>
            </a:extLst>
          </p:cNvPr>
          <p:cNvSpPr>
            <a:spLocks noChangeArrowheads="1"/>
          </p:cNvSpPr>
          <p:nvPr/>
        </p:nvSpPr>
        <p:spPr bwMode="auto">
          <a:xfrm>
            <a:off x="5943600" y="1066800"/>
            <a:ext cx="12319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Encephalitis</a:t>
            </a:r>
          </a:p>
        </p:txBody>
      </p:sp>
      <p:sp>
        <p:nvSpPr>
          <p:cNvPr id="75806" name="Line 31">
            <a:extLst>
              <a:ext uri="{FF2B5EF4-FFF2-40B4-BE49-F238E27FC236}">
                <a16:creationId xmlns:a16="http://schemas.microsoft.com/office/drawing/2014/main" id="{B2DE6EE7-DD06-FB48-BD61-FE08172D0F9B}"/>
              </a:ext>
            </a:extLst>
          </p:cNvPr>
          <p:cNvSpPr>
            <a:spLocks noChangeShapeType="1"/>
          </p:cNvSpPr>
          <p:nvPr/>
        </p:nvSpPr>
        <p:spPr bwMode="auto">
          <a:xfrm flipV="1">
            <a:off x="5957888" y="1371601"/>
            <a:ext cx="2652712" cy="1587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75807" name="Line 32">
            <a:extLst>
              <a:ext uri="{FF2B5EF4-FFF2-40B4-BE49-F238E27FC236}">
                <a16:creationId xmlns:a16="http://schemas.microsoft.com/office/drawing/2014/main" id="{FA5AA5B3-0660-1B4C-9764-7EFC1858DF32}"/>
              </a:ext>
            </a:extLst>
          </p:cNvPr>
          <p:cNvSpPr>
            <a:spLocks noChangeShapeType="1"/>
          </p:cNvSpPr>
          <p:nvPr/>
        </p:nvSpPr>
        <p:spPr bwMode="auto">
          <a:xfrm>
            <a:off x="5943600" y="1981200"/>
            <a:ext cx="25908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75808" name="Freeform 33">
            <a:extLst>
              <a:ext uri="{FF2B5EF4-FFF2-40B4-BE49-F238E27FC236}">
                <a16:creationId xmlns:a16="http://schemas.microsoft.com/office/drawing/2014/main" id="{4370A809-4BE7-2643-917D-B2F03B66C4AA}"/>
              </a:ext>
            </a:extLst>
          </p:cNvPr>
          <p:cNvSpPr>
            <a:spLocks/>
          </p:cNvSpPr>
          <p:nvPr/>
        </p:nvSpPr>
        <p:spPr bwMode="auto">
          <a:xfrm>
            <a:off x="5715000" y="5257801"/>
            <a:ext cx="2895600" cy="396875"/>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75809" name="Freeform 34">
            <a:extLst>
              <a:ext uri="{FF2B5EF4-FFF2-40B4-BE49-F238E27FC236}">
                <a16:creationId xmlns:a16="http://schemas.microsoft.com/office/drawing/2014/main" id="{E48E4CB6-B891-7D4C-B6B2-E393F2E63479}"/>
              </a:ext>
            </a:extLst>
          </p:cNvPr>
          <p:cNvSpPr>
            <a:spLocks/>
          </p:cNvSpPr>
          <p:nvPr/>
        </p:nvSpPr>
        <p:spPr bwMode="auto">
          <a:xfrm>
            <a:off x="5716588" y="5502276"/>
            <a:ext cx="303212" cy="347663"/>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75810" name="Line 35">
            <a:extLst>
              <a:ext uri="{FF2B5EF4-FFF2-40B4-BE49-F238E27FC236}">
                <a16:creationId xmlns:a16="http://schemas.microsoft.com/office/drawing/2014/main" id="{6CD231A2-C2DA-7D4B-B2DA-397D7F2DAF5E}"/>
              </a:ext>
            </a:extLst>
          </p:cNvPr>
          <p:cNvSpPr>
            <a:spLocks noChangeShapeType="1"/>
          </p:cNvSpPr>
          <p:nvPr/>
        </p:nvSpPr>
        <p:spPr bwMode="auto">
          <a:xfrm>
            <a:off x="6005513" y="5849938"/>
            <a:ext cx="25146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75811" name="Rectangle 36">
            <a:extLst>
              <a:ext uri="{FF2B5EF4-FFF2-40B4-BE49-F238E27FC236}">
                <a16:creationId xmlns:a16="http://schemas.microsoft.com/office/drawing/2014/main" id="{7919FA5E-17F6-4746-97E8-E361146A597C}"/>
              </a:ext>
            </a:extLst>
          </p:cNvPr>
          <p:cNvSpPr>
            <a:spLocks noChangeArrowheads="1"/>
          </p:cNvSpPr>
          <p:nvPr/>
        </p:nvSpPr>
        <p:spPr bwMode="auto">
          <a:xfrm>
            <a:off x="5943600" y="1660525"/>
            <a:ext cx="1752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Encephalitis</a:t>
            </a:r>
          </a:p>
        </p:txBody>
      </p:sp>
      <p:sp>
        <p:nvSpPr>
          <p:cNvPr id="75812" name="Rectangle 37">
            <a:extLst>
              <a:ext uri="{FF2B5EF4-FFF2-40B4-BE49-F238E27FC236}">
                <a16:creationId xmlns:a16="http://schemas.microsoft.com/office/drawing/2014/main" id="{29C95BC9-EA7C-CE4A-B258-66ECEEB345EC}"/>
              </a:ext>
            </a:extLst>
          </p:cNvPr>
          <p:cNvSpPr>
            <a:spLocks noChangeArrowheads="1"/>
          </p:cNvSpPr>
          <p:nvPr/>
        </p:nvSpPr>
        <p:spPr bwMode="auto">
          <a:xfrm>
            <a:off x="5956300" y="4999039"/>
            <a:ext cx="12319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Encephalitis</a:t>
            </a:r>
          </a:p>
        </p:txBody>
      </p:sp>
      <p:sp>
        <p:nvSpPr>
          <p:cNvPr id="75813" name="Rectangle 38">
            <a:extLst>
              <a:ext uri="{FF2B5EF4-FFF2-40B4-BE49-F238E27FC236}">
                <a16:creationId xmlns:a16="http://schemas.microsoft.com/office/drawing/2014/main" id="{9A74D8E9-D928-A043-BDFE-CEEBE9CBDA56}"/>
              </a:ext>
            </a:extLst>
          </p:cNvPr>
          <p:cNvSpPr>
            <a:spLocks noChangeArrowheads="1"/>
          </p:cNvSpPr>
          <p:nvPr/>
        </p:nvSpPr>
        <p:spPr bwMode="auto">
          <a:xfrm>
            <a:off x="5943600" y="5562600"/>
            <a:ext cx="1752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Encephalitis</a:t>
            </a:r>
          </a:p>
        </p:txBody>
      </p:sp>
      <p:sp>
        <p:nvSpPr>
          <p:cNvPr id="75814" name="Oval 39">
            <a:extLst>
              <a:ext uri="{FF2B5EF4-FFF2-40B4-BE49-F238E27FC236}">
                <a16:creationId xmlns:a16="http://schemas.microsoft.com/office/drawing/2014/main" id="{E46D2B1A-E213-304B-BDA1-1AB2DAA6527B}"/>
              </a:ext>
            </a:extLst>
          </p:cNvPr>
          <p:cNvSpPr>
            <a:spLocks noChangeArrowheads="1"/>
          </p:cNvSpPr>
          <p:nvPr/>
        </p:nvSpPr>
        <p:spPr bwMode="auto">
          <a:xfrm>
            <a:off x="5629276" y="5426075"/>
            <a:ext cx="238125" cy="261938"/>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75815" name="Oval 40">
            <a:extLst>
              <a:ext uri="{FF2B5EF4-FFF2-40B4-BE49-F238E27FC236}">
                <a16:creationId xmlns:a16="http://schemas.microsoft.com/office/drawing/2014/main" id="{5A629491-CB4A-504C-A12E-E4D9D1B8FB2D}"/>
              </a:ext>
            </a:extLst>
          </p:cNvPr>
          <p:cNvSpPr>
            <a:spLocks noChangeArrowheads="1"/>
          </p:cNvSpPr>
          <p:nvPr/>
        </p:nvSpPr>
        <p:spPr bwMode="auto">
          <a:xfrm>
            <a:off x="3963989" y="5729288"/>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75816" name="Freeform 41">
            <a:extLst>
              <a:ext uri="{FF2B5EF4-FFF2-40B4-BE49-F238E27FC236}">
                <a16:creationId xmlns:a16="http://schemas.microsoft.com/office/drawing/2014/main" id="{EE595E66-D82F-374E-A748-2633CEB5A128}"/>
              </a:ext>
            </a:extLst>
          </p:cNvPr>
          <p:cNvSpPr>
            <a:spLocks/>
          </p:cNvSpPr>
          <p:nvPr/>
        </p:nvSpPr>
        <p:spPr bwMode="auto">
          <a:xfrm>
            <a:off x="4114801" y="3276600"/>
            <a:ext cx="371475" cy="533400"/>
          </a:xfrm>
          <a:custGeom>
            <a:avLst/>
            <a:gdLst>
              <a:gd name="T0" fmla="*/ 0 w 14"/>
              <a:gd name="T1" fmla="*/ 2147483647 h 16"/>
              <a:gd name="T2" fmla="*/ 0 w 14"/>
              <a:gd name="T3" fmla="*/ 0 h 16"/>
              <a:gd name="T4" fmla="*/ 2147483647 w 14"/>
              <a:gd name="T5" fmla="*/ 0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16"/>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75817" name="Freeform 42">
            <a:extLst>
              <a:ext uri="{FF2B5EF4-FFF2-40B4-BE49-F238E27FC236}">
                <a16:creationId xmlns:a16="http://schemas.microsoft.com/office/drawing/2014/main" id="{9005F766-51CC-7845-BEE7-F782BEB0F01C}"/>
              </a:ext>
            </a:extLst>
          </p:cNvPr>
          <p:cNvSpPr>
            <a:spLocks/>
          </p:cNvSpPr>
          <p:nvPr/>
        </p:nvSpPr>
        <p:spPr bwMode="auto">
          <a:xfrm>
            <a:off x="4114801" y="3962400"/>
            <a:ext cx="295275" cy="533400"/>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75818" name="Oval 43">
            <a:extLst>
              <a:ext uri="{FF2B5EF4-FFF2-40B4-BE49-F238E27FC236}">
                <a16:creationId xmlns:a16="http://schemas.microsoft.com/office/drawing/2014/main" id="{692CFC1E-2411-4A49-8D0F-C876C71C49E6}"/>
              </a:ext>
            </a:extLst>
          </p:cNvPr>
          <p:cNvSpPr>
            <a:spLocks noChangeArrowheads="1"/>
          </p:cNvSpPr>
          <p:nvPr/>
        </p:nvSpPr>
        <p:spPr bwMode="auto">
          <a:xfrm>
            <a:off x="3976689" y="3733800"/>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75819" name="Line 44">
            <a:extLst>
              <a:ext uri="{FF2B5EF4-FFF2-40B4-BE49-F238E27FC236}">
                <a16:creationId xmlns:a16="http://schemas.microsoft.com/office/drawing/2014/main" id="{6EDD25BA-400B-E948-B8D0-91104BFC9344}"/>
              </a:ext>
            </a:extLst>
          </p:cNvPr>
          <p:cNvSpPr>
            <a:spLocks noChangeShapeType="1"/>
          </p:cNvSpPr>
          <p:nvPr/>
        </p:nvSpPr>
        <p:spPr bwMode="auto">
          <a:xfrm>
            <a:off x="4419600" y="3276600"/>
            <a:ext cx="7620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75820" name="Line 45">
            <a:extLst>
              <a:ext uri="{FF2B5EF4-FFF2-40B4-BE49-F238E27FC236}">
                <a16:creationId xmlns:a16="http://schemas.microsoft.com/office/drawing/2014/main" id="{368E3B78-855D-034F-AF3C-BC47E8F8A64B}"/>
              </a:ext>
            </a:extLst>
          </p:cNvPr>
          <p:cNvSpPr>
            <a:spLocks noChangeShapeType="1"/>
          </p:cNvSpPr>
          <p:nvPr/>
        </p:nvSpPr>
        <p:spPr bwMode="auto">
          <a:xfrm>
            <a:off x="4419600" y="4495800"/>
            <a:ext cx="960438"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75821" name="Rectangle 46">
            <a:extLst>
              <a:ext uri="{FF2B5EF4-FFF2-40B4-BE49-F238E27FC236}">
                <a16:creationId xmlns:a16="http://schemas.microsoft.com/office/drawing/2014/main" id="{236BF600-52FD-5E45-8797-7E78915C0F40}"/>
              </a:ext>
            </a:extLst>
          </p:cNvPr>
          <p:cNvSpPr>
            <a:spLocks noChangeArrowheads="1"/>
          </p:cNvSpPr>
          <p:nvPr/>
        </p:nvSpPr>
        <p:spPr bwMode="auto">
          <a:xfrm>
            <a:off x="5486400" y="3124200"/>
            <a:ext cx="14097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Spray</a:t>
            </a:r>
          </a:p>
        </p:txBody>
      </p:sp>
      <p:sp>
        <p:nvSpPr>
          <p:cNvPr id="75822" name="Text Box 47">
            <a:extLst>
              <a:ext uri="{FF2B5EF4-FFF2-40B4-BE49-F238E27FC236}">
                <a16:creationId xmlns:a16="http://schemas.microsoft.com/office/drawing/2014/main" id="{5504239E-D934-974D-B986-E51E0EC01553}"/>
              </a:ext>
            </a:extLst>
          </p:cNvPr>
          <p:cNvSpPr txBox="1">
            <a:spLocks noChangeArrowheads="1"/>
          </p:cNvSpPr>
          <p:nvPr/>
        </p:nvSpPr>
        <p:spPr bwMode="auto">
          <a:xfrm>
            <a:off x="5638800" y="4191000"/>
            <a:ext cx="990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a:solidFill>
                  <a:srgbClr val="000000"/>
                </a:solidFill>
              </a:rPr>
              <a:t>Don</a:t>
            </a:r>
            <a:r>
              <a:rPr lang="ja-JP" altLang="en-US" sz="1800">
                <a:solidFill>
                  <a:srgbClr val="000000"/>
                </a:solidFill>
              </a:rPr>
              <a:t>’</a:t>
            </a:r>
            <a:r>
              <a:rPr lang="en-US" altLang="ja-JP" sz="1800">
                <a:solidFill>
                  <a:srgbClr val="000000"/>
                </a:solidFill>
              </a:rPr>
              <a:t>t spray</a:t>
            </a:r>
            <a:endParaRPr lang="en-US" altLang="en-MX" sz="1800">
              <a:solidFill>
                <a:srgbClr val="000000"/>
              </a:solidFill>
            </a:endParaRPr>
          </a:p>
        </p:txBody>
      </p:sp>
      <p:sp>
        <p:nvSpPr>
          <p:cNvPr id="75823" name="Line 48">
            <a:extLst>
              <a:ext uri="{FF2B5EF4-FFF2-40B4-BE49-F238E27FC236}">
                <a16:creationId xmlns:a16="http://schemas.microsoft.com/office/drawing/2014/main" id="{C0DAFB6B-893B-BA42-8DA9-253E09BA829C}"/>
              </a:ext>
            </a:extLst>
          </p:cNvPr>
          <p:cNvSpPr>
            <a:spLocks noChangeShapeType="1"/>
          </p:cNvSpPr>
          <p:nvPr/>
        </p:nvSpPr>
        <p:spPr bwMode="auto">
          <a:xfrm>
            <a:off x="8915400" y="19050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75824" name="Line 49">
            <a:extLst>
              <a:ext uri="{FF2B5EF4-FFF2-40B4-BE49-F238E27FC236}">
                <a16:creationId xmlns:a16="http://schemas.microsoft.com/office/drawing/2014/main" id="{C4A539CC-1193-4045-B678-DE3F79DA662A}"/>
              </a:ext>
            </a:extLst>
          </p:cNvPr>
          <p:cNvSpPr>
            <a:spLocks noChangeShapeType="1"/>
          </p:cNvSpPr>
          <p:nvPr/>
        </p:nvSpPr>
        <p:spPr bwMode="auto">
          <a:xfrm>
            <a:off x="8915400" y="22860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75825" name="Line 50">
            <a:extLst>
              <a:ext uri="{FF2B5EF4-FFF2-40B4-BE49-F238E27FC236}">
                <a16:creationId xmlns:a16="http://schemas.microsoft.com/office/drawing/2014/main" id="{A41AF7DF-6C3A-DA48-8282-4BDCC27C59C9}"/>
              </a:ext>
            </a:extLst>
          </p:cNvPr>
          <p:cNvSpPr>
            <a:spLocks noChangeShapeType="1"/>
          </p:cNvSpPr>
          <p:nvPr/>
        </p:nvSpPr>
        <p:spPr bwMode="auto">
          <a:xfrm>
            <a:off x="8915400" y="29718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75826" name="Line 51">
            <a:extLst>
              <a:ext uri="{FF2B5EF4-FFF2-40B4-BE49-F238E27FC236}">
                <a16:creationId xmlns:a16="http://schemas.microsoft.com/office/drawing/2014/main" id="{1619F823-A0AC-B646-935E-16AA4804423F}"/>
              </a:ext>
            </a:extLst>
          </p:cNvPr>
          <p:cNvSpPr>
            <a:spLocks noChangeShapeType="1"/>
          </p:cNvSpPr>
          <p:nvPr/>
        </p:nvSpPr>
        <p:spPr bwMode="auto">
          <a:xfrm>
            <a:off x="8915400" y="35814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75827" name="Line 52">
            <a:extLst>
              <a:ext uri="{FF2B5EF4-FFF2-40B4-BE49-F238E27FC236}">
                <a16:creationId xmlns:a16="http://schemas.microsoft.com/office/drawing/2014/main" id="{6C634A33-84FC-4B4E-A2F4-AA7234021FCE}"/>
              </a:ext>
            </a:extLst>
          </p:cNvPr>
          <p:cNvSpPr>
            <a:spLocks noChangeShapeType="1"/>
          </p:cNvSpPr>
          <p:nvPr/>
        </p:nvSpPr>
        <p:spPr bwMode="auto">
          <a:xfrm>
            <a:off x="8915400" y="43434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75828" name="Line 53">
            <a:extLst>
              <a:ext uri="{FF2B5EF4-FFF2-40B4-BE49-F238E27FC236}">
                <a16:creationId xmlns:a16="http://schemas.microsoft.com/office/drawing/2014/main" id="{0FE75E25-2888-7743-A9BB-7CF96A5DDA4E}"/>
              </a:ext>
            </a:extLst>
          </p:cNvPr>
          <p:cNvSpPr>
            <a:spLocks noChangeShapeType="1"/>
          </p:cNvSpPr>
          <p:nvPr/>
        </p:nvSpPr>
        <p:spPr bwMode="auto">
          <a:xfrm>
            <a:off x="8915400" y="48006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75829" name="Line 54">
            <a:extLst>
              <a:ext uri="{FF2B5EF4-FFF2-40B4-BE49-F238E27FC236}">
                <a16:creationId xmlns:a16="http://schemas.microsoft.com/office/drawing/2014/main" id="{D7F07C42-FFA2-514E-A80E-FFDE351980CD}"/>
              </a:ext>
            </a:extLst>
          </p:cNvPr>
          <p:cNvSpPr>
            <a:spLocks noChangeShapeType="1"/>
          </p:cNvSpPr>
          <p:nvPr/>
        </p:nvSpPr>
        <p:spPr bwMode="auto">
          <a:xfrm>
            <a:off x="8915400" y="53340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75830" name="Line 55">
            <a:extLst>
              <a:ext uri="{FF2B5EF4-FFF2-40B4-BE49-F238E27FC236}">
                <a16:creationId xmlns:a16="http://schemas.microsoft.com/office/drawing/2014/main" id="{5DA03DAB-1994-4B43-A6EE-384A852A66EE}"/>
              </a:ext>
            </a:extLst>
          </p:cNvPr>
          <p:cNvSpPr>
            <a:spLocks noChangeShapeType="1"/>
          </p:cNvSpPr>
          <p:nvPr/>
        </p:nvSpPr>
        <p:spPr bwMode="auto">
          <a:xfrm>
            <a:off x="8915400" y="57912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75831" name="Line 56">
            <a:extLst>
              <a:ext uri="{FF2B5EF4-FFF2-40B4-BE49-F238E27FC236}">
                <a16:creationId xmlns:a16="http://schemas.microsoft.com/office/drawing/2014/main" id="{FD17EFE4-176D-3048-BDE9-586E77C58A6F}"/>
              </a:ext>
            </a:extLst>
          </p:cNvPr>
          <p:cNvSpPr>
            <a:spLocks noChangeShapeType="1"/>
          </p:cNvSpPr>
          <p:nvPr/>
        </p:nvSpPr>
        <p:spPr bwMode="auto">
          <a:xfrm>
            <a:off x="8915400" y="63246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75832" name="Rectangle 57">
            <a:extLst>
              <a:ext uri="{FF2B5EF4-FFF2-40B4-BE49-F238E27FC236}">
                <a16:creationId xmlns:a16="http://schemas.microsoft.com/office/drawing/2014/main" id="{AA96FBE5-7E3C-D745-84AC-726B3B2C190B}"/>
              </a:ext>
            </a:extLst>
          </p:cNvPr>
          <p:cNvSpPr>
            <a:spLocks noChangeArrowheads="1"/>
          </p:cNvSpPr>
          <p:nvPr/>
        </p:nvSpPr>
        <p:spPr bwMode="auto">
          <a:xfrm>
            <a:off x="4191000" y="2895601"/>
            <a:ext cx="117981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ja-JP" altLang="en-US" sz="1800">
                <a:solidFill>
                  <a:srgbClr val="000000"/>
                </a:solidFill>
              </a:rPr>
              <a:t>“</a:t>
            </a:r>
            <a:r>
              <a:rPr lang="en-US" altLang="ja-JP" sz="1800">
                <a:solidFill>
                  <a:srgbClr val="000000"/>
                </a:solidFill>
              </a:rPr>
              <a:t>Outbreak</a:t>
            </a:r>
            <a:r>
              <a:rPr lang="ja-JP" altLang="en-US" sz="1800">
                <a:solidFill>
                  <a:srgbClr val="000000"/>
                </a:solidFill>
              </a:rPr>
              <a:t>”</a:t>
            </a:r>
            <a:endParaRPr lang="en-US" altLang="en-MX" sz="1800">
              <a:solidFill>
                <a:srgbClr val="000000"/>
              </a:solidFill>
            </a:endParaRPr>
          </a:p>
        </p:txBody>
      </p:sp>
      <p:sp>
        <p:nvSpPr>
          <p:cNvPr id="75833" name="Rectangle 58">
            <a:extLst>
              <a:ext uri="{FF2B5EF4-FFF2-40B4-BE49-F238E27FC236}">
                <a16:creationId xmlns:a16="http://schemas.microsoft.com/office/drawing/2014/main" id="{5A444489-2865-4A4A-95F1-1C54DB779416}"/>
              </a:ext>
            </a:extLst>
          </p:cNvPr>
          <p:cNvSpPr>
            <a:spLocks noChangeArrowheads="1"/>
          </p:cNvSpPr>
          <p:nvPr/>
        </p:nvSpPr>
        <p:spPr bwMode="auto">
          <a:xfrm>
            <a:off x="4191000" y="3962401"/>
            <a:ext cx="10668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ja-JP" altLang="en-US" sz="1800">
                <a:solidFill>
                  <a:srgbClr val="000000"/>
                </a:solidFill>
              </a:rPr>
              <a:t>“</a:t>
            </a:r>
            <a:r>
              <a:rPr lang="en-US" altLang="ja-JP" sz="1800">
                <a:solidFill>
                  <a:srgbClr val="000000"/>
                </a:solidFill>
              </a:rPr>
              <a:t>No</a:t>
            </a:r>
          </a:p>
          <a:p>
            <a:r>
              <a:rPr lang="en-US" altLang="en-MX" sz="1800">
                <a:solidFill>
                  <a:srgbClr val="000000"/>
                </a:solidFill>
              </a:rPr>
              <a:t>Outbreak</a:t>
            </a:r>
            <a:r>
              <a:rPr lang="ja-JP" altLang="en-US" sz="1800">
                <a:solidFill>
                  <a:srgbClr val="000000"/>
                </a:solidFill>
              </a:rPr>
              <a:t>”</a:t>
            </a:r>
            <a:endParaRPr lang="en-US" altLang="en-MX" sz="1800">
              <a:solidFill>
                <a:srgbClr val="000000"/>
              </a:solidFill>
            </a:endParaRPr>
          </a:p>
        </p:txBody>
      </p:sp>
      <p:sp>
        <p:nvSpPr>
          <p:cNvPr id="75834" name="AutoShape 59">
            <a:extLst>
              <a:ext uri="{FF2B5EF4-FFF2-40B4-BE49-F238E27FC236}">
                <a16:creationId xmlns:a16="http://schemas.microsoft.com/office/drawing/2014/main" id="{37A1488C-1BB7-D244-94D3-669A653AA442}"/>
              </a:ext>
            </a:extLst>
          </p:cNvPr>
          <p:cNvSpPr>
            <a:spLocks noChangeArrowheads="1"/>
          </p:cNvSpPr>
          <p:nvPr/>
        </p:nvSpPr>
        <p:spPr bwMode="auto">
          <a:xfrm>
            <a:off x="5105400" y="3124200"/>
            <a:ext cx="304800" cy="304800"/>
          </a:xfrm>
          <a:prstGeom prst="rightArrow">
            <a:avLst>
              <a:gd name="adj1" fmla="val 50000"/>
              <a:gd name="adj2" fmla="val 25000"/>
            </a:avLst>
          </a:prstGeom>
          <a:solidFill>
            <a:srgbClr val="990033"/>
          </a:solidFill>
          <a:ln w="12700">
            <a:solidFill>
              <a:srgbClr val="00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75835" name="AutoShape 60">
            <a:extLst>
              <a:ext uri="{FF2B5EF4-FFF2-40B4-BE49-F238E27FC236}">
                <a16:creationId xmlns:a16="http://schemas.microsoft.com/office/drawing/2014/main" id="{885EFF37-D452-B447-A0C4-FB7EF403E059}"/>
              </a:ext>
            </a:extLst>
          </p:cNvPr>
          <p:cNvSpPr>
            <a:spLocks noChangeArrowheads="1"/>
          </p:cNvSpPr>
          <p:nvPr/>
        </p:nvSpPr>
        <p:spPr bwMode="auto">
          <a:xfrm>
            <a:off x="5334000" y="4343400"/>
            <a:ext cx="304800" cy="304800"/>
          </a:xfrm>
          <a:prstGeom prst="rightArrow">
            <a:avLst>
              <a:gd name="adj1" fmla="val 50000"/>
              <a:gd name="adj2" fmla="val 25000"/>
            </a:avLst>
          </a:prstGeom>
          <a:solidFill>
            <a:srgbClr val="990033"/>
          </a:solidFill>
          <a:ln w="12700">
            <a:solidFill>
              <a:srgbClr val="00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75836" name="Freeform 61">
            <a:extLst>
              <a:ext uri="{FF2B5EF4-FFF2-40B4-BE49-F238E27FC236}">
                <a16:creationId xmlns:a16="http://schemas.microsoft.com/office/drawing/2014/main" id="{3208AFE2-833C-3946-AEC7-C477A84588E2}"/>
              </a:ext>
            </a:extLst>
          </p:cNvPr>
          <p:cNvSpPr>
            <a:spLocks/>
          </p:cNvSpPr>
          <p:nvPr/>
        </p:nvSpPr>
        <p:spPr bwMode="auto">
          <a:xfrm>
            <a:off x="6235700" y="2971801"/>
            <a:ext cx="2451100" cy="396875"/>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75837" name="Freeform 62">
            <a:extLst>
              <a:ext uri="{FF2B5EF4-FFF2-40B4-BE49-F238E27FC236}">
                <a16:creationId xmlns:a16="http://schemas.microsoft.com/office/drawing/2014/main" id="{E27E3BCB-556F-E640-B36B-D98C65D22DC2}"/>
              </a:ext>
            </a:extLst>
          </p:cNvPr>
          <p:cNvSpPr>
            <a:spLocks/>
          </p:cNvSpPr>
          <p:nvPr/>
        </p:nvSpPr>
        <p:spPr bwMode="auto">
          <a:xfrm>
            <a:off x="6235700" y="3249614"/>
            <a:ext cx="2374900" cy="331787"/>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75838" name="Rectangle 63">
            <a:extLst>
              <a:ext uri="{FF2B5EF4-FFF2-40B4-BE49-F238E27FC236}">
                <a16:creationId xmlns:a16="http://schemas.microsoft.com/office/drawing/2014/main" id="{2B06F0DC-A788-674A-BA9D-B131B21DA559}"/>
              </a:ext>
            </a:extLst>
          </p:cNvPr>
          <p:cNvSpPr>
            <a:spLocks noChangeArrowheads="1"/>
          </p:cNvSpPr>
          <p:nvPr/>
        </p:nvSpPr>
        <p:spPr bwMode="auto">
          <a:xfrm>
            <a:off x="6535738" y="2682875"/>
            <a:ext cx="12319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Encephalitis</a:t>
            </a:r>
          </a:p>
        </p:txBody>
      </p:sp>
      <p:sp>
        <p:nvSpPr>
          <p:cNvPr id="75839" name="Rectangle 64">
            <a:extLst>
              <a:ext uri="{FF2B5EF4-FFF2-40B4-BE49-F238E27FC236}">
                <a16:creationId xmlns:a16="http://schemas.microsoft.com/office/drawing/2014/main" id="{2A032452-F656-9B4E-81FB-2B4D1F09ECDD}"/>
              </a:ext>
            </a:extLst>
          </p:cNvPr>
          <p:cNvSpPr>
            <a:spLocks noChangeArrowheads="1"/>
          </p:cNvSpPr>
          <p:nvPr/>
        </p:nvSpPr>
        <p:spPr bwMode="auto">
          <a:xfrm>
            <a:off x="6477000" y="3276600"/>
            <a:ext cx="1752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Encephalitis</a:t>
            </a:r>
          </a:p>
        </p:txBody>
      </p:sp>
      <p:sp>
        <p:nvSpPr>
          <p:cNvPr id="75840" name="Oval 65">
            <a:extLst>
              <a:ext uri="{FF2B5EF4-FFF2-40B4-BE49-F238E27FC236}">
                <a16:creationId xmlns:a16="http://schemas.microsoft.com/office/drawing/2014/main" id="{F21A4226-5BCF-7F4B-AF9A-E2CF9DD67373}"/>
              </a:ext>
            </a:extLst>
          </p:cNvPr>
          <p:cNvSpPr>
            <a:spLocks noChangeArrowheads="1"/>
          </p:cNvSpPr>
          <p:nvPr/>
        </p:nvSpPr>
        <p:spPr bwMode="auto">
          <a:xfrm>
            <a:off x="6172201" y="3124200"/>
            <a:ext cx="238125" cy="261938"/>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75841" name="Freeform 66">
            <a:extLst>
              <a:ext uri="{FF2B5EF4-FFF2-40B4-BE49-F238E27FC236}">
                <a16:creationId xmlns:a16="http://schemas.microsoft.com/office/drawing/2014/main" id="{7D5CD368-C529-E249-A586-DE114B5EB3C8}"/>
              </a:ext>
            </a:extLst>
          </p:cNvPr>
          <p:cNvSpPr>
            <a:spLocks/>
          </p:cNvSpPr>
          <p:nvPr/>
        </p:nvSpPr>
        <p:spPr bwMode="auto">
          <a:xfrm>
            <a:off x="6540500" y="4251326"/>
            <a:ext cx="2146300" cy="396875"/>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75842" name="Freeform 67">
            <a:extLst>
              <a:ext uri="{FF2B5EF4-FFF2-40B4-BE49-F238E27FC236}">
                <a16:creationId xmlns:a16="http://schemas.microsoft.com/office/drawing/2014/main" id="{733FAD9A-C59A-FB45-868A-6304637B1576}"/>
              </a:ext>
            </a:extLst>
          </p:cNvPr>
          <p:cNvSpPr>
            <a:spLocks/>
          </p:cNvSpPr>
          <p:nvPr/>
        </p:nvSpPr>
        <p:spPr bwMode="auto">
          <a:xfrm>
            <a:off x="6540500" y="4529139"/>
            <a:ext cx="2070100" cy="331787"/>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75843" name="Rectangle 68">
            <a:extLst>
              <a:ext uri="{FF2B5EF4-FFF2-40B4-BE49-F238E27FC236}">
                <a16:creationId xmlns:a16="http://schemas.microsoft.com/office/drawing/2014/main" id="{87682AAD-2F44-134D-9293-C5115C924B8E}"/>
              </a:ext>
            </a:extLst>
          </p:cNvPr>
          <p:cNvSpPr>
            <a:spLocks noChangeArrowheads="1"/>
          </p:cNvSpPr>
          <p:nvPr/>
        </p:nvSpPr>
        <p:spPr bwMode="auto">
          <a:xfrm>
            <a:off x="6840538" y="3962400"/>
            <a:ext cx="12319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Encephalitis</a:t>
            </a:r>
          </a:p>
        </p:txBody>
      </p:sp>
      <p:sp>
        <p:nvSpPr>
          <p:cNvPr id="75844" name="Rectangle 69">
            <a:extLst>
              <a:ext uri="{FF2B5EF4-FFF2-40B4-BE49-F238E27FC236}">
                <a16:creationId xmlns:a16="http://schemas.microsoft.com/office/drawing/2014/main" id="{0AD1060C-B2CB-7A4A-A9E8-8FE67570AE1B}"/>
              </a:ext>
            </a:extLst>
          </p:cNvPr>
          <p:cNvSpPr>
            <a:spLocks noChangeArrowheads="1"/>
          </p:cNvSpPr>
          <p:nvPr/>
        </p:nvSpPr>
        <p:spPr bwMode="auto">
          <a:xfrm>
            <a:off x="6781800" y="4556125"/>
            <a:ext cx="1752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Encephalitis</a:t>
            </a:r>
          </a:p>
        </p:txBody>
      </p:sp>
      <p:sp>
        <p:nvSpPr>
          <p:cNvPr id="75845" name="Oval 70">
            <a:extLst>
              <a:ext uri="{FF2B5EF4-FFF2-40B4-BE49-F238E27FC236}">
                <a16:creationId xmlns:a16="http://schemas.microsoft.com/office/drawing/2014/main" id="{E1CB4DAD-0AF5-214F-8505-5EE4BD1D4F19}"/>
              </a:ext>
            </a:extLst>
          </p:cNvPr>
          <p:cNvSpPr>
            <a:spLocks noChangeArrowheads="1"/>
          </p:cNvSpPr>
          <p:nvPr/>
        </p:nvSpPr>
        <p:spPr bwMode="auto">
          <a:xfrm>
            <a:off x="6467476" y="4403725"/>
            <a:ext cx="238125" cy="261938"/>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75846" name="AutoShape 71">
            <a:extLst>
              <a:ext uri="{FF2B5EF4-FFF2-40B4-BE49-F238E27FC236}">
                <a16:creationId xmlns:a16="http://schemas.microsoft.com/office/drawing/2014/main" id="{E1DB288A-6B7A-3840-B998-3377EF62EAB5}"/>
              </a:ext>
            </a:extLst>
          </p:cNvPr>
          <p:cNvSpPr>
            <a:spLocks noChangeArrowheads="1"/>
          </p:cNvSpPr>
          <p:nvPr/>
        </p:nvSpPr>
        <p:spPr bwMode="auto">
          <a:xfrm>
            <a:off x="8534400" y="12192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75847" name="AutoShape 72">
            <a:extLst>
              <a:ext uri="{FF2B5EF4-FFF2-40B4-BE49-F238E27FC236}">
                <a16:creationId xmlns:a16="http://schemas.microsoft.com/office/drawing/2014/main" id="{38418261-6B41-E247-94C1-03FDB3973E30}"/>
              </a:ext>
            </a:extLst>
          </p:cNvPr>
          <p:cNvSpPr>
            <a:spLocks noChangeArrowheads="1"/>
          </p:cNvSpPr>
          <p:nvPr/>
        </p:nvSpPr>
        <p:spPr bwMode="auto">
          <a:xfrm>
            <a:off x="8534400" y="16764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75848" name="AutoShape 73">
            <a:extLst>
              <a:ext uri="{FF2B5EF4-FFF2-40B4-BE49-F238E27FC236}">
                <a16:creationId xmlns:a16="http://schemas.microsoft.com/office/drawing/2014/main" id="{0B044D3D-FC22-A644-9782-042790B29795}"/>
              </a:ext>
            </a:extLst>
          </p:cNvPr>
          <p:cNvSpPr>
            <a:spLocks noChangeArrowheads="1"/>
          </p:cNvSpPr>
          <p:nvPr/>
        </p:nvSpPr>
        <p:spPr bwMode="auto">
          <a:xfrm>
            <a:off x="8534400" y="20574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75849" name="AutoShape 74">
            <a:extLst>
              <a:ext uri="{FF2B5EF4-FFF2-40B4-BE49-F238E27FC236}">
                <a16:creationId xmlns:a16="http://schemas.microsoft.com/office/drawing/2014/main" id="{DBDEDF90-89F9-FB44-B5A8-E5496508916E}"/>
              </a:ext>
            </a:extLst>
          </p:cNvPr>
          <p:cNvSpPr>
            <a:spLocks noChangeArrowheads="1"/>
          </p:cNvSpPr>
          <p:nvPr/>
        </p:nvSpPr>
        <p:spPr bwMode="auto">
          <a:xfrm>
            <a:off x="8534400" y="33528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75850" name="AutoShape 75">
            <a:extLst>
              <a:ext uri="{FF2B5EF4-FFF2-40B4-BE49-F238E27FC236}">
                <a16:creationId xmlns:a16="http://schemas.microsoft.com/office/drawing/2014/main" id="{7F9E8036-CDCE-514B-A37B-BE007F7D6A61}"/>
              </a:ext>
            </a:extLst>
          </p:cNvPr>
          <p:cNvSpPr>
            <a:spLocks noChangeArrowheads="1"/>
          </p:cNvSpPr>
          <p:nvPr/>
        </p:nvSpPr>
        <p:spPr bwMode="auto">
          <a:xfrm>
            <a:off x="8534400" y="28194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75851" name="AutoShape 76">
            <a:extLst>
              <a:ext uri="{FF2B5EF4-FFF2-40B4-BE49-F238E27FC236}">
                <a16:creationId xmlns:a16="http://schemas.microsoft.com/office/drawing/2014/main" id="{EEBD07DA-198B-C54C-9BDA-DC013972B5A7}"/>
              </a:ext>
            </a:extLst>
          </p:cNvPr>
          <p:cNvSpPr>
            <a:spLocks noChangeArrowheads="1"/>
          </p:cNvSpPr>
          <p:nvPr/>
        </p:nvSpPr>
        <p:spPr bwMode="auto">
          <a:xfrm>
            <a:off x="8547100" y="5121275"/>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75852" name="AutoShape 77">
            <a:extLst>
              <a:ext uri="{FF2B5EF4-FFF2-40B4-BE49-F238E27FC236}">
                <a16:creationId xmlns:a16="http://schemas.microsoft.com/office/drawing/2014/main" id="{DB770D8C-CE85-9846-BA48-3D8373A6509D}"/>
              </a:ext>
            </a:extLst>
          </p:cNvPr>
          <p:cNvSpPr>
            <a:spLocks noChangeArrowheads="1"/>
          </p:cNvSpPr>
          <p:nvPr/>
        </p:nvSpPr>
        <p:spPr bwMode="auto">
          <a:xfrm>
            <a:off x="8547100" y="5578475"/>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75853" name="AutoShape 78">
            <a:extLst>
              <a:ext uri="{FF2B5EF4-FFF2-40B4-BE49-F238E27FC236}">
                <a16:creationId xmlns:a16="http://schemas.microsoft.com/office/drawing/2014/main" id="{899B8A79-3763-B643-8C6B-2805F3E31E31}"/>
              </a:ext>
            </a:extLst>
          </p:cNvPr>
          <p:cNvSpPr>
            <a:spLocks noChangeArrowheads="1"/>
          </p:cNvSpPr>
          <p:nvPr/>
        </p:nvSpPr>
        <p:spPr bwMode="auto">
          <a:xfrm>
            <a:off x="8534400" y="6065838"/>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75854" name="AutoShape 79">
            <a:extLst>
              <a:ext uri="{FF2B5EF4-FFF2-40B4-BE49-F238E27FC236}">
                <a16:creationId xmlns:a16="http://schemas.microsoft.com/office/drawing/2014/main" id="{8214457B-0038-E246-BBFC-9CCCB79872F3}"/>
              </a:ext>
            </a:extLst>
          </p:cNvPr>
          <p:cNvSpPr>
            <a:spLocks noChangeArrowheads="1"/>
          </p:cNvSpPr>
          <p:nvPr/>
        </p:nvSpPr>
        <p:spPr bwMode="auto">
          <a:xfrm>
            <a:off x="8547100" y="41148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75855" name="AutoShape 80">
            <a:extLst>
              <a:ext uri="{FF2B5EF4-FFF2-40B4-BE49-F238E27FC236}">
                <a16:creationId xmlns:a16="http://schemas.microsoft.com/office/drawing/2014/main" id="{C925E8C4-D090-FB4C-9DEC-83B5457D44CF}"/>
              </a:ext>
            </a:extLst>
          </p:cNvPr>
          <p:cNvSpPr>
            <a:spLocks noChangeArrowheads="1"/>
          </p:cNvSpPr>
          <p:nvPr/>
        </p:nvSpPr>
        <p:spPr bwMode="auto">
          <a:xfrm>
            <a:off x="8547100" y="45720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75856" name="Text Box 81">
            <a:extLst>
              <a:ext uri="{FF2B5EF4-FFF2-40B4-BE49-F238E27FC236}">
                <a16:creationId xmlns:a16="http://schemas.microsoft.com/office/drawing/2014/main" id="{4D5672B0-4010-5A49-A3E3-5F2BCACB5F6D}"/>
              </a:ext>
            </a:extLst>
          </p:cNvPr>
          <p:cNvSpPr txBox="1">
            <a:spLocks noChangeArrowheads="1"/>
          </p:cNvSpPr>
          <p:nvPr/>
        </p:nvSpPr>
        <p:spPr bwMode="auto">
          <a:xfrm>
            <a:off x="4343400" y="164465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0.20</a:t>
            </a:r>
          </a:p>
        </p:txBody>
      </p:sp>
      <p:sp>
        <p:nvSpPr>
          <p:cNvPr id="75857" name="Text Box 82">
            <a:extLst>
              <a:ext uri="{FF2B5EF4-FFF2-40B4-BE49-F238E27FC236}">
                <a16:creationId xmlns:a16="http://schemas.microsoft.com/office/drawing/2014/main" id="{F9007948-F5CD-2E4F-9290-1B1D678C9C19}"/>
              </a:ext>
            </a:extLst>
          </p:cNvPr>
          <p:cNvSpPr txBox="1">
            <a:spLocks noChangeArrowheads="1"/>
          </p:cNvSpPr>
          <p:nvPr/>
        </p:nvSpPr>
        <p:spPr bwMode="auto">
          <a:xfrm>
            <a:off x="4343400" y="228600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0.80</a:t>
            </a:r>
          </a:p>
        </p:txBody>
      </p:sp>
      <p:sp>
        <p:nvSpPr>
          <p:cNvPr id="75858" name="Text Box 83">
            <a:extLst>
              <a:ext uri="{FF2B5EF4-FFF2-40B4-BE49-F238E27FC236}">
                <a16:creationId xmlns:a16="http://schemas.microsoft.com/office/drawing/2014/main" id="{D7A009DA-BDF9-374C-8132-4DC75FC1449D}"/>
              </a:ext>
            </a:extLst>
          </p:cNvPr>
          <p:cNvSpPr txBox="1">
            <a:spLocks noChangeArrowheads="1"/>
          </p:cNvSpPr>
          <p:nvPr/>
        </p:nvSpPr>
        <p:spPr bwMode="auto">
          <a:xfrm>
            <a:off x="6019800" y="133985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0.001</a:t>
            </a:r>
          </a:p>
        </p:txBody>
      </p:sp>
      <p:sp>
        <p:nvSpPr>
          <p:cNvPr id="75859" name="Text Box 84">
            <a:extLst>
              <a:ext uri="{FF2B5EF4-FFF2-40B4-BE49-F238E27FC236}">
                <a16:creationId xmlns:a16="http://schemas.microsoft.com/office/drawing/2014/main" id="{62320ACC-089C-B24D-A682-55FA2179A2C8}"/>
              </a:ext>
            </a:extLst>
          </p:cNvPr>
          <p:cNvSpPr txBox="1">
            <a:spLocks noChangeArrowheads="1"/>
          </p:cNvSpPr>
          <p:nvPr/>
        </p:nvSpPr>
        <p:spPr bwMode="auto">
          <a:xfrm>
            <a:off x="6019800" y="194945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0.999</a:t>
            </a:r>
          </a:p>
        </p:txBody>
      </p:sp>
      <p:sp>
        <p:nvSpPr>
          <p:cNvPr id="75860" name="Text Box 85">
            <a:extLst>
              <a:ext uri="{FF2B5EF4-FFF2-40B4-BE49-F238E27FC236}">
                <a16:creationId xmlns:a16="http://schemas.microsoft.com/office/drawing/2014/main" id="{214FFC15-8558-5847-AC46-06F645980423}"/>
              </a:ext>
            </a:extLst>
          </p:cNvPr>
          <p:cNvSpPr txBox="1">
            <a:spLocks noChangeArrowheads="1"/>
          </p:cNvSpPr>
          <p:nvPr/>
        </p:nvSpPr>
        <p:spPr bwMode="auto">
          <a:xfrm>
            <a:off x="4419600" y="556260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0.20</a:t>
            </a:r>
          </a:p>
        </p:txBody>
      </p:sp>
      <p:sp>
        <p:nvSpPr>
          <p:cNvPr id="75861" name="Text Box 86">
            <a:extLst>
              <a:ext uri="{FF2B5EF4-FFF2-40B4-BE49-F238E27FC236}">
                <a16:creationId xmlns:a16="http://schemas.microsoft.com/office/drawing/2014/main" id="{7522D39D-C55E-534B-9C35-9DD5EEEB0FAF}"/>
              </a:ext>
            </a:extLst>
          </p:cNvPr>
          <p:cNvSpPr txBox="1">
            <a:spLocks noChangeArrowheads="1"/>
          </p:cNvSpPr>
          <p:nvPr/>
        </p:nvSpPr>
        <p:spPr bwMode="auto">
          <a:xfrm>
            <a:off x="4419600" y="629285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0.80</a:t>
            </a:r>
          </a:p>
        </p:txBody>
      </p:sp>
      <p:sp>
        <p:nvSpPr>
          <p:cNvPr id="75862" name="Text Box 87">
            <a:extLst>
              <a:ext uri="{FF2B5EF4-FFF2-40B4-BE49-F238E27FC236}">
                <a16:creationId xmlns:a16="http://schemas.microsoft.com/office/drawing/2014/main" id="{081F2339-6B1A-264D-A119-1873489A467D}"/>
              </a:ext>
            </a:extLst>
          </p:cNvPr>
          <p:cNvSpPr txBox="1">
            <a:spLocks noChangeArrowheads="1"/>
          </p:cNvSpPr>
          <p:nvPr/>
        </p:nvSpPr>
        <p:spPr bwMode="auto">
          <a:xfrm>
            <a:off x="6019800" y="525780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0.02</a:t>
            </a:r>
          </a:p>
        </p:txBody>
      </p:sp>
      <p:sp>
        <p:nvSpPr>
          <p:cNvPr id="75863" name="Text Box 88">
            <a:extLst>
              <a:ext uri="{FF2B5EF4-FFF2-40B4-BE49-F238E27FC236}">
                <a16:creationId xmlns:a16="http://schemas.microsoft.com/office/drawing/2014/main" id="{77D330C7-E702-BF43-8E67-E2EF6DECE980}"/>
              </a:ext>
            </a:extLst>
          </p:cNvPr>
          <p:cNvSpPr txBox="1">
            <a:spLocks noChangeArrowheads="1"/>
          </p:cNvSpPr>
          <p:nvPr/>
        </p:nvSpPr>
        <p:spPr bwMode="auto">
          <a:xfrm>
            <a:off x="6019800" y="583565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0.98</a:t>
            </a:r>
          </a:p>
        </p:txBody>
      </p:sp>
      <p:sp>
        <p:nvSpPr>
          <p:cNvPr id="75864" name="Text Box 89">
            <a:extLst>
              <a:ext uri="{FF2B5EF4-FFF2-40B4-BE49-F238E27FC236}">
                <a16:creationId xmlns:a16="http://schemas.microsoft.com/office/drawing/2014/main" id="{5BAF7FF1-7DFE-1A4D-9309-D49336B49F36}"/>
              </a:ext>
            </a:extLst>
          </p:cNvPr>
          <p:cNvSpPr txBox="1">
            <a:spLocks noChangeArrowheads="1"/>
          </p:cNvSpPr>
          <p:nvPr/>
        </p:nvSpPr>
        <p:spPr bwMode="auto">
          <a:xfrm>
            <a:off x="4343400" y="327660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0.20</a:t>
            </a:r>
          </a:p>
        </p:txBody>
      </p:sp>
      <p:sp>
        <p:nvSpPr>
          <p:cNvPr id="75865" name="Text Box 90">
            <a:extLst>
              <a:ext uri="{FF2B5EF4-FFF2-40B4-BE49-F238E27FC236}">
                <a16:creationId xmlns:a16="http://schemas.microsoft.com/office/drawing/2014/main" id="{CCC25891-F081-D54F-ABFC-DD04A51A7826}"/>
              </a:ext>
            </a:extLst>
          </p:cNvPr>
          <p:cNvSpPr txBox="1">
            <a:spLocks noChangeArrowheads="1"/>
          </p:cNvSpPr>
          <p:nvPr/>
        </p:nvSpPr>
        <p:spPr bwMode="auto">
          <a:xfrm>
            <a:off x="4343400" y="446405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0.80</a:t>
            </a:r>
          </a:p>
        </p:txBody>
      </p:sp>
      <p:sp>
        <p:nvSpPr>
          <p:cNvPr id="75866" name="Text Box 91">
            <a:extLst>
              <a:ext uri="{FF2B5EF4-FFF2-40B4-BE49-F238E27FC236}">
                <a16:creationId xmlns:a16="http://schemas.microsoft.com/office/drawing/2014/main" id="{60C988BA-A32F-DE44-80AD-960773259E5E}"/>
              </a:ext>
            </a:extLst>
          </p:cNvPr>
          <p:cNvSpPr txBox="1">
            <a:spLocks noChangeArrowheads="1"/>
          </p:cNvSpPr>
          <p:nvPr/>
        </p:nvSpPr>
        <p:spPr bwMode="auto">
          <a:xfrm>
            <a:off x="6629400" y="297180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0.01</a:t>
            </a:r>
          </a:p>
        </p:txBody>
      </p:sp>
      <p:sp>
        <p:nvSpPr>
          <p:cNvPr id="75867" name="Text Box 92">
            <a:extLst>
              <a:ext uri="{FF2B5EF4-FFF2-40B4-BE49-F238E27FC236}">
                <a16:creationId xmlns:a16="http://schemas.microsoft.com/office/drawing/2014/main" id="{2EA6401A-CD93-EB4F-93BC-9C4E385D4042}"/>
              </a:ext>
            </a:extLst>
          </p:cNvPr>
          <p:cNvSpPr txBox="1">
            <a:spLocks noChangeArrowheads="1"/>
          </p:cNvSpPr>
          <p:nvPr/>
        </p:nvSpPr>
        <p:spPr bwMode="auto">
          <a:xfrm>
            <a:off x="6629400" y="358140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0.99</a:t>
            </a:r>
          </a:p>
        </p:txBody>
      </p:sp>
      <p:sp>
        <p:nvSpPr>
          <p:cNvPr id="75868" name="Text Box 93">
            <a:extLst>
              <a:ext uri="{FF2B5EF4-FFF2-40B4-BE49-F238E27FC236}">
                <a16:creationId xmlns:a16="http://schemas.microsoft.com/office/drawing/2014/main" id="{96119841-1086-FD4C-BEE4-87A44E3E163A}"/>
              </a:ext>
            </a:extLst>
          </p:cNvPr>
          <p:cNvSpPr txBox="1">
            <a:spLocks noChangeArrowheads="1"/>
          </p:cNvSpPr>
          <p:nvPr/>
        </p:nvSpPr>
        <p:spPr bwMode="auto">
          <a:xfrm>
            <a:off x="7010400" y="419100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a:t>
            </a:r>
          </a:p>
        </p:txBody>
      </p:sp>
      <p:sp>
        <p:nvSpPr>
          <p:cNvPr id="75869" name="Text Box 94">
            <a:extLst>
              <a:ext uri="{FF2B5EF4-FFF2-40B4-BE49-F238E27FC236}">
                <a16:creationId xmlns:a16="http://schemas.microsoft.com/office/drawing/2014/main" id="{F5929C2A-084F-DF4F-B2A6-BC838D3779D2}"/>
              </a:ext>
            </a:extLst>
          </p:cNvPr>
          <p:cNvSpPr txBox="1">
            <a:spLocks noChangeArrowheads="1"/>
          </p:cNvSpPr>
          <p:nvPr/>
        </p:nvSpPr>
        <p:spPr bwMode="auto">
          <a:xfrm>
            <a:off x="7010400" y="480060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1</a:t>
            </a:r>
          </a:p>
        </p:txBody>
      </p:sp>
      <p:sp>
        <p:nvSpPr>
          <p:cNvPr id="75870" name="Text Box 95">
            <a:extLst>
              <a:ext uri="{FF2B5EF4-FFF2-40B4-BE49-F238E27FC236}">
                <a16:creationId xmlns:a16="http://schemas.microsoft.com/office/drawing/2014/main" id="{F6835F48-FBBC-7E49-ABFA-967F561BF4D4}"/>
              </a:ext>
            </a:extLst>
          </p:cNvPr>
          <p:cNvSpPr txBox="1">
            <a:spLocks noChangeArrowheads="1"/>
          </p:cNvSpPr>
          <p:nvPr/>
        </p:nvSpPr>
        <p:spPr bwMode="auto">
          <a:xfrm>
            <a:off x="9144000" y="4953001"/>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0.3</a:t>
            </a:r>
          </a:p>
        </p:txBody>
      </p:sp>
      <p:sp>
        <p:nvSpPr>
          <p:cNvPr id="75871" name="Text Box 96">
            <a:extLst>
              <a:ext uri="{FF2B5EF4-FFF2-40B4-BE49-F238E27FC236}">
                <a16:creationId xmlns:a16="http://schemas.microsoft.com/office/drawing/2014/main" id="{A845DFDF-29C5-8C4A-A4B7-1A757C50306C}"/>
              </a:ext>
            </a:extLst>
          </p:cNvPr>
          <p:cNvSpPr txBox="1">
            <a:spLocks noChangeArrowheads="1"/>
          </p:cNvSpPr>
          <p:nvPr/>
        </p:nvSpPr>
        <p:spPr bwMode="auto">
          <a:xfrm>
            <a:off x="9110663" y="1157289"/>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0.3</a:t>
            </a:r>
          </a:p>
        </p:txBody>
      </p:sp>
      <p:sp>
        <p:nvSpPr>
          <p:cNvPr id="75872" name="Text Box 97">
            <a:extLst>
              <a:ext uri="{FF2B5EF4-FFF2-40B4-BE49-F238E27FC236}">
                <a16:creationId xmlns:a16="http://schemas.microsoft.com/office/drawing/2014/main" id="{D203E5D0-9A69-294D-A72F-38AAE512A1B5}"/>
              </a:ext>
            </a:extLst>
          </p:cNvPr>
          <p:cNvSpPr txBox="1">
            <a:spLocks noChangeArrowheads="1"/>
          </p:cNvSpPr>
          <p:nvPr/>
        </p:nvSpPr>
        <p:spPr bwMode="auto">
          <a:xfrm>
            <a:off x="9110664" y="1538289"/>
            <a:ext cx="10239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FF0066"/>
                </a:solidFill>
                <a:latin typeface="Times New Roman" panose="02020603050405020304" pitchFamily="18" charset="0"/>
              </a:rPr>
              <a:t>0.0005</a:t>
            </a:r>
          </a:p>
        </p:txBody>
      </p:sp>
      <p:sp>
        <p:nvSpPr>
          <p:cNvPr id="75873" name="Text Box 98">
            <a:extLst>
              <a:ext uri="{FF2B5EF4-FFF2-40B4-BE49-F238E27FC236}">
                <a16:creationId xmlns:a16="http://schemas.microsoft.com/office/drawing/2014/main" id="{39A3FB96-628E-3043-85A4-8EA4E77E0392}"/>
              </a:ext>
            </a:extLst>
          </p:cNvPr>
          <p:cNvSpPr txBox="1">
            <a:spLocks noChangeArrowheads="1"/>
          </p:cNvSpPr>
          <p:nvPr/>
        </p:nvSpPr>
        <p:spPr bwMode="auto">
          <a:xfrm>
            <a:off x="9110664" y="1995489"/>
            <a:ext cx="10239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FF0066"/>
                </a:solidFill>
                <a:latin typeface="Times New Roman" panose="02020603050405020304" pitchFamily="18" charset="0"/>
              </a:rPr>
              <a:t>0.0005</a:t>
            </a:r>
          </a:p>
        </p:txBody>
      </p:sp>
      <p:sp>
        <p:nvSpPr>
          <p:cNvPr id="75874" name="Text Box 99">
            <a:extLst>
              <a:ext uri="{FF2B5EF4-FFF2-40B4-BE49-F238E27FC236}">
                <a16:creationId xmlns:a16="http://schemas.microsoft.com/office/drawing/2014/main" id="{08636D8B-5982-F14C-9826-3E57AC140A9F}"/>
              </a:ext>
            </a:extLst>
          </p:cNvPr>
          <p:cNvSpPr txBox="1">
            <a:spLocks noChangeArrowheads="1"/>
          </p:cNvSpPr>
          <p:nvPr/>
        </p:nvSpPr>
        <p:spPr bwMode="auto">
          <a:xfrm>
            <a:off x="9110663" y="5486401"/>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a:t>
            </a:r>
          </a:p>
        </p:txBody>
      </p:sp>
      <p:sp>
        <p:nvSpPr>
          <p:cNvPr id="75875" name="Text Box 100">
            <a:extLst>
              <a:ext uri="{FF2B5EF4-FFF2-40B4-BE49-F238E27FC236}">
                <a16:creationId xmlns:a16="http://schemas.microsoft.com/office/drawing/2014/main" id="{403C5A24-3CB1-4A48-9B09-5E71899EBFED}"/>
              </a:ext>
            </a:extLst>
          </p:cNvPr>
          <p:cNvSpPr txBox="1">
            <a:spLocks noChangeArrowheads="1"/>
          </p:cNvSpPr>
          <p:nvPr/>
        </p:nvSpPr>
        <p:spPr bwMode="auto">
          <a:xfrm>
            <a:off x="9110663" y="5943601"/>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a:t>
            </a:r>
          </a:p>
        </p:txBody>
      </p:sp>
      <p:sp>
        <p:nvSpPr>
          <p:cNvPr id="75876" name="Text Box 101">
            <a:extLst>
              <a:ext uri="{FF2B5EF4-FFF2-40B4-BE49-F238E27FC236}">
                <a16:creationId xmlns:a16="http://schemas.microsoft.com/office/drawing/2014/main" id="{BB82A3AA-9794-A946-83C9-7BECBC9ACA92}"/>
              </a:ext>
            </a:extLst>
          </p:cNvPr>
          <p:cNvSpPr txBox="1">
            <a:spLocks noChangeArrowheads="1"/>
          </p:cNvSpPr>
          <p:nvPr/>
        </p:nvSpPr>
        <p:spPr bwMode="auto">
          <a:xfrm>
            <a:off x="9110663" y="4495801"/>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a:t>
            </a:r>
          </a:p>
        </p:txBody>
      </p:sp>
      <p:sp>
        <p:nvSpPr>
          <p:cNvPr id="75877" name="Text Box 102">
            <a:extLst>
              <a:ext uri="{FF2B5EF4-FFF2-40B4-BE49-F238E27FC236}">
                <a16:creationId xmlns:a16="http://schemas.microsoft.com/office/drawing/2014/main" id="{72E8B496-A272-824A-BB5B-CF704F7834B3}"/>
              </a:ext>
            </a:extLst>
          </p:cNvPr>
          <p:cNvSpPr txBox="1">
            <a:spLocks noChangeArrowheads="1"/>
          </p:cNvSpPr>
          <p:nvPr/>
        </p:nvSpPr>
        <p:spPr bwMode="auto">
          <a:xfrm>
            <a:off x="9110663" y="4038601"/>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0.3</a:t>
            </a:r>
          </a:p>
        </p:txBody>
      </p:sp>
      <p:sp>
        <p:nvSpPr>
          <p:cNvPr id="75878" name="Text Box 103">
            <a:extLst>
              <a:ext uri="{FF2B5EF4-FFF2-40B4-BE49-F238E27FC236}">
                <a16:creationId xmlns:a16="http://schemas.microsoft.com/office/drawing/2014/main" id="{9C53F2C2-F14C-A149-8988-965A13EF0CF6}"/>
              </a:ext>
            </a:extLst>
          </p:cNvPr>
          <p:cNvSpPr txBox="1">
            <a:spLocks noChangeArrowheads="1"/>
          </p:cNvSpPr>
          <p:nvPr/>
        </p:nvSpPr>
        <p:spPr bwMode="auto">
          <a:xfrm>
            <a:off x="9110663" y="2649539"/>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0.3</a:t>
            </a:r>
          </a:p>
        </p:txBody>
      </p:sp>
      <p:sp>
        <p:nvSpPr>
          <p:cNvPr id="75879" name="Text Box 104">
            <a:extLst>
              <a:ext uri="{FF2B5EF4-FFF2-40B4-BE49-F238E27FC236}">
                <a16:creationId xmlns:a16="http://schemas.microsoft.com/office/drawing/2014/main" id="{3E46AE27-E889-044E-B3F9-4B7324376A2D}"/>
              </a:ext>
            </a:extLst>
          </p:cNvPr>
          <p:cNvSpPr txBox="1">
            <a:spLocks noChangeArrowheads="1"/>
          </p:cNvSpPr>
          <p:nvPr/>
        </p:nvSpPr>
        <p:spPr bwMode="auto">
          <a:xfrm>
            <a:off x="9110664" y="3259139"/>
            <a:ext cx="10239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FF0066"/>
                </a:solidFill>
                <a:latin typeface="Times New Roman" panose="02020603050405020304" pitchFamily="18" charset="0"/>
              </a:rPr>
              <a:t>0.0005</a:t>
            </a:r>
          </a:p>
        </p:txBody>
      </p:sp>
      <p:sp>
        <p:nvSpPr>
          <p:cNvPr id="286832" name="AutoShape 112">
            <a:extLst>
              <a:ext uri="{FF2B5EF4-FFF2-40B4-BE49-F238E27FC236}">
                <a16:creationId xmlns:a16="http://schemas.microsoft.com/office/drawing/2014/main" id="{E14043C2-7873-2A49-8731-7A8B3751F890}"/>
              </a:ext>
            </a:extLst>
          </p:cNvPr>
          <p:cNvSpPr>
            <a:spLocks noChangeArrowheads="1"/>
          </p:cNvSpPr>
          <p:nvPr/>
        </p:nvSpPr>
        <p:spPr bwMode="auto">
          <a:xfrm flipH="1">
            <a:off x="2057400" y="685800"/>
            <a:ext cx="1905000" cy="990600"/>
          </a:xfrm>
          <a:prstGeom prst="wedgeEllipseCallout">
            <a:avLst>
              <a:gd name="adj1" fmla="val -43750"/>
              <a:gd name="adj2" fmla="val 70000"/>
            </a:avLst>
          </a:prstGeom>
          <a:solidFill>
            <a:srgbClr val="CCFFFF"/>
          </a:solidFill>
          <a:ln w="9525">
            <a:solidFill>
              <a:schemeClr val="tx1"/>
            </a:solidFill>
            <a:miter lim="800000"/>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MX" b="1"/>
              <a:t>56</a:t>
            </a:r>
          </a:p>
        </p:txBody>
      </p:sp>
      <p:sp>
        <p:nvSpPr>
          <p:cNvPr id="286833" name="AutoShape 113">
            <a:extLst>
              <a:ext uri="{FF2B5EF4-FFF2-40B4-BE49-F238E27FC236}">
                <a16:creationId xmlns:a16="http://schemas.microsoft.com/office/drawing/2014/main" id="{058D8DC3-2C88-5243-A0D5-87E3D4800974}"/>
              </a:ext>
            </a:extLst>
          </p:cNvPr>
          <p:cNvSpPr>
            <a:spLocks noChangeArrowheads="1"/>
          </p:cNvSpPr>
          <p:nvPr/>
        </p:nvSpPr>
        <p:spPr bwMode="auto">
          <a:xfrm flipH="1">
            <a:off x="1981200" y="4343400"/>
            <a:ext cx="1828800" cy="1143000"/>
          </a:xfrm>
          <a:prstGeom prst="wedgeEllipseCallout">
            <a:avLst>
              <a:gd name="adj1" fmla="val -54514"/>
              <a:gd name="adj2" fmla="val 66250"/>
            </a:avLst>
          </a:prstGeom>
          <a:solidFill>
            <a:srgbClr val="CCFFFF"/>
          </a:solidFill>
          <a:ln w="9525">
            <a:solidFill>
              <a:schemeClr val="tx1"/>
            </a:solidFill>
            <a:miter lim="800000"/>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MX" b="1"/>
              <a:t>120</a:t>
            </a:r>
          </a:p>
        </p:txBody>
      </p:sp>
      <p:sp>
        <p:nvSpPr>
          <p:cNvPr id="286834" name="AutoShape 114">
            <a:extLst>
              <a:ext uri="{FF2B5EF4-FFF2-40B4-BE49-F238E27FC236}">
                <a16:creationId xmlns:a16="http://schemas.microsoft.com/office/drawing/2014/main" id="{CB95273A-BB2D-234B-A9F9-6B7E9067F337}"/>
              </a:ext>
            </a:extLst>
          </p:cNvPr>
          <p:cNvSpPr>
            <a:spLocks noChangeArrowheads="1"/>
          </p:cNvSpPr>
          <p:nvPr/>
        </p:nvSpPr>
        <p:spPr bwMode="auto">
          <a:xfrm flipH="1">
            <a:off x="1905000" y="2438400"/>
            <a:ext cx="1905000" cy="990600"/>
          </a:xfrm>
          <a:prstGeom prst="wedgeEllipseCallout">
            <a:avLst>
              <a:gd name="adj1" fmla="val -54250"/>
              <a:gd name="adj2" fmla="val 71472"/>
            </a:avLst>
          </a:prstGeom>
          <a:solidFill>
            <a:srgbClr val="CCFFFF"/>
          </a:solidFill>
          <a:ln w="9525">
            <a:solidFill>
              <a:schemeClr val="tx1"/>
            </a:solidFill>
            <a:miter lim="800000"/>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MX" b="1"/>
              <a:t>70</a:t>
            </a:r>
          </a:p>
        </p:txBody>
      </p:sp>
    </p:spTree>
    <p:extLst>
      <p:ext uri="{BB962C8B-B14F-4D97-AF65-F5344CB8AC3E}">
        <p14:creationId xmlns:p14="http://schemas.microsoft.com/office/powerpoint/2010/main" val="12742740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83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683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68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832" grpId="0" animBg="1"/>
      <p:bldP spid="286833" grpId="0" animBg="1"/>
      <p:bldP spid="286834"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a:extLst>
              <a:ext uri="{FF2B5EF4-FFF2-40B4-BE49-F238E27FC236}">
                <a16:creationId xmlns:a16="http://schemas.microsoft.com/office/drawing/2014/main" id="{C8921C2A-B6EC-7F4B-BC99-B57969635BD3}"/>
              </a:ext>
            </a:extLst>
          </p:cNvPr>
          <p:cNvSpPr>
            <a:spLocks noGrp="1" noChangeArrowheads="1"/>
          </p:cNvSpPr>
          <p:nvPr>
            <p:ph type="title"/>
          </p:nvPr>
        </p:nvSpPr>
        <p:spPr>
          <a:xfrm>
            <a:off x="805070" y="304800"/>
            <a:ext cx="9100930" cy="914400"/>
          </a:xfrm>
        </p:spPr>
        <p:txBody>
          <a:bodyPr/>
          <a:lstStyle/>
          <a:p>
            <a:pPr eaLnBrk="1" hangingPunct="1"/>
            <a:r>
              <a:rPr lang="en-US" altLang="en-MX" dirty="0">
                <a:ea typeface="ＭＳ Ｐゴシック" panose="020B0600070205080204" pitchFamily="34" charset="-128"/>
              </a:rPr>
              <a:t>Threshold Analysis</a:t>
            </a:r>
          </a:p>
        </p:txBody>
      </p:sp>
      <p:sp>
        <p:nvSpPr>
          <p:cNvPr id="77826" name="Rectangle 3">
            <a:extLst>
              <a:ext uri="{FF2B5EF4-FFF2-40B4-BE49-F238E27FC236}">
                <a16:creationId xmlns:a16="http://schemas.microsoft.com/office/drawing/2014/main" id="{9241C333-2B0F-9347-806B-66142BCEBF9D}"/>
              </a:ext>
            </a:extLst>
          </p:cNvPr>
          <p:cNvSpPr>
            <a:spLocks noGrp="1" noChangeArrowheads="1"/>
          </p:cNvSpPr>
          <p:nvPr>
            <p:ph type="body" idx="1"/>
          </p:nvPr>
        </p:nvSpPr>
        <p:spPr>
          <a:xfrm>
            <a:off x="805070" y="1447800"/>
            <a:ext cx="9405730" cy="5029200"/>
          </a:xfrm>
        </p:spPr>
        <p:txBody>
          <a:bodyPr/>
          <a:lstStyle/>
          <a:p>
            <a:pPr eaLnBrk="1" hangingPunct="1"/>
            <a:r>
              <a:rPr lang="en-US" altLang="en-MX" dirty="0">
                <a:ea typeface="ＭＳ Ｐゴシック" panose="020B0600070205080204" pitchFamily="34" charset="-128"/>
              </a:rPr>
              <a:t>Identify relevant pairs of strategies to compare</a:t>
            </a:r>
          </a:p>
          <a:p>
            <a:pPr eaLnBrk="1" hangingPunct="1"/>
            <a:r>
              <a:rPr lang="en-US" altLang="en-MX" dirty="0">
                <a:ea typeface="ＭＳ Ｐゴシック" panose="020B0600070205080204" pitchFamily="34" charset="-128"/>
              </a:rPr>
              <a:t>Identify uncertain parameter of interest (e.g., risk of death due to toxicity)</a:t>
            </a:r>
          </a:p>
          <a:p>
            <a:pPr eaLnBrk="1" hangingPunct="1"/>
            <a:r>
              <a:rPr lang="en-US" altLang="en-MX" dirty="0">
                <a:ea typeface="ＭＳ Ｐゴシック" panose="020B0600070205080204" pitchFamily="34" charset="-128"/>
              </a:rPr>
              <a:t>Determine the value of the parameter such that the expected value of the two strategies are equal (e.g., solve for the value of the parameter)</a:t>
            </a:r>
          </a:p>
          <a:p>
            <a:pPr eaLnBrk="1" hangingPunct="1"/>
            <a:r>
              <a:rPr lang="en-US" altLang="en-MX" dirty="0">
                <a:ea typeface="ＭＳ Ｐゴシック" panose="020B0600070205080204" pitchFamily="34" charset="-128"/>
              </a:rPr>
              <a:t>Interpret this </a:t>
            </a:r>
            <a:r>
              <a:rPr lang="ja-JP" altLang="en-US">
                <a:ea typeface="ＭＳ Ｐゴシック" panose="020B0600070205080204" pitchFamily="34" charset="-128"/>
              </a:rPr>
              <a:t>‘</a:t>
            </a:r>
            <a:r>
              <a:rPr lang="en-US" altLang="ja-JP" dirty="0">
                <a:ea typeface="ＭＳ Ｐゴシック" panose="020B0600070205080204" pitchFamily="34" charset="-128"/>
              </a:rPr>
              <a:t>threshold</a:t>
            </a:r>
            <a:r>
              <a:rPr lang="ja-JP" altLang="en-US">
                <a:ea typeface="ＭＳ Ｐゴシック" panose="020B0600070205080204" pitchFamily="34" charset="-128"/>
              </a:rPr>
              <a:t>’</a:t>
            </a:r>
            <a:r>
              <a:rPr lang="en-US" altLang="ja-JP" dirty="0">
                <a:ea typeface="ＭＳ Ｐゴシック" panose="020B0600070205080204" pitchFamily="34" charset="-128"/>
              </a:rPr>
              <a:t> value</a:t>
            </a:r>
            <a:endParaRPr lang="en-US" altLang="en-MX" dirty="0">
              <a:ea typeface="ＭＳ Ｐゴシック" panose="020B0600070205080204" pitchFamily="34" charset="-128"/>
            </a:endParaRPr>
          </a:p>
        </p:txBody>
      </p:sp>
    </p:spTree>
    <p:extLst>
      <p:ext uri="{BB962C8B-B14F-4D97-AF65-F5344CB8AC3E}">
        <p14:creationId xmlns:p14="http://schemas.microsoft.com/office/powerpoint/2010/main" val="152448536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2">
            <a:extLst>
              <a:ext uri="{FF2B5EF4-FFF2-40B4-BE49-F238E27FC236}">
                <a16:creationId xmlns:a16="http://schemas.microsoft.com/office/drawing/2014/main" id="{6EF74B4B-20F3-9841-8E56-862A36471DB0}"/>
              </a:ext>
            </a:extLst>
          </p:cNvPr>
          <p:cNvSpPr>
            <a:spLocks noGrp="1" noChangeArrowheads="1"/>
          </p:cNvSpPr>
          <p:nvPr>
            <p:ph type="title"/>
          </p:nvPr>
        </p:nvSpPr>
        <p:spPr>
          <a:xfrm>
            <a:off x="755374" y="152400"/>
            <a:ext cx="9226826" cy="762000"/>
          </a:xfrm>
        </p:spPr>
        <p:txBody>
          <a:bodyPr/>
          <a:lstStyle/>
          <a:p>
            <a:pPr eaLnBrk="1" hangingPunct="1"/>
            <a:r>
              <a:rPr lang="en-US" altLang="en-MX" dirty="0">
                <a:ea typeface="ＭＳ Ｐゴシック" panose="020B0600070205080204" pitchFamily="34" charset="-128"/>
              </a:rPr>
              <a:t>Compare Test with Spray</a:t>
            </a:r>
          </a:p>
        </p:txBody>
      </p:sp>
      <p:sp>
        <p:nvSpPr>
          <p:cNvPr id="79874" name="Line 3">
            <a:extLst>
              <a:ext uri="{FF2B5EF4-FFF2-40B4-BE49-F238E27FC236}">
                <a16:creationId xmlns:a16="http://schemas.microsoft.com/office/drawing/2014/main" id="{4A99B496-1826-194A-91A2-3E4A1136E915}"/>
              </a:ext>
            </a:extLst>
          </p:cNvPr>
          <p:cNvSpPr>
            <a:spLocks noChangeShapeType="1"/>
          </p:cNvSpPr>
          <p:nvPr/>
        </p:nvSpPr>
        <p:spPr bwMode="auto">
          <a:xfrm>
            <a:off x="4114800" y="1676400"/>
            <a:ext cx="1447800"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79875" name="Rectangle 4">
            <a:extLst>
              <a:ext uri="{FF2B5EF4-FFF2-40B4-BE49-F238E27FC236}">
                <a16:creationId xmlns:a16="http://schemas.microsoft.com/office/drawing/2014/main" id="{40D7D302-CBC8-FB47-80E3-085A410EC7C4}"/>
              </a:ext>
            </a:extLst>
          </p:cNvPr>
          <p:cNvSpPr>
            <a:spLocks noChangeArrowheads="1"/>
          </p:cNvSpPr>
          <p:nvPr/>
        </p:nvSpPr>
        <p:spPr bwMode="auto">
          <a:xfrm>
            <a:off x="4267200" y="1325564"/>
            <a:ext cx="9398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Outbreak</a:t>
            </a:r>
          </a:p>
        </p:txBody>
      </p:sp>
      <p:sp>
        <p:nvSpPr>
          <p:cNvPr id="79876" name="Rectangle 5">
            <a:extLst>
              <a:ext uri="{FF2B5EF4-FFF2-40B4-BE49-F238E27FC236}">
                <a16:creationId xmlns:a16="http://schemas.microsoft.com/office/drawing/2014/main" id="{15742933-9C1E-6540-9DCB-96585E980F8B}"/>
              </a:ext>
            </a:extLst>
          </p:cNvPr>
          <p:cNvSpPr>
            <a:spLocks noChangeArrowheads="1"/>
          </p:cNvSpPr>
          <p:nvPr/>
        </p:nvSpPr>
        <p:spPr bwMode="auto">
          <a:xfrm>
            <a:off x="4267200" y="1981200"/>
            <a:ext cx="1295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Outbreak</a:t>
            </a:r>
          </a:p>
        </p:txBody>
      </p:sp>
      <p:sp>
        <p:nvSpPr>
          <p:cNvPr id="79877" name="Freeform 6">
            <a:extLst>
              <a:ext uri="{FF2B5EF4-FFF2-40B4-BE49-F238E27FC236}">
                <a16:creationId xmlns:a16="http://schemas.microsoft.com/office/drawing/2014/main" id="{EECE1631-16E6-8B4C-83C1-766092B11980}"/>
              </a:ext>
            </a:extLst>
          </p:cNvPr>
          <p:cNvSpPr>
            <a:spLocks/>
          </p:cNvSpPr>
          <p:nvPr/>
        </p:nvSpPr>
        <p:spPr bwMode="auto">
          <a:xfrm>
            <a:off x="4040188" y="1676400"/>
            <a:ext cx="303212" cy="369888"/>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79878" name="Freeform 7">
            <a:extLst>
              <a:ext uri="{FF2B5EF4-FFF2-40B4-BE49-F238E27FC236}">
                <a16:creationId xmlns:a16="http://schemas.microsoft.com/office/drawing/2014/main" id="{8227D100-4FB2-1E4F-AD82-7D352A58948D}"/>
              </a:ext>
            </a:extLst>
          </p:cNvPr>
          <p:cNvSpPr>
            <a:spLocks/>
          </p:cNvSpPr>
          <p:nvPr/>
        </p:nvSpPr>
        <p:spPr bwMode="auto">
          <a:xfrm>
            <a:off x="4038601" y="2089150"/>
            <a:ext cx="303213" cy="196850"/>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79879" name="Line 8">
            <a:extLst>
              <a:ext uri="{FF2B5EF4-FFF2-40B4-BE49-F238E27FC236}">
                <a16:creationId xmlns:a16="http://schemas.microsoft.com/office/drawing/2014/main" id="{DAFD9AD9-2B1F-3A4F-BF9A-8853DBAFE73A}"/>
              </a:ext>
            </a:extLst>
          </p:cNvPr>
          <p:cNvSpPr>
            <a:spLocks noChangeShapeType="1"/>
          </p:cNvSpPr>
          <p:nvPr/>
        </p:nvSpPr>
        <p:spPr bwMode="auto">
          <a:xfrm>
            <a:off x="2362200" y="2057400"/>
            <a:ext cx="161448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79880" name="Oval 9">
            <a:extLst>
              <a:ext uri="{FF2B5EF4-FFF2-40B4-BE49-F238E27FC236}">
                <a16:creationId xmlns:a16="http://schemas.microsoft.com/office/drawing/2014/main" id="{89323127-CCCC-0041-B442-83B334AAA989}"/>
              </a:ext>
            </a:extLst>
          </p:cNvPr>
          <p:cNvSpPr>
            <a:spLocks noChangeArrowheads="1"/>
          </p:cNvSpPr>
          <p:nvPr/>
        </p:nvSpPr>
        <p:spPr bwMode="auto">
          <a:xfrm>
            <a:off x="3876676" y="1905000"/>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79881" name="Rectangle 10">
            <a:extLst>
              <a:ext uri="{FF2B5EF4-FFF2-40B4-BE49-F238E27FC236}">
                <a16:creationId xmlns:a16="http://schemas.microsoft.com/office/drawing/2014/main" id="{C881D056-EC49-D24D-84A6-F5BB5622A6AE}"/>
              </a:ext>
            </a:extLst>
          </p:cNvPr>
          <p:cNvSpPr>
            <a:spLocks noChangeArrowheads="1"/>
          </p:cNvSpPr>
          <p:nvPr/>
        </p:nvSpPr>
        <p:spPr bwMode="auto">
          <a:xfrm>
            <a:off x="2438401" y="1676400"/>
            <a:ext cx="663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000">
                <a:solidFill>
                  <a:srgbClr val="000000"/>
                </a:solidFill>
              </a:rPr>
              <a:t>Spray</a:t>
            </a:r>
          </a:p>
        </p:txBody>
      </p:sp>
      <p:sp>
        <p:nvSpPr>
          <p:cNvPr id="79882" name="Rectangle 11">
            <a:extLst>
              <a:ext uri="{FF2B5EF4-FFF2-40B4-BE49-F238E27FC236}">
                <a16:creationId xmlns:a16="http://schemas.microsoft.com/office/drawing/2014/main" id="{0CFADD02-6635-8543-9547-B193E6DAF600}"/>
              </a:ext>
            </a:extLst>
          </p:cNvPr>
          <p:cNvSpPr>
            <a:spLocks noChangeArrowheads="1"/>
          </p:cNvSpPr>
          <p:nvPr/>
        </p:nvSpPr>
        <p:spPr bwMode="auto">
          <a:xfrm>
            <a:off x="4224338" y="5241925"/>
            <a:ext cx="9398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MX" sz="1800">
                <a:solidFill>
                  <a:srgbClr val="000000"/>
                </a:solidFill>
              </a:rPr>
              <a:t>Outbreak</a:t>
            </a:r>
          </a:p>
        </p:txBody>
      </p:sp>
      <p:sp>
        <p:nvSpPr>
          <p:cNvPr id="79883" name="Freeform 12">
            <a:extLst>
              <a:ext uri="{FF2B5EF4-FFF2-40B4-BE49-F238E27FC236}">
                <a16:creationId xmlns:a16="http://schemas.microsoft.com/office/drawing/2014/main" id="{B63EB703-0AA8-FD43-BE98-2AD34BAF4D57}"/>
              </a:ext>
            </a:extLst>
          </p:cNvPr>
          <p:cNvSpPr>
            <a:spLocks/>
          </p:cNvSpPr>
          <p:nvPr/>
        </p:nvSpPr>
        <p:spPr bwMode="auto">
          <a:xfrm>
            <a:off x="5716588" y="1382714"/>
            <a:ext cx="303212" cy="369887"/>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79884" name="Freeform 13">
            <a:extLst>
              <a:ext uri="{FF2B5EF4-FFF2-40B4-BE49-F238E27FC236}">
                <a16:creationId xmlns:a16="http://schemas.microsoft.com/office/drawing/2014/main" id="{692E2B38-6D8D-B649-8597-319B1A8A873E}"/>
              </a:ext>
            </a:extLst>
          </p:cNvPr>
          <p:cNvSpPr>
            <a:spLocks/>
          </p:cNvSpPr>
          <p:nvPr/>
        </p:nvSpPr>
        <p:spPr bwMode="auto">
          <a:xfrm>
            <a:off x="5716588" y="1633538"/>
            <a:ext cx="303212" cy="347662"/>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79885" name="Rectangle 14">
            <a:extLst>
              <a:ext uri="{FF2B5EF4-FFF2-40B4-BE49-F238E27FC236}">
                <a16:creationId xmlns:a16="http://schemas.microsoft.com/office/drawing/2014/main" id="{2344180D-4FDE-5944-AEBE-59FD15CF1559}"/>
              </a:ext>
            </a:extLst>
          </p:cNvPr>
          <p:cNvSpPr>
            <a:spLocks noChangeArrowheads="1"/>
          </p:cNvSpPr>
          <p:nvPr/>
        </p:nvSpPr>
        <p:spPr bwMode="auto">
          <a:xfrm>
            <a:off x="3644900" y="6019800"/>
            <a:ext cx="2286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MX" sz="1800">
                <a:solidFill>
                  <a:srgbClr val="000000"/>
                </a:solidFill>
              </a:rPr>
              <a:t>No Outbreak</a:t>
            </a:r>
          </a:p>
        </p:txBody>
      </p:sp>
      <p:sp>
        <p:nvSpPr>
          <p:cNvPr id="79886" name="Freeform 15">
            <a:extLst>
              <a:ext uri="{FF2B5EF4-FFF2-40B4-BE49-F238E27FC236}">
                <a16:creationId xmlns:a16="http://schemas.microsoft.com/office/drawing/2014/main" id="{0980A503-C3C6-BA49-84B6-72F3ACDFE9DA}"/>
              </a:ext>
            </a:extLst>
          </p:cNvPr>
          <p:cNvSpPr>
            <a:spLocks/>
          </p:cNvSpPr>
          <p:nvPr/>
        </p:nvSpPr>
        <p:spPr bwMode="auto">
          <a:xfrm>
            <a:off x="4114801" y="5562601"/>
            <a:ext cx="290513" cy="415925"/>
          </a:xfrm>
          <a:custGeom>
            <a:avLst/>
            <a:gdLst>
              <a:gd name="T0" fmla="*/ 0 w 14"/>
              <a:gd name="T1" fmla="*/ 2147483647 h 24"/>
              <a:gd name="T2" fmla="*/ 0 w 14"/>
              <a:gd name="T3" fmla="*/ 0 h 24"/>
              <a:gd name="T4" fmla="*/ 2147483647 w 14"/>
              <a:gd name="T5" fmla="*/ 0 h 24"/>
              <a:gd name="T6" fmla="*/ 0 60000 65536"/>
              <a:gd name="T7" fmla="*/ 0 60000 65536"/>
              <a:gd name="T8" fmla="*/ 0 60000 65536"/>
              <a:gd name="T9" fmla="*/ 0 w 14"/>
              <a:gd name="T10" fmla="*/ 0 h 24"/>
              <a:gd name="T11" fmla="*/ 14 w 14"/>
              <a:gd name="T12" fmla="*/ 24 h 24"/>
            </a:gdLst>
            <a:ahLst/>
            <a:cxnLst>
              <a:cxn ang="T6">
                <a:pos x="T0" y="T1"/>
              </a:cxn>
              <a:cxn ang="T7">
                <a:pos x="T2" y="T3"/>
              </a:cxn>
              <a:cxn ang="T8">
                <a:pos x="T4" y="T5"/>
              </a:cxn>
            </a:cxnLst>
            <a:rect l="T9" t="T10" r="T11" b="T12"/>
            <a:pathLst>
              <a:path w="14" h="24">
                <a:moveTo>
                  <a:pt x="0" y="24"/>
                </a:moveTo>
                <a:lnTo>
                  <a:pt x="0" y="0"/>
                </a:lnTo>
                <a:lnTo>
                  <a:pt x="14" y="0"/>
                </a:lnTo>
              </a:path>
            </a:pathLst>
          </a:custGeom>
          <a:noFill/>
          <a:ln w="19050"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79887" name="Freeform 16">
            <a:extLst>
              <a:ext uri="{FF2B5EF4-FFF2-40B4-BE49-F238E27FC236}">
                <a16:creationId xmlns:a16="http://schemas.microsoft.com/office/drawing/2014/main" id="{10E8D186-3B48-F842-B960-B91B532E68DA}"/>
              </a:ext>
            </a:extLst>
          </p:cNvPr>
          <p:cNvSpPr>
            <a:spLocks/>
          </p:cNvSpPr>
          <p:nvPr/>
        </p:nvSpPr>
        <p:spPr bwMode="auto">
          <a:xfrm>
            <a:off x="4094164" y="5749926"/>
            <a:ext cx="4592637" cy="574675"/>
          </a:xfrm>
          <a:custGeom>
            <a:avLst/>
            <a:gdLst>
              <a:gd name="T0" fmla="*/ 0 w 14"/>
              <a:gd name="T1" fmla="*/ 0 h 25"/>
              <a:gd name="T2" fmla="*/ 0 w 14"/>
              <a:gd name="T3" fmla="*/ 2147483647 h 25"/>
              <a:gd name="T4" fmla="*/ 2147483647 w 14"/>
              <a:gd name="T5" fmla="*/ 2147483647 h 25"/>
              <a:gd name="T6" fmla="*/ 0 60000 65536"/>
              <a:gd name="T7" fmla="*/ 0 60000 65536"/>
              <a:gd name="T8" fmla="*/ 0 60000 65536"/>
              <a:gd name="T9" fmla="*/ 0 w 14"/>
              <a:gd name="T10" fmla="*/ 0 h 25"/>
              <a:gd name="T11" fmla="*/ 14 w 14"/>
              <a:gd name="T12" fmla="*/ 25 h 25"/>
            </a:gdLst>
            <a:ahLst/>
            <a:cxnLst>
              <a:cxn ang="T6">
                <a:pos x="T0" y="T1"/>
              </a:cxn>
              <a:cxn ang="T7">
                <a:pos x="T2" y="T3"/>
              </a:cxn>
              <a:cxn ang="T8">
                <a:pos x="T4" y="T5"/>
              </a:cxn>
            </a:cxnLst>
            <a:rect l="T9" t="T10" r="T11" b="T12"/>
            <a:pathLst>
              <a:path w="14" h="25">
                <a:moveTo>
                  <a:pt x="0" y="0"/>
                </a:moveTo>
                <a:lnTo>
                  <a:pt x="0" y="25"/>
                </a:lnTo>
                <a:lnTo>
                  <a:pt x="14" y="25"/>
                </a:lnTo>
              </a:path>
            </a:pathLst>
          </a:custGeom>
          <a:noFill/>
          <a:ln w="19050"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79888" name="Line 17">
            <a:extLst>
              <a:ext uri="{FF2B5EF4-FFF2-40B4-BE49-F238E27FC236}">
                <a16:creationId xmlns:a16="http://schemas.microsoft.com/office/drawing/2014/main" id="{35AEA5F4-1369-0542-9B6E-619D251F1D16}"/>
              </a:ext>
            </a:extLst>
          </p:cNvPr>
          <p:cNvSpPr>
            <a:spLocks noChangeShapeType="1"/>
          </p:cNvSpPr>
          <p:nvPr/>
        </p:nvSpPr>
        <p:spPr bwMode="auto">
          <a:xfrm>
            <a:off x="2547938" y="3808414"/>
            <a:ext cx="14287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79889" name="Rectangle 18">
            <a:extLst>
              <a:ext uri="{FF2B5EF4-FFF2-40B4-BE49-F238E27FC236}">
                <a16:creationId xmlns:a16="http://schemas.microsoft.com/office/drawing/2014/main" id="{374A7F9C-95DC-3745-A357-009C011DC66B}"/>
              </a:ext>
            </a:extLst>
          </p:cNvPr>
          <p:cNvSpPr>
            <a:spLocks noChangeArrowheads="1"/>
          </p:cNvSpPr>
          <p:nvPr/>
        </p:nvSpPr>
        <p:spPr bwMode="auto">
          <a:xfrm>
            <a:off x="2438401" y="5410201"/>
            <a:ext cx="141064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000">
                <a:solidFill>
                  <a:srgbClr val="000000"/>
                </a:solidFill>
              </a:rPr>
              <a:t>Don</a:t>
            </a:r>
            <a:r>
              <a:rPr lang="ja-JP" altLang="en-US" sz="2000">
                <a:solidFill>
                  <a:srgbClr val="000000"/>
                </a:solidFill>
              </a:rPr>
              <a:t>’</a:t>
            </a:r>
            <a:r>
              <a:rPr lang="en-US" altLang="ja-JP" sz="2000">
                <a:solidFill>
                  <a:srgbClr val="000000"/>
                </a:solidFill>
              </a:rPr>
              <a:t>t Spray</a:t>
            </a:r>
            <a:endParaRPr lang="en-US" altLang="en-MX" sz="2000">
              <a:solidFill>
                <a:srgbClr val="000000"/>
              </a:solidFill>
            </a:endParaRPr>
          </a:p>
        </p:txBody>
      </p:sp>
      <p:sp>
        <p:nvSpPr>
          <p:cNvPr id="79890" name="Line 19">
            <a:extLst>
              <a:ext uri="{FF2B5EF4-FFF2-40B4-BE49-F238E27FC236}">
                <a16:creationId xmlns:a16="http://schemas.microsoft.com/office/drawing/2014/main" id="{593D52EA-1AC9-2042-B33B-E321A4FDFD54}"/>
              </a:ext>
            </a:extLst>
          </p:cNvPr>
          <p:cNvSpPr>
            <a:spLocks noChangeShapeType="1"/>
          </p:cNvSpPr>
          <p:nvPr/>
        </p:nvSpPr>
        <p:spPr bwMode="auto">
          <a:xfrm>
            <a:off x="2514600" y="5867400"/>
            <a:ext cx="14287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79891" name="Rectangle 20">
            <a:extLst>
              <a:ext uri="{FF2B5EF4-FFF2-40B4-BE49-F238E27FC236}">
                <a16:creationId xmlns:a16="http://schemas.microsoft.com/office/drawing/2014/main" id="{B29D9F0F-B73B-B042-8092-D6F93A60ACD2}"/>
              </a:ext>
            </a:extLst>
          </p:cNvPr>
          <p:cNvSpPr>
            <a:spLocks noChangeArrowheads="1"/>
          </p:cNvSpPr>
          <p:nvPr/>
        </p:nvSpPr>
        <p:spPr bwMode="auto">
          <a:xfrm>
            <a:off x="2362201" y="3429001"/>
            <a:ext cx="4701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000">
                <a:solidFill>
                  <a:srgbClr val="000000"/>
                </a:solidFill>
              </a:rPr>
              <a:t>Test</a:t>
            </a:r>
          </a:p>
        </p:txBody>
      </p:sp>
      <p:sp>
        <p:nvSpPr>
          <p:cNvPr id="79892" name="Freeform 21">
            <a:extLst>
              <a:ext uri="{FF2B5EF4-FFF2-40B4-BE49-F238E27FC236}">
                <a16:creationId xmlns:a16="http://schemas.microsoft.com/office/drawing/2014/main" id="{8BDFEF1B-C91D-544D-85C9-0A339C8C1250}"/>
              </a:ext>
            </a:extLst>
          </p:cNvPr>
          <p:cNvSpPr>
            <a:spLocks/>
          </p:cNvSpPr>
          <p:nvPr/>
        </p:nvSpPr>
        <p:spPr bwMode="auto">
          <a:xfrm>
            <a:off x="2209800" y="2057400"/>
            <a:ext cx="261938" cy="2198688"/>
          </a:xfrm>
          <a:custGeom>
            <a:avLst/>
            <a:gdLst>
              <a:gd name="T0" fmla="*/ 0 w 14"/>
              <a:gd name="T1" fmla="*/ 2147483647 h 87"/>
              <a:gd name="T2" fmla="*/ 0 w 14"/>
              <a:gd name="T3" fmla="*/ 0 h 87"/>
              <a:gd name="T4" fmla="*/ 2147483647 w 14"/>
              <a:gd name="T5" fmla="*/ 0 h 87"/>
              <a:gd name="T6" fmla="*/ 0 60000 65536"/>
              <a:gd name="T7" fmla="*/ 0 60000 65536"/>
              <a:gd name="T8" fmla="*/ 0 60000 65536"/>
              <a:gd name="T9" fmla="*/ 0 w 14"/>
              <a:gd name="T10" fmla="*/ 0 h 87"/>
              <a:gd name="T11" fmla="*/ 14 w 14"/>
              <a:gd name="T12" fmla="*/ 87 h 87"/>
            </a:gdLst>
            <a:ahLst/>
            <a:cxnLst>
              <a:cxn ang="T6">
                <a:pos x="T0" y="T1"/>
              </a:cxn>
              <a:cxn ang="T7">
                <a:pos x="T2" y="T3"/>
              </a:cxn>
              <a:cxn ang="T8">
                <a:pos x="T4" y="T5"/>
              </a:cxn>
            </a:cxnLst>
            <a:rect l="T9" t="T10" r="T11" b="T12"/>
            <a:pathLst>
              <a:path w="14" h="87">
                <a:moveTo>
                  <a:pt x="0" y="8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79893" name="Freeform 22">
            <a:extLst>
              <a:ext uri="{FF2B5EF4-FFF2-40B4-BE49-F238E27FC236}">
                <a16:creationId xmlns:a16="http://schemas.microsoft.com/office/drawing/2014/main" id="{CE737631-8961-5A44-9489-1CFF1E2F2C8F}"/>
              </a:ext>
            </a:extLst>
          </p:cNvPr>
          <p:cNvSpPr>
            <a:spLocks/>
          </p:cNvSpPr>
          <p:nvPr/>
        </p:nvSpPr>
        <p:spPr bwMode="auto">
          <a:xfrm>
            <a:off x="2244726" y="3810001"/>
            <a:ext cx="303213" cy="42863"/>
          </a:xfrm>
          <a:custGeom>
            <a:avLst/>
            <a:gdLst>
              <a:gd name="T0" fmla="*/ 0 w 14"/>
              <a:gd name="T1" fmla="*/ 2147483647 h 2"/>
              <a:gd name="T2" fmla="*/ 0 w 14"/>
              <a:gd name="T3" fmla="*/ 0 h 2"/>
              <a:gd name="T4" fmla="*/ 2147483647 w 14"/>
              <a:gd name="T5" fmla="*/ 0 h 2"/>
              <a:gd name="T6" fmla="*/ 0 60000 65536"/>
              <a:gd name="T7" fmla="*/ 0 60000 65536"/>
              <a:gd name="T8" fmla="*/ 0 60000 65536"/>
              <a:gd name="T9" fmla="*/ 0 w 14"/>
              <a:gd name="T10" fmla="*/ 0 h 2"/>
              <a:gd name="T11" fmla="*/ 14 w 14"/>
              <a:gd name="T12" fmla="*/ 2 h 2"/>
            </a:gdLst>
            <a:ahLst/>
            <a:cxnLst>
              <a:cxn ang="T6">
                <a:pos x="T0" y="T1"/>
              </a:cxn>
              <a:cxn ang="T7">
                <a:pos x="T2" y="T3"/>
              </a:cxn>
              <a:cxn ang="T8">
                <a:pos x="T4" y="T5"/>
              </a:cxn>
            </a:cxnLst>
            <a:rect l="T9" t="T10" r="T11" b="T12"/>
            <a:pathLst>
              <a:path w="14" h="2">
                <a:moveTo>
                  <a:pt x="0" y="2"/>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79894" name="Freeform 23">
            <a:extLst>
              <a:ext uri="{FF2B5EF4-FFF2-40B4-BE49-F238E27FC236}">
                <a16:creationId xmlns:a16="http://schemas.microsoft.com/office/drawing/2014/main" id="{4A6166D2-CACF-8249-B252-790422A4AFDF}"/>
              </a:ext>
            </a:extLst>
          </p:cNvPr>
          <p:cNvSpPr>
            <a:spLocks/>
          </p:cNvSpPr>
          <p:nvPr/>
        </p:nvSpPr>
        <p:spPr bwMode="auto">
          <a:xfrm>
            <a:off x="2209801" y="3957638"/>
            <a:ext cx="303213" cy="1916112"/>
          </a:xfrm>
          <a:custGeom>
            <a:avLst/>
            <a:gdLst>
              <a:gd name="T0" fmla="*/ 0 w 14"/>
              <a:gd name="T1" fmla="*/ 0 h 88"/>
              <a:gd name="T2" fmla="*/ 0 w 14"/>
              <a:gd name="T3" fmla="*/ 2147483647 h 88"/>
              <a:gd name="T4" fmla="*/ 2147483647 w 14"/>
              <a:gd name="T5" fmla="*/ 2147483647 h 88"/>
              <a:gd name="T6" fmla="*/ 0 60000 65536"/>
              <a:gd name="T7" fmla="*/ 0 60000 65536"/>
              <a:gd name="T8" fmla="*/ 0 60000 65536"/>
              <a:gd name="T9" fmla="*/ 0 w 14"/>
              <a:gd name="T10" fmla="*/ 0 h 88"/>
              <a:gd name="T11" fmla="*/ 14 w 14"/>
              <a:gd name="T12" fmla="*/ 88 h 88"/>
            </a:gdLst>
            <a:ahLst/>
            <a:cxnLst>
              <a:cxn ang="T6">
                <a:pos x="T0" y="T1"/>
              </a:cxn>
              <a:cxn ang="T7">
                <a:pos x="T2" y="T3"/>
              </a:cxn>
              <a:cxn ang="T8">
                <a:pos x="T4" y="T5"/>
              </a:cxn>
            </a:cxnLst>
            <a:rect l="T9" t="T10" r="T11" b="T12"/>
            <a:pathLst>
              <a:path w="14" h="88">
                <a:moveTo>
                  <a:pt x="0" y="0"/>
                </a:moveTo>
                <a:lnTo>
                  <a:pt x="0" y="88"/>
                </a:lnTo>
                <a:lnTo>
                  <a:pt x="14" y="88"/>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79895" name="Rectangle 24">
            <a:extLst>
              <a:ext uri="{FF2B5EF4-FFF2-40B4-BE49-F238E27FC236}">
                <a16:creationId xmlns:a16="http://schemas.microsoft.com/office/drawing/2014/main" id="{8F36939A-9F1C-4F49-8889-86D68A4320FC}"/>
              </a:ext>
            </a:extLst>
          </p:cNvPr>
          <p:cNvSpPr>
            <a:spLocks noChangeArrowheads="1"/>
          </p:cNvSpPr>
          <p:nvPr/>
        </p:nvSpPr>
        <p:spPr bwMode="auto">
          <a:xfrm>
            <a:off x="2093914" y="3657600"/>
            <a:ext cx="238125" cy="261938"/>
          </a:xfrm>
          <a:prstGeom prst="rect">
            <a:avLst/>
          </a:prstGeom>
          <a:solidFill>
            <a:schemeClr val="bg1"/>
          </a:solidFill>
          <a:ln w="25400">
            <a:solidFill>
              <a:srgbClr val="0000FF"/>
            </a:solidFill>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79896" name="Text Box 25">
            <a:extLst>
              <a:ext uri="{FF2B5EF4-FFF2-40B4-BE49-F238E27FC236}">
                <a16:creationId xmlns:a16="http://schemas.microsoft.com/office/drawing/2014/main" id="{16FD7F99-1431-034C-B921-434828F8FEC1}"/>
              </a:ext>
            </a:extLst>
          </p:cNvPr>
          <p:cNvSpPr txBox="1">
            <a:spLocks noChangeArrowheads="1"/>
          </p:cNvSpPr>
          <p:nvPr/>
        </p:nvSpPr>
        <p:spPr bwMode="auto">
          <a:xfrm>
            <a:off x="8763000" y="685801"/>
            <a:ext cx="1600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1800" b="1" u="sng">
                <a:solidFill>
                  <a:srgbClr val="000000"/>
                </a:solidFill>
              </a:rPr>
              <a:t>P(Death</a:t>
            </a:r>
            <a:r>
              <a:rPr lang="en-US" altLang="en-MX" sz="1800" b="1" u="sng">
                <a:solidFill>
                  <a:srgbClr val="000000"/>
                </a:solidFill>
                <a:latin typeface="Garamond" panose="02020404030301010803" pitchFamily="18" charset="0"/>
              </a:rPr>
              <a:t>)</a:t>
            </a:r>
          </a:p>
        </p:txBody>
      </p:sp>
      <p:sp>
        <p:nvSpPr>
          <p:cNvPr id="79897" name="Line 26">
            <a:extLst>
              <a:ext uri="{FF2B5EF4-FFF2-40B4-BE49-F238E27FC236}">
                <a16:creationId xmlns:a16="http://schemas.microsoft.com/office/drawing/2014/main" id="{267A4223-2DE4-EF44-B027-18B415DA77E9}"/>
              </a:ext>
            </a:extLst>
          </p:cNvPr>
          <p:cNvSpPr>
            <a:spLocks noChangeShapeType="1"/>
          </p:cNvSpPr>
          <p:nvPr/>
        </p:nvSpPr>
        <p:spPr bwMode="auto">
          <a:xfrm>
            <a:off x="8915400" y="14478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79898" name="Line 27">
            <a:extLst>
              <a:ext uri="{FF2B5EF4-FFF2-40B4-BE49-F238E27FC236}">
                <a16:creationId xmlns:a16="http://schemas.microsoft.com/office/drawing/2014/main" id="{35798DA3-F261-0E4C-8F3B-14301F939A19}"/>
              </a:ext>
            </a:extLst>
          </p:cNvPr>
          <p:cNvSpPr>
            <a:spLocks noChangeShapeType="1"/>
          </p:cNvSpPr>
          <p:nvPr/>
        </p:nvSpPr>
        <p:spPr bwMode="auto">
          <a:xfrm>
            <a:off x="4267200" y="2286000"/>
            <a:ext cx="43434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79899" name="Line 28">
            <a:extLst>
              <a:ext uri="{FF2B5EF4-FFF2-40B4-BE49-F238E27FC236}">
                <a16:creationId xmlns:a16="http://schemas.microsoft.com/office/drawing/2014/main" id="{F733799F-0D19-0441-A64E-4F819456354D}"/>
              </a:ext>
            </a:extLst>
          </p:cNvPr>
          <p:cNvSpPr>
            <a:spLocks noChangeShapeType="1"/>
          </p:cNvSpPr>
          <p:nvPr/>
        </p:nvSpPr>
        <p:spPr bwMode="auto">
          <a:xfrm>
            <a:off x="4343400" y="5562600"/>
            <a:ext cx="1295400" cy="0"/>
          </a:xfrm>
          <a:prstGeom prst="line">
            <a:avLst/>
          </a:prstGeom>
          <a:noFill/>
          <a:ln w="1905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79900" name="Oval 29">
            <a:extLst>
              <a:ext uri="{FF2B5EF4-FFF2-40B4-BE49-F238E27FC236}">
                <a16:creationId xmlns:a16="http://schemas.microsoft.com/office/drawing/2014/main" id="{E1A1F0D1-E496-9447-9E21-8B0263C23CFD}"/>
              </a:ext>
            </a:extLst>
          </p:cNvPr>
          <p:cNvSpPr>
            <a:spLocks noChangeArrowheads="1"/>
          </p:cNvSpPr>
          <p:nvPr/>
        </p:nvSpPr>
        <p:spPr bwMode="auto">
          <a:xfrm>
            <a:off x="5562601" y="1566864"/>
            <a:ext cx="238125" cy="261937"/>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79901" name="Rectangle 30">
            <a:extLst>
              <a:ext uri="{FF2B5EF4-FFF2-40B4-BE49-F238E27FC236}">
                <a16:creationId xmlns:a16="http://schemas.microsoft.com/office/drawing/2014/main" id="{4E3431DE-BBE2-7449-8077-638EE48F74D4}"/>
              </a:ext>
            </a:extLst>
          </p:cNvPr>
          <p:cNvSpPr>
            <a:spLocks noChangeArrowheads="1"/>
          </p:cNvSpPr>
          <p:nvPr/>
        </p:nvSpPr>
        <p:spPr bwMode="auto">
          <a:xfrm>
            <a:off x="5943600" y="1066800"/>
            <a:ext cx="12319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Encephalitis</a:t>
            </a:r>
          </a:p>
        </p:txBody>
      </p:sp>
      <p:sp>
        <p:nvSpPr>
          <p:cNvPr id="79902" name="Line 31">
            <a:extLst>
              <a:ext uri="{FF2B5EF4-FFF2-40B4-BE49-F238E27FC236}">
                <a16:creationId xmlns:a16="http://schemas.microsoft.com/office/drawing/2014/main" id="{45B09B0F-575C-F941-A76F-5A977432F243}"/>
              </a:ext>
            </a:extLst>
          </p:cNvPr>
          <p:cNvSpPr>
            <a:spLocks noChangeShapeType="1"/>
          </p:cNvSpPr>
          <p:nvPr/>
        </p:nvSpPr>
        <p:spPr bwMode="auto">
          <a:xfrm flipV="1">
            <a:off x="5957888" y="1371601"/>
            <a:ext cx="2652712" cy="1587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79903" name="Line 32">
            <a:extLst>
              <a:ext uri="{FF2B5EF4-FFF2-40B4-BE49-F238E27FC236}">
                <a16:creationId xmlns:a16="http://schemas.microsoft.com/office/drawing/2014/main" id="{43D711D1-F17F-D049-A18B-D27200F81E9A}"/>
              </a:ext>
            </a:extLst>
          </p:cNvPr>
          <p:cNvSpPr>
            <a:spLocks noChangeShapeType="1"/>
          </p:cNvSpPr>
          <p:nvPr/>
        </p:nvSpPr>
        <p:spPr bwMode="auto">
          <a:xfrm>
            <a:off x="5943600" y="1981200"/>
            <a:ext cx="25908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79904" name="Freeform 33">
            <a:extLst>
              <a:ext uri="{FF2B5EF4-FFF2-40B4-BE49-F238E27FC236}">
                <a16:creationId xmlns:a16="http://schemas.microsoft.com/office/drawing/2014/main" id="{6302DD52-EF11-2748-992A-C41307E42525}"/>
              </a:ext>
            </a:extLst>
          </p:cNvPr>
          <p:cNvSpPr>
            <a:spLocks/>
          </p:cNvSpPr>
          <p:nvPr/>
        </p:nvSpPr>
        <p:spPr bwMode="auto">
          <a:xfrm>
            <a:off x="5715000" y="5257801"/>
            <a:ext cx="2895600" cy="396875"/>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79905" name="Freeform 34">
            <a:extLst>
              <a:ext uri="{FF2B5EF4-FFF2-40B4-BE49-F238E27FC236}">
                <a16:creationId xmlns:a16="http://schemas.microsoft.com/office/drawing/2014/main" id="{E6AD7AF0-2BA8-B343-B0C3-DB670936C0EE}"/>
              </a:ext>
            </a:extLst>
          </p:cNvPr>
          <p:cNvSpPr>
            <a:spLocks/>
          </p:cNvSpPr>
          <p:nvPr/>
        </p:nvSpPr>
        <p:spPr bwMode="auto">
          <a:xfrm>
            <a:off x="5716588" y="5502276"/>
            <a:ext cx="303212" cy="347663"/>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79906" name="Line 35">
            <a:extLst>
              <a:ext uri="{FF2B5EF4-FFF2-40B4-BE49-F238E27FC236}">
                <a16:creationId xmlns:a16="http://schemas.microsoft.com/office/drawing/2014/main" id="{5323BAD7-CFC9-524B-A6D8-6584C7B6879D}"/>
              </a:ext>
            </a:extLst>
          </p:cNvPr>
          <p:cNvSpPr>
            <a:spLocks noChangeShapeType="1"/>
          </p:cNvSpPr>
          <p:nvPr/>
        </p:nvSpPr>
        <p:spPr bwMode="auto">
          <a:xfrm>
            <a:off x="6005513" y="5849938"/>
            <a:ext cx="25146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79907" name="Rectangle 36">
            <a:extLst>
              <a:ext uri="{FF2B5EF4-FFF2-40B4-BE49-F238E27FC236}">
                <a16:creationId xmlns:a16="http://schemas.microsoft.com/office/drawing/2014/main" id="{3F62944D-5356-694F-B223-9D811575B316}"/>
              </a:ext>
            </a:extLst>
          </p:cNvPr>
          <p:cNvSpPr>
            <a:spLocks noChangeArrowheads="1"/>
          </p:cNvSpPr>
          <p:nvPr/>
        </p:nvSpPr>
        <p:spPr bwMode="auto">
          <a:xfrm>
            <a:off x="5943600" y="1660525"/>
            <a:ext cx="1752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Encephalitis</a:t>
            </a:r>
          </a:p>
        </p:txBody>
      </p:sp>
      <p:sp>
        <p:nvSpPr>
          <p:cNvPr id="79908" name="Rectangle 37">
            <a:extLst>
              <a:ext uri="{FF2B5EF4-FFF2-40B4-BE49-F238E27FC236}">
                <a16:creationId xmlns:a16="http://schemas.microsoft.com/office/drawing/2014/main" id="{21381E81-E619-C74B-BDB7-A9217B252412}"/>
              </a:ext>
            </a:extLst>
          </p:cNvPr>
          <p:cNvSpPr>
            <a:spLocks noChangeArrowheads="1"/>
          </p:cNvSpPr>
          <p:nvPr/>
        </p:nvSpPr>
        <p:spPr bwMode="auto">
          <a:xfrm>
            <a:off x="5956300" y="4999039"/>
            <a:ext cx="12319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Encephalitis</a:t>
            </a:r>
          </a:p>
        </p:txBody>
      </p:sp>
      <p:sp>
        <p:nvSpPr>
          <p:cNvPr id="79909" name="Rectangle 38">
            <a:extLst>
              <a:ext uri="{FF2B5EF4-FFF2-40B4-BE49-F238E27FC236}">
                <a16:creationId xmlns:a16="http://schemas.microsoft.com/office/drawing/2014/main" id="{04BDA109-C211-8946-8BAF-57886F78F984}"/>
              </a:ext>
            </a:extLst>
          </p:cNvPr>
          <p:cNvSpPr>
            <a:spLocks noChangeArrowheads="1"/>
          </p:cNvSpPr>
          <p:nvPr/>
        </p:nvSpPr>
        <p:spPr bwMode="auto">
          <a:xfrm>
            <a:off x="5943600" y="5562600"/>
            <a:ext cx="1752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Encephalitis</a:t>
            </a:r>
          </a:p>
        </p:txBody>
      </p:sp>
      <p:sp>
        <p:nvSpPr>
          <p:cNvPr id="79910" name="Oval 39">
            <a:extLst>
              <a:ext uri="{FF2B5EF4-FFF2-40B4-BE49-F238E27FC236}">
                <a16:creationId xmlns:a16="http://schemas.microsoft.com/office/drawing/2014/main" id="{ECDDBAF5-B388-0546-9339-84BB759A1DD5}"/>
              </a:ext>
            </a:extLst>
          </p:cNvPr>
          <p:cNvSpPr>
            <a:spLocks noChangeArrowheads="1"/>
          </p:cNvSpPr>
          <p:nvPr/>
        </p:nvSpPr>
        <p:spPr bwMode="auto">
          <a:xfrm>
            <a:off x="5629276" y="5426075"/>
            <a:ext cx="238125" cy="261938"/>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79911" name="Oval 40">
            <a:extLst>
              <a:ext uri="{FF2B5EF4-FFF2-40B4-BE49-F238E27FC236}">
                <a16:creationId xmlns:a16="http://schemas.microsoft.com/office/drawing/2014/main" id="{E2B41B6B-356F-C849-A1B6-81C8B1B1524E}"/>
              </a:ext>
            </a:extLst>
          </p:cNvPr>
          <p:cNvSpPr>
            <a:spLocks noChangeArrowheads="1"/>
          </p:cNvSpPr>
          <p:nvPr/>
        </p:nvSpPr>
        <p:spPr bwMode="auto">
          <a:xfrm>
            <a:off x="3963989" y="5729288"/>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79912" name="Freeform 41">
            <a:extLst>
              <a:ext uri="{FF2B5EF4-FFF2-40B4-BE49-F238E27FC236}">
                <a16:creationId xmlns:a16="http://schemas.microsoft.com/office/drawing/2014/main" id="{57CFBFE5-2FF0-7849-A121-D31276ACA460}"/>
              </a:ext>
            </a:extLst>
          </p:cNvPr>
          <p:cNvSpPr>
            <a:spLocks/>
          </p:cNvSpPr>
          <p:nvPr/>
        </p:nvSpPr>
        <p:spPr bwMode="auto">
          <a:xfrm>
            <a:off x="4114801" y="3276600"/>
            <a:ext cx="371475" cy="533400"/>
          </a:xfrm>
          <a:custGeom>
            <a:avLst/>
            <a:gdLst>
              <a:gd name="T0" fmla="*/ 0 w 14"/>
              <a:gd name="T1" fmla="*/ 2147483647 h 16"/>
              <a:gd name="T2" fmla="*/ 0 w 14"/>
              <a:gd name="T3" fmla="*/ 0 h 16"/>
              <a:gd name="T4" fmla="*/ 2147483647 w 14"/>
              <a:gd name="T5" fmla="*/ 0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16"/>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79913" name="Freeform 42">
            <a:extLst>
              <a:ext uri="{FF2B5EF4-FFF2-40B4-BE49-F238E27FC236}">
                <a16:creationId xmlns:a16="http://schemas.microsoft.com/office/drawing/2014/main" id="{76042BD0-4254-DB49-8FBB-77EC5A03FE88}"/>
              </a:ext>
            </a:extLst>
          </p:cNvPr>
          <p:cNvSpPr>
            <a:spLocks/>
          </p:cNvSpPr>
          <p:nvPr/>
        </p:nvSpPr>
        <p:spPr bwMode="auto">
          <a:xfrm>
            <a:off x="4114801" y="3962400"/>
            <a:ext cx="295275" cy="533400"/>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79914" name="Oval 43">
            <a:extLst>
              <a:ext uri="{FF2B5EF4-FFF2-40B4-BE49-F238E27FC236}">
                <a16:creationId xmlns:a16="http://schemas.microsoft.com/office/drawing/2014/main" id="{F0DD2A01-EC53-F346-8FC9-0E5CBF995A01}"/>
              </a:ext>
            </a:extLst>
          </p:cNvPr>
          <p:cNvSpPr>
            <a:spLocks noChangeArrowheads="1"/>
          </p:cNvSpPr>
          <p:nvPr/>
        </p:nvSpPr>
        <p:spPr bwMode="auto">
          <a:xfrm>
            <a:off x="3976689" y="3733800"/>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79915" name="Line 44">
            <a:extLst>
              <a:ext uri="{FF2B5EF4-FFF2-40B4-BE49-F238E27FC236}">
                <a16:creationId xmlns:a16="http://schemas.microsoft.com/office/drawing/2014/main" id="{4E2456D7-2115-BD4D-8DDF-95016516ABE8}"/>
              </a:ext>
            </a:extLst>
          </p:cNvPr>
          <p:cNvSpPr>
            <a:spLocks noChangeShapeType="1"/>
          </p:cNvSpPr>
          <p:nvPr/>
        </p:nvSpPr>
        <p:spPr bwMode="auto">
          <a:xfrm>
            <a:off x="4419600" y="3276600"/>
            <a:ext cx="7620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79916" name="Line 45">
            <a:extLst>
              <a:ext uri="{FF2B5EF4-FFF2-40B4-BE49-F238E27FC236}">
                <a16:creationId xmlns:a16="http://schemas.microsoft.com/office/drawing/2014/main" id="{5B2B624C-8DC8-7847-8DE3-99C4C1A469E8}"/>
              </a:ext>
            </a:extLst>
          </p:cNvPr>
          <p:cNvSpPr>
            <a:spLocks noChangeShapeType="1"/>
          </p:cNvSpPr>
          <p:nvPr/>
        </p:nvSpPr>
        <p:spPr bwMode="auto">
          <a:xfrm>
            <a:off x="4419600" y="4495800"/>
            <a:ext cx="960438"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79917" name="Rectangle 46">
            <a:extLst>
              <a:ext uri="{FF2B5EF4-FFF2-40B4-BE49-F238E27FC236}">
                <a16:creationId xmlns:a16="http://schemas.microsoft.com/office/drawing/2014/main" id="{187417B8-7EB5-7843-9E23-6133230AA2BA}"/>
              </a:ext>
            </a:extLst>
          </p:cNvPr>
          <p:cNvSpPr>
            <a:spLocks noChangeArrowheads="1"/>
          </p:cNvSpPr>
          <p:nvPr/>
        </p:nvSpPr>
        <p:spPr bwMode="auto">
          <a:xfrm>
            <a:off x="5486400" y="3124200"/>
            <a:ext cx="14097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Spray</a:t>
            </a:r>
          </a:p>
        </p:txBody>
      </p:sp>
      <p:sp>
        <p:nvSpPr>
          <p:cNvPr id="79918" name="Text Box 47">
            <a:extLst>
              <a:ext uri="{FF2B5EF4-FFF2-40B4-BE49-F238E27FC236}">
                <a16:creationId xmlns:a16="http://schemas.microsoft.com/office/drawing/2014/main" id="{E5EF903F-4AB6-B346-9F9C-6B9B904FBE74}"/>
              </a:ext>
            </a:extLst>
          </p:cNvPr>
          <p:cNvSpPr txBox="1">
            <a:spLocks noChangeArrowheads="1"/>
          </p:cNvSpPr>
          <p:nvPr/>
        </p:nvSpPr>
        <p:spPr bwMode="auto">
          <a:xfrm>
            <a:off x="5638800" y="4191000"/>
            <a:ext cx="990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a:solidFill>
                  <a:srgbClr val="000000"/>
                </a:solidFill>
              </a:rPr>
              <a:t>Don</a:t>
            </a:r>
            <a:r>
              <a:rPr lang="ja-JP" altLang="en-US" sz="1800">
                <a:solidFill>
                  <a:srgbClr val="000000"/>
                </a:solidFill>
              </a:rPr>
              <a:t>’</a:t>
            </a:r>
            <a:r>
              <a:rPr lang="en-US" altLang="ja-JP" sz="1800">
                <a:solidFill>
                  <a:srgbClr val="000000"/>
                </a:solidFill>
              </a:rPr>
              <a:t>t spray</a:t>
            </a:r>
            <a:endParaRPr lang="en-US" altLang="en-MX" sz="1800">
              <a:solidFill>
                <a:srgbClr val="000000"/>
              </a:solidFill>
            </a:endParaRPr>
          </a:p>
        </p:txBody>
      </p:sp>
      <p:sp>
        <p:nvSpPr>
          <p:cNvPr id="79919" name="Line 48">
            <a:extLst>
              <a:ext uri="{FF2B5EF4-FFF2-40B4-BE49-F238E27FC236}">
                <a16:creationId xmlns:a16="http://schemas.microsoft.com/office/drawing/2014/main" id="{A3B839D8-D98E-5844-BC62-5A889C2CDD90}"/>
              </a:ext>
            </a:extLst>
          </p:cNvPr>
          <p:cNvSpPr>
            <a:spLocks noChangeShapeType="1"/>
          </p:cNvSpPr>
          <p:nvPr/>
        </p:nvSpPr>
        <p:spPr bwMode="auto">
          <a:xfrm>
            <a:off x="8915400" y="19050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79920" name="Line 49">
            <a:extLst>
              <a:ext uri="{FF2B5EF4-FFF2-40B4-BE49-F238E27FC236}">
                <a16:creationId xmlns:a16="http://schemas.microsoft.com/office/drawing/2014/main" id="{BB4F1AFE-AC1A-C242-9743-1F668100DAE7}"/>
              </a:ext>
            </a:extLst>
          </p:cNvPr>
          <p:cNvSpPr>
            <a:spLocks noChangeShapeType="1"/>
          </p:cNvSpPr>
          <p:nvPr/>
        </p:nvSpPr>
        <p:spPr bwMode="auto">
          <a:xfrm>
            <a:off x="8915400" y="22860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79921" name="Line 50">
            <a:extLst>
              <a:ext uri="{FF2B5EF4-FFF2-40B4-BE49-F238E27FC236}">
                <a16:creationId xmlns:a16="http://schemas.microsoft.com/office/drawing/2014/main" id="{3AF2C2C0-DBF1-1240-B02A-D1BA20B788AA}"/>
              </a:ext>
            </a:extLst>
          </p:cNvPr>
          <p:cNvSpPr>
            <a:spLocks noChangeShapeType="1"/>
          </p:cNvSpPr>
          <p:nvPr/>
        </p:nvSpPr>
        <p:spPr bwMode="auto">
          <a:xfrm>
            <a:off x="8915400" y="29718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79922" name="Line 51">
            <a:extLst>
              <a:ext uri="{FF2B5EF4-FFF2-40B4-BE49-F238E27FC236}">
                <a16:creationId xmlns:a16="http://schemas.microsoft.com/office/drawing/2014/main" id="{2FCFFA89-E0BB-5C42-B17B-39F2AB53D068}"/>
              </a:ext>
            </a:extLst>
          </p:cNvPr>
          <p:cNvSpPr>
            <a:spLocks noChangeShapeType="1"/>
          </p:cNvSpPr>
          <p:nvPr/>
        </p:nvSpPr>
        <p:spPr bwMode="auto">
          <a:xfrm>
            <a:off x="8915400" y="35814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79923" name="Line 52">
            <a:extLst>
              <a:ext uri="{FF2B5EF4-FFF2-40B4-BE49-F238E27FC236}">
                <a16:creationId xmlns:a16="http://schemas.microsoft.com/office/drawing/2014/main" id="{90B7F5A0-8219-D647-80E6-222B26959861}"/>
              </a:ext>
            </a:extLst>
          </p:cNvPr>
          <p:cNvSpPr>
            <a:spLocks noChangeShapeType="1"/>
          </p:cNvSpPr>
          <p:nvPr/>
        </p:nvSpPr>
        <p:spPr bwMode="auto">
          <a:xfrm>
            <a:off x="8915400" y="43434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79924" name="Line 53">
            <a:extLst>
              <a:ext uri="{FF2B5EF4-FFF2-40B4-BE49-F238E27FC236}">
                <a16:creationId xmlns:a16="http://schemas.microsoft.com/office/drawing/2014/main" id="{7321AE41-827E-F14D-971F-AAD9F14C76F0}"/>
              </a:ext>
            </a:extLst>
          </p:cNvPr>
          <p:cNvSpPr>
            <a:spLocks noChangeShapeType="1"/>
          </p:cNvSpPr>
          <p:nvPr/>
        </p:nvSpPr>
        <p:spPr bwMode="auto">
          <a:xfrm>
            <a:off x="8915400" y="48006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79925" name="Line 54">
            <a:extLst>
              <a:ext uri="{FF2B5EF4-FFF2-40B4-BE49-F238E27FC236}">
                <a16:creationId xmlns:a16="http://schemas.microsoft.com/office/drawing/2014/main" id="{690E4CF0-EE22-3646-AEC0-D2047841EFFD}"/>
              </a:ext>
            </a:extLst>
          </p:cNvPr>
          <p:cNvSpPr>
            <a:spLocks noChangeShapeType="1"/>
          </p:cNvSpPr>
          <p:nvPr/>
        </p:nvSpPr>
        <p:spPr bwMode="auto">
          <a:xfrm>
            <a:off x="8915400" y="53340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79926" name="Line 55">
            <a:extLst>
              <a:ext uri="{FF2B5EF4-FFF2-40B4-BE49-F238E27FC236}">
                <a16:creationId xmlns:a16="http://schemas.microsoft.com/office/drawing/2014/main" id="{2B93D298-9319-A549-A841-BCFAC0B61A22}"/>
              </a:ext>
            </a:extLst>
          </p:cNvPr>
          <p:cNvSpPr>
            <a:spLocks noChangeShapeType="1"/>
          </p:cNvSpPr>
          <p:nvPr/>
        </p:nvSpPr>
        <p:spPr bwMode="auto">
          <a:xfrm>
            <a:off x="8915400" y="57912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79927" name="Line 56">
            <a:extLst>
              <a:ext uri="{FF2B5EF4-FFF2-40B4-BE49-F238E27FC236}">
                <a16:creationId xmlns:a16="http://schemas.microsoft.com/office/drawing/2014/main" id="{1C8A6AF6-38E3-1A4D-81AE-BD243DC0F320}"/>
              </a:ext>
            </a:extLst>
          </p:cNvPr>
          <p:cNvSpPr>
            <a:spLocks noChangeShapeType="1"/>
          </p:cNvSpPr>
          <p:nvPr/>
        </p:nvSpPr>
        <p:spPr bwMode="auto">
          <a:xfrm>
            <a:off x="8915400" y="63246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79928" name="Rectangle 57">
            <a:extLst>
              <a:ext uri="{FF2B5EF4-FFF2-40B4-BE49-F238E27FC236}">
                <a16:creationId xmlns:a16="http://schemas.microsoft.com/office/drawing/2014/main" id="{6392A022-6010-E049-A37A-F310379DD06F}"/>
              </a:ext>
            </a:extLst>
          </p:cNvPr>
          <p:cNvSpPr>
            <a:spLocks noChangeArrowheads="1"/>
          </p:cNvSpPr>
          <p:nvPr/>
        </p:nvSpPr>
        <p:spPr bwMode="auto">
          <a:xfrm>
            <a:off x="4191000" y="2895601"/>
            <a:ext cx="117981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ja-JP" altLang="en-US" sz="1800">
                <a:solidFill>
                  <a:srgbClr val="000000"/>
                </a:solidFill>
              </a:rPr>
              <a:t>“</a:t>
            </a:r>
            <a:r>
              <a:rPr lang="en-US" altLang="ja-JP" sz="1800">
                <a:solidFill>
                  <a:srgbClr val="000000"/>
                </a:solidFill>
              </a:rPr>
              <a:t>Outbreak</a:t>
            </a:r>
            <a:r>
              <a:rPr lang="ja-JP" altLang="en-US" sz="1800">
                <a:solidFill>
                  <a:srgbClr val="000000"/>
                </a:solidFill>
              </a:rPr>
              <a:t>”</a:t>
            </a:r>
            <a:endParaRPr lang="en-US" altLang="en-MX" sz="1800">
              <a:solidFill>
                <a:srgbClr val="000000"/>
              </a:solidFill>
            </a:endParaRPr>
          </a:p>
        </p:txBody>
      </p:sp>
      <p:sp>
        <p:nvSpPr>
          <p:cNvPr id="79929" name="Rectangle 58">
            <a:extLst>
              <a:ext uri="{FF2B5EF4-FFF2-40B4-BE49-F238E27FC236}">
                <a16:creationId xmlns:a16="http://schemas.microsoft.com/office/drawing/2014/main" id="{0B857A6B-095E-6744-B0E4-A28A993E272A}"/>
              </a:ext>
            </a:extLst>
          </p:cNvPr>
          <p:cNvSpPr>
            <a:spLocks noChangeArrowheads="1"/>
          </p:cNvSpPr>
          <p:nvPr/>
        </p:nvSpPr>
        <p:spPr bwMode="auto">
          <a:xfrm>
            <a:off x="4191000" y="3962401"/>
            <a:ext cx="10668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ja-JP" altLang="en-US" sz="1800">
                <a:solidFill>
                  <a:srgbClr val="000000"/>
                </a:solidFill>
              </a:rPr>
              <a:t>“</a:t>
            </a:r>
            <a:r>
              <a:rPr lang="en-US" altLang="ja-JP" sz="1800">
                <a:solidFill>
                  <a:srgbClr val="000000"/>
                </a:solidFill>
              </a:rPr>
              <a:t>No</a:t>
            </a:r>
          </a:p>
          <a:p>
            <a:r>
              <a:rPr lang="en-US" altLang="en-MX" sz="1800">
                <a:solidFill>
                  <a:srgbClr val="000000"/>
                </a:solidFill>
              </a:rPr>
              <a:t>Outbreak</a:t>
            </a:r>
            <a:r>
              <a:rPr lang="ja-JP" altLang="en-US" sz="1800">
                <a:solidFill>
                  <a:srgbClr val="000000"/>
                </a:solidFill>
              </a:rPr>
              <a:t>”</a:t>
            </a:r>
            <a:endParaRPr lang="en-US" altLang="en-MX" sz="1800">
              <a:solidFill>
                <a:srgbClr val="000000"/>
              </a:solidFill>
            </a:endParaRPr>
          </a:p>
        </p:txBody>
      </p:sp>
      <p:sp>
        <p:nvSpPr>
          <p:cNvPr id="79930" name="AutoShape 59">
            <a:extLst>
              <a:ext uri="{FF2B5EF4-FFF2-40B4-BE49-F238E27FC236}">
                <a16:creationId xmlns:a16="http://schemas.microsoft.com/office/drawing/2014/main" id="{C2FCBD94-C154-A643-971C-654D2E08A9C1}"/>
              </a:ext>
            </a:extLst>
          </p:cNvPr>
          <p:cNvSpPr>
            <a:spLocks noChangeArrowheads="1"/>
          </p:cNvSpPr>
          <p:nvPr/>
        </p:nvSpPr>
        <p:spPr bwMode="auto">
          <a:xfrm>
            <a:off x="5105400" y="3124200"/>
            <a:ext cx="304800" cy="304800"/>
          </a:xfrm>
          <a:prstGeom prst="rightArrow">
            <a:avLst>
              <a:gd name="adj1" fmla="val 50000"/>
              <a:gd name="adj2" fmla="val 25000"/>
            </a:avLst>
          </a:prstGeom>
          <a:solidFill>
            <a:srgbClr val="990033"/>
          </a:solidFill>
          <a:ln w="12700">
            <a:solidFill>
              <a:srgbClr val="00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79931" name="AutoShape 60">
            <a:extLst>
              <a:ext uri="{FF2B5EF4-FFF2-40B4-BE49-F238E27FC236}">
                <a16:creationId xmlns:a16="http://schemas.microsoft.com/office/drawing/2014/main" id="{B40B8E4A-1E18-A542-8E3D-FBA785A41166}"/>
              </a:ext>
            </a:extLst>
          </p:cNvPr>
          <p:cNvSpPr>
            <a:spLocks noChangeArrowheads="1"/>
          </p:cNvSpPr>
          <p:nvPr/>
        </p:nvSpPr>
        <p:spPr bwMode="auto">
          <a:xfrm>
            <a:off x="5334000" y="4343400"/>
            <a:ext cx="304800" cy="304800"/>
          </a:xfrm>
          <a:prstGeom prst="rightArrow">
            <a:avLst>
              <a:gd name="adj1" fmla="val 50000"/>
              <a:gd name="adj2" fmla="val 25000"/>
            </a:avLst>
          </a:prstGeom>
          <a:solidFill>
            <a:srgbClr val="990033"/>
          </a:solidFill>
          <a:ln w="12700">
            <a:solidFill>
              <a:srgbClr val="00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79932" name="Freeform 61">
            <a:extLst>
              <a:ext uri="{FF2B5EF4-FFF2-40B4-BE49-F238E27FC236}">
                <a16:creationId xmlns:a16="http://schemas.microsoft.com/office/drawing/2014/main" id="{7E3A92BD-CABB-814C-8D7A-E84EDCBD9A0E}"/>
              </a:ext>
            </a:extLst>
          </p:cNvPr>
          <p:cNvSpPr>
            <a:spLocks/>
          </p:cNvSpPr>
          <p:nvPr/>
        </p:nvSpPr>
        <p:spPr bwMode="auto">
          <a:xfrm>
            <a:off x="6235700" y="2971801"/>
            <a:ext cx="2451100" cy="396875"/>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79933" name="Freeform 62">
            <a:extLst>
              <a:ext uri="{FF2B5EF4-FFF2-40B4-BE49-F238E27FC236}">
                <a16:creationId xmlns:a16="http://schemas.microsoft.com/office/drawing/2014/main" id="{A034F22F-A9AA-8542-8368-40837C5E4101}"/>
              </a:ext>
            </a:extLst>
          </p:cNvPr>
          <p:cNvSpPr>
            <a:spLocks/>
          </p:cNvSpPr>
          <p:nvPr/>
        </p:nvSpPr>
        <p:spPr bwMode="auto">
          <a:xfrm>
            <a:off x="6235700" y="3249614"/>
            <a:ext cx="2374900" cy="331787"/>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79934" name="Rectangle 63">
            <a:extLst>
              <a:ext uri="{FF2B5EF4-FFF2-40B4-BE49-F238E27FC236}">
                <a16:creationId xmlns:a16="http://schemas.microsoft.com/office/drawing/2014/main" id="{899DCCBF-E811-4B46-B9F2-C696C86733F1}"/>
              </a:ext>
            </a:extLst>
          </p:cNvPr>
          <p:cNvSpPr>
            <a:spLocks noChangeArrowheads="1"/>
          </p:cNvSpPr>
          <p:nvPr/>
        </p:nvSpPr>
        <p:spPr bwMode="auto">
          <a:xfrm>
            <a:off x="6535738" y="2682875"/>
            <a:ext cx="12319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Encephalitis</a:t>
            </a:r>
          </a:p>
        </p:txBody>
      </p:sp>
      <p:sp>
        <p:nvSpPr>
          <p:cNvPr id="79935" name="Rectangle 64">
            <a:extLst>
              <a:ext uri="{FF2B5EF4-FFF2-40B4-BE49-F238E27FC236}">
                <a16:creationId xmlns:a16="http://schemas.microsoft.com/office/drawing/2014/main" id="{CB57AE38-D4AD-B74D-B07D-61B94CFD74F7}"/>
              </a:ext>
            </a:extLst>
          </p:cNvPr>
          <p:cNvSpPr>
            <a:spLocks noChangeArrowheads="1"/>
          </p:cNvSpPr>
          <p:nvPr/>
        </p:nvSpPr>
        <p:spPr bwMode="auto">
          <a:xfrm>
            <a:off x="6477000" y="3276600"/>
            <a:ext cx="1752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Encephalitis</a:t>
            </a:r>
          </a:p>
        </p:txBody>
      </p:sp>
      <p:sp>
        <p:nvSpPr>
          <p:cNvPr id="79936" name="Oval 65">
            <a:extLst>
              <a:ext uri="{FF2B5EF4-FFF2-40B4-BE49-F238E27FC236}">
                <a16:creationId xmlns:a16="http://schemas.microsoft.com/office/drawing/2014/main" id="{EBD964A2-FE6F-5A4E-ADBF-EA2B78B94463}"/>
              </a:ext>
            </a:extLst>
          </p:cNvPr>
          <p:cNvSpPr>
            <a:spLocks noChangeArrowheads="1"/>
          </p:cNvSpPr>
          <p:nvPr/>
        </p:nvSpPr>
        <p:spPr bwMode="auto">
          <a:xfrm>
            <a:off x="6172201" y="3124200"/>
            <a:ext cx="238125" cy="261938"/>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79937" name="Freeform 66">
            <a:extLst>
              <a:ext uri="{FF2B5EF4-FFF2-40B4-BE49-F238E27FC236}">
                <a16:creationId xmlns:a16="http://schemas.microsoft.com/office/drawing/2014/main" id="{BEDB3716-A5AA-9F48-BB4B-088F3F211923}"/>
              </a:ext>
            </a:extLst>
          </p:cNvPr>
          <p:cNvSpPr>
            <a:spLocks/>
          </p:cNvSpPr>
          <p:nvPr/>
        </p:nvSpPr>
        <p:spPr bwMode="auto">
          <a:xfrm>
            <a:off x="6540500" y="4251326"/>
            <a:ext cx="2146300" cy="396875"/>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79938" name="Freeform 67">
            <a:extLst>
              <a:ext uri="{FF2B5EF4-FFF2-40B4-BE49-F238E27FC236}">
                <a16:creationId xmlns:a16="http://schemas.microsoft.com/office/drawing/2014/main" id="{91CC4DA8-484F-A74B-A34C-CAD7F4A2FD6A}"/>
              </a:ext>
            </a:extLst>
          </p:cNvPr>
          <p:cNvSpPr>
            <a:spLocks/>
          </p:cNvSpPr>
          <p:nvPr/>
        </p:nvSpPr>
        <p:spPr bwMode="auto">
          <a:xfrm>
            <a:off x="6540500" y="4529139"/>
            <a:ext cx="2070100" cy="331787"/>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79939" name="Rectangle 68">
            <a:extLst>
              <a:ext uri="{FF2B5EF4-FFF2-40B4-BE49-F238E27FC236}">
                <a16:creationId xmlns:a16="http://schemas.microsoft.com/office/drawing/2014/main" id="{8DFD8BDD-F7FA-234C-92BE-3E0B19708899}"/>
              </a:ext>
            </a:extLst>
          </p:cNvPr>
          <p:cNvSpPr>
            <a:spLocks noChangeArrowheads="1"/>
          </p:cNvSpPr>
          <p:nvPr/>
        </p:nvSpPr>
        <p:spPr bwMode="auto">
          <a:xfrm>
            <a:off x="6840538" y="3962400"/>
            <a:ext cx="12319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Encephalitis</a:t>
            </a:r>
          </a:p>
        </p:txBody>
      </p:sp>
      <p:sp>
        <p:nvSpPr>
          <p:cNvPr id="79940" name="Rectangle 69">
            <a:extLst>
              <a:ext uri="{FF2B5EF4-FFF2-40B4-BE49-F238E27FC236}">
                <a16:creationId xmlns:a16="http://schemas.microsoft.com/office/drawing/2014/main" id="{BB131135-5029-E04E-9DC4-8FCE4737DFC8}"/>
              </a:ext>
            </a:extLst>
          </p:cNvPr>
          <p:cNvSpPr>
            <a:spLocks noChangeArrowheads="1"/>
          </p:cNvSpPr>
          <p:nvPr/>
        </p:nvSpPr>
        <p:spPr bwMode="auto">
          <a:xfrm>
            <a:off x="6781800" y="4556125"/>
            <a:ext cx="1752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Encephalitis</a:t>
            </a:r>
          </a:p>
        </p:txBody>
      </p:sp>
      <p:sp>
        <p:nvSpPr>
          <p:cNvPr id="79941" name="Oval 70">
            <a:extLst>
              <a:ext uri="{FF2B5EF4-FFF2-40B4-BE49-F238E27FC236}">
                <a16:creationId xmlns:a16="http://schemas.microsoft.com/office/drawing/2014/main" id="{8D5E7B0C-E37B-1848-B301-582F958FE61B}"/>
              </a:ext>
            </a:extLst>
          </p:cNvPr>
          <p:cNvSpPr>
            <a:spLocks noChangeArrowheads="1"/>
          </p:cNvSpPr>
          <p:nvPr/>
        </p:nvSpPr>
        <p:spPr bwMode="auto">
          <a:xfrm>
            <a:off x="6467476" y="4403725"/>
            <a:ext cx="238125" cy="261938"/>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79942" name="AutoShape 71">
            <a:extLst>
              <a:ext uri="{FF2B5EF4-FFF2-40B4-BE49-F238E27FC236}">
                <a16:creationId xmlns:a16="http://schemas.microsoft.com/office/drawing/2014/main" id="{F361427D-27C1-EE40-A129-193D4B9BDAA8}"/>
              </a:ext>
            </a:extLst>
          </p:cNvPr>
          <p:cNvSpPr>
            <a:spLocks noChangeArrowheads="1"/>
          </p:cNvSpPr>
          <p:nvPr/>
        </p:nvSpPr>
        <p:spPr bwMode="auto">
          <a:xfrm>
            <a:off x="8534400" y="12192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79943" name="AutoShape 72">
            <a:extLst>
              <a:ext uri="{FF2B5EF4-FFF2-40B4-BE49-F238E27FC236}">
                <a16:creationId xmlns:a16="http://schemas.microsoft.com/office/drawing/2014/main" id="{242D665F-4B9C-BC4A-B094-643B101EF5C4}"/>
              </a:ext>
            </a:extLst>
          </p:cNvPr>
          <p:cNvSpPr>
            <a:spLocks noChangeArrowheads="1"/>
          </p:cNvSpPr>
          <p:nvPr/>
        </p:nvSpPr>
        <p:spPr bwMode="auto">
          <a:xfrm>
            <a:off x="8534400" y="16764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79944" name="AutoShape 73">
            <a:extLst>
              <a:ext uri="{FF2B5EF4-FFF2-40B4-BE49-F238E27FC236}">
                <a16:creationId xmlns:a16="http://schemas.microsoft.com/office/drawing/2014/main" id="{311C29A3-E17B-0C41-A22E-DBFA7EF1C159}"/>
              </a:ext>
            </a:extLst>
          </p:cNvPr>
          <p:cNvSpPr>
            <a:spLocks noChangeArrowheads="1"/>
          </p:cNvSpPr>
          <p:nvPr/>
        </p:nvSpPr>
        <p:spPr bwMode="auto">
          <a:xfrm>
            <a:off x="8534400" y="20574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79945" name="AutoShape 74">
            <a:extLst>
              <a:ext uri="{FF2B5EF4-FFF2-40B4-BE49-F238E27FC236}">
                <a16:creationId xmlns:a16="http://schemas.microsoft.com/office/drawing/2014/main" id="{16BA4273-2AC1-3041-99AB-E964C3D77B41}"/>
              </a:ext>
            </a:extLst>
          </p:cNvPr>
          <p:cNvSpPr>
            <a:spLocks noChangeArrowheads="1"/>
          </p:cNvSpPr>
          <p:nvPr/>
        </p:nvSpPr>
        <p:spPr bwMode="auto">
          <a:xfrm>
            <a:off x="8534400" y="33528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79946" name="AutoShape 75">
            <a:extLst>
              <a:ext uri="{FF2B5EF4-FFF2-40B4-BE49-F238E27FC236}">
                <a16:creationId xmlns:a16="http://schemas.microsoft.com/office/drawing/2014/main" id="{3D859394-A02B-CD46-8EA1-664E6EF11E99}"/>
              </a:ext>
            </a:extLst>
          </p:cNvPr>
          <p:cNvSpPr>
            <a:spLocks noChangeArrowheads="1"/>
          </p:cNvSpPr>
          <p:nvPr/>
        </p:nvSpPr>
        <p:spPr bwMode="auto">
          <a:xfrm>
            <a:off x="8534400" y="28194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79947" name="AutoShape 76">
            <a:extLst>
              <a:ext uri="{FF2B5EF4-FFF2-40B4-BE49-F238E27FC236}">
                <a16:creationId xmlns:a16="http://schemas.microsoft.com/office/drawing/2014/main" id="{353AD444-E762-AC4A-B970-ECDAD027EA5D}"/>
              </a:ext>
            </a:extLst>
          </p:cNvPr>
          <p:cNvSpPr>
            <a:spLocks noChangeArrowheads="1"/>
          </p:cNvSpPr>
          <p:nvPr/>
        </p:nvSpPr>
        <p:spPr bwMode="auto">
          <a:xfrm>
            <a:off x="8547100" y="5121275"/>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79948" name="AutoShape 77">
            <a:extLst>
              <a:ext uri="{FF2B5EF4-FFF2-40B4-BE49-F238E27FC236}">
                <a16:creationId xmlns:a16="http://schemas.microsoft.com/office/drawing/2014/main" id="{75DEF30E-CD37-624E-B7CA-49A513F7B31F}"/>
              </a:ext>
            </a:extLst>
          </p:cNvPr>
          <p:cNvSpPr>
            <a:spLocks noChangeArrowheads="1"/>
          </p:cNvSpPr>
          <p:nvPr/>
        </p:nvSpPr>
        <p:spPr bwMode="auto">
          <a:xfrm>
            <a:off x="8547100" y="5578475"/>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79949" name="AutoShape 78">
            <a:extLst>
              <a:ext uri="{FF2B5EF4-FFF2-40B4-BE49-F238E27FC236}">
                <a16:creationId xmlns:a16="http://schemas.microsoft.com/office/drawing/2014/main" id="{7510E82C-E9D1-5A42-80FA-96B387C02E91}"/>
              </a:ext>
            </a:extLst>
          </p:cNvPr>
          <p:cNvSpPr>
            <a:spLocks noChangeArrowheads="1"/>
          </p:cNvSpPr>
          <p:nvPr/>
        </p:nvSpPr>
        <p:spPr bwMode="auto">
          <a:xfrm>
            <a:off x="8534400" y="6065838"/>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79950" name="AutoShape 79">
            <a:extLst>
              <a:ext uri="{FF2B5EF4-FFF2-40B4-BE49-F238E27FC236}">
                <a16:creationId xmlns:a16="http://schemas.microsoft.com/office/drawing/2014/main" id="{A110FCC4-1858-284F-8C5B-FAF3FC22DEE7}"/>
              </a:ext>
            </a:extLst>
          </p:cNvPr>
          <p:cNvSpPr>
            <a:spLocks noChangeArrowheads="1"/>
          </p:cNvSpPr>
          <p:nvPr/>
        </p:nvSpPr>
        <p:spPr bwMode="auto">
          <a:xfrm>
            <a:off x="8547100" y="41148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79951" name="AutoShape 80">
            <a:extLst>
              <a:ext uri="{FF2B5EF4-FFF2-40B4-BE49-F238E27FC236}">
                <a16:creationId xmlns:a16="http://schemas.microsoft.com/office/drawing/2014/main" id="{025FC6BD-5CD7-954E-8B74-912269EF0B73}"/>
              </a:ext>
            </a:extLst>
          </p:cNvPr>
          <p:cNvSpPr>
            <a:spLocks noChangeArrowheads="1"/>
          </p:cNvSpPr>
          <p:nvPr/>
        </p:nvSpPr>
        <p:spPr bwMode="auto">
          <a:xfrm>
            <a:off x="8547100" y="45720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79952" name="Text Box 81">
            <a:extLst>
              <a:ext uri="{FF2B5EF4-FFF2-40B4-BE49-F238E27FC236}">
                <a16:creationId xmlns:a16="http://schemas.microsoft.com/office/drawing/2014/main" id="{7074B876-63E9-AC40-B7C6-4740A4AF4052}"/>
              </a:ext>
            </a:extLst>
          </p:cNvPr>
          <p:cNvSpPr txBox="1">
            <a:spLocks noChangeArrowheads="1"/>
          </p:cNvSpPr>
          <p:nvPr/>
        </p:nvSpPr>
        <p:spPr bwMode="auto">
          <a:xfrm>
            <a:off x="4343400" y="164465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0.20</a:t>
            </a:r>
          </a:p>
        </p:txBody>
      </p:sp>
      <p:sp>
        <p:nvSpPr>
          <p:cNvPr id="79953" name="Text Box 82">
            <a:extLst>
              <a:ext uri="{FF2B5EF4-FFF2-40B4-BE49-F238E27FC236}">
                <a16:creationId xmlns:a16="http://schemas.microsoft.com/office/drawing/2014/main" id="{828EC6BD-A8A6-7C46-9E94-90A2CE4729A9}"/>
              </a:ext>
            </a:extLst>
          </p:cNvPr>
          <p:cNvSpPr txBox="1">
            <a:spLocks noChangeArrowheads="1"/>
          </p:cNvSpPr>
          <p:nvPr/>
        </p:nvSpPr>
        <p:spPr bwMode="auto">
          <a:xfrm>
            <a:off x="4343400" y="228600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0.80</a:t>
            </a:r>
          </a:p>
        </p:txBody>
      </p:sp>
      <p:sp>
        <p:nvSpPr>
          <p:cNvPr id="79954" name="Text Box 83">
            <a:extLst>
              <a:ext uri="{FF2B5EF4-FFF2-40B4-BE49-F238E27FC236}">
                <a16:creationId xmlns:a16="http://schemas.microsoft.com/office/drawing/2014/main" id="{8C9BF5B9-F022-024C-A0A4-852BC2C53195}"/>
              </a:ext>
            </a:extLst>
          </p:cNvPr>
          <p:cNvSpPr txBox="1">
            <a:spLocks noChangeArrowheads="1"/>
          </p:cNvSpPr>
          <p:nvPr/>
        </p:nvSpPr>
        <p:spPr bwMode="auto">
          <a:xfrm>
            <a:off x="6019800" y="133985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0.001</a:t>
            </a:r>
          </a:p>
        </p:txBody>
      </p:sp>
      <p:sp>
        <p:nvSpPr>
          <p:cNvPr id="79955" name="Text Box 84">
            <a:extLst>
              <a:ext uri="{FF2B5EF4-FFF2-40B4-BE49-F238E27FC236}">
                <a16:creationId xmlns:a16="http://schemas.microsoft.com/office/drawing/2014/main" id="{754684D5-1D36-5543-921D-08D09DF8E846}"/>
              </a:ext>
            </a:extLst>
          </p:cNvPr>
          <p:cNvSpPr txBox="1">
            <a:spLocks noChangeArrowheads="1"/>
          </p:cNvSpPr>
          <p:nvPr/>
        </p:nvSpPr>
        <p:spPr bwMode="auto">
          <a:xfrm>
            <a:off x="6019800" y="194945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0.999</a:t>
            </a:r>
          </a:p>
        </p:txBody>
      </p:sp>
      <p:sp>
        <p:nvSpPr>
          <p:cNvPr id="79956" name="Text Box 85">
            <a:extLst>
              <a:ext uri="{FF2B5EF4-FFF2-40B4-BE49-F238E27FC236}">
                <a16:creationId xmlns:a16="http://schemas.microsoft.com/office/drawing/2014/main" id="{31E485FF-87BA-8345-B7D4-FE84267A1C1A}"/>
              </a:ext>
            </a:extLst>
          </p:cNvPr>
          <p:cNvSpPr txBox="1">
            <a:spLocks noChangeArrowheads="1"/>
          </p:cNvSpPr>
          <p:nvPr/>
        </p:nvSpPr>
        <p:spPr bwMode="auto">
          <a:xfrm>
            <a:off x="4419600" y="556260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0.20</a:t>
            </a:r>
          </a:p>
        </p:txBody>
      </p:sp>
      <p:sp>
        <p:nvSpPr>
          <p:cNvPr id="79957" name="Text Box 86">
            <a:extLst>
              <a:ext uri="{FF2B5EF4-FFF2-40B4-BE49-F238E27FC236}">
                <a16:creationId xmlns:a16="http://schemas.microsoft.com/office/drawing/2014/main" id="{B977A998-63E0-3F4C-89C7-C1432078C117}"/>
              </a:ext>
            </a:extLst>
          </p:cNvPr>
          <p:cNvSpPr txBox="1">
            <a:spLocks noChangeArrowheads="1"/>
          </p:cNvSpPr>
          <p:nvPr/>
        </p:nvSpPr>
        <p:spPr bwMode="auto">
          <a:xfrm>
            <a:off x="4419600" y="629285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0.80</a:t>
            </a:r>
          </a:p>
        </p:txBody>
      </p:sp>
      <p:sp>
        <p:nvSpPr>
          <p:cNvPr id="79958" name="Text Box 87">
            <a:extLst>
              <a:ext uri="{FF2B5EF4-FFF2-40B4-BE49-F238E27FC236}">
                <a16:creationId xmlns:a16="http://schemas.microsoft.com/office/drawing/2014/main" id="{9B4DDB53-DC27-E743-9569-ADF97A4DAD37}"/>
              </a:ext>
            </a:extLst>
          </p:cNvPr>
          <p:cNvSpPr txBox="1">
            <a:spLocks noChangeArrowheads="1"/>
          </p:cNvSpPr>
          <p:nvPr/>
        </p:nvSpPr>
        <p:spPr bwMode="auto">
          <a:xfrm>
            <a:off x="6019800" y="525780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0.02</a:t>
            </a:r>
          </a:p>
        </p:txBody>
      </p:sp>
      <p:sp>
        <p:nvSpPr>
          <p:cNvPr id="79959" name="Text Box 88">
            <a:extLst>
              <a:ext uri="{FF2B5EF4-FFF2-40B4-BE49-F238E27FC236}">
                <a16:creationId xmlns:a16="http://schemas.microsoft.com/office/drawing/2014/main" id="{26A93271-4741-404F-B8CE-589E9EF52326}"/>
              </a:ext>
            </a:extLst>
          </p:cNvPr>
          <p:cNvSpPr txBox="1">
            <a:spLocks noChangeArrowheads="1"/>
          </p:cNvSpPr>
          <p:nvPr/>
        </p:nvSpPr>
        <p:spPr bwMode="auto">
          <a:xfrm>
            <a:off x="6019800" y="583565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0.98</a:t>
            </a:r>
          </a:p>
        </p:txBody>
      </p:sp>
      <p:sp>
        <p:nvSpPr>
          <p:cNvPr id="79960" name="Text Box 89">
            <a:extLst>
              <a:ext uri="{FF2B5EF4-FFF2-40B4-BE49-F238E27FC236}">
                <a16:creationId xmlns:a16="http://schemas.microsoft.com/office/drawing/2014/main" id="{BCEBFE59-AB7A-4841-A119-97480893C307}"/>
              </a:ext>
            </a:extLst>
          </p:cNvPr>
          <p:cNvSpPr txBox="1">
            <a:spLocks noChangeArrowheads="1"/>
          </p:cNvSpPr>
          <p:nvPr/>
        </p:nvSpPr>
        <p:spPr bwMode="auto">
          <a:xfrm>
            <a:off x="4343400" y="327660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0.20</a:t>
            </a:r>
          </a:p>
        </p:txBody>
      </p:sp>
      <p:sp>
        <p:nvSpPr>
          <p:cNvPr id="79961" name="Text Box 90">
            <a:extLst>
              <a:ext uri="{FF2B5EF4-FFF2-40B4-BE49-F238E27FC236}">
                <a16:creationId xmlns:a16="http://schemas.microsoft.com/office/drawing/2014/main" id="{63EEFC7C-BE4E-6140-8940-3D7DBD2F4BE4}"/>
              </a:ext>
            </a:extLst>
          </p:cNvPr>
          <p:cNvSpPr txBox="1">
            <a:spLocks noChangeArrowheads="1"/>
          </p:cNvSpPr>
          <p:nvPr/>
        </p:nvSpPr>
        <p:spPr bwMode="auto">
          <a:xfrm>
            <a:off x="4343400" y="446405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0.80</a:t>
            </a:r>
          </a:p>
        </p:txBody>
      </p:sp>
      <p:sp>
        <p:nvSpPr>
          <p:cNvPr id="79962" name="Text Box 91">
            <a:extLst>
              <a:ext uri="{FF2B5EF4-FFF2-40B4-BE49-F238E27FC236}">
                <a16:creationId xmlns:a16="http://schemas.microsoft.com/office/drawing/2014/main" id="{557CF415-917F-7F43-B6B6-600C5E5D277F}"/>
              </a:ext>
            </a:extLst>
          </p:cNvPr>
          <p:cNvSpPr txBox="1">
            <a:spLocks noChangeArrowheads="1"/>
          </p:cNvSpPr>
          <p:nvPr/>
        </p:nvSpPr>
        <p:spPr bwMode="auto">
          <a:xfrm>
            <a:off x="6629400" y="297180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0.01</a:t>
            </a:r>
          </a:p>
        </p:txBody>
      </p:sp>
      <p:sp>
        <p:nvSpPr>
          <p:cNvPr id="79963" name="Text Box 92">
            <a:extLst>
              <a:ext uri="{FF2B5EF4-FFF2-40B4-BE49-F238E27FC236}">
                <a16:creationId xmlns:a16="http://schemas.microsoft.com/office/drawing/2014/main" id="{57C0702B-289F-5141-96F2-5AC6647C1D65}"/>
              </a:ext>
            </a:extLst>
          </p:cNvPr>
          <p:cNvSpPr txBox="1">
            <a:spLocks noChangeArrowheads="1"/>
          </p:cNvSpPr>
          <p:nvPr/>
        </p:nvSpPr>
        <p:spPr bwMode="auto">
          <a:xfrm>
            <a:off x="6629400" y="358140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0.99</a:t>
            </a:r>
          </a:p>
        </p:txBody>
      </p:sp>
      <p:sp>
        <p:nvSpPr>
          <p:cNvPr id="79964" name="Text Box 93">
            <a:extLst>
              <a:ext uri="{FF2B5EF4-FFF2-40B4-BE49-F238E27FC236}">
                <a16:creationId xmlns:a16="http://schemas.microsoft.com/office/drawing/2014/main" id="{7054E0C0-C2A9-4E41-9190-8EC5CB028233}"/>
              </a:ext>
            </a:extLst>
          </p:cNvPr>
          <p:cNvSpPr txBox="1">
            <a:spLocks noChangeArrowheads="1"/>
          </p:cNvSpPr>
          <p:nvPr/>
        </p:nvSpPr>
        <p:spPr bwMode="auto">
          <a:xfrm>
            <a:off x="7010400" y="419100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a:t>
            </a:r>
          </a:p>
        </p:txBody>
      </p:sp>
      <p:sp>
        <p:nvSpPr>
          <p:cNvPr id="79965" name="Text Box 94">
            <a:extLst>
              <a:ext uri="{FF2B5EF4-FFF2-40B4-BE49-F238E27FC236}">
                <a16:creationId xmlns:a16="http://schemas.microsoft.com/office/drawing/2014/main" id="{FDB6215F-0ECC-EA4B-8BDE-39AF38D5637E}"/>
              </a:ext>
            </a:extLst>
          </p:cNvPr>
          <p:cNvSpPr txBox="1">
            <a:spLocks noChangeArrowheads="1"/>
          </p:cNvSpPr>
          <p:nvPr/>
        </p:nvSpPr>
        <p:spPr bwMode="auto">
          <a:xfrm>
            <a:off x="7010400" y="480060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1</a:t>
            </a:r>
          </a:p>
        </p:txBody>
      </p:sp>
      <p:sp>
        <p:nvSpPr>
          <p:cNvPr id="79966" name="Text Box 95">
            <a:extLst>
              <a:ext uri="{FF2B5EF4-FFF2-40B4-BE49-F238E27FC236}">
                <a16:creationId xmlns:a16="http://schemas.microsoft.com/office/drawing/2014/main" id="{A1AD26F1-E1B8-B842-BA97-D72AE91670B3}"/>
              </a:ext>
            </a:extLst>
          </p:cNvPr>
          <p:cNvSpPr txBox="1">
            <a:spLocks noChangeArrowheads="1"/>
          </p:cNvSpPr>
          <p:nvPr/>
        </p:nvSpPr>
        <p:spPr bwMode="auto">
          <a:xfrm>
            <a:off x="9144000" y="4953001"/>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0.3</a:t>
            </a:r>
          </a:p>
        </p:txBody>
      </p:sp>
      <p:sp>
        <p:nvSpPr>
          <p:cNvPr id="79967" name="Text Box 96">
            <a:extLst>
              <a:ext uri="{FF2B5EF4-FFF2-40B4-BE49-F238E27FC236}">
                <a16:creationId xmlns:a16="http://schemas.microsoft.com/office/drawing/2014/main" id="{31F146CD-AE0B-CD4D-8170-E50FDA0FF45D}"/>
              </a:ext>
            </a:extLst>
          </p:cNvPr>
          <p:cNvSpPr txBox="1">
            <a:spLocks noChangeArrowheads="1"/>
          </p:cNvSpPr>
          <p:nvPr/>
        </p:nvSpPr>
        <p:spPr bwMode="auto">
          <a:xfrm>
            <a:off x="9110663" y="1157289"/>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0.3</a:t>
            </a:r>
          </a:p>
        </p:txBody>
      </p:sp>
      <p:sp>
        <p:nvSpPr>
          <p:cNvPr id="79968" name="Text Box 97">
            <a:extLst>
              <a:ext uri="{FF2B5EF4-FFF2-40B4-BE49-F238E27FC236}">
                <a16:creationId xmlns:a16="http://schemas.microsoft.com/office/drawing/2014/main" id="{CCF71875-CB3E-AF47-8EE7-FA1FAEE8DA9D}"/>
              </a:ext>
            </a:extLst>
          </p:cNvPr>
          <p:cNvSpPr txBox="1">
            <a:spLocks noChangeArrowheads="1"/>
          </p:cNvSpPr>
          <p:nvPr/>
        </p:nvSpPr>
        <p:spPr bwMode="auto">
          <a:xfrm>
            <a:off x="9110664" y="1538289"/>
            <a:ext cx="10239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FF0066"/>
                </a:solidFill>
                <a:latin typeface="Times New Roman" panose="02020603050405020304" pitchFamily="18" charset="0"/>
              </a:rPr>
              <a:t>p</a:t>
            </a:r>
          </a:p>
        </p:txBody>
      </p:sp>
      <p:sp>
        <p:nvSpPr>
          <p:cNvPr id="79969" name="Text Box 98">
            <a:extLst>
              <a:ext uri="{FF2B5EF4-FFF2-40B4-BE49-F238E27FC236}">
                <a16:creationId xmlns:a16="http://schemas.microsoft.com/office/drawing/2014/main" id="{68947FE7-3CF6-E94D-BFC0-3CE9E89453D4}"/>
              </a:ext>
            </a:extLst>
          </p:cNvPr>
          <p:cNvSpPr txBox="1">
            <a:spLocks noChangeArrowheads="1"/>
          </p:cNvSpPr>
          <p:nvPr/>
        </p:nvSpPr>
        <p:spPr bwMode="auto">
          <a:xfrm>
            <a:off x="9110664" y="1995489"/>
            <a:ext cx="10239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FF0066"/>
                </a:solidFill>
                <a:latin typeface="Times New Roman" panose="02020603050405020304" pitchFamily="18" charset="0"/>
              </a:rPr>
              <a:t>p</a:t>
            </a:r>
          </a:p>
        </p:txBody>
      </p:sp>
      <p:sp>
        <p:nvSpPr>
          <p:cNvPr id="79970" name="Text Box 99">
            <a:extLst>
              <a:ext uri="{FF2B5EF4-FFF2-40B4-BE49-F238E27FC236}">
                <a16:creationId xmlns:a16="http://schemas.microsoft.com/office/drawing/2014/main" id="{D475FBC9-BE1F-B744-8B8D-A627394D132E}"/>
              </a:ext>
            </a:extLst>
          </p:cNvPr>
          <p:cNvSpPr txBox="1">
            <a:spLocks noChangeArrowheads="1"/>
          </p:cNvSpPr>
          <p:nvPr/>
        </p:nvSpPr>
        <p:spPr bwMode="auto">
          <a:xfrm>
            <a:off x="9110663" y="5486401"/>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a:t>
            </a:r>
          </a:p>
        </p:txBody>
      </p:sp>
      <p:sp>
        <p:nvSpPr>
          <p:cNvPr id="79971" name="Text Box 100">
            <a:extLst>
              <a:ext uri="{FF2B5EF4-FFF2-40B4-BE49-F238E27FC236}">
                <a16:creationId xmlns:a16="http://schemas.microsoft.com/office/drawing/2014/main" id="{E2FABD30-A7EA-D54E-9DD8-D10485A0E6FB}"/>
              </a:ext>
            </a:extLst>
          </p:cNvPr>
          <p:cNvSpPr txBox="1">
            <a:spLocks noChangeArrowheads="1"/>
          </p:cNvSpPr>
          <p:nvPr/>
        </p:nvSpPr>
        <p:spPr bwMode="auto">
          <a:xfrm>
            <a:off x="9110663" y="5943601"/>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a:t>
            </a:r>
          </a:p>
        </p:txBody>
      </p:sp>
      <p:sp>
        <p:nvSpPr>
          <p:cNvPr id="79972" name="Text Box 101">
            <a:extLst>
              <a:ext uri="{FF2B5EF4-FFF2-40B4-BE49-F238E27FC236}">
                <a16:creationId xmlns:a16="http://schemas.microsoft.com/office/drawing/2014/main" id="{B1BCB188-D40C-1049-95B3-C831818A7DEE}"/>
              </a:ext>
            </a:extLst>
          </p:cNvPr>
          <p:cNvSpPr txBox="1">
            <a:spLocks noChangeArrowheads="1"/>
          </p:cNvSpPr>
          <p:nvPr/>
        </p:nvSpPr>
        <p:spPr bwMode="auto">
          <a:xfrm>
            <a:off x="9110663" y="4495801"/>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a:t>
            </a:r>
          </a:p>
        </p:txBody>
      </p:sp>
      <p:sp>
        <p:nvSpPr>
          <p:cNvPr id="79973" name="Text Box 102">
            <a:extLst>
              <a:ext uri="{FF2B5EF4-FFF2-40B4-BE49-F238E27FC236}">
                <a16:creationId xmlns:a16="http://schemas.microsoft.com/office/drawing/2014/main" id="{3C4CC8B9-465F-FC4C-9A1D-31FC893F0722}"/>
              </a:ext>
            </a:extLst>
          </p:cNvPr>
          <p:cNvSpPr txBox="1">
            <a:spLocks noChangeArrowheads="1"/>
          </p:cNvSpPr>
          <p:nvPr/>
        </p:nvSpPr>
        <p:spPr bwMode="auto">
          <a:xfrm>
            <a:off x="9110663" y="4038601"/>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0.3</a:t>
            </a:r>
          </a:p>
        </p:txBody>
      </p:sp>
      <p:sp>
        <p:nvSpPr>
          <p:cNvPr id="79974" name="Text Box 103">
            <a:extLst>
              <a:ext uri="{FF2B5EF4-FFF2-40B4-BE49-F238E27FC236}">
                <a16:creationId xmlns:a16="http://schemas.microsoft.com/office/drawing/2014/main" id="{E1A6EC02-D946-804D-A58E-95DC84F4AB7D}"/>
              </a:ext>
            </a:extLst>
          </p:cNvPr>
          <p:cNvSpPr txBox="1">
            <a:spLocks noChangeArrowheads="1"/>
          </p:cNvSpPr>
          <p:nvPr/>
        </p:nvSpPr>
        <p:spPr bwMode="auto">
          <a:xfrm>
            <a:off x="9110663" y="2649539"/>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0.3</a:t>
            </a:r>
          </a:p>
        </p:txBody>
      </p:sp>
      <p:sp>
        <p:nvSpPr>
          <p:cNvPr id="79975" name="Text Box 104">
            <a:extLst>
              <a:ext uri="{FF2B5EF4-FFF2-40B4-BE49-F238E27FC236}">
                <a16:creationId xmlns:a16="http://schemas.microsoft.com/office/drawing/2014/main" id="{975C94F8-108C-B84F-A26C-1A4A840B3C48}"/>
              </a:ext>
            </a:extLst>
          </p:cNvPr>
          <p:cNvSpPr txBox="1">
            <a:spLocks noChangeArrowheads="1"/>
          </p:cNvSpPr>
          <p:nvPr/>
        </p:nvSpPr>
        <p:spPr bwMode="auto">
          <a:xfrm>
            <a:off x="9110664" y="3259139"/>
            <a:ext cx="10239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FF0066"/>
                </a:solidFill>
                <a:latin typeface="Times New Roman" panose="02020603050405020304" pitchFamily="18" charset="0"/>
              </a:rPr>
              <a:t>p</a:t>
            </a:r>
          </a:p>
        </p:txBody>
      </p:sp>
      <p:sp>
        <p:nvSpPr>
          <p:cNvPr id="295017" name="AutoShape 105">
            <a:extLst>
              <a:ext uri="{FF2B5EF4-FFF2-40B4-BE49-F238E27FC236}">
                <a16:creationId xmlns:a16="http://schemas.microsoft.com/office/drawing/2014/main" id="{6A84594B-86A5-5247-B993-4ECCDE4EB0E5}"/>
              </a:ext>
            </a:extLst>
          </p:cNvPr>
          <p:cNvSpPr>
            <a:spLocks noChangeArrowheads="1"/>
          </p:cNvSpPr>
          <p:nvPr/>
        </p:nvSpPr>
        <p:spPr bwMode="auto">
          <a:xfrm flipH="1">
            <a:off x="2286000" y="2514600"/>
            <a:ext cx="7010400" cy="990600"/>
          </a:xfrm>
          <a:prstGeom prst="wedgeEllipseCallout">
            <a:avLst>
              <a:gd name="adj1" fmla="val 24523"/>
              <a:gd name="adj2" fmla="val -115708"/>
            </a:avLst>
          </a:prstGeom>
          <a:solidFill>
            <a:srgbClr val="FFFF99"/>
          </a:solidFill>
          <a:ln w="9525">
            <a:solidFill>
              <a:schemeClr val="tx1"/>
            </a:solidFill>
            <a:miter lim="800000"/>
            <a:headEnd/>
            <a:tailEnd/>
          </a:ln>
        </p:spPr>
        <p:txBody>
          <a:bodyPr anchor="ctr" anchorCtr="1"/>
          <a:lstStyle>
            <a:lvl1pPr marL="342900" indent="-342900" eaLnBrk="0" hangingPunct="0">
              <a:defRPr sz="2400">
                <a:solidFill>
                  <a:schemeClr val="tx1"/>
                </a:solidFill>
                <a:latin typeface="Arial" panose="020B0604020202020204" pitchFamily="34" charset="0"/>
                <a:ea typeface="ＭＳ Ｐゴシック" panose="020B0600070205080204" pitchFamily="34" charset="-128"/>
              </a:defRPr>
            </a:lvl1pPr>
            <a:lvl2pPr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lvl="1" algn="ctr"/>
            <a:r>
              <a:rPr lang="en-US" altLang="en-MX">
                <a:solidFill>
                  <a:srgbClr val="000000"/>
                </a:solidFill>
              </a:rPr>
              <a:t>EV(Spray) = 0.2[(0.001)(0.3) + 0.999p] +0.8p</a:t>
            </a:r>
          </a:p>
        </p:txBody>
      </p:sp>
      <p:sp>
        <p:nvSpPr>
          <p:cNvPr id="295019" name="AutoShape 107">
            <a:extLst>
              <a:ext uri="{FF2B5EF4-FFF2-40B4-BE49-F238E27FC236}">
                <a16:creationId xmlns:a16="http://schemas.microsoft.com/office/drawing/2014/main" id="{AFB6FF75-B7DF-454E-9E57-F43A404DED02}"/>
              </a:ext>
            </a:extLst>
          </p:cNvPr>
          <p:cNvSpPr>
            <a:spLocks noChangeArrowheads="1"/>
          </p:cNvSpPr>
          <p:nvPr/>
        </p:nvSpPr>
        <p:spPr bwMode="auto">
          <a:xfrm flipH="1">
            <a:off x="2438400" y="4800600"/>
            <a:ext cx="6248400" cy="914400"/>
          </a:xfrm>
          <a:prstGeom prst="wedgeEllipseCallout">
            <a:avLst>
              <a:gd name="adj1" fmla="val 25199"/>
              <a:gd name="adj2" fmla="val -129861"/>
            </a:avLst>
          </a:prstGeom>
          <a:solidFill>
            <a:srgbClr val="FFFF99"/>
          </a:solidFill>
          <a:ln w="9525">
            <a:solidFill>
              <a:schemeClr val="tx1"/>
            </a:solidFill>
            <a:miter lim="800000"/>
            <a:headEnd/>
            <a:tailEnd/>
          </a:ln>
        </p:spPr>
        <p:txBody>
          <a:bodyPr anchor="ctr" anchorCtr="1"/>
          <a:lstStyle>
            <a:lvl1pPr marL="342900" indent="-342900" eaLnBrk="0" hangingPunct="0">
              <a:defRPr sz="2400">
                <a:solidFill>
                  <a:schemeClr val="tx1"/>
                </a:solidFill>
                <a:latin typeface="Arial" panose="020B0604020202020204" pitchFamily="34" charset="0"/>
                <a:ea typeface="ＭＳ Ｐゴシック" panose="020B0600070205080204" pitchFamily="34" charset="-128"/>
              </a:defRPr>
            </a:lvl1pPr>
            <a:lvl2pPr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lvl="1" algn="ctr"/>
            <a:r>
              <a:rPr lang="en-US" altLang="en-MX">
                <a:solidFill>
                  <a:srgbClr val="000000"/>
                </a:solidFill>
              </a:rPr>
              <a:t>EV(Test) = 0.2[(0.01)(0.3) + 0.99p] + (0.8)(0)</a:t>
            </a:r>
          </a:p>
        </p:txBody>
      </p:sp>
    </p:spTree>
    <p:extLst>
      <p:ext uri="{BB962C8B-B14F-4D97-AF65-F5344CB8AC3E}">
        <p14:creationId xmlns:p14="http://schemas.microsoft.com/office/powerpoint/2010/main" val="10917054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501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50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5017" grpId="0" animBg="1"/>
      <p:bldP spid="295019"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2">
            <a:extLst>
              <a:ext uri="{FF2B5EF4-FFF2-40B4-BE49-F238E27FC236}">
                <a16:creationId xmlns:a16="http://schemas.microsoft.com/office/drawing/2014/main" id="{6A604852-1F39-0E42-B5AC-D85BCACEBE74}"/>
              </a:ext>
            </a:extLst>
          </p:cNvPr>
          <p:cNvSpPr>
            <a:spLocks noGrp="1" noChangeArrowheads="1"/>
          </p:cNvSpPr>
          <p:nvPr>
            <p:ph type="title"/>
          </p:nvPr>
        </p:nvSpPr>
        <p:spPr>
          <a:xfrm>
            <a:off x="755374" y="381000"/>
            <a:ext cx="9455426" cy="762000"/>
          </a:xfrm>
        </p:spPr>
        <p:txBody>
          <a:bodyPr>
            <a:normAutofit/>
          </a:bodyPr>
          <a:lstStyle/>
          <a:p>
            <a:pPr eaLnBrk="1" hangingPunct="1"/>
            <a:r>
              <a:rPr lang="en-US" altLang="en-MX" dirty="0">
                <a:ea typeface="ＭＳ Ｐゴシック" panose="020B0600070205080204" pitchFamily="34" charset="-128"/>
              </a:rPr>
              <a:t>Test – Spray Threshold</a:t>
            </a:r>
          </a:p>
        </p:txBody>
      </p:sp>
      <p:sp>
        <p:nvSpPr>
          <p:cNvPr id="81922" name="Rectangle 3">
            <a:extLst>
              <a:ext uri="{FF2B5EF4-FFF2-40B4-BE49-F238E27FC236}">
                <a16:creationId xmlns:a16="http://schemas.microsoft.com/office/drawing/2014/main" id="{AB801806-644B-DD48-AA0B-1ACE6393E5E6}"/>
              </a:ext>
            </a:extLst>
          </p:cNvPr>
          <p:cNvSpPr>
            <a:spLocks noGrp="1" noChangeArrowheads="1"/>
          </p:cNvSpPr>
          <p:nvPr>
            <p:ph type="body" idx="1"/>
          </p:nvPr>
        </p:nvSpPr>
        <p:spPr>
          <a:xfrm>
            <a:off x="755373" y="1524000"/>
            <a:ext cx="10525539" cy="4953000"/>
          </a:xfrm>
        </p:spPr>
        <p:txBody>
          <a:bodyPr>
            <a:normAutofit lnSpcReduction="10000"/>
          </a:bodyPr>
          <a:lstStyle/>
          <a:p>
            <a:pPr eaLnBrk="1" hangingPunct="1">
              <a:lnSpc>
                <a:spcPct val="90000"/>
              </a:lnSpc>
            </a:pPr>
            <a:r>
              <a:rPr lang="en-US" altLang="en-MX" dirty="0">
                <a:ea typeface="ＭＳ Ｐゴシック" panose="020B0600070205080204" pitchFamily="34" charset="-128"/>
              </a:rPr>
              <a:t>Consider </a:t>
            </a:r>
            <a:r>
              <a:rPr lang="en-US" altLang="en-MX" u="sng" dirty="0">
                <a:ea typeface="ＭＳ Ｐゴシック" panose="020B0600070205080204" pitchFamily="34" charset="-128"/>
              </a:rPr>
              <a:t>probability of death due to pesticide toxicity</a:t>
            </a:r>
            <a:r>
              <a:rPr lang="en-US" altLang="en-MX" dirty="0">
                <a:ea typeface="ＭＳ Ｐゴシック" panose="020B0600070205080204" pitchFamily="34" charset="-128"/>
              </a:rPr>
              <a:t> as the parameter of interest (</a:t>
            </a:r>
            <a:r>
              <a:rPr lang="en-US" altLang="en-MX" b="1" dirty="0">
                <a:solidFill>
                  <a:srgbClr val="990033"/>
                </a:solidFill>
                <a:ea typeface="ＭＳ Ｐゴシック" panose="020B0600070205080204" pitchFamily="34" charset="-128"/>
              </a:rPr>
              <a:t>p</a:t>
            </a:r>
            <a:r>
              <a:rPr lang="en-US" altLang="en-MX" dirty="0">
                <a:ea typeface="ＭＳ Ｐゴシック" panose="020B0600070205080204" pitchFamily="34" charset="-128"/>
              </a:rPr>
              <a:t>)</a:t>
            </a:r>
          </a:p>
          <a:p>
            <a:pPr eaLnBrk="1" hangingPunct="1">
              <a:lnSpc>
                <a:spcPct val="90000"/>
              </a:lnSpc>
              <a:buFontTx/>
              <a:buNone/>
            </a:pPr>
            <a:endParaRPr lang="en-US" altLang="en-MX" sz="1800" dirty="0">
              <a:ea typeface="ＭＳ Ｐゴシック" panose="020B0600070205080204" pitchFamily="34" charset="-128"/>
            </a:endParaRPr>
          </a:p>
          <a:p>
            <a:pPr eaLnBrk="1" hangingPunct="1">
              <a:lnSpc>
                <a:spcPct val="90000"/>
              </a:lnSpc>
              <a:buFontTx/>
              <a:buNone/>
            </a:pPr>
            <a:r>
              <a:rPr lang="en-US" altLang="en-MX" dirty="0">
                <a:ea typeface="ＭＳ Ｐゴシック" panose="020B0600070205080204" pitchFamily="34" charset="-128"/>
              </a:rPr>
              <a:t>	EV(Test) = 0.0006 + 0.198p</a:t>
            </a:r>
          </a:p>
          <a:p>
            <a:pPr eaLnBrk="1" hangingPunct="1">
              <a:lnSpc>
                <a:spcPct val="90000"/>
              </a:lnSpc>
              <a:buFontTx/>
              <a:buNone/>
            </a:pPr>
            <a:r>
              <a:rPr lang="en-US" altLang="en-MX" dirty="0">
                <a:ea typeface="ＭＳ Ｐゴシック" panose="020B0600070205080204" pitchFamily="34" charset="-128"/>
              </a:rPr>
              <a:t>	EV(Spray) = 0.00006 + 0.9998p</a:t>
            </a:r>
          </a:p>
          <a:p>
            <a:pPr marL="457200" lvl="1" indent="0">
              <a:buNone/>
            </a:pPr>
            <a:r>
              <a:rPr lang="en-US" altLang="en-MX" sz="3200" dirty="0">
                <a:ea typeface="ＭＳ Ｐゴシック" panose="020B0600070205080204" pitchFamily="34" charset="-128"/>
              </a:rPr>
              <a:t>    0.00006 + 0.198p = 0.0006 + 0.198p</a:t>
            </a:r>
          </a:p>
          <a:p>
            <a:pPr marL="457200" lvl="1" indent="0">
              <a:buNone/>
            </a:pPr>
            <a:r>
              <a:rPr lang="en-US" altLang="en-MX" sz="3200" dirty="0">
                <a:ea typeface="ＭＳ Ｐゴシック" panose="020B0600070205080204" pitchFamily="34" charset="-128"/>
              </a:rPr>
              <a:t>                       </a:t>
            </a:r>
            <a:r>
              <a:rPr lang="en-US" altLang="en-MX" sz="3200" b="1" dirty="0">
                <a:solidFill>
                  <a:srgbClr val="990033"/>
                </a:solidFill>
                <a:ea typeface="ＭＳ Ｐゴシック" panose="020B0600070205080204" pitchFamily="34" charset="-128"/>
              </a:rPr>
              <a:t>p = 0.00067</a:t>
            </a:r>
          </a:p>
          <a:p>
            <a:pPr eaLnBrk="1" hangingPunct="1">
              <a:lnSpc>
                <a:spcPct val="90000"/>
              </a:lnSpc>
              <a:buClr>
                <a:srgbClr val="000000"/>
              </a:buClr>
            </a:pPr>
            <a:endParaRPr lang="en-US" altLang="en-MX" dirty="0">
              <a:ea typeface="ＭＳ Ｐゴシック" panose="020B0600070205080204" pitchFamily="34" charset="-128"/>
            </a:endParaRPr>
          </a:p>
          <a:p>
            <a:pPr eaLnBrk="1" hangingPunct="1">
              <a:lnSpc>
                <a:spcPct val="90000"/>
              </a:lnSpc>
              <a:buClr>
                <a:srgbClr val="000000"/>
              </a:buClr>
              <a:buFontTx/>
              <a:buNone/>
            </a:pPr>
            <a:r>
              <a:rPr lang="en-US" altLang="en-MX" dirty="0">
                <a:ea typeface="ＭＳ Ｐゴシック" panose="020B0600070205080204" pitchFamily="34" charset="-128"/>
              </a:rPr>
              <a:t>	If p&gt;0.00067 we prefer </a:t>
            </a:r>
            <a:r>
              <a:rPr lang="ja-JP" altLang="en-US">
                <a:ea typeface="ＭＳ Ｐゴシック" panose="020B0600070205080204" pitchFamily="34" charset="-128"/>
              </a:rPr>
              <a:t>‘</a:t>
            </a:r>
            <a:r>
              <a:rPr lang="en-US" altLang="ja-JP" dirty="0">
                <a:ea typeface="ＭＳ Ｐゴシック" panose="020B0600070205080204" pitchFamily="34" charset="-128"/>
              </a:rPr>
              <a:t>Test</a:t>
            </a:r>
            <a:r>
              <a:rPr lang="ja-JP" altLang="en-US">
                <a:ea typeface="ＭＳ Ｐゴシック" panose="020B0600070205080204" pitchFamily="34" charset="-128"/>
              </a:rPr>
              <a:t>’</a:t>
            </a:r>
            <a:r>
              <a:rPr lang="en-US" altLang="ja-JP" dirty="0">
                <a:ea typeface="ＭＳ Ｐゴシック" panose="020B0600070205080204" pitchFamily="34" charset="-128"/>
              </a:rPr>
              <a:t> to </a:t>
            </a:r>
            <a:r>
              <a:rPr lang="ja-JP" altLang="en-US">
                <a:ea typeface="ＭＳ Ｐゴシック" panose="020B0600070205080204" pitchFamily="34" charset="-128"/>
              </a:rPr>
              <a:t>‘</a:t>
            </a:r>
            <a:r>
              <a:rPr lang="en-US" altLang="ja-JP" dirty="0">
                <a:ea typeface="ＭＳ Ｐゴシック" panose="020B0600070205080204" pitchFamily="34" charset="-128"/>
              </a:rPr>
              <a:t>Spray</a:t>
            </a:r>
            <a:r>
              <a:rPr lang="ja-JP" altLang="en-US">
                <a:ea typeface="ＭＳ Ｐゴシック" panose="020B0600070205080204" pitchFamily="34" charset="-128"/>
              </a:rPr>
              <a:t>’</a:t>
            </a:r>
            <a:endParaRPr lang="en-US" altLang="ja-JP" dirty="0">
              <a:ea typeface="ＭＳ Ｐゴシック" panose="020B0600070205080204" pitchFamily="34" charset="-128"/>
            </a:endParaRPr>
          </a:p>
          <a:p>
            <a:pPr eaLnBrk="1" hangingPunct="1">
              <a:lnSpc>
                <a:spcPct val="90000"/>
              </a:lnSpc>
              <a:buClr>
                <a:srgbClr val="000000"/>
              </a:buClr>
              <a:buFontTx/>
              <a:buNone/>
            </a:pPr>
            <a:r>
              <a:rPr lang="en-US" altLang="en-MX" dirty="0">
                <a:ea typeface="ＭＳ Ｐゴシック" panose="020B0600070205080204" pitchFamily="34" charset="-128"/>
              </a:rPr>
              <a:t>  	If p&lt;0.00067 we prefer </a:t>
            </a:r>
            <a:r>
              <a:rPr lang="ja-JP" altLang="en-US">
                <a:ea typeface="ＭＳ Ｐゴシック" panose="020B0600070205080204" pitchFamily="34" charset="-128"/>
              </a:rPr>
              <a:t>‘</a:t>
            </a:r>
            <a:r>
              <a:rPr lang="en-US" altLang="ja-JP" dirty="0">
                <a:ea typeface="ＭＳ Ｐゴシック" panose="020B0600070205080204" pitchFamily="34" charset="-128"/>
              </a:rPr>
              <a:t>Spray</a:t>
            </a:r>
            <a:r>
              <a:rPr lang="ja-JP" altLang="en-US">
                <a:ea typeface="ＭＳ Ｐゴシック" panose="020B0600070205080204" pitchFamily="34" charset="-128"/>
              </a:rPr>
              <a:t>’</a:t>
            </a:r>
            <a:r>
              <a:rPr lang="en-US" altLang="ja-JP" dirty="0">
                <a:ea typeface="ＭＳ Ｐゴシック" panose="020B0600070205080204" pitchFamily="34" charset="-128"/>
              </a:rPr>
              <a:t> to </a:t>
            </a:r>
            <a:r>
              <a:rPr lang="ja-JP" altLang="en-US">
                <a:ea typeface="ＭＳ Ｐゴシック" panose="020B0600070205080204" pitchFamily="34" charset="-128"/>
              </a:rPr>
              <a:t>‘</a:t>
            </a:r>
            <a:r>
              <a:rPr lang="en-US" altLang="ja-JP" dirty="0">
                <a:ea typeface="ＭＳ Ｐゴシック" panose="020B0600070205080204" pitchFamily="34" charset="-128"/>
              </a:rPr>
              <a:t>Test</a:t>
            </a:r>
            <a:r>
              <a:rPr lang="ja-JP" altLang="en-US">
                <a:ea typeface="ＭＳ Ｐゴシック" panose="020B0600070205080204" pitchFamily="34" charset="-128"/>
              </a:rPr>
              <a:t>’</a:t>
            </a:r>
            <a:endParaRPr lang="en-US" altLang="en-MX" dirty="0">
              <a:ea typeface="ＭＳ Ｐゴシック" panose="020B0600070205080204" pitchFamily="34" charset="-128"/>
            </a:endParaRPr>
          </a:p>
        </p:txBody>
      </p:sp>
      <p:sp>
        <p:nvSpPr>
          <p:cNvPr id="81923" name="Rectangle 4">
            <a:extLst>
              <a:ext uri="{FF2B5EF4-FFF2-40B4-BE49-F238E27FC236}">
                <a16:creationId xmlns:a16="http://schemas.microsoft.com/office/drawing/2014/main" id="{A0C96ACD-E55E-6D45-9F1F-5E8663F9B51A}"/>
              </a:ext>
            </a:extLst>
          </p:cNvPr>
          <p:cNvSpPr>
            <a:spLocks noChangeArrowheads="1"/>
          </p:cNvSpPr>
          <p:nvPr/>
        </p:nvSpPr>
        <p:spPr bwMode="auto">
          <a:xfrm>
            <a:off x="1021847" y="5019258"/>
            <a:ext cx="6830066" cy="1295400"/>
          </a:xfrm>
          <a:prstGeom prst="rect">
            <a:avLst/>
          </a:prstGeom>
          <a:solidFill>
            <a:schemeClr val="tx2">
              <a:alpha val="0"/>
            </a:schemeClr>
          </a:solidFill>
          <a:ln w="12700">
            <a:solidFill>
              <a:srgbClr val="00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Tree>
    <p:extLst>
      <p:ext uri="{BB962C8B-B14F-4D97-AF65-F5344CB8AC3E}">
        <p14:creationId xmlns:p14="http://schemas.microsoft.com/office/powerpoint/2010/main" val="331965999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2">
            <a:extLst>
              <a:ext uri="{FF2B5EF4-FFF2-40B4-BE49-F238E27FC236}">
                <a16:creationId xmlns:a16="http://schemas.microsoft.com/office/drawing/2014/main" id="{90F55672-8D5C-8C44-9F97-96F643F90F11}"/>
              </a:ext>
            </a:extLst>
          </p:cNvPr>
          <p:cNvSpPr>
            <a:spLocks noGrp="1" noChangeArrowheads="1"/>
          </p:cNvSpPr>
          <p:nvPr>
            <p:ph type="title"/>
          </p:nvPr>
        </p:nvSpPr>
        <p:spPr>
          <a:xfrm>
            <a:off x="775252" y="152400"/>
            <a:ext cx="9206948" cy="762000"/>
          </a:xfrm>
        </p:spPr>
        <p:txBody>
          <a:bodyPr/>
          <a:lstStyle/>
          <a:p>
            <a:pPr eaLnBrk="1" hangingPunct="1"/>
            <a:r>
              <a:rPr lang="en-US" altLang="en-MX" dirty="0">
                <a:ea typeface="ＭＳ Ｐゴシック" panose="020B0600070205080204" pitchFamily="34" charset="-128"/>
              </a:rPr>
              <a:t>Compare Spray with Don</a:t>
            </a:r>
            <a:r>
              <a:rPr lang="ja-JP" altLang="en-US">
                <a:ea typeface="ＭＳ Ｐゴシック" panose="020B0600070205080204" pitchFamily="34" charset="-128"/>
              </a:rPr>
              <a:t>’</a:t>
            </a:r>
            <a:r>
              <a:rPr lang="en-US" altLang="ja-JP" dirty="0">
                <a:ea typeface="ＭＳ Ｐゴシック" panose="020B0600070205080204" pitchFamily="34" charset="-128"/>
              </a:rPr>
              <a:t>t Spray</a:t>
            </a:r>
            <a:endParaRPr lang="en-US" altLang="en-MX" dirty="0">
              <a:ea typeface="ＭＳ Ｐゴシック" panose="020B0600070205080204" pitchFamily="34" charset="-128"/>
            </a:endParaRPr>
          </a:p>
        </p:txBody>
      </p:sp>
      <p:sp>
        <p:nvSpPr>
          <p:cNvPr id="83970" name="Line 3">
            <a:extLst>
              <a:ext uri="{FF2B5EF4-FFF2-40B4-BE49-F238E27FC236}">
                <a16:creationId xmlns:a16="http://schemas.microsoft.com/office/drawing/2014/main" id="{C1710DCA-C649-C044-8041-4E7C19635838}"/>
              </a:ext>
            </a:extLst>
          </p:cNvPr>
          <p:cNvSpPr>
            <a:spLocks noChangeShapeType="1"/>
          </p:cNvSpPr>
          <p:nvPr/>
        </p:nvSpPr>
        <p:spPr bwMode="auto">
          <a:xfrm>
            <a:off x="4114800" y="1676400"/>
            <a:ext cx="1447800"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83971" name="Rectangle 4">
            <a:extLst>
              <a:ext uri="{FF2B5EF4-FFF2-40B4-BE49-F238E27FC236}">
                <a16:creationId xmlns:a16="http://schemas.microsoft.com/office/drawing/2014/main" id="{3DB9474C-A985-0647-8C03-EF6C16F219C7}"/>
              </a:ext>
            </a:extLst>
          </p:cNvPr>
          <p:cNvSpPr>
            <a:spLocks noChangeArrowheads="1"/>
          </p:cNvSpPr>
          <p:nvPr/>
        </p:nvSpPr>
        <p:spPr bwMode="auto">
          <a:xfrm>
            <a:off x="4267200" y="1325564"/>
            <a:ext cx="9398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Outbreak</a:t>
            </a:r>
          </a:p>
        </p:txBody>
      </p:sp>
      <p:sp>
        <p:nvSpPr>
          <p:cNvPr id="83972" name="Rectangle 5">
            <a:extLst>
              <a:ext uri="{FF2B5EF4-FFF2-40B4-BE49-F238E27FC236}">
                <a16:creationId xmlns:a16="http://schemas.microsoft.com/office/drawing/2014/main" id="{2F7B1427-6C57-4A4C-A779-2A5CEFB1C981}"/>
              </a:ext>
            </a:extLst>
          </p:cNvPr>
          <p:cNvSpPr>
            <a:spLocks noChangeArrowheads="1"/>
          </p:cNvSpPr>
          <p:nvPr/>
        </p:nvSpPr>
        <p:spPr bwMode="auto">
          <a:xfrm>
            <a:off x="4267200" y="1981200"/>
            <a:ext cx="1295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Outbreak</a:t>
            </a:r>
          </a:p>
        </p:txBody>
      </p:sp>
      <p:sp>
        <p:nvSpPr>
          <p:cNvPr id="83973" name="Freeform 6">
            <a:extLst>
              <a:ext uri="{FF2B5EF4-FFF2-40B4-BE49-F238E27FC236}">
                <a16:creationId xmlns:a16="http://schemas.microsoft.com/office/drawing/2014/main" id="{30D202C1-80E8-7A4C-910C-44E51834801A}"/>
              </a:ext>
            </a:extLst>
          </p:cNvPr>
          <p:cNvSpPr>
            <a:spLocks/>
          </p:cNvSpPr>
          <p:nvPr/>
        </p:nvSpPr>
        <p:spPr bwMode="auto">
          <a:xfrm>
            <a:off x="4040188" y="1676400"/>
            <a:ext cx="303212" cy="369888"/>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83974" name="Freeform 7">
            <a:extLst>
              <a:ext uri="{FF2B5EF4-FFF2-40B4-BE49-F238E27FC236}">
                <a16:creationId xmlns:a16="http://schemas.microsoft.com/office/drawing/2014/main" id="{4CE69A49-C900-E94B-8A0A-0E4DD10711D1}"/>
              </a:ext>
            </a:extLst>
          </p:cNvPr>
          <p:cNvSpPr>
            <a:spLocks/>
          </p:cNvSpPr>
          <p:nvPr/>
        </p:nvSpPr>
        <p:spPr bwMode="auto">
          <a:xfrm>
            <a:off x="4038601" y="2089150"/>
            <a:ext cx="303213" cy="196850"/>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83975" name="Line 8">
            <a:extLst>
              <a:ext uri="{FF2B5EF4-FFF2-40B4-BE49-F238E27FC236}">
                <a16:creationId xmlns:a16="http://schemas.microsoft.com/office/drawing/2014/main" id="{05C5F826-BDAD-6843-B4B3-4A6F45F23D2B}"/>
              </a:ext>
            </a:extLst>
          </p:cNvPr>
          <p:cNvSpPr>
            <a:spLocks noChangeShapeType="1"/>
          </p:cNvSpPr>
          <p:nvPr/>
        </p:nvSpPr>
        <p:spPr bwMode="auto">
          <a:xfrm>
            <a:off x="2362200" y="2057400"/>
            <a:ext cx="161448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83976" name="Oval 9">
            <a:extLst>
              <a:ext uri="{FF2B5EF4-FFF2-40B4-BE49-F238E27FC236}">
                <a16:creationId xmlns:a16="http://schemas.microsoft.com/office/drawing/2014/main" id="{381DAB5A-2B07-284C-A4F1-E583EAC800EE}"/>
              </a:ext>
            </a:extLst>
          </p:cNvPr>
          <p:cNvSpPr>
            <a:spLocks noChangeArrowheads="1"/>
          </p:cNvSpPr>
          <p:nvPr/>
        </p:nvSpPr>
        <p:spPr bwMode="auto">
          <a:xfrm>
            <a:off x="3876676" y="1905000"/>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83977" name="Rectangle 10">
            <a:extLst>
              <a:ext uri="{FF2B5EF4-FFF2-40B4-BE49-F238E27FC236}">
                <a16:creationId xmlns:a16="http://schemas.microsoft.com/office/drawing/2014/main" id="{1784D314-AE75-8941-BBC1-837B3277DEDF}"/>
              </a:ext>
            </a:extLst>
          </p:cNvPr>
          <p:cNvSpPr>
            <a:spLocks noChangeArrowheads="1"/>
          </p:cNvSpPr>
          <p:nvPr/>
        </p:nvSpPr>
        <p:spPr bwMode="auto">
          <a:xfrm>
            <a:off x="2438401" y="1676400"/>
            <a:ext cx="663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000">
                <a:solidFill>
                  <a:srgbClr val="000000"/>
                </a:solidFill>
              </a:rPr>
              <a:t>Spray</a:t>
            </a:r>
          </a:p>
        </p:txBody>
      </p:sp>
      <p:sp>
        <p:nvSpPr>
          <p:cNvPr id="83978" name="Rectangle 11">
            <a:extLst>
              <a:ext uri="{FF2B5EF4-FFF2-40B4-BE49-F238E27FC236}">
                <a16:creationId xmlns:a16="http://schemas.microsoft.com/office/drawing/2014/main" id="{2AD04603-D31F-6A42-A661-BA485DF600C0}"/>
              </a:ext>
            </a:extLst>
          </p:cNvPr>
          <p:cNvSpPr>
            <a:spLocks noChangeArrowheads="1"/>
          </p:cNvSpPr>
          <p:nvPr/>
        </p:nvSpPr>
        <p:spPr bwMode="auto">
          <a:xfrm>
            <a:off x="4224338" y="5241925"/>
            <a:ext cx="9398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MX" sz="1800">
                <a:solidFill>
                  <a:srgbClr val="000000"/>
                </a:solidFill>
              </a:rPr>
              <a:t>Outbreak</a:t>
            </a:r>
          </a:p>
        </p:txBody>
      </p:sp>
      <p:sp>
        <p:nvSpPr>
          <p:cNvPr id="83979" name="Freeform 12">
            <a:extLst>
              <a:ext uri="{FF2B5EF4-FFF2-40B4-BE49-F238E27FC236}">
                <a16:creationId xmlns:a16="http://schemas.microsoft.com/office/drawing/2014/main" id="{2ABAE16E-80A5-184D-BCD0-E0BDBD447DFF}"/>
              </a:ext>
            </a:extLst>
          </p:cNvPr>
          <p:cNvSpPr>
            <a:spLocks/>
          </p:cNvSpPr>
          <p:nvPr/>
        </p:nvSpPr>
        <p:spPr bwMode="auto">
          <a:xfrm>
            <a:off x="5716588" y="1382714"/>
            <a:ext cx="303212" cy="369887"/>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83980" name="Freeform 13">
            <a:extLst>
              <a:ext uri="{FF2B5EF4-FFF2-40B4-BE49-F238E27FC236}">
                <a16:creationId xmlns:a16="http://schemas.microsoft.com/office/drawing/2014/main" id="{D900076D-19B3-B749-B58A-5A930342BA49}"/>
              </a:ext>
            </a:extLst>
          </p:cNvPr>
          <p:cNvSpPr>
            <a:spLocks/>
          </p:cNvSpPr>
          <p:nvPr/>
        </p:nvSpPr>
        <p:spPr bwMode="auto">
          <a:xfrm>
            <a:off x="5716588" y="1633538"/>
            <a:ext cx="303212" cy="347662"/>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83981" name="Rectangle 14">
            <a:extLst>
              <a:ext uri="{FF2B5EF4-FFF2-40B4-BE49-F238E27FC236}">
                <a16:creationId xmlns:a16="http://schemas.microsoft.com/office/drawing/2014/main" id="{6C774544-70D3-1345-BF85-EBF02C0CEED6}"/>
              </a:ext>
            </a:extLst>
          </p:cNvPr>
          <p:cNvSpPr>
            <a:spLocks noChangeArrowheads="1"/>
          </p:cNvSpPr>
          <p:nvPr/>
        </p:nvSpPr>
        <p:spPr bwMode="auto">
          <a:xfrm>
            <a:off x="3644900" y="6019800"/>
            <a:ext cx="2286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MX" sz="1800">
                <a:solidFill>
                  <a:srgbClr val="000000"/>
                </a:solidFill>
              </a:rPr>
              <a:t>No Outbreak</a:t>
            </a:r>
          </a:p>
        </p:txBody>
      </p:sp>
      <p:sp>
        <p:nvSpPr>
          <p:cNvPr id="83982" name="Freeform 15">
            <a:extLst>
              <a:ext uri="{FF2B5EF4-FFF2-40B4-BE49-F238E27FC236}">
                <a16:creationId xmlns:a16="http://schemas.microsoft.com/office/drawing/2014/main" id="{0C221624-8851-D24C-B270-C817EEFF4D9F}"/>
              </a:ext>
            </a:extLst>
          </p:cNvPr>
          <p:cNvSpPr>
            <a:spLocks/>
          </p:cNvSpPr>
          <p:nvPr/>
        </p:nvSpPr>
        <p:spPr bwMode="auto">
          <a:xfrm>
            <a:off x="4114801" y="5562601"/>
            <a:ext cx="290513" cy="415925"/>
          </a:xfrm>
          <a:custGeom>
            <a:avLst/>
            <a:gdLst>
              <a:gd name="T0" fmla="*/ 0 w 14"/>
              <a:gd name="T1" fmla="*/ 2147483647 h 24"/>
              <a:gd name="T2" fmla="*/ 0 w 14"/>
              <a:gd name="T3" fmla="*/ 0 h 24"/>
              <a:gd name="T4" fmla="*/ 2147483647 w 14"/>
              <a:gd name="T5" fmla="*/ 0 h 24"/>
              <a:gd name="T6" fmla="*/ 0 60000 65536"/>
              <a:gd name="T7" fmla="*/ 0 60000 65536"/>
              <a:gd name="T8" fmla="*/ 0 60000 65536"/>
              <a:gd name="T9" fmla="*/ 0 w 14"/>
              <a:gd name="T10" fmla="*/ 0 h 24"/>
              <a:gd name="T11" fmla="*/ 14 w 14"/>
              <a:gd name="T12" fmla="*/ 24 h 24"/>
            </a:gdLst>
            <a:ahLst/>
            <a:cxnLst>
              <a:cxn ang="T6">
                <a:pos x="T0" y="T1"/>
              </a:cxn>
              <a:cxn ang="T7">
                <a:pos x="T2" y="T3"/>
              </a:cxn>
              <a:cxn ang="T8">
                <a:pos x="T4" y="T5"/>
              </a:cxn>
            </a:cxnLst>
            <a:rect l="T9" t="T10" r="T11" b="T12"/>
            <a:pathLst>
              <a:path w="14" h="24">
                <a:moveTo>
                  <a:pt x="0" y="24"/>
                </a:moveTo>
                <a:lnTo>
                  <a:pt x="0" y="0"/>
                </a:lnTo>
                <a:lnTo>
                  <a:pt x="14" y="0"/>
                </a:lnTo>
              </a:path>
            </a:pathLst>
          </a:custGeom>
          <a:noFill/>
          <a:ln w="19050"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83983" name="Freeform 16">
            <a:extLst>
              <a:ext uri="{FF2B5EF4-FFF2-40B4-BE49-F238E27FC236}">
                <a16:creationId xmlns:a16="http://schemas.microsoft.com/office/drawing/2014/main" id="{96BD468C-BF4D-7543-B80C-5072FEAEE8D4}"/>
              </a:ext>
            </a:extLst>
          </p:cNvPr>
          <p:cNvSpPr>
            <a:spLocks/>
          </p:cNvSpPr>
          <p:nvPr/>
        </p:nvSpPr>
        <p:spPr bwMode="auto">
          <a:xfrm>
            <a:off x="4094164" y="5749926"/>
            <a:ext cx="4592637" cy="574675"/>
          </a:xfrm>
          <a:custGeom>
            <a:avLst/>
            <a:gdLst>
              <a:gd name="T0" fmla="*/ 0 w 14"/>
              <a:gd name="T1" fmla="*/ 0 h 25"/>
              <a:gd name="T2" fmla="*/ 0 w 14"/>
              <a:gd name="T3" fmla="*/ 2147483647 h 25"/>
              <a:gd name="T4" fmla="*/ 2147483647 w 14"/>
              <a:gd name="T5" fmla="*/ 2147483647 h 25"/>
              <a:gd name="T6" fmla="*/ 0 60000 65536"/>
              <a:gd name="T7" fmla="*/ 0 60000 65536"/>
              <a:gd name="T8" fmla="*/ 0 60000 65536"/>
              <a:gd name="T9" fmla="*/ 0 w 14"/>
              <a:gd name="T10" fmla="*/ 0 h 25"/>
              <a:gd name="T11" fmla="*/ 14 w 14"/>
              <a:gd name="T12" fmla="*/ 25 h 25"/>
            </a:gdLst>
            <a:ahLst/>
            <a:cxnLst>
              <a:cxn ang="T6">
                <a:pos x="T0" y="T1"/>
              </a:cxn>
              <a:cxn ang="T7">
                <a:pos x="T2" y="T3"/>
              </a:cxn>
              <a:cxn ang="T8">
                <a:pos x="T4" y="T5"/>
              </a:cxn>
            </a:cxnLst>
            <a:rect l="T9" t="T10" r="T11" b="T12"/>
            <a:pathLst>
              <a:path w="14" h="25">
                <a:moveTo>
                  <a:pt x="0" y="0"/>
                </a:moveTo>
                <a:lnTo>
                  <a:pt x="0" y="25"/>
                </a:lnTo>
                <a:lnTo>
                  <a:pt x="14" y="25"/>
                </a:lnTo>
              </a:path>
            </a:pathLst>
          </a:custGeom>
          <a:noFill/>
          <a:ln w="19050"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83984" name="Line 17">
            <a:extLst>
              <a:ext uri="{FF2B5EF4-FFF2-40B4-BE49-F238E27FC236}">
                <a16:creationId xmlns:a16="http://schemas.microsoft.com/office/drawing/2014/main" id="{1954F7F8-FA95-394C-ACA5-4C3C297A0F28}"/>
              </a:ext>
            </a:extLst>
          </p:cNvPr>
          <p:cNvSpPr>
            <a:spLocks noChangeShapeType="1"/>
          </p:cNvSpPr>
          <p:nvPr/>
        </p:nvSpPr>
        <p:spPr bwMode="auto">
          <a:xfrm>
            <a:off x="2547938" y="3808414"/>
            <a:ext cx="14287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83985" name="Rectangle 18">
            <a:extLst>
              <a:ext uri="{FF2B5EF4-FFF2-40B4-BE49-F238E27FC236}">
                <a16:creationId xmlns:a16="http://schemas.microsoft.com/office/drawing/2014/main" id="{1836F33F-C403-8943-8AE1-9E06B26B7A78}"/>
              </a:ext>
            </a:extLst>
          </p:cNvPr>
          <p:cNvSpPr>
            <a:spLocks noChangeArrowheads="1"/>
          </p:cNvSpPr>
          <p:nvPr/>
        </p:nvSpPr>
        <p:spPr bwMode="auto">
          <a:xfrm>
            <a:off x="2438401" y="5410201"/>
            <a:ext cx="141064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000">
                <a:solidFill>
                  <a:srgbClr val="000000"/>
                </a:solidFill>
              </a:rPr>
              <a:t>Don</a:t>
            </a:r>
            <a:r>
              <a:rPr lang="ja-JP" altLang="en-US" sz="2000">
                <a:solidFill>
                  <a:srgbClr val="000000"/>
                </a:solidFill>
              </a:rPr>
              <a:t>’</a:t>
            </a:r>
            <a:r>
              <a:rPr lang="en-US" altLang="ja-JP" sz="2000">
                <a:solidFill>
                  <a:srgbClr val="000000"/>
                </a:solidFill>
              </a:rPr>
              <a:t>t Spray</a:t>
            </a:r>
            <a:endParaRPr lang="en-US" altLang="en-MX" sz="2000">
              <a:solidFill>
                <a:srgbClr val="000000"/>
              </a:solidFill>
            </a:endParaRPr>
          </a:p>
        </p:txBody>
      </p:sp>
      <p:sp>
        <p:nvSpPr>
          <p:cNvPr id="83986" name="Line 19">
            <a:extLst>
              <a:ext uri="{FF2B5EF4-FFF2-40B4-BE49-F238E27FC236}">
                <a16:creationId xmlns:a16="http://schemas.microsoft.com/office/drawing/2014/main" id="{6D3E1018-E3C1-B54A-B873-C57EEE86764E}"/>
              </a:ext>
            </a:extLst>
          </p:cNvPr>
          <p:cNvSpPr>
            <a:spLocks noChangeShapeType="1"/>
          </p:cNvSpPr>
          <p:nvPr/>
        </p:nvSpPr>
        <p:spPr bwMode="auto">
          <a:xfrm>
            <a:off x="2514600" y="5867400"/>
            <a:ext cx="14287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83987" name="Rectangle 20">
            <a:extLst>
              <a:ext uri="{FF2B5EF4-FFF2-40B4-BE49-F238E27FC236}">
                <a16:creationId xmlns:a16="http://schemas.microsoft.com/office/drawing/2014/main" id="{67E716C1-AF0F-F849-80AE-DC8CBB75F629}"/>
              </a:ext>
            </a:extLst>
          </p:cNvPr>
          <p:cNvSpPr>
            <a:spLocks noChangeArrowheads="1"/>
          </p:cNvSpPr>
          <p:nvPr/>
        </p:nvSpPr>
        <p:spPr bwMode="auto">
          <a:xfrm>
            <a:off x="2362201" y="3429001"/>
            <a:ext cx="4701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000">
                <a:solidFill>
                  <a:srgbClr val="000000"/>
                </a:solidFill>
              </a:rPr>
              <a:t>Test</a:t>
            </a:r>
          </a:p>
        </p:txBody>
      </p:sp>
      <p:sp>
        <p:nvSpPr>
          <p:cNvPr id="83988" name="Freeform 21">
            <a:extLst>
              <a:ext uri="{FF2B5EF4-FFF2-40B4-BE49-F238E27FC236}">
                <a16:creationId xmlns:a16="http://schemas.microsoft.com/office/drawing/2014/main" id="{0A221D05-51EE-5041-92E8-5FFB54C3ADA9}"/>
              </a:ext>
            </a:extLst>
          </p:cNvPr>
          <p:cNvSpPr>
            <a:spLocks/>
          </p:cNvSpPr>
          <p:nvPr/>
        </p:nvSpPr>
        <p:spPr bwMode="auto">
          <a:xfrm>
            <a:off x="2209800" y="2057400"/>
            <a:ext cx="261938" cy="2198688"/>
          </a:xfrm>
          <a:custGeom>
            <a:avLst/>
            <a:gdLst>
              <a:gd name="T0" fmla="*/ 0 w 14"/>
              <a:gd name="T1" fmla="*/ 2147483647 h 87"/>
              <a:gd name="T2" fmla="*/ 0 w 14"/>
              <a:gd name="T3" fmla="*/ 0 h 87"/>
              <a:gd name="T4" fmla="*/ 2147483647 w 14"/>
              <a:gd name="T5" fmla="*/ 0 h 87"/>
              <a:gd name="T6" fmla="*/ 0 60000 65536"/>
              <a:gd name="T7" fmla="*/ 0 60000 65536"/>
              <a:gd name="T8" fmla="*/ 0 60000 65536"/>
              <a:gd name="T9" fmla="*/ 0 w 14"/>
              <a:gd name="T10" fmla="*/ 0 h 87"/>
              <a:gd name="T11" fmla="*/ 14 w 14"/>
              <a:gd name="T12" fmla="*/ 87 h 87"/>
            </a:gdLst>
            <a:ahLst/>
            <a:cxnLst>
              <a:cxn ang="T6">
                <a:pos x="T0" y="T1"/>
              </a:cxn>
              <a:cxn ang="T7">
                <a:pos x="T2" y="T3"/>
              </a:cxn>
              <a:cxn ang="T8">
                <a:pos x="T4" y="T5"/>
              </a:cxn>
            </a:cxnLst>
            <a:rect l="T9" t="T10" r="T11" b="T12"/>
            <a:pathLst>
              <a:path w="14" h="87">
                <a:moveTo>
                  <a:pt x="0" y="8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83989" name="Freeform 22">
            <a:extLst>
              <a:ext uri="{FF2B5EF4-FFF2-40B4-BE49-F238E27FC236}">
                <a16:creationId xmlns:a16="http://schemas.microsoft.com/office/drawing/2014/main" id="{7EC82E86-1115-7849-9E18-3488B52D5E44}"/>
              </a:ext>
            </a:extLst>
          </p:cNvPr>
          <p:cNvSpPr>
            <a:spLocks/>
          </p:cNvSpPr>
          <p:nvPr/>
        </p:nvSpPr>
        <p:spPr bwMode="auto">
          <a:xfrm>
            <a:off x="2244726" y="3810001"/>
            <a:ext cx="303213" cy="42863"/>
          </a:xfrm>
          <a:custGeom>
            <a:avLst/>
            <a:gdLst>
              <a:gd name="T0" fmla="*/ 0 w 14"/>
              <a:gd name="T1" fmla="*/ 2147483647 h 2"/>
              <a:gd name="T2" fmla="*/ 0 w 14"/>
              <a:gd name="T3" fmla="*/ 0 h 2"/>
              <a:gd name="T4" fmla="*/ 2147483647 w 14"/>
              <a:gd name="T5" fmla="*/ 0 h 2"/>
              <a:gd name="T6" fmla="*/ 0 60000 65536"/>
              <a:gd name="T7" fmla="*/ 0 60000 65536"/>
              <a:gd name="T8" fmla="*/ 0 60000 65536"/>
              <a:gd name="T9" fmla="*/ 0 w 14"/>
              <a:gd name="T10" fmla="*/ 0 h 2"/>
              <a:gd name="T11" fmla="*/ 14 w 14"/>
              <a:gd name="T12" fmla="*/ 2 h 2"/>
            </a:gdLst>
            <a:ahLst/>
            <a:cxnLst>
              <a:cxn ang="T6">
                <a:pos x="T0" y="T1"/>
              </a:cxn>
              <a:cxn ang="T7">
                <a:pos x="T2" y="T3"/>
              </a:cxn>
              <a:cxn ang="T8">
                <a:pos x="T4" y="T5"/>
              </a:cxn>
            </a:cxnLst>
            <a:rect l="T9" t="T10" r="T11" b="T12"/>
            <a:pathLst>
              <a:path w="14" h="2">
                <a:moveTo>
                  <a:pt x="0" y="2"/>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83990" name="Freeform 23">
            <a:extLst>
              <a:ext uri="{FF2B5EF4-FFF2-40B4-BE49-F238E27FC236}">
                <a16:creationId xmlns:a16="http://schemas.microsoft.com/office/drawing/2014/main" id="{8190C8DE-022D-FF46-B865-59879EDBD699}"/>
              </a:ext>
            </a:extLst>
          </p:cNvPr>
          <p:cNvSpPr>
            <a:spLocks/>
          </p:cNvSpPr>
          <p:nvPr/>
        </p:nvSpPr>
        <p:spPr bwMode="auto">
          <a:xfrm>
            <a:off x="2209801" y="3957638"/>
            <a:ext cx="303213" cy="1916112"/>
          </a:xfrm>
          <a:custGeom>
            <a:avLst/>
            <a:gdLst>
              <a:gd name="T0" fmla="*/ 0 w 14"/>
              <a:gd name="T1" fmla="*/ 0 h 88"/>
              <a:gd name="T2" fmla="*/ 0 w 14"/>
              <a:gd name="T3" fmla="*/ 2147483647 h 88"/>
              <a:gd name="T4" fmla="*/ 2147483647 w 14"/>
              <a:gd name="T5" fmla="*/ 2147483647 h 88"/>
              <a:gd name="T6" fmla="*/ 0 60000 65536"/>
              <a:gd name="T7" fmla="*/ 0 60000 65536"/>
              <a:gd name="T8" fmla="*/ 0 60000 65536"/>
              <a:gd name="T9" fmla="*/ 0 w 14"/>
              <a:gd name="T10" fmla="*/ 0 h 88"/>
              <a:gd name="T11" fmla="*/ 14 w 14"/>
              <a:gd name="T12" fmla="*/ 88 h 88"/>
            </a:gdLst>
            <a:ahLst/>
            <a:cxnLst>
              <a:cxn ang="T6">
                <a:pos x="T0" y="T1"/>
              </a:cxn>
              <a:cxn ang="T7">
                <a:pos x="T2" y="T3"/>
              </a:cxn>
              <a:cxn ang="T8">
                <a:pos x="T4" y="T5"/>
              </a:cxn>
            </a:cxnLst>
            <a:rect l="T9" t="T10" r="T11" b="T12"/>
            <a:pathLst>
              <a:path w="14" h="88">
                <a:moveTo>
                  <a:pt x="0" y="0"/>
                </a:moveTo>
                <a:lnTo>
                  <a:pt x="0" y="88"/>
                </a:lnTo>
                <a:lnTo>
                  <a:pt x="14" y="88"/>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83991" name="Rectangle 24">
            <a:extLst>
              <a:ext uri="{FF2B5EF4-FFF2-40B4-BE49-F238E27FC236}">
                <a16:creationId xmlns:a16="http://schemas.microsoft.com/office/drawing/2014/main" id="{5CAE7860-B774-9B42-9FFF-EF996B21F80E}"/>
              </a:ext>
            </a:extLst>
          </p:cNvPr>
          <p:cNvSpPr>
            <a:spLocks noChangeArrowheads="1"/>
          </p:cNvSpPr>
          <p:nvPr/>
        </p:nvSpPr>
        <p:spPr bwMode="auto">
          <a:xfrm>
            <a:off x="2093914" y="3657600"/>
            <a:ext cx="238125" cy="261938"/>
          </a:xfrm>
          <a:prstGeom prst="rect">
            <a:avLst/>
          </a:prstGeom>
          <a:solidFill>
            <a:schemeClr val="bg1"/>
          </a:solidFill>
          <a:ln w="25400">
            <a:solidFill>
              <a:srgbClr val="0000FF"/>
            </a:solidFill>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83992" name="Text Box 25">
            <a:extLst>
              <a:ext uri="{FF2B5EF4-FFF2-40B4-BE49-F238E27FC236}">
                <a16:creationId xmlns:a16="http://schemas.microsoft.com/office/drawing/2014/main" id="{A96C6215-439C-644C-9100-39E4557CC6DF}"/>
              </a:ext>
            </a:extLst>
          </p:cNvPr>
          <p:cNvSpPr txBox="1">
            <a:spLocks noChangeArrowheads="1"/>
          </p:cNvSpPr>
          <p:nvPr/>
        </p:nvSpPr>
        <p:spPr bwMode="auto">
          <a:xfrm>
            <a:off x="8763000" y="685801"/>
            <a:ext cx="1600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1800" b="1" u="sng">
                <a:solidFill>
                  <a:srgbClr val="000000"/>
                </a:solidFill>
              </a:rPr>
              <a:t>P(Death</a:t>
            </a:r>
            <a:r>
              <a:rPr lang="en-US" altLang="en-MX" sz="1800" b="1" u="sng">
                <a:solidFill>
                  <a:srgbClr val="000000"/>
                </a:solidFill>
                <a:latin typeface="Garamond" panose="02020404030301010803" pitchFamily="18" charset="0"/>
              </a:rPr>
              <a:t>)</a:t>
            </a:r>
          </a:p>
        </p:txBody>
      </p:sp>
      <p:sp>
        <p:nvSpPr>
          <p:cNvPr id="83993" name="Line 26">
            <a:extLst>
              <a:ext uri="{FF2B5EF4-FFF2-40B4-BE49-F238E27FC236}">
                <a16:creationId xmlns:a16="http://schemas.microsoft.com/office/drawing/2014/main" id="{D1FCDFFA-0BCE-3149-A143-C1FC77AB916E}"/>
              </a:ext>
            </a:extLst>
          </p:cNvPr>
          <p:cNvSpPr>
            <a:spLocks noChangeShapeType="1"/>
          </p:cNvSpPr>
          <p:nvPr/>
        </p:nvSpPr>
        <p:spPr bwMode="auto">
          <a:xfrm>
            <a:off x="8915400" y="14478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83994" name="Line 27">
            <a:extLst>
              <a:ext uri="{FF2B5EF4-FFF2-40B4-BE49-F238E27FC236}">
                <a16:creationId xmlns:a16="http://schemas.microsoft.com/office/drawing/2014/main" id="{E749655F-D711-A34F-A985-8CEDC8C3CF2B}"/>
              </a:ext>
            </a:extLst>
          </p:cNvPr>
          <p:cNvSpPr>
            <a:spLocks noChangeShapeType="1"/>
          </p:cNvSpPr>
          <p:nvPr/>
        </p:nvSpPr>
        <p:spPr bwMode="auto">
          <a:xfrm>
            <a:off x="4267200" y="2286000"/>
            <a:ext cx="43434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83995" name="Line 28">
            <a:extLst>
              <a:ext uri="{FF2B5EF4-FFF2-40B4-BE49-F238E27FC236}">
                <a16:creationId xmlns:a16="http://schemas.microsoft.com/office/drawing/2014/main" id="{DD524BFF-E289-704A-860A-D0B09203DF11}"/>
              </a:ext>
            </a:extLst>
          </p:cNvPr>
          <p:cNvSpPr>
            <a:spLocks noChangeShapeType="1"/>
          </p:cNvSpPr>
          <p:nvPr/>
        </p:nvSpPr>
        <p:spPr bwMode="auto">
          <a:xfrm>
            <a:off x="4343400" y="5562600"/>
            <a:ext cx="1295400" cy="0"/>
          </a:xfrm>
          <a:prstGeom prst="line">
            <a:avLst/>
          </a:prstGeom>
          <a:noFill/>
          <a:ln w="1905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83996" name="Oval 29">
            <a:extLst>
              <a:ext uri="{FF2B5EF4-FFF2-40B4-BE49-F238E27FC236}">
                <a16:creationId xmlns:a16="http://schemas.microsoft.com/office/drawing/2014/main" id="{C9F43D0E-DCBE-5F4F-9D5F-65D16AC02C1E}"/>
              </a:ext>
            </a:extLst>
          </p:cNvPr>
          <p:cNvSpPr>
            <a:spLocks noChangeArrowheads="1"/>
          </p:cNvSpPr>
          <p:nvPr/>
        </p:nvSpPr>
        <p:spPr bwMode="auto">
          <a:xfrm>
            <a:off x="5562601" y="1566864"/>
            <a:ext cx="238125" cy="261937"/>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83997" name="Rectangle 30">
            <a:extLst>
              <a:ext uri="{FF2B5EF4-FFF2-40B4-BE49-F238E27FC236}">
                <a16:creationId xmlns:a16="http://schemas.microsoft.com/office/drawing/2014/main" id="{081517D4-72B5-A84F-8948-A852066522C5}"/>
              </a:ext>
            </a:extLst>
          </p:cNvPr>
          <p:cNvSpPr>
            <a:spLocks noChangeArrowheads="1"/>
          </p:cNvSpPr>
          <p:nvPr/>
        </p:nvSpPr>
        <p:spPr bwMode="auto">
          <a:xfrm>
            <a:off x="5943600" y="1066800"/>
            <a:ext cx="12319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Encephalitis</a:t>
            </a:r>
          </a:p>
        </p:txBody>
      </p:sp>
      <p:sp>
        <p:nvSpPr>
          <p:cNvPr id="83998" name="Line 31">
            <a:extLst>
              <a:ext uri="{FF2B5EF4-FFF2-40B4-BE49-F238E27FC236}">
                <a16:creationId xmlns:a16="http://schemas.microsoft.com/office/drawing/2014/main" id="{0F9513D6-5C8E-F54C-9393-E0A0478F22AD}"/>
              </a:ext>
            </a:extLst>
          </p:cNvPr>
          <p:cNvSpPr>
            <a:spLocks noChangeShapeType="1"/>
          </p:cNvSpPr>
          <p:nvPr/>
        </p:nvSpPr>
        <p:spPr bwMode="auto">
          <a:xfrm flipV="1">
            <a:off x="5957888" y="1371601"/>
            <a:ext cx="2652712" cy="1587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83999" name="Line 32">
            <a:extLst>
              <a:ext uri="{FF2B5EF4-FFF2-40B4-BE49-F238E27FC236}">
                <a16:creationId xmlns:a16="http://schemas.microsoft.com/office/drawing/2014/main" id="{84076EB3-1257-A649-9605-73F859A03C44}"/>
              </a:ext>
            </a:extLst>
          </p:cNvPr>
          <p:cNvSpPr>
            <a:spLocks noChangeShapeType="1"/>
          </p:cNvSpPr>
          <p:nvPr/>
        </p:nvSpPr>
        <p:spPr bwMode="auto">
          <a:xfrm>
            <a:off x="5943600" y="1981200"/>
            <a:ext cx="25908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84000" name="Freeform 33">
            <a:extLst>
              <a:ext uri="{FF2B5EF4-FFF2-40B4-BE49-F238E27FC236}">
                <a16:creationId xmlns:a16="http://schemas.microsoft.com/office/drawing/2014/main" id="{D6A47389-FE9D-AB44-9B86-B297F5709519}"/>
              </a:ext>
            </a:extLst>
          </p:cNvPr>
          <p:cNvSpPr>
            <a:spLocks/>
          </p:cNvSpPr>
          <p:nvPr/>
        </p:nvSpPr>
        <p:spPr bwMode="auto">
          <a:xfrm>
            <a:off x="5715000" y="5257801"/>
            <a:ext cx="2895600" cy="396875"/>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84001" name="Freeform 34">
            <a:extLst>
              <a:ext uri="{FF2B5EF4-FFF2-40B4-BE49-F238E27FC236}">
                <a16:creationId xmlns:a16="http://schemas.microsoft.com/office/drawing/2014/main" id="{AD5CA188-271D-DB41-9D1D-2DD7E520E26C}"/>
              </a:ext>
            </a:extLst>
          </p:cNvPr>
          <p:cNvSpPr>
            <a:spLocks/>
          </p:cNvSpPr>
          <p:nvPr/>
        </p:nvSpPr>
        <p:spPr bwMode="auto">
          <a:xfrm>
            <a:off x="5716588" y="5502276"/>
            <a:ext cx="303212" cy="347663"/>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84002" name="Line 35">
            <a:extLst>
              <a:ext uri="{FF2B5EF4-FFF2-40B4-BE49-F238E27FC236}">
                <a16:creationId xmlns:a16="http://schemas.microsoft.com/office/drawing/2014/main" id="{EBBA331A-E43A-1640-AC71-4871AF0B008F}"/>
              </a:ext>
            </a:extLst>
          </p:cNvPr>
          <p:cNvSpPr>
            <a:spLocks noChangeShapeType="1"/>
          </p:cNvSpPr>
          <p:nvPr/>
        </p:nvSpPr>
        <p:spPr bwMode="auto">
          <a:xfrm>
            <a:off x="6005513" y="5849938"/>
            <a:ext cx="25146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84003" name="Rectangle 36">
            <a:extLst>
              <a:ext uri="{FF2B5EF4-FFF2-40B4-BE49-F238E27FC236}">
                <a16:creationId xmlns:a16="http://schemas.microsoft.com/office/drawing/2014/main" id="{3E5A3E74-C8B6-0C40-A2ED-C76DA19D0D01}"/>
              </a:ext>
            </a:extLst>
          </p:cNvPr>
          <p:cNvSpPr>
            <a:spLocks noChangeArrowheads="1"/>
          </p:cNvSpPr>
          <p:nvPr/>
        </p:nvSpPr>
        <p:spPr bwMode="auto">
          <a:xfrm>
            <a:off x="5943600" y="1660525"/>
            <a:ext cx="1752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Encephalitis</a:t>
            </a:r>
          </a:p>
        </p:txBody>
      </p:sp>
      <p:sp>
        <p:nvSpPr>
          <p:cNvPr id="84004" name="Rectangle 37">
            <a:extLst>
              <a:ext uri="{FF2B5EF4-FFF2-40B4-BE49-F238E27FC236}">
                <a16:creationId xmlns:a16="http://schemas.microsoft.com/office/drawing/2014/main" id="{7AAAF3BD-6D2C-6D4C-93A1-DEDA85C3F401}"/>
              </a:ext>
            </a:extLst>
          </p:cNvPr>
          <p:cNvSpPr>
            <a:spLocks noChangeArrowheads="1"/>
          </p:cNvSpPr>
          <p:nvPr/>
        </p:nvSpPr>
        <p:spPr bwMode="auto">
          <a:xfrm>
            <a:off x="5956300" y="4999039"/>
            <a:ext cx="12319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Encephalitis</a:t>
            </a:r>
          </a:p>
        </p:txBody>
      </p:sp>
      <p:sp>
        <p:nvSpPr>
          <p:cNvPr id="84005" name="Rectangle 38">
            <a:extLst>
              <a:ext uri="{FF2B5EF4-FFF2-40B4-BE49-F238E27FC236}">
                <a16:creationId xmlns:a16="http://schemas.microsoft.com/office/drawing/2014/main" id="{1410A34E-103D-AF42-905F-309F88D8C9FA}"/>
              </a:ext>
            </a:extLst>
          </p:cNvPr>
          <p:cNvSpPr>
            <a:spLocks noChangeArrowheads="1"/>
          </p:cNvSpPr>
          <p:nvPr/>
        </p:nvSpPr>
        <p:spPr bwMode="auto">
          <a:xfrm>
            <a:off x="5943600" y="5562600"/>
            <a:ext cx="1752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Encephalitis</a:t>
            </a:r>
          </a:p>
        </p:txBody>
      </p:sp>
      <p:sp>
        <p:nvSpPr>
          <p:cNvPr id="84006" name="Oval 39">
            <a:extLst>
              <a:ext uri="{FF2B5EF4-FFF2-40B4-BE49-F238E27FC236}">
                <a16:creationId xmlns:a16="http://schemas.microsoft.com/office/drawing/2014/main" id="{9712585E-C02A-3540-BC11-9A4F799246A1}"/>
              </a:ext>
            </a:extLst>
          </p:cNvPr>
          <p:cNvSpPr>
            <a:spLocks noChangeArrowheads="1"/>
          </p:cNvSpPr>
          <p:nvPr/>
        </p:nvSpPr>
        <p:spPr bwMode="auto">
          <a:xfrm>
            <a:off x="5629276" y="5426075"/>
            <a:ext cx="238125" cy="261938"/>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84007" name="Oval 40">
            <a:extLst>
              <a:ext uri="{FF2B5EF4-FFF2-40B4-BE49-F238E27FC236}">
                <a16:creationId xmlns:a16="http://schemas.microsoft.com/office/drawing/2014/main" id="{60AC6F98-8406-844B-9A0B-D11CC0F71914}"/>
              </a:ext>
            </a:extLst>
          </p:cNvPr>
          <p:cNvSpPr>
            <a:spLocks noChangeArrowheads="1"/>
          </p:cNvSpPr>
          <p:nvPr/>
        </p:nvSpPr>
        <p:spPr bwMode="auto">
          <a:xfrm>
            <a:off x="3963989" y="5729288"/>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84008" name="Freeform 41">
            <a:extLst>
              <a:ext uri="{FF2B5EF4-FFF2-40B4-BE49-F238E27FC236}">
                <a16:creationId xmlns:a16="http://schemas.microsoft.com/office/drawing/2014/main" id="{CFCEC3E5-1550-BA45-AB22-14A4A11F8F2D}"/>
              </a:ext>
            </a:extLst>
          </p:cNvPr>
          <p:cNvSpPr>
            <a:spLocks/>
          </p:cNvSpPr>
          <p:nvPr/>
        </p:nvSpPr>
        <p:spPr bwMode="auto">
          <a:xfrm>
            <a:off x="4114801" y="3276600"/>
            <a:ext cx="371475" cy="533400"/>
          </a:xfrm>
          <a:custGeom>
            <a:avLst/>
            <a:gdLst>
              <a:gd name="T0" fmla="*/ 0 w 14"/>
              <a:gd name="T1" fmla="*/ 2147483647 h 16"/>
              <a:gd name="T2" fmla="*/ 0 w 14"/>
              <a:gd name="T3" fmla="*/ 0 h 16"/>
              <a:gd name="T4" fmla="*/ 2147483647 w 14"/>
              <a:gd name="T5" fmla="*/ 0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16"/>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84009" name="Freeform 42">
            <a:extLst>
              <a:ext uri="{FF2B5EF4-FFF2-40B4-BE49-F238E27FC236}">
                <a16:creationId xmlns:a16="http://schemas.microsoft.com/office/drawing/2014/main" id="{B1704B2F-B9D2-1640-A386-EF0884359217}"/>
              </a:ext>
            </a:extLst>
          </p:cNvPr>
          <p:cNvSpPr>
            <a:spLocks/>
          </p:cNvSpPr>
          <p:nvPr/>
        </p:nvSpPr>
        <p:spPr bwMode="auto">
          <a:xfrm>
            <a:off x="4114801" y="3962400"/>
            <a:ext cx="295275" cy="533400"/>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84010" name="Oval 43">
            <a:extLst>
              <a:ext uri="{FF2B5EF4-FFF2-40B4-BE49-F238E27FC236}">
                <a16:creationId xmlns:a16="http://schemas.microsoft.com/office/drawing/2014/main" id="{03C82F1C-4392-8D46-8BDB-388D4B29B605}"/>
              </a:ext>
            </a:extLst>
          </p:cNvPr>
          <p:cNvSpPr>
            <a:spLocks noChangeArrowheads="1"/>
          </p:cNvSpPr>
          <p:nvPr/>
        </p:nvSpPr>
        <p:spPr bwMode="auto">
          <a:xfrm>
            <a:off x="3976689" y="3733800"/>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84011" name="Line 44">
            <a:extLst>
              <a:ext uri="{FF2B5EF4-FFF2-40B4-BE49-F238E27FC236}">
                <a16:creationId xmlns:a16="http://schemas.microsoft.com/office/drawing/2014/main" id="{56C1856E-6499-4C49-AAF8-B5217DCE6AD6}"/>
              </a:ext>
            </a:extLst>
          </p:cNvPr>
          <p:cNvSpPr>
            <a:spLocks noChangeShapeType="1"/>
          </p:cNvSpPr>
          <p:nvPr/>
        </p:nvSpPr>
        <p:spPr bwMode="auto">
          <a:xfrm>
            <a:off x="4419600" y="3276600"/>
            <a:ext cx="7620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84012" name="Line 45">
            <a:extLst>
              <a:ext uri="{FF2B5EF4-FFF2-40B4-BE49-F238E27FC236}">
                <a16:creationId xmlns:a16="http://schemas.microsoft.com/office/drawing/2014/main" id="{2F35B44E-D789-2247-8E41-6769DBB1CA88}"/>
              </a:ext>
            </a:extLst>
          </p:cNvPr>
          <p:cNvSpPr>
            <a:spLocks noChangeShapeType="1"/>
          </p:cNvSpPr>
          <p:nvPr/>
        </p:nvSpPr>
        <p:spPr bwMode="auto">
          <a:xfrm>
            <a:off x="4419600" y="4495800"/>
            <a:ext cx="960438"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84013" name="Rectangle 46">
            <a:extLst>
              <a:ext uri="{FF2B5EF4-FFF2-40B4-BE49-F238E27FC236}">
                <a16:creationId xmlns:a16="http://schemas.microsoft.com/office/drawing/2014/main" id="{406ADA0E-5AF3-6C4D-BC81-683E47B31E1B}"/>
              </a:ext>
            </a:extLst>
          </p:cNvPr>
          <p:cNvSpPr>
            <a:spLocks noChangeArrowheads="1"/>
          </p:cNvSpPr>
          <p:nvPr/>
        </p:nvSpPr>
        <p:spPr bwMode="auto">
          <a:xfrm>
            <a:off x="5486400" y="3124200"/>
            <a:ext cx="14097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Spray</a:t>
            </a:r>
          </a:p>
        </p:txBody>
      </p:sp>
      <p:sp>
        <p:nvSpPr>
          <p:cNvPr id="84014" name="Text Box 47">
            <a:extLst>
              <a:ext uri="{FF2B5EF4-FFF2-40B4-BE49-F238E27FC236}">
                <a16:creationId xmlns:a16="http://schemas.microsoft.com/office/drawing/2014/main" id="{9D442052-E810-F64C-BCC8-B4796787DDC6}"/>
              </a:ext>
            </a:extLst>
          </p:cNvPr>
          <p:cNvSpPr txBox="1">
            <a:spLocks noChangeArrowheads="1"/>
          </p:cNvSpPr>
          <p:nvPr/>
        </p:nvSpPr>
        <p:spPr bwMode="auto">
          <a:xfrm>
            <a:off x="5638800" y="4191000"/>
            <a:ext cx="990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a:solidFill>
                  <a:srgbClr val="000000"/>
                </a:solidFill>
              </a:rPr>
              <a:t>Don</a:t>
            </a:r>
            <a:r>
              <a:rPr lang="ja-JP" altLang="en-US" sz="1800">
                <a:solidFill>
                  <a:srgbClr val="000000"/>
                </a:solidFill>
              </a:rPr>
              <a:t>’</a:t>
            </a:r>
            <a:r>
              <a:rPr lang="en-US" altLang="ja-JP" sz="1800">
                <a:solidFill>
                  <a:srgbClr val="000000"/>
                </a:solidFill>
              </a:rPr>
              <a:t>t spray</a:t>
            </a:r>
            <a:endParaRPr lang="en-US" altLang="en-MX" sz="1800">
              <a:solidFill>
                <a:srgbClr val="000000"/>
              </a:solidFill>
            </a:endParaRPr>
          </a:p>
        </p:txBody>
      </p:sp>
      <p:sp>
        <p:nvSpPr>
          <p:cNvPr id="84015" name="Line 48">
            <a:extLst>
              <a:ext uri="{FF2B5EF4-FFF2-40B4-BE49-F238E27FC236}">
                <a16:creationId xmlns:a16="http://schemas.microsoft.com/office/drawing/2014/main" id="{81E1FB74-8A83-9C42-A6B7-3A3DB50FF3FC}"/>
              </a:ext>
            </a:extLst>
          </p:cNvPr>
          <p:cNvSpPr>
            <a:spLocks noChangeShapeType="1"/>
          </p:cNvSpPr>
          <p:nvPr/>
        </p:nvSpPr>
        <p:spPr bwMode="auto">
          <a:xfrm>
            <a:off x="8915400" y="19050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84016" name="Line 49">
            <a:extLst>
              <a:ext uri="{FF2B5EF4-FFF2-40B4-BE49-F238E27FC236}">
                <a16:creationId xmlns:a16="http://schemas.microsoft.com/office/drawing/2014/main" id="{C8EF976C-BA20-5947-BD50-CBDE399AD183}"/>
              </a:ext>
            </a:extLst>
          </p:cNvPr>
          <p:cNvSpPr>
            <a:spLocks noChangeShapeType="1"/>
          </p:cNvSpPr>
          <p:nvPr/>
        </p:nvSpPr>
        <p:spPr bwMode="auto">
          <a:xfrm>
            <a:off x="8915400" y="22860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84017" name="Line 50">
            <a:extLst>
              <a:ext uri="{FF2B5EF4-FFF2-40B4-BE49-F238E27FC236}">
                <a16:creationId xmlns:a16="http://schemas.microsoft.com/office/drawing/2014/main" id="{A599A3C7-0C44-CD45-BE7F-CF299C399B2E}"/>
              </a:ext>
            </a:extLst>
          </p:cNvPr>
          <p:cNvSpPr>
            <a:spLocks noChangeShapeType="1"/>
          </p:cNvSpPr>
          <p:nvPr/>
        </p:nvSpPr>
        <p:spPr bwMode="auto">
          <a:xfrm>
            <a:off x="8915400" y="29718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84018" name="Line 51">
            <a:extLst>
              <a:ext uri="{FF2B5EF4-FFF2-40B4-BE49-F238E27FC236}">
                <a16:creationId xmlns:a16="http://schemas.microsoft.com/office/drawing/2014/main" id="{05F91EEF-19F6-D14C-A41F-BBBE36163475}"/>
              </a:ext>
            </a:extLst>
          </p:cNvPr>
          <p:cNvSpPr>
            <a:spLocks noChangeShapeType="1"/>
          </p:cNvSpPr>
          <p:nvPr/>
        </p:nvSpPr>
        <p:spPr bwMode="auto">
          <a:xfrm>
            <a:off x="8915400" y="35814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84019" name="Line 52">
            <a:extLst>
              <a:ext uri="{FF2B5EF4-FFF2-40B4-BE49-F238E27FC236}">
                <a16:creationId xmlns:a16="http://schemas.microsoft.com/office/drawing/2014/main" id="{A2E73B6C-57A7-974A-80A0-4C1CBF6415B9}"/>
              </a:ext>
            </a:extLst>
          </p:cNvPr>
          <p:cNvSpPr>
            <a:spLocks noChangeShapeType="1"/>
          </p:cNvSpPr>
          <p:nvPr/>
        </p:nvSpPr>
        <p:spPr bwMode="auto">
          <a:xfrm>
            <a:off x="8915400" y="43434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84020" name="Line 53">
            <a:extLst>
              <a:ext uri="{FF2B5EF4-FFF2-40B4-BE49-F238E27FC236}">
                <a16:creationId xmlns:a16="http://schemas.microsoft.com/office/drawing/2014/main" id="{94542717-1EC6-B146-85AD-B32C54EA4C0C}"/>
              </a:ext>
            </a:extLst>
          </p:cNvPr>
          <p:cNvSpPr>
            <a:spLocks noChangeShapeType="1"/>
          </p:cNvSpPr>
          <p:nvPr/>
        </p:nvSpPr>
        <p:spPr bwMode="auto">
          <a:xfrm>
            <a:off x="8915400" y="48006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84021" name="Line 54">
            <a:extLst>
              <a:ext uri="{FF2B5EF4-FFF2-40B4-BE49-F238E27FC236}">
                <a16:creationId xmlns:a16="http://schemas.microsoft.com/office/drawing/2014/main" id="{AEBF60AA-7556-E644-B021-EB1C9B44C929}"/>
              </a:ext>
            </a:extLst>
          </p:cNvPr>
          <p:cNvSpPr>
            <a:spLocks noChangeShapeType="1"/>
          </p:cNvSpPr>
          <p:nvPr/>
        </p:nvSpPr>
        <p:spPr bwMode="auto">
          <a:xfrm>
            <a:off x="8915400" y="53340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84022" name="Line 55">
            <a:extLst>
              <a:ext uri="{FF2B5EF4-FFF2-40B4-BE49-F238E27FC236}">
                <a16:creationId xmlns:a16="http://schemas.microsoft.com/office/drawing/2014/main" id="{E598CCA2-534F-3C45-9FB3-3B4A050CD55E}"/>
              </a:ext>
            </a:extLst>
          </p:cNvPr>
          <p:cNvSpPr>
            <a:spLocks noChangeShapeType="1"/>
          </p:cNvSpPr>
          <p:nvPr/>
        </p:nvSpPr>
        <p:spPr bwMode="auto">
          <a:xfrm>
            <a:off x="8915400" y="57912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84023" name="Line 56">
            <a:extLst>
              <a:ext uri="{FF2B5EF4-FFF2-40B4-BE49-F238E27FC236}">
                <a16:creationId xmlns:a16="http://schemas.microsoft.com/office/drawing/2014/main" id="{3FD5DC0D-8339-9A4F-8819-EB888656B4B7}"/>
              </a:ext>
            </a:extLst>
          </p:cNvPr>
          <p:cNvSpPr>
            <a:spLocks noChangeShapeType="1"/>
          </p:cNvSpPr>
          <p:nvPr/>
        </p:nvSpPr>
        <p:spPr bwMode="auto">
          <a:xfrm>
            <a:off x="8915400" y="63246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84024" name="Rectangle 57">
            <a:extLst>
              <a:ext uri="{FF2B5EF4-FFF2-40B4-BE49-F238E27FC236}">
                <a16:creationId xmlns:a16="http://schemas.microsoft.com/office/drawing/2014/main" id="{E27AD8FA-50B7-E943-8674-9152257900A1}"/>
              </a:ext>
            </a:extLst>
          </p:cNvPr>
          <p:cNvSpPr>
            <a:spLocks noChangeArrowheads="1"/>
          </p:cNvSpPr>
          <p:nvPr/>
        </p:nvSpPr>
        <p:spPr bwMode="auto">
          <a:xfrm>
            <a:off x="4191000" y="2895601"/>
            <a:ext cx="117981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ja-JP" altLang="en-US" sz="1800">
                <a:solidFill>
                  <a:srgbClr val="000000"/>
                </a:solidFill>
              </a:rPr>
              <a:t>“</a:t>
            </a:r>
            <a:r>
              <a:rPr lang="en-US" altLang="ja-JP" sz="1800">
                <a:solidFill>
                  <a:srgbClr val="000000"/>
                </a:solidFill>
              </a:rPr>
              <a:t>Outbreak</a:t>
            </a:r>
            <a:r>
              <a:rPr lang="ja-JP" altLang="en-US" sz="1800">
                <a:solidFill>
                  <a:srgbClr val="000000"/>
                </a:solidFill>
              </a:rPr>
              <a:t>”</a:t>
            </a:r>
            <a:endParaRPr lang="en-US" altLang="en-MX" sz="1800">
              <a:solidFill>
                <a:srgbClr val="000000"/>
              </a:solidFill>
            </a:endParaRPr>
          </a:p>
        </p:txBody>
      </p:sp>
      <p:sp>
        <p:nvSpPr>
          <p:cNvPr id="84025" name="Rectangle 58">
            <a:extLst>
              <a:ext uri="{FF2B5EF4-FFF2-40B4-BE49-F238E27FC236}">
                <a16:creationId xmlns:a16="http://schemas.microsoft.com/office/drawing/2014/main" id="{6E0DA805-2F43-8B40-8054-70D8BB9F8E9A}"/>
              </a:ext>
            </a:extLst>
          </p:cNvPr>
          <p:cNvSpPr>
            <a:spLocks noChangeArrowheads="1"/>
          </p:cNvSpPr>
          <p:nvPr/>
        </p:nvSpPr>
        <p:spPr bwMode="auto">
          <a:xfrm>
            <a:off x="4191000" y="3962401"/>
            <a:ext cx="10668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ja-JP" altLang="en-US" sz="1800">
                <a:solidFill>
                  <a:srgbClr val="000000"/>
                </a:solidFill>
              </a:rPr>
              <a:t>“</a:t>
            </a:r>
            <a:r>
              <a:rPr lang="en-US" altLang="ja-JP" sz="1800">
                <a:solidFill>
                  <a:srgbClr val="000000"/>
                </a:solidFill>
              </a:rPr>
              <a:t>No</a:t>
            </a:r>
          </a:p>
          <a:p>
            <a:r>
              <a:rPr lang="en-US" altLang="en-MX" sz="1800">
                <a:solidFill>
                  <a:srgbClr val="000000"/>
                </a:solidFill>
              </a:rPr>
              <a:t>Outbreak</a:t>
            </a:r>
            <a:r>
              <a:rPr lang="ja-JP" altLang="en-US" sz="1800">
                <a:solidFill>
                  <a:srgbClr val="000000"/>
                </a:solidFill>
              </a:rPr>
              <a:t>”</a:t>
            </a:r>
            <a:endParaRPr lang="en-US" altLang="en-MX" sz="1800">
              <a:solidFill>
                <a:srgbClr val="000000"/>
              </a:solidFill>
            </a:endParaRPr>
          </a:p>
        </p:txBody>
      </p:sp>
      <p:sp>
        <p:nvSpPr>
          <p:cNvPr id="84026" name="AutoShape 59">
            <a:extLst>
              <a:ext uri="{FF2B5EF4-FFF2-40B4-BE49-F238E27FC236}">
                <a16:creationId xmlns:a16="http://schemas.microsoft.com/office/drawing/2014/main" id="{0515407A-946E-1142-B593-B5477BEE37E6}"/>
              </a:ext>
            </a:extLst>
          </p:cNvPr>
          <p:cNvSpPr>
            <a:spLocks noChangeArrowheads="1"/>
          </p:cNvSpPr>
          <p:nvPr/>
        </p:nvSpPr>
        <p:spPr bwMode="auto">
          <a:xfrm>
            <a:off x="5105400" y="3124200"/>
            <a:ext cx="304800" cy="304800"/>
          </a:xfrm>
          <a:prstGeom prst="rightArrow">
            <a:avLst>
              <a:gd name="adj1" fmla="val 50000"/>
              <a:gd name="adj2" fmla="val 25000"/>
            </a:avLst>
          </a:prstGeom>
          <a:solidFill>
            <a:srgbClr val="990033"/>
          </a:solidFill>
          <a:ln w="12700">
            <a:solidFill>
              <a:srgbClr val="00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84027" name="AutoShape 60">
            <a:extLst>
              <a:ext uri="{FF2B5EF4-FFF2-40B4-BE49-F238E27FC236}">
                <a16:creationId xmlns:a16="http://schemas.microsoft.com/office/drawing/2014/main" id="{A615B974-744F-994C-A6BA-BE688BD5A3A0}"/>
              </a:ext>
            </a:extLst>
          </p:cNvPr>
          <p:cNvSpPr>
            <a:spLocks noChangeArrowheads="1"/>
          </p:cNvSpPr>
          <p:nvPr/>
        </p:nvSpPr>
        <p:spPr bwMode="auto">
          <a:xfrm>
            <a:off x="5334000" y="4343400"/>
            <a:ext cx="304800" cy="304800"/>
          </a:xfrm>
          <a:prstGeom prst="rightArrow">
            <a:avLst>
              <a:gd name="adj1" fmla="val 50000"/>
              <a:gd name="adj2" fmla="val 25000"/>
            </a:avLst>
          </a:prstGeom>
          <a:solidFill>
            <a:srgbClr val="990033"/>
          </a:solidFill>
          <a:ln w="12700">
            <a:solidFill>
              <a:srgbClr val="00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84028" name="Freeform 61">
            <a:extLst>
              <a:ext uri="{FF2B5EF4-FFF2-40B4-BE49-F238E27FC236}">
                <a16:creationId xmlns:a16="http://schemas.microsoft.com/office/drawing/2014/main" id="{340DAE99-E9C2-B94A-AC86-7B33077CF237}"/>
              </a:ext>
            </a:extLst>
          </p:cNvPr>
          <p:cNvSpPr>
            <a:spLocks/>
          </p:cNvSpPr>
          <p:nvPr/>
        </p:nvSpPr>
        <p:spPr bwMode="auto">
          <a:xfrm>
            <a:off x="6235700" y="2971801"/>
            <a:ext cx="2451100" cy="396875"/>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84029" name="Freeform 62">
            <a:extLst>
              <a:ext uri="{FF2B5EF4-FFF2-40B4-BE49-F238E27FC236}">
                <a16:creationId xmlns:a16="http://schemas.microsoft.com/office/drawing/2014/main" id="{7BA57F44-AC20-2745-9B18-303B56838DBE}"/>
              </a:ext>
            </a:extLst>
          </p:cNvPr>
          <p:cNvSpPr>
            <a:spLocks/>
          </p:cNvSpPr>
          <p:nvPr/>
        </p:nvSpPr>
        <p:spPr bwMode="auto">
          <a:xfrm>
            <a:off x="6235700" y="3249614"/>
            <a:ext cx="2374900" cy="331787"/>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84030" name="Rectangle 63">
            <a:extLst>
              <a:ext uri="{FF2B5EF4-FFF2-40B4-BE49-F238E27FC236}">
                <a16:creationId xmlns:a16="http://schemas.microsoft.com/office/drawing/2014/main" id="{5C51BBBD-2D1C-A64B-8C96-C0DBAB96F398}"/>
              </a:ext>
            </a:extLst>
          </p:cNvPr>
          <p:cNvSpPr>
            <a:spLocks noChangeArrowheads="1"/>
          </p:cNvSpPr>
          <p:nvPr/>
        </p:nvSpPr>
        <p:spPr bwMode="auto">
          <a:xfrm>
            <a:off x="6535738" y="2682875"/>
            <a:ext cx="12319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Encephalitis</a:t>
            </a:r>
          </a:p>
        </p:txBody>
      </p:sp>
      <p:sp>
        <p:nvSpPr>
          <p:cNvPr id="84031" name="Rectangle 64">
            <a:extLst>
              <a:ext uri="{FF2B5EF4-FFF2-40B4-BE49-F238E27FC236}">
                <a16:creationId xmlns:a16="http://schemas.microsoft.com/office/drawing/2014/main" id="{B224227D-83DB-C442-B639-B7AE5052927C}"/>
              </a:ext>
            </a:extLst>
          </p:cNvPr>
          <p:cNvSpPr>
            <a:spLocks noChangeArrowheads="1"/>
          </p:cNvSpPr>
          <p:nvPr/>
        </p:nvSpPr>
        <p:spPr bwMode="auto">
          <a:xfrm>
            <a:off x="6477000" y="3276600"/>
            <a:ext cx="1752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Encephalitis</a:t>
            </a:r>
          </a:p>
        </p:txBody>
      </p:sp>
      <p:sp>
        <p:nvSpPr>
          <p:cNvPr id="84032" name="Oval 65">
            <a:extLst>
              <a:ext uri="{FF2B5EF4-FFF2-40B4-BE49-F238E27FC236}">
                <a16:creationId xmlns:a16="http://schemas.microsoft.com/office/drawing/2014/main" id="{60F3492C-84C4-2E4E-9F40-007BE0C77154}"/>
              </a:ext>
            </a:extLst>
          </p:cNvPr>
          <p:cNvSpPr>
            <a:spLocks noChangeArrowheads="1"/>
          </p:cNvSpPr>
          <p:nvPr/>
        </p:nvSpPr>
        <p:spPr bwMode="auto">
          <a:xfrm>
            <a:off x="6172201" y="3124200"/>
            <a:ext cx="238125" cy="261938"/>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84033" name="Freeform 66">
            <a:extLst>
              <a:ext uri="{FF2B5EF4-FFF2-40B4-BE49-F238E27FC236}">
                <a16:creationId xmlns:a16="http://schemas.microsoft.com/office/drawing/2014/main" id="{D9A8DFE3-05D7-1D4A-BC0B-EDFA0F3B9EB9}"/>
              </a:ext>
            </a:extLst>
          </p:cNvPr>
          <p:cNvSpPr>
            <a:spLocks/>
          </p:cNvSpPr>
          <p:nvPr/>
        </p:nvSpPr>
        <p:spPr bwMode="auto">
          <a:xfrm>
            <a:off x="6540500" y="4251326"/>
            <a:ext cx="2146300" cy="396875"/>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84034" name="Freeform 67">
            <a:extLst>
              <a:ext uri="{FF2B5EF4-FFF2-40B4-BE49-F238E27FC236}">
                <a16:creationId xmlns:a16="http://schemas.microsoft.com/office/drawing/2014/main" id="{53CE8DE2-184E-FC44-8F4B-DB107FF52ED4}"/>
              </a:ext>
            </a:extLst>
          </p:cNvPr>
          <p:cNvSpPr>
            <a:spLocks/>
          </p:cNvSpPr>
          <p:nvPr/>
        </p:nvSpPr>
        <p:spPr bwMode="auto">
          <a:xfrm>
            <a:off x="6540500" y="4529139"/>
            <a:ext cx="2070100" cy="331787"/>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84035" name="Rectangle 68">
            <a:extLst>
              <a:ext uri="{FF2B5EF4-FFF2-40B4-BE49-F238E27FC236}">
                <a16:creationId xmlns:a16="http://schemas.microsoft.com/office/drawing/2014/main" id="{E9EFB02C-4AA6-F342-AB8E-8CD8C8D6E42A}"/>
              </a:ext>
            </a:extLst>
          </p:cNvPr>
          <p:cNvSpPr>
            <a:spLocks noChangeArrowheads="1"/>
          </p:cNvSpPr>
          <p:nvPr/>
        </p:nvSpPr>
        <p:spPr bwMode="auto">
          <a:xfrm>
            <a:off x="6840538" y="3962400"/>
            <a:ext cx="12319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Encephalitis</a:t>
            </a:r>
          </a:p>
        </p:txBody>
      </p:sp>
      <p:sp>
        <p:nvSpPr>
          <p:cNvPr id="84036" name="Rectangle 69">
            <a:extLst>
              <a:ext uri="{FF2B5EF4-FFF2-40B4-BE49-F238E27FC236}">
                <a16:creationId xmlns:a16="http://schemas.microsoft.com/office/drawing/2014/main" id="{0BE6CBC5-71A4-8443-A1E0-98A2B0BF3F5D}"/>
              </a:ext>
            </a:extLst>
          </p:cNvPr>
          <p:cNvSpPr>
            <a:spLocks noChangeArrowheads="1"/>
          </p:cNvSpPr>
          <p:nvPr/>
        </p:nvSpPr>
        <p:spPr bwMode="auto">
          <a:xfrm>
            <a:off x="6781800" y="4556125"/>
            <a:ext cx="1752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Encephalitis</a:t>
            </a:r>
          </a:p>
        </p:txBody>
      </p:sp>
      <p:sp>
        <p:nvSpPr>
          <p:cNvPr id="84037" name="Oval 70">
            <a:extLst>
              <a:ext uri="{FF2B5EF4-FFF2-40B4-BE49-F238E27FC236}">
                <a16:creationId xmlns:a16="http://schemas.microsoft.com/office/drawing/2014/main" id="{2289AEF8-D336-E649-8323-A112384B2C6D}"/>
              </a:ext>
            </a:extLst>
          </p:cNvPr>
          <p:cNvSpPr>
            <a:spLocks noChangeArrowheads="1"/>
          </p:cNvSpPr>
          <p:nvPr/>
        </p:nvSpPr>
        <p:spPr bwMode="auto">
          <a:xfrm>
            <a:off x="6467476" y="4403725"/>
            <a:ext cx="238125" cy="261938"/>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84038" name="AutoShape 71">
            <a:extLst>
              <a:ext uri="{FF2B5EF4-FFF2-40B4-BE49-F238E27FC236}">
                <a16:creationId xmlns:a16="http://schemas.microsoft.com/office/drawing/2014/main" id="{4706EDA8-D8C8-BA4E-B645-F0C08CC42481}"/>
              </a:ext>
            </a:extLst>
          </p:cNvPr>
          <p:cNvSpPr>
            <a:spLocks noChangeArrowheads="1"/>
          </p:cNvSpPr>
          <p:nvPr/>
        </p:nvSpPr>
        <p:spPr bwMode="auto">
          <a:xfrm>
            <a:off x="8534400" y="12192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84039" name="AutoShape 72">
            <a:extLst>
              <a:ext uri="{FF2B5EF4-FFF2-40B4-BE49-F238E27FC236}">
                <a16:creationId xmlns:a16="http://schemas.microsoft.com/office/drawing/2014/main" id="{425FCA74-D8CF-734B-B589-67FDAB044CD4}"/>
              </a:ext>
            </a:extLst>
          </p:cNvPr>
          <p:cNvSpPr>
            <a:spLocks noChangeArrowheads="1"/>
          </p:cNvSpPr>
          <p:nvPr/>
        </p:nvSpPr>
        <p:spPr bwMode="auto">
          <a:xfrm>
            <a:off x="8534400" y="16764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84040" name="AutoShape 73">
            <a:extLst>
              <a:ext uri="{FF2B5EF4-FFF2-40B4-BE49-F238E27FC236}">
                <a16:creationId xmlns:a16="http://schemas.microsoft.com/office/drawing/2014/main" id="{3203D627-4300-3D46-854E-A224374B9DFC}"/>
              </a:ext>
            </a:extLst>
          </p:cNvPr>
          <p:cNvSpPr>
            <a:spLocks noChangeArrowheads="1"/>
          </p:cNvSpPr>
          <p:nvPr/>
        </p:nvSpPr>
        <p:spPr bwMode="auto">
          <a:xfrm>
            <a:off x="8534400" y="20574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84041" name="AutoShape 74">
            <a:extLst>
              <a:ext uri="{FF2B5EF4-FFF2-40B4-BE49-F238E27FC236}">
                <a16:creationId xmlns:a16="http://schemas.microsoft.com/office/drawing/2014/main" id="{E4EA636D-2CB7-3048-B629-F65974340778}"/>
              </a:ext>
            </a:extLst>
          </p:cNvPr>
          <p:cNvSpPr>
            <a:spLocks noChangeArrowheads="1"/>
          </p:cNvSpPr>
          <p:nvPr/>
        </p:nvSpPr>
        <p:spPr bwMode="auto">
          <a:xfrm>
            <a:off x="8534400" y="33528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84042" name="AutoShape 75">
            <a:extLst>
              <a:ext uri="{FF2B5EF4-FFF2-40B4-BE49-F238E27FC236}">
                <a16:creationId xmlns:a16="http://schemas.microsoft.com/office/drawing/2014/main" id="{14EC5E20-AB21-5A48-991C-542C313DD0BD}"/>
              </a:ext>
            </a:extLst>
          </p:cNvPr>
          <p:cNvSpPr>
            <a:spLocks noChangeArrowheads="1"/>
          </p:cNvSpPr>
          <p:nvPr/>
        </p:nvSpPr>
        <p:spPr bwMode="auto">
          <a:xfrm>
            <a:off x="8534400" y="28194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84043" name="AutoShape 76">
            <a:extLst>
              <a:ext uri="{FF2B5EF4-FFF2-40B4-BE49-F238E27FC236}">
                <a16:creationId xmlns:a16="http://schemas.microsoft.com/office/drawing/2014/main" id="{E728743D-4154-224F-BA9D-D6836D2039DF}"/>
              </a:ext>
            </a:extLst>
          </p:cNvPr>
          <p:cNvSpPr>
            <a:spLocks noChangeArrowheads="1"/>
          </p:cNvSpPr>
          <p:nvPr/>
        </p:nvSpPr>
        <p:spPr bwMode="auto">
          <a:xfrm>
            <a:off x="8547100" y="5121275"/>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84044" name="AutoShape 77">
            <a:extLst>
              <a:ext uri="{FF2B5EF4-FFF2-40B4-BE49-F238E27FC236}">
                <a16:creationId xmlns:a16="http://schemas.microsoft.com/office/drawing/2014/main" id="{9A8F9C42-F27C-F74C-89F5-94BEDE155CED}"/>
              </a:ext>
            </a:extLst>
          </p:cNvPr>
          <p:cNvSpPr>
            <a:spLocks noChangeArrowheads="1"/>
          </p:cNvSpPr>
          <p:nvPr/>
        </p:nvSpPr>
        <p:spPr bwMode="auto">
          <a:xfrm>
            <a:off x="8547100" y="5578475"/>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84045" name="AutoShape 78">
            <a:extLst>
              <a:ext uri="{FF2B5EF4-FFF2-40B4-BE49-F238E27FC236}">
                <a16:creationId xmlns:a16="http://schemas.microsoft.com/office/drawing/2014/main" id="{C3625AC8-878C-D74E-8283-A5BEC31974F6}"/>
              </a:ext>
            </a:extLst>
          </p:cNvPr>
          <p:cNvSpPr>
            <a:spLocks noChangeArrowheads="1"/>
          </p:cNvSpPr>
          <p:nvPr/>
        </p:nvSpPr>
        <p:spPr bwMode="auto">
          <a:xfrm>
            <a:off x="8534400" y="6065838"/>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84046" name="AutoShape 79">
            <a:extLst>
              <a:ext uri="{FF2B5EF4-FFF2-40B4-BE49-F238E27FC236}">
                <a16:creationId xmlns:a16="http://schemas.microsoft.com/office/drawing/2014/main" id="{958F6AD9-9596-4C4A-B1D9-2ED7F4996A4C}"/>
              </a:ext>
            </a:extLst>
          </p:cNvPr>
          <p:cNvSpPr>
            <a:spLocks noChangeArrowheads="1"/>
          </p:cNvSpPr>
          <p:nvPr/>
        </p:nvSpPr>
        <p:spPr bwMode="auto">
          <a:xfrm>
            <a:off x="8547100" y="41148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84047" name="AutoShape 80">
            <a:extLst>
              <a:ext uri="{FF2B5EF4-FFF2-40B4-BE49-F238E27FC236}">
                <a16:creationId xmlns:a16="http://schemas.microsoft.com/office/drawing/2014/main" id="{08A78E44-B5C5-AA4B-992D-9CBB3616D7C1}"/>
              </a:ext>
            </a:extLst>
          </p:cNvPr>
          <p:cNvSpPr>
            <a:spLocks noChangeArrowheads="1"/>
          </p:cNvSpPr>
          <p:nvPr/>
        </p:nvSpPr>
        <p:spPr bwMode="auto">
          <a:xfrm>
            <a:off x="8547100" y="45720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84048" name="Text Box 81">
            <a:extLst>
              <a:ext uri="{FF2B5EF4-FFF2-40B4-BE49-F238E27FC236}">
                <a16:creationId xmlns:a16="http://schemas.microsoft.com/office/drawing/2014/main" id="{D42E8767-B810-7345-ABE3-309F10209EA4}"/>
              </a:ext>
            </a:extLst>
          </p:cNvPr>
          <p:cNvSpPr txBox="1">
            <a:spLocks noChangeArrowheads="1"/>
          </p:cNvSpPr>
          <p:nvPr/>
        </p:nvSpPr>
        <p:spPr bwMode="auto">
          <a:xfrm>
            <a:off x="4343400" y="164465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0.20</a:t>
            </a:r>
          </a:p>
        </p:txBody>
      </p:sp>
      <p:sp>
        <p:nvSpPr>
          <p:cNvPr id="84049" name="Text Box 82">
            <a:extLst>
              <a:ext uri="{FF2B5EF4-FFF2-40B4-BE49-F238E27FC236}">
                <a16:creationId xmlns:a16="http://schemas.microsoft.com/office/drawing/2014/main" id="{63DAC347-97C7-0242-AE4C-5B98137C30C4}"/>
              </a:ext>
            </a:extLst>
          </p:cNvPr>
          <p:cNvSpPr txBox="1">
            <a:spLocks noChangeArrowheads="1"/>
          </p:cNvSpPr>
          <p:nvPr/>
        </p:nvSpPr>
        <p:spPr bwMode="auto">
          <a:xfrm>
            <a:off x="4343400" y="228600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0.80</a:t>
            </a:r>
          </a:p>
        </p:txBody>
      </p:sp>
      <p:sp>
        <p:nvSpPr>
          <p:cNvPr id="84050" name="Text Box 83">
            <a:extLst>
              <a:ext uri="{FF2B5EF4-FFF2-40B4-BE49-F238E27FC236}">
                <a16:creationId xmlns:a16="http://schemas.microsoft.com/office/drawing/2014/main" id="{42B72ACC-3FFD-E94E-A469-D103074C8958}"/>
              </a:ext>
            </a:extLst>
          </p:cNvPr>
          <p:cNvSpPr txBox="1">
            <a:spLocks noChangeArrowheads="1"/>
          </p:cNvSpPr>
          <p:nvPr/>
        </p:nvSpPr>
        <p:spPr bwMode="auto">
          <a:xfrm>
            <a:off x="6019800" y="133985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0.001</a:t>
            </a:r>
          </a:p>
        </p:txBody>
      </p:sp>
      <p:sp>
        <p:nvSpPr>
          <p:cNvPr id="84051" name="Text Box 84">
            <a:extLst>
              <a:ext uri="{FF2B5EF4-FFF2-40B4-BE49-F238E27FC236}">
                <a16:creationId xmlns:a16="http://schemas.microsoft.com/office/drawing/2014/main" id="{41632F47-AD72-8148-9935-3410BE788C7F}"/>
              </a:ext>
            </a:extLst>
          </p:cNvPr>
          <p:cNvSpPr txBox="1">
            <a:spLocks noChangeArrowheads="1"/>
          </p:cNvSpPr>
          <p:nvPr/>
        </p:nvSpPr>
        <p:spPr bwMode="auto">
          <a:xfrm>
            <a:off x="6019800" y="194945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0.999</a:t>
            </a:r>
          </a:p>
        </p:txBody>
      </p:sp>
      <p:sp>
        <p:nvSpPr>
          <p:cNvPr id="84052" name="Text Box 85">
            <a:extLst>
              <a:ext uri="{FF2B5EF4-FFF2-40B4-BE49-F238E27FC236}">
                <a16:creationId xmlns:a16="http://schemas.microsoft.com/office/drawing/2014/main" id="{007B322A-C6C5-5A4B-8252-7525990BDA81}"/>
              </a:ext>
            </a:extLst>
          </p:cNvPr>
          <p:cNvSpPr txBox="1">
            <a:spLocks noChangeArrowheads="1"/>
          </p:cNvSpPr>
          <p:nvPr/>
        </p:nvSpPr>
        <p:spPr bwMode="auto">
          <a:xfrm>
            <a:off x="4419600" y="556260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0.20</a:t>
            </a:r>
          </a:p>
        </p:txBody>
      </p:sp>
      <p:sp>
        <p:nvSpPr>
          <p:cNvPr id="84053" name="Text Box 86">
            <a:extLst>
              <a:ext uri="{FF2B5EF4-FFF2-40B4-BE49-F238E27FC236}">
                <a16:creationId xmlns:a16="http://schemas.microsoft.com/office/drawing/2014/main" id="{C1E32DEB-DCE0-5B49-ABDA-A034FDF68894}"/>
              </a:ext>
            </a:extLst>
          </p:cNvPr>
          <p:cNvSpPr txBox="1">
            <a:spLocks noChangeArrowheads="1"/>
          </p:cNvSpPr>
          <p:nvPr/>
        </p:nvSpPr>
        <p:spPr bwMode="auto">
          <a:xfrm>
            <a:off x="4419600" y="629285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0.80</a:t>
            </a:r>
          </a:p>
        </p:txBody>
      </p:sp>
      <p:sp>
        <p:nvSpPr>
          <p:cNvPr id="84054" name="Text Box 87">
            <a:extLst>
              <a:ext uri="{FF2B5EF4-FFF2-40B4-BE49-F238E27FC236}">
                <a16:creationId xmlns:a16="http://schemas.microsoft.com/office/drawing/2014/main" id="{C783475C-83B9-C549-86EA-AB96DB05A2E7}"/>
              </a:ext>
            </a:extLst>
          </p:cNvPr>
          <p:cNvSpPr txBox="1">
            <a:spLocks noChangeArrowheads="1"/>
          </p:cNvSpPr>
          <p:nvPr/>
        </p:nvSpPr>
        <p:spPr bwMode="auto">
          <a:xfrm>
            <a:off x="6019800" y="525780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0.02</a:t>
            </a:r>
          </a:p>
        </p:txBody>
      </p:sp>
      <p:sp>
        <p:nvSpPr>
          <p:cNvPr id="84055" name="Text Box 88">
            <a:extLst>
              <a:ext uri="{FF2B5EF4-FFF2-40B4-BE49-F238E27FC236}">
                <a16:creationId xmlns:a16="http://schemas.microsoft.com/office/drawing/2014/main" id="{29B4D675-150E-A040-8DBA-550C828014E0}"/>
              </a:ext>
            </a:extLst>
          </p:cNvPr>
          <p:cNvSpPr txBox="1">
            <a:spLocks noChangeArrowheads="1"/>
          </p:cNvSpPr>
          <p:nvPr/>
        </p:nvSpPr>
        <p:spPr bwMode="auto">
          <a:xfrm>
            <a:off x="6019800" y="583565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0.98</a:t>
            </a:r>
          </a:p>
        </p:txBody>
      </p:sp>
      <p:sp>
        <p:nvSpPr>
          <p:cNvPr id="84056" name="Text Box 89">
            <a:extLst>
              <a:ext uri="{FF2B5EF4-FFF2-40B4-BE49-F238E27FC236}">
                <a16:creationId xmlns:a16="http://schemas.microsoft.com/office/drawing/2014/main" id="{2A25B4E6-F578-BB4E-808F-12DC3AA2C61B}"/>
              </a:ext>
            </a:extLst>
          </p:cNvPr>
          <p:cNvSpPr txBox="1">
            <a:spLocks noChangeArrowheads="1"/>
          </p:cNvSpPr>
          <p:nvPr/>
        </p:nvSpPr>
        <p:spPr bwMode="auto">
          <a:xfrm>
            <a:off x="4343400" y="327660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0.20</a:t>
            </a:r>
          </a:p>
        </p:txBody>
      </p:sp>
      <p:sp>
        <p:nvSpPr>
          <p:cNvPr id="84057" name="Text Box 90">
            <a:extLst>
              <a:ext uri="{FF2B5EF4-FFF2-40B4-BE49-F238E27FC236}">
                <a16:creationId xmlns:a16="http://schemas.microsoft.com/office/drawing/2014/main" id="{BF286816-9EC7-514A-9BD7-85BFBF44394A}"/>
              </a:ext>
            </a:extLst>
          </p:cNvPr>
          <p:cNvSpPr txBox="1">
            <a:spLocks noChangeArrowheads="1"/>
          </p:cNvSpPr>
          <p:nvPr/>
        </p:nvSpPr>
        <p:spPr bwMode="auto">
          <a:xfrm>
            <a:off x="4343400" y="446405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0.80</a:t>
            </a:r>
          </a:p>
        </p:txBody>
      </p:sp>
      <p:sp>
        <p:nvSpPr>
          <p:cNvPr id="84058" name="Text Box 91">
            <a:extLst>
              <a:ext uri="{FF2B5EF4-FFF2-40B4-BE49-F238E27FC236}">
                <a16:creationId xmlns:a16="http://schemas.microsoft.com/office/drawing/2014/main" id="{ABE6F28E-E787-0D4E-91C5-1723F51FF860}"/>
              </a:ext>
            </a:extLst>
          </p:cNvPr>
          <p:cNvSpPr txBox="1">
            <a:spLocks noChangeArrowheads="1"/>
          </p:cNvSpPr>
          <p:nvPr/>
        </p:nvSpPr>
        <p:spPr bwMode="auto">
          <a:xfrm>
            <a:off x="6629400" y="297180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0.01</a:t>
            </a:r>
          </a:p>
        </p:txBody>
      </p:sp>
      <p:sp>
        <p:nvSpPr>
          <p:cNvPr id="84059" name="Text Box 92">
            <a:extLst>
              <a:ext uri="{FF2B5EF4-FFF2-40B4-BE49-F238E27FC236}">
                <a16:creationId xmlns:a16="http://schemas.microsoft.com/office/drawing/2014/main" id="{3DC9E983-452F-DF43-B29C-D6E8D6B392D4}"/>
              </a:ext>
            </a:extLst>
          </p:cNvPr>
          <p:cNvSpPr txBox="1">
            <a:spLocks noChangeArrowheads="1"/>
          </p:cNvSpPr>
          <p:nvPr/>
        </p:nvSpPr>
        <p:spPr bwMode="auto">
          <a:xfrm>
            <a:off x="6629400" y="358140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0.99</a:t>
            </a:r>
          </a:p>
        </p:txBody>
      </p:sp>
      <p:sp>
        <p:nvSpPr>
          <p:cNvPr id="84060" name="Text Box 93">
            <a:extLst>
              <a:ext uri="{FF2B5EF4-FFF2-40B4-BE49-F238E27FC236}">
                <a16:creationId xmlns:a16="http://schemas.microsoft.com/office/drawing/2014/main" id="{80787878-D8B0-0E49-9F60-FAB7E64F566B}"/>
              </a:ext>
            </a:extLst>
          </p:cNvPr>
          <p:cNvSpPr txBox="1">
            <a:spLocks noChangeArrowheads="1"/>
          </p:cNvSpPr>
          <p:nvPr/>
        </p:nvSpPr>
        <p:spPr bwMode="auto">
          <a:xfrm>
            <a:off x="7010400" y="419100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a:t>
            </a:r>
          </a:p>
        </p:txBody>
      </p:sp>
      <p:sp>
        <p:nvSpPr>
          <p:cNvPr id="84061" name="Text Box 94">
            <a:extLst>
              <a:ext uri="{FF2B5EF4-FFF2-40B4-BE49-F238E27FC236}">
                <a16:creationId xmlns:a16="http://schemas.microsoft.com/office/drawing/2014/main" id="{729CAAC9-0A6C-2841-B1B5-0103EBA07CC7}"/>
              </a:ext>
            </a:extLst>
          </p:cNvPr>
          <p:cNvSpPr txBox="1">
            <a:spLocks noChangeArrowheads="1"/>
          </p:cNvSpPr>
          <p:nvPr/>
        </p:nvSpPr>
        <p:spPr bwMode="auto">
          <a:xfrm>
            <a:off x="7010400" y="480060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1</a:t>
            </a:r>
          </a:p>
        </p:txBody>
      </p:sp>
      <p:sp>
        <p:nvSpPr>
          <p:cNvPr id="84062" name="Text Box 95">
            <a:extLst>
              <a:ext uri="{FF2B5EF4-FFF2-40B4-BE49-F238E27FC236}">
                <a16:creationId xmlns:a16="http://schemas.microsoft.com/office/drawing/2014/main" id="{2CC107C6-59A8-E447-A6B5-BA7772BC438B}"/>
              </a:ext>
            </a:extLst>
          </p:cNvPr>
          <p:cNvSpPr txBox="1">
            <a:spLocks noChangeArrowheads="1"/>
          </p:cNvSpPr>
          <p:nvPr/>
        </p:nvSpPr>
        <p:spPr bwMode="auto">
          <a:xfrm>
            <a:off x="9144000" y="4953001"/>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0.3</a:t>
            </a:r>
          </a:p>
        </p:txBody>
      </p:sp>
      <p:sp>
        <p:nvSpPr>
          <p:cNvPr id="84063" name="Text Box 96">
            <a:extLst>
              <a:ext uri="{FF2B5EF4-FFF2-40B4-BE49-F238E27FC236}">
                <a16:creationId xmlns:a16="http://schemas.microsoft.com/office/drawing/2014/main" id="{A9AE10D1-EA2D-8C49-B456-7B5ABBC3E5BA}"/>
              </a:ext>
            </a:extLst>
          </p:cNvPr>
          <p:cNvSpPr txBox="1">
            <a:spLocks noChangeArrowheads="1"/>
          </p:cNvSpPr>
          <p:nvPr/>
        </p:nvSpPr>
        <p:spPr bwMode="auto">
          <a:xfrm>
            <a:off x="9110663" y="1157289"/>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0.3</a:t>
            </a:r>
          </a:p>
        </p:txBody>
      </p:sp>
      <p:sp>
        <p:nvSpPr>
          <p:cNvPr id="84064" name="Text Box 97">
            <a:extLst>
              <a:ext uri="{FF2B5EF4-FFF2-40B4-BE49-F238E27FC236}">
                <a16:creationId xmlns:a16="http://schemas.microsoft.com/office/drawing/2014/main" id="{7970A009-0E6D-4042-B684-B56A043A7B42}"/>
              </a:ext>
            </a:extLst>
          </p:cNvPr>
          <p:cNvSpPr txBox="1">
            <a:spLocks noChangeArrowheads="1"/>
          </p:cNvSpPr>
          <p:nvPr/>
        </p:nvSpPr>
        <p:spPr bwMode="auto">
          <a:xfrm>
            <a:off x="9110664" y="1538289"/>
            <a:ext cx="10239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FF0066"/>
                </a:solidFill>
                <a:latin typeface="Times New Roman" panose="02020603050405020304" pitchFamily="18" charset="0"/>
              </a:rPr>
              <a:t>p</a:t>
            </a:r>
          </a:p>
        </p:txBody>
      </p:sp>
      <p:sp>
        <p:nvSpPr>
          <p:cNvPr id="84065" name="Text Box 98">
            <a:extLst>
              <a:ext uri="{FF2B5EF4-FFF2-40B4-BE49-F238E27FC236}">
                <a16:creationId xmlns:a16="http://schemas.microsoft.com/office/drawing/2014/main" id="{E7A75C1B-58A8-394B-80C7-C3F0C1CD258A}"/>
              </a:ext>
            </a:extLst>
          </p:cNvPr>
          <p:cNvSpPr txBox="1">
            <a:spLocks noChangeArrowheads="1"/>
          </p:cNvSpPr>
          <p:nvPr/>
        </p:nvSpPr>
        <p:spPr bwMode="auto">
          <a:xfrm>
            <a:off x="9110664" y="1995489"/>
            <a:ext cx="10239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FF0066"/>
                </a:solidFill>
                <a:latin typeface="Times New Roman" panose="02020603050405020304" pitchFamily="18" charset="0"/>
              </a:rPr>
              <a:t>p</a:t>
            </a:r>
          </a:p>
        </p:txBody>
      </p:sp>
      <p:sp>
        <p:nvSpPr>
          <p:cNvPr id="84066" name="Text Box 99">
            <a:extLst>
              <a:ext uri="{FF2B5EF4-FFF2-40B4-BE49-F238E27FC236}">
                <a16:creationId xmlns:a16="http://schemas.microsoft.com/office/drawing/2014/main" id="{03451C96-76CD-6B43-8473-124FDF58F0C6}"/>
              </a:ext>
            </a:extLst>
          </p:cNvPr>
          <p:cNvSpPr txBox="1">
            <a:spLocks noChangeArrowheads="1"/>
          </p:cNvSpPr>
          <p:nvPr/>
        </p:nvSpPr>
        <p:spPr bwMode="auto">
          <a:xfrm>
            <a:off x="9110663" y="5486401"/>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a:t>
            </a:r>
          </a:p>
        </p:txBody>
      </p:sp>
      <p:sp>
        <p:nvSpPr>
          <p:cNvPr id="84067" name="Text Box 100">
            <a:extLst>
              <a:ext uri="{FF2B5EF4-FFF2-40B4-BE49-F238E27FC236}">
                <a16:creationId xmlns:a16="http://schemas.microsoft.com/office/drawing/2014/main" id="{55DEE01B-C0E2-6347-B46C-8C5424AA2E1D}"/>
              </a:ext>
            </a:extLst>
          </p:cNvPr>
          <p:cNvSpPr txBox="1">
            <a:spLocks noChangeArrowheads="1"/>
          </p:cNvSpPr>
          <p:nvPr/>
        </p:nvSpPr>
        <p:spPr bwMode="auto">
          <a:xfrm>
            <a:off x="9110663" y="5943601"/>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a:t>
            </a:r>
          </a:p>
        </p:txBody>
      </p:sp>
      <p:sp>
        <p:nvSpPr>
          <p:cNvPr id="84068" name="Text Box 101">
            <a:extLst>
              <a:ext uri="{FF2B5EF4-FFF2-40B4-BE49-F238E27FC236}">
                <a16:creationId xmlns:a16="http://schemas.microsoft.com/office/drawing/2014/main" id="{A280BFF0-6975-5647-BFE6-0533297A0388}"/>
              </a:ext>
            </a:extLst>
          </p:cNvPr>
          <p:cNvSpPr txBox="1">
            <a:spLocks noChangeArrowheads="1"/>
          </p:cNvSpPr>
          <p:nvPr/>
        </p:nvSpPr>
        <p:spPr bwMode="auto">
          <a:xfrm>
            <a:off x="9110663" y="4495801"/>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a:t>
            </a:r>
          </a:p>
        </p:txBody>
      </p:sp>
      <p:sp>
        <p:nvSpPr>
          <p:cNvPr id="84069" name="Text Box 102">
            <a:extLst>
              <a:ext uri="{FF2B5EF4-FFF2-40B4-BE49-F238E27FC236}">
                <a16:creationId xmlns:a16="http://schemas.microsoft.com/office/drawing/2014/main" id="{DA7F5496-4E11-2141-8DDA-FE4F47C0C1A7}"/>
              </a:ext>
            </a:extLst>
          </p:cNvPr>
          <p:cNvSpPr txBox="1">
            <a:spLocks noChangeArrowheads="1"/>
          </p:cNvSpPr>
          <p:nvPr/>
        </p:nvSpPr>
        <p:spPr bwMode="auto">
          <a:xfrm>
            <a:off x="9110663" y="4038601"/>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0.3</a:t>
            </a:r>
          </a:p>
        </p:txBody>
      </p:sp>
      <p:sp>
        <p:nvSpPr>
          <p:cNvPr id="84070" name="Text Box 103">
            <a:extLst>
              <a:ext uri="{FF2B5EF4-FFF2-40B4-BE49-F238E27FC236}">
                <a16:creationId xmlns:a16="http://schemas.microsoft.com/office/drawing/2014/main" id="{E9389A2F-0FE4-5A49-B2CD-37973BA0CA35}"/>
              </a:ext>
            </a:extLst>
          </p:cNvPr>
          <p:cNvSpPr txBox="1">
            <a:spLocks noChangeArrowheads="1"/>
          </p:cNvSpPr>
          <p:nvPr/>
        </p:nvSpPr>
        <p:spPr bwMode="auto">
          <a:xfrm>
            <a:off x="9110663" y="2649539"/>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0.3</a:t>
            </a:r>
          </a:p>
        </p:txBody>
      </p:sp>
      <p:sp>
        <p:nvSpPr>
          <p:cNvPr id="84071" name="Text Box 104">
            <a:extLst>
              <a:ext uri="{FF2B5EF4-FFF2-40B4-BE49-F238E27FC236}">
                <a16:creationId xmlns:a16="http://schemas.microsoft.com/office/drawing/2014/main" id="{7ED92CA2-A007-8D4E-BF9B-66EB8CC6697C}"/>
              </a:ext>
            </a:extLst>
          </p:cNvPr>
          <p:cNvSpPr txBox="1">
            <a:spLocks noChangeArrowheads="1"/>
          </p:cNvSpPr>
          <p:nvPr/>
        </p:nvSpPr>
        <p:spPr bwMode="auto">
          <a:xfrm>
            <a:off x="9110664" y="3259139"/>
            <a:ext cx="10239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FF0066"/>
                </a:solidFill>
                <a:latin typeface="Times New Roman" panose="02020603050405020304" pitchFamily="18" charset="0"/>
              </a:rPr>
              <a:t>p</a:t>
            </a:r>
          </a:p>
        </p:txBody>
      </p:sp>
      <p:sp>
        <p:nvSpPr>
          <p:cNvPr id="290921" name="AutoShape 105">
            <a:extLst>
              <a:ext uri="{FF2B5EF4-FFF2-40B4-BE49-F238E27FC236}">
                <a16:creationId xmlns:a16="http://schemas.microsoft.com/office/drawing/2014/main" id="{C974A3EA-9199-B64E-AB66-2B5E1BBA0EBA}"/>
              </a:ext>
            </a:extLst>
          </p:cNvPr>
          <p:cNvSpPr>
            <a:spLocks noChangeArrowheads="1"/>
          </p:cNvSpPr>
          <p:nvPr/>
        </p:nvSpPr>
        <p:spPr bwMode="auto">
          <a:xfrm flipH="1">
            <a:off x="2286000" y="2514600"/>
            <a:ext cx="6400800" cy="990600"/>
          </a:xfrm>
          <a:prstGeom prst="wedgeEllipseCallout">
            <a:avLst>
              <a:gd name="adj1" fmla="val 22097"/>
              <a:gd name="adj2" fmla="val -115389"/>
            </a:avLst>
          </a:prstGeom>
          <a:solidFill>
            <a:srgbClr val="FFFF99"/>
          </a:solidFill>
          <a:ln w="9525">
            <a:solidFill>
              <a:schemeClr val="tx1"/>
            </a:solidFill>
            <a:miter lim="800000"/>
            <a:headEnd/>
            <a:tailEnd/>
          </a:ln>
        </p:spPr>
        <p:txBody>
          <a:bodyPr anchor="ctr" anchorCtr="1"/>
          <a:lstStyle>
            <a:lvl1pPr marL="342900" indent="-342900" eaLnBrk="0" hangingPunct="0">
              <a:defRPr sz="2400">
                <a:solidFill>
                  <a:schemeClr val="tx1"/>
                </a:solidFill>
                <a:latin typeface="Arial" panose="020B0604020202020204" pitchFamily="34" charset="0"/>
                <a:ea typeface="ＭＳ Ｐゴシック" panose="020B0600070205080204" pitchFamily="34" charset="-128"/>
              </a:defRPr>
            </a:lvl1pPr>
            <a:lvl2pPr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lvl="1" algn="ctr"/>
            <a:r>
              <a:rPr lang="en-US" altLang="en-MX">
                <a:solidFill>
                  <a:srgbClr val="000000"/>
                </a:solidFill>
              </a:rPr>
              <a:t>EV(Spray) = 0.00006 + 0.9998p</a:t>
            </a:r>
            <a:endParaRPr lang="en-US" altLang="en-MX" b="1"/>
          </a:p>
        </p:txBody>
      </p:sp>
      <p:sp>
        <p:nvSpPr>
          <p:cNvPr id="290922" name="AutoShape 106">
            <a:extLst>
              <a:ext uri="{FF2B5EF4-FFF2-40B4-BE49-F238E27FC236}">
                <a16:creationId xmlns:a16="http://schemas.microsoft.com/office/drawing/2014/main" id="{42923563-B511-7E4E-8A47-6DEA5EABE8FA}"/>
              </a:ext>
            </a:extLst>
          </p:cNvPr>
          <p:cNvSpPr>
            <a:spLocks noChangeArrowheads="1"/>
          </p:cNvSpPr>
          <p:nvPr/>
        </p:nvSpPr>
        <p:spPr bwMode="auto">
          <a:xfrm flipH="1">
            <a:off x="1981200" y="4343400"/>
            <a:ext cx="4953000" cy="1143000"/>
          </a:xfrm>
          <a:prstGeom prst="wedgeEllipseCallout">
            <a:avLst>
              <a:gd name="adj1" fmla="val 11407"/>
              <a:gd name="adj2" fmla="val 66250"/>
            </a:avLst>
          </a:prstGeom>
          <a:solidFill>
            <a:srgbClr val="FFFF99"/>
          </a:solidFill>
          <a:ln w="9525">
            <a:solidFill>
              <a:schemeClr val="tx1"/>
            </a:solidFill>
            <a:miter lim="800000"/>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MX">
                <a:solidFill>
                  <a:srgbClr val="000000"/>
                </a:solidFill>
              </a:rPr>
              <a:t>EV(Don</a:t>
            </a:r>
            <a:r>
              <a:rPr lang="ja-JP" altLang="en-US">
                <a:solidFill>
                  <a:srgbClr val="000000"/>
                </a:solidFill>
              </a:rPr>
              <a:t>’</a:t>
            </a:r>
            <a:r>
              <a:rPr lang="en-US" altLang="ja-JP">
                <a:solidFill>
                  <a:srgbClr val="000000"/>
                </a:solidFill>
              </a:rPr>
              <a:t>t Spray) = 0.001200</a:t>
            </a:r>
            <a:endParaRPr lang="en-US" altLang="en-MX">
              <a:solidFill>
                <a:srgbClr val="000000"/>
              </a:solidFill>
            </a:endParaRPr>
          </a:p>
        </p:txBody>
      </p:sp>
    </p:spTree>
    <p:extLst>
      <p:ext uri="{BB962C8B-B14F-4D97-AF65-F5344CB8AC3E}">
        <p14:creationId xmlns:p14="http://schemas.microsoft.com/office/powerpoint/2010/main" val="40993435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092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09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921" grpId="0" animBg="1"/>
      <p:bldP spid="290922"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2">
            <a:extLst>
              <a:ext uri="{FF2B5EF4-FFF2-40B4-BE49-F238E27FC236}">
                <a16:creationId xmlns:a16="http://schemas.microsoft.com/office/drawing/2014/main" id="{984481A1-561C-1940-9C43-1D275A3B8E1A}"/>
              </a:ext>
            </a:extLst>
          </p:cNvPr>
          <p:cNvSpPr>
            <a:spLocks noGrp="1" noChangeArrowheads="1"/>
          </p:cNvSpPr>
          <p:nvPr>
            <p:ph type="title"/>
          </p:nvPr>
        </p:nvSpPr>
        <p:spPr>
          <a:xfrm>
            <a:off x="844826" y="304800"/>
            <a:ext cx="9518374" cy="914400"/>
          </a:xfrm>
        </p:spPr>
        <p:txBody>
          <a:bodyPr/>
          <a:lstStyle/>
          <a:p>
            <a:pPr eaLnBrk="1" hangingPunct="1"/>
            <a:r>
              <a:rPr lang="en-US" altLang="en-MX" dirty="0">
                <a:ea typeface="ＭＳ Ｐゴシック" panose="020B0600070205080204" pitchFamily="34" charset="-128"/>
              </a:rPr>
              <a:t>Spray – Don</a:t>
            </a:r>
            <a:r>
              <a:rPr lang="es-ES" altLang="en-MX" dirty="0">
                <a:ea typeface="ＭＳ Ｐゴシック" panose="020B0600070205080204" pitchFamily="34" charset="-128"/>
              </a:rPr>
              <a:t>’</a:t>
            </a:r>
            <a:r>
              <a:rPr lang="en-US" altLang="ja-JP" dirty="0">
                <a:ea typeface="ＭＳ Ｐゴシック" panose="020B0600070205080204" pitchFamily="34" charset="-128"/>
              </a:rPr>
              <a:t>t Spray Threshold</a:t>
            </a:r>
            <a:endParaRPr lang="en-US" altLang="en-MX" dirty="0">
              <a:ea typeface="ＭＳ Ｐゴシック" panose="020B0600070205080204" pitchFamily="34" charset="-128"/>
            </a:endParaRPr>
          </a:p>
        </p:txBody>
      </p:sp>
      <p:sp>
        <p:nvSpPr>
          <p:cNvPr id="86018" name="Rectangle 3">
            <a:extLst>
              <a:ext uri="{FF2B5EF4-FFF2-40B4-BE49-F238E27FC236}">
                <a16:creationId xmlns:a16="http://schemas.microsoft.com/office/drawing/2014/main" id="{77D2462C-7C7A-8740-AA65-A216967D7A18}"/>
              </a:ext>
            </a:extLst>
          </p:cNvPr>
          <p:cNvSpPr>
            <a:spLocks noGrp="1" noChangeArrowheads="1"/>
          </p:cNvSpPr>
          <p:nvPr>
            <p:ph type="body" idx="1"/>
          </p:nvPr>
        </p:nvSpPr>
        <p:spPr>
          <a:xfrm>
            <a:off x="921026" y="1524000"/>
            <a:ext cx="9518374" cy="4724400"/>
          </a:xfrm>
        </p:spPr>
        <p:txBody>
          <a:bodyPr>
            <a:normAutofit/>
          </a:bodyPr>
          <a:lstStyle/>
          <a:p>
            <a:pPr marL="234950" lvl="1" indent="0">
              <a:buNone/>
              <a:tabLst>
                <a:tab pos="2290763" algn="l"/>
              </a:tabLst>
            </a:pPr>
            <a:r>
              <a:rPr lang="en-US" altLang="en-MX" sz="3200" dirty="0">
                <a:ea typeface="ＭＳ Ｐゴシック" panose="020B0600070205080204" pitchFamily="34" charset="-128"/>
              </a:rPr>
              <a:t>EV(Spray) =	0.00006 + 0.9998p</a:t>
            </a:r>
          </a:p>
          <a:p>
            <a:pPr marL="234950" lvl="1" indent="0">
              <a:buNone/>
              <a:tabLst>
                <a:tab pos="2290763" algn="l"/>
              </a:tabLst>
            </a:pPr>
            <a:r>
              <a:rPr lang="en-US" altLang="en-MX" sz="3200" dirty="0">
                <a:ea typeface="ＭＳ Ｐゴシック" panose="020B0600070205080204" pitchFamily="34" charset="-128"/>
              </a:rPr>
              <a:t>EV(Don</a:t>
            </a:r>
            <a:r>
              <a:rPr lang="ja-JP" altLang="en-US" sz="3200">
                <a:ea typeface="ＭＳ Ｐゴシック" panose="020B0600070205080204" pitchFamily="34" charset="-128"/>
              </a:rPr>
              <a:t>’</a:t>
            </a:r>
            <a:r>
              <a:rPr lang="en-US" altLang="ja-JP" sz="3200" dirty="0">
                <a:ea typeface="ＭＳ Ｐゴシック" panose="020B0600070205080204" pitchFamily="34" charset="-128"/>
              </a:rPr>
              <a:t>t Spray) = 0.0012</a:t>
            </a:r>
          </a:p>
          <a:p>
            <a:pPr marL="234950" lvl="1" indent="0">
              <a:buNone/>
              <a:tabLst>
                <a:tab pos="2290763" algn="l"/>
              </a:tabLst>
            </a:pPr>
            <a:r>
              <a:rPr lang="en-US" altLang="en-MX" sz="3200" dirty="0">
                <a:ea typeface="ＭＳ Ｐゴシック" panose="020B0600070205080204" pitchFamily="34" charset="-128"/>
              </a:rPr>
              <a:t>               0.00006 + 0.9998p = 0.0012</a:t>
            </a:r>
          </a:p>
          <a:p>
            <a:pPr marL="234950" lvl="1" indent="0">
              <a:buNone/>
              <a:tabLst>
                <a:tab pos="2290763" algn="l"/>
              </a:tabLst>
            </a:pPr>
            <a:r>
              <a:rPr lang="en-US" altLang="en-MX" sz="3200" dirty="0">
                <a:ea typeface="ＭＳ Ｐゴシック" panose="020B0600070205080204" pitchFamily="34" charset="-128"/>
              </a:rPr>
              <a:t>                            </a:t>
            </a:r>
            <a:r>
              <a:rPr lang="en-US" altLang="en-MX" sz="3200" b="1" dirty="0">
                <a:solidFill>
                  <a:srgbClr val="990033"/>
                </a:solidFill>
                <a:ea typeface="ＭＳ Ｐゴシック" panose="020B0600070205080204" pitchFamily="34" charset="-128"/>
              </a:rPr>
              <a:t>p = 0.00114</a:t>
            </a:r>
          </a:p>
          <a:p>
            <a:pPr>
              <a:buClr>
                <a:srgbClr val="000000"/>
              </a:buClr>
              <a:tabLst>
                <a:tab pos="2290763" algn="l"/>
              </a:tabLst>
            </a:pPr>
            <a:endParaRPr lang="en-US" altLang="en-MX" sz="1400" dirty="0">
              <a:ea typeface="ＭＳ Ｐゴシック" panose="020B0600070205080204" pitchFamily="34" charset="-128"/>
            </a:endParaRPr>
          </a:p>
          <a:p>
            <a:pPr>
              <a:buClr>
                <a:srgbClr val="000000"/>
              </a:buClr>
              <a:tabLst>
                <a:tab pos="2290763" algn="l"/>
              </a:tabLst>
            </a:pPr>
            <a:endParaRPr lang="en-US" altLang="en-MX" sz="1400" dirty="0">
              <a:ea typeface="ＭＳ Ｐゴシック" panose="020B0600070205080204" pitchFamily="34" charset="-128"/>
            </a:endParaRPr>
          </a:p>
          <a:p>
            <a:pPr>
              <a:buClr>
                <a:srgbClr val="000000"/>
              </a:buClr>
              <a:buNone/>
              <a:tabLst>
                <a:tab pos="2290763" algn="l"/>
              </a:tabLst>
            </a:pPr>
            <a:r>
              <a:rPr lang="en-US" altLang="en-MX" sz="2800" dirty="0">
                <a:ea typeface="ＭＳ Ｐゴシック" panose="020B0600070205080204" pitchFamily="34" charset="-128"/>
              </a:rPr>
              <a:t>	If p&gt;0.00114 we prefer </a:t>
            </a:r>
            <a:r>
              <a:rPr lang="ja-JP" altLang="en-US" sz="2800">
                <a:ea typeface="ＭＳ Ｐゴシック" panose="020B0600070205080204" pitchFamily="34" charset="-128"/>
              </a:rPr>
              <a:t>‘</a:t>
            </a:r>
            <a:r>
              <a:rPr lang="en-US" altLang="ja-JP" sz="2800" dirty="0">
                <a:ea typeface="ＭＳ Ｐゴシック" panose="020B0600070205080204" pitchFamily="34" charset="-128"/>
              </a:rPr>
              <a:t>Don</a:t>
            </a:r>
            <a:r>
              <a:rPr lang="ja-JP" altLang="en-US" sz="2800">
                <a:ea typeface="ＭＳ Ｐゴシック" panose="020B0600070205080204" pitchFamily="34" charset="-128"/>
              </a:rPr>
              <a:t>’</a:t>
            </a:r>
            <a:r>
              <a:rPr lang="en-US" altLang="ja-JP" sz="2800" dirty="0">
                <a:ea typeface="ＭＳ Ｐゴシック" panose="020B0600070205080204" pitchFamily="34" charset="-128"/>
              </a:rPr>
              <a:t>t spray</a:t>
            </a:r>
            <a:r>
              <a:rPr lang="ja-JP" altLang="en-US" sz="2800">
                <a:ea typeface="ＭＳ Ｐゴシック" panose="020B0600070205080204" pitchFamily="34" charset="-128"/>
              </a:rPr>
              <a:t>’</a:t>
            </a:r>
            <a:r>
              <a:rPr lang="en-US" altLang="ja-JP" sz="2800" dirty="0">
                <a:ea typeface="ＭＳ Ｐゴシック" panose="020B0600070205080204" pitchFamily="34" charset="-128"/>
              </a:rPr>
              <a:t> to </a:t>
            </a:r>
            <a:r>
              <a:rPr lang="ja-JP" altLang="en-US" sz="2800">
                <a:ea typeface="ＭＳ Ｐゴシック" panose="020B0600070205080204" pitchFamily="34" charset="-128"/>
              </a:rPr>
              <a:t>‘</a:t>
            </a:r>
            <a:r>
              <a:rPr lang="en-US" altLang="ja-JP" sz="2800" dirty="0">
                <a:ea typeface="ＭＳ Ｐゴシック" panose="020B0600070205080204" pitchFamily="34" charset="-128"/>
              </a:rPr>
              <a:t>Spray</a:t>
            </a:r>
            <a:r>
              <a:rPr lang="ja-JP" altLang="en-US" sz="2800">
                <a:ea typeface="ＭＳ Ｐゴシック" panose="020B0600070205080204" pitchFamily="34" charset="-128"/>
              </a:rPr>
              <a:t>’</a:t>
            </a:r>
            <a:endParaRPr lang="en-US" altLang="ja-JP" sz="2800" dirty="0">
              <a:ea typeface="ＭＳ Ｐゴシック" panose="020B0600070205080204" pitchFamily="34" charset="-128"/>
            </a:endParaRPr>
          </a:p>
          <a:p>
            <a:pPr>
              <a:buClr>
                <a:srgbClr val="000000"/>
              </a:buClr>
              <a:buNone/>
              <a:tabLst>
                <a:tab pos="2290763" algn="l"/>
              </a:tabLst>
            </a:pPr>
            <a:r>
              <a:rPr lang="en-US" altLang="en-MX" sz="2800" dirty="0">
                <a:ea typeface="ＭＳ Ｐゴシック" panose="020B0600070205080204" pitchFamily="34" charset="-128"/>
              </a:rPr>
              <a:t>  	If p&lt;0.00114 we prefer </a:t>
            </a:r>
            <a:r>
              <a:rPr lang="ja-JP" altLang="en-US" sz="2800">
                <a:ea typeface="ＭＳ Ｐゴシック" panose="020B0600070205080204" pitchFamily="34" charset="-128"/>
              </a:rPr>
              <a:t>‘</a:t>
            </a:r>
            <a:r>
              <a:rPr lang="en-US" altLang="ja-JP" sz="2800" dirty="0">
                <a:ea typeface="ＭＳ Ｐゴシック" panose="020B0600070205080204" pitchFamily="34" charset="-128"/>
              </a:rPr>
              <a:t>Spray</a:t>
            </a:r>
            <a:r>
              <a:rPr lang="ja-JP" altLang="en-US" sz="2800">
                <a:ea typeface="ＭＳ Ｐゴシック" panose="020B0600070205080204" pitchFamily="34" charset="-128"/>
              </a:rPr>
              <a:t>’</a:t>
            </a:r>
            <a:r>
              <a:rPr lang="en-US" altLang="ja-JP" sz="2800" dirty="0">
                <a:ea typeface="ＭＳ Ｐゴシック" panose="020B0600070205080204" pitchFamily="34" charset="-128"/>
              </a:rPr>
              <a:t> to </a:t>
            </a:r>
            <a:r>
              <a:rPr lang="ja-JP" altLang="en-US" sz="2800">
                <a:ea typeface="ＭＳ Ｐゴシック" panose="020B0600070205080204" pitchFamily="34" charset="-128"/>
              </a:rPr>
              <a:t>‘</a:t>
            </a:r>
            <a:r>
              <a:rPr lang="en-US" altLang="ja-JP" sz="2800" dirty="0">
                <a:ea typeface="ＭＳ Ｐゴシック" panose="020B0600070205080204" pitchFamily="34" charset="-128"/>
              </a:rPr>
              <a:t>Don</a:t>
            </a:r>
            <a:r>
              <a:rPr lang="ja-JP" altLang="en-US" sz="2800">
                <a:ea typeface="ＭＳ Ｐゴシック" panose="020B0600070205080204" pitchFamily="34" charset="-128"/>
              </a:rPr>
              <a:t>’</a:t>
            </a:r>
            <a:r>
              <a:rPr lang="en-US" altLang="ja-JP" sz="2800" dirty="0">
                <a:ea typeface="ＭＳ Ｐゴシック" panose="020B0600070205080204" pitchFamily="34" charset="-128"/>
              </a:rPr>
              <a:t>t Spray</a:t>
            </a:r>
            <a:r>
              <a:rPr lang="ja-JP" altLang="en-US" sz="2800">
                <a:ea typeface="ＭＳ Ｐゴシック" panose="020B0600070205080204" pitchFamily="34" charset="-128"/>
              </a:rPr>
              <a:t>’</a:t>
            </a:r>
            <a:endParaRPr lang="en-US" altLang="en-MX" sz="2800" dirty="0">
              <a:ea typeface="ＭＳ Ｐゴシック" panose="020B0600070205080204" pitchFamily="34" charset="-128"/>
            </a:endParaRPr>
          </a:p>
        </p:txBody>
      </p:sp>
      <p:sp>
        <p:nvSpPr>
          <p:cNvPr id="86019" name="Rectangle 4">
            <a:extLst>
              <a:ext uri="{FF2B5EF4-FFF2-40B4-BE49-F238E27FC236}">
                <a16:creationId xmlns:a16="http://schemas.microsoft.com/office/drawing/2014/main" id="{DF39F504-E6B4-3B4A-8F45-A55CBC119A21}"/>
              </a:ext>
            </a:extLst>
          </p:cNvPr>
          <p:cNvSpPr>
            <a:spLocks noChangeArrowheads="1"/>
          </p:cNvSpPr>
          <p:nvPr/>
        </p:nvSpPr>
        <p:spPr bwMode="auto">
          <a:xfrm>
            <a:off x="1179444" y="4184375"/>
            <a:ext cx="7239000" cy="1066800"/>
          </a:xfrm>
          <a:prstGeom prst="rect">
            <a:avLst/>
          </a:prstGeom>
          <a:noFill/>
          <a:ln w="12700">
            <a:solidFill>
              <a:srgbClr val="00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Tree>
    <p:extLst>
      <p:ext uri="{BB962C8B-B14F-4D97-AF65-F5344CB8AC3E}">
        <p14:creationId xmlns:p14="http://schemas.microsoft.com/office/powerpoint/2010/main" val="115569645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2">
            <a:extLst>
              <a:ext uri="{FF2B5EF4-FFF2-40B4-BE49-F238E27FC236}">
                <a16:creationId xmlns:a16="http://schemas.microsoft.com/office/drawing/2014/main" id="{53E85815-46D5-CB41-8607-0E2CE3460C09}"/>
              </a:ext>
            </a:extLst>
          </p:cNvPr>
          <p:cNvSpPr>
            <a:spLocks noGrp="1" noChangeArrowheads="1"/>
          </p:cNvSpPr>
          <p:nvPr>
            <p:ph type="title"/>
          </p:nvPr>
        </p:nvSpPr>
        <p:spPr>
          <a:xfrm>
            <a:off x="815009" y="152400"/>
            <a:ext cx="9167191" cy="762000"/>
          </a:xfrm>
        </p:spPr>
        <p:txBody>
          <a:bodyPr/>
          <a:lstStyle/>
          <a:p>
            <a:pPr eaLnBrk="1" hangingPunct="1"/>
            <a:r>
              <a:rPr lang="en-US" altLang="en-MX" dirty="0">
                <a:ea typeface="ＭＳ Ｐゴシック" panose="020B0600070205080204" pitchFamily="34" charset="-128"/>
              </a:rPr>
              <a:t>Compare Test with Don</a:t>
            </a:r>
            <a:r>
              <a:rPr lang="ja-JP" altLang="en-US">
                <a:ea typeface="ＭＳ Ｐゴシック" panose="020B0600070205080204" pitchFamily="34" charset="-128"/>
              </a:rPr>
              <a:t>’</a:t>
            </a:r>
            <a:r>
              <a:rPr lang="en-US" altLang="ja-JP" dirty="0">
                <a:ea typeface="ＭＳ Ｐゴシック" panose="020B0600070205080204" pitchFamily="34" charset="-128"/>
              </a:rPr>
              <a:t>t Spray</a:t>
            </a:r>
            <a:endParaRPr lang="en-US" altLang="en-MX" dirty="0">
              <a:ea typeface="ＭＳ Ｐゴシック" panose="020B0600070205080204" pitchFamily="34" charset="-128"/>
            </a:endParaRPr>
          </a:p>
        </p:txBody>
      </p:sp>
      <p:sp>
        <p:nvSpPr>
          <p:cNvPr id="88066" name="Line 3">
            <a:extLst>
              <a:ext uri="{FF2B5EF4-FFF2-40B4-BE49-F238E27FC236}">
                <a16:creationId xmlns:a16="http://schemas.microsoft.com/office/drawing/2014/main" id="{09E39304-DE68-844E-8D9B-075B0B1672FC}"/>
              </a:ext>
            </a:extLst>
          </p:cNvPr>
          <p:cNvSpPr>
            <a:spLocks noChangeShapeType="1"/>
          </p:cNvSpPr>
          <p:nvPr/>
        </p:nvSpPr>
        <p:spPr bwMode="auto">
          <a:xfrm>
            <a:off x="4114800" y="1676400"/>
            <a:ext cx="1447800"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88067" name="Rectangle 4">
            <a:extLst>
              <a:ext uri="{FF2B5EF4-FFF2-40B4-BE49-F238E27FC236}">
                <a16:creationId xmlns:a16="http://schemas.microsoft.com/office/drawing/2014/main" id="{E77F7954-33CF-1446-88E1-CBCC18C65166}"/>
              </a:ext>
            </a:extLst>
          </p:cNvPr>
          <p:cNvSpPr>
            <a:spLocks noChangeArrowheads="1"/>
          </p:cNvSpPr>
          <p:nvPr/>
        </p:nvSpPr>
        <p:spPr bwMode="auto">
          <a:xfrm>
            <a:off x="4267200" y="1325564"/>
            <a:ext cx="9398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Outbreak</a:t>
            </a:r>
          </a:p>
        </p:txBody>
      </p:sp>
      <p:sp>
        <p:nvSpPr>
          <p:cNvPr id="88068" name="Rectangle 5">
            <a:extLst>
              <a:ext uri="{FF2B5EF4-FFF2-40B4-BE49-F238E27FC236}">
                <a16:creationId xmlns:a16="http://schemas.microsoft.com/office/drawing/2014/main" id="{FCA95807-96C5-1140-B5C1-3FDC49C7E8FD}"/>
              </a:ext>
            </a:extLst>
          </p:cNvPr>
          <p:cNvSpPr>
            <a:spLocks noChangeArrowheads="1"/>
          </p:cNvSpPr>
          <p:nvPr/>
        </p:nvSpPr>
        <p:spPr bwMode="auto">
          <a:xfrm>
            <a:off x="4267200" y="1981200"/>
            <a:ext cx="1295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Outbreak</a:t>
            </a:r>
          </a:p>
        </p:txBody>
      </p:sp>
      <p:sp>
        <p:nvSpPr>
          <p:cNvPr id="88069" name="Freeform 6">
            <a:extLst>
              <a:ext uri="{FF2B5EF4-FFF2-40B4-BE49-F238E27FC236}">
                <a16:creationId xmlns:a16="http://schemas.microsoft.com/office/drawing/2014/main" id="{7746CF6F-D76F-9044-B1F0-2FCD32853623}"/>
              </a:ext>
            </a:extLst>
          </p:cNvPr>
          <p:cNvSpPr>
            <a:spLocks/>
          </p:cNvSpPr>
          <p:nvPr/>
        </p:nvSpPr>
        <p:spPr bwMode="auto">
          <a:xfrm>
            <a:off x="4040188" y="1676400"/>
            <a:ext cx="303212" cy="369888"/>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88070" name="Freeform 7">
            <a:extLst>
              <a:ext uri="{FF2B5EF4-FFF2-40B4-BE49-F238E27FC236}">
                <a16:creationId xmlns:a16="http://schemas.microsoft.com/office/drawing/2014/main" id="{BACFE52F-BD74-FF49-ABD6-F33376DDC462}"/>
              </a:ext>
            </a:extLst>
          </p:cNvPr>
          <p:cNvSpPr>
            <a:spLocks/>
          </p:cNvSpPr>
          <p:nvPr/>
        </p:nvSpPr>
        <p:spPr bwMode="auto">
          <a:xfrm>
            <a:off x="4038601" y="2089150"/>
            <a:ext cx="303213" cy="196850"/>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88071" name="Line 8">
            <a:extLst>
              <a:ext uri="{FF2B5EF4-FFF2-40B4-BE49-F238E27FC236}">
                <a16:creationId xmlns:a16="http://schemas.microsoft.com/office/drawing/2014/main" id="{5715113C-70C9-D146-A8C8-5FABA888B41C}"/>
              </a:ext>
            </a:extLst>
          </p:cNvPr>
          <p:cNvSpPr>
            <a:spLocks noChangeShapeType="1"/>
          </p:cNvSpPr>
          <p:nvPr/>
        </p:nvSpPr>
        <p:spPr bwMode="auto">
          <a:xfrm>
            <a:off x="2362200" y="2057400"/>
            <a:ext cx="161448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88072" name="Oval 9">
            <a:extLst>
              <a:ext uri="{FF2B5EF4-FFF2-40B4-BE49-F238E27FC236}">
                <a16:creationId xmlns:a16="http://schemas.microsoft.com/office/drawing/2014/main" id="{0C9BA21F-DE28-E345-8764-40818F72F9A3}"/>
              </a:ext>
            </a:extLst>
          </p:cNvPr>
          <p:cNvSpPr>
            <a:spLocks noChangeArrowheads="1"/>
          </p:cNvSpPr>
          <p:nvPr/>
        </p:nvSpPr>
        <p:spPr bwMode="auto">
          <a:xfrm>
            <a:off x="3876676" y="1905000"/>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88073" name="Rectangle 10">
            <a:extLst>
              <a:ext uri="{FF2B5EF4-FFF2-40B4-BE49-F238E27FC236}">
                <a16:creationId xmlns:a16="http://schemas.microsoft.com/office/drawing/2014/main" id="{55F4B417-6D7C-0147-9927-B7FDB857A47B}"/>
              </a:ext>
            </a:extLst>
          </p:cNvPr>
          <p:cNvSpPr>
            <a:spLocks noChangeArrowheads="1"/>
          </p:cNvSpPr>
          <p:nvPr/>
        </p:nvSpPr>
        <p:spPr bwMode="auto">
          <a:xfrm>
            <a:off x="2438401" y="1676400"/>
            <a:ext cx="663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000">
                <a:solidFill>
                  <a:srgbClr val="000000"/>
                </a:solidFill>
              </a:rPr>
              <a:t>Spray</a:t>
            </a:r>
          </a:p>
        </p:txBody>
      </p:sp>
      <p:sp>
        <p:nvSpPr>
          <p:cNvPr id="88074" name="Rectangle 11">
            <a:extLst>
              <a:ext uri="{FF2B5EF4-FFF2-40B4-BE49-F238E27FC236}">
                <a16:creationId xmlns:a16="http://schemas.microsoft.com/office/drawing/2014/main" id="{CCB4BA6C-59E6-AA45-BA11-860381310431}"/>
              </a:ext>
            </a:extLst>
          </p:cNvPr>
          <p:cNvSpPr>
            <a:spLocks noChangeArrowheads="1"/>
          </p:cNvSpPr>
          <p:nvPr/>
        </p:nvSpPr>
        <p:spPr bwMode="auto">
          <a:xfrm>
            <a:off x="4224338" y="5241925"/>
            <a:ext cx="9398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MX" sz="1800">
                <a:solidFill>
                  <a:srgbClr val="000000"/>
                </a:solidFill>
              </a:rPr>
              <a:t>Outbreak</a:t>
            </a:r>
          </a:p>
        </p:txBody>
      </p:sp>
      <p:sp>
        <p:nvSpPr>
          <p:cNvPr id="88075" name="Freeform 12">
            <a:extLst>
              <a:ext uri="{FF2B5EF4-FFF2-40B4-BE49-F238E27FC236}">
                <a16:creationId xmlns:a16="http://schemas.microsoft.com/office/drawing/2014/main" id="{CC684E7B-A529-BA4B-9536-BF9DB6D5ACC5}"/>
              </a:ext>
            </a:extLst>
          </p:cNvPr>
          <p:cNvSpPr>
            <a:spLocks/>
          </p:cNvSpPr>
          <p:nvPr/>
        </p:nvSpPr>
        <p:spPr bwMode="auto">
          <a:xfrm>
            <a:off x="5716588" y="1382714"/>
            <a:ext cx="303212" cy="369887"/>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88076" name="Freeform 13">
            <a:extLst>
              <a:ext uri="{FF2B5EF4-FFF2-40B4-BE49-F238E27FC236}">
                <a16:creationId xmlns:a16="http://schemas.microsoft.com/office/drawing/2014/main" id="{EA95B8B7-F9B5-4A4B-A61A-FD872D6B3A41}"/>
              </a:ext>
            </a:extLst>
          </p:cNvPr>
          <p:cNvSpPr>
            <a:spLocks/>
          </p:cNvSpPr>
          <p:nvPr/>
        </p:nvSpPr>
        <p:spPr bwMode="auto">
          <a:xfrm>
            <a:off x="5716588" y="1633538"/>
            <a:ext cx="303212" cy="347662"/>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88077" name="Rectangle 14">
            <a:extLst>
              <a:ext uri="{FF2B5EF4-FFF2-40B4-BE49-F238E27FC236}">
                <a16:creationId xmlns:a16="http://schemas.microsoft.com/office/drawing/2014/main" id="{20DE0DE9-8275-654C-85DB-5B916DDC76E2}"/>
              </a:ext>
            </a:extLst>
          </p:cNvPr>
          <p:cNvSpPr>
            <a:spLocks noChangeArrowheads="1"/>
          </p:cNvSpPr>
          <p:nvPr/>
        </p:nvSpPr>
        <p:spPr bwMode="auto">
          <a:xfrm>
            <a:off x="3644900" y="6019800"/>
            <a:ext cx="2286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MX" sz="1800">
                <a:solidFill>
                  <a:srgbClr val="000000"/>
                </a:solidFill>
              </a:rPr>
              <a:t>No Outbreak</a:t>
            </a:r>
          </a:p>
        </p:txBody>
      </p:sp>
      <p:sp>
        <p:nvSpPr>
          <p:cNvPr id="88078" name="Freeform 15">
            <a:extLst>
              <a:ext uri="{FF2B5EF4-FFF2-40B4-BE49-F238E27FC236}">
                <a16:creationId xmlns:a16="http://schemas.microsoft.com/office/drawing/2014/main" id="{388E98B9-677F-9C42-8445-F20707D41B9D}"/>
              </a:ext>
            </a:extLst>
          </p:cNvPr>
          <p:cNvSpPr>
            <a:spLocks/>
          </p:cNvSpPr>
          <p:nvPr/>
        </p:nvSpPr>
        <p:spPr bwMode="auto">
          <a:xfrm>
            <a:off x="4114801" y="5562601"/>
            <a:ext cx="290513" cy="415925"/>
          </a:xfrm>
          <a:custGeom>
            <a:avLst/>
            <a:gdLst>
              <a:gd name="T0" fmla="*/ 0 w 14"/>
              <a:gd name="T1" fmla="*/ 2147483647 h 24"/>
              <a:gd name="T2" fmla="*/ 0 w 14"/>
              <a:gd name="T3" fmla="*/ 0 h 24"/>
              <a:gd name="T4" fmla="*/ 2147483647 w 14"/>
              <a:gd name="T5" fmla="*/ 0 h 24"/>
              <a:gd name="T6" fmla="*/ 0 60000 65536"/>
              <a:gd name="T7" fmla="*/ 0 60000 65536"/>
              <a:gd name="T8" fmla="*/ 0 60000 65536"/>
              <a:gd name="T9" fmla="*/ 0 w 14"/>
              <a:gd name="T10" fmla="*/ 0 h 24"/>
              <a:gd name="T11" fmla="*/ 14 w 14"/>
              <a:gd name="T12" fmla="*/ 24 h 24"/>
            </a:gdLst>
            <a:ahLst/>
            <a:cxnLst>
              <a:cxn ang="T6">
                <a:pos x="T0" y="T1"/>
              </a:cxn>
              <a:cxn ang="T7">
                <a:pos x="T2" y="T3"/>
              </a:cxn>
              <a:cxn ang="T8">
                <a:pos x="T4" y="T5"/>
              </a:cxn>
            </a:cxnLst>
            <a:rect l="T9" t="T10" r="T11" b="T12"/>
            <a:pathLst>
              <a:path w="14" h="24">
                <a:moveTo>
                  <a:pt x="0" y="24"/>
                </a:moveTo>
                <a:lnTo>
                  <a:pt x="0" y="0"/>
                </a:lnTo>
                <a:lnTo>
                  <a:pt x="14" y="0"/>
                </a:lnTo>
              </a:path>
            </a:pathLst>
          </a:custGeom>
          <a:noFill/>
          <a:ln w="19050"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88079" name="Freeform 16">
            <a:extLst>
              <a:ext uri="{FF2B5EF4-FFF2-40B4-BE49-F238E27FC236}">
                <a16:creationId xmlns:a16="http://schemas.microsoft.com/office/drawing/2014/main" id="{E87A369B-DD23-AA4C-98BE-B6895C4BC9FD}"/>
              </a:ext>
            </a:extLst>
          </p:cNvPr>
          <p:cNvSpPr>
            <a:spLocks/>
          </p:cNvSpPr>
          <p:nvPr/>
        </p:nvSpPr>
        <p:spPr bwMode="auto">
          <a:xfrm>
            <a:off x="4094164" y="5749926"/>
            <a:ext cx="4592637" cy="574675"/>
          </a:xfrm>
          <a:custGeom>
            <a:avLst/>
            <a:gdLst>
              <a:gd name="T0" fmla="*/ 0 w 14"/>
              <a:gd name="T1" fmla="*/ 0 h 25"/>
              <a:gd name="T2" fmla="*/ 0 w 14"/>
              <a:gd name="T3" fmla="*/ 2147483647 h 25"/>
              <a:gd name="T4" fmla="*/ 2147483647 w 14"/>
              <a:gd name="T5" fmla="*/ 2147483647 h 25"/>
              <a:gd name="T6" fmla="*/ 0 60000 65536"/>
              <a:gd name="T7" fmla="*/ 0 60000 65536"/>
              <a:gd name="T8" fmla="*/ 0 60000 65536"/>
              <a:gd name="T9" fmla="*/ 0 w 14"/>
              <a:gd name="T10" fmla="*/ 0 h 25"/>
              <a:gd name="T11" fmla="*/ 14 w 14"/>
              <a:gd name="T12" fmla="*/ 25 h 25"/>
            </a:gdLst>
            <a:ahLst/>
            <a:cxnLst>
              <a:cxn ang="T6">
                <a:pos x="T0" y="T1"/>
              </a:cxn>
              <a:cxn ang="T7">
                <a:pos x="T2" y="T3"/>
              </a:cxn>
              <a:cxn ang="T8">
                <a:pos x="T4" y="T5"/>
              </a:cxn>
            </a:cxnLst>
            <a:rect l="T9" t="T10" r="T11" b="T12"/>
            <a:pathLst>
              <a:path w="14" h="25">
                <a:moveTo>
                  <a:pt x="0" y="0"/>
                </a:moveTo>
                <a:lnTo>
                  <a:pt x="0" y="25"/>
                </a:lnTo>
                <a:lnTo>
                  <a:pt x="14" y="25"/>
                </a:lnTo>
              </a:path>
            </a:pathLst>
          </a:custGeom>
          <a:noFill/>
          <a:ln w="19050"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88080" name="Line 17">
            <a:extLst>
              <a:ext uri="{FF2B5EF4-FFF2-40B4-BE49-F238E27FC236}">
                <a16:creationId xmlns:a16="http://schemas.microsoft.com/office/drawing/2014/main" id="{221EBDE2-1319-7344-AF3A-C923DA5DA93A}"/>
              </a:ext>
            </a:extLst>
          </p:cNvPr>
          <p:cNvSpPr>
            <a:spLocks noChangeShapeType="1"/>
          </p:cNvSpPr>
          <p:nvPr/>
        </p:nvSpPr>
        <p:spPr bwMode="auto">
          <a:xfrm>
            <a:off x="2547938" y="3808414"/>
            <a:ext cx="14287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88081" name="Rectangle 18">
            <a:extLst>
              <a:ext uri="{FF2B5EF4-FFF2-40B4-BE49-F238E27FC236}">
                <a16:creationId xmlns:a16="http://schemas.microsoft.com/office/drawing/2014/main" id="{36B999B7-72E4-FD46-B96C-0B5D9D77E0E1}"/>
              </a:ext>
            </a:extLst>
          </p:cNvPr>
          <p:cNvSpPr>
            <a:spLocks noChangeArrowheads="1"/>
          </p:cNvSpPr>
          <p:nvPr/>
        </p:nvSpPr>
        <p:spPr bwMode="auto">
          <a:xfrm>
            <a:off x="2438401" y="5410201"/>
            <a:ext cx="141064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000">
                <a:solidFill>
                  <a:srgbClr val="000000"/>
                </a:solidFill>
              </a:rPr>
              <a:t>Don</a:t>
            </a:r>
            <a:r>
              <a:rPr lang="ja-JP" altLang="en-US" sz="2000">
                <a:solidFill>
                  <a:srgbClr val="000000"/>
                </a:solidFill>
              </a:rPr>
              <a:t>’</a:t>
            </a:r>
            <a:r>
              <a:rPr lang="en-US" altLang="ja-JP" sz="2000">
                <a:solidFill>
                  <a:srgbClr val="000000"/>
                </a:solidFill>
              </a:rPr>
              <a:t>t Spray</a:t>
            </a:r>
            <a:endParaRPr lang="en-US" altLang="en-MX" sz="2000">
              <a:solidFill>
                <a:srgbClr val="000000"/>
              </a:solidFill>
            </a:endParaRPr>
          </a:p>
        </p:txBody>
      </p:sp>
      <p:sp>
        <p:nvSpPr>
          <p:cNvPr id="88082" name="Line 19">
            <a:extLst>
              <a:ext uri="{FF2B5EF4-FFF2-40B4-BE49-F238E27FC236}">
                <a16:creationId xmlns:a16="http://schemas.microsoft.com/office/drawing/2014/main" id="{FF0D452D-B632-1242-BA72-4E5C80A64085}"/>
              </a:ext>
            </a:extLst>
          </p:cNvPr>
          <p:cNvSpPr>
            <a:spLocks noChangeShapeType="1"/>
          </p:cNvSpPr>
          <p:nvPr/>
        </p:nvSpPr>
        <p:spPr bwMode="auto">
          <a:xfrm>
            <a:off x="2514600" y="5867400"/>
            <a:ext cx="14287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88083" name="Rectangle 20">
            <a:extLst>
              <a:ext uri="{FF2B5EF4-FFF2-40B4-BE49-F238E27FC236}">
                <a16:creationId xmlns:a16="http://schemas.microsoft.com/office/drawing/2014/main" id="{32C39663-3C20-054B-BF1A-0ADC426F5F20}"/>
              </a:ext>
            </a:extLst>
          </p:cNvPr>
          <p:cNvSpPr>
            <a:spLocks noChangeArrowheads="1"/>
          </p:cNvSpPr>
          <p:nvPr/>
        </p:nvSpPr>
        <p:spPr bwMode="auto">
          <a:xfrm>
            <a:off x="2362201" y="3429001"/>
            <a:ext cx="4701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000">
                <a:solidFill>
                  <a:srgbClr val="000000"/>
                </a:solidFill>
              </a:rPr>
              <a:t>Test</a:t>
            </a:r>
          </a:p>
        </p:txBody>
      </p:sp>
      <p:sp>
        <p:nvSpPr>
          <p:cNvPr id="88084" name="Freeform 21">
            <a:extLst>
              <a:ext uri="{FF2B5EF4-FFF2-40B4-BE49-F238E27FC236}">
                <a16:creationId xmlns:a16="http://schemas.microsoft.com/office/drawing/2014/main" id="{6A28E43D-08FC-A04C-9168-16A8009CF300}"/>
              </a:ext>
            </a:extLst>
          </p:cNvPr>
          <p:cNvSpPr>
            <a:spLocks/>
          </p:cNvSpPr>
          <p:nvPr/>
        </p:nvSpPr>
        <p:spPr bwMode="auto">
          <a:xfrm>
            <a:off x="2209800" y="2057400"/>
            <a:ext cx="261938" cy="2198688"/>
          </a:xfrm>
          <a:custGeom>
            <a:avLst/>
            <a:gdLst>
              <a:gd name="T0" fmla="*/ 0 w 14"/>
              <a:gd name="T1" fmla="*/ 2147483647 h 87"/>
              <a:gd name="T2" fmla="*/ 0 w 14"/>
              <a:gd name="T3" fmla="*/ 0 h 87"/>
              <a:gd name="T4" fmla="*/ 2147483647 w 14"/>
              <a:gd name="T5" fmla="*/ 0 h 87"/>
              <a:gd name="T6" fmla="*/ 0 60000 65536"/>
              <a:gd name="T7" fmla="*/ 0 60000 65536"/>
              <a:gd name="T8" fmla="*/ 0 60000 65536"/>
              <a:gd name="T9" fmla="*/ 0 w 14"/>
              <a:gd name="T10" fmla="*/ 0 h 87"/>
              <a:gd name="T11" fmla="*/ 14 w 14"/>
              <a:gd name="T12" fmla="*/ 87 h 87"/>
            </a:gdLst>
            <a:ahLst/>
            <a:cxnLst>
              <a:cxn ang="T6">
                <a:pos x="T0" y="T1"/>
              </a:cxn>
              <a:cxn ang="T7">
                <a:pos x="T2" y="T3"/>
              </a:cxn>
              <a:cxn ang="T8">
                <a:pos x="T4" y="T5"/>
              </a:cxn>
            </a:cxnLst>
            <a:rect l="T9" t="T10" r="T11" b="T12"/>
            <a:pathLst>
              <a:path w="14" h="87">
                <a:moveTo>
                  <a:pt x="0" y="8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88085" name="Freeform 22">
            <a:extLst>
              <a:ext uri="{FF2B5EF4-FFF2-40B4-BE49-F238E27FC236}">
                <a16:creationId xmlns:a16="http://schemas.microsoft.com/office/drawing/2014/main" id="{E6FAD2A2-E7F9-FA48-953C-55412AFD02AE}"/>
              </a:ext>
            </a:extLst>
          </p:cNvPr>
          <p:cNvSpPr>
            <a:spLocks/>
          </p:cNvSpPr>
          <p:nvPr/>
        </p:nvSpPr>
        <p:spPr bwMode="auto">
          <a:xfrm>
            <a:off x="2244726" y="3810001"/>
            <a:ext cx="303213" cy="42863"/>
          </a:xfrm>
          <a:custGeom>
            <a:avLst/>
            <a:gdLst>
              <a:gd name="T0" fmla="*/ 0 w 14"/>
              <a:gd name="T1" fmla="*/ 2147483647 h 2"/>
              <a:gd name="T2" fmla="*/ 0 w 14"/>
              <a:gd name="T3" fmla="*/ 0 h 2"/>
              <a:gd name="T4" fmla="*/ 2147483647 w 14"/>
              <a:gd name="T5" fmla="*/ 0 h 2"/>
              <a:gd name="T6" fmla="*/ 0 60000 65536"/>
              <a:gd name="T7" fmla="*/ 0 60000 65536"/>
              <a:gd name="T8" fmla="*/ 0 60000 65536"/>
              <a:gd name="T9" fmla="*/ 0 w 14"/>
              <a:gd name="T10" fmla="*/ 0 h 2"/>
              <a:gd name="T11" fmla="*/ 14 w 14"/>
              <a:gd name="T12" fmla="*/ 2 h 2"/>
            </a:gdLst>
            <a:ahLst/>
            <a:cxnLst>
              <a:cxn ang="T6">
                <a:pos x="T0" y="T1"/>
              </a:cxn>
              <a:cxn ang="T7">
                <a:pos x="T2" y="T3"/>
              </a:cxn>
              <a:cxn ang="T8">
                <a:pos x="T4" y="T5"/>
              </a:cxn>
            </a:cxnLst>
            <a:rect l="T9" t="T10" r="T11" b="T12"/>
            <a:pathLst>
              <a:path w="14" h="2">
                <a:moveTo>
                  <a:pt x="0" y="2"/>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88086" name="Freeform 23">
            <a:extLst>
              <a:ext uri="{FF2B5EF4-FFF2-40B4-BE49-F238E27FC236}">
                <a16:creationId xmlns:a16="http://schemas.microsoft.com/office/drawing/2014/main" id="{7CAE055B-E99A-E745-AF7B-6170DD529735}"/>
              </a:ext>
            </a:extLst>
          </p:cNvPr>
          <p:cNvSpPr>
            <a:spLocks/>
          </p:cNvSpPr>
          <p:nvPr/>
        </p:nvSpPr>
        <p:spPr bwMode="auto">
          <a:xfrm>
            <a:off x="2209801" y="3957638"/>
            <a:ext cx="303213" cy="1916112"/>
          </a:xfrm>
          <a:custGeom>
            <a:avLst/>
            <a:gdLst>
              <a:gd name="T0" fmla="*/ 0 w 14"/>
              <a:gd name="T1" fmla="*/ 0 h 88"/>
              <a:gd name="T2" fmla="*/ 0 w 14"/>
              <a:gd name="T3" fmla="*/ 2147483647 h 88"/>
              <a:gd name="T4" fmla="*/ 2147483647 w 14"/>
              <a:gd name="T5" fmla="*/ 2147483647 h 88"/>
              <a:gd name="T6" fmla="*/ 0 60000 65536"/>
              <a:gd name="T7" fmla="*/ 0 60000 65536"/>
              <a:gd name="T8" fmla="*/ 0 60000 65536"/>
              <a:gd name="T9" fmla="*/ 0 w 14"/>
              <a:gd name="T10" fmla="*/ 0 h 88"/>
              <a:gd name="T11" fmla="*/ 14 w 14"/>
              <a:gd name="T12" fmla="*/ 88 h 88"/>
            </a:gdLst>
            <a:ahLst/>
            <a:cxnLst>
              <a:cxn ang="T6">
                <a:pos x="T0" y="T1"/>
              </a:cxn>
              <a:cxn ang="T7">
                <a:pos x="T2" y="T3"/>
              </a:cxn>
              <a:cxn ang="T8">
                <a:pos x="T4" y="T5"/>
              </a:cxn>
            </a:cxnLst>
            <a:rect l="T9" t="T10" r="T11" b="T12"/>
            <a:pathLst>
              <a:path w="14" h="88">
                <a:moveTo>
                  <a:pt x="0" y="0"/>
                </a:moveTo>
                <a:lnTo>
                  <a:pt x="0" y="88"/>
                </a:lnTo>
                <a:lnTo>
                  <a:pt x="14" y="88"/>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88087" name="Rectangle 24">
            <a:extLst>
              <a:ext uri="{FF2B5EF4-FFF2-40B4-BE49-F238E27FC236}">
                <a16:creationId xmlns:a16="http://schemas.microsoft.com/office/drawing/2014/main" id="{E698F812-3C2E-CA44-B6AB-E9637BD5BB44}"/>
              </a:ext>
            </a:extLst>
          </p:cNvPr>
          <p:cNvSpPr>
            <a:spLocks noChangeArrowheads="1"/>
          </p:cNvSpPr>
          <p:nvPr/>
        </p:nvSpPr>
        <p:spPr bwMode="auto">
          <a:xfrm>
            <a:off x="2093914" y="3657600"/>
            <a:ext cx="238125" cy="261938"/>
          </a:xfrm>
          <a:prstGeom prst="rect">
            <a:avLst/>
          </a:prstGeom>
          <a:solidFill>
            <a:schemeClr val="bg1"/>
          </a:solidFill>
          <a:ln w="25400">
            <a:solidFill>
              <a:srgbClr val="0000FF"/>
            </a:solidFill>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88088" name="Text Box 25">
            <a:extLst>
              <a:ext uri="{FF2B5EF4-FFF2-40B4-BE49-F238E27FC236}">
                <a16:creationId xmlns:a16="http://schemas.microsoft.com/office/drawing/2014/main" id="{DDBAD7E1-D1FB-7842-ABCD-A6A4D252D7C3}"/>
              </a:ext>
            </a:extLst>
          </p:cNvPr>
          <p:cNvSpPr txBox="1">
            <a:spLocks noChangeArrowheads="1"/>
          </p:cNvSpPr>
          <p:nvPr/>
        </p:nvSpPr>
        <p:spPr bwMode="auto">
          <a:xfrm>
            <a:off x="8763000" y="685801"/>
            <a:ext cx="1600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1800" b="1" u="sng">
                <a:solidFill>
                  <a:srgbClr val="000000"/>
                </a:solidFill>
              </a:rPr>
              <a:t>P(Death</a:t>
            </a:r>
            <a:r>
              <a:rPr lang="en-US" altLang="en-MX" sz="1800" b="1" u="sng">
                <a:solidFill>
                  <a:srgbClr val="000000"/>
                </a:solidFill>
                <a:latin typeface="Garamond" panose="02020404030301010803" pitchFamily="18" charset="0"/>
              </a:rPr>
              <a:t>)</a:t>
            </a:r>
          </a:p>
        </p:txBody>
      </p:sp>
      <p:sp>
        <p:nvSpPr>
          <p:cNvPr id="88089" name="Line 26">
            <a:extLst>
              <a:ext uri="{FF2B5EF4-FFF2-40B4-BE49-F238E27FC236}">
                <a16:creationId xmlns:a16="http://schemas.microsoft.com/office/drawing/2014/main" id="{AFD7DF7F-F6F0-6740-9DC2-11444B9A9BBC}"/>
              </a:ext>
            </a:extLst>
          </p:cNvPr>
          <p:cNvSpPr>
            <a:spLocks noChangeShapeType="1"/>
          </p:cNvSpPr>
          <p:nvPr/>
        </p:nvSpPr>
        <p:spPr bwMode="auto">
          <a:xfrm>
            <a:off x="8915400" y="14478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88090" name="Line 27">
            <a:extLst>
              <a:ext uri="{FF2B5EF4-FFF2-40B4-BE49-F238E27FC236}">
                <a16:creationId xmlns:a16="http://schemas.microsoft.com/office/drawing/2014/main" id="{4E4CD646-07BF-EF47-92FF-9E01D275CEAC}"/>
              </a:ext>
            </a:extLst>
          </p:cNvPr>
          <p:cNvSpPr>
            <a:spLocks noChangeShapeType="1"/>
          </p:cNvSpPr>
          <p:nvPr/>
        </p:nvSpPr>
        <p:spPr bwMode="auto">
          <a:xfrm>
            <a:off x="4267200" y="2286000"/>
            <a:ext cx="43434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88091" name="Line 28">
            <a:extLst>
              <a:ext uri="{FF2B5EF4-FFF2-40B4-BE49-F238E27FC236}">
                <a16:creationId xmlns:a16="http://schemas.microsoft.com/office/drawing/2014/main" id="{A2506B48-F6CF-FD41-A7F8-F5E9AFA8B8D6}"/>
              </a:ext>
            </a:extLst>
          </p:cNvPr>
          <p:cNvSpPr>
            <a:spLocks noChangeShapeType="1"/>
          </p:cNvSpPr>
          <p:nvPr/>
        </p:nvSpPr>
        <p:spPr bwMode="auto">
          <a:xfrm>
            <a:off x="4343400" y="5562600"/>
            <a:ext cx="1295400" cy="0"/>
          </a:xfrm>
          <a:prstGeom prst="line">
            <a:avLst/>
          </a:prstGeom>
          <a:noFill/>
          <a:ln w="1905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88092" name="Oval 29">
            <a:extLst>
              <a:ext uri="{FF2B5EF4-FFF2-40B4-BE49-F238E27FC236}">
                <a16:creationId xmlns:a16="http://schemas.microsoft.com/office/drawing/2014/main" id="{F2A3592D-C1FA-D34D-BBA2-4BDAF4532D25}"/>
              </a:ext>
            </a:extLst>
          </p:cNvPr>
          <p:cNvSpPr>
            <a:spLocks noChangeArrowheads="1"/>
          </p:cNvSpPr>
          <p:nvPr/>
        </p:nvSpPr>
        <p:spPr bwMode="auto">
          <a:xfrm>
            <a:off x="5562601" y="1566864"/>
            <a:ext cx="238125" cy="261937"/>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88093" name="Rectangle 30">
            <a:extLst>
              <a:ext uri="{FF2B5EF4-FFF2-40B4-BE49-F238E27FC236}">
                <a16:creationId xmlns:a16="http://schemas.microsoft.com/office/drawing/2014/main" id="{AB658CB1-E768-1545-99B7-2F483822E819}"/>
              </a:ext>
            </a:extLst>
          </p:cNvPr>
          <p:cNvSpPr>
            <a:spLocks noChangeArrowheads="1"/>
          </p:cNvSpPr>
          <p:nvPr/>
        </p:nvSpPr>
        <p:spPr bwMode="auto">
          <a:xfrm>
            <a:off x="5943600" y="1066800"/>
            <a:ext cx="12319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Encephalitis</a:t>
            </a:r>
          </a:p>
        </p:txBody>
      </p:sp>
      <p:sp>
        <p:nvSpPr>
          <p:cNvPr id="88094" name="Line 31">
            <a:extLst>
              <a:ext uri="{FF2B5EF4-FFF2-40B4-BE49-F238E27FC236}">
                <a16:creationId xmlns:a16="http://schemas.microsoft.com/office/drawing/2014/main" id="{5AA91EB4-C1F9-8A41-86AB-E8D556557B7D}"/>
              </a:ext>
            </a:extLst>
          </p:cNvPr>
          <p:cNvSpPr>
            <a:spLocks noChangeShapeType="1"/>
          </p:cNvSpPr>
          <p:nvPr/>
        </p:nvSpPr>
        <p:spPr bwMode="auto">
          <a:xfrm flipV="1">
            <a:off x="5957888" y="1371601"/>
            <a:ext cx="2652712" cy="1587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88095" name="Line 32">
            <a:extLst>
              <a:ext uri="{FF2B5EF4-FFF2-40B4-BE49-F238E27FC236}">
                <a16:creationId xmlns:a16="http://schemas.microsoft.com/office/drawing/2014/main" id="{6FB24BFC-B187-8341-B5AB-14C2CEAF5866}"/>
              </a:ext>
            </a:extLst>
          </p:cNvPr>
          <p:cNvSpPr>
            <a:spLocks noChangeShapeType="1"/>
          </p:cNvSpPr>
          <p:nvPr/>
        </p:nvSpPr>
        <p:spPr bwMode="auto">
          <a:xfrm>
            <a:off x="5943600" y="1981200"/>
            <a:ext cx="25908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88096" name="Freeform 33">
            <a:extLst>
              <a:ext uri="{FF2B5EF4-FFF2-40B4-BE49-F238E27FC236}">
                <a16:creationId xmlns:a16="http://schemas.microsoft.com/office/drawing/2014/main" id="{DD4CC180-3B94-E046-B36A-EAA25B04206E}"/>
              </a:ext>
            </a:extLst>
          </p:cNvPr>
          <p:cNvSpPr>
            <a:spLocks/>
          </p:cNvSpPr>
          <p:nvPr/>
        </p:nvSpPr>
        <p:spPr bwMode="auto">
          <a:xfrm>
            <a:off x="5715000" y="5257801"/>
            <a:ext cx="2895600" cy="396875"/>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88097" name="Freeform 34">
            <a:extLst>
              <a:ext uri="{FF2B5EF4-FFF2-40B4-BE49-F238E27FC236}">
                <a16:creationId xmlns:a16="http://schemas.microsoft.com/office/drawing/2014/main" id="{8AFD9D9F-7295-6D42-BA48-6BE6426A371D}"/>
              </a:ext>
            </a:extLst>
          </p:cNvPr>
          <p:cNvSpPr>
            <a:spLocks/>
          </p:cNvSpPr>
          <p:nvPr/>
        </p:nvSpPr>
        <p:spPr bwMode="auto">
          <a:xfrm>
            <a:off x="5716588" y="5502276"/>
            <a:ext cx="303212" cy="347663"/>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88098" name="Line 35">
            <a:extLst>
              <a:ext uri="{FF2B5EF4-FFF2-40B4-BE49-F238E27FC236}">
                <a16:creationId xmlns:a16="http://schemas.microsoft.com/office/drawing/2014/main" id="{57428EAF-750A-E54E-BD4E-EFCDAD749F9B}"/>
              </a:ext>
            </a:extLst>
          </p:cNvPr>
          <p:cNvSpPr>
            <a:spLocks noChangeShapeType="1"/>
          </p:cNvSpPr>
          <p:nvPr/>
        </p:nvSpPr>
        <p:spPr bwMode="auto">
          <a:xfrm>
            <a:off x="6005513" y="5849938"/>
            <a:ext cx="25146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88099" name="Rectangle 36">
            <a:extLst>
              <a:ext uri="{FF2B5EF4-FFF2-40B4-BE49-F238E27FC236}">
                <a16:creationId xmlns:a16="http://schemas.microsoft.com/office/drawing/2014/main" id="{DFA8A1A3-5C4F-C54C-86DE-136CDF5B5411}"/>
              </a:ext>
            </a:extLst>
          </p:cNvPr>
          <p:cNvSpPr>
            <a:spLocks noChangeArrowheads="1"/>
          </p:cNvSpPr>
          <p:nvPr/>
        </p:nvSpPr>
        <p:spPr bwMode="auto">
          <a:xfrm>
            <a:off x="5943600" y="1660525"/>
            <a:ext cx="1752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Encephalitis</a:t>
            </a:r>
          </a:p>
        </p:txBody>
      </p:sp>
      <p:sp>
        <p:nvSpPr>
          <p:cNvPr id="88100" name="Rectangle 37">
            <a:extLst>
              <a:ext uri="{FF2B5EF4-FFF2-40B4-BE49-F238E27FC236}">
                <a16:creationId xmlns:a16="http://schemas.microsoft.com/office/drawing/2014/main" id="{A90575D4-864D-704D-85AA-A79B682A9D2E}"/>
              </a:ext>
            </a:extLst>
          </p:cNvPr>
          <p:cNvSpPr>
            <a:spLocks noChangeArrowheads="1"/>
          </p:cNvSpPr>
          <p:nvPr/>
        </p:nvSpPr>
        <p:spPr bwMode="auto">
          <a:xfrm>
            <a:off x="5956300" y="4999039"/>
            <a:ext cx="12319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Encephalitis</a:t>
            </a:r>
          </a:p>
        </p:txBody>
      </p:sp>
      <p:sp>
        <p:nvSpPr>
          <p:cNvPr id="88101" name="Rectangle 38">
            <a:extLst>
              <a:ext uri="{FF2B5EF4-FFF2-40B4-BE49-F238E27FC236}">
                <a16:creationId xmlns:a16="http://schemas.microsoft.com/office/drawing/2014/main" id="{3F7A5CFA-6CE7-1947-AAB5-CF11374C4607}"/>
              </a:ext>
            </a:extLst>
          </p:cNvPr>
          <p:cNvSpPr>
            <a:spLocks noChangeArrowheads="1"/>
          </p:cNvSpPr>
          <p:nvPr/>
        </p:nvSpPr>
        <p:spPr bwMode="auto">
          <a:xfrm>
            <a:off x="5943600" y="5562600"/>
            <a:ext cx="1752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Encephalitis</a:t>
            </a:r>
          </a:p>
        </p:txBody>
      </p:sp>
      <p:sp>
        <p:nvSpPr>
          <p:cNvPr id="88102" name="Oval 39">
            <a:extLst>
              <a:ext uri="{FF2B5EF4-FFF2-40B4-BE49-F238E27FC236}">
                <a16:creationId xmlns:a16="http://schemas.microsoft.com/office/drawing/2014/main" id="{3882DE13-858D-F845-8913-85DEAC6B25AF}"/>
              </a:ext>
            </a:extLst>
          </p:cNvPr>
          <p:cNvSpPr>
            <a:spLocks noChangeArrowheads="1"/>
          </p:cNvSpPr>
          <p:nvPr/>
        </p:nvSpPr>
        <p:spPr bwMode="auto">
          <a:xfrm>
            <a:off x="5629276" y="5426075"/>
            <a:ext cx="238125" cy="261938"/>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88103" name="Oval 40">
            <a:extLst>
              <a:ext uri="{FF2B5EF4-FFF2-40B4-BE49-F238E27FC236}">
                <a16:creationId xmlns:a16="http://schemas.microsoft.com/office/drawing/2014/main" id="{FF24D8FC-F328-0D4D-B5BF-D8B857A1E430}"/>
              </a:ext>
            </a:extLst>
          </p:cNvPr>
          <p:cNvSpPr>
            <a:spLocks noChangeArrowheads="1"/>
          </p:cNvSpPr>
          <p:nvPr/>
        </p:nvSpPr>
        <p:spPr bwMode="auto">
          <a:xfrm>
            <a:off x="3963989" y="5729288"/>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88104" name="Freeform 41">
            <a:extLst>
              <a:ext uri="{FF2B5EF4-FFF2-40B4-BE49-F238E27FC236}">
                <a16:creationId xmlns:a16="http://schemas.microsoft.com/office/drawing/2014/main" id="{715C00C5-64B8-784B-B46C-1EFEBE6BD1F9}"/>
              </a:ext>
            </a:extLst>
          </p:cNvPr>
          <p:cNvSpPr>
            <a:spLocks/>
          </p:cNvSpPr>
          <p:nvPr/>
        </p:nvSpPr>
        <p:spPr bwMode="auto">
          <a:xfrm>
            <a:off x="4114801" y="3276600"/>
            <a:ext cx="371475" cy="533400"/>
          </a:xfrm>
          <a:custGeom>
            <a:avLst/>
            <a:gdLst>
              <a:gd name="T0" fmla="*/ 0 w 14"/>
              <a:gd name="T1" fmla="*/ 2147483647 h 16"/>
              <a:gd name="T2" fmla="*/ 0 w 14"/>
              <a:gd name="T3" fmla="*/ 0 h 16"/>
              <a:gd name="T4" fmla="*/ 2147483647 w 14"/>
              <a:gd name="T5" fmla="*/ 0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16"/>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88105" name="Freeform 42">
            <a:extLst>
              <a:ext uri="{FF2B5EF4-FFF2-40B4-BE49-F238E27FC236}">
                <a16:creationId xmlns:a16="http://schemas.microsoft.com/office/drawing/2014/main" id="{982DFC8C-21F0-D840-A6C0-DBA2D3F72C7B}"/>
              </a:ext>
            </a:extLst>
          </p:cNvPr>
          <p:cNvSpPr>
            <a:spLocks/>
          </p:cNvSpPr>
          <p:nvPr/>
        </p:nvSpPr>
        <p:spPr bwMode="auto">
          <a:xfrm>
            <a:off x="4114801" y="3962400"/>
            <a:ext cx="295275" cy="533400"/>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88106" name="Oval 43">
            <a:extLst>
              <a:ext uri="{FF2B5EF4-FFF2-40B4-BE49-F238E27FC236}">
                <a16:creationId xmlns:a16="http://schemas.microsoft.com/office/drawing/2014/main" id="{CB03CB3D-23B4-2845-BB67-8BD2EC94C935}"/>
              </a:ext>
            </a:extLst>
          </p:cNvPr>
          <p:cNvSpPr>
            <a:spLocks noChangeArrowheads="1"/>
          </p:cNvSpPr>
          <p:nvPr/>
        </p:nvSpPr>
        <p:spPr bwMode="auto">
          <a:xfrm>
            <a:off x="3976689" y="3733800"/>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88107" name="Line 44">
            <a:extLst>
              <a:ext uri="{FF2B5EF4-FFF2-40B4-BE49-F238E27FC236}">
                <a16:creationId xmlns:a16="http://schemas.microsoft.com/office/drawing/2014/main" id="{CE18F6EE-8F98-8A4F-8D33-9317D3BFAA9B}"/>
              </a:ext>
            </a:extLst>
          </p:cNvPr>
          <p:cNvSpPr>
            <a:spLocks noChangeShapeType="1"/>
          </p:cNvSpPr>
          <p:nvPr/>
        </p:nvSpPr>
        <p:spPr bwMode="auto">
          <a:xfrm>
            <a:off x="4419600" y="3276600"/>
            <a:ext cx="7620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88108" name="Line 45">
            <a:extLst>
              <a:ext uri="{FF2B5EF4-FFF2-40B4-BE49-F238E27FC236}">
                <a16:creationId xmlns:a16="http://schemas.microsoft.com/office/drawing/2014/main" id="{D7CF6B1C-5655-9B48-851F-ADE655D3B3AE}"/>
              </a:ext>
            </a:extLst>
          </p:cNvPr>
          <p:cNvSpPr>
            <a:spLocks noChangeShapeType="1"/>
          </p:cNvSpPr>
          <p:nvPr/>
        </p:nvSpPr>
        <p:spPr bwMode="auto">
          <a:xfrm>
            <a:off x="4419600" y="4495800"/>
            <a:ext cx="960438"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88109" name="Rectangle 46">
            <a:extLst>
              <a:ext uri="{FF2B5EF4-FFF2-40B4-BE49-F238E27FC236}">
                <a16:creationId xmlns:a16="http://schemas.microsoft.com/office/drawing/2014/main" id="{8E9C2E1E-066D-CF42-9FC8-79D715246912}"/>
              </a:ext>
            </a:extLst>
          </p:cNvPr>
          <p:cNvSpPr>
            <a:spLocks noChangeArrowheads="1"/>
          </p:cNvSpPr>
          <p:nvPr/>
        </p:nvSpPr>
        <p:spPr bwMode="auto">
          <a:xfrm>
            <a:off x="5486400" y="3124200"/>
            <a:ext cx="14097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Spray</a:t>
            </a:r>
          </a:p>
        </p:txBody>
      </p:sp>
      <p:sp>
        <p:nvSpPr>
          <p:cNvPr id="88110" name="Text Box 47">
            <a:extLst>
              <a:ext uri="{FF2B5EF4-FFF2-40B4-BE49-F238E27FC236}">
                <a16:creationId xmlns:a16="http://schemas.microsoft.com/office/drawing/2014/main" id="{CEC771C7-A90A-F14F-AA7C-526E73F4CD74}"/>
              </a:ext>
            </a:extLst>
          </p:cNvPr>
          <p:cNvSpPr txBox="1">
            <a:spLocks noChangeArrowheads="1"/>
          </p:cNvSpPr>
          <p:nvPr/>
        </p:nvSpPr>
        <p:spPr bwMode="auto">
          <a:xfrm>
            <a:off x="5638800" y="4191000"/>
            <a:ext cx="990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a:solidFill>
                  <a:srgbClr val="000000"/>
                </a:solidFill>
              </a:rPr>
              <a:t>Don</a:t>
            </a:r>
            <a:r>
              <a:rPr lang="ja-JP" altLang="en-US" sz="1800">
                <a:solidFill>
                  <a:srgbClr val="000000"/>
                </a:solidFill>
              </a:rPr>
              <a:t>’</a:t>
            </a:r>
            <a:r>
              <a:rPr lang="en-US" altLang="ja-JP" sz="1800">
                <a:solidFill>
                  <a:srgbClr val="000000"/>
                </a:solidFill>
              </a:rPr>
              <a:t>t spray</a:t>
            </a:r>
            <a:endParaRPr lang="en-US" altLang="en-MX" sz="1800">
              <a:solidFill>
                <a:srgbClr val="000000"/>
              </a:solidFill>
            </a:endParaRPr>
          </a:p>
        </p:txBody>
      </p:sp>
      <p:sp>
        <p:nvSpPr>
          <p:cNvPr id="88111" name="Line 48">
            <a:extLst>
              <a:ext uri="{FF2B5EF4-FFF2-40B4-BE49-F238E27FC236}">
                <a16:creationId xmlns:a16="http://schemas.microsoft.com/office/drawing/2014/main" id="{97462064-2284-A848-BAFE-BB86C136EB82}"/>
              </a:ext>
            </a:extLst>
          </p:cNvPr>
          <p:cNvSpPr>
            <a:spLocks noChangeShapeType="1"/>
          </p:cNvSpPr>
          <p:nvPr/>
        </p:nvSpPr>
        <p:spPr bwMode="auto">
          <a:xfrm>
            <a:off x="8915400" y="19050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88112" name="Line 49">
            <a:extLst>
              <a:ext uri="{FF2B5EF4-FFF2-40B4-BE49-F238E27FC236}">
                <a16:creationId xmlns:a16="http://schemas.microsoft.com/office/drawing/2014/main" id="{320204BF-C7F8-744C-959B-D89FBE82DA20}"/>
              </a:ext>
            </a:extLst>
          </p:cNvPr>
          <p:cNvSpPr>
            <a:spLocks noChangeShapeType="1"/>
          </p:cNvSpPr>
          <p:nvPr/>
        </p:nvSpPr>
        <p:spPr bwMode="auto">
          <a:xfrm>
            <a:off x="8915400" y="22860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88113" name="Line 50">
            <a:extLst>
              <a:ext uri="{FF2B5EF4-FFF2-40B4-BE49-F238E27FC236}">
                <a16:creationId xmlns:a16="http://schemas.microsoft.com/office/drawing/2014/main" id="{AF421003-37EF-BC4F-9534-A5BBD9252FEE}"/>
              </a:ext>
            </a:extLst>
          </p:cNvPr>
          <p:cNvSpPr>
            <a:spLocks noChangeShapeType="1"/>
          </p:cNvSpPr>
          <p:nvPr/>
        </p:nvSpPr>
        <p:spPr bwMode="auto">
          <a:xfrm>
            <a:off x="8915400" y="29718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88114" name="Line 51">
            <a:extLst>
              <a:ext uri="{FF2B5EF4-FFF2-40B4-BE49-F238E27FC236}">
                <a16:creationId xmlns:a16="http://schemas.microsoft.com/office/drawing/2014/main" id="{DEACA3D8-B2C0-A04B-9471-CA571EFABB17}"/>
              </a:ext>
            </a:extLst>
          </p:cNvPr>
          <p:cNvSpPr>
            <a:spLocks noChangeShapeType="1"/>
          </p:cNvSpPr>
          <p:nvPr/>
        </p:nvSpPr>
        <p:spPr bwMode="auto">
          <a:xfrm>
            <a:off x="8915400" y="35814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88115" name="Line 52">
            <a:extLst>
              <a:ext uri="{FF2B5EF4-FFF2-40B4-BE49-F238E27FC236}">
                <a16:creationId xmlns:a16="http://schemas.microsoft.com/office/drawing/2014/main" id="{B18CADCF-EE12-8C42-AD05-EB10344E2A05}"/>
              </a:ext>
            </a:extLst>
          </p:cNvPr>
          <p:cNvSpPr>
            <a:spLocks noChangeShapeType="1"/>
          </p:cNvSpPr>
          <p:nvPr/>
        </p:nvSpPr>
        <p:spPr bwMode="auto">
          <a:xfrm>
            <a:off x="8915400" y="43434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88116" name="Line 53">
            <a:extLst>
              <a:ext uri="{FF2B5EF4-FFF2-40B4-BE49-F238E27FC236}">
                <a16:creationId xmlns:a16="http://schemas.microsoft.com/office/drawing/2014/main" id="{611784C7-0D0D-5E40-B868-D4F1D980DFE7}"/>
              </a:ext>
            </a:extLst>
          </p:cNvPr>
          <p:cNvSpPr>
            <a:spLocks noChangeShapeType="1"/>
          </p:cNvSpPr>
          <p:nvPr/>
        </p:nvSpPr>
        <p:spPr bwMode="auto">
          <a:xfrm>
            <a:off x="8915400" y="48006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88117" name="Line 54">
            <a:extLst>
              <a:ext uri="{FF2B5EF4-FFF2-40B4-BE49-F238E27FC236}">
                <a16:creationId xmlns:a16="http://schemas.microsoft.com/office/drawing/2014/main" id="{EE25C1AB-1AB0-0F44-B349-BAA0FBD68A77}"/>
              </a:ext>
            </a:extLst>
          </p:cNvPr>
          <p:cNvSpPr>
            <a:spLocks noChangeShapeType="1"/>
          </p:cNvSpPr>
          <p:nvPr/>
        </p:nvSpPr>
        <p:spPr bwMode="auto">
          <a:xfrm>
            <a:off x="8915400" y="53340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88118" name="Line 55">
            <a:extLst>
              <a:ext uri="{FF2B5EF4-FFF2-40B4-BE49-F238E27FC236}">
                <a16:creationId xmlns:a16="http://schemas.microsoft.com/office/drawing/2014/main" id="{8BECBAD3-D901-F646-9612-B42D962B8CB1}"/>
              </a:ext>
            </a:extLst>
          </p:cNvPr>
          <p:cNvSpPr>
            <a:spLocks noChangeShapeType="1"/>
          </p:cNvSpPr>
          <p:nvPr/>
        </p:nvSpPr>
        <p:spPr bwMode="auto">
          <a:xfrm>
            <a:off x="8915400" y="57912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88119" name="Line 56">
            <a:extLst>
              <a:ext uri="{FF2B5EF4-FFF2-40B4-BE49-F238E27FC236}">
                <a16:creationId xmlns:a16="http://schemas.microsoft.com/office/drawing/2014/main" id="{0864223B-26DB-B641-9DAA-AD2D26B5E5BB}"/>
              </a:ext>
            </a:extLst>
          </p:cNvPr>
          <p:cNvSpPr>
            <a:spLocks noChangeShapeType="1"/>
          </p:cNvSpPr>
          <p:nvPr/>
        </p:nvSpPr>
        <p:spPr bwMode="auto">
          <a:xfrm>
            <a:off x="8915400" y="63246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88120" name="Rectangle 57">
            <a:extLst>
              <a:ext uri="{FF2B5EF4-FFF2-40B4-BE49-F238E27FC236}">
                <a16:creationId xmlns:a16="http://schemas.microsoft.com/office/drawing/2014/main" id="{23C328DA-B504-A645-9CAC-E88BF0DC75EB}"/>
              </a:ext>
            </a:extLst>
          </p:cNvPr>
          <p:cNvSpPr>
            <a:spLocks noChangeArrowheads="1"/>
          </p:cNvSpPr>
          <p:nvPr/>
        </p:nvSpPr>
        <p:spPr bwMode="auto">
          <a:xfrm>
            <a:off x="4191000" y="2895601"/>
            <a:ext cx="117981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ja-JP" altLang="en-US" sz="1800">
                <a:solidFill>
                  <a:srgbClr val="000000"/>
                </a:solidFill>
              </a:rPr>
              <a:t>“</a:t>
            </a:r>
            <a:r>
              <a:rPr lang="en-US" altLang="ja-JP" sz="1800">
                <a:solidFill>
                  <a:srgbClr val="000000"/>
                </a:solidFill>
              </a:rPr>
              <a:t>Outbreak</a:t>
            </a:r>
            <a:r>
              <a:rPr lang="ja-JP" altLang="en-US" sz="1800">
                <a:solidFill>
                  <a:srgbClr val="000000"/>
                </a:solidFill>
              </a:rPr>
              <a:t>”</a:t>
            </a:r>
            <a:endParaRPr lang="en-US" altLang="en-MX" sz="1800">
              <a:solidFill>
                <a:srgbClr val="000000"/>
              </a:solidFill>
            </a:endParaRPr>
          </a:p>
        </p:txBody>
      </p:sp>
      <p:sp>
        <p:nvSpPr>
          <p:cNvPr id="88121" name="Rectangle 58">
            <a:extLst>
              <a:ext uri="{FF2B5EF4-FFF2-40B4-BE49-F238E27FC236}">
                <a16:creationId xmlns:a16="http://schemas.microsoft.com/office/drawing/2014/main" id="{7CD3A0A5-71B9-D543-8DA1-6C5AD13E0A3B}"/>
              </a:ext>
            </a:extLst>
          </p:cNvPr>
          <p:cNvSpPr>
            <a:spLocks noChangeArrowheads="1"/>
          </p:cNvSpPr>
          <p:nvPr/>
        </p:nvSpPr>
        <p:spPr bwMode="auto">
          <a:xfrm>
            <a:off x="4191000" y="3962401"/>
            <a:ext cx="10668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ja-JP" altLang="en-US" sz="1800">
                <a:solidFill>
                  <a:srgbClr val="000000"/>
                </a:solidFill>
              </a:rPr>
              <a:t>“</a:t>
            </a:r>
            <a:r>
              <a:rPr lang="en-US" altLang="ja-JP" sz="1800">
                <a:solidFill>
                  <a:srgbClr val="000000"/>
                </a:solidFill>
              </a:rPr>
              <a:t>No</a:t>
            </a:r>
          </a:p>
          <a:p>
            <a:r>
              <a:rPr lang="en-US" altLang="en-MX" sz="1800">
                <a:solidFill>
                  <a:srgbClr val="000000"/>
                </a:solidFill>
              </a:rPr>
              <a:t>Outbreak</a:t>
            </a:r>
            <a:r>
              <a:rPr lang="ja-JP" altLang="en-US" sz="1800">
                <a:solidFill>
                  <a:srgbClr val="000000"/>
                </a:solidFill>
              </a:rPr>
              <a:t>”</a:t>
            </a:r>
            <a:endParaRPr lang="en-US" altLang="en-MX" sz="1800">
              <a:solidFill>
                <a:srgbClr val="000000"/>
              </a:solidFill>
            </a:endParaRPr>
          </a:p>
        </p:txBody>
      </p:sp>
      <p:sp>
        <p:nvSpPr>
          <p:cNvPr id="88122" name="AutoShape 59">
            <a:extLst>
              <a:ext uri="{FF2B5EF4-FFF2-40B4-BE49-F238E27FC236}">
                <a16:creationId xmlns:a16="http://schemas.microsoft.com/office/drawing/2014/main" id="{94748A7E-FBB9-404B-9361-837DC2267B8F}"/>
              </a:ext>
            </a:extLst>
          </p:cNvPr>
          <p:cNvSpPr>
            <a:spLocks noChangeArrowheads="1"/>
          </p:cNvSpPr>
          <p:nvPr/>
        </p:nvSpPr>
        <p:spPr bwMode="auto">
          <a:xfrm>
            <a:off x="5105400" y="3124200"/>
            <a:ext cx="304800" cy="304800"/>
          </a:xfrm>
          <a:prstGeom prst="rightArrow">
            <a:avLst>
              <a:gd name="adj1" fmla="val 50000"/>
              <a:gd name="adj2" fmla="val 25000"/>
            </a:avLst>
          </a:prstGeom>
          <a:solidFill>
            <a:srgbClr val="990033"/>
          </a:solidFill>
          <a:ln w="12700">
            <a:solidFill>
              <a:srgbClr val="00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88123" name="AutoShape 60">
            <a:extLst>
              <a:ext uri="{FF2B5EF4-FFF2-40B4-BE49-F238E27FC236}">
                <a16:creationId xmlns:a16="http://schemas.microsoft.com/office/drawing/2014/main" id="{4BEA1D83-41B8-8A4D-BE74-31662BF65B33}"/>
              </a:ext>
            </a:extLst>
          </p:cNvPr>
          <p:cNvSpPr>
            <a:spLocks noChangeArrowheads="1"/>
          </p:cNvSpPr>
          <p:nvPr/>
        </p:nvSpPr>
        <p:spPr bwMode="auto">
          <a:xfrm>
            <a:off x="5334000" y="4343400"/>
            <a:ext cx="304800" cy="304800"/>
          </a:xfrm>
          <a:prstGeom prst="rightArrow">
            <a:avLst>
              <a:gd name="adj1" fmla="val 50000"/>
              <a:gd name="adj2" fmla="val 25000"/>
            </a:avLst>
          </a:prstGeom>
          <a:solidFill>
            <a:srgbClr val="990033"/>
          </a:solidFill>
          <a:ln w="12700">
            <a:solidFill>
              <a:srgbClr val="00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88124" name="Freeform 61">
            <a:extLst>
              <a:ext uri="{FF2B5EF4-FFF2-40B4-BE49-F238E27FC236}">
                <a16:creationId xmlns:a16="http://schemas.microsoft.com/office/drawing/2014/main" id="{8C13C105-5D1E-0C47-8F45-24EFAE67394A}"/>
              </a:ext>
            </a:extLst>
          </p:cNvPr>
          <p:cNvSpPr>
            <a:spLocks/>
          </p:cNvSpPr>
          <p:nvPr/>
        </p:nvSpPr>
        <p:spPr bwMode="auto">
          <a:xfrm>
            <a:off x="6235700" y="2971801"/>
            <a:ext cx="2451100" cy="396875"/>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88125" name="Freeform 62">
            <a:extLst>
              <a:ext uri="{FF2B5EF4-FFF2-40B4-BE49-F238E27FC236}">
                <a16:creationId xmlns:a16="http://schemas.microsoft.com/office/drawing/2014/main" id="{393945D5-9DAE-8741-9111-AB81AC2B23B0}"/>
              </a:ext>
            </a:extLst>
          </p:cNvPr>
          <p:cNvSpPr>
            <a:spLocks/>
          </p:cNvSpPr>
          <p:nvPr/>
        </p:nvSpPr>
        <p:spPr bwMode="auto">
          <a:xfrm>
            <a:off x="6235700" y="3249614"/>
            <a:ext cx="2374900" cy="331787"/>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88126" name="Rectangle 63">
            <a:extLst>
              <a:ext uri="{FF2B5EF4-FFF2-40B4-BE49-F238E27FC236}">
                <a16:creationId xmlns:a16="http://schemas.microsoft.com/office/drawing/2014/main" id="{8B6D0D31-F691-5A47-9BD1-2BCB4B9E066B}"/>
              </a:ext>
            </a:extLst>
          </p:cNvPr>
          <p:cNvSpPr>
            <a:spLocks noChangeArrowheads="1"/>
          </p:cNvSpPr>
          <p:nvPr/>
        </p:nvSpPr>
        <p:spPr bwMode="auto">
          <a:xfrm>
            <a:off x="6535738" y="2682875"/>
            <a:ext cx="12319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Encephalitis</a:t>
            </a:r>
          </a:p>
        </p:txBody>
      </p:sp>
      <p:sp>
        <p:nvSpPr>
          <p:cNvPr id="88127" name="Rectangle 64">
            <a:extLst>
              <a:ext uri="{FF2B5EF4-FFF2-40B4-BE49-F238E27FC236}">
                <a16:creationId xmlns:a16="http://schemas.microsoft.com/office/drawing/2014/main" id="{71211CE1-9B82-3C40-9C17-A126267650BC}"/>
              </a:ext>
            </a:extLst>
          </p:cNvPr>
          <p:cNvSpPr>
            <a:spLocks noChangeArrowheads="1"/>
          </p:cNvSpPr>
          <p:nvPr/>
        </p:nvSpPr>
        <p:spPr bwMode="auto">
          <a:xfrm>
            <a:off x="6477000" y="3276600"/>
            <a:ext cx="1752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Encephalitis</a:t>
            </a:r>
          </a:p>
        </p:txBody>
      </p:sp>
      <p:sp>
        <p:nvSpPr>
          <p:cNvPr id="88128" name="Oval 65">
            <a:extLst>
              <a:ext uri="{FF2B5EF4-FFF2-40B4-BE49-F238E27FC236}">
                <a16:creationId xmlns:a16="http://schemas.microsoft.com/office/drawing/2014/main" id="{3F10B0FA-CC8B-8B4F-9C66-9450CC3D98CA}"/>
              </a:ext>
            </a:extLst>
          </p:cNvPr>
          <p:cNvSpPr>
            <a:spLocks noChangeArrowheads="1"/>
          </p:cNvSpPr>
          <p:nvPr/>
        </p:nvSpPr>
        <p:spPr bwMode="auto">
          <a:xfrm>
            <a:off x="6172201" y="3124200"/>
            <a:ext cx="238125" cy="261938"/>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88129" name="Freeform 66">
            <a:extLst>
              <a:ext uri="{FF2B5EF4-FFF2-40B4-BE49-F238E27FC236}">
                <a16:creationId xmlns:a16="http://schemas.microsoft.com/office/drawing/2014/main" id="{C70C33D4-7CA6-7F4E-AFF5-2313777C7080}"/>
              </a:ext>
            </a:extLst>
          </p:cNvPr>
          <p:cNvSpPr>
            <a:spLocks/>
          </p:cNvSpPr>
          <p:nvPr/>
        </p:nvSpPr>
        <p:spPr bwMode="auto">
          <a:xfrm>
            <a:off x="6540500" y="4251326"/>
            <a:ext cx="2146300" cy="396875"/>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88130" name="Freeform 67">
            <a:extLst>
              <a:ext uri="{FF2B5EF4-FFF2-40B4-BE49-F238E27FC236}">
                <a16:creationId xmlns:a16="http://schemas.microsoft.com/office/drawing/2014/main" id="{4544F2DC-F3DC-2348-A267-6D4EF1E04E2B}"/>
              </a:ext>
            </a:extLst>
          </p:cNvPr>
          <p:cNvSpPr>
            <a:spLocks/>
          </p:cNvSpPr>
          <p:nvPr/>
        </p:nvSpPr>
        <p:spPr bwMode="auto">
          <a:xfrm>
            <a:off x="6540500" y="4529139"/>
            <a:ext cx="2070100" cy="331787"/>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88131" name="Rectangle 68">
            <a:extLst>
              <a:ext uri="{FF2B5EF4-FFF2-40B4-BE49-F238E27FC236}">
                <a16:creationId xmlns:a16="http://schemas.microsoft.com/office/drawing/2014/main" id="{BADEB3B0-8F50-434C-8A0B-4152B2B6868D}"/>
              </a:ext>
            </a:extLst>
          </p:cNvPr>
          <p:cNvSpPr>
            <a:spLocks noChangeArrowheads="1"/>
          </p:cNvSpPr>
          <p:nvPr/>
        </p:nvSpPr>
        <p:spPr bwMode="auto">
          <a:xfrm>
            <a:off x="6840538" y="3962400"/>
            <a:ext cx="12319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Encephalitis</a:t>
            </a:r>
          </a:p>
        </p:txBody>
      </p:sp>
      <p:sp>
        <p:nvSpPr>
          <p:cNvPr id="88132" name="Rectangle 69">
            <a:extLst>
              <a:ext uri="{FF2B5EF4-FFF2-40B4-BE49-F238E27FC236}">
                <a16:creationId xmlns:a16="http://schemas.microsoft.com/office/drawing/2014/main" id="{FFB84BE4-931E-8C49-8A1C-84FB7A637EAB}"/>
              </a:ext>
            </a:extLst>
          </p:cNvPr>
          <p:cNvSpPr>
            <a:spLocks noChangeArrowheads="1"/>
          </p:cNvSpPr>
          <p:nvPr/>
        </p:nvSpPr>
        <p:spPr bwMode="auto">
          <a:xfrm>
            <a:off x="6781800" y="4556125"/>
            <a:ext cx="1752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Encephalitis</a:t>
            </a:r>
          </a:p>
        </p:txBody>
      </p:sp>
      <p:sp>
        <p:nvSpPr>
          <p:cNvPr id="88133" name="Oval 70">
            <a:extLst>
              <a:ext uri="{FF2B5EF4-FFF2-40B4-BE49-F238E27FC236}">
                <a16:creationId xmlns:a16="http://schemas.microsoft.com/office/drawing/2014/main" id="{A1C088D5-AB2F-F548-B82F-B5884FB14B72}"/>
              </a:ext>
            </a:extLst>
          </p:cNvPr>
          <p:cNvSpPr>
            <a:spLocks noChangeArrowheads="1"/>
          </p:cNvSpPr>
          <p:nvPr/>
        </p:nvSpPr>
        <p:spPr bwMode="auto">
          <a:xfrm>
            <a:off x="6467476" y="4403725"/>
            <a:ext cx="238125" cy="261938"/>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88134" name="AutoShape 71">
            <a:extLst>
              <a:ext uri="{FF2B5EF4-FFF2-40B4-BE49-F238E27FC236}">
                <a16:creationId xmlns:a16="http://schemas.microsoft.com/office/drawing/2014/main" id="{C00ABD20-3B73-ED42-AC92-608AE2DB41AA}"/>
              </a:ext>
            </a:extLst>
          </p:cNvPr>
          <p:cNvSpPr>
            <a:spLocks noChangeArrowheads="1"/>
          </p:cNvSpPr>
          <p:nvPr/>
        </p:nvSpPr>
        <p:spPr bwMode="auto">
          <a:xfrm>
            <a:off x="8534400" y="12192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88135" name="AutoShape 72">
            <a:extLst>
              <a:ext uri="{FF2B5EF4-FFF2-40B4-BE49-F238E27FC236}">
                <a16:creationId xmlns:a16="http://schemas.microsoft.com/office/drawing/2014/main" id="{56820571-E723-6240-9956-99A1E7CBC74C}"/>
              </a:ext>
            </a:extLst>
          </p:cNvPr>
          <p:cNvSpPr>
            <a:spLocks noChangeArrowheads="1"/>
          </p:cNvSpPr>
          <p:nvPr/>
        </p:nvSpPr>
        <p:spPr bwMode="auto">
          <a:xfrm>
            <a:off x="8534400" y="16764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88136" name="AutoShape 73">
            <a:extLst>
              <a:ext uri="{FF2B5EF4-FFF2-40B4-BE49-F238E27FC236}">
                <a16:creationId xmlns:a16="http://schemas.microsoft.com/office/drawing/2014/main" id="{3CB9DBE2-33AA-A442-911D-A964A99C6971}"/>
              </a:ext>
            </a:extLst>
          </p:cNvPr>
          <p:cNvSpPr>
            <a:spLocks noChangeArrowheads="1"/>
          </p:cNvSpPr>
          <p:nvPr/>
        </p:nvSpPr>
        <p:spPr bwMode="auto">
          <a:xfrm>
            <a:off x="8534400" y="20574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88137" name="AutoShape 74">
            <a:extLst>
              <a:ext uri="{FF2B5EF4-FFF2-40B4-BE49-F238E27FC236}">
                <a16:creationId xmlns:a16="http://schemas.microsoft.com/office/drawing/2014/main" id="{6C1A0FF9-CB2B-AC49-BF72-DFCEF6EA6D86}"/>
              </a:ext>
            </a:extLst>
          </p:cNvPr>
          <p:cNvSpPr>
            <a:spLocks noChangeArrowheads="1"/>
          </p:cNvSpPr>
          <p:nvPr/>
        </p:nvSpPr>
        <p:spPr bwMode="auto">
          <a:xfrm>
            <a:off x="8534400" y="33528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88138" name="AutoShape 75">
            <a:extLst>
              <a:ext uri="{FF2B5EF4-FFF2-40B4-BE49-F238E27FC236}">
                <a16:creationId xmlns:a16="http://schemas.microsoft.com/office/drawing/2014/main" id="{DD6F44FC-7185-DD41-9392-09E3D2D6CDEA}"/>
              </a:ext>
            </a:extLst>
          </p:cNvPr>
          <p:cNvSpPr>
            <a:spLocks noChangeArrowheads="1"/>
          </p:cNvSpPr>
          <p:nvPr/>
        </p:nvSpPr>
        <p:spPr bwMode="auto">
          <a:xfrm>
            <a:off x="8534400" y="28194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88139" name="AutoShape 76">
            <a:extLst>
              <a:ext uri="{FF2B5EF4-FFF2-40B4-BE49-F238E27FC236}">
                <a16:creationId xmlns:a16="http://schemas.microsoft.com/office/drawing/2014/main" id="{443FF932-AAC9-D34D-AFCD-74347B7C4333}"/>
              </a:ext>
            </a:extLst>
          </p:cNvPr>
          <p:cNvSpPr>
            <a:spLocks noChangeArrowheads="1"/>
          </p:cNvSpPr>
          <p:nvPr/>
        </p:nvSpPr>
        <p:spPr bwMode="auto">
          <a:xfrm>
            <a:off x="8547100" y="5121275"/>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88140" name="AutoShape 77">
            <a:extLst>
              <a:ext uri="{FF2B5EF4-FFF2-40B4-BE49-F238E27FC236}">
                <a16:creationId xmlns:a16="http://schemas.microsoft.com/office/drawing/2014/main" id="{09590975-EFF5-3F42-A98E-ACA21BEF8474}"/>
              </a:ext>
            </a:extLst>
          </p:cNvPr>
          <p:cNvSpPr>
            <a:spLocks noChangeArrowheads="1"/>
          </p:cNvSpPr>
          <p:nvPr/>
        </p:nvSpPr>
        <p:spPr bwMode="auto">
          <a:xfrm>
            <a:off x="8547100" y="5578475"/>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88141" name="AutoShape 78">
            <a:extLst>
              <a:ext uri="{FF2B5EF4-FFF2-40B4-BE49-F238E27FC236}">
                <a16:creationId xmlns:a16="http://schemas.microsoft.com/office/drawing/2014/main" id="{2D23D70F-7749-D946-8E72-51980466910D}"/>
              </a:ext>
            </a:extLst>
          </p:cNvPr>
          <p:cNvSpPr>
            <a:spLocks noChangeArrowheads="1"/>
          </p:cNvSpPr>
          <p:nvPr/>
        </p:nvSpPr>
        <p:spPr bwMode="auto">
          <a:xfrm>
            <a:off x="8534400" y="6065838"/>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88142" name="AutoShape 79">
            <a:extLst>
              <a:ext uri="{FF2B5EF4-FFF2-40B4-BE49-F238E27FC236}">
                <a16:creationId xmlns:a16="http://schemas.microsoft.com/office/drawing/2014/main" id="{CFF8D2F1-2466-A94B-99BC-BEB27BF0F1B2}"/>
              </a:ext>
            </a:extLst>
          </p:cNvPr>
          <p:cNvSpPr>
            <a:spLocks noChangeArrowheads="1"/>
          </p:cNvSpPr>
          <p:nvPr/>
        </p:nvSpPr>
        <p:spPr bwMode="auto">
          <a:xfrm>
            <a:off x="8547100" y="41148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88143" name="AutoShape 80">
            <a:extLst>
              <a:ext uri="{FF2B5EF4-FFF2-40B4-BE49-F238E27FC236}">
                <a16:creationId xmlns:a16="http://schemas.microsoft.com/office/drawing/2014/main" id="{8AD55B3E-C252-9B4B-9818-A03C1BD9FC57}"/>
              </a:ext>
            </a:extLst>
          </p:cNvPr>
          <p:cNvSpPr>
            <a:spLocks noChangeArrowheads="1"/>
          </p:cNvSpPr>
          <p:nvPr/>
        </p:nvSpPr>
        <p:spPr bwMode="auto">
          <a:xfrm>
            <a:off x="8547100" y="45720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88144" name="Text Box 81">
            <a:extLst>
              <a:ext uri="{FF2B5EF4-FFF2-40B4-BE49-F238E27FC236}">
                <a16:creationId xmlns:a16="http://schemas.microsoft.com/office/drawing/2014/main" id="{86D56D98-BC1A-A245-A8F4-8BC1928FA9D9}"/>
              </a:ext>
            </a:extLst>
          </p:cNvPr>
          <p:cNvSpPr txBox="1">
            <a:spLocks noChangeArrowheads="1"/>
          </p:cNvSpPr>
          <p:nvPr/>
        </p:nvSpPr>
        <p:spPr bwMode="auto">
          <a:xfrm>
            <a:off x="4343400" y="164465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0.20</a:t>
            </a:r>
          </a:p>
        </p:txBody>
      </p:sp>
      <p:sp>
        <p:nvSpPr>
          <p:cNvPr id="88145" name="Text Box 82">
            <a:extLst>
              <a:ext uri="{FF2B5EF4-FFF2-40B4-BE49-F238E27FC236}">
                <a16:creationId xmlns:a16="http://schemas.microsoft.com/office/drawing/2014/main" id="{7CE2DAD9-7964-0443-91B8-86D75FFEBEBF}"/>
              </a:ext>
            </a:extLst>
          </p:cNvPr>
          <p:cNvSpPr txBox="1">
            <a:spLocks noChangeArrowheads="1"/>
          </p:cNvSpPr>
          <p:nvPr/>
        </p:nvSpPr>
        <p:spPr bwMode="auto">
          <a:xfrm>
            <a:off x="4343400" y="228600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0.80</a:t>
            </a:r>
          </a:p>
        </p:txBody>
      </p:sp>
      <p:sp>
        <p:nvSpPr>
          <p:cNvPr id="88146" name="Text Box 83">
            <a:extLst>
              <a:ext uri="{FF2B5EF4-FFF2-40B4-BE49-F238E27FC236}">
                <a16:creationId xmlns:a16="http://schemas.microsoft.com/office/drawing/2014/main" id="{BA5DEC1E-12D7-6649-A495-707ABEAD7612}"/>
              </a:ext>
            </a:extLst>
          </p:cNvPr>
          <p:cNvSpPr txBox="1">
            <a:spLocks noChangeArrowheads="1"/>
          </p:cNvSpPr>
          <p:nvPr/>
        </p:nvSpPr>
        <p:spPr bwMode="auto">
          <a:xfrm>
            <a:off x="6019800" y="133985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0.001</a:t>
            </a:r>
          </a:p>
        </p:txBody>
      </p:sp>
      <p:sp>
        <p:nvSpPr>
          <p:cNvPr id="88147" name="Text Box 84">
            <a:extLst>
              <a:ext uri="{FF2B5EF4-FFF2-40B4-BE49-F238E27FC236}">
                <a16:creationId xmlns:a16="http://schemas.microsoft.com/office/drawing/2014/main" id="{5E143FCF-BD35-EE4B-9509-B98557473B68}"/>
              </a:ext>
            </a:extLst>
          </p:cNvPr>
          <p:cNvSpPr txBox="1">
            <a:spLocks noChangeArrowheads="1"/>
          </p:cNvSpPr>
          <p:nvPr/>
        </p:nvSpPr>
        <p:spPr bwMode="auto">
          <a:xfrm>
            <a:off x="6019800" y="194945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0.999</a:t>
            </a:r>
          </a:p>
        </p:txBody>
      </p:sp>
      <p:sp>
        <p:nvSpPr>
          <p:cNvPr id="88148" name="Text Box 85">
            <a:extLst>
              <a:ext uri="{FF2B5EF4-FFF2-40B4-BE49-F238E27FC236}">
                <a16:creationId xmlns:a16="http://schemas.microsoft.com/office/drawing/2014/main" id="{504FC998-48A0-2942-9BCF-3BB8A3155299}"/>
              </a:ext>
            </a:extLst>
          </p:cNvPr>
          <p:cNvSpPr txBox="1">
            <a:spLocks noChangeArrowheads="1"/>
          </p:cNvSpPr>
          <p:nvPr/>
        </p:nvSpPr>
        <p:spPr bwMode="auto">
          <a:xfrm>
            <a:off x="4419600" y="556260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0.20</a:t>
            </a:r>
          </a:p>
        </p:txBody>
      </p:sp>
      <p:sp>
        <p:nvSpPr>
          <p:cNvPr id="88149" name="Text Box 86">
            <a:extLst>
              <a:ext uri="{FF2B5EF4-FFF2-40B4-BE49-F238E27FC236}">
                <a16:creationId xmlns:a16="http://schemas.microsoft.com/office/drawing/2014/main" id="{EE92C3CA-07C6-374D-9F93-F88F385B09B0}"/>
              </a:ext>
            </a:extLst>
          </p:cNvPr>
          <p:cNvSpPr txBox="1">
            <a:spLocks noChangeArrowheads="1"/>
          </p:cNvSpPr>
          <p:nvPr/>
        </p:nvSpPr>
        <p:spPr bwMode="auto">
          <a:xfrm>
            <a:off x="4419600" y="629285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0.80</a:t>
            </a:r>
          </a:p>
        </p:txBody>
      </p:sp>
      <p:sp>
        <p:nvSpPr>
          <p:cNvPr id="88150" name="Text Box 87">
            <a:extLst>
              <a:ext uri="{FF2B5EF4-FFF2-40B4-BE49-F238E27FC236}">
                <a16:creationId xmlns:a16="http://schemas.microsoft.com/office/drawing/2014/main" id="{945B8FB3-D742-6141-83A5-8144924E9423}"/>
              </a:ext>
            </a:extLst>
          </p:cNvPr>
          <p:cNvSpPr txBox="1">
            <a:spLocks noChangeArrowheads="1"/>
          </p:cNvSpPr>
          <p:nvPr/>
        </p:nvSpPr>
        <p:spPr bwMode="auto">
          <a:xfrm>
            <a:off x="6019800" y="525780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0.02</a:t>
            </a:r>
          </a:p>
        </p:txBody>
      </p:sp>
      <p:sp>
        <p:nvSpPr>
          <p:cNvPr id="88151" name="Text Box 88">
            <a:extLst>
              <a:ext uri="{FF2B5EF4-FFF2-40B4-BE49-F238E27FC236}">
                <a16:creationId xmlns:a16="http://schemas.microsoft.com/office/drawing/2014/main" id="{E3C42FFE-9F1A-E64B-AE99-57FE69C91D7C}"/>
              </a:ext>
            </a:extLst>
          </p:cNvPr>
          <p:cNvSpPr txBox="1">
            <a:spLocks noChangeArrowheads="1"/>
          </p:cNvSpPr>
          <p:nvPr/>
        </p:nvSpPr>
        <p:spPr bwMode="auto">
          <a:xfrm>
            <a:off x="6019800" y="583565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0.98</a:t>
            </a:r>
          </a:p>
        </p:txBody>
      </p:sp>
      <p:sp>
        <p:nvSpPr>
          <p:cNvPr id="88152" name="Text Box 89">
            <a:extLst>
              <a:ext uri="{FF2B5EF4-FFF2-40B4-BE49-F238E27FC236}">
                <a16:creationId xmlns:a16="http://schemas.microsoft.com/office/drawing/2014/main" id="{B7BECC99-0B2A-CB40-874C-4ED3560B6072}"/>
              </a:ext>
            </a:extLst>
          </p:cNvPr>
          <p:cNvSpPr txBox="1">
            <a:spLocks noChangeArrowheads="1"/>
          </p:cNvSpPr>
          <p:nvPr/>
        </p:nvSpPr>
        <p:spPr bwMode="auto">
          <a:xfrm>
            <a:off x="4343400" y="327660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0.20</a:t>
            </a:r>
          </a:p>
        </p:txBody>
      </p:sp>
      <p:sp>
        <p:nvSpPr>
          <p:cNvPr id="88153" name="Text Box 90">
            <a:extLst>
              <a:ext uri="{FF2B5EF4-FFF2-40B4-BE49-F238E27FC236}">
                <a16:creationId xmlns:a16="http://schemas.microsoft.com/office/drawing/2014/main" id="{E0EF6B0F-CE7B-0D40-B4FC-3DBED4330F1C}"/>
              </a:ext>
            </a:extLst>
          </p:cNvPr>
          <p:cNvSpPr txBox="1">
            <a:spLocks noChangeArrowheads="1"/>
          </p:cNvSpPr>
          <p:nvPr/>
        </p:nvSpPr>
        <p:spPr bwMode="auto">
          <a:xfrm>
            <a:off x="4343400" y="446405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0.80</a:t>
            </a:r>
          </a:p>
        </p:txBody>
      </p:sp>
      <p:sp>
        <p:nvSpPr>
          <p:cNvPr id="88154" name="Text Box 91">
            <a:extLst>
              <a:ext uri="{FF2B5EF4-FFF2-40B4-BE49-F238E27FC236}">
                <a16:creationId xmlns:a16="http://schemas.microsoft.com/office/drawing/2014/main" id="{B642CB9E-864E-E04C-8AC6-B3436CB1541E}"/>
              </a:ext>
            </a:extLst>
          </p:cNvPr>
          <p:cNvSpPr txBox="1">
            <a:spLocks noChangeArrowheads="1"/>
          </p:cNvSpPr>
          <p:nvPr/>
        </p:nvSpPr>
        <p:spPr bwMode="auto">
          <a:xfrm>
            <a:off x="6629400" y="297180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0.01</a:t>
            </a:r>
          </a:p>
        </p:txBody>
      </p:sp>
      <p:sp>
        <p:nvSpPr>
          <p:cNvPr id="88155" name="Text Box 92">
            <a:extLst>
              <a:ext uri="{FF2B5EF4-FFF2-40B4-BE49-F238E27FC236}">
                <a16:creationId xmlns:a16="http://schemas.microsoft.com/office/drawing/2014/main" id="{2FE49AD2-164A-814E-A66D-0D1A4F5372AC}"/>
              </a:ext>
            </a:extLst>
          </p:cNvPr>
          <p:cNvSpPr txBox="1">
            <a:spLocks noChangeArrowheads="1"/>
          </p:cNvSpPr>
          <p:nvPr/>
        </p:nvSpPr>
        <p:spPr bwMode="auto">
          <a:xfrm>
            <a:off x="6629400" y="358140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0.99</a:t>
            </a:r>
          </a:p>
        </p:txBody>
      </p:sp>
      <p:sp>
        <p:nvSpPr>
          <p:cNvPr id="88156" name="Text Box 93">
            <a:extLst>
              <a:ext uri="{FF2B5EF4-FFF2-40B4-BE49-F238E27FC236}">
                <a16:creationId xmlns:a16="http://schemas.microsoft.com/office/drawing/2014/main" id="{09A033C2-0141-1E43-9889-ECA7E1F7D680}"/>
              </a:ext>
            </a:extLst>
          </p:cNvPr>
          <p:cNvSpPr txBox="1">
            <a:spLocks noChangeArrowheads="1"/>
          </p:cNvSpPr>
          <p:nvPr/>
        </p:nvSpPr>
        <p:spPr bwMode="auto">
          <a:xfrm>
            <a:off x="7010400" y="419100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0</a:t>
            </a:r>
          </a:p>
        </p:txBody>
      </p:sp>
      <p:sp>
        <p:nvSpPr>
          <p:cNvPr id="88157" name="Text Box 94">
            <a:extLst>
              <a:ext uri="{FF2B5EF4-FFF2-40B4-BE49-F238E27FC236}">
                <a16:creationId xmlns:a16="http://schemas.microsoft.com/office/drawing/2014/main" id="{4553190C-6A52-EA4E-A142-0D273D4D5EFF}"/>
              </a:ext>
            </a:extLst>
          </p:cNvPr>
          <p:cNvSpPr txBox="1">
            <a:spLocks noChangeArrowheads="1"/>
          </p:cNvSpPr>
          <p:nvPr/>
        </p:nvSpPr>
        <p:spPr bwMode="auto">
          <a:xfrm>
            <a:off x="7010400" y="480060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latin typeface="Times New Roman" panose="02020603050405020304" pitchFamily="18" charset="0"/>
              </a:rPr>
              <a:t>1</a:t>
            </a:r>
          </a:p>
        </p:txBody>
      </p:sp>
      <p:sp>
        <p:nvSpPr>
          <p:cNvPr id="88158" name="Text Box 95">
            <a:extLst>
              <a:ext uri="{FF2B5EF4-FFF2-40B4-BE49-F238E27FC236}">
                <a16:creationId xmlns:a16="http://schemas.microsoft.com/office/drawing/2014/main" id="{1352FA8A-3547-D14A-B50A-9E0403C9EE66}"/>
              </a:ext>
            </a:extLst>
          </p:cNvPr>
          <p:cNvSpPr txBox="1">
            <a:spLocks noChangeArrowheads="1"/>
          </p:cNvSpPr>
          <p:nvPr/>
        </p:nvSpPr>
        <p:spPr bwMode="auto">
          <a:xfrm>
            <a:off x="9144000" y="4953001"/>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0.3</a:t>
            </a:r>
          </a:p>
        </p:txBody>
      </p:sp>
      <p:sp>
        <p:nvSpPr>
          <p:cNvPr id="88159" name="Text Box 96">
            <a:extLst>
              <a:ext uri="{FF2B5EF4-FFF2-40B4-BE49-F238E27FC236}">
                <a16:creationId xmlns:a16="http://schemas.microsoft.com/office/drawing/2014/main" id="{B4F464D1-A9B1-0549-A033-040578ECCAEC}"/>
              </a:ext>
            </a:extLst>
          </p:cNvPr>
          <p:cNvSpPr txBox="1">
            <a:spLocks noChangeArrowheads="1"/>
          </p:cNvSpPr>
          <p:nvPr/>
        </p:nvSpPr>
        <p:spPr bwMode="auto">
          <a:xfrm>
            <a:off x="9110663" y="1157289"/>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0.3</a:t>
            </a:r>
          </a:p>
        </p:txBody>
      </p:sp>
      <p:sp>
        <p:nvSpPr>
          <p:cNvPr id="88160" name="Text Box 97">
            <a:extLst>
              <a:ext uri="{FF2B5EF4-FFF2-40B4-BE49-F238E27FC236}">
                <a16:creationId xmlns:a16="http://schemas.microsoft.com/office/drawing/2014/main" id="{563BD6EA-5183-6041-9732-0C45E96B17B6}"/>
              </a:ext>
            </a:extLst>
          </p:cNvPr>
          <p:cNvSpPr txBox="1">
            <a:spLocks noChangeArrowheads="1"/>
          </p:cNvSpPr>
          <p:nvPr/>
        </p:nvSpPr>
        <p:spPr bwMode="auto">
          <a:xfrm>
            <a:off x="9110664" y="1538289"/>
            <a:ext cx="10239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FF0066"/>
                </a:solidFill>
                <a:latin typeface="Times New Roman" panose="02020603050405020304" pitchFamily="18" charset="0"/>
              </a:rPr>
              <a:t>p</a:t>
            </a:r>
          </a:p>
        </p:txBody>
      </p:sp>
      <p:sp>
        <p:nvSpPr>
          <p:cNvPr id="88161" name="Text Box 98">
            <a:extLst>
              <a:ext uri="{FF2B5EF4-FFF2-40B4-BE49-F238E27FC236}">
                <a16:creationId xmlns:a16="http://schemas.microsoft.com/office/drawing/2014/main" id="{3BB394F9-D5AC-6349-AB9D-3D92B23BB75F}"/>
              </a:ext>
            </a:extLst>
          </p:cNvPr>
          <p:cNvSpPr txBox="1">
            <a:spLocks noChangeArrowheads="1"/>
          </p:cNvSpPr>
          <p:nvPr/>
        </p:nvSpPr>
        <p:spPr bwMode="auto">
          <a:xfrm>
            <a:off x="9110664" y="1995489"/>
            <a:ext cx="10239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FF0066"/>
                </a:solidFill>
                <a:latin typeface="Times New Roman" panose="02020603050405020304" pitchFamily="18" charset="0"/>
              </a:rPr>
              <a:t>p</a:t>
            </a:r>
          </a:p>
        </p:txBody>
      </p:sp>
      <p:sp>
        <p:nvSpPr>
          <p:cNvPr id="88162" name="Text Box 99">
            <a:extLst>
              <a:ext uri="{FF2B5EF4-FFF2-40B4-BE49-F238E27FC236}">
                <a16:creationId xmlns:a16="http://schemas.microsoft.com/office/drawing/2014/main" id="{5FD0C4F8-8895-1941-B03F-4FF1AD2E44C7}"/>
              </a:ext>
            </a:extLst>
          </p:cNvPr>
          <p:cNvSpPr txBox="1">
            <a:spLocks noChangeArrowheads="1"/>
          </p:cNvSpPr>
          <p:nvPr/>
        </p:nvSpPr>
        <p:spPr bwMode="auto">
          <a:xfrm>
            <a:off x="9110663" y="5486401"/>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a:t>
            </a:r>
          </a:p>
        </p:txBody>
      </p:sp>
      <p:sp>
        <p:nvSpPr>
          <p:cNvPr id="88163" name="Text Box 100">
            <a:extLst>
              <a:ext uri="{FF2B5EF4-FFF2-40B4-BE49-F238E27FC236}">
                <a16:creationId xmlns:a16="http://schemas.microsoft.com/office/drawing/2014/main" id="{07204BBC-3AA6-514E-BD6D-355F22DD6252}"/>
              </a:ext>
            </a:extLst>
          </p:cNvPr>
          <p:cNvSpPr txBox="1">
            <a:spLocks noChangeArrowheads="1"/>
          </p:cNvSpPr>
          <p:nvPr/>
        </p:nvSpPr>
        <p:spPr bwMode="auto">
          <a:xfrm>
            <a:off x="9110663" y="5943601"/>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a:t>
            </a:r>
          </a:p>
        </p:txBody>
      </p:sp>
      <p:sp>
        <p:nvSpPr>
          <p:cNvPr id="88164" name="Text Box 101">
            <a:extLst>
              <a:ext uri="{FF2B5EF4-FFF2-40B4-BE49-F238E27FC236}">
                <a16:creationId xmlns:a16="http://schemas.microsoft.com/office/drawing/2014/main" id="{28623B48-CE09-AF4A-9F59-63EF386D84BD}"/>
              </a:ext>
            </a:extLst>
          </p:cNvPr>
          <p:cNvSpPr txBox="1">
            <a:spLocks noChangeArrowheads="1"/>
          </p:cNvSpPr>
          <p:nvPr/>
        </p:nvSpPr>
        <p:spPr bwMode="auto">
          <a:xfrm>
            <a:off x="9110663" y="4495801"/>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a:t>
            </a:r>
          </a:p>
        </p:txBody>
      </p:sp>
      <p:sp>
        <p:nvSpPr>
          <p:cNvPr id="88165" name="Text Box 102">
            <a:extLst>
              <a:ext uri="{FF2B5EF4-FFF2-40B4-BE49-F238E27FC236}">
                <a16:creationId xmlns:a16="http://schemas.microsoft.com/office/drawing/2014/main" id="{B9633D5B-3070-9944-ADDC-D521A2F83B4F}"/>
              </a:ext>
            </a:extLst>
          </p:cNvPr>
          <p:cNvSpPr txBox="1">
            <a:spLocks noChangeArrowheads="1"/>
          </p:cNvSpPr>
          <p:nvPr/>
        </p:nvSpPr>
        <p:spPr bwMode="auto">
          <a:xfrm>
            <a:off x="9110663" y="4038601"/>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0.3</a:t>
            </a:r>
          </a:p>
        </p:txBody>
      </p:sp>
      <p:sp>
        <p:nvSpPr>
          <p:cNvPr id="88166" name="Text Box 103">
            <a:extLst>
              <a:ext uri="{FF2B5EF4-FFF2-40B4-BE49-F238E27FC236}">
                <a16:creationId xmlns:a16="http://schemas.microsoft.com/office/drawing/2014/main" id="{655039E8-B0BE-9D4E-BA15-B96B1FB2ADC8}"/>
              </a:ext>
            </a:extLst>
          </p:cNvPr>
          <p:cNvSpPr txBox="1">
            <a:spLocks noChangeArrowheads="1"/>
          </p:cNvSpPr>
          <p:nvPr/>
        </p:nvSpPr>
        <p:spPr bwMode="auto">
          <a:xfrm>
            <a:off x="9110663" y="2649539"/>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latin typeface="Times New Roman" panose="02020603050405020304" pitchFamily="18" charset="0"/>
              </a:rPr>
              <a:t>0.3</a:t>
            </a:r>
          </a:p>
        </p:txBody>
      </p:sp>
      <p:sp>
        <p:nvSpPr>
          <p:cNvPr id="88167" name="Text Box 104">
            <a:extLst>
              <a:ext uri="{FF2B5EF4-FFF2-40B4-BE49-F238E27FC236}">
                <a16:creationId xmlns:a16="http://schemas.microsoft.com/office/drawing/2014/main" id="{582B05E2-6581-A842-88AF-E8E011A58D96}"/>
              </a:ext>
            </a:extLst>
          </p:cNvPr>
          <p:cNvSpPr txBox="1">
            <a:spLocks noChangeArrowheads="1"/>
          </p:cNvSpPr>
          <p:nvPr/>
        </p:nvSpPr>
        <p:spPr bwMode="auto">
          <a:xfrm>
            <a:off x="9110664" y="3259139"/>
            <a:ext cx="10239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FF0066"/>
                </a:solidFill>
                <a:latin typeface="Times New Roman" panose="02020603050405020304" pitchFamily="18" charset="0"/>
              </a:rPr>
              <a:t>p</a:t>
            </a:r>
          </a:p>
        </p:txBody>
      </p:sp>
      <p:sp>
        <p:nvSpPr>
          <p:cNvPr id="292969" name="AutoShape 105">
            <a:extLst>
              <a:ext uri="{FF2B5EF4-FFF2-40B4-BE49-F238E27FC236}">
                <a16:creationId xmlns:a16="http://schemas.microsoft.com/office/drawing/2014/main" id="{DEE73E67-AAF2-234C-8E4A-7F17BB27F55B}"/>
              </a:ext>
            </a:extLst>
          </p:cNvPr>
          <p:cNvSpPr>
            <a:spLocks noChangeArrowheads="1"/>
          </p:cNvSpPr>
          <p:nvPr/>
        </p:nvSpPr>
        <p:spPr bwMode="auto">
          <a:xfrm flipH="1">
            <a:off x="2590800" y="1066800"/>
            <a:ext cx="6172200" cy="1219200"/>
          </a:xfrm>
          <a:prstGeom prst="wedgeEllipseCallout">
            <a:avLst>
              <a:gd name="adj1" fmla="val 27491"/>
              <a:gd name="adj2" fmla="val 158333"/>
            </a:avLst>
          </a:prstGeom>
          <a:solidFill>
            <a:srgbClr val="FFFF99"/>
          </a:solidFill>
          <a:ln w="9525">
            <a:solidFill>
              <a:schemeClr val="tx1"/>
            </a:solidFill>
            <a:miter lim="800000"/>
            <a:headEnd/>
            <a:tailEnd/>
          </a:ln>
        </p:spPr>
        <p:txBody>
          <a:bodyPr anchor="ctr" anchorCtr="1"/>
          <a:lstStyle>
            <a:lvl1pPr marL="342900" indent="-342900" eaLnBrk="0" hangingPunct="0">
              <a:defRPr sz="2400">
                <a:solidFill>
                  <a:schemeClr val="tx1"/>
                </a:solidFill>
                <a:latin typeface="Arial" panose="020B0604020202020204" pitchFamily="34" charset="0"/>
                <a:ea typeface="ＭＳ Ｐゴシック" panose="020B0600070205080204" pitchFamily="34" charset="-128"/>
              </a:defRPr>
            </a:lvl1pPr>
            <a:lvl2pPr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lvl="1" algn="ctr"/>
            <a:r>
              <a:rPr lang="en-US" altLang="en-MX">
                <a:solidFill>
                  <a:srgbClr val="000000"/>
                </a:solidFill>
              </a:rPr>
              <a:t>EV(Test) = 0.0006 + 0.198p</a:t>
            </a:r>
          </a:p>
        </p:txBody>
      </p:sp>
      <p:sp>
        <p:nvSpPr>
          <p:cNvPr id="292970" name="AutoShape 106">
            <a:extLst>
              <a:ext uri="{FF2B5EF4-FFF2-40B4-BE49-F238E27FC236}">
                <a16:creationId xmlns:a16="http://schemas.microsoft.com/office/drawing/2014/main" id="{6BB68428-6C4F-7043-99A4-9AA499D16481}"/>
              </a:ext>
            </a:extLst>
          </p:cNvPr>
          <p:cNvSpPr>
            <a:spLocks noChangeArrowheads="1"/>
          </p:cNvSpPr>
          <p:nvPr/>
        </p:nvSpPr>
        <p:spPr bwMode="auto">
          <a:xfrm flipH="1">
            <a:off x="1981200" y="4343400"/>
            <a:ext cx="4953000" cy="1143000"/>
          </a:xfrm>
          <a:prstGeom prst="wedgeEllipseCallout">
            <a:avLst>
              <a:gd name="adj1" fmla="val 11407"/>
              <a:gd name="adj2" fmla="val 66250"/>
            </a:avLst>
          </a:prstGeom>
          <a:solidFill>
            <a:srgbClr val="FFFF99"/>
          </a:solidFill>
          <a:ln w="9525">
            <a:solidFill>
              <a:schemeClr val="tx1"/>
            </a:solidFill>
            <a:miter lim="800000"/>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MX">
                <a:solidFill>
                  <a:srgbClr val="000000"/>
                </a:solidFill>
              </a:rPr>
              <a:t>EV(Don</a:t>
            </a:r>
            <a:r>
              <a:rPr lang="ja-JP" altLang="en-US">
                <a:solidFill>
                  <a:srgbClr val="000000"/>
                </a:solidFill>
              </a:rPr>
              <a:t>’</a:t>
            </a:r>
            <a:r>
              <a:rPr lang="en-US" altLang="ja-JP">
                <a:solidFill>
                  <a:srgbClr val="000000"/>
                </a:solidFill>
              </a:rPr>
              <a:t>t Spray) = 0.001200</a:t>
            </a:r>
            <a:endParaRPr lang="en-US" altLang="en-MX">
              <a:solidFill>
                <a:srgbClr val="000000"/>
              </a:solidFill>
            </a:endParaRPr>
          </a:p>
        </p:txBody>
      </p:sp>
    </p:spTree>
    <p:extLst>
      <p:ext uri="{BB962C8B-B14F-4D97-AF65-F5344CB8AC3E}">
        <p14:creationId xmlns:p14="http://schemas.microsoft.com/office/powerpoint/2010/main" val="8591112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297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29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969" grpId="0" animBg="1"/>
      <p:bldP spid="292970"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BD87E17D-B4A8-3045-9306-82DEF1163805}"/>
              </a:ext>
            </a:extLst>
          </p:cNvPr>
          <p:cNvSpPr>
            <a:spLocks noGrp="1" noChangeArrowheads="1"/>
          </p:cNvSpPr>
          <p:nvPr>
            <p:ph type="title"/>
          </p:nvPr>
        </p:nvSpPr>
        <p:spPr>
          <a:xfrm>
            <a:off x="824948" y="381000"/>
            <a:ext cx="9462052" cy="831574"/>
          </a:xfrm>
        </p:spPr>
        <p:txBody>
          <a:bodyPr/>
          <a:lstStyle/>
          <a:p>
            <a:pPr eaLnBrk="1" hangingPunct="1"/>
            <a:r>
              <a:rPr lang="en-US" altLang="en-MX" dirty="0">
                <a:ea typeface="ＭＳ Ｐゴシック" panose="020B0600070205080204" pitchFamily="34" charset="-128"/>
              </a:rPr>
              <a:t>Test – Don</a:t>
            </a:r>
            <a:r>
              <a:rPr lang="ja-JP" altLang="en-US">
                <a:ea typeface="ＭＳ Ｐゴシック" panose="020B0600070205080204" pitchFamily="34" charset="-128"/>
              </a:rPr>
              <a:t>’</a:t>
            </a:r>
            <a:r>
              <a:rPr lang="en-US" altLang="ja-JP" dirty="0">
                <a:ea typeface="ＭＳ Ｐゴシック" panose="020B0600070205080204" pitchFamily="34" charset="-128"/>
              </a:rPr>
              <a:t>t Spray Threshold</a:t>
            </a:r>
            <a:endParaRPr lang="en-US" altLang="en-MX" dirty="0">
              <a:ea typeface="ＭＳ Ｐゴシック" panose="020B0600070205080204" pitchFamily="34" charset="-128"/>
            </a:endParaRPr>
          </a:p>
        </p:txBody>
      </p:sp>
      <p:sp>
        <p:nvSpPr>
          <p:cNvPr id="90114" name="Rectangle 3">
            <a:extLst>
              <a:ext uri="{FF2B5EF4-FFF2-40B4-BE49-F238E27FC236}">
                <a16:creationId xmlns:a16="http://schemas.microsoft.com/office/drawing/2014/main" id="{C898FC11-91DC-1442-9C4D-778F5A5141A5}"/>
              </a:ext>
            </a:extLst>
          </p:cNvPr>
          <p:cNvSpPr>
            <a:spLocks noGrp="1" noChangeArrowheads="1"/>
          </p:cNvSpPr>
          <p:nvPr>
            <p:ph type="body" idx="1"/>
          </p:nvPr>
        </p:nvSpPr>
        <p:spPr>
          <a:xfrm>
            <a:off x="824948" y="1600200"/>
            <a:ext cx="10293626" cy="4267200"/>
          </a:xfrm>
        </p:spPr>
        <p:txBody>
          <a:bodyPr>
            <a:normAutofit/>
          </a:bodyPr>
          <a:lstStyle/>
          <a:p>
            <a:pPr>
              <a:buNone/>
              <a:tabLst>
                <a:tab pos="2170113" algn="l"/>
              </a:tabLst>
            </a:pPr>
            <a:r>
              <a:rPr lang="en-US" altLang="en-MX" dirty="0">
                <a:ea typeface="ＭＳ Ｐゴシック" panose="020B0600070205080204" pitchFamily="34" charset="-128"/>
              </a:rPr>
              <a:t>	EV(Test) =	0.0006 + 0.198p</a:t>
            </a:r>
          </a:p>
          <a:p>
            <a:pPr>
              <a:buNone/>
              <a:tabLst>
                <a:tab pos="2170113" algn="l"/>
              </a:tabLst>
            </a:pPr>
            <a:r>
              <a:rPr lang="en-US" altLang="en-MX" dirty="0">
                <a:ea typeface="ＭＳ Ｐゴシック" panose="020B0600070205080204" pitchFamily="34" charset="-128"/>
              </a:rPr>
              <a:t>	EV(Don</a:t>
            </a:r>
            <a:r>
              <a:rPr lang="ja-JP" altLang="en-US">
                <a:ea typeface="ＭＳ Ｐゴシック" panose="020B0600070205080204" pitchFamily="34" charset="-128"/>
              </a:rPr>
              <a:t>’</a:t>
            </a:r>
            <a:r>
              <a:rPr lang="en-US" altLang="ja-JP" dirty="0">
                <a:ea typeface="ＭＳ Ｐゴシック" panose="020B0600070205080204" pitchFamily="34" charset="-128"/>
              </a:rPr>
              <a:t>t Spray) = 0.0012</a:t>
            </a:r>
          </a:p>
          <a:p>
            <a:pPr marL="457200" lvl="1" indent="0">
              <a:buNone/>
              <a:tabLst>
                <a:tab pos="2170113" algn="l"/>
              </a:tabLst>
            </a:pPr>
            <a:r>
              <a:rPr lang="en-US" altLang="en-MX" sz="3200" dirty="0">
                <a:ea typeface="ＭＳ Ｐゴシック" panose="020B0600070205080204" pitchFamily="34" charset="-128"/>
              </a:rPr>
              <a:t>                0.0006 + 0.198p = 0.0012</a:t>
            </a:r>
          </a:p>
          <a:p>
            <a:pPr marL="457200" lvl="1" indent="0">
              <a:buNone/>
              <a:tabLst>
                <a:tab pos="2170113" algn="l"/>
              </a:tabLst>
            </a:pPr>
            <a:r>
              <a:rPr lang="en-US" altLang="en-MX" sz="3200" dirty="0">
                <a:ea typeface="ＭＳ Ｐゴシック" panose="020B0600070205080204" pitchFamily="34" charset="-128"/>
              </a:rPr>
              <a:t>                         </a:t>
            </a:r>
            <a:r>
              <a:rPr lang="en-US" altLang="en-MX" sz="3200" b="1" dirty="0">
                <a:solidFill>
                  <a:srgbClr val="990033"/>
                </a:solidFill>
                <a:ea typeface="ＭＳ Ｐゴシック" panose="020B0600070205080204" pitchFamily="34" charset="-128"/>
              </a:rPr>
              <a:t>p = 0.00303</a:t>
            </a:r>
          </a:p>
          <a:p>
            <a:pPr>
              <a:buClr>
                <a:srgbClr val="000000"/>
              </a:buClr>
              <a:tabLst>
                <a:tab pos="2170113" algn="l"/>
              </a:tabLst>
            </a:pPr>
            <a:endParaRPr lang="en-US" altLang="en-MX" dirty="0">
              <a:ea typeface="ＭＳ Ｐゴシック" panose="020B0600070205080204" pitchFamily="34" charset="-128"/>
            </a:endParaRPr>
          </a:p>
          <a:p>
            <a:pPr>
              <a:buClr>
                <a:srgbClr val="000000"/>
              </a:buClr>
              <a:buNone/>
              <a:tabLst>
                <a:tab pos="2170113" algn="l"/>
              </a:tabLst>
            </a:pPr>
            <a:r>
              <a:rPr lang="en-US" altLang="en-MX" dirty="0">
                <a:ea typeface="ＭＳ Ｐゴシック" panose="020B0600070205080204" pitchFamily="34" charset="-128"/>
              </a:rPr>
              <a:t>	If p&gt;0.00303 we prefer </a:t>
            </a:r>
            <a:r>
              <a:rPr lang="ja-JP" altLang="en-US">
                <a:ea typeface="ＭＳ Ｐゴシック" panose="020B0600070205080204" pitchFamily="34" charset="-128"/>
              </a:rPr>
              <a:t>‘</a:t>
            </a:r>
            <a:r>
              <a:rPr lang="en-US" altLang="ja-JP" dirty="0">
                <a:ea typeface="ＭＳ Ｐゴシック" panose="020B0600070205080204" pitchFamily="34" charset="-128"/>
              </a:rPr>
              <a:t>Don</a:t>
            </a:r>
            <a:r>
              <a:rPr lang="ja-JP" altLang="en-US">
                <a:ea typeface="ＭＳ Ｐゴシック" panose="020B0600070205080204" pitchFamily="34" charset="-128"/>
              </a:rPr>
              <a:t>’</a:t>
            </a:r>
            <a:r>
              <a:rPr lang="en-US" altLang="ja-JP" dirty="0">
                <a:ea typeface="ＭＳ Ｐゴシック" panose="020B0600070205080204" pitchFamily="34" charset="-128"/>
              </a:rPr>
              <a:t>t Spray</a:t>
            </a:r>
            <a:r>
              <a:rPr lang="ja-JP" altLang="en-US">
                <a:ea typeface="ＭＳ Ｐゴシック" panose="020B0600070205080204" pitchFamily="34" charset="-128"/>
              </a:rPr>
              <a:t>’</a:t>
            </a:r>
            <a:r>
              <a:rPr lang="en-US" altLang="ja-JP" dirty="0">
                <a:ea typeface="ＭＳ Ｐゴシック" panose="020B0600070205080204" pitchFamily="34" charset="-128"/>
              </a:rPr>
              <a:t> to </a:t>
            </a:r>
            <a:r>
              <a:rPr lang="ja-JP" altLang="en-US">
                <a:ea typeface="ＭＳ Ｐゴシック" panose="020B0600070205080204" pitchFamily="34" charset="-128"/>
              </a:rPr>
              <a:t>‘</a:t>
            </a:r>
            <a:r>
              <a:rPr lang="en-US" altLang="ja-JP" dirty="0">
                <a:ea typeface="ＭＳ Ｐゴシック" panose="020B0600070205080204" pitchFamily="34" charset="-128"/>
              </a:rPr>
              <a:t>Test</a:t>
            </a:r>
            <a:r>
              <a:rPr lang="ja-JP" altLang="en-US">
                <a:ea typeface="ＭＳ Ｐゴシック" panose="020B0600070205080204" pitchFamily="34" charset="-128"/>
              </a:rPr>
              <a:t>’</a:t>
            </a:r>
            <a:endParaRPr lang="en-US" altLang="ja-JP" dirty="0">
              <a:ea typeface="ＭＳ Ｐゴシック" panose="020B0600070205080204" pitchFamily="34" charset="-128"/>
            </a:endParaRPr>
          </a:p>
          <a:p>
            <a:pPr>
              <a:buClr>
                <a:srgbClr val="000000"/>
              </a:buClr>
              <a:buNone/>
              <a:tabLst>
                <a:tab pos="2170113" algn="l"/>
              </a:tabLst>
            </a:pPr>
            <a:r>
              <a:rPr lang="en-US" altLang="en-MX" dirty="0">
                <a:ea typeface="ＭＳ Ｐゴシック" panose="020B0600070205080204" pitchFamily="34" charset="-128"/>
              </a:rPr>
              <a:t>  	If p&lt;0.00303 we prefer </a:t>
            </a:r>
            <a:r>
              <a:rPr lang="ja-JP" altLang="en-US">
                <a:ea typeface="ＭＳ Ｐゴシック" panose="020B0600070205080204" pitchFamily="34" charset="-128"/>
              </a:rPr>
              <a:t>‘</a:t>
            </a:r>
            <a:r>
              <a:rPr lang="en-US" altLang="ja-JP" dirty="0">
                <a:ea typeface="ＭＳ Ｐゴシック" panose="020B0600070205080204" pitchFamily="34" charset="-128"/>
              </a:rPr>
              <a:t>Test</a:t>
            </a:r>
            <a:r>
              <a:rPr lang="ja-JP" altLang="en-US">
                <a:ea typeface="ＭＳ Ｐゴシック" panose="020B0600070205080204" pitchFamily="34" charset="-128"/>
              </a:rPr>
              <a:t>’</a:t>
            </a:r>
            <a:r>
              <a:rPr lang="en-US" altLang="ja-JP" dirty="0">
                <a:ea typeface="ＭＳ Ｐゴシック" panose="020B0600070205080204" pitchFamily="34" charset="-128"/>
              </a:rPr>
              <a:t> to </a:t>
            </a:r>
            <a:r>
              <a:rPr lang="ja-JP" altLang="en-US">
                <a:ea typeface="ＭＳ Ｐゴシック" panose="020B0600070205080204" pitchFamily="34" charset="-128"/>
              </a:rPr>
              <a:t>‘</a:t>
            </a:r>
            <a:r>
              <a:rPr lang="en-US" altLang="ja-JP" dirty="0">
                <a:ea typeface="ＭＳ Ｐゴシック" panose="020B0600070205080204" pitchFamily="34" charset="-128"/>
              </a:rPr>
              <a:t>Don</a:t>
            </a:r>
            <a:r>
              <a:rPr lang="ja-JP" altLang="en-US">
                <a:ea typeface="ＭＳ Ｐゴシック" panose="020B0600070205080204" pitchFamily="34" charset="-128"/>
              </a:rPr>
              <a:t>’</a:t>
            </a:r>
            <a:r>
              <a:rPr lang="en-US" altLang="ja-JP" dirty="0">
                <a:ea typeface="ＭＳ Ｐゴシック" panose="020B0600070205080204" pitchFamily="34" charset="-128"/>
              </a:rPr>
              <a:t>t Spray</a:t>
            </a:r>
            <a:r>
              <a:rPr lang="ja-JP" altLang="en-US">
                <a:ea typeface="ＭＳ Ｐゴシック" panose="020B0600070205080204" pitchFamily="34" charset="-128"/>
              </a:rPr>
              <a:t>’</a:t>
            </a:r>
            <a:endParaRPr lang="en-US" altLang="en-MX" dirty="0">
              <a:ea typeface="ＭＳ Ｐゴシック" panose="020B0600070205080204" pitchFamily="34" charset="-128"/>
            </a:endParaRPr>
          </a:p>
        </p:txBody>
      </p:sp>
      <p:sp>
        <p:nvSpPr>
          <p:cNvPr id="90115" name="Rectangle 4">
            <a:extLst>
              <a:ext uri="{FF2B5EF4-FFF2-40B4-BE49-F238E27FC236}">
                <a16:creationId xmlns:a16="http://schemas.microsoft.com/office/drawing/2014/main" id="{C00476E9-D478-F349-BD94-C6C348A85DE7}"/>
              </a:ext>
            </a:extLst>
          </p:cNvPr>
          <p:cNvSpPr>
            <a:spLocks noChangeArrowheads="1"/>
          </p:cNvSpPr>
          <p:nvPr/>
        </p:nvSpPr>
        <p:spPr bwMode="auto">
          <a:xfrm>
            <a:off x="1073426" y="4284482"/>
            <a:ext cx="7901609" cy="1219200"/>
          </a:xfrm>
          <a:prstGeom prst="rect">
            <a:avLst/>
          </a:prstGeom>
          <a:solidFill>
            <a:schemeClr val="tx2">
              <a:alpha val="0"/>
            </a:schemeClr>
          </a:solidFill>
          <a:ln w="12700">
            <a:solidFill>
              <a:srgbClr val="00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Tree>
    <p:extLst>
      <p:ext uri="{BB962C8B-B14F-4D97-AF65-F5344CB8AC3E}">
        <p14:creationId xmlns:p14="http://schemas.microsoft.com/office/powerpoint/2010/main" val="188247148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a:extLst>
              <a:ext uri="{FF2B5EF4-FFF2-40B4-BE49-F238E27FC236}">
                <a16:creationId xmlns:a16="http://schemas.microsoft.com/office/drawing/2014/main" id="{6C0E6C4C-7A78-074C-AE60-833AE7DD7AD4}"/>
              </a:ext>
            </a:extLst>
          </p:cNvPr>
          <p:cNvSpPr>
            <a:spLocks noGrp="1" noChangeArrowheads="1"/>
          </p:cNvSpPr>
          <p:nvPr>
            <p:ph type="title"/>
          </p:nvPr>
        </p:nvSpPr>
        <p:spPr>
          <a:xfrm>
            <a:off x="785191" y="381000"/>
            <a:ext cx="9349409" cy="1219200"/>
          </a:xfrm>
        </p:spPr>
        <p:txBody>
          <a:bodyPr/>
          <a:lstStyle/>
          <a:p>
            <a:pPr eaLnBrk="1" hangingPunct="1"/>
            <a:r>
              <a:rPr lang="en-US" altLang="en-MX" dirty="0">
                <a:ea typeface="ＭＳ Ｐゴシック" panose="020B0600070205080204" pitchFamily="34" charset="-128"/>
              </a:rPr>
              <a:t>Interpret the Thresholds</a:t>
            </a:r>
            <a:br>
              <a:rPr lang="en-US" altLang="en-MX" dirty="0">
                <a:ea typeface="ＭＳ Ｐゴシック" panose="020B0600070205080204" pitchFamily="34" charset="-128"/>
              </a:rPr>
            </a:br>
            <a:r>
              <a:rPr lang="en-US" altLang="en-MX" sz="3200" dirty="0">
                <a:ea typeface="ＭＳ Ｐゴシック" panose="020B0600070205080204" pitchFamily="34" charset="-128"/>
              </a:rPr>
              <a:t>p = risk of death due to pesticide toxicity</a:t>
            </a:r>
          </a:p>
        </p:txBody>
      </p:sp>
      <p:sp>
        <p:nvSpPr>
          <p:cNvPr id="92162" name="Line 4">
            <a:extLst>
              <a:ext uri="{FF2B5EF4-FFF2-40B4-BE49-F238E27FC236}">
                <a16:creationId xmlns:a16="http://schemas.microsoft.com/office/drawing/2014/main" id="{912C5419-4992-1046-94B8-3057A4D13924}"/>
              </a:ext>
            </a:extLst>
          </p:cNvPr>
          <p:cNvSpPr>
            <a:spLocks noChangeShapeType="1"/>
          </p:cNvSpPr>
          <p:nvPr/>
        </p:nvSpPr>
        <p:spPr bwMode="auto">
          <a:xfrm>
            <a:off x="2590800" y="2514600"/>
            <a:ext cx="6477000" cy="0"/>
          </a:xfrm>
          <a:prstGeom prst="line">
            <a:avLst/>
          </a:prstGeom>
          <a:noFill/>
          <a:ln w="12700">
            <a:solidFill>
              <a:srgbClr val="00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en-MX"/>
          </a:p>
        </p:txBody>
      </p:sp>
      <p:sp>
        <p:nvSpPr>
          <p:cNvPr id="92163" name="Line 5">
            <a:extLst>
              <a:ext uri="{FF2B5EF4-FFF2-40B4-BE49-F238E27FC236}">
                <a16:creationId xmlns:a16="http://schemas.microsoft.com/office/drawing/2014/main" id="{0FA2A94C-7C7D-BC49-9AE4-52A1FAC1061E}"/>
              </a:ext>
            </a:extLst>
          </p:cNvPr>
          <p:cNvSpPr>
            <a:spLocks noChangeShapeType="1"/>
          </p:cNvSpPr>
          <p:nvPr/>
        </p:nvSpPr>
        <p:spPr bwMode="auto">
          <a:xfrm>
            <a:off x="2590800" y="2362200"/>
            <a:ext cx="0" cy="22860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92164" name="Line 6">
            <a:extLst>
              <a:ext uri="{FF2B5EF4-FFF2-40B4-BE49-F238E27FC236}">
                <a16:creationId xmlns:a16="http://schemas.microsoft.com/office/drawing/2014/main" id="{F25F96ED-6B20-A54A-A408-EB56B8EECC1F}"/>
              </a:ext>
            </a:extLst>
          </p:cNvPr>
          <p:cNvSpPr>
            <a:spLocks noChangeShapeType="1"/>
          </p:cNvSpPr>
          <p:nvPr/>
        </p:nvSpPr>
        <p:spPr bwMode="auto">
          <a:xfrm>
            <a:off x="3581400" y="2362200"/>
            <a:ext cx="0" cy="22860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92165" name="Line 7">
            <a:extLst>
              <a:ext uri="{FF2B5EF4-FFF2-40B4-BE49-F238E27FC236}">
                <a16:creationId xmlns:a16="http://schemas.microsoft.com/office/drawing/2014/main" id="{FC9B53CC-344B-6247-9E76-639BE04AD5D3}"/>
              </a:ext>
            </a:extLst>
          </p:cNvPr>
          <p:cNvSpPr>
            <a:spLocks noChangeShapeType="1"/>
          </p:cNvSpPr>
          <p:nvPr/>
        </p:nvSpPr>
        <p:spPr bwMode="auto">
          <a:xfrm>
            <a:off x="7620000" y="2362200"/>
            <a:ext cx="0" cy="22860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92166" name="Text Box 8">
            <a:extLst>
              <a:ext uri="{FF2B5EF4-FFF2-40B4-BE49-F238E27FC236}">
                <a16:creationId xmlns:a16="http://schemas.microsoft.com/office/drawing/2014/main" id="{E9A546DB-3339-BD48-AC12-68B0A9E3B899}"/>
              </a:ext>
            </a:extLst>
          </p:cNvPr>
          <p:cNvSpPr txBox="1">
            <a:spLocks noChangeArrowheads="1"/>
          </p:cNvSpPr>
          <p:nvPr/>
        </p:nvSpPr>
        <p:spPr bwMode="auto">
          <a:xfrm>
            <a:off x="2438400" y="2743201"/>
            <a:ext cx="381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2800">
                <a:solidFill>
                  <a:srgbClr val="000000"/>
                </a:solidFill>
              </a:rPr>
              <a:t>0</a:t>
            </a:r>
          </a:p>
        </p:txBody>
      </p:sp>
      <p:sp>
        <p:nvSpPr>
          <p:cNvPr id="92167" name="Text Box 9">
            <a:extLst>
              <a:ext uri="{FF2B5EF4-FFF2-40B4-BE49-F238E27FC236}">
                <a16:creationId xmlns:a16="http://schemas.microsoft.com/office/drawing/2014/main" id="{A91B8908-DDB3-D34B-BD10-D8FE8B85A0DB}"/>
              </a:ext>
            </a:extLst>
          </p:cNvPr>
          <p:cNvSpPr txBox="1">
            <a:spLocks noChangeArrowheads="1"/>
          </p:cNvSpPr>
          <p:nvPr/>
        </p:nvSpPr>
        <p:spPr bwMode="auto">
          <a:xfrm>
            <a:off x="3124200" y="2743201"/>
            <a:ext cx="1828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2800">
                <a:solidFill>
                  <a:srgbClr val="000000"/>
                </a:solidFill>
              </a:rPr>
              <a:t>0.00067</a:t>
            </a:r>
          </a:p>
        </p:txBody>
      </p:sp>
      <p:sp>
        <p:nvSpPr>
          <p:cNvPr id="92168" name="Text Box 10">
            <a:extLst>
              <a:ext uri="{FF2B5EF4-FFF2-40B4-BE49-F238E27FC236}">
                <a16:creationId xmlns:a16="http://schemas.microsoft.com/office/drawing/2014/main" id="{081DCFC3-9FEA-0841-A2F8-3CEFF25F9DA3}"/>
              </a:ext>
            </a:extLst>
          </p:cNvPr>
          <p:cNvSpPr txBox="1">
            <a:spLocks noChangeArrowheads="1"/>
          </p:cNvSpPr>
          <p:nvPr/>
        </p:nvSpPr>
        <p:spPr bwMode="auto">
          <a:xfrm>
            <a:off x="7162800" y="2895601"/>
            <a:ext cx="2057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2800">
                <a:solidFill>
                  <a:srgbClr val="000000"/>
                </a:solidFill>
              </a:rPr>
              <a:t>0.00303</a:t>
            </a:r>
          </a:p>
        </p:txBody>
      </p:sp>
      <p:sp>
        <p:nvSpPr>
          <p:cNvPr id="92169" name="Text Box 11">
            <a:extLst>
              <a:ext uri="{FF2B5EF4-FFF2-40B4-BE49-F238E27FC236}">
                <a16:creationId xmlns:a16="http://schemas.microsoft.com/office/drawing/2014/main" id="{C6C3BFA2-E428-F147-92FB-D132C2A2EB0F}"/>
              </a:ext>
            </a:extLst>
          </p:cNvPr>
          <p:cNvSpPr txBox="1">
            <a:spLocks noChangeArrowheads="1"/>
          </p:cNvSpPr>
          <p:nvPr/>
        </p:nvSpPr>
        <p:spPr bwMode="auto">
          <a:xfrm>
            <a:off x="2590800" y="1905001"/>
            <a:ext cx="1295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2800" dirty="0">
                <a:solidFill>
                  <a:srgbClr val="000000"/>
                </a:solidFill>
              </a:rPr>
              <a:t>Spray</a:t>
            </a:r>
          </a:p>
        </p:txBody>
      </p:sp>
      <p:sp>
        <p:nvSpPr>
          <p:cNvPr id="92170" name="Text Box 12">
            <a:extLst>
              <a:ext uri="{FF2B5EF4-FFF2-40B4-BE49-F238E27FC236}">
                <a16:creationId xmlns:a16="http://schemas.microsoft.com/office/drawing/2014/main" id="{3BCD2CCC-B304-7E4A-8C1D-6F8BC964976D}"/>
              </a:ext>
            </a:extLst>
          </p:cNvPr>
          <p:cNvSpPr txBox="1">
            <a:spLocks noChangeArrowheads="1"/>
          </p:cNvSpPr>
          <p:nvPr/>
        </p:nvSpPr>
        <p:spPr bwMode="auto">
          <a:xfrm>
            <a:off x="5105400" y="1905001"/>
            <a:ext cx="1295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2800">
                <a:solidFill>
                  <a:srgbClr val="000000"/>
                </a:solidFill>
              </a:rPr>
              <a:t>Test</a:t>
            </a:r>
          </a:p>
        </p:txBody>
      </p:sp>
      <p:sp>
        <p:nvSpPr>
          <p:cNvPr id="92171" name="Text Box 13">
            <a:extLst>
              <a:ext uri="{FF2B5EF4-FFF2-40B4-BE49-F238E27FC236}">
                <a16:creationId xmlns:a16="http://schemas.microsoft.com/office/drawing/2014/main" id="{8F4511F3-1C4B-9546-A4E6-4202F5F48453}"/>
              </a:ext>
            </a:extLst>
          </p:cNvPr>
          <p:cNvSpPr txBox="1">
            <a:spLocks noChangeArrowheads="1"/>
          </p:cNvSpPr>
          <p:nvPr/>
        </p:nvSpPr>
        <p:spPr bwMode="auto">
          <a:xfrm>
            <a:off x="8001000" y="1828801"/>
            <a:ext cx="2286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2800">
                <a:solidFill>
                  <a:srgbClr val="000000"/>
                </a:solidFill>
              </a:rPr>
              <a:t>Don</a:t>
            </a:r>
            <a:r>
              <a:rPr lang="ja-JP" altLang="en-US" sz="2800">
                <a:solidFill>
                  <a:srgbClr val="000000"/>
                </a:solidFill>
              </a:rPr>
              <a:t>’</a:t>
            </a:r>
            <a:r>
              <a:rPr lang="en-US" altLang="ja-JP" sz="2800">
                <a:solidFill>
                  <a:srgbClr val="000000"/>
                </a:solidFill>
              </a:rPr>
              <a:t>t spray</a:t>
            </a:r>
            <a:endParaRPr lang="en-US" altLang="en-MX" sz="2800">
              <a:solidFill>
                <a:srgbClr val="000000"/>
              </a:solidFill>
            </a:endParaRPr>
          </a:p>
        </p:txBody>
      </p:sp>
      <p:sp>
        <p:nvSpPr>
          <p:cNvPr id="92172" name="Text Box 14">
            <a:extLst>
              <a:ext uri="{FF2B5EF4-FFF2-40B4-BE49-F238E27FC236}">
                <a16:creationId xmlns:a16="http://schemas.microsoft.com/office/drawing/2014/main" id="{21620512-C3BA-1E4A-8B57-A3B1F8230332}"/>
              </a:ext>
            </a:extLst>
          </p:cNvPr>
          <p:cNvSpPr txBox="1">
            <a:spLocks noChangeArrowheads="1"/>
          </p:cNvSpPr>
          <p:nvPr/>
        </p:nvSpPr>
        <p:spPr bwMode="auto">
          <a:xfrm>
            <a:off x="2286000" y="4038601"/>
            <a:ext cx="7696200" cy="180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2800" dirty="0">
                <a:solidFill>
                  <a:srgbClr val="000000"/>
                </a:solidFill>
              </a:rPr>
              <a:t>If p &lt; 0.00067                               Spray</a:t>
            </a:r>
          </a:p>
          <a:p>
            <a:pPr>
              <a:spcBef>
                <a:spcPct val="50000"/>
              </a:spcBef>
            </a:pPr>
            <a:r>
              <a:rPr lang="en-US" altLang="en-MX" sz="2800" dirty="0">
                <a:solidFill>
                  <a:srgbClr val="000000"/>
                </a:solidFill>
              </a:rPr>
              <a:t>If 0.00067 &lt; p &lt; 0.00303              Test</a:t>
            </a:r>
          </a:p>
          <a:p>
            <a:pPr>
              <a:spcBef>
                <a:spcPct val="50000"/>
              </a:spcBef>
            </a:pPr>
            <a:r>
              <a:rPr lang="en-US" altLang="en-MX" sz="2800" dirty="0">
                <a:solidFill>
                  <a:srgbClr val="000000"/>
                </a:solidFill>
              </a:rPr>
              <a:t>If p &gt; 0.00303                                Don</a:t>
            </a:r>
            <a:r>
              <a:rPr lang="ja-JP" altLang="en-US" sz="2800">
                <a:solidFill>
                  <a:srgbClr val="000000"/>
                </a:solidFill>
              </a:rPr>
              <a:t>’</a:t>
            </a:r>
            <a:r>
              <a:rPr lang="en-US" altLang="ja-JP" sz="2800" dirty="0">
                <a:solidFill>
                  <a:srgbClr val="000000"/>
                </a:solidFill>
              </a:rPr>
              <a:t>t spray</a:t>
            </a:r>
            <a:endParaRPr lang="en-US" altLang="en-MX" sz="2800" dirty="0">
              <a:solidFill>
                <a:srgbClr val="000000"/>
              </a:solidFill>
            </a:endParaRPr>
          </a:p>
        </p:txBody>
      </p:sp>
      <p:sp>
        <p:nvSpPr>
          <p:cNvPr id="92173" name="Line 15">
            <a:extLst>
              <a:ext uri="{FF2B5EF4-FFF2-40B4-BE49-F238E27FC236}">
                <a16:creationId xmlns:a16="http://schemas.microsoft.com/office/drawing/2014/main" id="{8D127E85-B226-694E-8E0C-E8BE33D91449}"/>
              </a:ext>
            </a:extLst>
          </p:cNvPr>
          <p:cNvSpPr>
            <a:spLocks noChangeShapeType="1"/>
          </p:cNvSpPr>
          <p:nvPr/>
        </p:nvSpPr>
        <p:spPr bwMode="auto">
          <a:xfrm>
            <a:off x="5105400" y="4297017"/>
            <a:ext cx="2286000" cy="0"/>
          </a:xfrm>
          <a:prstGeom prst="line">
            <a:avLst/>
          </a:prstGeom>
          <a:noFill/>
          <a:ln w="12700">
            <a:solidFill>
              <a:srgbClr val="000000"/>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MX"/>
          </a:p>
        </p:txBody>
      </p:sp>
      <p:sp>
        <p:nvSpPr>
          <p:cNvPr id="92174" name="Line 16">
            <a:extLst>
              <a:ext uri="{FF2B5EF4-FFF2-40B4-BE49-F238E27FC236}">
                <a16:creationId xmlns:a16="http://schemas.microsoft.com/office/drawing/2014/main" id="{7FDB443C-6141-2744-B907-04649ABFBE74}"/>
              </a:ext>
            </a:extLst>
          </p:cNvPr>
          <p:cNvSpPr>
            <a:spLocks noChangeShapeType="1"/>
          </p:cNvSpPr>
          <p:nvPr/>
        </p:nvSpPr>
        <p:spPr bwMode="auto">
          <a:xfrm>
            <a:off x="6477000" y="4936434"/>
            <a:ext cx="914400" cy="0"/>
          </a:xfrm>
          <a:prstGeom prst="line">
            <a:avLst/>
          </a:prstGeom>
          <a:noFill/>
          <a:ln w="12700">
            <a:solidFill>
              <a:srgbClr val="000000"/>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MX"/>
          </a:p>
        </p:txBody>
      </p:sp>
      <p:sp>
        <p:nvSpPr>
          <p:cNvPr id="92175" name="Line 17">
            <a:extLst>
              <a:ext uri="{FF2B5EF4-FFF2-40B4-BE49-F238E27FC236}">
                <a16:creationId xmlns:a16="http://schemas.microsoft.com/office/drawing/2014/main" id="{090D9BBC-7CA1-C54E-9BC3-52CB07EE1386}"/>
              </a:ext>
            </a:extLst>
          </p:cNvPr>
          <p:cNvSpPr>
            <a:spLocks noChangeShapeType="1"/>
          </p:cNvSpPr>
          <p:nvPr/>
        </p:nvSpPr>
        <p:spPr bwMode="auto">
          <a:xfrm>
            <a:off x="5105400" y="5565912"/>
            <a:ext cx="2286000" cy="0"/>
          </a:xfrm>
          <a:prstGeom prst="line">
            <a:avLst/>
          </a:prstGeom>
          <a:noFill/>
          <a:ln w="12700">
            <a:solidFill>
              <a:srgbClr val="000000"/>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MX"/>
          </a:p>
        </p:txBody>
      </p:sp>
    </p:spTree>
    <p:extLst>
      <p:ext uri="{BB962C8B-B14F-4D97-AF65-F5344CB8AC3E}">
        <p14:creationId xmlns:p14="http://schemas.microsoft.com/office/powerpoint/2010/main" val="79087930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a:extLst>
              <a:ext uri="{FF2B5EF4-FFF2-40B4-BE49-F238E27FC236}">
                <a16:creationId xmlns:a16="http://schemas.microsoft.com/office/drawing/2014/main" id="{9C6DC54B-C213-004C-A6E5-075DD9F85F59}"/>
              </a:ext>
            </a:extLst>
          </p:cNvPr>
          <p:cNvSpPr>
            <a:spLocks noGrp="1" noChangeArrowheads="1"/>
          </p:cNvSpPr>
          <p:nvPr>
            <p:ph type="title"/>
          </p:nvPr>
        </p:nvSpPr>
        <p:spPr/>
        <p:txBody>
          <a:bodyPr/>
          <a:lstStyle/>
          <a:p>
            <a:pPr eaLnBrk="1" hangingPunct="1"/>
            <a:r>
              <a:rPr lang="en-US" altLang="en-MX" dirty="0">
                <a:ea typeface="ＭＳ Ｐゴシック" panose="020B0600070205080204" pitchFamily="34" charset="-128"/>
              </a:rPr>
              <a:t>Graphical Representation of </a:t>
            </a:r>
            <a:br>
              <a:rPr lang="en-US" altLang="en-MX" dirty="0">
                <a:ea typeface="ＭＳ Ｐゴシック" panose="020B0600070205080204" pitchFamily="34" charset="-128"/>
              </a:rPr>
            </a:br>
            <a:r>
              <a:rPr lang="en-US" altLang="en-MX" dirty="0">
                <a:ea typeface="ＭＳ Ｐゴシック" panose="020B0600070205080204" pitchFamily="34" charset="-128"/>
              </a:rPr>
              <a:t>Sensitivity/Threshold Analyses</a:t>
            </a:r>
          </a:p>
        </p:txBody>
      </p:sp>
      <p:graphicFrame>
        <p:nvGraphicFramePr>
          <p:cNvPr id="93186" name="Object 3">
            <a:extLst>
              <a:ext uri="{FF2B5EF4-FFF2-40B4-BE49-F238E27FC236}">
                <a16:creationId xmlns:a16="http://schemas.microsoft.com/office/drawing/2014/main" id="{FE72AF19-31D5-354D-ABBE-2D36BB4485A2}"/>
              </a:ext>
            </a:extLst>
          </p:cNvPr>
          <p:cNvGraphicFramePr>
            <a:graphicFrameLocks noGrp="1" noChangeAspect="1"/>
          </p:cNvGraphicFramePr>
          <p:nvPr>
            <p:ph idx="1"/>
          </p:nvPr>
        </p:nvGraphicFramePr>
        <p:xfrm>
          <a:off x="3821114" y="1752598"/>
          <a:ext cx="4484687" cy="4114800"/>
        </p:xfrm>
        <a:graphic>
          <a:graphicData uri="http://schemas.openxmlformats.org/presentationml/2006/ole">
            <mc:AlternateContent xmlns:mc="http://schemas.openxmlformats.org/markup-compatibility/2006">
              <mc:Choice xmlns:v="urn:schemas-microsoft-com:vml" Requires="v">
                <p:oleObj name="Photo Editor Photo" r:id="rId2" imgW="1619250" imgH="1485900" progId="MSPhotoEd.3">
                  <p:embed/>
                </p:oleObj>
              </mc:Choice>
              <mc:Fallback>
                <p:oleObj name="Photo Editor Photo" r:id="rId2" imgW="1619250" imgH="1485900" progId="MSPhotoEd.3">
                  <p:embed/>
                  <p:pic>
                    <p:nvPicPr>
                      <p:cNvPr id="93186" name="Object 3">
                        <a:extLst>
                          <a:ext uri="{FF2B5EF4-FFF2-40B4-BE49-F238E27FC236}">
                            <a16:creationId xmlns:a16="http://schemas.microsoft.com/office/drawing/2014/main" id="{FE72AF19-31D5-354D-ABBE-2D36BB4485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1114" y="1752598"/>
                        <a:ext cx="4484687"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8" name="Text Box 4">
            <a:extLst>
              <a:ext uri="{FF2B5EF4-FFF2-40B4-BE49-F238E27FC236}">
                <a16:creationId xmlns:a16="http://schemas.microsoft.com/office/drawing/2014/main" id="{FBCC969D-4431-CC49-B879-F0B2797DEC2F}"/>
              </a:ext>
            </a:extLst>
          </p:cNvPr>
          <p:cNvSpPr txBox="1">
            <a:spLocks noChangeArrowheads="1"/>
          </p:cNvSpPr>
          <p:nvPr/>
        </p:nvSpPr>
        <p:spPr bwMode="auto">
          <a:xfrm rot="16200000">
            <a:off x="2251076" y="3111499"/>
            <a:ext cx="2386013" cy="430213"/>
          </a:xfrm>
          <a:prstGeom prst="rect">
            <a:avLst/>
          </a:prstGeom>
          <a:noFill/>
          <a:ln w="12700">
            <a:noFill/>
            <a:miter lim="800000"/>
            <a:headEnd type="none" w="sm" len="sm"/>
            <a:tailEnd type="none" w="sm" len="sm"/>
          </a:ln>
        </p:spPr>
        <p:txBody>
          <a:bodyPr>
            <a:spAutoFit/>
          </a:bodyPr>
          <a:lstStyle/>
          <a:p>
            <a:pPr eaLnBrk="0" hangingPunct="0">
              <a:spcBef>
                <a:spcPct val="50000"/>
              </a:spcBef>
              <a:defRPr/>
            </a:pPr>
            <a:r>
              <a:rPr lang="en-US" sz="2200" dirty="0">
                <a:solidFill>
                  <a:srgbClr val="000000"/>
                </a:solidFill>
              </a:rPr>
              <a:t>Expected Value</a:t>
            </a:r>
          </a:p>
        </p:txBody>
      </p:sp>
      <p:sp>
        <p:nvSpPr>
          <p:cNvPr id="1029" name="Text Box 5">
            <a:extLst>
              <a:ext uri="{FF2B5EF4-FFF2-40B4-BE49-F238E27FC236}">
                <a16:creationId xmlns:a16="http://schemas.microsoft.com/office/drawing/2014/main" id="{4E788A8B-E94A-1747-8570-83F51134D5E3}"/>
              </a:ext>
            </a:extLst>
          </p:cNvPr>
          <p:cNvSpPr txBox="1">
            <a:spLocks noChangeArrowheads="1"/>
          </p:cNvSpPr>
          <p:nvPr/>
        </p:nvSpPr>
        <p:spPr bwMode="auto">
          <a:xfrm>
            <a:off x="6324600" y="6095998"/>
            <a:ext cx="914400" cy="427038"/>
          </a:xfrm>
          <a:prstGeom prst="rect">
            <a:avLst/>
          </a:prstGeom>
          <a:noFill/>
          <a:ln w="12700">
            <a:noFill/>
            <a:miter lim="800000"/>
            <a:headEnd type="none" w="sm" len="sm"/>
            <a:tailEnd type="none" w="sm" len="sm"/>
          </a:ln>
        </p:spPr>
        <p:txBody>
          <a:bodyPr>
            <a:spAutoFit/>
          </a:bodyPr>
          <a:lstStyle/>
          <a:p>
            <a:pPr eaLnBrk="0" hangingPunct="0">
              <a:spcBef>
                <a:spcPct val="50000"/>
              </a:spcBef>
              <a:defRPr/>
            </a:pPr>
            <a:r>
              <a:rPr lang="en-US" sz="2200">
                <a:solidFill>
                  <a:srgbClr val="000000"/>
                </a:solidFill>
              </a:rPr>
              <a:t>p</a:t>
            </a:r>
          </a:p>
        </p:txBody>
      </p:sp>
      <p:sp>
        <p:nvSpPr>
          <p:cNvPr id="1030" name="Text Box 6">
            <a:extLst>
              <a:ext uri="{FF2B5EF4-FFF2-40B4-BE49-F238E27FC236}">
                <a16:creationId xmlns:a16="http://schemas.microsoft.com/office/drawing/2014/main" id="{01D5AA12-C934-8749-9230-F402C8C76A5B}"/>
              </a:ext>
            </a:extLst>
          </p:cNvPr>
          <p:cNvSpPr txBox="1">
            <a:spLocks noChangeArrowheads="1"/>
          </p:cNvSpPr>
          <p:nvPr/>
        </p:nvSpPr>
        <p:spPr bwMode="auto">
          <a:xfrm>
            <a:off x="4419600" y="5791199"/>
            <a:ext cx="1219200" cy="366713"/>
          </a:xfrm>
          <a:prstGeom prst="rect">
            <a:avLst/>
          </a:prstGeom>
          <a:noFill/>
          <a:ln w="12700">
            <a:noFill/>
            <a:miter lim="800000"/>
            <a:headEnd type="none" w="sm" len="sm"/>
            <a:tailEnd type="none" w="sm" len="sm"/>
          </a:ln>
        </p:spPr>
        <p:txBody>
          <a:bodyPr>
            <a:spAutoFit/>
          </a:bodyPr>
          <a:lstStyle/>
          <a:p>
            <a:pPr eaLnBrk="0" hangingPunct="0">
              <a:spcBef>
                <a:spcPct val="50000"/>
              </a:spcBef>
              <a:defRPr/>
            </a:pPr>
            <a:r>
              <a:rPr lang="en-US" b="1" dirty="0">
                <a:solidFill>
                  <a:srgbClr val="000000"/>
                </a:solidFill>
              </a:rPr>
              <a:t>0.00067</a:t>
            </a:r>
          </a:p>
        </p:txBody>
      </p:sp>
      <p:sp>
        <p:nvSpPr>
          <p:cNvPr id="93190" name="Line 7">
            <a:extLst>
              <a:ext uri="{FF2B5EF4-FFF2-40B4-BE49-F238E27FC236}">
                <a16:creationId xmlns:a16="http://schemas.microsoft.com/office/drawing/2014/main" id="{6B366509-8FEA-5D43-8FB4-1C376127AB21}"/>
              </a:ext>
            </a:extLst>
          </p:cNvPr>
          <p:cNvSpPr>
            <a:spLocks noChangeShapeType="1"/>
          </p:cNvSpPr>
          <p:nvPr/>
        </p:nvSpPr>
        <p:spPr bwMode="auto">
          <a:xfrm>
            <a:off x="5029200" y="5486398"/>
            <a:ext cx="0" cy="304800"/>
          </a:xfrm>
          <a:prstGeom prst="line">
            <a:avLst/>
          </a:prstGeom>
          <a:noFill/>
          <a:ln w="12700">
            <a:solidFill>
              <a:srgbClr val="000000"/>
            </a:solidFill>
            <a:prstDash val="dash"/>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1032" name="Text Box 8">
            <a:extLst>
              <a:ext uri="{FF2B5EF4-FFF2-40B4-BE49-F238E27FC236}">
                <a16:creationId xmlns:a16="http://schemas.microsoft.com/office/drawing/2014/main" id="{FAA1EDC9-A623-E54F-9503-4827930DCCCC}"/>
              </a:ext>
            </a:extLst>
          </p:cNvPr>
          <p:cNvSpPr txBox="1">
            <a:spLocks noChangeArrowheads="1"/>
          </p:cNvSpPr>
          <p:nvPr/>
        </p:nvSpPr>
        <p:spPr bwMode="auto">
          <a:xfrm>
            <a:off x="5410200" y="5791199"/>
            <a:ext cx="1219200" cy="366713"/>
          </a:xfrm>
          <a:prstGeom prst="rect">
            <a:avLst/>
          </a:prstGeom>
          <a:noFill/>
          <a:ln w="12700">
            <a:noFill/>
            <a:miter lim="800000"/>
            <a:headEnd type="none" w="sm" len="sm"/>
            <a:tailEnd type="none" w="sm" len="sm"/>
          </a:ln>
        </p:spPr>
        <p:txBody>
          <a:bodyPr>
            <a:spAutoFit/>
          </a:bodyPr>
          <a:lstStyle/>
          <a:p>
            <a:pPr eaLnBrk="0" hangingPunct="0">
              <a:spcBef>
                <a:spcPct val="50000"/>
              </a:spcBef>
              <a:defRPr/>
            </a:pPr>
            <a:r>
              <a:rPr lang="en-US">
                <a:solidFill>
                  <a:srgbClr val="000000"/>
                </a:solidFill>
              </a:rPr>
              <a:t>.</a:t>
            </a:r>
            <a:r>
              <a:rPr lang="en-US" b="1">
                <a:solidFill>
                  <a:srgbClr val="000000"/>
                </a:solidFill>
              </a:rPr>
              <a:t>00303</a:t>
            </a:r>
          </a:p>
        </p:txBody>
      </p:sp>
      <p:sp>
        <p:nvSpPr>
          <p:cNvPr id="93192" name="Line 9">
            <a:extLst>
              <a:ext uri="{FF2B5EF4-FFF2-40B4-BE49-F238E27FC236}">
                <a16:creationId xmlns:a16="http://schemas.microsoft.com/office/drawing/2014/main" id="{53E6533F-3E2B-4E49-A550-55C742F79AC3}"/>
              </a:ext>
            </a:extLst>
          </p:cNvPr>
          <p:cNvSpPr>
            <a:spLocks noChangeShapeType="1"/>
          </p:cNvSpPr>
          <p:nvPr/>
        </p:nvSpPr>
        <p:spPr bwMode="auto">
          <a:xfrm>
            <a:off x="5791200" y="5410198"/>
            <a:ext cx="0" cy="304800"/>
          </a:xfrm>
          <a:prstGeom prst="line">
            <a:avLst/>
          </a:prstGeom>
          <a:noFill/>
          <a:ln w="12700">
            <a:solidFill>
              <a:srgbClr val="000000"/>
            </a:solidFill>
            <a:prstDash val="dash"/>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93193" name="Oval 10">
            <a:extLst>
              <a:ext uri="{FF2B5EF4-FFF2-40B4-BE49-F238E27FC236}">
                <a16:creationId xmlns:a16="http://schemas.microsoft.com/office/drawing/2014/main" id="{FD5AE446-3249-CC49-AB05-0888B3D3475B}"/>
              </a:ext>
            </a:extLst>
          </p:cNvPr>
          <p:cNvSpPr>
            <a:spLocks noChangeArrowheads="1"/>
          </p:cNvSpPr>
          <p:nvPr/>
        </p:nvSpPr>
        <p:spPr bwMode="auto">
          <a:xfrm>
            <a:off x="8458200" y="2209798"/>
            <a:ext cx="152400" cy="152400"/>
          </a:xfrm>
          <a:prstGeom prst="ellipse">
            <a:avLst/>
          </a:prstGeom>
          <a:solidFill>
            <a:srgbClr val="00FF00"/>
          </a:solidFill>
          <a:ln w="12700">
            <a:solidFill>
              <a:srgbClr val="000000"/>
            </a:solidFill>
            <a:round/>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93194" name="AutoShape 11">
            <a:extLst>
              <a:ext uri="{FF2B5EF4-FFF2-40B4-BE49-F238E27FC236}">
                <a16:creationId xmlns:a16="http://schemas.microsoft.com/office/drawing/2014/main" id="{19445C77-8914-C348-A8D3-78CD65E35FCB}"/>
              </a:ext>
            </a:extLst>
          </p:cNvPr>
          <p:cNvSpPr>
            <a:spLocks noChangeArrowheads="1"/>
          </p:cNvSpPr>
          <p:nvPr/>
        </p:nvSpPr>
        <p:spPr bwMode="auto">
          <a:xfrm>
            <a:off x="8458200" y="4419598"/>
            <a:ext cx="228600" cy="228600"/>
          </a:xfrm>
          <a:prstGeom prst="triangle">
            <a:avLst>
              <a:gd name="adj" fmla="val 50000"/>
            </a:avLst>
          </a:prstGeom>
          <a:solidFill>
            <a:srgbClr val="FF0000"/>
          </a:solidFill>
          <a:ln w="12700">
            <a:solidFill>
              <a:srgbClr val="00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93195" name="AutoShape 12">
            <a:extLst>
              <a:ext uri="{FF2B5EF4-FFF2-40B4-BE49-F238E27FC236}">
                <a16:creationId xmlns:a16="http://schemas.microsoft.com/office/drawing/2014/main" id="{23EE4FE0-2A07-7541-9D29-056F51F957AD}"/>
              </a:ext>
            </a:extLst>
          </p:cNvPr>
          <p:cNvSpPr>
            <a:spLocks noChangeArrowheads="1"/>
          </p:cNvSpPr>
          <p:nvPr/>
        </p:nvSpPr>
        <p:spPr bwMode="auto">
          <a:xfrm>
            <a:off x="8458200" y="4952998"/>
            <a:ext cx="228600" cy="228600"/>
          </a:xfrm>
          <a:prstGeom prst="diamond">
            <a:avLst/>
          </a:prstGeom>
          <a:solidFill>
            <a:schemeClr val="accent2"/>
          </a:solidFill>
          <a:ln w="12700">
            <a:solidFill>
              <a:srgbClr val="00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1037" name="Text Box 13">
            <a:extLst>
              <a:ext uri="{FF2B5EF4-FFF2-40B4-BE49-F238E27FC236}">
                <a16:creationId xmlns:a16="http://schemas.microsoft.com/office/drawing/2014/main" id="{1C3C05CC-B995-7E4E-AE92-3CB5B65061C0}"/>
              </a:ext>
            </a:extLst>
          </p:cNvPr>
          <p:cNvSpPr txBox="1">
            <a:spLocks noChangeArrowheads="1"/>
          </p:cNvSpPr>
          <p:nvPr/>
        </p:nvSpPr>
        <p:spPr bwMode="auto">
          <a:xfrm>
            <a:off x="8763000" y="2057399"/>
            <a:ext cx="1676400" cy="396875"/>
          </a:xfrm>
          <a:prstGeom prst="rect">
            <a:avLst/>
          </a:prstGeom>
          <a:noFill/>
          <a:ln w="12700">
            <a:noFill/>
            <a:miter lim="800000"/>
            <a:headEnd type="none" w="sm" len="sm"/>
            <a:tailEnd type="none" w="sm" len="sm"/>
          </a:ln>
        </p:spPr>
        <p:txBody>
          <a:bodyPr>
            <a:spAutoFit/>
          </a:bodyPr>
          <a:lstStyle/>
          <a:p>
            <a:pPr eaLnBrk="0" hangingPunct="0">
              <a:spcBef>
                <a:spcPct val="50000"/>
              </a:spcBef>
              <a:defRPr/>
            </a:pPr>
            <a:r>
              <a:rPr lang="en-US" sz="2000">
                <a:solidFill>
                  <a:srgbClr val="000000"/>
                </a:solidFill>
              </a:rPr>
              <a:t>Spray </a:t>
            </a:r>
          </a:p>
        </p:txBody>
      </p:sp>
      <p:sp>
        <p:nvSpPr>
          <p:cNvPr id="93197" name="Text Box 14">
            <a:extLst>
              <a:ext uri="{FF2B5EF4-FFF2-40B4-BE49-F238E27FC236}">
                <a16:creationId xmlns:a16="http://schemas.microsoft.com/office/drawing/2014/main" id="{297CB6B1-2919-C44B-88DA-8AE3C1CB8A78}"/>
              </a:ext>
            </a:extLst>
          </p:cNvPr>
          <p:cNvSpPr txBox="1">
            <a:spLocks noChangeArrowheads="1"/>
          </p:cNvSpPr>
          <p:nvPr/>
        </p:nvSpPr>
        <p:spPr bwMode="auto">
          <a:xfrm>
            <a:off x="8763000" y="4952999"/>
            <a:ext cx="1676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2000">
                <a:solidFill>
                  <a:srgbClr val="000000"/>
                </a:solidFill>
              </a:rPr>
              <a:t>Don</a:t>
            </a:r>
            <a:r>
              <a:rPr lang="ja-JP" altLang="en-US" sz="2000">
                <a:solidFill>
                  <a:srgbClr val="000000"/>
                </a:solidFill>
              </a:rPr>
              <a:t>’</a:t>
            </a:r>
            <a:r>
              <a:rPr lang="en-US" altLang="ja-JP" sz="2000">
                <a:solidFill>
                  <a:srgbClr val="000000"/>
                </a:solidFill>
              </a:rPr>
              <a:t>t spray</a:t>
            </a:r>
            <a:endParaRPr lang="en-US" altLang="en-MX" sz="2000">
              <a:solidFill>
                <a:srgbClr val="000000"/>
              </a:solidFill>
            </a:endParaRPr>
          </a:p>
        </p:txBody>
      </p:sp>
      <p:sp>
        <p:nvSpPr>
          <p:cNvPr id="1039" name="Text Box 15">
            <a:extLst>
              <a:ext uri="{FF2B5EF4-FFF2-40B4-BE49-F238E27FC236}">
                <a16:creationId xmlns:a16="http://schemas.microsoft.com/office/drawing/2014/main" id="{9FA25DE0-68DC-1A4B-9EE1-B7FBF0934C09}"/>
              </a:ext>
            </a:extLst>
          </p:cNvPr>
          <p:cNvSpPr txBox="1">
            <a:spLocks noChangeArrowheads="1"/>
          </p:cNvSpPr>
          <p:nvPr/>
        </p:nvSpPr>
        <p:spPr bwMode="auto">
          <a:xfrm>
            <a:off x="8763000" y="4343399"/>
            <a:ext cx="1676400" cy="396875"/>
          </a:xfrm>
          <a:prstGeom prst="rect">
            <a:avLst/>
          </a:prstGeom>
          <a:noFill/>
          <a:ln w="12700">
            <a:noFill/>
            <a:miter lim="800000"/>
            <a:headEnd type="none" w="sm" len="sm"/>
            <a:tailEnd type="none" w="sm" len="sm"/>
          </a:ln>
        </p:spPr>
        <p:txBody>
          <a:bodyPr>
            <a:spAutoFit/>
          </a:bodyPr>
          <a:lstStyle/>
          <a:p>
            <a:pPr eaLnBrk="0" hangingPunct="0">
              <a:spcBef>
                <a:spcPct val="50000"/>
              </a:spcBef>
              <a:defRPr/>
            </a:pPr>
            <a:r>
              <a:rPr lang="en-US" sz="2000">
                <a:solidFill>
                  <a:srgbClr val="000000"/>
                </a:solidFill>
              </a:rPr>
              <a:t>Test</a:t>
            </a:r>
          </a:p>
        </p:txBody>
      </p:sp>
    </p:spTree>
    <p:extLst>
      <p:ext uri="{BB962C8B-B14F-4D97-AF65-F5344CB8AC3E}">
        <p14:creationId xmlns:p14="http://schemas.microsoft.com/office/powerpoint/2010/main" val="217075555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2">
            <a:extLst>
              <a:ext uri="{FF2B5EF4-FFF2-40B4-BE49-F238E27FC236}">
                <a16:creationId xmlns:a16="http://schemas.microsoft.com/office/drawing/2014/main" id="{372D0FEB-42C8-C942-8585-59DF2E9D13D2}"/>
              </a:ext>
            </a:extLst>
          </p:cNvPr>
          <p:cNvSpPr>
            <a:spLocks noGrp="1" noChangeArrowheads="1"/>
          </p:cNvSpPr>
          <p:nvPr>
            <p:ph type="title"/>
          </p:nvPr>
        </p:nvSpPr>
        <p:spPr>
          <a:xfrm>
            <a:off x="765313" y="304800"/>
            <a:ext cx="9445487" cy="1219200"/>
          </a:xfrm>
        </p:spPr>
        <p:txBody>
          <a:bodyPr/>
          <a:lstStyle/>
          <a:p>
            <a:pPr eaLnBrk="1" hangingPunct="1">
              <a:defRPr/>
            </a:pPr>
            <a:r>
              <a:rPr lang="en-US" dirty="0">
                <a:ea typeface="+mj-ea"/>
              </a:rPr>
              <a:t>Expected Value of Information</a:t>
            </a:r>
            <a:br>
              <a:rPr lang="en-US" dirty="0">
                <a:ea typeface="+mj-ea"/>
              </a:rPr>
            </a:br>
            <a:r>
              <a:rPr lang="en-US" sz="3200" dirty="0"/>
              <a:t>(about a true state of nature)</a:t>
            </a:r>
            <a:endParaRPr lang="en-US" dirty="0">
              <a:ea typeface="+mj-ea"/>
            </a:endParaRPr>
          </a:p>
        </p:txBody>
      </p:sp>
      <p:sp>
        <p:nvSpPr>
          <p:cNvPr id="94210" name="Rectangle 3">
            <a:extLst>
              <a:ext uri="{FF2B5EF4-FFF2-40B4-BE49-F238E27FC236}">
                <a16:creationId xmlns:a16="http://schemas.microsoft.com/office/drawing/2014/main" id="{D38DE080-50CD-A242-B6B1-B41FF764D4C2}"/>
              </a:ext>
            </a:extLst>
          </p:cNvPr>
          <p:cNvSpPr>
            <a:spLocks noGrp="1" noChangeArrowheads="1"/>
          </p:cNvSpPr>
          <p:nvPr>
            <p:ph type="body" idx="1"/>
          </p:nvPr>
        </p:nvSpPr>
        <p:spPr>
          <a:xfrm>
            <a:off x="765313" y="1676400"/>
            <a:ext cx="9293087" cy="4648200"/>
          </a:xfrm>
        </p:spPr>
        <p:txBody>
          <a:bodyPr/>
          <a:lstStyle/>
          <a:p>
            <a:pPr eaLnBrk="1" hangingPunct="1">
              <a:lnSpc>
                <a:spcPct val="95000"/>
              </a:lnSpc>
              <a:spcAft>
                <a:spcPct val="25000"/>
              </a:spcAft>
            </a:pPr>
            <a:r>
              <a:rPr lang="en-US" altLang="en-MX" dirty="0">
                <a:ea typeface="ＭＳ Ｐゴシック" panose="020B0600070205080204" pitchFamily="34" charset="-128"/>
              </a:rPr>
              <a:t>Information can theoretically</a:t>
            </a:r>
            <a:r>
              <a:rPr lang="en-US" altLang="en-MX" i="1" dirty="0">
                <a:ea typeface="ＭＳ Ｐゴシック" panose="020B0600070205080204" pitchFamily="34" charset="-128"/>
              </a:rPr>
              <a:t> </a:t>
            </a:r>
            <a:r>
              <a:rPr lang="en-US" altLang="en-MX" dirty="0">
                <a:ea typeface="ＭＳ Ｐゴシック" panose="020B0600070205080204" pitchFamily="34" charset="-128"/>
              </a:rPr>
              <a:t>be perfect, without risk, and free but it usually </a:t>
            </a:r>
            <a:r>
              <a:rPr lang="en-US" altLang="en-MX" dirty="0" err="1">
                <a:ea typeface="ＭＳ Ｐゴシック" panose="020B0600070205080204" pitchFamily="34" charset="-128"/>
              </a:rPr>
              <a:t>isn</a:t>
            </a:r>
            <a:r>
              <a:rPr lang="es-ES" altLang="en-MX" dirty="0">
                <a:ea typeface="ＭＳ Ｐゴシック" panose="020B0600070205080204" pitchFamily="34" charset="-128"/>
              </a:rPr>
              <a:t>’</a:t>
            </a:r>
            <a:r>
              <a:rPr lang="en-US" altLang="ja-JP" dirty="0">
                <a:ea typeface="ＭＳ Ｐゴシック" panose="020B0600070205080204" pitchFamily="34" charset="-128"/>
              </a:rPr>
              <a:t>t!</a:t>
            </a:r>
          </a:p>
          <a:p>
            <a:pPr lvl="1" eaLnBrk="1" hangingPunct="1">
              <a:lnSpc>
                <a:spcPct val="95000"/>
              </a:lnSpc>
              <a:spcAft>
                <a:spcPct val="25000"/>
              </a:spcAft>
            </a:pPr>
            <a:r>
              <a:rPr lang="en-US" altLang="en-MX" dirty="0">
                <a:ea typeface="ＭＳ Ｐゴシック" panose="020B0600070205080204" pitchFamily="34" charset="-128"/>
              </a:rPr>
              <a:t>Information is often </a:t>
            </a:r>
            <a:r>
              <a:rPr lang="en-US" altLang="en-MX" b="1" dirty="0">
                <a:ea typeface="ＭＳ Ｐゴシック" panose="020B0600070205080204" pitchFamily="34" charset="-128"/>
              </a:rPr>
              <a:t>not perfect</a:t>
            </a:r>
          </a:p>
          <a:p>
            <a:pPr lvl="2" eaLnBrk="1" hangingPunct="1">
              <a:lnSpc>
                <a:spcPct val="95000"/>
              </a:lnSpc>
              <a:spcAft>
                <a:spcPct val="25000"/>
              </a:spcAft>
            </a:pPr>
            <a:r>
              <a:rPr lang="en-US" altLang="en-MX" dirty="0">
                <a:ea typeface="ＭＳ Ｐゴシック" panose="020B0600070205080204" pitchFamily="34" charset="-128"/>
              </a:rPr>
              <a:t>Sensitivity/specificity &lt; 1</a:t>
            </a:r>
          </a:p>
          <a:p>
            <a:pPr lvl="1" eaLnBrk="1" hangingPunct="1">
              <a:lnSpc>
                <a:spcPct val="95000"/>
              </a:lnSpc>
              <a:spcAft>
                <a:spcPct val="25000"/>
              </a:spcAft>
            </a:pPr>
            <a:r>
              <a:rPr lang="en-US" altLang="en-MX" dirty="0">
                <a:ea typeface="ＭＳ Ｐゴシック" panose="020B0600070205080204" pitchFamily="34" charset="-128"/>
              </a:rPr>
              <a:t>Getting information may involve </a:t>
            </a:r>
            <a:r>
              <a:rPr lang="en-US" altLang="en-MX" b="1" dirty="0">
                <a:ea typeface="ＭＳ Ｐゴシック" panose="020B0600070205080204" pitchFamily="34" charset="-128"/>
              </a:rPr>
              <a:t>a </a:t>
            </a:r>
            <a:r>
              <a:rPr lang="ja-JP" altLang="en-US" b="1">
                <a:ea typeface="ＭＳ Ｐゴシック" panose="020B0600070205080204" pitchFamily="34" charset="-128"/>
              </a:rPr>
              <a:t>“</a:t>
            </a:r>
            <a:r>
              <a:rPr lang="en-US" altLang="ja-JP" b="1" dirty="0">
                <a:ea typeface="ＭＳ Ｐゴシック" panose="020B0600070205080204" pitchFamily="34" charset="-128"/>
              </a:rPr>
              <a:t>toll</a:t>
            </a:r>
            <a:r>
              <a:rPr lang="ja-JP" altLang="en-US" b="1">
                <a:ea typeface="ＭＳ Ｐゴシック" panose="020B0600070205080204" pitchFamily="34" charset="-128"/>
              </a:rPr>
              <a:t>”</a:t>
            </a:r>
            <a:endParaRPr lang="en-US" altLang="ja-JP" b="1" dirty="0">
              <a:ea typeface="ＭＳ Ｐゴシック" panose="020B0600070205080204" pitchFamily="34" charset="-128"/>
            </a:endParaRPr>
          </a:p>
          <a:p>
            <a:pPr lvl="2" eaLnBrk="1" hangingPunct="1">
              <a:lnSpc>
                <a:spcPct val="95000"/>
              </a:lnSpc>
              <a:spcAft>
                <a:spcPct val="25000"/>
              </a:spcAft>
            </a:pPr>
            <a:r>
              <a:rPr lang="en-US" altLang="en-MX" dirty="0">
                <a:ea typeface="ＭＳ Ｐゴシック" panose="020B0600070205080204" pitchFamily="34" charset="-128"/>
              </a:rPr>
              <a:t>Direct consequence of doing test</a:t>
            </a:r>
          </a:p>
          <a:p>
            <a:pPr lvl="2" eaLnBrk="1" hangingPunct="1">
              <a:lnSpc>
                <a:spcPct val="95000"/>
              </a:lnSpc>
              <a:spcAft>
                <a:spcPct val="25000"/>
              </a:spcAft>
            </a:pPr>
            <a:r>
              <a:rPr lang="en-US" altLang="en-MX" dirty="0">
                <a:ea typeface="ＭＳ Ｐゴシック" panose="020B0600070205080204" pitchFamily="34" charset="-128"/>
              </a:rPr>
              <a:t>Adverse effects due to delay in treatment</a:t>
            </a:r>
          </a:p>
          <a:p>
            <a:pPr lvl="2" eaLnBrk="1" hangingPunct="1">
              <a:lnSpc>
                <a:spcPct val="95000"/>
              </a:lnSpc>
              <a:spcAft>
                <a:spcPct val="25000"/>
              </a:spcAft>
            </a:pPr>
            <a:r>
              <a:rPr lang="en-US" altLang="en-MX" dirty="0">
                <a:ea typeface="ＭＳ Ｐゴシック" panose="020B0600070205080204" pitchFamily="34" charset="-128"/>
              </a:rPr>
              <a:t>Cost</a:t>
            </a:r>
          </a:p>
        </p:txBody>
      </p:sp>
    </p:spTree>
    <p:extLst>
      <p:ext uri="{BB962C8B-B14F-4D97-AF65-F5344CB8AC3E}">
        <p14:creationId xmlns:p14="http://schemas.microsoft.com/office/powerpoint/2010/main" val="406749201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2">
            <a:extLst>
              <a:ext uri="{FF2B5EF4-FFF2-40B4-BE49-F238E27FC236}">
                <a16:creationId xmlns:a16="http://schemas.microsoft.com/office/drawing/2014/main" id="{A22005DB-9E57-F048-9984-B9B710C50F78}"/>
              </a:ext>
            </a:extLst>
          </p:cNvPr>
          <p:cNvSpPr>
            <a:spLocks noGrp="1" noChangeArrowheads="1"/>
          </p:cNvSpPr>
          <p:nvPr>
            <p:ph type="title"/>
          </p:nvPr>
        </p:nvSpPr>
        <p:spPr>
          <a:xfrm>
            <a:off x="854765" y="304800"/>
            <a:ext cx="9051235" cy="990600"/>
          </a:xfrm>
        </p:spPr>
        <p:txBody>
          <a:bodyPr/>
          <a:lstStyle/>
          <a:p>
            <a:pPr eaLnBrk="1" hangingPunct="1"/>
            <a:r>
              <a:rPr lang="en-US" altLang="en-MX" dirty="0">
                <a:ea typeface="ＭＳ Ｐゴシック" panose="020B0600070205080204" pitchFamily="34" charset="-128"/>
              </a:rPr>
              <a:t>Structure for Perfect Information</a:t>
            </a:r>
          </a:p>
        </p:txBody>
      </p:sp>
      <p:sp>
        <p:nvSpPr>
          <p:cNvPr id="96258" name="Line 17">
            <a:extLst>
              <a:ext uri="{FF2B5EF4-FFF2-40B4-BE49-F238E27FC236}">
                <a16:creationId xmlns:a16="http://schemas.microsoft.com/office/drawing/2014/main" id="{FEDC2E43-B736-7042-93D4-EB392BE5AD57}"/>
              </a:ext>
            </a:extLst>
          </p:cNvPr>
          <p:cNvSpPr>
            <a:spLocks noChangeShapeType="1"/>
          </p:cNvSpPr>
          <p:nvPr/>
        </p:nvSpPr>
        <p:spPr bwMode="auto">
          <a:xfrm>
            <a:off x="2547938" y="3503614"/>
            <a:ext cx="728662"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96259" name="Rectangle 20">
            <a:extLst>
              <a:ext uri="{FF2B5EF4-FFF2-40B4-BE49-F238E27FC236}">
                <a16:creationId xmlns:a16="http://schemas.microsoft.com/office/drawing/2014/main" id="{BF145F65-738D-524B-AADB-5AB8815F7707}"/>
              </a:ext>
            </a:extLst>
          </p:cNvPr>
          <p:cNvSpPr>
            <a:spLocks noChangeArrowheads="1"/>
          </p:cNvSpPr>
          <p:nvPr/>
        </p:nvSpPr>
        <p:spPr bwMode="auto">
          <a:xfrm>
            <a:off x="2438400" y="3124200"/>
            <a:ext cx="6122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600">
                <a:solidFill>
                  <a:srgbClr val="000000"/>
                </a:solidFill>
              </a:rPr>
              <a:t>Test</a:t>
            </a:r>
          </a:p>
        </p:txBody>
      </p:sp>
      <p:sp>
        <p:nvSpPr>
          <p:cNvPr id="96260" name="Freeform 21">
            <a:extLst>
              <a:ext uri="{FF2B5EF4-FFF2-40B4-BE49-F238E27FC236}">
                <a16:creationId xmlns:a16="http://schemas.microsoft.com/office/drawing/2014/main" id="{A00496D2-3D07-334B-B786-31714C300915}"/>
              </a:ext>
            </a:extLst>
          </p:cNvPr>
          <p:cNvSpPr>
            <a:spLocks/>
          </p:cNvSpPr>
          <p:nvPr/>
        </p:nvSpPr>
        <p:spPr bwMode="auto">
          <a:xfrm>
            <a:off x="2209800" y="1752600"/>
            <a:ext cx="261938" cy="2198688"/>
          </a:xfrm>
          <a:custGeom>
            <a:avLst/>
            <a:gdLst>
              <a:gd name="T0" fmla="*/ 0 w 14"/>
              <a:gd name="T1" fmla="*/ 2147483647 h 87"/>
              <a:gd name="T2" fmla="*/ 0 w 14"/>
              <a:gd name="T3" fmla="*/ 0 h 87"/>
              <a:gd name="T4" fmla="*/ 2147483647 w 14"/>
              <a:gd name="T5" fmla="*/ 0 h 87"/>
              <a:gd name="T6" fmla="*/ 0 60000 65536"/>
              <a:gd name="T7" fmla="*/ 0 60000 65536"/>
              <a:gd name="T8" fmla="*/ 0 60000 65536"/>
              <a:gd name="T9" fmla="*/ 0 w 14"/>
              <a:gd name="T10" fmla="*/ 0 h 87"/>
              <a:gd name="T11" fmla="*/ 14 w 14"/>
              <a:gd name="T12" fmla="*/ 87 h 87"/>
            </a:gdLst>
            <a:ahLst/>
            <a:cxnLst>
              <a:cxn ang="T6">
                <a:pos x="T0" y="T1"/>
              </a:cxn>
              <a:cxn ang="T7">
                <a:pos x="T2" y="T3"/>
              </a:cxn>
              <a:cxn ang="T8">
                <a:pos x="T4" y="T5"/>
              </a:cxn>
            </a:cxnLst>
            <a:rect l="T9" t="T10" r="T11" b="T12"/>
            <a:pathLst>
              <a:path w="14" h="87">
                <a:moveTo>
                  <a:pt x="0" y="8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96261" name="Freeform 22">
            <a:extLst>
              <a:ext uri="{FF2B5EF4-FFF2-40B4-BE49-F238E27FC236}">
                <a16:creationId xmlns:a16="http://schemas.microsoft.com/office/drawing/2014/main" id="{5EF550E9-F99A-004E-B582-5AC6BC996A39}"/>
              </a:ext>
            </a:extLst>
          </p:cNvPr>
          <p:cNvSpPr>
            <a:spLocks/>
          </p:cNvSpPr>
          <p:nvPr/>
        </p:nvSpPr>
        <p:spPr bwMode="auto">
          <a:xfrm>
            <a:off x="2244726" y="3505201"/>
            <a:ext cx="303213" cy="42863"/>
          </a:xfrm>
          <a:custGeom>
            <a:avLst/>
            <a:gdLst>
              <a:gd name="T0" fmla="*/ 0 w 14"/>
              <a:gd name="T1" fmla="*/ 2147483647 h 2"/>
              <a:gd name="T2" fmla="*/ 0 w 14"/>
              <a:gd name="T3" fmla="*/ 0 h 2"/>
              <a:gd name="T4" fmla="*/ 2147483647 w 14"/>
              <a:gd name="T5" fmla="*/ 0 h 2"/>
              <a:gd name="T6" fmla="*/ 0 60000 65536"/>
              <a:gd name="T7" fmla="*/ 0 60000 65536"/>
              <a:gd name="T8" fmla="*/ 0 60000 65536"/>
              <a:gd name="T9" fmla="*/ 0 w 14"/>
              <a:gd name="T10" fmla="*/ 0 h 2"/>
              <a:gd name="T11" fmla="*/ 14 w 14"/>
              <a:gd name="T12" fmla="*/ 2 h 2"/>
            </a:gdLst>
            <a:ahLst/>
            <a:cxnLst>
              <a:cxn ang="T6">
                <a:pos x="T0" y="T1"/>
              </a:cxn>
              <a:cxn ang="T7">
                <a:pos x="T2" y="T3"/>
              </a:cxn>
              <a:cxn ang="T8">
                <a:pos x="T4" y="T5"/>
              </a:cxn>
            </a:cxnLst>
            <a:rect l="T9" t="T10" r="T11" b="T12"/>
            <a:pathLst>
              <a:path w="14" h="2">
                <a:moveTo>
                  <a:pt x="0" y="2"/>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96262" name="Freeform 23">
            <a:extLst>
              <a:ext uri="{FF2B5EF4-FFF2-40B4-BE49-F238E27FC236}">
                <a16:creationId xmlns:a16="http://schemas.microsoft.com/office/drawing/2014/main" id="{8226C460-E074-6646-BD3A-614EA4B82ED3}"/>
              </a:ext>
            </a:extLst>
          </p:cNvPr>
          <p:cNvSpPr>
            <a:spLocks/>
          </p:cNvSpPr>
          <p:nvPr/>
        </p:nvSpPr>
        <p:spPr bwMode="auto">
          <a:xfrm>
            <a:off x="2209801" y="3652838"/>
            <a:ext cx="303213" cy="1916112"/>
          </a:xfrm>
          <a:custGeom>
            <a:avLst/>
            <a:gdLst>
              <a:gd name="T0" fmla="*/ 0 w 14"/>
              <a:gd name="T1" fmla="*/ 0 h 88"/>
              <a:gd name="T2" fmla="*/ 0 w 14"/>
              <a:gd name="T3" fmla="*/ 2147483647 h 88"/>
              <a:gd name="T4" fmla="*/ 2147483647 w 14"/>
              <a:gd name="T5" fmla="*/ 2147483647 h 88"/>
              <a:gd name="T6" fmla="*/ 0 60000 65536"/>
              <a:gd name="T7" fmla="*/ 0 60000 65536"/>
              <a:gd name="T8" fmla="*/ 0 60000 65536"/>
              <a:gd name="T9" fmla="*/ 0 w 14"/>
              <a:gd name="T10" fmla="*/ 0 h 88"/>
              <a:gd name="T11" fmla="*/ 14 w 14"/>
              <a:gd name="T12" fmla="*/ 88 h 88"/>
            </a:gdLst>
            <a:ahLst/>
            <a:cxnLst>
              <a:cxn ang="T6">
                <a:pos x="T0" y="T1"/>
              </a:cxn>
              <a:cxn ang="T7">
                <a:pos x="T2" y="T3"/>
              </a:cxn>
              <a:cxn ang="T8">
                <a:pos x="T4" y="T5"/>
              </a:cxn>
            </a:cxnLst>
            <a:rect l="T9" t="T10" r="T11" b="T12"/>
            <a:pathLst>
              <a:path w="14" h="88">
                <a:moveTo>
                  <a:pt x="0" y="0"/>
                </a:moveTo>
                <a:lnTo>
                  <a:pt x="0" y="88"/>
                </a:lnTo>
                <a:lnTo>
                  <a:pt x="14" y="88"/>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96263" name="Rectangle 24">
            <a:extLst>
              <a:ext uri="{FF2B5EF4-FFF2-40B4-BE49-F238E27FC236}">
                <a16:creationId xmlns:a16="http://schemas.microsoft.com/office/drawing/2014/main" id="{8525B994-E2B7-694B-8147-2429E46304E4}"/>
              </a:ext>
            </a:extLst>
          </p:cNvPr>
          <p:cNvSpPr>
            <a:spLocks noChangeArrowheads="1"/>
          </p:cNvSpPr>
          <p:nvPr/>
        </p:nvSpPr>
        <p:spPr bwMode="auto">
          <a:xfrm>
            <a:off x="2093914" y="3352800"/>
            <a:ext cx="238125" cy="261938"/>
          </a:xfrm>
          <a:prstGeom prst="rect">
            <a:avLst/>
          </a:prstGeom>
          <a:solidFill>
            <a:schemeClr val="bg1"/>
          </a:solidFill>
          <a:ln w="25400">
            <a:solidFill>
              <a:srgbClr val="0000FF"/>
            </a:solidFill>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96264" name="Freeform 41">
            <a:extLst>
              <a:ext uri="{FF2B5EF4-FFF2-40B4-BE49-F238E27FC236}">
                <a16:creationId xmlns:a16="http://schemas.microsoft.com/office/drawing/2014/main" id="{3FCFE8B1-E6BB-6E4B-9003-3E70EF31B6DC}"/>
              </a:ext>
            </a:extLst>
          </p:cNvPr>
          <p:cNvSpPr>
            <a:spLocks/>
          </p:cNvSpPr>
          <p:nvPr/>
        </p:nvSpPr>
        <p:spPr bwMode="auto">
          <a:xfrm>
            <a:off x="3276601" y="2895600"/>
            <a:ext cx="371475" cy="533400"/>
          </a:xfrm>
          <a:custGeom>
            <a:avLst/>
            <a:gdLst>
              <a:gd name="T0" fmla="*/ 0 w 14"/>
              <a:gd name="T1" fmla="*/ 2147483647 h 16"/>
              <a:gd name="T2" fmla="*/ 0 w 14"/>
              <a:gd name="T3" fmla="*/ 0 h 16"/>
              <a:gd name="T4" fmla="*/ 2147483647 w 14"/>
              <a:gd name="T5" fmla="*/ 0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16"/>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96265" name="Freeform 42">
            <a:extLst>
              <a:ext uri="{FF2B5EF4-FFF2-40B4-BE49-F238E27FC236}">
                <a16:creationId xmlns:a16="http://schemas.microsoft.com/office/drawing/2014/main" id="{510C01AF-B618-7849-AA90-85443679936C}"/>
              </a:ext>
            </a:extLst>
          </p:cNvPr>
          <p:cNvSpPr>
            <a:spLocks/>
          </p:cNvSpPr>
          <p:nvPr/>
        </p:nvSpPr>
        <p:spPr bwMode="auto">
          <a:xfrm>
            <a:off x="3276601" y="3581400"/>
            <a:ext cx="295275" cy="533400"/>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96266" name="Oval 43">
            <a:extLst>
              <a:ext uri="{FF2B5EF4-FFF2-40B4-BE49-F238E27FC236}">
                <a16:creationId xmlns:a16="http://schemas.microsoft.com/office/drawing/2014/main" id="{37D845C0-8F34-F94F-9F6C-A9F0FAB62F86}"/>
              </a:ext>
            </a:extLst>
          </p:cNvPr>
          <p:cNvSpPr>
            <a:spLocks noChangeArrowheads="1"/>
          </p:cNvSpPr>
          <p:nvPr/>
        </p:nvSpPr>
        <p:spPr bwMode="auto">
          <a:xfrm>
            <a:off x="3138489" y="3352800"/>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96267" name="Line 44">
            <a:extLst>
              <a:ext uri="{FF2B5EF4-FFF2-40B4-BE49-F238E27FC236}">
                <a16:creationId xmlns:a16="http://schemas.microsoft.com/office/drawing/2014/main" id="{03EF5580-B52B-FE40-A9AC-3D44C0E1995B}"/>
              </a:ext>
            </a:extLst>
          </p:cNvPr>
          <p:cNvSpPr>
            <a:spLocks noChangeShapeType="1"/>
          </p:cNvSpPr>
          <p:nvPr/>
        </p:nvSpPr>
        <p:spPr bwMode="auto">
          <a:xfrm>
            <a:off x="3581400" y="2895600"/>
            <a:ext cx="15240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96268" name="Line 45">
            <a:extLst>
              <a:ext uri="{FF2B5EF4-FFF2-40B4-BE49-F238E27FC236}">
                <a16:creationId xmlns:a16="http://schemas.microsoft.com/office/drawing/2014/main" id="{60B7BF00-15A0-7A4E-A04A-1AC78840ABE6}"/>
              </a:ext>
            </a:extLst>
          </p:cNvPr>
          <p:cNvSpPr>
            <a:spLocks noChangeShapeType="1"/>
          </p:cNvSpPr>
          <p:nvPr/>
        </p:nvSpPr>
        <p:spPr bwMode="auto">
          <a:xfrm>
            <a:off x="3581400" y="4114800"/>
            <a:ext cx="14478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96269" name="Rectangle 46">
            <a:extLst>
              <a:ext uri="{FF2B5EF4-FFF2-40B4-BE49-F238E27FC236}">
                <a16:creationId xmlns:a16="http://schemas.microsoft.com/office/drawing/2014/main" id="{7B5F04E6-0C7A-7143-BDE8-7A3D27CBFFA7}"/>
              </a:ext>
            </a:extLst>
          </p:cNvPr>
          <p:cNvSpPr>
            <a:spLocks noChangeArrowheads="1"/>
          </p:cNvSpPr>
          <p:nvPr/>
        </p:nvSpPr>
        <p:spPr bwMode="auto">
          <a:xfrm>
            <a:off x="5410200" y="2590801"/>
            <a:ext cx="1409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600">
                <a:solidFill>
                  <a:srgbClr val="000000"/>
                </a:solidFill>
              </a:rPr>
              <a:t>Spray</a:t>
            </a:r>
          </a:p>
        </p:txBody>
      </p:sp>
      <p:sp>
        <p:nvSpPr>
          <p:cNvPr id="96270" name="Text Box 47">
            <a:extLst>
              <a:ext uri="{FF2B5EF4-FFF2-40B4-BE49-F238E27FC236}">
                <a16:creationId xmlns:a16="http://schemas.microsoft.com/office/drawing/2014/main" id="{0499BC2D-1965-EF4A-98B8-F363694FCFC4}"/>
              </a:ext>
            </a:extLst>
          </p:cNvPr>
          <p:cNvSpPr txBox="1">
            <a:spLocks noChangeArrowheads="1"/>
          </p:cNvSpPr>
          <p:nvPr/>
        </p:nvSpPr>
        <p:spPr bwMode="auto">
          <a:xfrm>
            <a:off x="5334000" y="3733801"/>
            <a:ext cx="1524000"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2600">
                <a:solidFill>
                  <a:srgbClr val="000000"/>
                </a:solidFill>
              </a:rPr>
              <a:t>Don</a:t>
            </a:r>
            <a:r>
              <a:rPr lang="ja-JP" altLang="en-US" sz="2600">
                <a:solidFill>
                  <a:srgbClr val="000000"/>
                </a:solidFill>
              </a:rPr>
              <a:t>’</a:t>
            </a:r>
            <a:r>
              <a:rPr lang="en-US" altLang="ja-JP" sz="2600">
                <a:solidFill>
                  <a:srgbClr val="000000"/>
                </a:solidFill>
              </a:rPr>
              <a:t>t spray</a:t>
            </a:r>
            <a:endParaRPr lang="en-US" altLang="en-MX" sz="2600">
              <a:solidFill>
                <a:srgbClr val="000000"/>
              </a:solidFill>
            </a:endParaRPr>
          </a:p>
        </p:txBody>
      </p:sp>
      <p:sp>
        <p:nvSpPr>
          <p:cNvPr id="96271" name="Rectangle 57">
            <a:extLst>
              <a:ext uri="{FF2B5EF4-FFF2-40B4-BE49-F238E27FC236}">
                <a16:creationId xmlns:a16="http://schemas.microsoft.com/office/drawing/2014/main" id="{E58DB1EC-4600-D440-A402-E30F46F33E34}"/>
              </a:ext>
            </a:extLst>
          </p:cNvPr>
          <p:cNvSpPr>
            <a:spLocks noChangeArrowheads="1"/>
          </p:cNvSpPr>
          <p:nvPr/>
        </p:nvSpPr>
        <p:spPr bwMode="auto">
          <a:xfrm>
            <a:off x="3276600" y="2514601"/>
            <a:ext cx="1752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ja-JP" altLang="en-US" sz="2600">
                <a:solidFill>
                  <a:srgbClr val="000000"/>
                </a:solidFill>
              </a:rPr>
              <a:t>“</a:t>
            </a:r>
            <a:r>
              <a:rPr lang="en-US" altLang="ja-JP" sz="2600">
                <a:solidFill>
                  <a:srgbClr val="000000"/>
                </a:solidFill>
              </a:rPr>
              <a:t>Outbreak</a:t>
            </a:r>
            <a:r>
              <a:rPr lang="ja-JP" altLang="en-US" sz="2600">
                <a:solidFill>
                  <a:srgbClr val="000000"/>
                </a:solidFill>
              </a:rPr>
              <a:t>”</a:t>
            </a:r>
            <a:endParaRPr lang="en-US" altLang="en-MX" sz="2600">
              <a:solidFill>
                <a:srgbClr val="000000"/>
              </a:solidFill>
            </a:endParaRPr>
          </a:p>
        </p:txBody>
      </p:sp>
      <p:sp>
        <p:nvSpPr>
          <p:cNvPr id="96272" name="Rectangle 58">
            <a:extLst>
              <a:ext uri="{FF2B5EF4-FFF2-40B4-BE49-F238E27FC236}">
                <a16:creationId xmlns:a16="http://schemas.microsoft.com/office/drawing/2014/main" id="{94BC044C-DF6C-3546-A07B-BBE99D2181C9}"/>
              </a:ext>
            </a:extLst>
          </p:cNvPr>
          <p:cNvSpPr>
            <a:spLocks noChangeArrowheads="1"/>
          </p:cNvSpPr>
          <p:nvPr/>
        </p:nvSpPr>
        <p:spPr bwMode="auto">
          <a:xfrm>
            <a:off x="3429000" y="3352800"/>
            <a:ext cx="1600200"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ja-JP" altLang="en-US" sz="2600">
                <a:solidFill>
                  <a:srgbClr val="000000"/>
                </a:solidFill>
              </a:rPr>
              <a:t>“</a:t>
            </a:r>
            <a:r>
              <a:rPr lang="en-US" altLang="ja-JP" sz="2600">
                <a:solidFill>
                  <a:srgbClr val="000000"/>
                </a:solidFill>
              </a:rPr>
              <a:t>No</a:t>
            </a:r>
          </a:p>
          <a:p>
            <a:r>
              <a:rPr lang="en-US" altLang="en-MX" sz="2600">
                <a:solidFill>
                  <a:srgbClr val="000000"/>
                </a:solidFill>
              </a:rPr>
              <a:t>Outbreak</a:t>
            </a:r>
            <a:r>
              <a:rPr lang="ja-JP" altLang="en-US" sz="2600">
                <a:solidFill>
                  <a:srgbClr val="000000"/>
                </a:solidFill>
              </a:rPr>
              <a:t>”</a:t>
            </a:r>
            <a:endParaRPr lang="en-US" altLang="en-MX" sz="2600">
              <a:solidFill>
                <a:srgbClr val="000000"/>
              </a:solidFill>
            </a:endParaRPr>
          </a:p>
        </p:txBody>
      </p:sp>
      <p:sp>
        <p:nvSpPr>
          <p:cNvPr id="96273" name="AutoShape 59">
            <a:extLst>
              <a:ext uri="{FF2B5EF4-FFF2-40B4-BE49-F238E27FC236}">
                <a16:creationId xmlns:a16="http://schemas.microsoft.com/office/drawing/2014/main" id="{DC1D8347-B337-E640-BB00-98951A1131C4}"/>
              </a:ext>
            </a:extLst>
          </p:cNvPr>
          <p:cNvSpPr>
            <a:spLocks noChangeArrowheads="1"/>
          </p:cNvSpPr>
          <p:nvPr/>
        </p:nvSpPr>
        <p:spPr bwMode="auto">
          <a:xfrm>
            <a:off x="4997450" y="2743200"/>
            <a:ext cx="304800" cy="304800"/>
          </a:xfrm>
          <a:prstGeom prst="rightArrow">
            <a:avLst>
              <a:gd name="adj1" fmla="val 50000"/>
              <a:gd name="adj2" fmla="val 25000"/>
            </a:avLst>
          </a:prstGeom>
          <a:solidFill>
            <a:srgbClr val="990033"/>
          </a:solidFill>
          <a:ln w="12700">
            <a:solidFill>
              <a:srgbClr val="00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96274" name="AutoShape 60">
            <a:extLst>
              <a:ext uri="{FF2B5EF4-FFF2-40B4-BE49-F238E27FC236}">
                <a16:creationId xmlns:a16="http://schemas.microsoft.com/office/drawing/2014/main" id="{549DCFED-9F02-AD44-855C-5747F7DCCED4}"/>
              </a:ext>
            </a:extLst>
          </p:cNvPr>
          <p:cNvSpPr>
            <a:spLocks noChangeArrowheads="1"/>
          </p:cNvSpPr>
          <p:nvPr/>
        </p:nvSpPr>
        <p:spPr bwMode="auto">
          <a:xfrm>
            <a:off x="4997450" y="3962400"/>
            <a:ext cx="304800" cy="304800"/>
          </a:xfrm>
          <a:prstGeom prst="rightArrow">
            <a:avLst>
              <a:gd name="adj1" fmla="val 50000"/>
              <a:gd name="adj2" fmla="val 25000"/>
            </a:avLst>
          </a:prstGeom>
          <a:solidFill>
            <a:srgbClr val="990033"/>
          </a:solidFill>
          <a:ln w="12700">
            <a:solidFill>
              <a:srgbClr val="00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96275" name="Freeform 61">
            <a:extLst>
              <a:ext uri="{FF2B5EF4-FFF2-40B4-BE49-F238E27FC236}">
                <a16:creationId xmlns:a16="http://schemas.microsoft.com/office/drawing/2014/main" id="{B1256EB7-1B06-0543-99C2-C897A209ACBA}"/>
              </a:ext>
            </a:extLst>
          </p:cNvPr>
          <p:cNvSpPr>
            <a:spLocks/>
          </p:cNvSpPr>
          <p:nvPr/>
        </p:nvSpPr>
        <p:spPr bwMode="auto">
          <a:xfrm>
            <a:off x="6477000" y="2590801"/>
            <a:ext cx="2895600" cy="396875"/>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96276" name="Freeform 62">
            <a:extLst>
              <a:ext uri="{FF2B5EF4-FFF2-40B4-BE49-F238E27FC236}">
                <a16:creationId xmlns:a16="http://schemas.microsoft.com/office/drawing/2014/main" id="{C54A52A9-3036-6442-866B-8D5B87AA35CB}"/>
              </a:ext>
            </a:extLst>
          </p:cNvPr>
          <p:cNvSpPr>
            <a:spLocks/>
          </p:cNvSpPr>
          <p:nvPr/>
        </p:nvSpPr>
        <p:spPr bwMode="auto">
          <a:xfrm>
            <a:off x="6481764" y="2852739"/>
            <a:ext cx="2814637" cy="331787"/>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96277" name="Rectangle 63">
            <a:extLst>
              <a:ext uri="{FF2B5EF4-FFF2-40B4-BE49-F238E27FC236}">
                <a16:creationId xmlns:a16="http://schemas.microsoft.com/office/drawing/2014/main" id="{471A1DB0-B8B9-144D-BCF5-F5A64C753E53}"/>
              </a:ext>
            </a:extLst>
          </p:cNvPr>
          <p:cNvSpPr>
            <a:spLocks noChangeArrowheads="1"/>
          </p:cNvSpPr>
          <p:nvPr/>
        </p:nvSpPr>
        <p:spPr bwMode="auto">
          <a:xfrm>
            <a:off x="6781801" y="2209801"/>
            <a:ext cx="17827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600">
                <a:solidFill>
                  <a:srgbClr val="000000"/>
                </a:solidFill>
              </a:rPr>
              <a:t>Encephalitis</a:t>
            </a:r>
          </a:p>
        </p:txBody>
      </p:sp>
      <p:sp>
        <p:nvSpPr>
          <p:cNvPr id="96278" name="Rectangle 64">
            <a:extLst>
              <a:ext uri="{FF2B5EF4-FFF2-40B4-BE49-F238E27FC236}">
                <a16:creationId xmlns:a16="http://schemas.microsoft.com/office/drawing/2014/main" id="{4AE0E0C0-9400-A94D-930B-0F5B7E49E390}"/>
              </a:ext>
            </a:extLst>
          </p:cNvPr>
          <p:cNvSpPr>
            <a:spLocks noChangeArrowheads="1"/>
          </p:cNvSpPr>
          <p:nvPr/>
        </p:nvSpPr>
        <p:spPr bwMode="auto">
          <a:xfrm>
            <a:off x="6705600" y="2819401"/>
            <a:ext cx="2667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600">
                <a:solidFill>
                  <a:srgbClr val="000000"/>
                </a:solidFill>
              </a:rPr>
              <a:t>No Encephalitis</a:t>
            </a:r>
          </a:p>
        </p:txBody>
      </p:sp>
      <p:sp>
        <p:nvSpPr>
          <p:cNvPr id="96279" name="Oval 65">
            <a:extLst>
              <a:ext uri="{FF2B5EF4-FFF2-40B4-BE49-F238E27FC236}">
                <a16:creationId xmlns:a16="http://schemas.microsoft.com/office/drawing/2014/main" id="{A964D4DA-1BDF-5F44-BA2C-8E4D8F61695A}"/>
              </a:ext>
            </a:extLst>
          </p:cNvPr>
          <p:cNvSpPr>
            <a:spLocks noChangeArrowheads="1"/>
          </p:cNvSpPr>
          <p:nvPr/>
        </p:nvSpPr>
        <p:spPr bwMode="auto">
          <a:xfrm>
            <a:off x="6367464" y="2727325"/>
            <a:ext cx="238125" cy="261938"/>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96280" name="Freeform 66">
            <a:extLst>
              <a:ext uri="{FF2B5EF4-FFF2-40B4-BE49-F238E27FC236}">
                <a16:creationId xmlns:a16="http://schemas.microsoft.com/office/drawing/2014/main" id="{BB6B7CAA-38DD-D64D-BC09-AA25B43644A7}"/>
              </a:ext>
            </a:extLst>
          </p:cNvPr>
          <p:cNvSpPr>
            <a:spLocks/>
          </p:cNvSpPr>
          <p:nvPr/>
        </p:nvSpPr>
        <p:spPr bwMode="auto">
          <a:xfrm>
            <a:off x="6459538" y="3886201"/>
            <a:ext cx="2925762" cy="396875"/>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96281" name="Freeform 67">
            <a:extLst>
              <a:ext uri="{FF2B5EF4-FFF2-40B4-BE49-F238E27FC236}">
                <a16:creationId xmlns:a16="http://schemas.microsoft.com/office/drawing/2014/main" id="{44E2E970-B444-C941-9422-6DA7A4EC4A8F}"/>
              </a:ext>
            </a:extLst>
          </p:cNvPr>
          <p:cNvSpPr>
            <a:spLocks/>
          </p:cNvSpPr>
          <p:nvPr/>
        </p:nvSpPr>
        <p:spPr bwMode="auto">
          <a:xfrm>
            <a:off x="6459538" y="4148139"/>
            <a:ext cx="2925762" cy="331787"/>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96282" name="Rectangle 68">
            <a:extLst>
              <a:ext uri="{FF2B5EF4-FFF2-40B4-BE49-F238E27FC236}">
                <a16:creationId xmlns:a16="http://schemas.microsoft.com/office/drawing/2014/main" id="{CB3736CF-CA0D-524E-B933-2BC7CC50B510}"/>
              </a:ext>
            </a:extLst>
          </p:cNvPr>
          <p:cNvSpPr>
            <a:spLocks noChangeArrowheads="1"/>
          </p:cNvSpPr>
          <p:nvPr/>
        </p:nvSpPr>
        <p:spPr bwMode="auto">
          <a:xfrm>
            <a:off x="6629401" y="3505201"/>
            <a:ext cx="17827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600">
                <a:solidFill>
                  <a:srgbClr val="000000"/>
                </a:solidFill>
              </a:rPr>
              <a:t>Encephalitis</a:t>
            </a:r>
          </a:p>
        </p:txBody>
      </p:sp>
      <p:sp>
        <p:nvSpPr>
          <p:cNvPr id="96283" name="Rectangle 69">
            <a:extLst>
              <a:ext uri="{FF2B5EF4-FFF2-40B4-BE49-F238E27FC236}">
                <a16:creationId xmlns:a16="http://schemas.microsoft.com/office/drawing/2014/main" id="{3AF25727-5950-E34C-8AC3-153E7E6AA6C1}"/>
              </a:ext>
            </a:extLst>
          </p:cNvPr>
          <p:cNvSpPr>
            <a:spLocks noChangeArrowheads="1"/>
          </p:cNvSpPr>
          <p:nvPr/>
        </p:nvSpPr>
        <p:spPr bwMode="auto">
          <a:xfrm>
            <a:off x="6705600" y="4114801"/>
            <a:ext cx="2438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600">
                <a:solidFill>
                  <a:srgbClr val="000000"/>
                </a:solidFill>
              </a:rPr>
              <a:t>No Encephalitis</a:t>
            </a:r>
          </a:p>
        </p:txBody>
      </p:sp>
      <p:sp>
        <p:nvSpPr>
          <p:cNvPr id="96284" name="Oval 70">
            <a:extLst>
              <a:ext uri="{FF2B5EF4-FFF2-40B4-BE49-F238E27FC236}">
                <a16:creationId xmlns:a16="http://schemas.microsoft.com/office/drawing/2014/main" id="{015631DF-DD3D-9D46-8354-6BDEAF994B1B}"/>
              </a:ext>
            </a:extLst>
          </p:cNvPr>
          <p:cNvSpPr>
            <a:spLocks noChangeArrowheads="1"/>
          </p:cNvSpPr>
          <p:nvPr/>
        </p:nvSpPr>
        <p:spPr bwMode="auto">
          <a:xfrm>
            <a:off x="6367464" y="4022725"/>
            <a:ext cx="238125" cy="261938"/>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96285" name="AutoShape 74">
            <a:extLst>
              <a:ext uri="{FF2B5EF4-FFF2-40B4-BE49-F238E27FC236}">
                <a16:creationId xmlns:a16="http://schemas.microsoft.com/office/drawing/2014/main" id="{C6301E94-E16A-E242-81AB-044BF5EC97B5}"/>
              </a:ext>
            </a:extLst>
          </p:cNvPr>
          <p:cNvSpPr>
            <a:spLocks noChangeArrowheads="1"/>
          </p:cNvSpPr>
          <p:nvPr/>
        </p:nvSpPr>
        <p:spPr bwMode="auto">
          <a:xfrm>
            <a:off x="9237663" y="2955925"/>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96286" name="AutoShape 75">
            <a:extLst>
              <a:ext uri="{FF2B5EF4-FFF2-40B4-BE49-F238E27FC236}">
                <a16:creationId xmlns:a16="http://schemas.microsoft.com/office/drawing/2014/main" id="{24C7BDBE-BFB6-2A45-B0BD-D5DD6556D640}"/>
              </a:ext>
            </a:extLst>
          </p:cNvPr>
          <p:cNvSpPr>
            <a:spLocks noChangeArrowheads="1"/>
          </p:cNvSpPr>
          <p:nvPr/>
        </p:nvSpPr>
        <p:spPr bwMode="auto">
          <a:xfrm>
            <a:off x="9237663" y="2422525"/>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96287" name="AutoShape 79">
            <a:extLst>
              <a:ext uri="{FF2B5EF4-FFF2-40B4-BE49-F238E27FC236}">
                <a16:creationId xmlns:a16="http://schemas.microsoft.com/office/drawing/2014/main" id="{E7496764-3883-5A49-9D3E-783623C88260}"/>
              </a:ext>
            </a:extLst>
          </p:cNvPr>
          <p:cNvSpPr>
            <a:spLocks noChangeArrowheads="1"/>
          </p:cNvSpPr>
          <p:nvPr/>
        </p:nvSpPr>
        <p:spPr bwMode="auto">
          <a:xfrm>
            <a:off x="9250363" y="37338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96288" name="AutoShape 80">
            <a:extLst>
              <a:ext uri="{FF2B5EF4-FFF2-40B4-BE49-F238E27FC236}">
                <a16:creationId xmlns:a16="http://schemas.microsoft.com/office/drawing/2014/main" id="{E03B104D-3800-1547-B3B0-7B89B3E25EBE}"/>
              </a:ext>
            </a:extLst>
          </p:cNvPr>
          <p:cNvSpPr>
            <a:spLocks noChangeArrowheads="1"/>
          </p:cNvSpPr>
          <p:nvPr/>
        </p:nvSpPr>
        <p:spPr bwMode="auto">
          <a:xfrm>
            <a:off x="9250363" y="41910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Tree>
    <p:extLst>
      <p:ext uri="{BB962C8B-B14F-4D97-AF65-F5344CB8AC3E}">
        <p14:creationId xmlns:p14="http://schemas.microsoft.com/office/powerpoint/2010/main" val="353264933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2">
            <a:extLst>
              <a:ext uri="{FF2B5EF4-FFF2-40B4-BE49-F238E27FC236}">
                <a16:creationId xmlns:a16="http://schemas.microsoft.com/office/drawing/2014/main" id="{2D052B18-7E92-B748-B084-E9AFD994D175}"/>
              </a:ext>
            </a:extLst>
          </p:cNvPr>
          <p:cNvSpPr>
            <a:spLocks noGrp="1" noChangeArrowheads="1"/>
          </p:cNvSpPr>
          <p:nvPr>
            <p:ph type="title"/>
          </p:nvPr>
        </p:nvSpPr>
        <p:spPr>
          <a:xfrm>
            <a:off x="838200" y="365126"/>
            <a:ext cx="10515600" cy="974276"/>
          </a:xfrm>
        </p:spPr>
        <p:txBody>
          <a:bodyPr/>
          <a:lstStyle/>
          <a:p>
            <a:pPr eaLnBrk="1" hangingPunct="1"/>
            <a:r>
              <a:rPr lang="en-US" altLang="en-MX" dirty="0">
                <a:ea typeface="ＭＳ Ｐゴシック" panose="020B0600070205080204" pitchFamily="34" charset="-128"/>
              </a:rPr>
              <a:t>Structure for Imperfect Information</a:t>
            </a:r>
          </a:p>
        </p:txBody>
      </p:sp>
      <p:sp>
        <p:nvSpPr>
          <p:cNvPr id="98306" name="Rectangle 3">
            <a:extLst>
              <a:ext uri="{FF2B5EF4-FFF2-40B4-BE49-F238E27FC236}">
                <a16:creationId xmlns:a16="http://schemas.microsoft.com/office/drawing/2014/main" id="{DF6B7C9B-A6A4-D243-B5E2-18CB50506F31}"/>
              </a:ext>
            </a:extLst>
          </p:cNvPr>
          <p:cNvSpPr>
            <a:spLocks noChangeArrowheads="1"/>
          </p:cNvSpPr>
          <p:nvPr/>
        </p:nvSpPr>
        <p:spPr bwMode="auto">
          <a:xfrm>
            <a:off x="3048001" y="2438401"/>
            <a:ext cx="138499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ja-JP" altLang="en-US" sz="2000" b="1">
                <a:solidFill>
                  <a:srgbClr val="000000"/>
                </a:solidFill>
              </a:rPr>
              <a:t>“</a:t>
            </a:r>
            <a:r>
              <a:rPr lang="en-US" altLang="ja-JP" sz="2000" b="1">
                <a:solidFill>
                  <a:srgbClr val="000000"/>
                </a:solidFill>
              </a:rPr>
              <a:t>Outbreak</a:t>
            </a:r>
            <a:r>
              <a:rPr lang="ja-JP" altLang="en-US" sz="2000" b="1">
                <a:solidFill>
                  <a:srgbClr val="000000"/>
                </a:solidFill>
              </a:rPr>
              <a:t>”</a:t>
            </a:r>
            <a:endParaRPr lang="en-US" altLang="en-MX" sz="2000" b="1">
              <a:solidFill>
                <a:srgbClr val="000000"/>
              </a:solidFill>
            </a:endParaRPr>
          </a:p>
        </p:txBody>
      </p:sp>
      <p:sp>
        <p:nvSpPr>
          <p:cNvPr id="98307" name="Rectangle 4">
            <a:extLst>
              <a:ext uri="{FF2B5EF4-FFF2-40B4-BE49-F238E27FC236}">
                <a16:creationId xmlns:a16="http://schemas.microsoft.com/office/drawing/2014/main" id="{51B5F1D1-7E2B-2144-8BD7-BDBADD66714C}"/>
              </a:ext>
            </a:extLst>
          </p:cNvPr>
          <p:cNvSpPr>
            <a:spLocks noChangeArrowheads="1"/>
          </p:cNvSpPr>
          <p:nvPr/>
        </p:nvSpPr>
        <p:spPr bwMode="auto">
          <a:xfrm>
            <a:off x="3048000" y="4724400"/>
            <a:ext cx="1752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ja-JP" altLang="en-US" sz="2000" b="1">
                <a:solidFill>
                  <a:srgbClr val="000000"/>
                </a:solidFill>
              </a:rPr>
              <a:t>“</a:t>
            </a:r>
            <a:r>
              <a:rPr lang="en-US" altLang="ja-JP" sz="2000" b="1">
                <a:solidFill>
                  <a:srgbClr val="000000"/>
                </a:solidFill>
              </a:rPr>
              <a:t>No Outbreak</a:t>
            </a:r>
            <a:r>
              <a:rPr lang="ja-JP" altLang="en-US" sz="2000" b="1">
                <a:solidFill>
                  <a:srgbClr val="000000"/>
                </a:solidFill>
              </a:rPr>
              <a:t>”</a:t>
            </a:r>
            <a:endParaRPr lang="en-US" altLang="en-MX" sz="2000" b="1">
              <a:solidFill>
                <a:srgbClr val="000000"/>
              </a:solidFill>
            </a:endParaRPr>
          </a:p>
        </p:txBody>
      </p:sp>
      <p:sp>
        <p:nvSpPr>
          <p:cNvPr id="98308" name="Freeform 5">
            <a:extLst>
              <a:ext uri="{FF2B5EF4-FFF2-40B4-BE49-F238E27FC236}">
                <a16:creationId xmlns:a16="http://schemas.microsoft.com/office/drawing/2014/main" id="{5E8B67CF-AF9B-2F4F-BF2C-ADE2DDE2FA20}"/>
              </a:ext>
            </a:extLst>
          </p:cNvPr>
          <p:cNvSpPr>
            <a:spLocks/>
          </p:cNvSpPr>
          <p:nvPr/>
        </p:nvSpPr>
        <p:spPr bwMode="auto">
          <a:xfrm>
            <a:off x="2971800" y="2743201"/>
            <a:ext cx="280988" cy="989013"/>
          </a:xfrm>
          <a:custGeom>
            <a:avLst/>
            <a:gdLst>
              <a:gd name="T0" fmla="*/ 0 w 14"/>
              <a:gd name="T1" fmla="*/ 2147483647 h 16"/>
              <a:gd name="T2" fmla="*/ 0 w 14"/>
              <a:gd name="T3" fmla="*/ 0 h 16"/>
              <a:gd name="T4" fmla="*/ 2147483647 w 14"/>
              <a:gd name="T5" fmla="*/ 0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16"/>
                </a:moveTo>
                <a:lnTo>
                  <a:pt x="0" y="0"/>
                </a:lnTo>
                <a:lnTo>
                  <a:pt x="14" y="0"/>
                </a:lnTo>
              </a:path>
            </a:pathLst>
          </a:custGeom>
          <a:noFill/>
          <a:ln w="38100"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98309" name="Freeform 6">
            <a:extLst>
              <a:ext uri="{FF2B5EF4-FFF2-40B4-BE49-F238E27FC236}">
                <a16:creationId xmlns:a16="http://schemas.microsoft.com/office/drawing/2014/main" id="{1F122949-D0B0-894D-98A1-1E0ADBDF75B9}"/>
              </a:ext>
            </a:extLst>
          </p:cNvPr>
          <p:cNvSpPr>
            <a:spLocks/>
          </p:cNvSpPr>
          <p:nvPr/>
        </p:nvSpPr>
        <p:spPr bwMode="auto">
          <a:xfrm>
            <a:off x="2971801" y="3657600"/>
            <a:ext cx="371475" cy="1676400"/>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38100"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98310" name="Line 7">
            <a:extLst>
              <a:ext uri="{FF2B5EF4-FFF2-40B4-BE49-F238E27FC236}">
                <a16:creationId xmlns:a16="http://schemas.microsoft.com/office/drawing/2014/main" id="{2BF71722-F70B-744B-A5F0-18D11F20C637}"/>
              </a:ext>
            </a:extLst>
          </p:cNvPr>
          <p:cNvSpPr>
            <a:spLocks noChangeShapeType="1"/>
          </p:cNvSpPr>
          <p:nvPr/>
        </p:nvSpPr>
        <p:spPr bwMode="auto">
          <a:xfrm>
            <a:off x="2133601" y="3808414"/>
            <a:ext cx="765175"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98311" name="Oval 8">
            <a:extLst>
              <a:ext uri="{FF2B5EF4-FFF2-40B4-BE49-F238E27FC236}">
                <a16:creationId xmlns:a16="http://schemas.microsoft.com/office/drawing/2014/main" id="{85590CE1-3937-8F47-AA61-4AB44B9A24EF}"/>
              </a:ext>
            </a:extLst>
          </p:cNvPr>
          <p:cNvSpPr>
            <a:spLocks noChangeArrowheads="1"/>
          </p:cNvSpPr>
          <p:nvPr/>
        </p:nvSpPr>
        <p:spPr bwMode="auto">
          <a:xfrm>
            <a:off x="2819401" y="3732213"/>
            <a:ext cx="238125" cy="260350"/>
          </a:xfrm>
          <a:prstGeom prst="ellipse">
            <a:avLst/>
          </a:prstGeom>
          <a:solidFill>
            <a:schemeClr val="bg1"/>
          </a:solidFill>
          <a:ln w="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98312" name="Rectangle 9">
            <a:extLst>
              <a:ext uri="{FF2B5EF4-FFF2-40B4-BE49-F238E27FC236}">
                <a16:creationId xmlns:a16="http://schemas.microsoft.com/office/drawing/2014/main" id="{43B847EB-79F2-A749-90E3-15EA016B3931}"/>
              </a:ext>
            </a:extLst>
          </p:cNvPr>
          <p:cNvSpPr>
            <a:spLocks noChangeArrowheads="1"/>
          </p:cNvSpPr>
          <p:nvPr/>
        </p:nvSpPr>
        <p:spPr bwMode="auto">
          <a:xfrm>
            <a:off x="2209800" y="3429000"/>
            <a:ext cx="51854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200">
                <a:solidFill>
                  <a:srgbClr val="000000"/>
                </a:solidFill>
              </a:rPr>
              <a:t>Test</a:t>
            </a:r>
          </a:p>
        </p:txBody>
      </p:sp>
      <p:sp>
        <p:nvSpPr>
          <p:cNvPr id="98313" name="Freeform 10">
            <a:extLst>
              <a:ext uri="{FF2B5EF4-FFF2-40B4-BE49-F238E27FC236}">
                <a16:creationId xmlns:a16="http://schemas.microsoft.com/office/drawing/2014/main" id="{9D4BB5D3-61D9-584B-B76D-41590B2972DC}"/>
              </a:ext>
            </a:extLst>
          </p:cNvPr>
          <p:cNvSpPr>
            <a:spLocks/>
          </p:cNvSpPr>
          <p:nvPr/>
        </p:nvSpPr>
        <p:spPr bwMode="auto">
          <a:xfrm>
            <a:off x="2055813" y="2133600"/>
            <a:ext cx="303212" cy="1893888"/>
          </a:xfrm>
          <a:custGeom>
            <a:avLst/>
            <a:gdLst>
              <a:gd name="T0" fmla="*/ 0 w 14"/>
              <a:gd name="T1" fmla="*/ 2147483647 h 87"/>
              <a:gd name="T2" fmla="*/ 0 w 14"/>
              <a:gd name="T3" fmla="*/ 0 h 87"/>
              <a:gd name="T4" fmla="*/ 2147483647 w 14"/>
              <a:gd name="T5" fmla="*/ 0 h 87"/>
              <a:gd name="T6" fmla="*/ 0 60000 65536"/>
              <a:gd name="T7" fmla="*/ 0 60000 65536"/>
              <a:gd name="T8" fmla="*/ 0 60000 65536"/>
              <a:gd name="T9" fmla="*/ 0 w 14"/>
              <a:gd name="T10" fmla="*/ 0 h 87"/>
              <a:gd name="T11" fmla="*/ 14 w 14"/>
              <a:gd name="T12" fmla="*/ 87 h 87"/>
            </a:gdLst>
            <a:ahLst/>
            <a:cxnLst>
              <a:cxn ang="T6">
                <a:pos x="T0" y="T1"/>
              </a:cxn>
              <a:cxn ang="T7">
                <a:pos x="T2" y="T3"/>
              </a:cxn>
              <a:cxn ang="T8">
                <a:pos x="T4" y="T5"/>
              </a:cxn>
            </a:cxnLst>
            <a:rect l="T9" t="T10" r="T11" b="T12"/>
            <a:pathLst>
              <a:path w="14" h="87">
                <a:moveTo>
                  <a:pt x="0" y="8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98314" name="Freeform 11">
            <a:extLst>
              <a:ext uri="{FF2B5EF4-FFF2-40B4-BE49-F238E27FC236}">
                <a16:creationId xmlns:a16="http://schemas.microsoft.com/office/drawing/2014/main" id="{6084812F-4C02-E543-9D37-33E954AACEB0}"/>
              </a:ext>
            </a:extLst>
          </p:cNvPr>
          <p:cNvSpPr>
            <a:spLocks/>
          </p:cNvSpPr>
          <p:nvPr/>
        </p:nvSpPr>
        <p:spPr bwMode="auto">
          <a:xfrm>
            <a:off x="2057401" y="3711575"/>
            <a:ext cx="301625" cy="1544638"/>
          </a:xfrm>
          <a:custGeom>
            <a:avLst/>
            <a:gdLst>
              <a:gd name="T0" fmla="*/ 0 w 14"/>
              <a:gd name="T1" fmla="*/ 0 h 88"/>
              <a:gd name="T2" fmla="*/ 0 w 14"/>
              <a:gd name="T3" fmla="*/ 2147483647 h 88"/>
              <a:gd name="T4" fmla="*/ 2147483647 w 14"/>
              <a:gd name="T5" fmla="*/ 2147483647 h 88"/>
              <a:gd name="T6" fmla="*/ 0 60000 65536"/>
              <a:gd name="T7" fmla="*/ 0 60000 65536"/>
              <a:gd name="T8" fmla="*/ 0 60000 65536"/>
              <a:gd name="T9" fmla="*/ 0 w 14"/>
              <a:gd name="T10" fmla="*/ 0 h 88"/>
              <a:gd name="T11" fmla="*/ 14 w 14"/>
              <a:gd name="T12" fmla="*/ 88 h 88"/>
            </a:gdLst>
            <a:ahLst/>
            <a:cxnLst>
              <a:cxn ang="T6">
                <a:pos x="T0" y="T1"/>
              </a:cxn>
              <a:cxn ang="T7">
                <a:pos x="T2" y="T3"/>
              </a:cxn>
              <a:cxn ang="T8">
                <a:pos x="T4" y="T5"/>
              </a:cxn>
            </a:cxnLst>
            <a:rect l="T9" t="T10" r="T11" b="T12"/>
            <a:pathLst>
              <a:path w="14" h="88">
                <a:moveTo>
                  <a:pt x="0" y="0"/>
                </a:moveTo>
                <a:lnTo>
                  <a:pt x="0" y="88"/>
                </a:lnTo>
                <a:lnTo>
                  <a:pt x="14" y="88"/>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98315" name="Rectangle 12">
            <a:extLst>
              <a:ext uri="{FF2B5EF4-FFF2-40B4-BE49-F238E27FC236}">
                <a16:creationId xmlns:a16="http://schemas.microsoft.com/office/drawing/2014/main" id="{DCAA6325-FDF5-8C4B-B1ED-0EF40F8AA24C}"/>
              </a:ext>
            </a:extLst>
          </p:cNvPr>
          <p:cNvSpPr>
            <a:spLocks noChangeArrowheads="1"/>
          </p:cNvSpPr>
          <p:nvPr/>
        </p:nvSpPr>
        <p:spPr bwMode="auto">
          <a:xfrm>
            <a:off x="1905001" y="3656014"/>
            <a:ext cx="238125" cy="261937"/>
          </a:xfrm>
          <a:prstGeom prst="rect">
            <a:avLst/>
          </a:prstGeom>
          <a:solidFill>
            <a:schemeClr val="bg1"/>
          </a:solidFill>
          <a:ln w="25400">
            <a:solidFill>
              <a:srgbClr val="0000FF"/>
            </a:solidFill>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98316" name="Line 13">
            <a:extLst>
              <a:ext uri="{FF2B5EF4-FFF2-40B4-BE49-F238E27FC236}">
                <a16:creationId xmlns:a16="http://schemas.microsoft.com/office/drawing/2014/main" id="{2DECFE54-9248-9D4F-919A-EA900D7CE55C}"/>
              </a:ext>
            </a:extLst>
          </p:cNvPr>
          <p:cNvSpPr>
            <a:spLocks noChangeShapeType="1"/>
          </p:cNvSpPr>
          <p:nvPr/>
        </p:nvSpPr>
        <p:spPr bwMode="auto">
          <a:xfrm>
            <a:off x="3200400" y="2743200"/>
            <a:ext cx="1447800" cy="0"/>
          </a:xfrm>
          <a:prstGeom prst="line">
            <a:avLst/>
          </a:prstGeom>
          <a:noFill/>
          <a:ln w="381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98317" name="Line 14">
            <a:extLst>
              <a:ext uri="{FF2B5EF4-FFF2-40B4-BE49-F238E27FC236}">
                <a16:creationId xmlns:a16="http://schemas.microsoft.com/office/drawing/2014/main" id="{09F6ADE0-0492-8647-83FE-5D48DE5F992E}"/>
              </a:ext>
            </a:extLst>
          </p:cNvPr>
          <p:cNvSpPr>
            <a:spLocks noChangeShapeType="1"/>
          </p:cNvSpPr>
          <p:nvPr/>
        </p:nvSpPr>
        <p:spPr bwMode="auto">
          <a:xfrm>
            <a:off x="3352801" y="5332414"/>
            <a:ext cx="1425575" cy="1587"/>
          </a:xfrm>
          <a:prstGeom prst="line">
            <a:avLst/>
          </a:prstGeom>
          <a:noFill/>
          <a:ln w="381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98318" name="Freeform 15">
            <a:extLst>
              <a:ext uri="{FF2B5EF4-FFF2-40B4-BE49-F238E27FC236}">
                <a16:creationId xmlns:a16="http://schemas.microsoft.com/office/drawing/2014/main" id="{4BC0478F-7878-7C4D-8222-BC10B992E48C}"/>
              </a:ext>
            </a:extLst>
          </p:cNvPr>
          <p:cNvSpPr>
            <a:spLocks/>
          </p:cNvSpPr>
          <p:nvPr/>
        </p:nvSpPr>
        <p:spPr bwMode="auto">
          <a:xfrm>
            <a:off x="5105401" y="2286000"/>
            <a:ext cx="327025" cy="522288"/>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98319" name="Freeform 16">
            <a:extLst>
              <a:ext uri="{FF2B5EF4-FFF2-40B4-BE49-F238E27FC236}">
                <a16:creationId xmlns:a16="http://schemas.microsoft.com/office/drawing/2014/main" id="{2CF4F5C9-6AD9-4248-BA9D-48315E6A9E42}"/>
              </a:ext>
            </a:extLst>
          </p:cNvPr>
          <p:cNvSpPr>
            <a:spLocks/>
          </p:cNvSpPr>
          <p:nvPr/>
        </p:nvSpPr>
        <p:spPr bwMode="auto">
          <a:xfrm>
            <a:off x="5105401" y="2895600"/>
            <a:ext cx="1654175" cy="457200"/>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19050"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98320" name="Line 17">
            <a:extLst>
              <a:ext uri="{FF2B5EF4-FFF2-40B4-BE49-F238E27FC236}">
                <a16:creationId xmlns:a16="http://schemas.microsoft.com/office/drawing/2014/main" id="{4945DF76-68C5-5F4F-B861-922BAF019E66}"/>
              </a:ext>
            </a:extLst>
          </p:cNvPr>
          <p:cNvSpPr>
            <a:spLocks noChangeShapeType="1"/>
          </p:cNvSpPr>
          <p:nvPr/>
        </p:nvSpPr>
        <p:spPr bwMode="auto">
          <a:xfrm>
            <a:off x="5334000" y="2286000"/>
            <a:ext cx="14478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98321" name="Rectangle 18">
            <a:extLst>
              <a:ext uri="{FF2B5EF4-FFF2-40B4-BE49-F238E27FC236}">
                <a16:creationId xmlns:a16="http://schemas.microsoft.com/office/drawing/2014/main" id="{B7D3FF78-BAEF-AF4B-BA8E-5B4CDB5CA2CD}"/>
              </a:ext>
            </a:extLst>
          </p:cNvPr>
          <p:cNvSpPr>
            <a:spLocks noChangeArrowheads="1"/>
          </p:cNvSpPr>
          <p:nvPr/>
        </p:nvSpPr>
        <p:spPr bwMode="auto">
          <a:xfrm>
            <a:off x="5181600" y="1905000"/>
            <a:ext cx="14097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200">
                <a:solidFill>
                  <a:srgbClr val="000000"/>
                </a:solidFill>
              </a:rPr>
              <a:t>Outbreak</a:t>
            </a:r>
          </a:p>
        </p:txBody>
      </p:sp>
      <p:sp>
        <p:nvSpPr>
          <p:cNvPr id="98322" name="Rectangle 19">
            <a:extLst>
              <a:ext uri="{FF2B5EF4-FFF2-40B4-BE49-F238E27FC236}">
                <a16:creationId xmlns:a16="http://schemas.microsoft.com/office/drawing/2014/main" id="{F152E33B-F3CC-F34F-A097-D0A67BE9E61D}"/>
              </a:ext>
            </a:extLst>
          </p:cNvPr>
          <p:cNvSpPr>
            <a:spLocks noChangeArrowheads="1"/>
          </p:cNvSpPr>
          <p:nvPr/>
        </p:nvSpPr>
        <p:spPr bwMode="auto">
          <a:xfrm>
            <a:off x="5257800" y="2667000"/>
            <a:ext cx="1409700"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200">
                <a:solidFill>
                  <a:srgbClr val="000000"/>
                </a:solidFill>
              </a:rPr>
              <a:t>No outbreak</a:t>
            </a:r>
          </a:p>
        </p:txBody>
      </p:sp>
      <p:sp>
        <p:nvSpPr>
          <p:cNvPr id="98323" name="Freeform 20">
            <a:extLst>
              <a:ext uri="{FF2B5EF4-FFF2-40B4-BE49-F238E27FC236}">
                <a16:creationId xmlns:a16="http://schemas.microsoft.com/office/drawing/2014/main" id="{73BF840F-EA32-684D-80CF-FF83C112C1BD}"/>
              </a:ext>
            </a:extLst>
          </p:cNvPr>
          <p:cNvSpPr>
            <a:spLocks/>
          </p:cNvSpPr>
          <p:nvPr/>
        </p:nvSpPr>
        <p:spPr bwMode="auto">
          <a:xfrm>
            <a:off x="6934200" y="1981200"/>
            <a:ext cx="533400" cy="369888"/>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98324" name="Freeform 21">
            <a:extLst>
              <a:ext uri="{FF2B5EF4-FFF2-40B4-BE49-F238E27FC236}">
                <a16:creationId xmlns:a16="http://schemas.microsoft.com/office/drawing/2014/main" id="{E9031F82-8A0E-9740-B650-F1C41D8E7AA6}"/>
              </a:ext>
            </a:extLst>
          </p:cNvPr>
          <p:cNvSpPr>
            <a:spLocks/>
          </p:cNvSpPr>
          <p:nvPr/>
        </p:nvSpPr>
        <p:spPr bwMode="auto">
          <a:xfrm>
            <a:off x="6934200" y="2286000"/>
            <a:ext cx="457200" cy="304800"/>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98325" name="Oval 22">
            <a:extLst>
              <a:ext uri="{FF2B5EF4-FFF2-40B4-BE49-F238E27FC236}">
                <a16:creationId xmlns:a16="http://schemas.microsoft.com/office/drawing/2014/main" id="{961A6612-E671-A347-A7A0-A6BEFB20076F}"/>
              </a:ext>
            </a:extLst>
          </p:cNvPr>
          <p:cNvSpPr>
            <a:spLocks noChangeArrowheads="1"/>
          </p:cNvSpPr>
          <p:nvPr/>
        </p:nvSpPr>
        <p:spPr bwMode="auto">
          <a:xfrm>
            <a:off x="6781801" y="2133600"/>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98326" name="Line 23">
            <a:extLst>
              <a:ext uri="{FF2B5EF4-FFF2-40B4-BE49-F238E27FC236}">
                <a16:creationId xmlns:a16="http://schemas.microsoft.com/office/drawing/2014/main" id="{6AB89350-8215-7745-8411-EF81078CFD73}"/>
              </a:ext>
            </a:extLst>
          </p:cNvPr>
          <p:cNvSpPr>
            <a:spLocks noChangeShapeType="1"/>
          </p:cNvSpPr>
          <p:nvPr/>
        </p:nvSpPr>
        <p:spPr bwMode="auto">
          <a:xfrm>
            <a:off x="7413626" y="1981200"/>
            <a:ext cx="150177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98327" name="Line 24">
            <a:extLst>
              <a:ext uri="{FF2B5EF4-FFF2-40B4-BE49-F238E27FC236}">
                <a16:creationId xmlns:a16="http://schemas.microsoft.com/office/drawing/2014/main" id="{1AA0F031-83E8-A244-91B7-52228A2BE63A}"/>
              </a:ext>
            </a:extLst>
          </p:cNvPr>
          <p:cNvSpPr>
            <a:spLocks noChangeShapeType="1"/>
          </p:cNvSpPr>
          <p:nvPr/>
        </p:nvSpPr>
        <p:spPr bwMode="auto">
          <a:xfrm>
            <a:off x="7391400" y="2590800"/>
            <a:ext cx="15240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98328" name="Text Box 25">
            <a:extLst>
              <a:ext uri="{FF2B5EF4-FFF2-40B4-BE49-F238E27FC236}">
                <a16:creationId xmlns:a16="http://schemas.microsoft.com/office/drawing/2014/main" id="{CF161A90-EC70-BD42-8A49-E181E913EA9E}"/>
              </a:ext>
            </a:extLst>
          </p:cNvPr>
          <p:cNvSpPr txBox="1">
            <a:spLocks noChangeArrowheads="1"/>
          </p:cNvSpPr>
          <p:nvPr/>
        </p:nvSpPr>
        <p:spPr bwMode="auto">
          <a:xfrm>
            <a:off x="7010400" y="1584326"/>
            <a:ext cx="1981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2000">
                <a:solidFill>
                  <a:srgbClr val="000000"/>
                </a:solidFill>
              </a:rPr>
              <a:t>Encephalitis</a:t>
            </a:r>
          </a:p>
        </p:txBody>
      </p:sp>
      <p:sp>
        <p:nvSpPr>
          <p:cNvPr id="98329" name="Text Box 26">
            <a:extLst>
              <a:ext uri="{FF2B5EF4-FFF2-40B4-BE49-F238E27FC236}">
                <a16:creationId xmlns:a16="http://schemas.microsoft.com/office/drawing/2014/main" id="{7AB19112-A9D1-A749-89E7-8CF770813BE3}"/>
              </a:ext>
            </a:extLst>
          </p:cNvPr>
          <p:cNvSpPr txBox="1">
            <a:spLocks noChangeArrowheads="1"/>
          </p:cNvSpPr>
          <p:nvPr/>
        </p:nvSpPr>
        <p:spPr bwMode="auto">
          <a:xfrm>
            <a:off x="7010400" y="2209801"/>
            <a:ext cx="23320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2000">
                <a:solidFill>
                  <a:srgbClr val="000000"/>
                </a:solidFill>
              </a:rPr>
              <a:t>No encephalitis</a:t>
            </a:r>
          </a:p>
        </p:txBody>
      </p:sp>
      <p:sp>
        <p:nvSpPr>
          <p:cNvPr id="98330" name="Freeform 27">
            <a:extLst>
              <a:ext uri="{FF2B5EF4-FFF2-40B4-BE49-F238E27FC236}">
                <a16:creationId xmlns:a16="http://schemas.microsoft.com/office/drawing/2014/main" id="{E7CECBC4-BB53-9E44-8F36-E85BA8157C02}"/>
              </a:ext>
            </a:extLst>
          </p:cNvPr>
          <p:cNvSpPr>
            <a:spLocks/>
          </p:cNvSpPr>
          <p:nvPr/>
        </p:nvSpPr>
        <p:spPr bwMode="auto">
          <a:xfrm>
            <a:off x="6858000" y="3048000"/>
            <a:ext cx="533400" cy="369888"/>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98331" name="Freeform 28">
            <a:extLst>
              <a:ext uri="{FF2B5EF4-FFF2-40B4-BE49-F238E27FC236}">
                <a16:creationId xmlns:a16="http://schemas.microsoft.com/office/drawing/2014/main" id="{64CA6143-ADD7-2043-9CFB-EC75B080B88F}"/>
              </a:ext>
            </a:extLst>
          </p:cNvPr>
          <p:cNvSpPr>
            <a:spLocks/>
          </p:cNvSpPr>
          <p:nvPr/>
        </p:nvSpPr>
        <p:spPr bwMode="auto">
          <a:xfrm>
            <a:off x="6858000" y="3352800"/>
            <a:ext cx="457200" cy="304800"/>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98332" name="Oval 29">
            <a:extLst>
              <a:ext uri="{FF2B5EF4-FFF2-40B4-BE49-F238E27FC236}">
                <a16:creationId xmlns:a16="http://schemas.microsoft.com/office/drawing/2014/main" id="{EBEAF353-CBDE-5B40-A8E3-6278CB5DBF88}"/>
              </a:ext>
            </a:extLst>
          </p:cNvPr>
          <p:cNvSpPr>
            <a:spLocks noChangeArrowheads="1"/>
          </p:cNvSpPr>
          <p:nvPr/>
        </p:nvSpPr>
        <p:spPr bwMode="auto">
          <a:xfrm>
            <a:off x="6705601" y="3200400"/>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98333" name="Line 30">
            <a:extLst>
              <a:ext uri="{FF2B5EF4-FFF2-40B4-BE49-F238E27FC236}">
                <a16:creationId xmlns:a16="http://schemas.microsoft.com/office/drawing/2014/main" id="{750B6420-7F13-0244-AECE-3F11A56AAC36}"/>
              </a:ext>
            </a:extLst>
          </p:cNvPr>
          <p:cNvSpPr>
            <a:spLocks noChangeShapeType="1"/>
          </p:cNvSpPr>
          <p:nvPr/>
        </p:nvSpPr>
        <p:spPr bwMode="auto">
          <a:xfrm>
            <a:off x="7337426" y="3048000"/>
            <a:ext cx="142557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98334" name="Line 31">
            <a:extLst>
              <a:ext uri="{FF2B5EF4-FFF2-40B4-BE49-F238E27FC236}">
                <a16:creationId xmlns:a16="http://schemas.microsoft.com/office/drawing/2014/main" id="{C099EF9A-0861-3D48-A72F-E5C7B95D6F31}"/>
              </a:ext>
            </a:extLst>
          </p:cNvPr>
          <p:cNvSpPr>
            <a:spLocks noChangeShapeType="1"/>
          </p:cNvSpPr>
          <p:nvPr/>
        </p:nvSpPr>
        <p:spPr bwMode="auto">
          <a:xfrm flipV="1">
            <a:off x="7315200" y="3657600"/>
            <a:ext cx="16002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98335" name="Text Box 32">
            <a:extLst>
              <a:ext uri="{FF2B5EF4-FFF2-40B4-BE49-F238E27FC236}">
                <a16:creationId xmlns:a16="http://schemas.microsoft.com/office/drawing/2014/main" id="{3CAE8687-ED30-4540-9ADB-DB6BF3CD02DF}"/>
              </a:ext>
            </a:extLst>
          </p:cNvPr>
          <p:cNvSpPr txBox="1">
            <a:spLocks noChangeArrowheads="1"/>
          </p:cNvSpPr>
          <p:nvPr/>
        </p:nvSpPr>
        <p:spPr bwMode="auto">
          <a:xfrm>
            <a:off x="6964363" y="2667001"/>
            <a:ext cx="1981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2000">
                <a:solidFill>
                  <a:srgbClr val="000000"/>
                </a:solidFill>
              </a:rPr>
              <a:t>Encephalitis</a:t>
            </a:r>
          </a:p>
        </p:txBody>
      </p:sp>
      <p:sp>
        <p:nvSpPr>
          <p:cNvPr id="98336" name="Text Box 33">
            <a:extLst>
              <a:ext uri="{FF2B5EF4-FFF2-40B4-BE49-F238E27FC236}">
                <a16:creationId xmlns:a16="http://schemas.microsoft.com/office/drawing/2014/main" id="{2A27CF4E-CD3F-9545-B620-DE45DAAD7259}"/>
              </a:ext>
            </a:extLst>
          </p:cNvPr>
          <p:cNvSpPr txBox="1">
            <a:spLocks noChangeArrowheads="1"/>
          </p:cNvSpPr>
          <p:nvPr/>
        </p:nvSpPr>
        <p:spPr bwMode="auto">
          <a:xfrm>
            <a:off x="7010400" y="3276601"/>
            <a:ext cx="23320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2000">
                <a:solidFill>
                  <a:srgbClr val="000000"/>
                </a:solidFill>
              </a:rPr>
              <a:t>No encephalitis</a:t>
            </a:r>
          </a:p>
        </p:txBody>
      </p:sp>
      <p:sp>
        <p:nvSpPr>
          <p:cNvPr id="98337" name="AutoShape 34">
            <a:extLst>
              <a:ext uri="{FF2B5EF4-FFF2-40B4-BE49-F238E27FC236}">
                <a16:creationId xmlns:a16="http://schemas.microsoft.com/office/drawing/2014/main" id="{55B6A985-D95A-E548-B7B8-37EEE2A4C878}"/>
              </a:ext>
            </a:extLst>
          </p:cNvPr>
          <p:cNvSpPr>
            <a:spLocks noChangeArrowheads="1"/>
          </p:cNvSpPr>
          <p:nvPr/>
        </p:nvSpPr>
        <p:spPr bwMode="auto">
          <a:xfrm>
            <a:off x="8763000" y="18288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98338" name="AutoShape 35">
            <a:extLst>
              <a:ext uri="{FF2B5EF4-FFF2-40B4-BE49-F238E27FC236}">
                <a16:creationId xmlns:a16="http://schemas.microsoft.com/office/drawing/2014/main" id="{28E73B70-2F65-7444-BF5D-FA2CF748CC36}"/>
              </a:ext>
            </a:extLst>
          </p:cNvPr>
          <p:cNvSpPr>
            <a:spLocks noChangeArrowheads="1"/>
          </p:cNvSpPr>
          <p:nvPr/>
        </p:nvSpPr>
        <p:spPr bwMode="auto">
          <a:xfrm>
            <a:off x="8763000" y="23622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98339" name="AutoShape 36">
            <a:extLst>
              <a:ext uri="{FF2B5EF4-FFF2-40B4-BE49-F238E27FC236}">
                <a16:creationId xmlns:a16="http://schemas.microsoft.com/office/drawing/2014/main" id="{038419A4-575C-4145-BEC9-E13C085EB32D}"/>
              </a:ext>
            </a:extLst>
          </p:cNvPr>
          <p:cNvSpPr>
            <a:spLocks noChangeArrowheads="1"/>
          </p:cNvSpPr>
          <p:nvPr/>
        </p:nvSpPr>
        <p:spPr bwMode="auto">
          <a:xfrm>
            <a:off x="8763000" y="28956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98340" name="AutoShape 37">
            <a:extLst>
              <a:ext uri="{FF2B5EF4-FFF2-40B4-BE49-F238E27FC236}">
                <a16:creationId xmlns:a16="http://schemas.microsoft.com/office/drawing/2014/main" id="{B40C0943-52E0-0B4F-A52D-124BA89161C4}"/>
              </a:ext>
            </a:extLst>
          </p:cNvPr>
          <p:cNvSpPr>
            <a:spLocks noChangeArrowheads="1"/>
          </p:cNvSpPr>
          <p:nvPr/>
        </p:nvSpPr>
        <p:spPr bwMode="auto">
          <a:xfrm>
            <a:off x="8763000" y="34290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98341" name="Freeform 38">
            <a:extLst>
              <a:ext uri="{FF2B5EF4-FFF2-40B4-BE49-F238E27FC236}">
                <a16:creationId xmlns:a16="http://schemas.microsoft.com/office/drawing/2014/main" id="{C364CF0A-996D-7B4C-9C35-D01D35CAA49F}"/>
              </a:ext>
            </a:extLst>
          </p:cNvPr>
          <p:cNvSpPr>
            <a:spLocks/>
          </p:cNvSpPr>
          <p:nvPr/>
        </p:nvSpPr>
        <p:spPr bwMode="auto">
          <a:xfrm>
            <a:off x="5181601" y="4876800"/>
            <a:ext cx="327025" cy="522288"/>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19050"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98342" name="Freeform 39">
            <a:extLst>
              <a:ext uri="{FF2B5EF4-FFF2-40B4-BE49-F238E27FC236}">
                <a16:creationId xmlns:a16="http://schemas.microsoft.com/office/drawing/2014/main" id="{62E14956-8D0D-3A41-AFB9-C609F4A2D249}"/>
              </a:ext>
            </a:extLst>
          </p:cNvPr>
          <p:cNvSpPr>
            <a:spLocks/>
          </p:cNvSpPr>
          <p:nvPr/>
        </p:nvSpPr>
        <p:spPr bwMode="auto">
          <a:xfrm>
            <a:off x="5181601" y="5486400"/>
            <a:ext cx="1654175" cy="457200"/>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98343" name="Line 40">
            <a:extLst>
              <a:ext uri="{FF2B5EF4-FFF2-40B4-BE49-F238E27FC236}">
                <a16:creationId xmlns:a16="http://schemas.microsoft.com/office/drawing/2014/main" id="{9370B147-7CEB-F94A-8DB3-E205C29BB7AF}"/>
              </a:ext>
            </a:extLst>
          </p:cNvPr>
          <p:cNvSpPr>
            <a:spLocks noChangeShapeType="1"/>
          </p:cNvSpPr>
          <p:nvPr/>
        </p:nvSpPr>
        <p:spPr bwMode="auto">
          <a:xfrm>
            <a:off x="5410200" y="4876800"/>
            <a:ext cx="1447800" cy="0"/>
          </a:xfrm>
          <a:prstGeom prst="line">
            <a:avLst/>
          </a:prstGeom>
          <a:noFill/>
          <a:ln w="1905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98344" name="Rectangle 41">
            <a:extLst>
              <a:ext uri="{FF2B5EF4-FFF2-40B4-BE49-F238E27FC236}">
                <a16:creationId xmlns:a16="http://schemas.microsoft.com/office/drawing/2014/main" id="{80929B19-FFFF-3745-A4B4-676CED21A6A0}"/>
              </a:ext>
            </a:extLst>
          </p:cNvPr>
          <p:cNvSpPr>
            <a:spLocks noChangeArrowheads="1"/>
          </p:cNvSpPr>
          <p:nvPr/>
        </p:nvSpPr>
        <p:spPr bwMode="auto">
          <a:xfrm>
            <a:off x="5257800" y="4495800"/>
            <a:ext cx="14097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200">
                <a:solidFill>
                  <a:srgbClr val="000000"/>
                </a:solidFill>
              </a:rPr>
              <a:t>Outbreak</a:t>
            </a:r>
          </a:p>
        </p:txBody>
      </p:sp>
      <p:sp>
        <p:nvSpPr>
          <p:cNvPr id="98345" name="Rectangle 42">
            <a:extLst>
              <a:ext uri="{FF2B5EF4-FFF2-40B4-BE49-F238E27FC236}">
                <a16:creationId xmlns:a16="http://schemas.microsoft.com/office/drawing/2014/main" id="{AF1E70D8-C659-EE45-A54C-7EB0013053A1}"/>
              </a:ext>
            </a:extLst>
          </p:cNvPr>
          <p:cNvSpPr>
            <a:spLocks noChangeArrowheads="1"/>
          </p:cNvSpPr>
          <p:nvPr/>
        </p:nvSpPr>
        <p:spPr bwMode="auto">
          <a:xfrm>
            <a:off x="5334000" y="5257800"/>
            <a:ext cx="1524000"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200">
                <a:solidFill>
                  <a:srgbClr val="000000"/>
                </a:solidFill>
              </a:rPr>
              <a:t>No Outbreak</a:t>
            </a:r>
          </a:p>
        </p:txBody>
      </p:sp>
      <p:sp>
        <p:nvSpPr>
          <p:cNvPr id="98346" name="Freeform 43">
            <a:extLst>
              <a:ext uri="{FF2B5EF4-FFF2-40B4-BE49-F238E27FC236}">
                <a16:creationId xmlns:a16="http://schemas.microsoft.com/office/drawing/2014/main" id="{435A97CA-9C5D-804B-BCB4-AB5FD1CFCC41}"/>
              </a:ext>
            </a:extLst>
          </p:cNvPr>
          <p:cNvSpPr>
            <a:spLocks/>
          </p:cNvSpPr>
          <p:nvPr/>
        </p:nvSpPr>
        <p:spPr bwMode="auto">
          <a:xfrm>
            <a:off x="7010400" y="4572000"/>
            <a:ext cx="533400" cy="369888"/>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98347" name="Freeform 44">
            <a:extLst>
              <a:ext uri="{FF2B5EF4-FFF2-40B4-BE49-F238E27FC236}">
                <a16:creationId xmlns:a16="http://schemas.microsoft.com/office/drawing/2014/main" id="{1DF20B94-5111-1C4A-86E3-E1029B1B54D8}"/>
              </a:ext>
            </a:extLst>
          </p:cNvPr>
          <p:cNvSpPr>
            <a:spLocks/>
          </p:cNvSpPr>
          <p:nvPr/>
        </p:nvSpPr>
        <p:spPr bwMode="auto">
          <a:xfrm>
            <a:off x="7010400" y="4876800"/>
            <a:ext cx="457200" cy="304800"/>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98348" name="Oval 45">
            <a:extLst>
              <a:ext uri="{FF2B5EF4-FFF2-40B4-BE49-F238E27FC236}">
                <a16:creationId xmlns:a16="http://schemas.microsoft.com/office/drawing/2014/main" id="{27CE436A-9C07-A245-8E36-CF1F00CB23AC}"/>
              </a:ext>
            </a:extLst>
          </p:cNvPr>
          <p:cNvSpPr>
            <a:spLocks noChangeArrowheads="1"/>
          </p:cNvSpPr>
          <p:nvPr/>
        </p:nvSpPr>
        <p:spPr bwMode="auto">
          <a:xfrm>
            <a:off x="6858001" y="4724400"/>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98349" name="Line 46">
            <a:extLst>
              <a:ext uri="{FF2B5EF4-FFF2-40B4-BE49-F238E27FC236}">
                <a16:creationId xmlns:a16="http://schemas.microsoft.com/office/drawing/2014/main" id="{9E7B5A7D-9151-FD42-8771-0286DDA0E2A2}"/>
              </a:ext>
            </a:extLst>
          </p:cNvPr>
          <p:cNvSpPr>
            <a:spLocks noChangeShapeType="1"/>
          </p:cNvSpPr>
          <p:nvPr/>
        </p:nvSpPr>
        <p:spPr bwMode="auto">
          <a:xfrm>
            <a:off x="7489826" y="4572000"/>
            <a:ext cx="150177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98350" name="Line 47">
            <a:extLst>
              <a:ext uri="{FF2B5EF4-FFF2-40B4-BE49-F238E27FC236}">
                <a16:creationId xmlns:a16="http://schemas.microsoft.com/office/drawing/2014/main" id="{A1ECA601-18FC-3447-8DC7-57604AD04C45}"/>
              </a:ext>
            </a:extLst>
          </p:cNvPr>
          <p:cNvSpPr>
            <a:spLocks noChangeShapeType="1"/>
          </p:cNvSpPr>
          <p:nvPr/>
        </p:nvSpPr>
        <p:spPr bwMode="auto">
          <a:xfrm>
            <a:off x="7467600" y="5181600"/>
            <a:ext cx="15240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98351" name="Text Box 48">
            <a:extLst>
              <a:ext uri="{FF2B5EF4-FFF2-40B4-BE49-F238E27FC236}">
                <a16:creationId xmlns:a16="http://schemas.microsoft.com/office/drawing/2014/main" id="{B2951FA8-2B8F-C540-9ECC-92DCECC20DCB}"/>
              </a:ext>
            </a:extLst>
          </p:cNvPr>
          <p:cNvSpPr txBox="1">
            <a:spLocks noChangeArrowheads="1"/>
          </p:cNvSpPr>
          <p:nvPr/>
        </p:nvSpPr>
        <p:spPr bwMode="auto">
          <a:xfrm>
            <a:off x="7086600" y="4175126"/>
            <a:ext cx="1981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2000">
                <a:solidFill>
                  <a:srgbClr val="000000"/>
                </a:solidFill>
              </a:rPr>
              <a:t>Encephalitis</a:t>
            </a:r>
          </a:p>
        </p:txBody>
      </p:sp>
      <p:sp>
        <p:nvSpPr>
          <p:cNvPr id="98352" name="Text Box 49">
            <a:extLst>
              <a:ext uri="{FF2B5EF4-FFF2-40B4-BE49-F238E27FC236}">
                <a16:creationId xmlns:a16="http://schemas.microsoft.com/office/drawing/2014/main" id="{AE8B53B2-D512-0648-9A26-E7125B3B9CE2}"/>
              </a:ext>
            </a:extLst>
          </p:cNvPr>
          <p:cNvSpPr txBox="1">
            <a:spLocks noChangeArrowheads="1"/>
          </p:cNvSpPr>
          <p:nvPr/>
        </p:nvSpPr>
        <p:spPr bwMode="auto">
          <a:xfrm>
            <a:off x="7086600" y="4800601"/>
            <a:ext cx="23320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2000">
                <a:solidFill>
                  <a:srgbClr val="000000"/>
                </a:solidFill>
              </a:rPr>
              <a:t>No encephalitis</a:t>
            </a:r>
          </a:p>
        </p:txBody>
      </p:sp>
      <p:sp>
        <p:nvSpPr>
          <p:cNvPr id="98353" name="Freeform 50">
            <a:extLst>
              <a:ext uri="{FF2B5EF4-FFF2-40B4-BE49-F238E27FC236}">
                <a16:creationId xmlns:a16="http://schemas.microsoft.com/office/drawing/2014/main" id="{3C2C9275-4654-9342-86FC-2EB5F6A6619C}"/>
              </a:ext>
            </a:extLst>
          </p:cNvPr>
          <p:cNvSpPr>
            <a:spLocks/>
          </p:cNvSpPr>
          <p:nvPr/>
        </p:nvSpPr>
        <p:spPr bwMode="auto">
          <a:xfrm>
            <a:off x="6934200" y="5638800"/>
            <a:ext cx="533400" cy="369888"/>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98354" name="Freeform 51">
            <a:extLst>
              <a:ext uri="{FF2B5EF4-FFF2-40B4-BE49-F238E27FC236}">
                <a16:creationId xmlns:a16="http://schemas.microsoft.com/office/drawing/2014/main" id="{167C7178-34A6-F246-AA02-C76084319633}"/>
              </a:ext>
            </a:extLst>
          </p:cNvPr>
          <p:cNvSpPr>
            <a:spLocks/>
          </p:cNvSpPr>
          <p:nvPr/>
        </p:nvSpPr>
        <p:spPr bwMode="auto">
          <a:xfrm>
            <a:off x="6934200" y="5943600"/>
            <a:ext cx="457200" cy="304800"/>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98355" name="Oval 52">
            <a:extLst>
              <a:ext uri="{FF2B5EF4-FFF2-40B4-BE49-F238E27FC236}">
                <a16:creationId xmlns:a16="http://schemas.microsoft.com/office/drawing/2014/main" id="{A9CED3C4-0EA4-A54B-9165-BB31799D86CB}"/>
              </a:ext>
            </a:extLst>
          </p:cNvPr>
          <p:cNvSpPr>
            <a:spLocks noChangeArrowheads="1"/>
          </p:cNvSpPr>
          <p:nvPr/>
        </p:nvSpPr>
        <p:spPr bwMode="auto">
          <a:xfrm>
            <a:off x="6781801" y="5791200"/>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98356" name="Line 53">
            <a:extLst>
              <a:ext uri="{FF2B5EF4-FFF2-40B4-BE49-F238E27FC236}">
                <a16:creationId xmlns:a16="http://schemas.microsoft.com/office/drawing/2014/main" id="{3FBE4DF6-E1E9-AD46-9586-35AE9B1BB332}"/>
              </a:ext>
            </a:extLst>
          </p:cNvPr>
          <p:cNvSpPr>
            <a:spLocks noChangeShapeType="1"/>
          </p:cNvSpPr>
          <p:nvPr/>
        </p:nvSpPr>
        <p:spPr bwMode="auto">
          <a:xfrm>
            <a:off x="7413626" y="5638800"/>
            <a:ext cx="142557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98357" name="Line 54">
            <a:extLst>
              <a:ext uri="{FF2B5EF4-FFF2-40B4-BE49-F238E27FC236}">
                <a16:creationId xmlns:a16="http://schemas.microsoft.com/office/drawing/2014/main" id="{748C184C-9138-5C43-A181-3A5AB8E8B8E6}"/>
              </a:ext>
            </a:extLst>
          </p:cNvPr>
          <p:cNvSpPr>
            <a:spLocks noChangeShapeType="1"/>
          </p:cNvSpPr>
          <p:nvPr/>
        </p:nvSpPr>
        <p:spPr bwMode="auto">
          <a:xfrm flipV="1">
            <a:off x="7391400" y="6248400"/>
            <a:ext cx="16002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98358" name="Text Box 55">
            <a:extLst>
              <a:ext uri="{FF2B5EF4-FFF2-40B4-BE49-F238E27FC236}">
                <a16:creationId xmlns:a16="http://schemas.microsoft.com/office/drawing/2014/main" id="{73830DD2-F943-9949-AF16-31B2DECC85ED}"/>
              </a:ext>
            </a:extLst>
          </p:cNvPr>
          <p:cNvSpPr txBox="1">
            <a:spLocks noChangeArrowheads="1"/>
          </p:cNvSpPr>
          <p:nvPr/>
        </p:nvSpPr>
        <p:spPr bwMode="auto">
          <a:xfrm>
            <a:off x="7040563" y="5257801"/>
            <a:ext cx="1981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2000">
                <a:solidFill>
                  <a:srgbClr val="000000"/>
                </a:solidFill>
              </a:rPr>
              <a:t>Encephalitis</a:t>
            </a:r>
          </a:p>
        </p:txBody>
      </p:sp>
      <p:sp>
        <p:nvSpPr>
          <p:cNvPr id="98359" name="Text Box 56">
            <a:extLst>
              <a:ext uri="{FF2B5EF4-FFF2-40B4-BE49-F238E27FC236}">
                <a16:creationId xmlns:a16="http://schemas.microsoft.com/office/drawing/2014/main" id="{D187BE56-D05B-B34F-B386-92D416CF524A}"/>
              </a:ext>
            </a:extLst>
          </p:cNvPr>
          <p:cNvSpPr txBox="1">
            <a:spLocks noChangeArrowheads="1"/>
          </p:cNvSpPr>
          <p:nvPr/>
        </p:nvSpPr>
        <p:spPr bwMode="auto">
          <a:xfrm>
            <a:off x="7010400" y="5867401"/>
            <a:ext cx="23320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2000">
                <a:solidFill>
                  <a:srgbClr val="000000"/>
                </a:solidFill>
              </a:rPr>
              <a:t>No encephalitis</a:t>
            </a:r>
          </a:p>
        </p:txBody>
      </p:sp>
      <p:sp>
        <p:nvSpPr>
          <p:cNvPr id="98360" name="AutoShape 57">
            <a:extLst>
              <a:ext uri="{FF2B5EF4-FFF2-40B4-BE49-F238E27FC236}">
                <a16:creationId xmlns:a16="http://schemas.microsoft.com/office/drawing/2014/main" id="{22236699-EFD1-764A-A756-B8C9EC14B097}"/>
              </a:ext>
            </a:extLst>
          </p:cNvPr>
          <p:cNvSpPr>
            <a:spLocks noChangeArrowheads="1"/>
          </p:cNvSpPr>
          <p:nvPr/>
        </p:nvSpPr>
        <p:spPr bwMode="auto">
          <a:xfrm>
            <a:off x="8839200" y="44196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98361" name="AutoShape 58">
            <a:extLst>
              <a:ext uri="{FF2B5EF4-FFF2-40B4-BE49-F238E27FC236}">
                <a16:creationId xmlns:a16="http://schemas.microsoft.com/office/drawing/2014/main" id="{0D182E50-807D-5548-A6F2-3E0AD44D08FE}"/>
              </a:ext>
            </a:extLst>
          </p:cNvPr>
          <p:cNvSpPr>
            <a:spLocks noChangeArrowheads="1"/>
          </p:cNvSpPr>
          <p:nvPr/>
        </p:nvSpPr>
        <p:spPr bwMode="auto">
          <a:xfrm>
            <a:off x="8839200" y="49530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98362" name="AutoShape 59">
            <a:extLst>
              <a:ext uri="{FF2B5EF4-FFF2-40B4-BE49-F238E27FC236}">
                <a16:creationId xmlns:a16="http://schemas.microsoft.com/office/drawing/2014/main" id="{DC15CDFB-A07A-FC4F-846F-D842C69E3657}"/>
              </a:ext>
            </a:extLst>
          </p:cNvPr>
          <p:cNvSpPr>
            <a:spLocks noChangeArrowheads="1"/>
          </p:cNvSpPr>
          <p:nvPr/>
        </p:nvSpPr>
        <p:spPr bwMode="auto">
          <a:xfrm>
            <a:off x="8839200" y="54864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98363" name="AutoShape 60">
            <a:extLst>
              <a:ext uri="{FF2B5EF4-FFF2-40B4-BE49-F238E27FC236}">
                <a16:creationId xmlns:a16="http://schemas.microsoft.com/office/drawing/2014/main" id="{0BD01822-C593-5F41-9C51-D0B7F19726F6}"/>
              </a:ext>
            </a:extLst>
          </p:cNvPr>
          <p:cNvSpPr>
            <a:spLocks noChangeArrowheads="1"/>
          </p:cNvSpPr>
          <p:nvPr/>
        </p:nvSpPr>
        <p:spPr bwMode="auto">
          <a:xfrm>
            <a:off x="8839200" y="60198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98364" name="Oval 61">
            <a:extLst>
              <a:ext uri="{FF2B5EF4-FFF2-40B4-BE49-F238E27FC236}">
                <a16:creationId xmlns:a16="http://schemas.microsoft.com/office/drawing/2014/main" id="{9AEB6ED6-C917-FF45-9463-E45DFF6E3BE1}"/>
              </a:ext>
            </a:extLst>
          </p:cNvPr>
          <p:cNvSpPr>
            <a:spLocks noChangeArrowheads="1"/>
          </p:cNvSpPr>
          <p:nvPr/>
        </p:nvSpPr>
        <p:spPr bwMode="auto">
          <a:xfrm>
            <a:off x="4953001" y="2667000"/>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98365" name="Oval 62">
            <a:extLst>
              <a:ext uri="{FF2B5EF4-FFF2-40B4-BE49-F238E27FC236}">
                <a16:creationId xmlns:a16="http://schemas.microsoft.com/office/drawing/2014/main" id="{1A7A463A-9446-A54C-A099-1F7732AB3AD2}"/>
              </a:ext>
            </a:extLst>
          </p:cNvPr>
          <p:cNvSpPr>
            <a:spLocks noChangeArrowheads="1"/>
          </p:cNvSpPr>
          <p:nvPr/>
        </p:nvSpPr>
        <p:spPr bwMode="auto">
          <a:xfrm>
            <a:off x="5029201" y="5257800"/>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98366" name="AutoShape 63">
            <a:extLst>
              <a:ext uri="{FF2B5EF4-FFF2-40B4-BE49-F238E27FC236}">
                <a16:creationId xmlns:a16="http://schemas.microsoft.com/office/drawing/2014/main" id="{B27A2CA9-040E-5F41-8E07-8EF5D27EA21A}"/>
              </a:ext>
            </a:extLst>
          </p:cNvPr>
          <p:cNvSpPr>
            <a:spLocks noChangeArrowheads="1"/>
          </p:cNvSpPr>
          <p:nvPr/>
        </p:nvSpPr>
        <p:spPr bwMode="auto">
          <a:xfrm>
            <a:off x="4267200" y="2590800"/>
            <a:ext cx="533400" cy="381000"/>
          </a:xfrm>
          <a:prstGeom prst="rightArrow">
            <a:avLst>
              <a:gd name="adj1" fmla="val 50000"/>
              <a:gd name="adj2" fmla="val 35000"/>
            </a:avLst>
          </a:prstGeom>
          <a:solidFill>
            <a:srgbClr val="990033"/>
          </a:solidFill>
          <a:ln w="12700">
            <a:solidFill>
              <a:srgbClr val="00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98367" name="AutoShape 64">
            <a:extLst>
              <a:ext uri="{FF2B5EF4-FFF2-40B4-BE49-F238E27FC236}">
                <a16:creationId xmlns:a16="http://schemas.microsoft.com/office/drawing/2014/main" id="{9702DCA9-3A38-7740-A1BF-8FF16DF639D6}"/>
              </a:ext>
            </a:extLst>
          </p:cNvPr>
          <p:cNvSpPr>
            <a:spLocks noChangeArrowheads="1"/>
          </p:cNvSpPr>
          <p:nvPr/>
        </p:nvSpPr>
        <p:spPr bwMode="auto">
          <a:xfrm>
            <a:off x="4267200" y="5181600"/>
            <a:ext cx="533400" cy="381000"/>
          </a:xfrm>
          <a:prstGeom prst="rightArrow">
            <a:avLst>
              <a:gd name="adj1" fmla="val 50000"/>
              <a:gd name="adj2" fmla="val 35000"/>
            </a:avLst>
          </a:prstGeom>
          <a:solidFill>
            <a:srgbClr val="990033"/>
          </a:solidFill>
          <a:ln w="12700">
            <a:solidFill>
              <a:srgbClr val="00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98368" name="Text Box 65">
            <a:extLst>
              <a:ext uri="{FF2B5EF4-FFF2-40B4-BE49-F238E27FC236}">
                <a16:creationId xmlns:a16="http://schemas.microsoft.com/office/drawing/2014/main" id="{1E85D6E1-9CE7-5646-9655-C60914CF1F67}"/>
              </a:ext>
            </a:extLst>
          </p:cNvPr>
          <p:cNvSpPr txBox="1">
            <a:spLocks noChangeArrowheads="1"/>
          </p:cNvSpPr>
          <p:nvPr/>
        </p:nvSpPr>
        <p:spPr bwMode="auto">
          <a:xfrm rot="18967398">
            <a:off x="3827463" y="3106739"/>
            <a:ext cx="8620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000" b="1">
                <a:solidFill>
                  <a:srgbClr val="000000"/>
                </a:solidFill>
              </a:rPr>
              <a:t>spray</a:t>
            </a:r>
          </a:p>
        </p:txBody>
      </p:sp>
      <p:sp>
        <p:nvSpPr>
          <p:cNvPr id="98369" name="Text Box 66">
            <a:extLst>
              <a:ext uri="{FF2B5EF4-FFF2-40B4-BE49-F238E27FC236}">
                <a16:creationId xmlns:a16="http://schemas.microsoft.com/office/drawing/2014/main" id="{504E7606-117B-0240-BDA7-962C4EE48E56}"/>
              </a:ext>
            </a:extLst>
          </p:cNvPr>
          <p:cNvSpPr txBox="1">
            <a:spLocks noChangeArrowheads="1"/>
          </p:cNvSpPr>
          <p:nvPr/>
        </p:nvSpPr>
        <p:spPr bwMode="auto">
          <a:xfrm rot="18967398">
            <a:off x="3044603" y="5959446"/>
            <a:ext cx="165462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000" b="1">
                <a:solidFill>
                  <a:srgbClr val="000000"/>
                </a:solidFill>
              </a:rPr>
              <a:t>Don</a:t>
            </a:r>
            <a:r>
              <a:rPr lang="ja-JP" altLang="en-US" sz="2000" b="1">
                <a:solidFill>
                  <a:srgbClr val="000000"/>
                </a:solidFill>
              </a:rPr>
              <a:t>’</a:t>
            </a:r>
            <a:r>
              <a:rPr lang="en-US" altLang="ja-JP" sz="2000" b="1">
                <a:solidFill>
                  <a:srgbClr val="000000"/>
                </a:solidFill>
              </a:rPr>
              <a:t>t spray</a:t>
            </a:r>
            <a:endParaRPr lang="en-US" altLang="en-MX" sz="2000" b="1">
              <a:solidFill>
                <a:srgbClr val="000000"/>
              </a:solidFill>
            </a:endParaRPr>
          </a:p>
        </p:txBody>
      </p:sp>
    </p:spTree>
    <p:extLst>
      <p:ext uri="{BB962C8B-B14F-4D97-AF65-F5344CB8AC3E}">
        <p14:creationId xmlns:p14="http://schemas.microsoft.com/office/powerpoint/2010/main" val="145543376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Rectangle 2">
            <a:extLst>
              <a:ext uri="{FF2B5EF4-FFF2-40B4-BE49-F238E27FC236}">
                <a16:creationId xmlns:a16="http://schemas.microsoft.com/office/drawing/2014/main" id="{CA5BDF67-16DC-5646-AB7D-D739512B1307}"/>
              </a:ext>
            </a:extLst>
          </p:cNvPr>
          <p:cNvSpPr>
            <a:spLocks noGrp="1" noChangeArrowheads="1"/>
          </p:cNvSpPr>
          <p:nvPr>
            <p:ph type="title"/>
          </p:nvPr>
        </p:nvSpPr>
        <p:spPr>
          <a:xfrm>
            <a:off x="775251" y="381000"/>
            <a:ext cx="10485783" cy="1143000"/>
          </a:xfrm>
        </p:spPr>
        <p:txBody>
          <a:bodyPr>
            <a:noAutofit/>
          </a:bodyPr>
          <a:lstStyle/>
          <a:p>
            <a:pPr eaLnBrk="1" hangingPunct="1"/>
            <a:r>
              <a:rPr lang="en-US" altLang="en-MX" dirty="0">
                <a:ea typeface="ＭＳ Ｐゴシック" panose="020B0600070205080204" pitchFamily="34" charset="-128"/>
              </a:rPr>
              <a:t>Expected Value of Perfect Information (EVPI)</a:t>
            </a:r>
          </a:p>
        </p:txBody>
      </p:sp>
      <p:sp>
        <p:nvSpPr>
          <p:cNvPr id="100354" name="Rectangle 3">
            <a:extLst>
              <a:ext uri="{FF2B5EF4-FFF2-40B4-BE49-F238E27FC236}">
                <a16:creationId xmlns:a16="http://schemas.microsoft.com/office/drawing/2014/main" id="{E2064535-4794-0F40-AD68-5078103F3DE3}"/>
              </a:ext>
            </a:extLst>
          </p:cNvPr>
          <p:cNvSpPr>
            <a:spLocks noGrp="1" noChangeArrowheads="1"/>
          </p:cNvSpPr>
          <p:nvPr>
            <p:ph type="body" idx="1"/>
          </p:nvPr>
        </p:nvSpPr>
        <p:spPr>
          <a:xfrm>
            <a:off x="775251" y="1676401"/>
            <a:ext cx="10485783" cy="4449763"/>
          </a:xfrm>
        </p:spPr>
        <p:txBody>
          <a:bodyPr/>
          <a:lstStyle/>
          <a:p>
            <a:pPr>
              <a:tabLst>
                <a:tab pos="461963" algn="l"/>
              </a:tabLst>
            </a:pPr>
            <a:r>
              <a:rPr lang="en-US" altLang="en-MX" sz="3600" dirty="0">
                <a:ea typeface="ＭＳ Ｐゴシック" panose="020B0600070205080204" pitchFamily="34" charset="-128"/>
              </a:rPr>
              <a:t>EVPI is the best you can do if the test is perfect and has no toll</a:t>
            </a:r>
          </a:p>
          <a:p>
            <a:pPr>
              <a:tabLst>
                <a:tab pos="461963" algn="l"/>
              </a:tabLst>
            </a:pPr>
            <a:r>
              <a:rPr lang="en-US" altLang="en-MX" sz="3600" dirty="0">
                <a:ea typeface="ＭＳ Ｐゴシック" panose="020B0600070205080204" pitchFamily="34" charset="-128"/>
              </a:rPr>
              <a:t>EVPI = difference between EV(without test) and EV(with perfect and toll-free test)</a:t>
            </a:r>
          </a:p>
          <a:p>
            <a:pPr>
              <a:tabLst>
                <a:tab pos="461963" algn="l"/>
              </a:tabLst>
            </a:pPr>
            <a:r>
              <a:rPr lang="en-US" altLang="en-MX" sz="3600" dirty="0">
                <a:ea typeface="ＭＳ Ｐゴシック" panose="020B0600070205080204" pitchFamily="34" charset="-128"/>
              </a:rPr>
              <a:t>Order of operation depends on outcome</a:t>
            </a:r>
            <a:endParaRPr lang="en-US" altLang="en-MX" dirty="0">
              <a:ea typeface="ＭＳ Ｐゴシック" panose="020B0600070205080204" pitchFamily="34" charset="-128"/>
            </a:endParaRPr>
          </a:p>
          <a:p>
            <a:pPr>
              <a:buNone/>
              <a:tabLst>
                <a:tab pos="461963" algn="l"/>
              </a:tabLst>
            </a:pPr>
            <a:endParaRPr lang="en-US" altLang="en-MX" sz="3600" dirty="0">
              <a:ea typeface="ＭＳ Ｐゴシック" panose="020B0600070205080204" pitchFamily="34" charset="-128"/>
            </a:endParaRPr>
          </a:p>
        </p:txBody>
      </p:sp>
    </p:spTree>
    <p:extLst>
      <p:ext uri="{BB962C8B-B14F-4D97-AF65-F5344CB8AC3E}">
        <p14:creationId xmlns:p14="http://schemas.microsoft.com/office/powerpoint/2010/main" val="383834347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Rectangle 2">
            <a:extLst>
              <a:ext uri="{FF2B5EF4-FFF2-40B4-BE49-F238E27FC236}">
                <a16:creationId xmlns:a16="http://schemas.microsoft.com/office/drawing/2014/main" id="{AE593E6F-F527-C146-BD98-0B06659DD53A}"/>
              </a:ext>
            </a:extLst>
          </p:cNvPr>
          <p:cNvSpPr>
            <a:spLocks noGrp="1" noChangeArrowheads="1"/>
          </p:cNvSpPr>
          <p:nvPr>
            <p:ph type="title"/>
          </p:nvPr>
        </p:nvSpPr>
        <p:spPr>
          <a:xfrm>
            <a:off x="705678" y="381000"/>
            <a:ext cx="9505122" cy="1143000"/>
          </a:xfrm>
        </p:spPr>
        <p:txBody>
          <a:bodyPr/>
          <a:lstStyle/>
          <a:p>
            <a:pPr eaLnBrk="1" hangingPunct="1"/>
            <a:r>
              <a:rPr lang="en-US" altLang="en-MX" dirty="0">
                <a:ea typeface="ＭＳ Ｐゴシック" panose="020B0600070205080204" pitchFamily="34" charset="-128"/>
              </a:rPr>
              <a:t>EVPI (cont.)</a:t>
            </a:r>
          </a:p>
        </p:txBody>
      </p:sp>
      <p:sp>
        <p:nvSpPr>
          <p:cNvPr id="102402" name="Rectangle 3">
            <a:extLst>
              <a:ext uri="{FF2B5EF4-FFF2-40B4-BE49-F238E27FC236}">
                <a16:creationId xmlns:a16="http://schemas.microsoft.com/office/drawing/2014/main" id="{22332E06-4ABD-4947-9585-2B6EF704F68A}"/>
              </a:ext>
            </a:extLst>
          </p:cNvPr>
          <p:cNvSpPr>
            <a:spLocks noGrp="1" noChangeArrowheads="1"/>
          </p:cNvSpPr>
          <p:nvPr>
            <p:ph type="body" idx="1"/>
          </p:nvPr>
        </p:nvSpPr>
        <p:spPr>
          <a:xfrm>
            <a:off x="705678" y="1524001"/>
            <a:ext cx="9505122" cy="4602163"/>
          </a:xfrm>
        </p:spPr>
        <p:txBody>
          <a:bodyPr/>
          <a:lstStyle/>
          <a:p>
            <a:pPr>
              <a:tabLst>
                <a:tab pos="461963" algn="l"/>
              </a:tabLst>
            </a:pPr>
            <a:r>
              <a:rPr lang="en-US" altLang="en-MX" sz="3600" dirty="0">
                <a:ea typeface="ＭＳ Ｐゴシック" panose="020B0600070205080204" pitchFamily="34" charset="-128"/>
              </a:rPr>
              <a:t>Order of operation</a:t>
            </a:r>
          </a:p>
          <a:p>
            <a:pPr lvl="1">
              <a:tabLst>
                <a:tab pos="461963" algn="l"/>
              </a:tabLst>
            </a:pPr>
            <a:r>
              <a:rPr lang="en-US" altLang="en-MX" dirty="0">
                <a:ea typeface="ＭＳ Ｐゴシック" panose="020B0600070205080204" pitchFamily="34" charset="-128"/>
              </a:rPr>
              <a:t>If lower values are better: EV(without test) – EV (with test)</a:t>
            </a:r>
          </a:p>
          <a:p>
            <a:pPr lvl="1">
              <a:tabLst>
                <a:tab pos="461963" algn="l"/>
              </a:tabLst>
            </a:pPr>
            <a:r>
              <a:rPr lang="en-US" altLang="en-MX" dirty="0">
                <a:ea typeface="ＭＳ Ｐゴシック" panose="020B0600070205080204" pitchFamily="34" charset="-128"/>
              </a:rPr>
              <a:t>If higher values are better: EV(with test) – EV(without test)</a:t>
            </a:r>
          </a:p>
          <a:p>
            <a:pPr>
              <a:tabLst>
                <a:tab pos="461963" algn="l"/>
              </a:tabLst>
            </a:pPr>
            <a:r>
              <a:rPr lang="en-US" altLang="en-MX" sz="3600" dirty="0">
                <a:ea typeface="ＭＳ Ｐゴシック" panose="020B0600070205080204" pitchFamily="34" charset="-128"/>
              </a:rPr>
              <a:t>EV(without test) = EV(Spray)</a:t>
            </a:r>
          </a:p>
          <a:p>
            <a:pPr lvl="1">
              <a:tabLst>
                <a:tab pos="461963" algn="l"/>
              </a:tabLst>
            </a:pPr>
            <a:r>
              <a:rPr lang="en-US" altLang="en-MX" dirty="0">
                <a:ea typeface="ＭＳ Ｐゴシック" panose="020B0600070205080204" pitchFamily="34" charset="-128"/>
              </a:rPr>
              <a:t>Best you can do without testing</a:t>
            </a:r>
          </a:p>
          <a:p>
            <a:pPr>
              <a:tabLst>
                <a:tab pos="461963" algn="l"/>
              </a:tabLst>
            </a:pPr>
            <a:r>
              <a:rPr lang="en-US" altLang="en-MX" dirty="0">
                <a:ea typeface="ＭＳ Ｐゴシック" panose="020B0600070205080204" pitchFamily="34" charset="-128"/>
              </a:rPr>
              <a:t>EV(perfect and toll-free test)?</a:t>
            </a:r>
          </a:p>
          <a:p>
            <a:pPr>
              <a:buNone/>
              <a:tabLst>
                <a:tab pos="461963" algn="l"/>
              </a:tabLst>
            </a:pPr>
            <a:endParaRPr lang="en-US" altLang="en-MX" sz="3600" dirty="0">
              <a:ea typeface="ＭＳ Ｐゴシック" panose="020B0600070205080204" pitchFamily="34" charset="-128"/>
            </a:endParaRPr>
          </a:p>
        </p:txBody>
      </p:sp>
    </p:spTree>
    <p:extLst>
      <p:ext uri="{BB962C8B-B14F-4D97-AF65-F5344CB8AC3E}">
        <p14:creationId xmlns:p14="http://schemas.microsoft.com/office/powerpoint/2010/main" val="288147894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10" name="Rectangle 2">
            <a:extLst>
              <a:ext uri="{FF2B5EF4-FFF2-40B4-BE49-F238E27FC236}">
                <a16:creationId xmlns:a16="http://schemas.microsoft.com/office/drawing/2014/main" id="{35018608-1C2F-164A-9642-644AB2501A41}"/>
              </a:ext>
            </a:extLst>
          </p:cNvPr>
          <p:cNvSpPr>
            <a:spLocks noGrp="1" noChangeArrowheads="1"/>
          </p:cNvSpPr>
          <p:nvPr>
            <p:ph type="title"/>
          </p:nvPr>
        </p:nvSpPr>
        <p:spPr>
          <a:xfrm>
            <a:off x="715617" y="152400"/>
            <a:ext cx="9266583" cy="762000"/>
          </a:xfrm>
        </p:spPr>
        <p:txBody>
          <a:bodyPr/>
          <a:lstStyle/>
          <a:p>
            <a:pPr eaLnBrk="1" hangingPunct="1"/>
            <a:r>
              <a:rPr lang="en-US" altLang="en-MX" dirty="0">
                <a:ea typeface="ＭＳ Ｐゴシック" panose="020B0600070205080204" pitchFamily="34" charset="-128"/>
              </a:rPr>
              <a:t>Toll-free Test</a:t>
            </a:r>
          </a:p>
        </p:txBody>
      </p:sp>
      <p:sp>
        <p:nvSpPr>
          <p:cNvPr id="104450" name="Line 3">
            <a:extLst>
              <a:ext uri="{FF2B5EF4-FFF2-40B4-BE49-F238E27FC236}">
                <a16:creationId xmlns:a16="http://schemas.microsoft.com/office/drawing/2014/main" id="{FC306B65-333D-8048-B193-C15EBBAD4BA8}"/>
              </a:ext>
            </a:extLst>
          </p:cNvPr>
          <p:cNvSpPr>
            <a:spLocks noChangeShapeType="1"/>
          </p:cNvSpPr>
          <p:nvPr/>
        </p:nvSpPr>
        <p:spPr bwMode="auto">
          <a:xfrm>
            <a:off x="4114800" y="1676400"/>
            <a:ext cx="1447800"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104451" name="Rectangle 4">
            <a:extLst>
              <a:ext uri="{FF2B5EF4-FFF2-40B4-BE49-F238E27FC236}">
                <a16:creationId xmlns:a16="http://schemas.microsoft.com/office/drawing/2014/main" id="{E630F188-7AA2-464C-B39C-6A90367777D8}"/>
              </a:ext>
            </a:extLst>
          </p:cNvPr>
          <p:cNvSpPr>
            <a:spLocks noChangeArrowheads="1"/>
          </p:cNvSpPr>
          <p:nvPr/>
        </p:nvSpPr>
        <p:spPr bwMode="auto">
          <a:xfrm>
            <a:off x="4267200" y="1325564"/>
            <a:ext cx="9398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Outbreak</a:t>
            </a:r>
          </a:p>
        </p:txBody>
      </p:sp>
      <p:sp>
        <p:nvSpPr>
          <p:cNvPr id="104452" name="Rectangle 5">
            <a:extLst>
              <a:ext uri="{FF2B5EF4-FFF2-40B4-BE49-F238E27FC236}">
                <a16:creationId xmlns:a16="http://schemas.microsoft.com/office/drawing/2014/main" id="{5A577A8B-7570-4548-87D8-D75EBCA261D7}"/>
              </a:ext>
            </a:extLst>
          </p:cNvPr>
          <p:cNvSpPr>
            <a:spLocks noChangeArrowheads="1"/>
          </p:cNvSpPr>
          <p:nvPr/>
        </p:nvSpPr>
        <p:spPr bwMode="auto">
          <a:xfrm>
            <a:off x="4267200" y="1981200"/>
            <a:ext cx="1295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Outbreak</a:t>
            </a:r>
          </a:p>
        </p:txBody>
      </p:sp>
      <p:sp>
        <p:nvSpPr>
          <p:cNvPr id="104453" name="Freeform 6">
            <a:extLst>
              <a:ext uri="{FF2B5EF4-FFF2-40B4-BE49-F238E27FC236}">
                <a16:creationId xmlns:a16="http://schemas.microsoft.com/office/drawing/2014/main" id="{1D2362DE-5588-6A45-8A4D-583DF7332B79}"/>
              </a:ext>
            </a:extLst>
          </p:cNvPr>
          <p:cNvSpPr>
            <a:spLocks/>
          </p:cNvSpPr>
          <p:nvPr/>
        </p:nvSpPr>
        <p:spPr bwMode="auto">
          <a:xfrm>
            <a:off x="4040188" y="1676400"/>
            <a:ext cx="303212" cy="369888"/>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104454" name="Freeform 7">
            <a:extLst>
              <a:ext uri="{FF2B5EF4-FFF2-40B4-BE49-F238E27FC236}">
                <a16:creationId xmlns:a16="http://schemas.microsoft.com/office/drawing/2014/main" id="{8730ACF5-3EB7-924E-BB29-FACC3F13100F}"/>
              </a:ext>
            </a:extLst>
          </p:cNvPr>
          <p:cNvSpPr>
            <a:spLocks/>
          </p:cNvSpPr>
          <p:nvPr/>
        </p:nvSpPr>
        <p:spPr bwMode="auto">
          <a:xfrm>
            <a:off x="4038601" y="2089150"/>
            <a:ext cx="303213" cy="196850"/>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104455" name="Line 8">
            <a:extLst>
              <a:ext uri="{FF2B5EF4-FFF2-40B4-BE49-F238E27FC236}">
                <a16:creationId xmlns:a16="http://schemas.microsoft.com/office/drawing/2014/main" id="{6EDE5560-FB40-074D-AFC1-6EDB1BED4E1B}"/>
              </a:ext>
            </a:extLst>
          </p:cNvPr>
          <p:cNvSpPr>
            <a:spLocks noChangeShapeType="1"/>
          </p:cNvSpPr>
          <p:nvPr/>
        </p:nvSpPr>
        <p:spPr bwMode="auto">
          <a:xfrm>
            <a:off x="2362200" y="2057400"/>
            <a:ext cx="161448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104456" name="Oval 9">
            <a:extLst>
              <a:ext uri="{FF2B5EF4-FFF2-40B4-BE49-F238E27FC236}">
                <a16:creationId xmlns:a16="http://schemas.microsoft.com/office/drawing/2014/main" id="{65B2A2CE-EBFE-C245-8910-ACDECBC8C33C}"/>
              </a:ext>
            </a:extLst>
          </p:cNvPr>
          <p:cNvSpPr>
            <a:spLocks noChangeArrowheads="1"/>
          </p:cNvSpPr>
          <p:nvPr/>
        </p:nvSpPr>
        <p:spPr bwMode="auto">
          <a:xfrm>
            <a:off x="3876676" y="1905000"/>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104457" name="Rectangle 10">
            <a:extLst>
              <a:ext uri="{FF2B5EF4-FFF2-40B4-BE49-F238E27FC236}">
                <a16:creationId xmlns:a16="http://schemas.microsoft.com/office/drawing/2014/main" id="{438F0540-2A36-7043-9B64-02E46665BA54}"/>
              </a:ext>
            </a:extLst>
          </p:cNvPr>
          <p:cNvSpPr>
            <a:spLocks noChangeArrowheads="1"/>
          </p:cNvSpPr>
          <p:nvPr/>
        </p:nvSpPr>
        <p:spPr bwMode="auto">
          <a:xfrm>
            <a:off x="2438401" y="1676400"/>
            <a:ext cx="663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000">
                <a:solidFill>
                  <a:srgbClr val="000000"/>
                </a:solidFill>
              </a:rPr>
              <a:t>Spray</a:t>
            </a:r>
          </a:p>
        </p:txBody>
      </p:sp>
      <p:sp>
        <p:nvSpPr>
          <p:cNvPr id="104458" name="Rectangle 11">
            <a:extLst>
              <a:ext uri="{FF2B5EF4-FFF2-40B4-BE49-F238E27FC236}">
                <a16:creationId xmlns:a16="http://schemas.microsoft.com/office/drawing/2014/main" id="{02746B7A-BB70-204A-87E8-78AD68EBA9ED}"/>
              </a:ext>
            </a:extLst>
          </p:cNvPr>
          <p:cNvSpPr>
            <a:spLocks noChangeArrowheads="1"/>
          </p:cNvSpPr>
          <p:nvPr/>
        </p:nvSpPr>
        <p:spPr bwMode="auto">
          <a:xfrm>
            <a:off x="4224338" y="5241925"/>
            <a:ext cx="9398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MX" sz="1800">
                <a:solidFill>
                  <a:srgbClr val="000000"/>
                </a:solidFill>
              </a:rPr>
              <a:t>Outbreak</a:t>
            </a:r>
          </a:p>
        </p:txBody>
      </p:sp>
      <p:sp>
        <p:nvSpPr>
          <p:cNvPr id="104459" name="Freeform 12">
            <a:extLst>
              <a:ext uri="{FF2B5EF4-FFF2-40B4-BE49-F238E27FC236}">
                <a16:creationId xmlns:a16="http://schemas.microsoft.com/office/drawing/2014/main" id="{D909978B-0780-4F4F-92C9-483CEDD9DF5C}"/>
              </a:ext>
            </a:extLst>
          </p:cNvPr>
          <p:cNvSpPr>
            <a:spLocks/>
          </p:cNvSpPr>
          <p:nvPr/>
        </p:nvSpPr>
        <p:spPr bwMode="auto">
          <a:xfrm>
            <a:off x="5716588" y="1382714"/>
            <a:ext cx="303212" cy="369887"/>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104460" name="Freeform 13">
            <a:extLst>
              <a:ext uri="{FF2B5EF4-FFF2-40B4-BE49-F238E27FC236}">
                <a16:creationId xmlns:a16="http://schemas.microsoft.com/office/drawing/2014/main" id="{DC4A6D85-6BDE-EE41-A3B6-01CB448E7221}"/>
              </a:ext>
            </a:extLst>
          </p:cNvPr>
          <p:cNvSpPr>
            <a:spLocks/>
          </p:cNvSpPr>
          <p:nvPr/>
        </p:nvSpPr>
        <p:spPr bwMode="auto">
          <a:xfrm>
            <a:off x="5716588" y="1633538"/>
            <a:ext cx="303212" cy="347662"/>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104461" name="Rectangle 14">
            <a:extLst>
              <a:ext uri="{FF2B5EF4-FFF2-40B4-BE49-F238E27FC236}">
                <a16:creationId xmlns:a16="http://schemas.microsoft.com/office/drawing/2014/main" id="{242118C5-3A8C-ED4B-9908-2DAAF774C855}"/>
              </a:ext>
            </a:extLst>
          </p:cNvPr>
          <p:cNvSpPr>
            <a:spLocks noChangeArrowheads="1"/>
          </p:cNvSpPr>
          <p:nvPr/>
        </p:nvSpPr>
        <p:spPr bwMode="auto">
          <a:xfrm>
            <a:off x="3644900" y="6019800"/>
            <a:ext cx="2286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MX" sz="1800">
                <a:solidFill>
                  <a:srgbClr val="000000"/>
                </a:solidFill>
              </a:rPr>
              <a:t>No Outbreak</a:t>
            </a:r>
          </a:p>
        </p:txBody>
      </p:sp>
      <p:sp>
        <p:nvSpPr>
          <p:cNvPr id="104462" name="Freeform 15">
            <a:extLst>
              <a:ext uri="{FF2B5EF4-FFF2-40B4-BE49-F238E27FC236}">
                <a16:creationId xmlns:a16="http://schemas.microsoft.com/office/drawing/2014/main" id="{6C4394C1-38A4-1A4E-BDFF-B491C339E7B6}"/>
              </a:ext>
            </a:extLst>
          </p:cNvPr>
          <p:cNvSpPr>
            <a:spLocks/>
          </p:cNvSpPr>
          <p:nvPr/>
        </p:nvSpPr>
        <p:spPr bwMode="auto">
          <a:xfrm>
            <a:off x="4114801" y="5562601"/>
            <a:ext cx="290513" cy="415925"/>
          </a:xfrm>
          <a:custGeom>
            <a:avLst/>
            <a:gdLst>
              <a:gd name="T0" fmla="*/ 0 w 14"/>
              <a:gd name="T1" fmla="*/ 2147483647 h 24"/>
              <a:gd name="T2" fmla="*/ 0 w 14"/>
              <a:gd name="T3" fmla="*/ 0 h 24"/>
              <a:gd name="T4" fmla="*/ 2147483647 w 14"/>
              <a:gd name="T5" fmla="*/ 0 h 24"/>
              <a:gd name="T6" fmla="*/ 0 60000 65536"/>
              <a:gd name="T7" fmla="*/ 0 60000 65536"/>
              <a:gd name="T8" fmla="*/ 0 60000 65536"/>
              <a:gd name="T9" fmla="*/ 0 w 14"/>
              <a:gd name="T10" fmla="*/ 0 h 24"/>
              <a:gd name="T11" fmla="*/ 14 w 14"/>
              <a:gd name="T12" fmla="*/ 24 h 24"/>
            </a:gdLst>
            <a:ahLst/>
            <a:cxnLst>
              <a:cxn ang="T6">
                <a:pos x="T0" y="T1"/>
              </a:cxn>
              <a:cxn ang="T7">
                <a:pos x="T2" y="T3"/>
              </a:cxn>
              <a:cxn ang="T8">
                <a:pos x="T4" y="T5"/>
              </a:cxn>
            </a:cxnLst>
            <a:rect l="T9" t="T10" r="T11" b="T12"/>
            <a:pathLst>
              <a:path w="14" h="24">
                <a:moveTo>
                  <a:pt x="0" y="24"/>
                </a:moveTo>
                <a:lnTo>
                  <a:pt x="0" y="0"/>
                </a:lnTo>
                <a:lnTo>
                  <a:pt x="14" y="0"/>
                </a:lnTo>
              </a:path>
            </a:pathLst>
          </a:custGeom>
          <a:noFill/>
          <a:ln w="19050"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104463" name="Freeform 16">
            <a:extLst>
              <a:ext uri="{FF2B5EF4-FFF2-40B4-BE49-F238E27FC236}">
                <a16:creationId xmlns:a16="http://schemas.microsoft.com/office/drawing/2014/main" id="{C2BFB18A-34E2-6F4B-8B70-3C69A9635CE9}"/>
              </a:ext>
            </a:extLst>
          </p:cNvPr>
          <p:cNvSpPr>
            <a:spLocks/>
          </p:cNvSpPr>
          <p:nvPr/>
        </p:nvSpPr>
        <p:spPr bwMode="auto">
          <a:xfrm>
            <a:off x="4094164" y="5749926"/>
            <a:ext cx="4592637" cy="574675"/>
          </a:xfrm>
          <a:custGeom>
            <a:avLst/>
            <a:gdLst>
              <a:gd name="T0" fmla="*/ 0 w 14"/>
              <a:gd name="T1" fmla="*/ 0 h 25"/>
              <a:gd name="T2" fmla="*/ 0 w 14"/>
              <a:gd name="T3" fmla="*/ 2147483647 h 25"/>
              <a:gd name="T4" fmla="*/ 2147483647 w 14"/>
              <a:gd name="T5" fmla="*/ 2147483647 h 25"/>
              <a:gd name="T6" fmla="*/ 0 60000 65536"/>
              <a:gd name="T7" fmla="*/ 0 60000 65536"/>
              <a:gd name="T8" fmla="*/ 0 60000 65536"/>
              <a:gd name="T9" fmla="*/ 0 w 14"/>
              <a:gd name="T10" fmla="*/ 0 h 25"/>
              <a:gd name="T11" fmla="*/ 14 w 14"/>
              <a:gd name="T12" fmla="*/ 25 h 25"/>
            </a:gdLst>
            <a:ahLst/>
            <a:cxnLst>
              <a:cxn ang="T6">
                <a:pos x="T0" y="T1"/>
              </a:cxn>
              <a:cxn ang="T7">
                <a:pos x="T2" y="T3"/>
              </a:cxn>
              <a:cxn ang="T8">
                <a:pos x="T4" y="T5"/>
              </a:cxn>
            </a:cxnLst>
            <a:rect l="T9" t="T10" r="T11" b="T12"/>
            <a:pathLst>
              <a:path w="14" h="25">
                <a:moveTo>
                  <a:pt x="0" y="0"/>
                </a:moveTo>
                <a:lnTo>
                  <a:pt x="0" y="25"/>
                </a:lnTo>
                <a:lnTo>
                  <a:pt x="14" y="25"/>
                </a:lnTo>
              </a:path>
            </a:pathLst>
          </a:custGeom>
          <a:noFill/>
          <a:ln w="19050"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104464" name="Line 17">
            <a:extLst>
              <a:ext uri="{FF2B5EF4-FFF2-40B4-BE49-F238E27FC236}">
                <a16:creationId xmlns:a16="http://schemas.microsoft.com/office/drawing/2014/main" id="{1C17889D-E5AC-C344-90A6-AC397CC62967}"/>
              </a:ext>
            </a:extLst>
          </p:cNvPr>
          <p:cNvSpPr>
            <a:spLocks noChangeShapeType="1"/>
          </p:cNvSpPr>
          <p:nvPr/>
        </p:nvSpPr>
        <p:spPr bwMode="auto">
          <a:xfrm>
            <a:off x="2547938" y="3808414"/>
            <a:ext cx="14287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104465" name="Rectangle 18">
            <a:extLst>
              <a:ext uri="{FF2B5EF4-FFF2-40B4-BE49-F238E27FC236}">
                <a16:creationId xmlns:a16="http://schemas.microsoft.com/office/drawing/2014/main" id="{790DE3F6-0EF4-3C41-B638-A097E13035A8}"/>
              </a:ext>
            </a:extLst>
          </p:cNvPr>
          <p:cNvSpPr>
            <a:spLocks noChangeArrowheads="1"/>
          </p:cNvSpPr>
          <p:nvPr/>
        </p:nvSpPr>
        <p:spPr bwMode="auto">
          <a:xfrm>
            <a:off x="2438401" y="5410201"/>
            <a:ext cx="141064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000">
                <a:solidFill>
                  <a:srgbClr val="000000"/>
                </a:solidFill>
              </a:rPr>
              <a:t>Don</a:t>
            </a:r>
            <a:r>
              <a:rPr lang="ja-JP" altLang="en-US" sz="2000">
                <a:solidFill>
                  <a:srgbClr val="000000"/>
                </a:solidFill>
              </a:rPr>
              <a:t>’</a:t>
            </a:r>
            <a:r>
              <a:rPr lang="en-US" altLang="ja-JP" sz="2000">
                <a:solidFill>
                  <a:srgbClr val="000000"/>
                </a:solidFill>
              </a:rPr>
              <a:t>t Spray</a:t>
            </a:r>
            <a:endParaRPr lang="en-US" altLang="en-MX" sz="2000">
              <a:solidFill>
                <a:srgbClr val="000000"/>
              </a:solidFill>
            </a:endParaRPr>
          </a:p>
        </p:txBody>
      </p:sp>
      <p:sp>
        <p:nvSpPr>
          <p:cNvPr id="104466" name="Line 19">
            <a:extLst>
              <a:ext uri="{FF2B5EF4-FFF2-40B4-BE49-F238E27FC236}">
                <a16:creationId xmlns:a16="http://schemas.microsoft.com/office/drawing/2014/main" id="{A3CA2B27-6258-0C41-B933-635C9A6BA5E4}"/>
              </a:ext>
            </a:extLst>
          </p:cNvPr>
          <p:cNvSpPr>
            <a:spLocks noChangeShapeType="1"/>
          </p:cNvSpPr>
          <p:nvPr/>
        </p:nvSpPr>
        <p:spPr bwMode="auto">
          <a:xfrm>
            <a:off x="2514600" y="5867400"/>
            <a:ext cx="14287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104467" name="Rectangle 20">
            <a:extLst>
              <a:ext uri="{FF2B5EF4-FFF2-40B4-BE49-F238E27FC236}">
                <a16:creationId xmlns:a16="http://schemas.microsoft.com/office/drawing/2014/main" id="{B943A94B-2A57-DC4E-B144-DD92DF04F827}"/>
              </a:ext>
            </a:extLst>
          </p:cNvPr>
          <p:cNvSpPr>
            <a:spLocks noChangeArrowheads="1"/>
          </p:cNvSpPr>
          <p:nvPr/>
        </p:nvSpPr>
        <p:spPr bwMode="auto">
          <a:xfrm>
            <a:off x="2362201" y="3429001"/>
            <a:ext cx="4701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2000">
                <a:solidFill>
                  <a:srgbClr val="000000"/>
                </a:solidFill>
              </a:rPr>
              <a:t>Test</a:t>
            </a:r>
          </a:p>
        </p:txBody>
      </p:sp>
      <p:sp>
        <p:nvSpPr>
          <p:cNvPr id="104468" name="Freeform 21">
            <a:extLst>
              <a:ext uri="{FF2B5EF4-FFF2-40B4-BE49-F238E27FC236}">
                <a16:creationId xmlns:a16="http://schemas.microsoft.com/office/drawing/2014/main" id="{96426922-CB09-964E-8974-A2A8ED9FA4E6}"/>
              </a:ext>
            </a:extLst>
          </p:cNvPr>
          <p:cNvSpPr>
            <a:spLocks/>
          </p:cNvSpPr>
          <p:nvPr/>
        </p:nvSpPr>
        <p:spPr bwMode="auto">
          <a:xfrm>
            <a:off x="2209800" y="2057400"/>
            <a:ext cx="261938" cy="2198688"/>
          </a:xfrm>
          <a:custGeom>
            <a:avLst/>
            <a:gdLst>
              <a:gd name="T0" fmla="*/ 0 w 14"/>
              <a:gd name="T1" fmla="*/ 2147483647 h 87"/>
              <a:gd name="T2" fmla="*/ 0 w 14"/>
              <a:gd name="T3" fmla="*/ 0 h 87"/>
              <a:gd name="T4" fmla="*/ 2147483647 w 14"/>
              <a:gd name="T5" fmla="*/ 0 h 87"/>
              <a:gd name="T6" fmla="*/ 0 60000 65536"/>
              <a:gd name="T7" fmla="*/ 0 60000 65536"/>
              <a:gd name="T8" fmla="*/ 0 60000 65536"/>
              <a:gd name="T9" fmla="*/ 0 w 14"/>
              <a:gd name="T10" fmla="*/ 0 h 87"/>
              <a:gd name="T11" fmla="*/ 14 w 14"/>
              <a:gd name="T12" fmla="*/ 87 h 87"/>
            </a:gdLst>
            <a:ahLst/>
            <a:cxnLst>
              <a:cxn ang="T6">
                <a:pos x="T0" y="T1"/>
              </a:cxn>
              <a:cxn ang="T7">
                <a:pos x="T2" y="T3"/>
              </a:cxn>
              <a:cxn ang="T8">
                <a:pos x="T4" y="T5"/>
              </a:cxn>
            </a:cxnLst>
            <a:rect l="T9" t="T10" r="T11" b="T12"/>
            <a:pathLst>
              <a:path w="14" h="87">
                <a:moveTo>
                  <a:pt x="0" y="8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104469" name="Freeform 22">
            <a:extLst>
              <a:ext uri="{FF2B5EF4-FFF2-40B4-BE49-F238E27FC236}">
                <a16:creationId xmlns:a16="http://schemas.microsoft.com/office/drawing/2014/main" id="{70E26D23-40E2-7E48-ACD7-8DD26D322B28}"/>
              </a:ext>
            </a:extLst>
          </p:cNvPr>
          <p:cNvSpPr>
            <a:spLocks/>
          </p:cNvSpPr>
          <p:nvPr/>
        </p:nvSpPr>
        <p:spPr bwMode="auto">
          <a:xfrm>
            <a:off x="2244726" y="3810001"/>
            <a:ext cx="303213" cy="42863"/>
          </a:xfrm>
          <a:custGeom>
            <a:avLst/>
            <a:gdLst>
              <a:gd name="T0" fmla="*/ 0 w 14"/>
              <a:gd name="T1" fmla="*/ 2147483647 h 2"/>
              <a:gd name="T2" fmla="*/ 0 w 14"/>
              <a:gd name="T3" fmla="*/ 0 h 2"/>
              <a:gd name="T4" fmla="*/ 2147483647 w 14"/>
              <a:gd name="T5" fmla="*/ 0 h 2"/>
              <a:gd name="T6" fmla="*/ 0 60000 65536"/>
              <a:gd name="T7" fmla="*/ 0 60000 65536"/>
              <a:gd name="T8" fmla="*/ 0 60000 65536"/>
              <a:gd name="T9" fmla="*/ 0 w 14"/>
              <a:gd name="T10" fmla="*/ 0 h 2"/>
              <a:gd name="T11" fmla="*/ 14 w 14"/>
              <a:gd name="T12" fmla="*/ 2 h 2"/>
            </a:gdLst>
            <a:ahLst/>
            <a:cxnLst>
              <a:cxn ang="T6">
                <a:pos x="T0" y="T1"/>
              </a:cxn>
              <a:cxn ang="T7">
                <a:pos x="T2" y="T3"/>
              </a:cxn>
              <a:cxn ang="T8">
                <a:pos x="T4" y="T5"/>
              </a:cxn>
            </a:cxnLst>
            <a:rect l="T9" t="T10" r="T11" b="T12"/>
            <a:pathLst>
              <a:path w="14" h="2">
                <a:moveTo>
                  <a:pt x="0" y="2"/>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104470" name="Freeform 23">
            <a:extLst>
              <a:ext uri="{FF2B5EF4-FFF2-40B4-BE49-F238E27FC236}">
                <a16:creationId xmlns:a16="http://schemas.microsoft.com/office/drawing/2014/main" id="{39145876-0FD3-FF43-B29D-587984383361}"/>
              </a:ext>
            </a:extLst>
          </p:cNvPr>
          <p:cNvSpPr>
            <a:spLocks/>
          </p:cNvSpPr>
          <p:nvPr/>
        </p:nvSpPr>
        <p:spPr bwMode="auto">
          <a:xfrm>
            <a:off x="2209801" y="3957638"/>
            <a:ext cx="303213" cy="1916112"/>
          </a:xfrm>
          <a:custGeom>
            <a:avLst/>
            <a:gdLst>
              <a:gd name="T0" fmla="*/ 0 w 14"/>
              <a:gd name="T1" fmla="*/ 0 h 88"/>
              <a:gd name="T2" fmla="*/ 0 w 14"/>
              <a:gd name="T3" fmla="*/ 2147483647 h 88"/>
              <a:gd name="T4" fmla="*/ 2147483647 w 14"/>
              <a:gd name="T5" fmla="*/ 2147483647 h 88"/>
              <a:gd name="T6" fmla="*/ 0 60000 65536"/>
              <a:gd name="T7" fmla="*/ 0 60000 65536"/>
              <a:gd name="T8" fmla="*/ 0 60000 65536"/>
              <a:gd name="T9" fmla="*/ 0 w 14"/>
              <a:gd name="T10" fmla="*/ 0 h 88"/>
              <a:gd name="T11" fmla="*/ 14 w 14"/>
              <a:gd name="T12" fmla="*/ 88 h 88"/>
            </a:gdLst>
            <a:ahLst/>
            <a:cxnLst>
              <a:cxn ang="T6">
                <a:pos x="T0" y="T1"/>
              </a:cxn>
              <a:cxn ang="T7">
                <a:pos x="T2" y="T3"/>
              </a:cxn>
              <a:cxn ang="T8">
                <a:pos x="T4" y="T5"/>
              </a:cxn>
            </a:cxnLst>
            <a:rect l="T9" t="T10" r="T11" b="T12"/>
            <a:pathLst>
              <a:path w="14" h="88">
                <a:moveTo>
                  <a:pt x="0" y="0"/>
                </a:moveTo>
                <a:lnTo>
                  <a:pt x="0" y="88"/>
                </a:lnTo>
                <a:lnTo>
                  <a:pt x="14" y="88"/>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104471" name="Rectangle 24">
            <a:extLst>
              <a:ext uri="{FF2B5EF4-FFF2-40B4-BE49-F238E27FC236}">
                <a16:creationId xmlns:a16="http://schemas.microsoft.com/office/drawing/2014/main" id="{2DE20F98-DB1D-B247-A2DA-C99A0C3E5CAF}"/>
              </a:ext>
            </a:extLst>
          </p:cNvPr>
          <p:cNvSpPr>
            <a:spLocks noChangeArrowheads="1"/>
          </p:cNvSpPr>
          <p:nvPr/>
        </p:nvSpPr>
        <p:spPr bwMode="auto">
          <a:xfrm>
            <a:off x="2093914" y="3657600"/>
            <a:ext cx="238125" cy="261938"/>
          </a:xfrm>
          <a:prstGeom prst="rect">
            <a:avLst/>
          </a:prstGeom>
          <a:solidFill>
            <a:schemeClr val="bg1"/>
          </a:solidFill>
          <a:ln w="25400">
            <a:solidFill>
              <a:srgbClr val="0000FF"/>
            </a:solidFill>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104472" name="Text Box 25">
            <a:extLst>
              <a:ext uri="{FF2B5EF4-FFF2-40B4-BE49-F238E27FC236}">
                <a16:creationId xmlns:a16="http://schemas.microsoft.com/office/drawing/2014/main" id="{D135CE78-071E-504A-A881-1B7E237CE8B5}"/>
              </a:ext>
            </a:extLst>
          </p:cNvPr>
          <p:cNvSpPr txBox="1">
            <a:spLocks noChangeArrowheads="1"/>
          </p:cNvSpPr>
          <p:nvPr/>
        </p:nvSpPr>
        <p:spPr bwMode="auto">
          <a:xfrm>
            <a:off x="8763000" y="685801"/>
            <a:ext cx="1600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1800" b="1" u="sng">
                <a:solidFill>
                  <a:srgbClr val="000000"/>
                </a:solidFill>
              </a:rPr>
              <a:t>P(Death)</a:t>
            </a:r>
          </a:p>
        </p:txBody>
      </p:sp>
      <p:sp>
        <p:nvSpPr>
          <p:cNvPr id="104473" name="Line 26">
            <a:extLst>
              <a:ext uri="{FF2B5EF4-FFF2-40B4-BE49-F238E27FC236}">
                <a16:creationId xmlns:a16="http://schemas.microsoft.com/office/drawing/2014/main" id="{EF1073C2-5E02-0742-87DB-8F0F97680DF8}"/>
              </a:ext>
            </a:extLst>
          </p:cNvPr>
          <p:cNvSpPr>
            <a:spLocks noChangeShapeType="1"/>
          </p:cNvSpPr>
          <p:nvPr/>
        </p:nvSpPr>
        <p:spPr bwMode="auto">
          <a:xfrm>
            <a:off x="8915400" y="14478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104474" name="Line 27">
            <a:extLst>
              <a:ext uri="{FF2B5EF4-FFF2-40B4-BE49-F238E27FC236}">
                <a16:creationId xmlns:a16="http://schemas.microsoft.com/office/drawing/2014/main" id="{DED0D104-5796-7042-A41F-1D39190ADDBB}"/>
              </a:ext>
            </a:extLst>
          </p:cNvPr>
          <p:cNvSpPr>
            <a:spLocks noChangeShapeType="1"/>
          </p:cNvSpPr>
          <p:nvPr/>
        </p:nvSpPr>
        <p:spPr bwMode="auto">
          <a:xfrm>
            <a:off x="4267200" y="2286000"/>
            <a:ext cx="43434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104475" name="Line 28">
            <a:extLst>
              <a:ext uri="{FF2B5EF4-FFF2-40B4-BE49-F238E27FC236}">
                <a16:creationId xmlns:a16="http://schemas.microsoft.com/office/drawing/2014/main" id="{C745181F-F153-2E4B-92A1-F0A422B8DAA3}"/>
              </a:ext>
            </a:extLst>
          </p:cNvPr>
          <p:cNvSpPr>
            <a:spLocks noChangeShapeType="1"/>
          </p:cNvSpPr>
          <p:nvPr/>
        </p:nvSpPr>
        <p:spPr bwMode="auto">
          <a:xfrm>
            <a:off x="4343400" y="5562600"/>
            <a:ext cx="1295400" cy="0"/>
          </a:xfrm>
          <a:prstGeom prst="line">
            <a:avLst/>
          </a:prstGeom>
          <a:noFill/>
          <a:ln w="1905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104476" name="Oval 29">
            <a:extLst>
              <a:ext uri="{FF2B5EF4-FFF2-40B4-BE49-F238E27FC236}">
                <a16:creationId xmlns:a16="http://schemas.microsoft.com/office/drawing/2014/main" id="{C29A21A8-4F52-3E40-923E-A8A17D351CA9}"/>
              </a:ext>
            </a:extLst>
          </p:cNvPr>
          <p:cNvSpPr>
            <a:spLocks noChangeArrowheads="1"/>
          </p:cNvSpPr>
          <p:nvPr/>
        </p:nvSpPr>
        <p:spPr bwMode="auto">
          <a:xfrm>
            <a:off x="5562601" y="1566864"/>
            <a:ext cx="238125" cy="261937"/>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104477" name="Rectangle 30">
            <a:extLst>
              <a:ext uri="{FF2B5EF4-FFF2-40B4-BE49-F238E27FC236}">
                <a16:creationId xmlns:a16="http://schemas.microsoft.com/office/drawing/2014/main" id="{D294AC34-7822-C349-A5E5-C4289EEEAE10}"/>
              </a:ext>
            </a:extLst>
          </p:cNvPr>
          <p:cNvSpPr>
            <a:spLocks noChangeArrowheads="1"/>
          </p:cNvSpPr>
          <p:nvPr/>
        </p:nvSpPr>
        <p:spPr bwMode="auto">
          <a:xfrm>
            <a:off x="5943600" y="1066800"/>
            <a:ext cx="12319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Encephalitis</a:t>
            </a:r>
          </a:p>
        </p:txBody>
      </p:sp>
      <p:sp>
        <p:nvSpPr>
          <p:cNvPr id="104478" name="Line 31">
            <a:extLst>
              <a:ext uri="{FF2B5EF4-FFF2-40B4-BE49-F238E27FC236}">
                <a16:creationId xmlns:a16="http://schemas.microsoft.com/office/drawing/2014/main" id="{6E0BC3A0-BBFE-8E44-9661-23DA847F6F14}"/>
              </a:ext>
            </a:extLst>
          </p:cNvPr>
          <p:cNvSpPr>
            <a:spLocks noChangeShapeType="1"/>
          </p:cNvSpPr>
          <p:nvPr/>
        </p:nvSpPr>
        <p:spPr bwMode="auto">
          <a:xfrm flipV="1">
            <a:off x="5957888" y="1371601"/>
            <a:ext cx="2652712" cy="1587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104479" name="Line 32">
            <a:extLst>
              <a:ext uri="{FF2B5EF4-FFF2-40B4-BE49-F238E27FC236}">
                <a16:creationId xmlns:a16="http://schemas.microsoft.com/office/drawing/2014/main" id="{790EE84A-0697-1C40-A0A2-18B69BEF7C50}"/>
              </a:ext>
            </a:extLst>
          </p:cNvPr>
          <p:cNvSpPr>
            <a:spLocks noChangeShapeType="1"/>
          </p:cNvSpPr>
          <p:nvPr/>
        </p:nvSpPr>
        <p:spPr bwMode="auto">
          <a:xfrm>
            <a:off x="5943600" y="1981200"/>
            <a:ext cx="25908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104480" name="Freeform 33">
            <a:extLst>
              <a:ext uri="{FF2B5EF4-FFF2-40B4-BE49-F238E27FC236}">
                <a16:creationId xmlns:a16="http://schemas.microsoft.com/office/drawing/2014/main" id="{B68C070F-14AE-4240-B628-9FB30D769644}"/>
              </a:ext>
            </a:extLst>
          </p:cNvPr>
          <p:cNvSpPr>
            <a:spLocks/>
          </p:cNvSpPr>
          <p:nvPr/>
        </p:nvSpPr>
        <p:spPr bwMode="auto">
          <a:xfrm>
            <a:off x="5715000" y="5257801"/>
            <a:ext cx="2895600" cy="396875"/>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104481" name="Freeform 34">
            <a:extLst>
              <a:ext uri="{FF2B5EF4-FFF2-40B4-BE49-F238E27FC236}">
                <a16:creationId xmlns:a16="http://schemas.microsoft.com/office/drawing/2014/main" id="{ED9F1920-F8EB-A549-B305-DCCDEADE82C4}"/>
              </a:ext>
            </a:extLst>
          </p:cNvPr>
          <p:cNvSpPr>
            <a:spLocks/>
          </p:cNvSpPr>
          <p:nvPr/>
        </p:nvSpPr>
        <p:spPr bwMode="auto">
          <a:xfrm>
            <a:off x="5716588" y="5502276"/>
            <a:ext cx="303212" cy="347663"/>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104482" name="Line 35">
            <a:extLst>
              <a:ext uri="{FF2B5EF4-FFF2-40B4-BE49-F238E27FC236}">
                <a16:creationId xmlns:a16="http://schemas.microsoft.com/office/drawing/2014/main" id="{8CD27D12-1693-354C-8BBA-BC359100255C}"/>
              </a:ext>
            </a:extLst>
          </p:cNvPr>
          <p:cNvSpPr>
            <a:spLocks noChangeShapeType="1"/>
          </p:cNvSpPr>
          <p:nvPr/>
        </p:nvSpPr>
        <p:spPr bwMode="auto">
          <a:xfrm>
            <a:off x="6005513" y="5849938"/>
            <a:ext cx="25146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104483" name="Rectangle 36">
            <a:extLst>
              <a:ext uri="{FF2B5EF4-FFF2-40B4-BE49-F238E27FC236}">
                <a16:creationId xmlns:a16="http://schemas.microsoft.com/office/drawing/2014/main" id="{E42EE54B-F8E8-F44A-A765-F60115095F38}"/>
              </a:ext>
            </a:extLst>
          </p:cNvPr>
          <p:cNvSpPr>
            <a:spLocks noChangeArrowheads="1"/>
          </p:cNvSpPr>
          <p:nvPr/>
        </p:nvSpPr>
        <p:spPr bwMode="auto">
          <a:xfrm>
            <a:off x="5943600" y="1660525"/>
            <a:ext cx="1752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Encephalitis</a:t>
            </a:r>
          </a:p>
        </p:txBody>
      </p:sp>
      <p:sp>
        <p:nvSpPr>
          <p:cNvPr id="104484" name="Rectangle 37">
            <a:extLst>
              <a:ext uri="{FF2B5EF4-FFF2-40B4-BE49-F238E27FC236}">
                <a16:creationId xmlns:a16="http://schemas.microsoft.com/office/drawing/2014/main" id="{2D5DF456-CFB4-DB4E-AA87-F1135E5C8531}"/>
              </a:ext>
            </a:extLst>
          </p:cNvPr>
          <p:cNvSpPr>
            <a:spLocks noChangeArrowheads="1"/>
          </p:cNvSpPr>
          <p:nvPr/>
        </p:nvSpPr>
        <p:spPr bwMode="auto">
          <a:xfrm>
            <a:off x="5956300" y="4999039"/>
            <a:ext cx="12319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Encephalitis</a:t>
            </a:r>
          </a:p>
        </p:txBody>
      </p:sp>
      <p:sp>
        <p:nvSpPr>
          <p:cNvPr id="104485" name="Rectangle 38">
            <a:extLst>
              <a:ext uri="{FF2B5EF4-FFF2-40B4-BE49-F238E27FC236}">
                <a16:creationId xmlns:a16="http://schemas.microsoft.com/office/drawing/2014/main" id="{3101AF1C-3893-874E-8D6B-174F8C5C70C3}"/>
              </a:ext>
            </a:extLst>
          </p:cNvPr>
          <p:cNvSpPr>
            <a:spLocks noChangeArrowheads="1"/>
          </p:cNvSpPr>
          <p:nvPr/>
        </p:nvSpPr>
        <p:spPr bwMode="auto">
          <a:xfrm>
            <a:off x="5943600" y="5562600"/>
            <a:ext cx="1752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Encephalitis</a:t>
            </a:r>
          </a:p>
        </p:txBody>
      </p:sp>
      <p:sp>
        <p:nvSpPr>
          <p:cNvPr id="104486" name="Oval 39">
            <a:extLst>
              <a:ext uri="{FF2B5EF4-FFF2-40B4-BE49-F238E27FC236}">
                <a16:creationId xmlns:a16="http://schemas.microsoft.com/office/drawing/2014/main" id="{741AF105-BF74-CF46-94B3-3D4AEEB8F5E4}"/>
              </a:ext>
            </a:extLst>
          </p:cNvPr>
          <p:cNvSpPr>
            <a:spLocks noChangeArrowheads="1"/>
          </p:cNvSpPr>
          <p:nvPr/>
        </p:nvSpPr>
        <p:spPr bwMode="auto">
          <a:xfrm>
            <a:off x="5629276" y="5426075"/>
            <a:ext cx="238125" cy="261938"/>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104487" name="Oval 40">
            <a:extLst>
              <a:ext uri="{FF2B5EF4-FFF2-40B4-BE49-F238E27FC236}">
                <a16:creationId xmlns:a16="http://schemas.microsoft.com/office/drawing/2014/main" id="{B76B3C34-0842-A140-AEC6-24F2B9FCC369}"/>
              </a:ext>
            </a:extLst>
          </p:cNvPr>
          <p:cNvSpPr>
            <a:spLocks noChangeArrowheads="1"/>
          </p:cNvSpPr>
          <p:nvPr/>
        </p:nvSpPr>
        <p:spPr bwMode="auto">
          <a:xfrm>
            <a:off x="3963989" y="5729288"/>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104488" name="Freeform 41">
            <a:extLst>
              <a:ext uri="{FF2B5EF4-FFF2-40B4-BE49-F238E27FC236}">
                <a16:creationId xmlns:a16="http://schemas.microsoft.com/office/drawing/2014/main" id="{069DE449-517A-154F-BA58-47D807068A8D}"/>
              </a:ext>
            </a:extLst>
          </p:cNvPr>
          <p:cNvSpPr>
            <a:spLocks/>
          </p:cNvSpPr>
          <p:nvPr/>
        </p:nvSpPr>
        <p:spPr bwMode="auto">
          <a:xfrm>
            <a:off x="4114801" y="3276600"/>
            <a:ext cx="371475" cy="533400"/>
          </a:xfrm>
          <a:custGeom>
            <a:avLst/>
            <a:gdLst>
              <a:gd name="T0" fmla="*/ 0 w 14"/>
              <a:gd name="T1" fmla="*/ 2147483647 h 16"/>
              <a:gd name="T2" fmla="*/ 0 w 14"/>
              <a:gd name="T3" fmla="*/ 0 h 16"/>
              <a:gd name="T4" fmla="*/ 2147483647 w 14"/>
              <a:gd name="T5" fmla="*/ 0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16"/>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104489" name="Freeform 42">
            <a:extLst>
              <a:ext uri="{FF2B5EF4-FFF2-40B4-BE49-F238E27FC236}">
                <a16:creationId xmlns:a16="http://schemas.microsoft.com/office/drawing/2014/main" id="{C0A7ABE7-0592-ED4D-BEFF-7F29D995020E}"/>
              </a:ext>
            </a:extLst>
          </p:cNvPr>
          <p:cNvSpPr>
            <a:spLocks/>
          </p:cNvSpPr>
          <p:nvPr/>
        </p:nvSpPr>
        <p:spPr bwMode="auto">
          <a:xfrm>
            <a:off x="4114801" y="3962400"/>
            <a:ext cx="295275" cy="533400"/>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104490" name="Oval 43">
            <a:extLst>
              <a:ext uri="{FF2B5EF4-FFF2-40B4-BE49-F238E27FC236}">
                <a16:creationId xmlns:a16="http://schemas.microsoft.com/office/drawing/2014/main" id="{F7C7FF86-38DC-5740-B814-DEECA3BD4864}"/>
              </a:ext>
            </a:extLst>
          </p:cNvPr>
          <p:cNvSpPr>
            <a:spLocks noChangeArrowheads="1"/>
          </p:cNvSpPr>
          <p:nvPr/>
        </p:nvSpPr>
        <p:spPr bwMode="auto">
          <a:xfrm>
            <a:off x="3976689" y="3733800"/>
            <a:ext cx="238125" cy="260350"/>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104491" name="Line 44">
            <a:extLst>
              <a:ext uri="{FF2B5EF4-FFF2-40B4-BE49-F238E27FC236}">
                <a16:creationId xmlns:a16="http://schemas.microsoft.com/office/drawing/2014/main" id="{A5ED1C5E-A86B-C947-A8CF-12A9370D0480}"/>
              </a:ext>
            </a:extLst>
          </p:cNvPr>
          <p:cNvSpPr>
            <a:spLocks noChangeShapeType="1"/>
          </p:cNvSpPr>
          <p:nvPr/>
        </p:nvSpPr>
        <p:spPr bwMode="auto">
          <a:xfrm>
            <a:off x="4419600" y="3276600"/>
            <a:ext cx="7620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104492" name="Line 45">
            <a:extLst>
              <a:ext uri="{FF2B5EF4-FFF2-40B4-BE49-F238E27FC236}">
                <a16:creationId xmlns:a16="http://schemas.microsoft.com/office/drawing/2014/main" id="{87896E1F-39B7-0744-B828-7041D31022FD}"/>
              </a:ext>
            </a:extLst>
          </p:cNvPr>
          <p:cNvSpPr>
            <a:spLocks noChangeShapeType="1"/>
          </p:cNvSpPr>
          <p:nvPr/>
        </p:nvSpPr>
        <p:spPr bwMode="auto">
          <a:xfrm>
            <a:off x="4419600" y="4495800"/>
            <a:ext cx="960438"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104493" name="Rectangle 46">
            <a:extLst>
              <a:ext uri="{FF2B5EF4-FFF2-40B4-BE49-F238E27FC236}">
                <a16:creationId xmlns:a16="http://schemas.microsoft.com/office/drawing/2014/main" id="{CC5175C2-529C-FF46-AA78-B821FBAF78DE}"/>
              </a:ext>
            </a:extLst>
          </p:cNvPr>
          <p:cNvSpPr>
            <a:spLocks noChangeArrowheads="1"/>
          </p:cNvSpPr>
          <p:nvPr/>
        </p:nvSpPr>
        <p:spPr bwMode="auto">
          <a:xfrm>
            <a:off x="5486400" y="3124200"/>
            <a:ext cx="14097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Spray</a:t>
            </a:r>
          </a:p>
        </p:txBody>
      </p:sp>
      <p:sp>
        <p:nvSpPr>
          <p:cNvPr id="104494" name="Text Box 47">
            <a:extLst>
              <a:ext uri="{FF2B5EF4-FFF2-40B4-BE49-F238E27FC236}">
                <a16:creationId xmlns:a16="http://schemas.microsoft.com/office/drawing/2014/main" id="{3F6B3691-77E0-3242-A05E-91952B6EA979}"/>
              </a:ext>
            </a:extLst>
          </p:cNvPr>
          <p:cNvSpPr txBox="1">
            <a:spLocks noChangeArrowheads="1"/>
          </p:cNvSpPr>
          <p:nvPr/>
        </p:nvSpPr>
        <p:spPr bwMode="auto">
          <a:xfrm>
            <a:off x="5638800" y="4191000"/>
            <a:ext cx="990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a:solidFill>
                  <a:srgbClr val="000000"/>
                </a:solidFill>
              </a:rPr>
              <a:t>Don</a:t>
            </a:r>
            <a:r>
              <a:rPr lang="ja-JP" altLang="en-US" sz="1800">
                <a:solidFill>
                  <a:srgbClr val="000000"/>
                </a:solidFill>
              </a:rPr>
              <a:t>’</a:t>
            </a:r>
            <a:r>
              <a:rPr lang="en-US" altLang="ja-JP" sz="1800">
                <a:solidFill>
                  <a:srgbClr val="000000"/>
                </a:solidFill>
              </a:rPr>
              <a:t>t spray</a:t>
            </a:r>
            <a:endParaRPr lang="en-US" altLang="en-MX" sz="1800">
              <a:solidFill>
                <a:srgbClr val="000000"/>
              </a:solidFill>
            </a:endParaRPr>
          </a:p>
        </p:txBody>
      </p:sp>
      <p:sp>
        <p:nvSpPr>
          <p:cNvPr id="104495" name="Line 48">
            <a:extLst>
              <a:ext uri="{FF2B5EF4-FFF2-40B4-BE49-F238E27FC236}">
                <a16:creationId xmlns:a16="http://schemas.microsoft.com/office/drawing/2014/main" id="{C97C77E8-CFE5-EB41-9FC3-8692E63C7278}"/>
              </a:ext>
            </a:extLst>
          </p:cNvPr>
          <p:cNvSpPr>
            <a:spLocks noChangeShapeType="1"/>
          </p:cNvSpPr>
          <p:nvPr/>
        </p:nvSpPr>
        <p:spPr bwMode="auto">
          <a:xfrm>
            <a:off x="8915400" y="19050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104496" name="Line 49">
            <a:extLst>
              <a:ext uri="{FF2B5EF4-FFF2-40B4-BE49-F238E27FC236}">
                <a16:creationId xmlns:a16="http://schemas.microsoft.com/office/drawing/2014/main" id="{1C0316AA-A333-4142-84C8-057869CDE827}"/>
              </a:ext>
            </a:extLst>
          </p:cNvPr>
          <p:cNvSpPr>
            <a:spLocks noChangeShapeType="1"/>
          </p:cNvSpPr>
          <p:nvPr/>
        </p:nvSpPr>
        <p:spPr bwMode="auto">
          <a:xfrm>
            <a:off x="8915400" y="22860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104497" name="Line 50">
            <a:extLst>
              <a:ext uri="{FF2B5EF4-FFF2-40B4-BE49-F238E27FC236}">
                <a16:creationId xmlns:a16="http://schemas.microsoft.com/office/drawing/2014/main" id="{03F11B0B-2C8B-0F47-88DD-7B0F25589DD3}"/>
              </a:ext>
            </a:extLst>
          </p:cNvPr>
          <p:cNvSpPr>
            <a:spLocks noChangeShapeType="1"/>
          </p:cNvSpPr>
          <p:nvPr/>
        </p:nvSpPr>
        <p:spPr bwMode="auto">
          <a:xfrm>
            <a:off x="8915400" y="29718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104498" name="Line 51">
            <a:extLst>
              <a:ext uri="{FF2B5EF4-FFF2-40B4-BE49-F238E27FC236}">
                <a16:creationId xmlns:a16="http://schemas.microsoft.com/office/drawing/2014/main" id="{766F3D07-8DFB-B14A-99B0-680CC53F3022}"/>
              </a:ext>
            </a:extLst>
          </p:cNvPr>
          <p:cNvSpPr>
            <a:spLocks noChangeShapeType="1"/>
          </p:cNvSpPr>
          <p:nvPr/>
        </p:nvSpPr>
        <p:spPr bwMode="auto">
          <a:xfrm>
            <a:off x="8915400" y="35814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104499" name="Line 52">
            <a:extLst>
              <a:ext uri="{FF2B5EF4-FFF2-40B4-BE49-F238E27FC236}">
                <a16:creationId xmlns:a16="http://schemas.microsoft.com/office/drawing/2014/main" id="{A5733BAF-CBC3-F04E-85AB-D4A8894556B8}"/>
              </a:ext>
            </a:extLst>
          </p:cNvPr>
          <p:cNvSpPr>
            <a:spLocks noChangeShapeType="1"/>
          </p:cNvSpPr>
          <p:nvPr/>
        </p:nvSpPr>
        <p:spPr bwMode="auto">
          <a:xfrm>
            <a:off x="8915400" y="43434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104500" name="Line 53">
            <a:extLst>
              <a:ext uri="{FF2B5EF4-FFF2-40B4-BE49-F238E27FC236}">
                <a16:creationId xmlns:a16="http://schemas.microsoft.com/office/drawing/2014/main" id="{9B3F844A-F436-494C-84BD-017226DA78F2}"/>
              </a:ext>
            </a:extLst>
          </p:cNvPr>
          <p:cNvSpPr>
            <a:spLocks noChangeShapeType="1"/>
          </p:cNvSpPr>
          <p:nvPr/>
        </p:nvSpPr>
        <p:spPr bwMode="auto">
          <a:xfrm>
            <a:off x="8915400" y="48006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104501" name="Line 54">
            <a:extLst>
              <a:ext uri="{FF2B5EF4-FFF2-40B4-BE49-F238E27FC236}">
                <a16:creationId xmlns:a16="http://schemas.microsoft.com/office/drawing/2014/main" id="{0870F9E4-236E-DF44-AF4E-552745F0D139}"/>
              </a:ext>
            </a:extLst>
          </p:cNvPr>
          <p:cNvSpPr>
            <a:spLocks noChangeShapeType="1"/>
          </p:cNvSpPr>
          <p:nvPr/>
        </p:nvSpPr>
        <p:spPr bwMode="auto">
          <a:xfrm>
            <a:off x="8915400" y="53340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104502" name="Line 55">
            <a:extLst>
              <a:ext uri="{FF2B5EF4-FFF2-40B4-BE49-F238E27FC236}">
                <a16:creationId xmlns:a16="http://schemas.microsoft.com/office/drawing/2014/main" id="{690FB6CE-5198-DD40-B63B-7B6E9F0B3DE3}"/>
              </a:ext>
            </a:extLst>
          </p:cNvPr>
          <p:cNvSpPr>
            <a:spLocks noChangeShapeType="1"/>
          </p:cNvSpPr>
          <p:nvPr/>
        </p:nvSpPr>
        <p:spPr bwMode="auto">
          <a:xfrm>
            <a:off x="8915400" y="57912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104503" name="Line 56">
            <a:extLst>
              <a:ext uri="{FF2B5EF4-FFF2-40B4-BE49-F238E27FC236}">
                <a16:creationId xmlns:a16="http://schemas.microsoft.com/office/drawing/2014/main" id="{E7EEA6EC-D198-AC4B-BDCD-727D193FD79F}"/>
              </a:ext>
            </a:extLst>
          </p:cNvPr>
          <p:cNvSpPr>
            <a:spLocks noChangeShapeType="1"/>
          </p:cNvSpPr>
          <p:nvPr/>
        </p:nvSpPr>
        <p:spPr bwMode="auto">
          <a:xfrm>
            <a:off x="8915400" y="6324600"/>
            <a:ext cx="1219200" cy="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104504" name="Rectangle 57">
            <a:extLst>
              <a:ext uri="{FF2B5EF4-FFF2-40B4-BE49-F238E27FC236}">
                <a16:creationId xmlns:a16="http://schemas.microsoft.com/office/drawing/2014/main" id="{45F1DC70-19DB-0A49-A3D5-6F7F07DC084C}"/>
              </a:ext>
            </a:extLst>
          </p:cNvPr>
          <p:cNvSpPr>
            <a:spLocks noChangeArrowheads="1"/>
          </p:cNvSpPr>
          <p:nvPr/>
        </p:nvSpPr>
        <p:spPr bwMode="auto">
          <a:xfrm>
            <a:off x="4191000" y="2895601"/>
            <a:ext cx="117981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ja-JP" altLang="en-US" sz="1800">
                <a:solidFill>
                  <a:srgbClr val="000000"/>
                </a:solidFill>
              </a:rPr>
              <a:t>“</a:t>
            </a:r>
            <a:r>
              <a:rPr lang="en-US" altLang="ja-JP" sz="1800">
                <a:solidFill>
                  <a:srgbClr val="000000"/>
                </a:solidFill>
              </a:rPr>
              <a:t>Outbreak</a:t>
            </a:r>
            <a:r>
              <a:rPr lang="ja-JP" altLang="en-US" sz="1800">
                <a:solidFill>
                  <a:srgbClr val="000000"/>
                </a:solidFill>
              </a:rPr>
              <a:t>”</a:t>
            </a:r>
            <a:endParaRPr lang="en-US" altLang="en-MX" sz="1800">
              <a:solidFill>
                <a:srgbClr val="000000"/>
              </a:solidFill>
            </a:endParaRPr>
          </a:p>
        </p:txBody>
      </p:sp>
      <p:sp>
        <p:nvSpPr>
          <p:cNvPr id="104505" name="Rectangle 58">
            <a:extLst>
              <a:ext uri="{FF2B5EF4-FFF2-40B4-BE49-F238E27FC236}">
                <a16:creationId xmlns:a16="http://schemas.microsoft.com/office/drawing/2014/main" id="{B3903F64-5E05-B64C-900B-EC621E7D08F4}"/>
              </a:ext>
            </a:extLst>
          </p:cNvPr>
          <p:cNvSpPr>
            <a:spLocks noChangeArrowheads="1"/>
          </p:cNvSpPr>
          <p:nvPr/>
        </p:nvSpPr>
        <p:spPr bwMode="auto">
          <a:xfrm>
            <a:off x="4191000" y="3962401"/>
            <a:ext cx="10668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ja-JP" altLang="en-US" sz="1800">
                <a:solidFill>
                  <a:srgbClr val="000000"/>
                </a:solidFill>
              </a:rPr>
              <a:t>“</a:t>
            </a:r>
            <a:r>
              <a:rPr lang="en-US" altLang="ja-JP" sz="1800">
                <a:solidFill>
                  <a:srgbClr val="000000"/>
                </a:solidFill>
              </a:rPr>
              <a:t>No</a:t>
            </a:r>
          </a:p>
          <a:p>
            <a:r>
              <a:rPr lang="en-US" altLang="en-MX" sz="1800">
                <a:solidFill>
                  <a:srgbClr val="000000"/>
                </a:solidFill>
              </a:rPr>
              <a:t>Outbreak</a:t>
            </a:r>
            <a:r>
              <a:rPr lang="ja-JP" altLang="en-US" sz="1800">
                <a:solidFill>
                  <a:srgbClr val="000000"/>
                </a:solidFill>
              </a:rPr>
              <a:t>”</a:t>
            </a:r>
            <a:endParaRPr lang="en-US" altLang="en-MX" sz="1800">
              <a:solidFill>
                <a:srgbClr val="000000"/>
              </a:solidFill>
            </a:endParaRPr>
          </a:p>
        </p:txBody>
      </p:sp>
      <p:sp>
        <p:nvSpPr>
          <p:cNvPr id="104506" name="AutoShape 59">
            <a:extLst>
              <a:ext uri="{FF2B5EF4-FFF2-40B4-BE49-F238E27FC236}">
                <a16:creationId xmlns:a16="http://schemas.microsoft.com/office/drawing/2014/main" id="{FBC73C5C-2D76-F04C-98BF-7BB417B38C6E}"/>
              </a:ext>
            </a:extLst>
          </p:cNvPr>
          <p:cNvSpPr>
            <a:spLocks noChangeArrowheads="1"/>
          </p:cNvSpPr>
          <p:nvPr/>
        </p:nvSpPr>
        <p:spPr bwMode="auto">
          <a:xfrm>
            <a:off x="5105400" y="3124200"/>
            <a:ext cx="304800" cy="304800"/>
          </a:xfrm>
          <a:prstGeom prst="rightArrow">
            <a:avLst>
              <a:gd name="adj1" fmla="val 50000"/>
              <a:gd name="adj2" fmla="val 25000"/>
            </a:avLst>
          </a:prstGeom>
          <a:solidFill>
            <a:srgbClr val="990033"/>
          </a:solidFill>
          <a:ln w="12700">
            <a:solidFill>
              <a:srgbClr val="00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104507" name="AutoShape 60">
            <a:extLst>
              <a:ext uri="{FF2B5EF4-FFF2-40B4-BE49-F238E27FC236}">
                <a16:creationId xmlns:a16="http://schemas.microsoft.com/office/drawing/2014/main" id="{5A576129-7213-AA47-A43A-B6E0689D00CF}"/>
              </a:ext>
            </a:extLst>
          </p:cNvPr>
          <p:cNvSpPr>
            <a:spLocks noChangeArrowheads="1"/>
          </p:cNvSpPr>
          <p:nvPr/>
        </p:nvSpPr>
        <p:spPr bwMode="auto">
          <a:xfrm>
            <a:off x="5334000" y="4343400"/>
            <a:ext cx="304800" cy="304800"/>
          </a:xfrm>
          <a:prstGeom prst="rightArrow">
            <a:avLst>
              <a:gd name="adj1" fmla="val 50000"/>
              <a:gd name="adj2" fmla="val 25000"/>
            </a:avLst>
          </a:prstGeom>
          <a:solidFill>
            <a:srgbClr val="990033"/>
          </a:solidFill>
          <a:ln w="12700">
            <a:solidFill>
              <a:srgbClr val="00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104508" name="Freeform 61">
            <a:extLst>
              <a:ext uri="{FF2B5EF4-FFF2-40B4-BE49-F238E27FC236}">
                <a16:creationId xmlns:a16="http://schemas.microsoft.com/office/drawing/2014/main" id="{80F1FBB9-6DEC-9641-BE48-6B1DCB5FBF48}"/>
              </a:ext>
            </a:extLst>
          </p:cNvPr>
          <p:cNvSpPr>
            <a:spLocks/>
          </p:cNvSpPr>
          <p:nvPr/>
        </p:nvSpPr>
        <p:spPr bwMode="auto">
          <a:xfrm>
            <a:off x="6235700" y="2971801"/>
            <a:ext cx="2451100" cy="396875"/>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104509" name="Freeform 62">
            <a:extLst>
              <a:ext uri="{FF2B5EF4-FFF2-40B4-BE49-F238E27FC236}">
                <a16:creationId xmlns:a16="http://schemas.microsoft.com/office/drawing/2014/main" id="{3B25BCFA-CD0D-774B-8A49-E9E6F7A1F7B4}"/>
              </a:ext>
            </a:extLst>
          </p:cNvPr>
          <p:cNvSpPr>
            <a:spLocks/>
          </p:cNvSpPr>
          <p:nvPr/>
        </p:nvSpPr>
        <p:spPr bwMode="auto">
          <a:xfrm>
            <a:off x="6235700" y="3249614"/>
            <a:ext cx="2374900" cy="331787"/>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104510" name="Rectangle 63">
            <a:extLst>
              <a:ext uri="{FF2B5EF4-FFF2-40B4-BE49-F238E27FC236}">
                <a16:creationId xmlns:a16="http://schemas.microsoft.com/office/drawing/2014/main" id="{F8DD736F-4802-FE49-911E-3A641DE30756}"/>
              </a:ext>
            </a:extLst>
          </p:cNvPr>
          <p:cNvSpPr>
            <a:spLocks noChangeArrowheads="1"/>
          </p:cNvSpPr>
          <p:nvPr/>
        </p:nvSpPr>
        <p:spPr bwMode="auto">
          <a:xfrm>
            <a:off x="6535738" y="2682875"/>
            <a:ext cx="12319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Encephalitis</a:t>
            </a:r>
          </a:p>
        </p:txBody>
      </p:sp>
      <p:sp>
        <p:nvSpPr>
          <p:cNvPr id="104511" name="Rectangle 64">
            <a:extLst>
              <a:ext uri="{FF2B5EF4-FFF2-40B4-BE49-F238E27FC236}">
                <a16:creationId xmlns:a16="http://schemas.microsoft.com/office/drawing/2014/main" id="{1455BCA7-C257-C149-9E6C-5D7BA4F7B04C}"/>
              </a:ext>
            </a:extLst>
          </p:cNvPr>
          <p:cNvSpPr>
            <a:spLocks noChangeArrowheads="1"/>
          </p:cNvSpPr>
          <p:nvPr/>
        </p:nvSpPr>
        <p:spPr bwMode="auto">
          <a:xfrm>
            <a:off x="6477000" y="3276600"/>
            <a:ext cx="1752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Encephalitis</a:t>
            </a:r>
          </a:p>
        </p:txBody>
      </p:sp>
      <p:sp>
        <p:nvSpPr>
          <p:cNvPr id="104512" name="Oval 65">
            <a:extLst>
              <a:ext uri="{FF2B5EF4-FFF2-40B4-BE49-F238E27FC236}">
                <a16:creationId xmlns:a16="http://schemas.microsoft.com/office/drawing/2014/main" id="{177E3A67-BFC5-2B43-B089-51255D7C68DE}"/>
              </a:ext>
            </a:extLst>
          </p:cNvPr>
          <p:cNvSpPr>
            <a:spLocks noChangeArrowheads="1"/>
          </p:cNvSpPr>
          <p:nvPr/>
        </p:nvSpPr>
        <p:spPr bwMode="auto">
          <a:xfrm>
            <a:off x="6172201" y="3124200"/>
            <a:ext cx="238125" cy="261938"/>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104513" name="Freeform 66">
            <a:extLst>
              <a:ext uri="{FF2B5EF4-FFF2-40B4-BE49-F238E27FC236}">
                <a16:creationId xmlns:a16="http://schemas.microsoft.com/office/drawing/2014/main" id="{A0125213-5488-224E-92BC-9D34B87AC8A1}"/>
              </a:ext>
            </a:extLst>
          </p:cNvPr>
          <p:cNvSpPr>
            <a:spLocks/>
          </p:cNvSpPr>
          <p:nvPr/>
        </p:nvSpPr>
        <p:spPr bwMode="auto">
          <a:xfrm>
            <a:off x="6540500" y="4251326"/>
            <a:ext cx="2146300" cy="396875"/>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104514" name="Freeform 67">
            <a:extLst>
              <a:ext uri="{FF2B5EF4-FFF2-40B4-BE49-F238E27FC236}">
                <a16:creationId xmlns:a16="http://schemas.microsoft.com/office/drawing/2014/main" id="{6287409A-3106-D746-9FA3-1FB49E8B26CE}"/>
              </a:ext>
            </a:extLst>
          </p:cNvPr>
          <p:cNvSpPr>
            <a:spLocks/>
          </p:cNvSpPr>
          <p:nvPr/>
        </p:nvSpPr>
        <p:spPr bwMode="auto">
          <a:xfrm>
            <a:off x="6540500" y="4529139"/>
            <a:ext cx="2070100" cy="331787"/>
          </a:xfrm>
          <a:custGeom>
            <a:avLst/>
            <a:gdLst>
              <a:gd name="T0" fmla="*/ 0 w 14"/>
              <a:gd name="T1" fmla="*/ 0 h 16"/>
              <a:gd name="T2" fmla="*/ 0 w 14"/>
              <a:gd name="T3" fmla="*/ 2147483647 h 16"/>
              <a:gd name="T4" fmla="*/ 2147483647 w 14"/>
              <a:gd name="T5" fmla="*/ 2147483647 h 16"/>
              <a:gd name="T6" fmla="*/ 0 60000 65536"/>
              <a:gd name="T7" fmla="*/ 0 60000 65536"/>
              <a:gd name="T8" fmla="*/ 0 60000 65536"/>
              <a:gd name="T9" fmla="*/ 0 w 14"/>
              <a:gd name="T10" fmla="*/ 0 h 16"/>
              <a:gd name="T11" fmla="*/ 14 w 14"/>
              <a:gd name="T12" fmla="*/ 16 h 16"/>
            </a:gdLst>
            <a:ahLst/>
            <a:cxnLst>
              <a:cxn ang="T6">
                <a:pos x="T0" y="T1"/>
              </a:cxn>
              <a:cxn ang="T7">
                <a:pos x="T2" y="T3"/>
              </a:cxn>
              <a:cxn ang="T8">
                <a:pos x="T4" y="T5"/>
              </a:cxn>
            </a:cxnLst>
            <a:rect l="T9" t="T10" r="T11" b="T12"/>
            <a:pathLst>
              <a:path w="14" h="16">
                <a:moveTo>
                  <a:pt x="0" y="0"/>
                </a:moveTo>
                <a:lnTo>
                  <a:pt x="0" y="16"/>
                </a:lnTo>
                <a:lnTo>
                  <a:pt x="14" y="1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104515" name="Rectangle 68">
            <a:extLst>
              <a:ext uri="{FF2B5EF4-FFF2-40B4-BE49-F238E27FC236}">
                <a16:creationId xmlns:a16="http://schemas.microsoft.com/office/drawing/2014/main" id="{02979EDB-3F8A-CF47-BD96-FC808351EE0E}"/>
              </a:ext>
            </a:extLst>
          </p:cNvPr>
          <p:cNvSpPr>
            <a:spLocks noChangeArrowheads="1"/>
          </p:cNvSpPr>
          <p:nvPr/>
        </p:nvSpPr>
        <p:spPr bwMode="auto">
          <a:xfrm>
            <a:off x="6840538" y="3962400"/>
            <a:ext cx="12319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Encephalitis</a:t>
            </a:r>
          </a:p>
        </p:txBody>
      </p:sp>
      <p:sp>
        <p:nvSpPr>
          <p:cNvPr id="104516" name="Rectangle 69">
            <a:extLst>
              <a:ext uri="{FF2B5EF4-FFF2-40B4-BE49-F238E27FC236}">
                <a16:creationId xmlns:a16="http://schemas.microsoft.com/office/drawing/2014/main" id="{CA2A5254-F41D-0141-B465-37FE97C1B449}"/>
              </a:ext>
            </a:extLst>
          </p:cNvPr>
          <p:cNvSpPr>
            <a:spLocks noChangeArrowheads="1"/>
          </p:cNvSpPr>
          <p:nvPr/>
        </p:nvSpPr>
        <p:spPr bwMode="auto">
          <a:xfrm>
            <a:off x="6781800" y="4556125"/>
            <a:ext cx="1752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MX" sz="1800">
                <a:solidFill>
                  <a:srgbClr val="000000"/>
                </a:solidFill>
              </a:rPr>
              <a:t>No Encephalitis</a:t>
            </a:r>
          </a:p>
        </p:txBody>
      </p:sp>
      <p:sp>
        <p:nvSpPr>
          <p:cNvPr id="104517" name="Oval 70">
            <a:extLst>
              <a:ext uri="{FF2B5EF4-FFF2-40B4-BE49-F238E27FC236}">
                <a16:creationId xmlns:a16="http://schemas.microsoft.com/office/drawing/2014/main" id="{1AC27486-1AD9-6F46-AE1A-F2C62ED70181}"/>
              </a:ext>
            </a:extLst>
          </p:cNvPr>
          <p:cNvSpPr>
            <a:spLocks noChangeArrowheads="1"/>
          </p:cNvSpPr>
          <p:nvPr/>
        </p:nvSpPr>
        <p:spPr bwMode="auto">
          <a:xfrm>
            <a:off x="6467476" y="4403725"/>
            <a:ext cx="238125" cy="261938"/>
          </a:xfrm>
          <a:prstGeom prst="ellipse">
            <a:avLst/>
          </a:prstGeom>
          <a:solidFill>
            <a:schemeClr val="bg1"/>
          </a:solidFill>
          <a:ln w="25400">
            <a:solidFill>
              <a:srgbClr val="008000"/>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104518" name="AutoShape 71">
            <a:extLst>
              <a:ext uri="{FF2B5EF4-FFF2-40B4-BE49-F238E27FC236}">
                <a16:creationId xmlns:a16="http://schemas.microsoft.com/office/drawing/2014/main" id="{C7A8D1B8-B465-2B4E-9BFA-9C25C54CA3E4}"/>
              </a:ext>
            </a:extLst>
          </p:cNvPr>
          <p:cNvSpPr>
            <a:spLocks noChangeArrowheads="1"/>
          </p:cNvSpPr>
          <p:nvPr/>
        </p:nvSpPr>
        <p:spPr bwMode="auto">
          <a:xfrm>
            <a:off x="8534400" y="12192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104519" name="AutoShape 72">
            <a:extLst>
              <a:ext uri="{FF2B5EF4-FFF2-40B4-BE49-F238E27FC236}">
                <a16:creationId xmlns:a16="http://schemas.microsoft.com/office/drawing/2014/main" id="{7CC14101-AA62-9F46-B638-1EA6490D6C66}"/>
              </a:ext>
            </a:extLst>
          </p:cNvPr>
          <p:cNvSpPr>
            <a:spLocks noChangeArrowheads="1"/>
          </p:cNvSpPr>
          <p:nvPr/>
        </p:nvSpPr>
        <p:spPr bwMode="auto">
          <a:xfrm>
            <a:off x="8534400" y="16764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104520" name="AutoShape 73">
            <a:extLst>
              <a:ext uri="{FF2B5EF4-FFF2-40B4-BE49-F238E27FC236}">
                <a16:creationId xmlns:a16="http://schemas.microsoft.com/office/drawing/2014/main" id="{7AFDEA63-A758-184D-AC6A-D2D8D6A738D8}"/>
              </a:ext>
            </a:extLst>
          </p:cNvPr>
          <p:cNvSpPr>
            <a:spLocks noChangeArrowheads="1"/>
          </p:cNvSpPr>
          <p:nvPr/>
        </p:nvSpPr>
        <p:spPr bwMode="auto">
          <a:xfrm>
            <a:off x="8534400" y="20574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104521" name="AutoShape 74">
            <a:extLst>
              <a:ext uri="{FF2B5EF4-FFF2-40B4-BE49-F238E27FC236}">
                <a16:creationId xmlns:a16="http://schemas.microsoft.com/office/drawing/2014/main" id="{928B45C5-AB7C-434E-BD09-249767D966A4}"/>
              </a:ext>
            </a:extLst>
          </p:cNvPr>
          <p:cNvSpPr>
            <a:spLocks noChangeArrowheads="1"/>
          </p:cNvSpPr>
          <p:nvPr/>
        </p:nvSpPr>
        <p:spPr bwMode="auto">
          <a:xfrm>
            <a:off x="8534400" y="33528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104522" name="AutoShape 75">
            <a:extLst>
              <a:ext uri="{FF2B5EF4-FFF2-40B4-BE49-F238E27FC236}">
                <a16:creationId xmlns:a16="http://schemas.microsoft.com/office/drawing/2014/main" id="{9770680F-377A-7C44-B971-F25E3791B19C}"/>
              </a:ext>
            </a:extLst>
          </p:cNvPr>
          <p:cNvSpPr>
            <a:spLocks noChangeArrowheads="1"/>
          </p:cNvSpPr>
          <p:nvPr/>
        </p:nvSpPr>
        <p:spPr bwMode="auto">
          <a:xfrm>
            <a:off x="8534400" y="28194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104523" name="AutoShape 76">
            <a:extLst>
              <a:ext uri="{FF2B5EF4-FFF2-40B4-BE49-F238E27FC236}">
                <a16:creationId xmlns:a16="http://schemas.microsoft.com/office/drawing/2014/main" id="{E6F1419A-87FD-BC47-AEE9-1BA987B749BD}"/>
              </a:ext>
            </a:extLst>
          </p:cNvPr>
          <p:cNvSpPr>
            <a:spLocks noChangeArrowheads="1"/>
          </p:cNvSpPr>
          <p:nvPr/>
        </p:nvSpPr>
        <p:spPr bwMode="auto">
          <a:xfrm>
            <a:off x="8547100" y="5121275"/>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104524" name="AutoShape 77">
            <a:extLst>
              <a:ext uri="{FF2B5EF4-FFF2-40B4-BE49-F238E27FC236}">
                <a16:creationId xmlns:a16="http://schemas.microsoft.com/office/drawing/2014/main" id="{34A76043-1713-DE44-B3BF-02311F28EC88}"/>
              </a:ext>
            </a:extLst>
          </p:cNvPr>
          <p:cNvSpPr>
            <a:spLocks noChangeArrowheads="1"/>
          </p:cNvSpPr>
          <p:nvPr/>
        </p:nvSpPr>
        <p:spPr bwMode="auto">
          <a:xfrm>
            <a:off x="8547100" y="5578475"/>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104525" name="AutoShape 78">
            <a:extLst>
              <a:ext uri="{FF2B5EF4-FFF2-40B4-BE49-F238E27FC236}">
                <a16:creationId xmlns:a16="http://schemas.microsoft.com/office/drawing/2014/main" id="{3246E73B-0595-8B45-AF68-3366045E4022}"/>
              </a:ext>
            </a:extLst>
          </p:cNvPr>
          <p:cNvSpPr>
            <a:spLocks noChangeArrowheads="1"/>
          </p:cNvSpPr>
          <p:nvPr/>
        </p:nvSpPr>
        <p:spPr bwMode="auto">
          <a:xfrm>
            <a:off x="8534400" y="6065838"/>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104526" name="AutoShape 79">
            <a:extLst>
              <a:ext uri="{FF2B5EF4-FFF2-40B4-BE49-F238E27FC236}">
                <a16:creationId xmlns:a16="http://schemas.microsoft.com/office/drawing/2014/main" id="{AA6E38E5-AF05-914D-8D24-22C0C31DE334}"/>
              </a:ext>
            </a:extLst>
          </p:cNvPr>
          <p:cNvSpPr>
            <a:spLocks noChangeArrowheads="1"/>
          </p:cNvSpPr>
          <p:nvPr/>
        </p:nvSpPr>
        <p:spPr bwMode="auto">
          <a:xfrm>
            <a:off x="8547100" y="41148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104527" name="AutoShape 80">
            <a:extLst>
              <a:ext uri="{FF2B5EF4-FFF2-40B4-BE49-F238E27FC236}">
                <a16:creationId xmlns:a16="http://schemas.microsoft.com/office/drawing/2014/main" id="{29EC6458-BD47-AA41-BC5E-B5B119D0211A}"/>
              </a:ext>
            </a:extLst>
          </p:cNvPr>
          <p:cNvSpPr>
            <a:spLocks noChangeArrowheads="1"/>
          </p:cNvSpPr>
          <p:nvPr/>
        </p:nvSpPr>
        <p:spPr bwMode="auto">
          <a:xfrm>
            <a:off x="8547100" y="4572000"/>
            <a:ext cx="304800" cy="304800"/>
          </a:xfrm>
          <a:prstGeom prst="triangle">
            <a:avLst>
              <a:gd name="adj" fmla="val 50000"/>
            </a:avLst>
          </a:prstGeom>
          <a:solidFill>
            <a:schemeClr val="bg1"/>
          </a:solidFill>
          <a:ln w="25400">
            <a:solidFill>
              <a:srgbClr val="FF0000"/>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MX" altLang="en-MX" sz="1800"/>
          </a:p>
        </p:txBody>
      </p:sp>
      <p:sp>
        <p:nvSpPr>
          <p:cNvPr id="104528" name="Text Box 81">
            <a:extLst>
              <a:ext uri="{FF2B5EF4-FFF2-40B4-BE49-F238E27FC236}">
                <a16:creationId xmlns:a16="http://schemas.microsoft.com/office/drawing/2014/main" id="{4637810A-B240-F247-AF08-5A828F1B0DC2}"/>
              </a:ext>
            </a:extLst>
          </p:cNvPr>
          <p:cNvSpPr txBox="1">
            <a:spLocks noChangeArrowheads="1"/>
          </p:cNvSpPr>
          <p:nvPr/>
        </p:nvSpPr>
        <p:spPr bwMode="auto">
          <a:xfrm>
            <a:off x="4343400" y="1644651"/>
            <a:ext cx="914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t>0.20</a:t>
            </a:r>
          </a:p>
        </p:txBody>
      </p:sp>
      <p:sp>
        <p:nvSpPr>
          <p:cNvPr id="104529" name="Text Box 82">
            <a:extLst>
              <a:ext uri="{FF2B5EF4-FFF2-40B4-BE49-F238E27FC236}">
                <a16:creationId xmlns:a16="http://schemas.microsoft.com/office/drawing/2014/main" id="{D41D96A2-4721-7C40-A5BB-31F2DB077EBE}"/>
              </a:ext>
            </a:extLst>
          </p:cNvPr>
          <p:cNvSpPr txBox="1">
            <a:spLocks noChangeArrowheads="1"/>
          </p:cNvSpPr>
          <p:nvPr/>
        </p:nvSpPr>
        <p:spPr bwMode="auto">
          <a:xfrm>
            <a:off x="4343400" y="2286001"/>
            <a:ext cx="1066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t>0.80</a:t>
            </a:r>
          </a:p>
        </p:txBody>
      </p:sp>
      <p:sp>
        <p:nvSpPr>
          <p:cNvPr id="104530" name="Text Box 83">
            <a:extLst>
              <a:ext uri="{FF2B5EF4-FFF2-40B4-BE49-F238E27FC236}">
                <a16:creationId xmlns:a16="http://schemas.microsoft.com/office/drawing/2014/main" id="{B8C033EC-AC90-CC41-A8FE-B9BF5ECC2299}"/>
              </a:ext>
            </a:extLst>
          </p:cNvPr>
          <p:cNvSpPr txBox="1">
            <a:spLocks noChangeArrowheads="1"/>
          </p:cNvSpPr>
          <p:nvPr/>
        </p:nvSpPr>
        <p:spPr bwMode="auto">
          <a:xfrm>
            <a:off x="6019800" y="133985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t>0.001</a:t>
            </a:r>
          </a:p>
        </p:txBody>
      </p:sp>
      <p:sp>
        <p:nvSpPr>
          <p:cNvPr id="104531" name="Text Box 84">
            <a:extLst>
              <a:ext uri="{FF2B5EF4-FFF2-40B4-BE49-F238E27FC236}">
                <a16:creationId xmlns:a16="http://schemas.microsoft.com/office/drawing/2014/main" id="{95DDD6ED-4405-D44E-9158-364C586BBEAD}"/>
              </a:ext>
            </a:extLst>
          </p:cNvPr>
          <p:cNvSpPr txBox="1">
            <a:spLocks noChangeArrowheads="1"/>
          </p:cNvSpPr>
          <p:nvPr/>
        </p:nvSpPr>
        <p:spPr bwMode="auto">
          <a:xfrm>
            <a:off x="6019800" y="194945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t>0.999</a:t>
            </a:r>
          </a:p>
        </p:txBody>
      </p:sp>
      <p:sp>
        <p:nvSpPr>
          <p:cNvPr id="104532" name="Text Box 85">
            <a:extLst>
              <a:ext uri="{FF2B5EF4-FFF2-40B4-BE49-F238E27FC236}">
                <a16:creationId xmlns:a16="http://schemas.microsoft.com/office/drawing/2014/main" id="{810C60E7-1640-2147-A854-D136BC78EE3B}"/>
              </a:ext>
            </a:extLst>
          </p:cNvPr>
          <p:cNvSpPr txBox="1">
            <a:spLocks noChangeArrowheads="1"/>
          </p:cNvSpPr>
          <p:nvPr/>
        </p:nvSpPr>
        <p:spPr bwMode="auto">
          <a:xfrm>
            <a:off x="4419600" y="5562601"/>
            <a:ext cx="914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t>0.20</a:t>
            </a:r>
          </a:p>
        </p:txBody>
      </p:sp>
      <p:sp>
        <p:nvSpPr>
          <p:cNvPr id="104533" name="Text Box 86">
            <a:extLst>
              <a:ext uri="{FF2B5EF4-FFF2-40B4-BE49-F238E27FC236}">
                <a16:creationId xmlns:a16="http://schemas.microsoft.com/office/drawing/2014/main" id="{9F927B88-7378-BB44-B053-B8108DBA5F3B}"/>
              </a:ext>
            </a:extLst>
          </p:cNvPr>
          <p:cNvSpPr txBox="1">
            <a:spLocks noChangeArrowheads="1"/>
          </p:cNvSpPr>
          <p:nvPr/>
        </p:nvSpPr>
        <p:spPr bwMode="auto">
          <a:xfrm>
            <a:off x="4419600" y="6292851"/>
            <a:ext cx="990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t>0.80</a:t>
            </a:r>
          </a:p>
        </p:txBody>
      </p:sp>
      <p:sp>
        <p:nvSpPr>
          <p:cNvPr id="104534" name="Text Box 87">
            <a:extLst>
              <a:ext uri="{FF2B5EF4-FFF2-40B4-BE49-F238E27FC236}">
                <a16:creationId xmlns:a16="http://schemas.microsoft.com/office/drawing/2014/main" id="{869CA80F-DFBA-E241-B141-A79D9ACC7324}"/>
              </a:ext>
            </a:extLst>
          </p:cNvPr>
          <p:cNvSpPr txBox="1">
            <a:spLocks noChangeArrowheads="1"/>
          </p:cNvSpPr>
          <p:nvPr/>
        </p:nvSpPr>
        <p:spPr bwMode="auto">
          <a:xfrm>
            <a:off x="6019800" y="525780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t>0.02</a:t>
            </a:r>
          </a:p>
        </p:txBody>
      </p:sp>
      <p:sp>
        <p:nvSpPr>
          <p:cNvPr id="104535" name="Text Box 88">
            <a:extLst>
              <a:ext uri="{FF2B5EF4-FFF2-40B4-BE49-F238E27FC236}">
                <a16:creationId xmlns:a16="http://schemas.microsoft.com/office/drawing/2014/main" id="{F5D723DD-1169-464B-B5A9-61B8E2DB8131}"/>
              </a:ext>
            </a:extLst>
          </p:cNvPr>
          <p:cNvSpPr txBox="1">
            <a:spLocks noChangeArrowheads="1"/>
          </p:cNvSpPr>
          <p:nvPr/>
        </p:nvSpPr>
        <p:spPr bwMode="auto">
          <a:xfrm>
            <a:off x="6019800" y="583565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t>0.98</a:t>
            </a:r>
          </a:p>
        </p:txBody>
      </p:sp>
      <p:sp>
        <p:nvSpPr>
          <p:cNvPr id="104536" name="Text Box 89">
            <a:extLst>
              <a:ext uri="{FF2B5EF4-FFF2-40B4-BE49-F238E27FC236}">
                <a16:creationId xmlns:a16="http://schemas.microsoft.com/office/drawing/2014/main" id="{DD948162-4A2C-A84E-94F6-F5D2A1F8A7B1}"/>
              </a:ext>
            </a:extLst>
          </p:cNvPr>
          <p:cNvSpPr txBox="1">
            <a:spLocks noChangeArrowheads="1"/>
          </p:cNvSpPr>
          <p:nvPr/>
        </p:nvSpPr>
        <p:spPr bwMode="auto">
          <a:xfrm>
            <a:off x="4343400" y="3276601"/>
            <a:ext cx="1066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t>0.20</a:t>
            </a:r>
          </a:p>
        </p:txBody>
      </p:sp>
      <p:sp>
        <p:nvSpPr>
          <p:cNvPr id="104537" name="Text Box 90">
            <a:extLst>
              <a:ext uri="{FF2B5EF4-FFF2-40B4-BE49-F238E27FC236}">
                <a16:creationId xmlns:a16="http://schemas.microsoft.com/office/drawing/2014/main" id="{7E6EEBFD-8216-1143-A4E7-133B68622631}"/>
              </a:ext>
            </a:extLst>
          </p:cNvPr>
          <p:cNvSpPr txBox="1">
            <a:spLocks noChangeArrowheads="1"/>
          </p:cNvSpPr>
          <p:nvPr/>
        </p:nvSpPr>
        <p:spPr bwMode="auto">
          <a:xfrm>
            <a:off x="4343400" y="4464051"/>
            <a:ext cx="990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t>0.80</a:t>
            </a:r>
          </a:p>
        </p:txBody>
      </p:sp>
      <p:sp>
        <p:nvSpPr>
          <p:cNvPr id="104538" name="Text Box 91">
            <a:extLst>
              <a:ext uri="{FF2B5EF4-FFF2-40B4-BE49-F238E27FC236}">
                <a16:creationId xmlns:a16="http://schemas.microsoft.com/office/drawing/2014/main" id="{3A437E9C-495D-644F-AE02-8D4EA50F9732}"/>
              </a:ext>
            </a:extLst>
          </p:cNvPr>
          <p:cNvSpPr txBox="1">
            <a:spLocks noChangeArrowheads="1"/>
          </p:cNvSpPr>
          <p:nvPr/>
        </p:nvSpPr>
        <p:spPr bwMode="auto">
          <a:xfrm>
            <a:off x="6629400" y="297180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solidFill>
                  <a:srgbClr val="990033"/>
                </a:solidFill>
              </a:rPr>
              <a:t>0.001</a:t>
            </a:r>
          </a:p>
        </p:txBody>
      </p:sp>
      <p:sp>
        <p:nvSpPr>
          <p:cNvPr id="104539" name="Text Box 92">
            <a:extLst>
              <a:ext uri="{FF2B5EF4-FFF2-40B4-BE49-F238E27FC236}">
                <a16:creationId xmlns:a16="http://schemas.microsoft.com/office/drawing/2014/main" id="{FCDB3950-6E58-7E4A-B18D-CFDBF6FDC510}"/>
              </a:ext>
            </a:extLst>
          </p:cNvPr>
          <p:cNvSpPr txBox="1">
            <a:spLocks noChangeArrowheads="1"/>
          </p:cNvSpPr>
          <p:nvPr/>
        </p:nvSpPr>
        <p:spPr bwMode="auto">
          <a:xfrm>
            <a:off x="6629400" y="358140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solidFill>
                  <a:srgbClr val="990033"/>
                </a:solidFill>
              </a:rPr>
              <a:t>0.999</a:t>
            </a:r>
          </a:p>
        </p:txBody>
      </p:sp>
      <p:sp>
        <p:nvSpPr>
          <p:cNvPr id="104540" name="Text Box 93">
            <a:extLst>
              <a:ext uri="{FF2B5EF4-FFF2-40B4-BE49-F238E27FC236}">
                <a16:creationId xmlns:a16="http://schemas.microsoft.com/office/drawing/2014/main" id="{BF628880-4F55-F049-8A17-9DA3659D91E4}"/>
              </a:ext>
            </a:extLst>
          </p:cNvPr>
          <p:cNvSpPr txBox="1">
            <a:spLocks noChangeArrowheads="1"/>
          </p:cNvSpPr>
          <p:nvPr/>
        </p:nvSpPr>
        <p:spPr bwMode="auto">
          <a:xfrm>
            <a:off x="7010400" y="419100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t>0</a:t>
            </a:r>
          </a:p>
        </p:txBody>
      </p:sp>
      <p:sp>
        <p:nvSpPr>
          <p:cNvPr id="104541" name="Text Box 94">
            <a:extLst>
              <a:ext uri="{FF2B5EF4-FFF2-40B4-BE49-F238E27FC236}">
                <a16:creationId xmlns:a16="http://schemas.microsoft.com/office/drawing/2014/main" id="{5A1680D9-0A93-1A45-8A3B-4128ADC808E3}"/>
              </a:ext>
            </a:extLst>
          </p:cNvPr>
          <p:cNvSpPr txBox="1">
            <a:spLocks noChangeArrowheads="1"/>
          </p:cNvSpPr>
          <p:nvPr/>
        </p:nvSpPr>
        <p:spPr bwMode="auto">
          <a:xfrm>
            <a:off x="7010400" y="480060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MX" sz="1800" b="1"/>
              <a:t>1</a:t>
            </a:r>
          </a:p>
        </p:txBody>
      </p:sp>
      <p:sp>
        <p:nvSpPr>
          <p:cNvPr id="104542" name="Text Box 95">
            <a:extLst>
              <a:ext uri="{FF2B5EF4-FFF2-40B4-BE49-F238E27FC236}">
                <a16:creationId xmlns:a16="http://schemas.microsoft.com/office/drawing/2014/main" id="{376F5819-4BFE-C44D-9E9A-0E56135CF21A}"/>
              </a:ext>
            </a:extLst>
          </p:cNvPr>
          <p:cNvSpPr txBox="1">
            <a:spLocks noChangeArrowheads="1"/>
          </p:cNvSpPr>
          <p:nvPr/>
        </p:nvSpPr>
        <p:spPr bwMode="auto">
          <a:xfrm>
            <a:off x="9144000" y="4953001"/>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rPr>
              <a:t>0.3</a:t>
            </a:r>
          </a:p>
        </p:txBody>
      </p:sp>
      <p:sp>
        <p:nvSpPr>
          <p:cNvPr id="104543" name="Text Box 96">
            <a:extLst>
              <a:ext uri="{FF2B5EF4-FFF2-40B4-BE49-F238E27FC236}">
                <a16:creationId xmlns:a16="http://schemas.microsoft.com/office/drawing/2014/main" id="{3506C92F-978F-1147-8B79-66454DBFCF20}"/>
              </a:ext>
            </a:extLst>
          </p:cNvPr>
          <p:cNvSpPr txBox="1">
            <a:spLocks noChangeArrowheads="1"/>
          </p:cNvSpPr>
          <p:nvPr/>
        </p:nvSpPr>
        <p:spPr bwMode="auto">
          <a:xfrm>
            <a:off x="9110663" y="1157289"/>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rPr>
              <a:t>0.3</a:t>
            </a:r>
          </a:p>
        </p:txBody>
      </p:sp>
      <p:sp>
        <p:nvSpPr>
          <p:cNvPr id="104544" name="Text Box 97">
            <a:extLst>
              <a:ext uri="{FF2B5EF4-FFF2-40B4-BE49-F238E27FC236}">
                <a16:creationId xmlns:a16="http://schemas.microsoft.com/office/drawing/2014/main" id="{E60A2F7E-500B-4A49-8536-CC86538B205C}"/>
              </a:ext>
            </a:extLst>
          </p:cNvPr>
          <p:cNvSpPr txBox="1">
            <a:spLocks noChangeArrowheads="1"/>
          </p:cNvSpPr>
          <p:nvPr/>
        </p:nvSpPr>
        <p:spPr bwMode="auto">
          <a:xfrm>
            <a:off x="9110663" y="1538289"/>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rPr>
              <a:t>0.001</a:t>
            </a:r>
          </a:p>
        </p:txBody>
      </p:sp>
      <p:sp>
        <p:nvSpPr>
          <p:cNvPr id="104545" name="Text Box 98">
            <a:extLst>
              <a:ext uri="{FF2B5EF4-FFF2-40B4-BE49-F238E27FC236}">
                <a16:creationId xmlns:a16="http://schemas.microsoft.com/office/drawing/2014/main" id="{D0DB8B47-7287-9043-A50D-A90F21491194}"/>
              </a:ext>
            </a:extLst>
          </p:cNvPr>
          <p:cNvSpPr txBox="1">
            <a:spLocks noChangeArrowheads="1"/>
          </p:cNvSpPr>
          <p:nvPr/>
        </p:nvSpPr>
        <p:spPr bwMode="auto">
          <a:xfrm>
            <a:off x="9110663" y="1995489"/>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rPr>
              <a:t>0.001</a:t>
            </a:r>
          </a:p>
        </p:txBody>
      </p:sp>
      <p:sp>
        <p:nvSpPr>
          <p:cNvPr id="104546" name="Text Box 99">
            <a:extLst>
              <a:ext uri="{FF2B5EF4-FFF2-40B4-BE49-F238E27FC236}">
                <a16:creationId xmlns:a16="http://schemas.microsoft.com/office/drawing/2014/main" id="{4EB87655-50EE-FF4E-A8A4-2F2E37F1630A}"/>
              </a:ext>
            </a:extLst>
          </p:cNvPr>
          <p:cNvSpPr txBox="1">
            <a:spLocks noChangeArrowheads="1"/>
          </p:cNvSpPr>
          <p:nvPr/>
        </p:nvSpPr>
        <p:spPr bwMode="auto">
          <a:xfrm>
            <a:off x="9110663" y="5486401"/>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rPr>
              <a:t>0</a:t>
            </a:r>
          </a:p>
        </p:txBody>
      </p:sp>
      <p:sp>
        <p:nvSpPr>
          <p:cNvPr id="104547" name="Text Box 100">
            <a:extLst>
              <a:ext uri="{FF2B5EF4-FFF2-40B4-BE49-F238E27FC236}">
                <a16:creationId xmlns:a16="http://schemas.microsoft.com/office/drawing/2014/main" id="{EAE4DD7D-8AB4-4A43-BE03-32E29268A12C}"/>
              </a:ext>
            </a:extLst>
          </p:cNvPr>
          <p:cNvSpPr txBox="1">
            <a:spLocks noChangeArrowheads="1"/>
          </p:cNvSpPr>
          <p:nvPr/>
        </p:nvSpPr>
        <p:spPr bwMode="auto">
          <a:xfrm>
            <a:off x="9110663" y="5943601"/>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rPr>
              <a:t>0</a:t>
            </a:r>
          </a:p>
        </p:txBody>
      </p:sp>
      <p:sp>
        <p:nvSpPr>
          <p:cNvPr id="104548" name="Text Box 101">
            <a:extLst>
              <a:ext uri="{FF2B5EF4-FFF2-40B4-BE49-F238E27FC236}">
                <a16:creationId xmlns:a16="http://schemas.microsoft.com/office/drawing/2014/main" id="{BBC96A7A-DB6E-8E48-877E-6B28A1155C48}"/>
              </a:ext>
            </a:extLst>
          </p:cNvPr>
          <p:cNvSpPr txBox="1">
            <a:spLocks noChangeArrowheads="1"/>
          </p:cNvSpPr>
          <p:nvPr/>
        </p:nvSpPr>
        <p:spPr bwMode="auto">
          <a:xfrm>
            <a:off x="9110663" y="4495801"/>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rPr>
              <a:t>0</a:t>
            </a:r>
          </a:p>
        </p:txBody>
      </p:sp>
      <p:sp>
        <p:nvSpPr>
          <p:cNvPr id="104549" name="Text Box 102">
            <a:extLst>
              <a:ext uri="{FF2B5EF4-FFF2-40B4-BE49-F238E27FC236}">
                <a16:creationId xmlns:a16="http://schemas.microsoft.com/office/drawing/2014/main" id="{CCC3FDE9-A7AF-664A-A2FC-83285B390727}"/>
              </a:ext>
            </a:extLst>
          </p:cNvPr>
          <p:cNvSpPr txBox="1">
            <a:spLocks noChangeArrowheads="1"/>
          </p:cNvSpPr>
          <p:nvPr/>
        </p:nvSpPr>
        <p:spPr bwMode="auto">
          <a:xfrm>
            <a:off x="9110663" y="4038601"/>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rPr>
              <a:t>0.3</a:t>
            </a:r>
          </a:p>
        </p:txBody>
      </p:sp>
      <p:sp>
        <p:nvSpPr>
          <p:cNvPr id="104550" name="Text Box 103">
            <a:extLst>
              <a:ext uri="{FF2B5EF4-FFF2-40B4-BE49-F238E27FC236}">
                <a16:creationId xmlns:a16="http://schemas.microsoft.com/office/drawing/2014/main" id="{48838811-0222-1046-B5B4-93EE484D62E9}"/>
              </a:ext>
            </a:extLst>
          </p:cNvPr>
          <p:cNvSpPr txBox="1">
            <a:spLocks noChangeArrowheads="1"/>
          </p:cNvSpPr>
          <p:nvPr/>
        </p:nvSpPr>
        <p:spPr bwMode="auto">
          <a:xfrm>
            <a:off x="9110663" y="2649539"/>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rPr>
              <a:t>0.3</a:t>
            </a:r>
          </a:p>
        </p:txBody>
      </p:sp>
      <p:sp>
        <p:nvSpPr>
          <p:cNvPr id="104551" name="Text Box 104">
            <a:extLst>
              <a:ext uri="{FF2B5EF4-FFF2-40B4-BE49-F238E27FC236}">
                <a16:creationId xmlns:a16="http://schemas.microsoft.com/office/drawing/2014/main" id="{33CD7691-4259-0542-9F32-061F13FB057D}"/>
              </a:ext>
            </a:extLst>
          </p:cNvPr>
          <p:cNvSpPr txBox="1">
            <a:spLocks noChangeArrowheads="1"/>
          </p:cNvSpPr>
          <p:nvPr/>
        </p:nvSpPr>
        <p:spPr bwMode="auto">
          <a:xfrm>
            <a:off x="9110663" y="3259139"/>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en-MX" sz="2000" b="1">
                <a:solidFill>
                  <a:srgbClr val="000000"/>
                </a:solidFill>
              </a:rPr>
              <a:t>0.001</a:t>
            </a:r>
          </a:p>
        </p:txBody>
      </p:sp>
      <p:sp>
        <p:nvSpPr>
          <p:cNvPr id="427114" name="AutoShape 106">
            <a:extLst>
              <a:ext uri="{FF2B5EF4-FFF2-40B4-BE49-F238E27FC236}">
                <a16:creationId xmlns:a16="http://schemas.microsoft.com/office/drawing/2014/main" id="{F3143A87-8EA3-4445-A646-05F8347E51C7}"/>
              </a:ext>
            </a:extLst>
          </p:cNvPr>
          <p:cNvSpPr>
            <a:spLocks noChangeArrowheads="1"/>
          </p:cNvSpPr>
          <p:nvPr/>
        </p:nvSpPr>
        <p:spPr bwMode="auto">
          <a:xfrm>
            <a:off x="2057400" y="4572000"/>
            <a:ext cx="1676400" cy="762000"/>
          </a:xfrm>
          <a:prstGeom prst="wedgeEllipseCallout">
            <a:avLst>
              <a:gd name="adj1" fmla="val 58426"/>
              <a:gd name="adj2" fmla="val 93333"/>
            </a:avLst>
          </a:prstGeom>
          <a:solidFill>
            <a:srgbClr val="CCFFFF"/>
          </a:solidFill>
          <a:ln w="12700">
            <a:solidFill>
              <a:schemeClr val="tx1"/>
            </a:solidFill>
            <a:miter lim="800000"/>
            <a:headEnd type="none" w="sm" len="sm"/>
            <a:tailEnd type="none" w="sm" len="sm"/>
          </a:ln>
        </p:spPr>
        <p:txBody>
          <a:bodyPr wrap="none" anchor="ctr"/>
          <a:lstStyle>
            <a:lvl1pPr marL="342900" indent="-342900" eaLnBrk="0" hangingPunct="0">
              <a:defRPr sz="2400">
                <a:solidFill>
                  <a:schemeClr val="tx1"/>
                </a:solidFill>
                <a:latin typeface="Arial" panose="020B0604020202020204" pitchFamily="34" charset="0"/>
                <a:ea typeface="ＭＳ Ｐゴシック" panose="020B0600070205080204" pitchFamily="34" charset="-128"/>
              </a:defRPr>
            </a:lvl1pPr>
            <a:lvl2pPr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lvl="1" algn="r"/>
            <a:r>
              <a:rPr lang="en-US" altLang="en-MX" sz="2000" b="1"/>
              <a:t>0.001200</a:t>
            </a:r>
            <a:endParaRPr lang="en-US" altLang="en-MX" sz="1000" b="1"/>
          </a:p>
        </p:txBody>
      </p:sp>
      <p:sp>
        <p:nvSpPr>
          <p:cNvPr id="427117" name="AutoShape 109">
            <a:extLst>
              <a:ext uri="{FF2B5EF4-FFF2-40B4-BE49-F238E27FC236}">
                <a16:creationId xmlns:a16="http://schemas.microsoft.com/office/drawing/2014/main" id="{BF26E5B9-C3CC-7D47-945E-9AAA107500E6}"/>
              </a:ext>
            </a:extLst>
          </p:cNvPr>
          <p:cNvSpPr>
            <a:spLocks noChangeArrowheads="1"/>
          </p:cNvSpPr>
          <p:nvPr/>
        </p:nvSpPr>
        <p:spPr bwMode="auto">
          <a:xfrm>
            <a:off x="2133600" y="914400"/>
            <a:ext cx="1676400" cy="762000"/>
          </a:xfrm>
          <a:prstGeom prst="wedgeEllipseCallout">
            <a:avLst>
              <a:gd name="adj1" fmla="val 58426"/>
              <a:gd name="adj2" fmla="val 93333"/>
            </a:avLst>
          </a:prstGeom>
          <a:solidFill>
            <a:srgbClr val="CCFFFF"/>
          </a:solidFill>
          <a:ln w="12700">
            <a:solidFill>
              <a:schemeClr val="tx1"/>
            </a:solidFill>
            <a:miter lim="800000"/>
            <a:headEnd type="none" w="sm" len="sm"/>
            <a:tailEnd type="none" w="sm" len="sm"/>
          </a:ln>
        </p:spPr>
        <p:txBody>
          <a:bodyPr wrap="none" anchor="ctr"/>
          <a:lstStyle>
            <a:lvl1pPr marL="342900" indent="-342900" eaLnBrk="0" hangingPunct="0">
              <a:defRPr sz="2400">
                <a:solidFill>
                  <a:schemeClr val="tx1"/>
                </a:solidFill>
                <a:latin typeface="Arial" panose="020B0604020202020204" pitchFamily="34" charset="0"/>
                <a:ea typeface="ＭＳ Ｐゴシック" panose="020B0600070205080204" pitchFamily="34" charset="-128"/>
              </a:defRPr>
            </a:lvl1pPr>
            <a:lvl2pPr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lvl="1" algn="r"/>
            <a:r>
              <a:rPr lang="en-US" altLang="en-MX" sz="2000" b="1"/>
              <a:t>0.001060</a:t>
            </a:r>
            <a:endParaRPr lang="en-US" altLang="en-MX" sz="1000" b="1"/>
          </a:p>
        </p:txBody>
      </p:sp>
      <p:sp>
        <p:nvSpPr>
          <p:cNvPr id="427118" name="AutoShape 110">
            <a:extLst>
              <a:ext uri="{FF2B5EF4-FFF2-40B4-BE49-F238E27FC236}">
                <a16:creationId xmlns:a16="http://schemas.microsoft.com/office/drawing/2014/main" id="{78C681D8-ECDB-694D-B333-B498CB141111}"/>
              </a:ext>
            </a:extLst>
          </p:cNvPr>
          <p:cNvSpPr>
            <a:spLocks noChangeArrowheads="1"/>
          </p:cNvSpPr>
          <p:nvPr/>
        </p:nvSpPr>
        <p:spPr bwMode="auto">
          <a:xfrm>
            <a:off x="2133600" y="2743200"/>
            <a:ext cx="1676400" cy="762000"/>
          </a:xfrm>
          <a:prstGeom prst="wedgeEllipseCallout">
            <a:avLst>
              <a:gd name="adj1" fmla="val 58426"/>
              <a:gd name="adj2" fmla="val 93333"/>
            </a:avLst>
          </a:prstGeom>
          <a:solidFill>
            <a:srgbClr val="CCFFFF"/>
          </a:solidFill>
          <a:ln w="12700">
            <a:solidFill>
              <a:schemeClr val="tx1"/>
            </a:solidFill>
            <a:miter lim="800000"/>
            <a:headEnd type="none" w="sm" len="sm"/>
            <a:tailEnd type="none" w="sm" len="sm"/>
          </a:ln>
        </p:spPr>
        <p:txBody>
          <a:bodyPr wrap="none" anchor="ctr"/>
          <a:lstStyle>
            <a:lvl1pPr marL="342900" indent="-342900" eaLnBrk="0" hangingPunct="0">
              <a:defRPr sz="2400">
                <a:solidFill>
                  <a:schemeClr val="tx1"/>
                </a:solidFill>
                <a:latin typeface="Arial" panose="020B0604020202020204" pitchFamily="34" charset="0"/>
                <a:ea typeface="ＭＳ Ｐゴシック" panose="020B0600070205080204" pitchFamily="34" charset="-128"/>
              </a:defRPr>
            </a:lvl1pPr>
            <a:lvl2pPr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lvl="1" algn="r"/>
            <a:r>
              <a:rPr lang="en-US" altLang="en-MX" sz="2000" b="1"/>
              <a:t>0.000260</a:t>
            </a:r>
            <a:endParaRPr lang="en-US" altLang="en-MX" sz="1000" b="1"/>
          </a:p>
        </p:txBody>
      </p:sp>
    </p:spTree>
    <p:extLst>
      <p:ext uri="{BB962C8B-B14F-4D97-AF65-F5344CB8AC3E}">
        <p14:creationId xmlns:p14="http://schemas.microsoft.com/office/powerpoint/2010/main" val="7443546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711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2711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271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7114" grpId="0" animBg="1"/>
      <p:bldP spid="427117" grpId="0" animBg="1"/>
      <p:bldP spid="427118"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2" name="Rectangle 2">
            <a:extLst>
              <a:ext uri="{FF2B5EF4-FFF2-40B4-BE49-F238E27FC236}">
                <a16:creationId xmlns:a16="http://schemas.microsoft.com/office/drawing/2014/main" id="{C535AAF1-7D59-584F-B54F-EAC96EBD9300}"/>
              </a:ext>
            </a:extLst>
          </p:cNvPr>
          <p:cNvSpPr>
            <a:spLocks noGrp="1" noChangeArrowheads="1"/>
          </p:cNvSpPr>
          <p:nvPr>
            <p:ph type="title"/>
          </p:nvPr>
        </p:nvSpPr>
        <p:spPr>
          <a:xfrm>
            <a:off x="596348" y="381000"/>
            <a:ext cx="10485782" cy="801757"/>
          </a:xfrm>
        </p:spPr>
        <p:txBody>
          <a:bodyPr>
            <a:normAutofit/>
          </a:bodyPr>
          <a:lstStyle/>
          <a:p>
            <a:pPr eaLnBrk="1" hangingPunct="1"/>
            <a:r>
              <a:rPr lang="en-US" altLang="en-MX" dirty="0">
                <a:ea typeface="ＭＳ Ｐゴシック" panose="020B0600070205080204" pitchFamily="34" charset="-128"/>
              </a:rPr>
              <a:t>Expected Value of Perfect Information (EVPI)</a:t>
            </a:r>
          </a:p>
        </p:txBody>
      </p:sp>
      <p:sp>
        <p:nvSpPr>
          <p:cNvPr id="106498" name="Rectangle 3">
            <a:extLst>
              <a:ext uri="{FF2B5EF4-FFF2-40B4-BE49-F238E27FC236}">
                <a16:creationId xmlns:a16="http://schemas.microsoft.com/office/drawing/2014/main" id="{0D83CEFA-3325-F146-AC85-B8048C4F4955}"/>
              </a:ext>
            </a:extLst>
          </p:cNvPr>
          <p:cNvSpPr>
            <a:spLocks noGrp="1" noChangeArrowheads="1"/>
          </p:cNvSpPr>
          <p:nvPr>
            <p:ph type="body" idx="1"/>
          </p:nvPr>
        </p:nvSpPr>
        <p:spPr>
          <a:xfrm>
            <a:off x="596348" y="1676400"/>
            <a:ext cx="10485782" cy="4648200"/>
          </a:xfrm>
        </p:spPr>
        <p:txBody>
          <a:bodyPr/>
          <a:lstStyle/>
          <a:p>
            <a:pPr>
              <a:tabLst>
                <a:tab pos="461963" algn="l"/>
              </a:tabLst>
            </a:pPr>
            <a:r>
              <a:rPr lang="en-US" altLang="en-MX" sz="3600" dirty="0">
                <a:ea typeface="ＭＳ Ｐゴシック" panose="020B0600070205080204" pitchFamily="34" charset="-128"/>
              </a:rPr>
              <a:t>EVPI is the best you can do if the test is perfect and has no toll:</a:t>
            </a:r>
          </a:p>
          <a:p>
            <a:pPr>
              <a:tabLst>
                <a:tab pos="461963" algn="l"/>
              </a:tabLst>
            </a:pPr>
            <a:endParaRPr lang="en-US" altLang="en-MX" sz="1200" dirty="0">
              <a:ea typeface="ＭＳ Ｐゴシック" panose="020B0600070205080204" pitchFamily="34" charset="-128"/>
            </a:endParaRPr>
          </a:p>
          <a:p>
            <a:pPr>
              <a:buNone/>
              <a:tabLst>
                <a:tab pos="461963" algn="l"/>
              </a:tabLst>
            </a:pPr>
            <a:r>
              <a:rPr lang="en-US" altLang="en-MX" sz="3600" dirty="0">
                <a:ea typeface="ＭＳ Ｐゴシック" panose="020B0600070205080204" pitchFamily="34" charset="-128"/>
              </a:rPr>
              <a:t>			E(# of deaths w/out test) –</a:t>
            </a:r>
          </a:p>
          <a:p>
            <a:pPr>
              <a:buNone/>
              <a:tabLst>
                <a:tab pos="461963" algn="l"/>
              </a:tabLst>
            </a:pPr>
            <a:r>
              <a:rPr lang="en-US" altLang="en-MX" sz="3600" dirty="0">
                <a:ea typeface="ＭＳ Ｐゴシック" panose="020B0600070205080204" pitchFamily="34" charset="-128"/>
              </a:rPr>
              <a:t>			E(# of deaths with toll-free test) =</a:t>
            </a:r>
          </a:p>
          <a:p>
            <a:pPr>
              <a:buNone/>
              <a:tabLst>
                <a:tab pos="461963" algn="l"/>
              </a:tabLst>
            </a:pPr>
            <a:r>
              <a:rPr lang="en-US" altLang="en-MX" sz="3600" dirty="0">
                <a:ea typeface="ＭＳ Ｐゴシック" panose="020B0600070205080204" pitchFamily="34" charset="-128"/>
              </a:rPr>
              <a:t>	 		106 – 26 = 80</a:t>
            </a:r>
          </a:p>
        </p:txBody>
      </p:sp>
      <p:sp>
        <p:nvSpPr>
          <p:cNvPr id="106499" name="Rectangle 4">
            <a:extLst>
              <a:ext uri="{FF2B5EF4-FFF2-40B4-BE49-F238E27FC236}">
                <a16:creationId xmlns:a16="http://schemas.microsoft.com/office/drawing/2014/main" id="{6E320934-D345-9D44-9035-9289B5F51F95}"/>
              </a:ext>
            </a:extLst>
          </p:cNvPr>
          <p:cNvSpPr>
            <a:spLocks noChangeArrowheads="1"/>
          </p:cNvSpPr>
          <p:nvPr/>
        </p:nvSpPr>
        <p:spPr bwMode="auto">
          <a:xfrm>
            <a:off x="1905000" y="5029200"/>
            <a:ext cx="82296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MX" sz="2800" b="1">
                <a:solidFill>
                  <a:srgbClr val="990033"/>
                </a:solidFill>
              </a:rPr>
              <a:t>80 deaths prevented with perfect information</a:t>
            </a:r>
          </a:p>
        </p:txBody>
      </p:sp>
    </p:spTree>
    <p:extLst>
      <p:ext uri="{BB962C8B-B14F-4D97-AF65-F5344CB8AC3E}">
        <p14:creationId xmlns:p14="http://schemas.microsoft.com/office/powerpoint/2010/main" val="40749011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4" name="Rectangle 2">
            <a:extLst>
              <a:ext uri="{FF2B5EF4-FFF2-40B4-BE49-F238E27FC236}">
                <a16:creationId xmlns:a16="http://schemas.microsoft.com/office/drawing/2014/main" id="{FEE4BC45-B671-1E45-823D-FB63510B02DD}"/>
              </a:ext>
            </a:extLst>
          </p:cNvPr>
          <p:cNvSpPr>
            <a:spLocks noGrp="1" noChangeArrowheads="1"/>
          </p:cNvSpPr>
          <p:nvPr>
            <p:ph type="title"/>
          </p:nvPr>
        </p:nvSpPr>
        <p:spPr>
          <a:xfrm>
            <a:off x="838200" y="365125"/>
            <a:ext cx="10515600" cy="755651"/>
          </a:xfrm>
        </p:spPr>
        <p:txBody>
          <a:bodyPr/>
          <a:lstStyle/>
          <a:p>
            <a:pPr eaLnBrk="1" hangingPunct="1"/>
            <a:r>
              <a:rPr lang="en-US" altLang="en-MX" dirty="0">
                <a:ea typeface="ＭＳ Ｐゴシック" panose="020B0600070205080204" pitchFamily="34" charset="-128"/>
              </a:rPr>
              <a:t>Back to the Game Show (Session 1)</a:t>
            </a:r>
          </a:p>
        </p:txBody>
      </p:sp>
      <p:grpSp>
        <p:nvGrpSpPr>
          <p:cNvPr id="107522" name="Group 3">
            <a:extLst>
              <a:ext uri="{FF2B5EF4-FFF2-40B4-BE49-F238E27FC236}">
                <a16:creationId xmlns:a16="http://schemas.microsoft.com/office/drawing/2014/main" id="{F7D196B0-0ADA-8C4A-A75C-A2F31792E873}"/>
              </a:ext>
            </a:extLst>
          </p:cNvPr>
          <p:cNvGrpSpPr>
            <a:grpSpLocks noChangeAspect="1"/>
          </p:cNvGrpSpPr>
          <p:nvPr/>
        </p:nvGrpSpPr>
        <p:grpSpPr bwMode="auto">
          <a:xfrm>
            <a:off x="5826125" y="3035301"/>
            <a:ext cx="4059238" cy="2746375"/>
            <a:chOff x="288" y="1573"/>
            <a:chExt cx="2557" cy="1730"/>
          </a:xfrm>
        </p:grpSpPr>
        <p:sp>
          <p:nvSpPr>
            <p:cNvPr id="107550" name="AutoShape 4">
              <a:extLst>
                <a:ext uri="{FF2B5EF4-FFF2-40B4-BE49-F238E27FC236}">
                  <a16:creationId xmlns:a16="http://schemas.microsoft.com/office/drawing/2014/main" id="{F4A50AB2-AAAD-DE4D-8380-1A262CA6F578}"/>
                </a:ext>
              </a:extLst>
            </p:cNvPr>
            <p:cNvSpPr>
              <a:spLocks noChangeAspect="1" noChangeArrowheads="1" noTextEdit="1"/>
            </p:cNvSpPr>
            <p:nvPr/>
          </p:nvSpPr>
          <p:spPr bwMode="auto">
            <a:xfrm>
              <a:off x="288" y="1573"/>
              <a:ext cx="2557" cy="1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MX" sz="2000"/>
            </a:p>
          </p:txBody>
        </p:sp>
        <p:sp>
          <p:nvSpPr>
            <p:cNvPr id="107551" name="Freeform 5">
              <a:extLst>
                <a:ext uri="{FF2B5EF4-FFF2-40B4-BE49-F238E27FC236}">
                  <a16:creationId xmlns:a16="http://schemas.microsoft.com/office/drawing/2014/main" id="{81E11792-0F33-8746-A3BD-AA8DB2DBF39F}"/>
                </a:ext>
              </a:extLst>
            </p:cNvPr>
            <p:cNvSpPr>
              <a:spLocks/>
            </p:cNvSpPr>
            <p:nvPr/>
          </p:nvSpPr>
          <p:spPr bwMode="auto">
            <a:xfrm>
              <a:off x="1564" y="1738"/>
              <a:ext cx="143" cy="698"/>
            </a:xfrm>
            <a:custGeom>
              <a:avLst/>
              <a:gdLst>
                <a:gd name="T0" fmla="*/ 254875 w 32"/>
                <a:gd name="T1" fmla="*/ 22669 h 157"/>
                <a:gd name="T2" fmla="*/ 0 w 32"/>
                <a:gd name="T3" fmla="*/ 0 h 157"/>
                <a:gd name="T4" fmla="*/ 0 w 32"/>
                <a:gd name="T5" fmla="*/ 1212328 h 157"/>
                <a:gd name="T6" fmla="*/ 254875 w 32"/>
                <a:gd name="T7" fmla="*/ 22669 h 157"/>
                <a:gd name="T8" fmla="*/ 0 60000 65536"/>
                <a:gd name="T9" fmla="*/ 0 60000 65536"/>
                <a:gd name="T10" fmla="*/ 0 60000 65536"/>
                <a:gd name="T11" fmla="*/ 0 60000 65536"/>
                <a:gd name="T12" fmla="*/ 0 w 32"/>
                <a:gd name="T13" fmla="*/ 0 h 157"/>
                <a:gd name="T14" fmla="*/ 32 w 32"/>
                <a:gd name="T15" fmla="*/ 157 h 157"/>
              </a:gdLst>
              <a:ahLst/>
              <a:cxnLst>
                <a:cxn ang="T8">
                  <a:pos x="T0" y="T1"/>
                </a:cxn>
                <a:cxn ang="T9">
                  <a:pos x="T2" y="T3"/>
                </a:cxn>
                <a:cxn ang="T10">
                  <a:pos x="T4" y="T5"/>
                </a:cxn>
                <a:cxn ang="T11">
                  <a:pos x="T6" y="T7"/>
                </a:cxn>
              </a:cxnLst>
              <a:rect l="T12" t="T13" r="T14" b="T15"/>
              <a:pathLst>
                <a:path w="32" h="157">
                  <a:moveTo>
                    <a:pt x="32" y="3"/>
                  </a:moveTo>
                  <a:cubicBezTo>
                    <a:pt x="22" y="1"/>
                    <a:pt x="11" y="0"/>
                    <a:pt x="0" y="0"/>
                  </a:cubicBezTo>
                  <a:lnTo>
                    <a:pt x="0" y="157"/>
                  </a:lnTo>
                  <a:lnTo>
                    <a:pt x="32" y="3"/>
                  </a:lnTo>
                  <a:close/>
                </a:path>
              </a:pathLst>
            </a:custGeom>
            <a:solidFill>
              <a:srgbClr val="FFFF00"/>
            </a:solidFill>
            <a:ln w="6350">
              <a:solidFill>
                <a:srgbClr val="000000"/>
              </a:solidFill>
              <a:prstDash val="solid"/>
              <a:round/>
              <a:headEnd/>
              <a:tailEnd/>
            </a:ln>
          </p:spPr>
          <p:txBody>
            <a:bodyPr/>
            <a:lstStyle/>
            <a:p>
              <a:endParaRPr lang="en-MX" sz="2000"/>
            </a:p>
          </p:txBody>
        </p:sp>
        <p:sp>
          <p:nvSpPr>
            <p:cNvPr id="107552" name="Freeform 6">
              <a:extLst>
                <a:ext uri="{FF2B5EF4-FFF2-40B4-BE49-F238E27FC236}">
                  <a16:creationId xmlns:a16="http://schemas.microsoft.com/office/drawing/2014/main" id="{16B4E17B-068D-0E47-95BB-FBB930F95240}"/>
                </a:ext>
              </a:extLst>
            </p:cNvPr>
            <p:cNvSpPr>
              <a:spLocks/>
            </p:cNvSpPr>
            <p:nvPr/>
          </p:nvSpPr>
          <p:spPr bwMode="auto">
            <a:xfrm>
              <a:off x="1564" y="1751"/>
              <a:ext cx="409" cy="685"/>
            </a:xfrm>
            <a:custGeom>
              <a:avLst/>
              <a:gdLst>
                <a:gd name="T0" fmla="*/ 710113 w 92"/>
                <a:gd name="T1" fmla="*/ 201968 h 154"/>
                <a:gd name="T2" fmla="*/ 246454 w 92"/>
                <a:gd name="T3" fmla="*/ 0 h 154"/>
                <a:gd name="T4" fmla="*/ 0 w 92"/>
                <a:gd name="T5" fmla="*/ 1192727 h 154"/>
                <a:gd name="T6" fmla="*/ 710113 w 92"/>
                <a:gd name="T7" fmla="*/ 201968 h 154"/>
                <a:gd name="T8" fmla="*/ 0 60000 65536"/>
                <a:gd name="T9" fmla="*/ 0 60000 65536"/>
                <a:gd name="T10" fmla="*/ 0 60000 65536"/>
                <a:gd name="T11" fmla="*/ 0 60000 65536"/>
                <a:gd name="T12" fmla="*/ 0 w 92"/>
                <a:gd name="T13" fmla="*/ 0 h 154"/>
                <a:gd name="T14" fmla="*/ 92 w 92"/>
                <a:gd name="T15" fmla="*/ 154 h 154"/>
              </a:gdLst>
              <a:ahLst/>
              <a:cxnLst>
                <a:cxn ang="T8">
                  <a:pos x="T0" y="T1"/>
                </a:cxn>
                <a:cxn ang="T9">
                  <a:pos x="T2" y="T3"/>
                </a:cxn>
                <a:cxn ang="T10">
                  <a:pos x="T4" y="T5"/>
                </a:cxn>
                <a:cxn ang="T11">
                  <a:pos x="T6" y="T7"/>
                </a:cxn>
              </a:cxnLst>
              <a:rect l="T12" t="T13" r="T14" b="T15"/>
              <a:pathLst>
                <a:path w="92" h="154">
                  <a:moveTo>
                    <a:pt x="92" y="26"/>
                  </a:moveTo>
                  <a:cubicBezTo>
                    <a:pt x="74" y="14"/>
                    <a:pt x="54" y="5"/>
                    <a:pt x="32" y="0"/>
                  </a:cubicBezTo>
                  <a:lnTo>
                    <a:pt x="0" y="154"/>
                  </a:lnTo>
                  <a:lnTo>
                    <a:pt x="92" y="26"/>
                  </a:lnTo>
                  <a:close/>
                </a:path>
              </a:pathLst>
            </a:custGeom>
            <a:solidFill>
              <a:srgbClr val="FF0000"/>
            </a:solidFill>
            <a:ln w="6350">
              <a:solidFill>
                <a:srgbClr val="000000"/>
              </a:solidFill>
              <a:prstDash val="solid"/>
              <a:round/>
              <a:headEnd/>
              <a:tailEnd/>
            </a:ln>
          </p:spPr>
          <p:txBody>
            <a:bodyPr/>
            <a:lstStyle/>
            <a:p>
              <a:endParaRPr lang="en-MX" sz="2000"/>
            </a:p>
          </p:txBody>
        </p:sp>
        <p:sp>
          <p:nvSpPr>
            <p:cNvPr id="107553" name="Freeform 7">
              <a:extLst>
                <a:ext uri="{FF2B5EF4-FFF2-40B4-BE49-F238E27FC236}">
                  <a16:creationId xmlns:a16="http://schemas.microsoft.com/office/drawing/2014/main" id="{90448F00-BBA3-0345-9DF2-BC0A4E3216D6}"/>
                </a:ext>
              </a:extLst>
            </p:cNvPr>
            <p:cNvSpPr>
              <a:spLocks/>
            </p:cNvSpPr>
            <p:nvPr/>
          </p:nvSpPr>
          <p:spPr bwMode="auto">
            <a:xfrm>
              <a:off x="1564" y="1867"/>
              <a:ext cx="516" cy="569"/>
            </a:xfrm>
            <a:custGeom>
              <a:avLst/>
              <a:gdLst>
                <a:gd name="T0" fmla="*/ 898574 w 116"/>
                <a:gd name="T1" fmla="*/ 176919 h 128"/>
                <a:gd name="T2" fmla="*/ 712160 w 116"/>
                <a:gd name="T3" fmla="*/ 0 h 128"/>
                <a:gd name="T4" fmla="*/ 0 w 116"/>
                <a:gd name="T5" fmla="*/ 987526 h 128"/>
                <a:gd name="T6" fmla="*/ 898574 w 116"/>
                <a:gd name="T7" fmla="*/ 176919 h 128"/>
                <a:gd name="T8" fmla="*/ 0 60000 65536"/>
                <a:gd name="T9" fmla="*/ 0 60000 65536"/>
                <a:gd name="T10" fmla="*/ 0 60000 65536"/>
                <a:gd name="T11" fmla="*/ 0 60000 65536"/>
                <a:gd name="T12" fmla="*/ 0 w 116"/>
                <a:gd name="T13" fmla="*/ 0 h 128"/>
                <a:gd name="T14" fmla="*/ 116 w 116"/>
                <a:gd name="T15" fmla="*/ 128 h 128"/>
              </a:gdLst>
              <a:ahLst/>
              <a:cxnLst>
                <a:cxn ang="T8">
                  <a:pos x="T0" y="T1"/>
                </a:cxn>
                <a:cxn ang="T9">
                  <a:pos x="T2" y="T3"/>
                </a:cxn>
                <a:cxn ang="T10">
                  <a:pos x="T4" y="T5"/>
                </a:cxn>
                <a:cxn ang="T11">
                  <a:pos x="T6" y="T7"/>
                </a:cxn>
              </a:cxnLst>
              <a:rect l="T12" t="T13" r="T14" b="T15"/>
              <a:pathLst>
                <a:path w="116" h="128">
                  <a:moveTo>
                    <a:pt x="116" y="23"/>
                  </a:moveTo>
                  <a:cubicBezTo>
                    <a:pt x="109" y="14"/>
                    <a:pt x="101" y="7"/>
                    <a:pt x="92" y="0"/>
                  </a:cubicBezTo>
                  <a:lnTo>
                    <a:pt x="0" y="128"/>
                  </a:lnTo>
                  <a:lnTo>
                    <a:pt x="116" y="23"/>
                  </a:lnTo>
                  <a:close/>
                </a:path>
              </a:pathLst>
            </a:custGeom>
            <a:solidFill>
              <a:srgbClr val="FFFF00"/>
            </a:solidFill>
            <a:ln w="6350">
              <a:solidFill>
                <a:srgbClr val="000000"/>
              </a:solidFill>
              <a:prstDash val="solid"/>
              <a:round/>
              <a:headEnd/>
              <a:tailEnd/>
            </a:ln>
          </p:spPr>
          <p:txBody>
            <a:bodyPr/>
            <a:lstStyle/>
            <a:p>
              <a:endParaRPr lang="en-MX" sz="2000"/>
            </a:p>
          </p:txBody>
        </p:sp>
        <p:sp>
          <p:nvSpPr>
            <p:cNvPr id="107554" name="Freeform 8">
              <a:extLst>
                <a:ext uri="{FF2B5EF4-FFF2-40B4-BE49-F238E27FC236}">
                  <a16:creationId xmlns:a16="http://schemas.microsoft.com/office/drawing/2014/main" id="{74ED9645-2317-1F49-8F1C-C4580E6F7A05}"/>
                </a:ext>
              </a:extLst>
            </p:cNvPr>
            <p:cNvSpPr>
              <a:spLocks/>
            </p:cNvSpPr>
            <p:nvPr/>
          </p:nvSpPr>
          <p:spPr bwMode="auto">
            <a:xfrm>
              <a:off x="1564" y="1969"/>
              <a:ext cx="663" cy="467"/>
            </a:xfrm>
            <a:custGeom>
              <a:avLst/>
              <a:gdLst>
                <a:gd name="T0" fmla="*/ 1156508 w 149"/>
                <a:gd name="T1" fmla="*/ 426527 h 105"/>
                <a:gd name="T2" fmla="*/ 900047 w 149"/>
                <a:gd name="T3" fmla="*/ 0 h 105"/>
                <a:gd name="T4" fmla="*/ 0 w 149"/>
                <a:gd name="T5" fmla="*/ 812753 h 105"/>
                <a:gd name="T6" fmla="*/ 1156508 w 149"/>
                <a:gd name="T7" fmla="*/ 426527 h 105"/>
                <a:gd name="T8" fmla="*/ 0 60000 65536"/>
                <a:gd name="T9" fmla="*/ 0 60000 65536"/>
                <a:gd name="T10" fmla="*/ 0 60000 65536"/>
                <a:gd name="T11" fmla="*/ 0 60000 65536"/>
                <a:gd name="T12" fmla="*/ 0 w 149"/>
                <a:gd name="T13" fmla="*/ 0 h 105"/>
                <a:gd name="T14" fmla="*/ 149 w 149"/>
                <a:gd name="T15" fmla="*/ 105 h 105"/>
              </a:gdLst>
              <a:ahLst/>
              <a:cxnLst>
                <a:cxn ang="T8">
                  <a:pos x="T0" y="T1"/>
                </a:cxn>
                <a:cxn ang="T9">
                  <a:pos x="T2" y="T3"/>
                </a:cxn>
                <a:cxn ang="T10">
                  <a:pos x="T4" y="T5"/>
                </a:cxn>
                <a:cxn ang="T11">
                  <a:pos x="T6" y="T7"/>
                </a:cxn>
              </a:cxnLst>
              <a:rect l="T12" t="T13" r="T14" b="T15"/>
              <a:pathLst>
                <a:path w="149" h="105">
                  <a:moveTo>
                    <a:pt x="149" y="55"/>
                  </a:moveTo>
                  <a:cubicBezTo>
                    <a:pt x="142" y="35"/>
                    <a:pt x="131" y="16"/>
                    <a:pt x="116" y="0"/>
                  </a:cubicBezTo>
                  <a:lnTo>
                    <a:pt x="0" y="105"/>
                  </a:lnTo>
                  <a:lnTo>
                    <a:pt x="149" y="55"/>
                  </a:lnTo>
                  <a:close/>
                </a:path>
              </a:pathLst>
            </a:custGeom>
            <a:solidFill>
              <a:srgbClr val="FF0000"/>
            </a:solidFill>
            <a:ln w="6350">
              <a:solidFill>
                <a:srgbClr val="000000"/>
              </a:solidFill>
              <a:prstDash val="solid"/>
              <a:round/>
              <a:headEnd/>
              <a:tailEnd/>
            </a:ln>
          </p:spPr>
          <p:txBody>
            <a:bodyPr/>
            <a:lstStyle/>
            <a:p>
              <a:endParaRPr lang="en-MX" sz="2000"/>
            </a:p>
          </p:txBody>
        </p:sp>
        <p:sp>
          <p:nvSpPr>
            <p:cNvPr id="107555" name="Freeform 9">
              <a:extLst>
                <a:ext uri="{FF2B5EF4-FFF2-40B4-BE49-F238E27FC236}">
                  <a16:creationId xmlns:a16="http://schemas.microsoft.com/office/drawing/2014/main" id="{68285A8A-9ADA-D641-946F-CDA85B51DBB9}"/>
                </a:ext>
              </a:extLst>
            </p:cNvPr>
            <p:cNvSpPr>
              <a:spLocks/>
            </p:cNvSpPr>
            <p:nvPr/>
          </p:nvSpPr>
          <p:spPr bwMode="auto">
            <a:xfrm>
              <a:off x="1564" y="2213"/>
              <a:ext cx="694" cy="223"/>
            </a:xfrm>
            <a:custGeom>
              <a:avLst/>
              <a:gdLst>
                <a:gd name="T0" fmla="*/ 1209117 w 156"/>
                <a:gd name="T1" fmla="*/ 259585 h 50"/>
                <a:gd name="T2" fmla="*/ 1155065 w 156"/>
                <a:gd name="T3" fmla="*/ 0 h 50"/>
                <a:gd name="T4" fmla="*/ 0 w 156"/>
                <a:gd name="T5" fmla="*/ 393715 h 50"/>
                <a:gd name="T6" fmla="*/ 1209117 w 156"/>
                <a:gd name="T7" fmla="*/ 259585 h 50"/>
                <a:gd name="T8" fmla="*/ 0 60000 65536"/>
                <a:gd name="T9" fmla="*/ 0 60000 65536"/>
                <a:gd name="T10" fmla="*/ 0 60000 65536"/>
                <a:gd name="T11" fmla="*/ 0 60000 65536"/>
                <a:gd name="T12" fmla="*/ 0 w 156"/>
                <a:gd name="T13" fmla="*/ 0 h 50"/>
                <a:gd name="T14" fmla="*/ 156 w 156"/>
                <a:gd name="T15" fmla="*/ 50 h 50"/>
              </a:gdLst>
              <a:ahLst/>
              <a:cxnLst>
                <a:cxn ang="T8">
                  <a:pos x="T0" y="T1"/>
                </a:cxn>
                <a:cxn ang="T9">
                  <a:pos x="T2" y="T3"/>
                </a:cxn>
                <a:cxn ang="T10">
                  <a:pos x="T4" y="T5"/>
                </a:cxn>
                <a:cxn ang="T11">
                  <a:pos x="T6" y="T7"/>
                </a:cxn>
              </a:cxnLst>
              <a:rect l="T12" t="T13" r="T14" b="T15"/>
              <a:pathLst>
                <a:path w="156" h="50">
                  <a:moveTo>
                    <a:pt x="156" y="33"/>
                  </a:moveTo>
                  <a:cubicBezTo>
                    <a:pt x="155" y="22"/>
                    <a:pt x="152" y="11"/>
                    <a:pt x="149" y="0"/>
                  </a:cubicBezTo>
                  <a:lnTo>
                    <a:pt x="0" y="50"/>
                  </a:lnTo>
                  <a:lnTo>
                    <a:pt x="156" y="33"/>
                  </a:lnTo>
                  <a:close/>
                </a:path>
              </a:pathLst>
            </a:custGeom>
            <a:solidFill>
              <a:srgbClr val="FFFF00"/>
            </a:solidFill>
            <a:ln w="6350">
              <a:solidFill>
                <a:srgbClr val="000000"/>
              </a:solidFill>
              <a:prstDash val="solid"/>
              <a:round/>
              <a:headEnd/>
              <a:tailEnd/>
            </a:ln>
          </p:spPr>
          <p:txBody>
            <a:bodyPr/>
            <a:lstStyle/>
            <a:p>
              <a:endParaRPr lang="en-MX" sz="2000"/>
            </a:p>
          </p:txBody>
        </p:sp>
        <p:sp>
          <p:nvSpPr>
            <p:cNvPr id="107556" name="Freeform 10">
              <a:extLst>
                <a:ext uri="{FF2B5EF4-FFF2-40B4-BE49-F238E27FC236}">
                  <a16:creationId xmlns:a16="http://schemas.microsoft.com/office/drawing/2014/main" id="{F0350898-213A-E54F-9965-3712210ED19F}"/>
                </a:ext>
              </a:extLst>
            </p:cNvPr>
            <p:cNvSpPr>
              <a:spLocks/>
            </p:cNvSpPr>
            <p:nvPr/>
          </p:nvSpPr>
          <p:spPr bwMode="auto">
            <a:xfrm>
              <a:off x="1564" y="2360"/>
              <a:ext cx="698" cy="294"/>
            </a:xfrm>
            <a:custGeom>
              <a:avLst/>
              <a:gdLst>
                <a:gd name="T0" fmla="*/ 1149770 w 157"/>
                <a:gd name="T1" fmla="*/ 515761 h 66"/>
                <a:gd name="T2" fmla="*/ 1212328 w 157"/>
                <a:gd name="T3" fmla="*/ 133463 h 66"/>
                <a:gd name="T4" fmla="*/ 1205210 w 157"/>
                <a:gd name="T5" fmla="*/ 0 h 66"/>
                <a:gd name="T6" fmla="*/ 0 w 157"/>
                <a:gd name="T7" fmla="*/ 133463 h 66"/>
                <a:gd name="T8" fmla="*/ 1149770 w 157"/>
                <a:gd name="T9" fmla="*/ 515761 h 66"/>
                <a:gd name="T10" fmla="*/ 0 60000 65536"/>
                <a:gd name="T11" fmla="*/ 0 60000 65536"/>
                <a:gd name="T12" fmla="*/ 0 60000 65536"/>
                <a:gd name="T13" fmla="*/ 0 60000 65536"/>
                <a:gd name="T14" fmla="*/ 0 60000 65536"/>
                <a:gd name="T15" fmla="*/ 0 w 157"/>
                <a:gd name="T16" fmla="*/ 0 h 66"/>
                <a:gd name="T17" fmla="*/ 157 w 157"/>
                <a:gd name="T18" fmla="*/ 66 h 66"/>
              </a:gdLst>
              <a:ahLst/>
              <a:cxnLst>
                <a:cxn ang="T10">
                  <a:pos x="T0" y="T1"/>
                </a:cxn>
                <a:cxn ang="T11">
                  <a:pos x="T2" y="T3"/>
                </a:cxn>
                <a:cxn ang="T12">
                  <a:pos x="T4" y="T5"/>
                </a:cxn>
                <a:cxn ang="T13">
                  <a:pos x="T6" y="T7"/>
                </a:cxn>
                <a:cxn ang="T14">
                  <a:pos x="T8" y="T9"/>
                </a:cxn>
              </a:cxnLst>
              <a:rect l="T15" t="T16" r="T17" b="T18"/>
              <a:pathLst>
                <a:path w="157" h="66">
                  <a:moveTo>
                    <a:pt x="149" y="66"/>
                  </a:moveTo>
                  <a:cubicBezTo>
                    <a:pt x="154" y="50"/>
                    <a:pt x="157" y="33"/>
                    <a:pt x="157" y="17"/>
                  </a:cubicBezTo>
                  <a:cubicBezTo>
                    <a:pt x="157" y="11"/>
                    <a:pt x="156" y="6"/>
                    <a:pt x="156" y="0"/>
                  </a:cubicBezTo>
                  <a:lnTo>
                    <a:pt x="0" y="17"/>
                  </a:lnTo>
                  <a:lnTo>
                    <a:pt x="149" y="66"/>
                  </a:lnTo>
                  <a:close/>
                </a:path>
              </a:pathLst>
            </a:custGeom>
            <a:solidFill>
              <a:srgbClr val="FF0000"/>
            </a:solidFill>
            <a:ln w="6350">
              <a:solidFill>
                <a:srgbClr val="000000"/>
              </a:solidFill>
              <a:prstDash val="solid"/>
              <a:round/>
              <a:headEnd/>
              <a:tailEnd/>
            </a:ln>
          </p:spPr>
          <p:txBody>
            <a:bodyPr/>
            <a:lstStyle/>
            <a:p>
              <a:endParaRPr lang="en-MX" sz="2000"/>
            </a:p>
          </p:txBody>
        </p:sp>
        <p:sp>
          <p:nvSpPr>
            <p:cNvPr id="107557" name="Freeform 11">
              <a:extLst>
                <a:ext uri="{FF2B5EF4-FFF2-40B4-BE49-F238E27FC236}">
                  <a16:creationId xmlns:a16="http://schemas.microsoft.com/office/drawing/2014/main" id="{0BAB9CCD-F7E5-4D47-B5D0-8025FE6BC1B5}"/>
                </a:ext>
              </a:extLst>
            </p:cNvPr>
            <p:cNvSpPr>
              <a:spLocks/>
            </p:cNvSpPr>
            <p:nvPr/>
          </p:nvSpPr>
          <p:spPr bwMode="auto">
            <a:xfrm>
              <a:off x="1564" y="2436"/>
              <a:ext cx="663" cy="347"/>
            </a:xfrm>
            <a:custGeom>
              <a:avLst/>
              <a:gdLst>
                <a:gd name="T0" fmla="*/ 1048225 w 149"/>
                <a:gd name="T1" fmla="*/ 604777 h 78"/>
                <a:gd name="T2" fmla="*/ 1156508 w 149"/>
                <a:gd name="T3" fmla="*/ 379912 h 78"/>
                <a:gd name="T4" fmla="*/ 0 w 149"/>
                <a:gd name="T5" fmla="*/ 0 h 78"/>
                <a:gd name="T6" fmla="*/ 1048225 w 149"/>
                <a:gd name="T7" fmla="*/ 604777 h 78"/>
                <a:gd name="T8" fmla="*/ 0 60000 65536"/>
                <a:gd name="T9" fmla="*/ 0 60000 65536"/>
                <a:gd name="T10" fmla="*/ 0 60000 65536"/>
                <a:gd name="T11" fmla="*/ 0 60000 65536"/>
                <a:gd name="T12" fmla="*/ 0 w 149"/>
                <a:gd name="T13" fmla="*/ 0 h 78"/>
                <a:gd name="T14" fmla="*/ 149 w 149"/>
                <a:gd name="T15" fmla="*/ 78 h 78"/>
              </a:gdLst>
              <a:ahLst/>
              <a:cxnLst>
                <a:cxn ang="T8">
                  <a:pos x="T0" y="T1"/>
                </a:cxn>
                <a:cxn ang="T9">
                  <a:pos x="T2" y="T3"/>
                </a:cxn>
                <a:cxn ang="T10">
                  <a:pos x="T4" y="T5"/>
                </a:cxn>
                <a:cxn ang="T11">
                  <a:pos x="T6" y="T7"/>
                </a:cxn>
              </a:cxnLst>
              <a:rect l="T12" t="T13" r="T14" b="T15"/>
              <a:pathLst>
                <a:path w="149" h="78">
                  <a:moveTo>
                    <a:pt x="135" y="78"/>
                  </a:moveTo>
                  <a:cubicBezTo>
                    <a:pt x="141" y="69"/>
                    <a:pt x="145" y="59"/>
                    <a:pt x="149" y="49"/>
                  </a:cubicBezTo>
                  <a:lnTo>
                    <a:pt x="0" y="0"/>
                  </a:lnTo>
                  <a:lnTo>
                    <a:pt x="135" y="78"/>
                  </a:lnTo>
                  <a:close/>
                </a:path>
              </a:pathLst>
            </a:custGeom>
            <a:solidFill>
              <a:srgbClr val="FFFF00"/>
            </a:solidFill>
            <a:ln w="6350">
              <a:solidFill>
                <a:srgbClr val="000000"/>
              </a:solidFill>
              <a:prstDash val="solid"/>
              <a:round/>
              <a:headEnd/>
              <a:tailEnd/>
            </a:ln>
          </p:spPr>
          <p:txBody>
            <a:bodyPr/>
            <a:lstStyle/>
            <a:p>
              <a:endParaRPr lang="en-MX" sz="2000"/>
            </a:p>
          </p:txBody>
        </p:sp>
        <p:sp>
          <p:nvSpPr>
            <p:cNvPr id="107558" name="Freeform 12">
              <a:extLst>
                <a:ext uri="{FF2B5EF4-FFF2-40B4-BE49-F238E27FC236}">
                  <a16:creationId xmlns:a16="http://schemas.microsoft.com/office/drawing/2014/main" id="{2F4B686A-0A63-6846-A335-53CBA43AF67E}"/>
                </a:ext>
              </a:extLst>
            </p:cNvPr>
            <p:cNvSpPr>
              <a:spLocks/>
            </p:cNvSpPr>
            <p:nvPr/>
          </p:nvSpPr>
          <p:spPr bwMode="auto">
            <a:xfrm>
              <a:off x="1564" y="2436"/>
              <a:ext cx="601" cy="565"/>
            </a:xfrm>
            <a:custGeom>
              <a:avLst/>
              <a:gdLst>
                <a:gd name="T0" fmla="*/ 716873 w 135"/>
                <a:gd name="T1" fmla="*/ 984768 h 127"/>
                <a:gd name="T2" fmla="*/ 1051100 w 135"/>
                <a:gd name="T3" fmla="*/ 604821 h 127"/>
                <a:gd name="T4" fmla="*/ 0 w 135"/>
                <a:gd name="T5" fmla="*/ 0 h 127"/>
                <a:gd name="T6" fmla="*/ 716873 w 135"/>
                <a:gd name="T7" fmla="*/ 984768 h 127"/>
                <a:gd name="T8" fmla="*/ 0 60000 65536"/>
                <a:gd name="T9" fmla="*/ 0 60000 65536"/>
                <a:gd name="T10" fmla="*/ 0 60000 65536"/>
                <a:gd name="T11" fmla="*/ 0 60000 65536"/>
                <a:gd name="T12" fmla="*/ 0 w 135"/>
                <a:gd name="T13" fmla="*/ 0 h 127"/>
                <a:gd name="T14" fmla="*/ 135 w 135"/>
                <a:gd name="T15" fmla="*/ 127 h 127"/>
              </a:gdLst>
              <a:ahLst/>
              <a:cxnLst>
                <a:cxn ang="T8">
                  <a:pos x="T0" y="T1"/>
                </a:cxn>
                <a:cxn ang="T9">
                  <a:pos x="T2" y="T3"/>
                </a:cxn>
                <a:cxn ang="T10">
                  <a:pos x="T4" y="T5"/>
                </a:cxn>
                <a:cxn ang="T11">
                  <a:pos x="T6" y="T7"/>
                </a:cxn>
              </a:cxnLst>
              <a:rect l="T12" t="T13" r="T14" b="T15"/>
              <a:pathLst>
                <a:path w="135" h="127">
                  <a:moveTo>
                    <a:pt x="92" y="127"/>
                  </a:moveTo>
                  <a:cubicBezTo>
                    <a:pt x="109" y="114"/>
                    <a:pt x="124" y="97"/>
                    <a:pt x="135" y="78"/>
                  </a:cubicBezTo>
                  <a:lnTo>
                    <a:pt x="0" y="0"/>
                  </a:lnTo>
                  <a:lnTo>
                    <a:pt x="92" y="127"/>
                  </a:lnTo>
                  <a:close/>
                </a:path>
              </a:pathLst>
            </a:custGeom>
            <a:solidFill>
              <a:srgbClr val="FF0000"/>
            </a:solidFill>
            <a:ln w="6350">
              <a:solidFill>
                <a:srgbClr val="000000"/>
              </a:solidFill>
              <a:prstDash val="solid"/>
              <a:round/>
              <a:headEnd/>
              <a:tailEnd/>
            </a:ln>
          </p:spPr>
          <p:txBody>
            <a:bodyPr/>
            <a:lstStyle/>
            <a:p>
              <a:endParaRPr lang="en-MX" sz="2000"/>
            </a:p>
          </p:txBody>
        </p:sp>
        <p:sp>
          <p:nvSpPr>
            <p:cNvPr id="107559" name="Freeform 13">
              <a:extLst>
                <a:ext uri="{FF2B5EF4-FFF2-40B4-BE49-F238E27FC236}">
                  <a16:creationId xmlns:a16="http://schemas.microsoft.com/office/drawing/2014/main" id="{FE321A34-28BE-114F-91CA-140058BFECE9}"/>
                </a:ext>
              </a:extLst>
            </p:cNvPr>
            <p:cNvSpPr>
              <a:spLocks/>
            </p:cNvSpPr>
            <p:nvPr/>
          </p:nvSpPr>
          <p:spPr bwMode="auto">
            <a:xfrm>
              <a:off x="1564" y="2436"/>
              <a:ext cx="409" cy="636"/>
            </a:xfrm>
            <a:custGeom>
              <a:avLst/>
              <a:gdLst>
                <a:gd name="T0" fmla="*/ 494926 w 92"/>
                <a:gd name="T1" fmla="*/ 1106911 h 143"/>
                <a:gd name="T2" fmla="*/ 710113 w 92"/>
                <a:gd name="T3" fmla="*/ 983300 h 143"/>
                <a:gd name="T4" fmla="*/ 0 w 92"/>
                <a:gd name="T5" fmla="*/ 0 h 143"/>
                <a:gd name="T6" fmla="*/ 494926 w 92"/>
                <a:gd name="T7" fmla="*/ 1106911 h 143"/>
                <a:gd name="T8" fmla="*/ 0 60000 65536"/>
                <a:gd name="T9" fmla="*/ 0 60000 65536"/>
                <a:gd name="T10" fmla="*/ 0 60000 65536"/>
                <a:gd name="T11" fmla="*/ 0 60000 65536"/>
                <a:gd name="T12" fmla="*/ 0 w 92"/>
                <a:gd name="T13" fmla="*/ 0 h 143"/>
                <a:gd name="T14" fmla="*/ 92 w 92"/>
                <a:gd name="T15" fmla="*/ 143 h 143"/>
              </a:gdLst>
              <a:ahLst/>
              <a:cxnLst>
                <a:cxn ang="T8">
                  <a:pos x="T0" y="T1"/>
                </a:cxn>
                <a:cxn ang="T9">
                  <a:pos x="T2" y="T3"/>
                </a:cxn>
                <a:cxn ang="T10">
                  <a:pos x="T4" y="T5"/>
                </a:cxn>
                <a:cxn ang="T11">
                  <a:pos x="T6" y="T7"/>
                </a:cxn>
              </a:cxnLst>
              <a:rect l="T12" t="T13" r="T14" b="T15"/>
              <a:pathLst>
                <a:path w="92" h="143">
                  <a:moveTo>
                    <a:pt x="64" y="143"/>
                  </a:moveTo>
                  <a:cubicBezTo>
                    <a:pt x="73" y="138"/>
                    <a:pt x="83" y="133"/>
                    <a:pt x="92" y="127"/>
                  </a:cubicBezTo>
                  <a:lnTo>
                    <a:pt x="0" y="0"/>
                  </a:lnTo>
                  <a:lnTo>
                    <a:pt x="64" y="143"/>
                  </a:lnTo>
                  <a:close/>
                </a:path>
              </a:pathLst>
            </a:custGeom>
            <a:solidFill>
              <a:srgbClr val="FFFF00"/>
            </a:solidFill>
            <a:ln w="6350">
              <a:solidFill>
                <a:srgbClr val="000000"/>
              </a:solidFill>
              <a:prstDash val="solid"/>
              <a:round/>
              <a:headEnd/>
              <a:tailEnd/>
            </a:ln>
          </p:spPr>
          <p:txBody>
            <a:bodyPr/>
            <a:lstStyle/>
            <a:p>
              <a:endParaRPr lang="en-MX" sz="2000"/>
            </a:p>
          </p:txBody>
        </p:sp>
        <p:sp>
          <p:nvSpPr>
            <p:cNvPr id="107560" name="Freeform 14">
              <a:extLst>
                <a:ext uri="{FF2B5EF4-FFF2-40B4-BE49-F238E27FC236}">
                  <a16:creationId xmlns:a16="http://schemas.microsoft.com/office/drawing/2014/main" id="{D1B4E81E-2918-2A42-BC6F-3D7D43061D87}"/>
                </a:ext>
              </a:extLst>
            </p:cNvPr>
            <p:cNvSpPr>
              <a:spLocks/>
            </p:cNvSpPr>
            <p:nvPr/>
          </p:nvSpPr>
          <p:spPr bwMode="auto">
            <a:xfrm>
              <a:off x="1564" y="2436"/>
              <a:ext cx="285" cy="694"/>
            </a:xfrm>
            <a:custGeom>
              <a:avLst/>
              <a:gdLst>
                <a:gd name="T0" fmla="*/ 0 w 64"/>
                <a:gd name="T1" fmla="*/ 1209117 h 156"/>
                <a:gd name="T2" fmla="*/ 499031 w 64"/>
                <a:gd name="T3" fmla="*/ 1108042 h 156"/>
                <a:gd name="T4" fmla="*/ 0 w 64"/>
                <a:gd name="T5" fmla="*/ 0 h 156"/>
                <a:gd name="T6" fmla="*/ 0 w 64"/>
                <a:gd name="T7" fmla="*/ 1209117 h 156"/>
                <a:gd name="T8" fmla="*/ 0 60000 65536"/>
                <a:gd name="T9" fmla="*/ 0 60000 65536"/>
                <a:gd name="T10" fmla="*/ 0 60000 65536"/>
                <a:gd name="T11" fmla="*/ 0 60000 65536"/>
                <a:gd name="T12" fmla="*/ 0 w 64"/>
                <a:gd name="T13" fmla="*/ 0 h 156"/>
                <a:gd name="T14" fmla="*/ 64 w 64"/>
                <a:gd name="T15" fmla="*/ 156 h 156"/>
              </a:gdLst>
              <a:ahLst/>
              <a:cxnLst>
                <a:cxn ang="T8">
                  <a:pos x="T0" y="T1"/>
                </a:cxn>
                <a:cxn ang="T9">
                  <a:pos x="T2" y="T3"/>
                </a:cxn>
                <a:cxn ang="T10">
                  <a:pos x="T4" y="T5"/>
                </a:cxn>
                <a:cxn ang="T11">
                  <a:pos x="T6" y="T7"/>
                </a:cxn>
              </a:cxnLst>
              <a:rect l="T12" t="T13" r="T14" b="T15"/>
              <a:pathLst>
                <a:path w="64" h="156">
                  <a:moveTo>
                    <a:pt x="0" y="156"/>
                  </a:moveTo>
                  <a:cubicBezTo>
                    <a:pt x="22" y="156"/>
                    <a:pt x="43" y="152"/>
                    <a:pt x="64" y="143"/>
                  </a:cubicBezTo>
                  <a:lnTo>
                    <a:pt x="0" y="0"/>
                  </a:lnTo>
                  <a:lnTo>
                    <a:pt x="0" y="156"/>
                  </a:lnTo>
                  <a:close/>
                </a:path>
              </a:pathLst>
            </a:custGeom>
            <a:solidFill>
              <a:srgbClr val="FF0000"/>
            </a:solidFill>
            <a:ln w="6350">
              <a:solidFill>
                <a:srgbClr val="000000"/>
              </a:solidFill>
              <a:prstDash val="solid"/>
              <a:round/>
              <a:headEnd/>
              <a:tailEnd/>
            </a:ln>
          </p:spPr>
          <p:txBody>
            <a:bodyPr/>
            <a:lstStyle/>
            <a:p>
              <a:endParaRPr lang="en-MX" sz="2000"/>
            </a:p>
          </p:txBody>
        </p:sp>
        <p:sp>
          <p:nvSpPr>
            <p:cNvPr id="107561" name="Freeform 15">
              <a:extLst>
                <a:ext uri="{FF2B5EF4-FFF2-40B4-BE49-F238E27FC236}">
                  <a16:creationId xmlns:a16="http://schemas.microsoft.com/office/drawing/2014/main" id="{9E552978-8C88-D148-8614-AA27F8912A9A}"/>
                </a:ext>
              </a:extLst>
            </p:cNvPr>
            <p:cNvSpPr>
              <a:spLocks/>
            </p:cNvSpPr>
            <p:nvPr/>
          </p:nvSpPr>
          <p:spPr bwMode="auto">
            <a:xfrm>
              <a:off x="1418" y="2436"/>
              <a:ext cx="146" cy="694"/>
            </a:xfrm>
            <a:custGeom>
              <a:avLst/>
              <a:gdLst>
                <a:gd name="T0" fmla="*/ 0 w 33"/>
                <a:gd name="T1" fmla="*/ 1186851 h 156"/>
                <a:gd name="T2" fmla="*/ 247492 w 33"/>
                <a:gd name="T3" fmla="*/ 1209117 h 156"/>
                <a:gd name="T4" fmla="*/ 247492 w 33"/>
                <a:gd name="T5" fmla="*/ 0 h 156"/>
                <a:gd name="T6" fmla="*/ 0 w 33"/>
                <a:gd name="T7" fmla="*/ 1186851 h 156"/>
                <a:gd name="T8" fmla="*/ 0 60000 65536"/>
                <a:gd name="T9" fmla="*/ 0 60000 65536"/>
                <a:gd name="T10" fmla="*/ 0 60000 65536"/>
                <a:gd name="T11" fmla="*/ 0 60000 65536"/>
                <a:gd name="T12" fmla="*/ 0 w 33"/>
                <a:gd name="T13" fmla="*/ 0 h 156"/>
                <a:gd name="T14" fmla="*/ 33 w 33"/>
                <a:gd name="T15" fmla="*/ 156 h 156"/>
              </a:gdLst>
              <a:ahLst/>
              <a:cxnLst>
                <a:cxn ang="T8">
                  <a:pos x="T0" y="T1"/>
                </a:cxn>
                <a:cxn ang="T9">
                  <a:pos x="T2" y="T3"/>
                </a:cxn>
                <a:cxn ang="T10">
                  <a:pos x="T4" y="T5"/>
                </a:cxn>
                <a:cxn ang="T11">
                  <a:pos x="T6" y="T7"/>
                </a:cxn>
              </a:cxnLst>
              <a:rect l="T12" t="T13" r="T14" b="T15"/>
              <a:pathLst>
                <a:path w="33" h="156">
                  <a:moveTo>
                    <a:pt x="0" y="153"/>
                  </a:moveTo>
                  <a:cubicBezTo>
                    <a:pt x="10" y="155"/>
                    <a:pt x="21" y="156"/>
                    <a:pt x="33" y="156"/>
                  </a:cubicBezTo>
                  <a:lnTo>
                    <a:pt x="33" y="0"/>
                  </a:lnTo>
                  <a:lnTo>
                    <a:pt x="0" y="153"/>
                  </a:lnTo>
                  <a:close/>
                </a:path>
              </a:pathLst>
            </a:custGeom>
            <a:solidFill>
              <a:srgbClr val="FFFF00"/>
            </a:solidFill>
            <a:ln w="6350">
              <a:solidFill>
                <a:srgbClr val="000000"/>
              </a:solidFill>
              <a:prstDash val="solid"/>
              <a:round/>
              <a:headEnd/>
              <a:tailEnd/>
            </a:ln>
          </p:spPr>
          <p:txBody>
            <a:bodyPr/>
            <a:lstStyle/>
            <a:p>
              <a:endParaRPr lang="en-MX" sz="2000"/>
            </a:p>
          </p:txBody>
        </p:sp>
        <p:sp>
          <p:nvSpPr>
            <p:cNvPr id="107562" name="Freeform 16">
              <a:extLst>
                <a:ext uri="{FF2B5EF4-FFF2-40B4-BE49-F238E27FC236}">
                  <a16:creationId xmlns:a16="http://schemas.microsoft.com/office/drawing/2014/main" id="{A489A8DC-7631-9F40-9745-B7415225EFA4}"/>
                </a:ext>
              </a:extLst>
            </p:cNvPr>
            <p:cNvSpPr>
              <a:spLocks/>
            </p:cNvSpPr>
            <p:nvPr/>
          </p:nvSpPr>
          <p:spPr bwMode="auto">
            <a:xfrm>
              <a:off x="1151" y="2436"/>
              <a:ext cx="413" cy="680"/>
            </a:xfrm>
            <a:custGeom>
              <a:avLst/>
              <a:gdLst>
                <a:gd name="T0" fmla="*/ 0 w 93"/>
                <a:gd name="T1" fmla="*/ 978173 h 153"/>
                <a:gd name="T2" fmla="*/ 459349 w 93"/>
                <a:gd name="T3" fmla="*/ 1179120 h 153"/>
                <a:gd name="T4" fmla="*/ 713335 w 93"/>
                <a:gd name="T5" fmla="*/ 0 h 153"/>
                <a:gd name="T6" fmla="*/ 0 w 93"/>
                <a:gd name="T7" fmla="*/ 978173 h 153"/>
                <a:gd name="T8" fmla="*/ 0 60000 65536"/>
                <a:gd name="T9" fmla="*/ 0 60000 65536"/>
                <a:gd name="T10" fmla="*/ 0 60000 65536"/>
                <a:gd name="T11" fmla="*/ 0 60000 65536"/>
                <a:gd name="T12" fmla="*/ 0 w 93"/>
                <a:gd name="T13" fmla="*/ 0 h 153"/>
                <a:gd name="T14" fmla="*/ 93 w 93"/>
                <a:gd name="T15" fmla="*/ 153 h 153"/>
              </a:gdLst>
              <a:ahLst/>
              <a:cxnLst>
                <a:cxn ang="T8">
                  <a:pos x="T0" y="T1"/>
                </a:cxn>
                <a:cxn ang="T9">
                  <a:pos x="T2" y="T3"/>
                </a:cxn>
                <a:cxn ang="T10">
                  <a:pos x="T4" y="T5"/>
                </a:cxn>
                <a:cxn ang="T11">
                  <a:pos x="T6" y="T7"/>
                </a:cxn>
              </a:cxnLst>
              <a:rect l="T12" t="T13" r="T14" b="T15"/>
              <a:pathLst>
                <a:path w="93" h="153">
                  <a:moveTo>
                    <a:pt x="0" y="127"/>
                  </a:moveTo>
                  <a:cubicBezTo>
                    <a:pt x="18" y="139"/>
                    <a:pt x="38" y="148"/>
                    <a:pt x="60" y="153"/>
                  </a:cubicBezTo>
                  <a:lnTo>
                    <a:pt x="93" y="0"/>
                  </a:lnTo>
                  <a:lnTo>
                    <a:pt x="0" y="127"/>
                  </a:lnTo>
                  <a:close/>
                </a:path>
              </a:pathLst>
            </a:custGeom>
            <a:solidFill>
              <a:srgbClr val="FF0000"/>
            </a:solidFill>
            <a:ln w="6350">
              <a:solidFill>
                <a:srgbClr val="000000"/>
              </a:solidFill>
              <a:prstDash val="solid"/>
              <a:round/>
              <a:headEnd/>
              <a:tailEnd/>
            </a:ln>
          </p:spPr>
          <p:txBody>
            <a:bodyPr/>
            <a:lstStyle/>
            <a:p>
              <a:endParaRPr lang="en-MX" sz="2000"/>
            </a:p>
          </p:txBody>
        </p:sp>
        <p:sp>
          <p:nvSpPr>
            <p:cNvPr id="107563" name="Freeform 17">
              <a:extLst>
                <a:ext uri="{FF2B5EF4-FFF2-40B4-BE49-F238E27FC236}">
                  <a16:creationId xmlns:a16="http://schemas.microsoft.com/office/drawing/2014/main" id="{EADE06F5-9C9E-5D4A-A580-1007420EE20C}"/>
                </a:ext>
              </a:extLst>
            </p:cNvPr>
            <p:cNvSpPr>
              <a:spLocks/>
            </p:cNvSpPr>
            <p:nvPr/>
          </p:nvSpPr>
          <p:spPr bwMode="auto">
            <a:xfrm>
              <a:off x="1044" y="2436"/>
              <a:ext cx="520" cy="565"/>
            </a:xfrm>
            <a:custGeom>
              <a:avLst/>
              <a:gdLst>
                <a:gd name="T0" fmla="*/ 0 w 117"/>
                <a:gd name="T1" fmla="*/ 806980 h 127"/>
                <a:gd name="T2" fmla="*/ 185760 w 117"/>
                <a:gd name="T3" fmla="*/ 984768 h 127"/>
                <a:gd name="T4" fmla="*/ 901707 w 117"/>
                <a:gd name="T5" fmla="*/ 0 h 127"/>
                <a:gd name="T6" fmla="*/ 0 w 117"/>
                <a:gd name="T7" fmla="*/ 806980 h 127"/>
                <a:gd name="T8" fmla="*/ 0 60000 65536"/>
                <a:gd name="T9" fmla="*/ 0 60000 65536"/>
                <a:gd name="T10" fmla="*/ 0 60000 65536"/>
                <a:gd name="T11" fmla="*/ 0 60000 65536"/>
                <a:gd name="T12" fmla="*/ 0 w 117"/>
                <a:gd name="T13" fmla="*/ 0 h 127"/>
                <a:gd name="T14" fmla="*/ 117 w 117"/>
                <a:gd name="T15" fmla="*/ 127 h 127"/>
              </a:gdLst>
              <a:ahLst/>
              <a:cxnLst>
                <a:cxn ang="T8">
                  <a:pos x="T0" y="T1"/>
                </a:cxn>
                <a:cxn ang="T9">
                  <a:pos x="T2" y="T3"/>
                </a:cxn>
                <a:cxn ang="T10">
                  <a:pos x="T4" y="T5"/>
                </a:cxn>
                <a:cxn ang="T11">
                  <a:pos x="T6" y="T7"/>
                </a:cxn>
              </a:cxnLst>
              <a:rect l="T12" t="T13" r="T14" b="T15"/>
              <a:pathLst>
                <a:path w="117" h="127">
                  <a:moveTo>
                    <a:pt x="0" y="104"/>
                  </a:moveTo>
                  <a:cubicBezTo>
                    <a:pt x="7" y="113"/>
                    <a:pt x="15" y="120"/>
                    <a:pt x="24" y="127"/>
                  </a:cubicBezTo>
                  <a:lnTo>
                    <a:pt x="117" y="0"/>
                  </a:lnTo>
                  <a:lnTo>
                    <a:pt x="0" y="104"/>
                  </a:lnTo>
                  <a:close/>
                </a:path>
              </a:pathLst>
            </a:custGeom>
            <a:solidFill>
              <a:srgbClr val="FFFF00"/>
            </a:solidFill>
            <a:ln w="6350">
              <a:solidFill>
                <a:srgbClr val="000000"/>
              </a:solidFill>
              <a:prstDash val="solid"/>
              <a:round/>
              <a:headEnd/>
              <a:tailEnd/>
            </a:ln>
          </p:spPr>
          <p:txBody>
            <a:bodyPr/>
            <a:lstStyle/>
            <a:p>
              <a:endParaRPr lang="en-MX" sz="2000"/>
            </a:p>
          </p:txBody>
        </p:sp>
        <p:sp>
          <p:nvSpPr>
            <p:cNvPr id="107564" name="Freeform 18">
              <a:extLst>
                <a:ext uri="{FF2B5EF4-FFF2-40B4-BE49-F238E27FC236}">
                  <a16:creationId xmlns:a16="http://schemas.microsoft.com/office/drawing/2014/main" id="{408A7584-03C6-C147-8AF5-0F2BB1193A7E}"/>
                </a:ext>
              </a:extLst>
            </p:cNvPr>
            <p:cNvSpPr>
              <a:spLocks/>
            </p:cNvSpPr>
            <p:nvPr/>
          </p:nvSpPr>
          <p:spPr bwMode="auto">
            <a:xfrm>
              <a:off x="897" y="2436"/>
              <a:ext cx="667" cy="462"/>
            </a:xfrm>
            <a:custGeom>
              <a:avLst/>
              <a:gdLst>
                <a:gd name="T0" fmla="*/ 0 w 150"/>
                <a:gd name="T1" fmla="*/ 376961 h 104"/>
                <a:gd name="T2" fmla="*/ 255683 w 150"/>
                <a:gd name="T3" fmla="*/ 799153 h 104"/>
                <a:gd name="T4" fmla="*/ 1159620 w 150"/>
                <a:gd name="T5" fmla="*/ 0 h 104"/>
                <a:gd name="T6" fmla="*/ 0 w 150"/>
                <a:gd name="T7" fmla="*/ 376961 h 104"/>
                <a:gd name="T8" fmla="*/ 0 60000 65536"/>
                <a:gd name="T9" fmla="*/ 0 60000 65536"/>
                <a:gd name="T10" fmla="*/ 0 60000 65536"/>
                <a:gd name="T11" fmla="*/ 0 60000 65536"/>
                <a:gd name="T12" fmla="*/ 0 w 150"/>
                <a:gd name="T13" fmla="*/ 0 h 104"/>
                <a:gd name="T14" fmla="*/ 150 w 150"/>
                <a:gd name="T15" fmla="*/ 104 h 104"/>
              </a:gdLst>
              <a:ahLst/>
              <a:cxnLst>
                <a:cxn ang="T8">
                  <a:pos x="T0" y="T1"/>
                </a:cxn>
                <a:cxn ang="T9">
                  <a:pos x="T2" y="T3"/>
                </a:cxn>
                <a:cxn ang="T10">
                  <a:pos x="T4" y="T5"/>
                </a:cxn>
                <a:cxn ang="T11">
                  <a:pos x="T6" y="T7"/>
                </a:cxn>
              </a:cxnLst>
              <a:rect l="T12" t="T13" r="T14" b="T15"/>
              <a:pathLst>
                <a:path w="150" h="104">
                  <a:moveTo>
                    <a:pt x="0" y="49"/>
                  </a:moveTo>
                  <a:cubicBezTo>
                    <a:pt x="7" y="69"/>
                    <a:pt x="18" y="88"/>
                    <a:pt x="33" y="104"/>
                  </a:cubicBezTo>
                  <a:lnTo>
                    <a:pt x="150" y="0"/>
                  </a:lnTo>
                  <a:lnTo>
                    <a:pt x="0" y="49"/>
                  </a:lnTo>
                  <a:close/>
                </a:path>
              </a:pathLst>
            </a:custGeom>
            <a:solidFill>
              <a:srgbClr val="FF0000"/>
            </a:solidFill>
            <a:ln w="6350">
              <a:solidFill>
                <a:srgbClr val="000000"/>
              </a:solidFill>
              <a:prstDash val="solid"/>
              <a:round/>
              <a:headEnd/>
              <a:tailEnd/>
            </a:ln>
          </p:spPr>
          <p:txBody>
            <a:bodyPr/>
            <a:lstStyle/>
            <a:p>
              <a:endParaRPr lang="en-MX" sz="2000"/>
            </a:p>
          </p:txBody>
        </p:sp>
        <p:sp>
          <p:nvSpPr>
            <p:cNvPr id="107565" name="Freeform 19">
              <a:extLst>
                <a:ext uri="{FF2B5EF4-FFF2-40B4-BE49-F238E27FC236}">
                  <a16:creationId xmlns:a16="http://schemas.microsoft.com/office/drawing/2014/main" id="{1E1CF710-6AEC-A141-AE80-94E02857763D}"/>
                </a:ext>
              </a:extLst>
            </p:cNvPr>
            <p:cNvSpPr>
              <a:spLocks/>
            </p:cNvSpPr>
            <p:nvPr/>
          </p:nvSpPr>
          <p:spPr bwMode="auto">
            <a:xfrm>
              <a:off x="866" y="2436"/>
              <a:ext cx="698" cy="218"/>
            </a:xfrm>
            <a:custGeom>
              <a:avLst/>
              <a:gdLst>
                <a:gd name="T0" fmla="*/ 0 w 157"/>
                <a:gd name="T1" fmla="*/ 123806 h 49"/>
                <a:gd name="T2" fmla="*/ 53959 w 157"/>
                <a:gd name="T3" fmla="*/ 380072 h 49"/>
                <a:gd name="T4" fmla="*/ 1212328 w 157"/>
                <a:gd name="T5" fmla="*/ 0 h 49"/>
                <a:gd name="T6" fmla="*/ 0 w 157"/>
                <a:gd name="T7" fmla="*/ 123806 h 49"/>
                <a:gd name="T8" fmla="*/ 0 60000 65536"/>
                <a:gd name="T9" fmla="*/ 0 60000 65536"/>
                <a:gd name="T10" fmla="*/ 0 60000 65536"/>
                <a:gd name="T11" fmla="*/ 0 60000 65536"/>
                <a:gd name="T12" fmla="*/ 0 w 157"/>
                <a:gd name="T13" fmla="*/ 0 h 49"/>
                <a:gd name="T14" fmla="*/ 157 w 157"/>
                <a:gd name="T15" fmla="*/ 49 h 49"/>
              </a:gdLst>
              <a:ahLst/>
              <a:cxnLst>
                <a:cxn ang="T8">
                  <a:pos x="T0" y="T1"/>
                </a:cxn>
                <a:cxn ang="T9">
                  <a:pos x="T2" y="T3"/>
                </a:cxn>
                <a:cxn ang="T10">
                  <a:pos x="T4" y="T5"/>
                </a:cxn>
                <a:cxn ang="T11">
                  <a:pos x="T6" y="T7"/>
                </a:cxn>
              </a:cxnLst>
              <a:rect l="T12" t="T13" r="T14" b="T15"/>
              <a:pathLst>
                <a:path w="157" h="49">
                  <a:moveTo>
                    <a:pt x="0" y="16"/>
                  </a:moveTo>
                  <a:cubicBezTo>
                    <a:pt x="1" y="27"/>
                    <a:pt x="4" y="38"/>
                    <a:pt x="7" y="49"/>
                  </a:cubicBezTo>
                  <a:lnTo>
                    <a:pt x="157" y="0"/>
                  </a:lnTo>
                  <a:lnTo>
                    <a:pt x="0" y="16"/>
                  </a:lnTo>
                  <a:close/>
                </a:path>
              </a:pathLst>
            </a:custGeom>
            <a:solidFill>
              <a:srgbClr val="FFFF00"/>
            </a:solidFill>
            <a:ln w="6350">
              <a:solidFill>
                <a:srgbClr val="000000"/>
              </a:solidFill>
              <a:prstDash val="solid"/>
              <a:round/>
              <a:headEnd/>
              <a:tailEnd/>
            </a:ln>
          </p:spPr>
          <p:txBody>
            <a:bodyPr/>
            <a:lstStyle/>
            <a:p>
              <a:endParaRPr lang="en-MX" sz="2000"/>
            </a:p>
          </p:txBody>
        </p:sp>
        <p:sp>
          <p:nvSpPr>
            <p:cNvPr id="107566" name="Freeform 20">
              <a:extLst>
                <a:ext uri="{FF2B5EF4-FFF2-40B4-BE49-F238E27FC236}">
                  <a16:creationId xmlns:a16="http://schemas.microsoft.com/office/drawing/2014/main" id="{AE3233C2-683F-E940-A28F-379E98B5110D}"/>
                </a:ext>
              </a:extLst>
            </p:cNvPr>
            <p:cNvSpPr>
              <a:spLocks/>
            </p:cNvSpPr>
            <p:nvPr/>
          </p:nvSpPr>
          <p:spPr bwMode="auto">
            <a:xfrm>
              <a:off x="862" y="2213"/>
              <a:ext cx="702" cy="294"/>
            </a:xfrm>
            <a:custGeom>
              <a:avLst/>
              <a:gdLst>
                <a:gd name="T0" fmla="*/ 62362 w 158"/>
                <a:gd name="T1" fmla="*/ 0 h 66"/>
                <a:gd name="T2" fmla="*/ 7007 w 158"/>
                <a:gd name="T3" fmla="*/ 382294 h 66"/>
                <a:gd name="T4" fmla="*/ 7007 w 158"/>
                <a:gd name="T5" fmla="*/ 515761 h 66"/>
                <a:gd name="T6" fmla="*/ 1215469 w 158"/>
                <a:gd name="T7" fmla="*/ 390944 h 66"/>
                <a:gd name="T8" fmla="*/ 62362 w 158"/>
                <a:gd name="T9" fmla="*/ 0 h 66"/>
                <a:gd name="T10" fmla="*/ 0 60000 65536"/>
                <a:gd name="T11" fmla="*/ 0 60000 65536"/>
                <a:gd name="T12" fmla="*/ 0 60000 65536"/>
                <a:gd name="T13" fmla="*/ 0 60000 65536"/>
                <a:gd name="T14" fmla="*/ 0 60000 65536"/>
                <a:gd name="T15" fmla="*/ 0 w 158"/>
                <a:gd name="T16" fmla="*/ 0 h 66"/>
                <a:gd name="T17" fmla="*/ 158 w 158"/>
                <a:gd name="T18" fmla="*/ 66 h 66"/>
              </a:gdLst>
              <a:ahLst/>
              <a:cxnLst>
                <a:cxn ang="T10">
                  <a:pos x="T0" y="T1"/>
                </a:cxn>
                <a:cxn ang="T11">
                  <a:pos x="T2" y="T3"/>
                </a:cxn>
                <a:cxn ang="T12">
                  <a:pos x="T4" y="T5"/>
                </a:cxn>
                <a:cxn ang="T13">
                  <a:pos x="T6" y="T7"/>
                </a:cxn>
                <a:cxn ang="T14">
                  <a:pos x="T8" y="T9"/>
                </a:cxn>
              </a:cxnLst>
              <a:rect l="T15" t="T16" r="T17" b="T18"/>
              <a:pathLst>
                <a:path w="158" h="66">
                  <a:moveTo>
                    <a:pt x="8" y="0"/>
                  </a:moveTo>
                  <a:cubicBezTo>
                    <a:pt x="3" y="16"/>
                    <a:pt x="1" y="33"/>
                    <a:pt x="1" y="49"/>
                  </a:cubicBezTo>
                  <a:cubicBezTo>
                    <a:pt x="0" y="55"/>
                    <a:pt x="1" y="60"/>
                    <a:pt x="1" y="66"/>
                  </a:cubicBezTo>
                  <a:lnTo>
                    <a:pt x="158" y="50"/>
                  </a:lnTo>
                  <a:lnTo>
                    <a:pt x="8" y="0"/>
                  </a:lnTo>
                  <a:close/>
                </a:path>
              </a:pathLst>
            </a:custGeom>
            <a:solidFill>
              <a:srgbClr val="FF0000"/>
            </a:solidFill>
            <a:ln w="6350">
              <a:solidFill>
                <a:srgbClr val="000000"/>
              </a:solidFill>
              <a:prstDash val="solid"/>
              <a:round/>
              <a:headEnd/>
              <a:tailEnd/>
            </a:ln>
          </p:spPr>
          <p:txBody>
            <a:bodyPr/>
            <a:lstStyle/>
            <a:p>
              <a:endParaRPr lang="en-MX" sz="2000"/>
            </a:p>
          </p:txBody>
        </p:sp>
        <p:sp>
          <p:nvSpPr>
            <p:cNvPr id="107567" name="Freeform 21">
              <a:extLst>
                <a:ext uri="{FF2B5EF4-FFF2-40B4-BE49-F238E27FC236}">
                  <a16:creationId xmlns:a16="http://schemas.microsoft.com/office/drawing/2014/main" id="{65374853-3F8A-D047-AF58-2DD94842C63E}"/>
                </a:ext>
              </a:extLst>
            </p:cNvPr>
            <p:cNvSpPr>
              <a:spLocks/>
            </p:cNvSpPr>
            <p:nvPr/>
          </p:nvSpPr>
          <p:spPr bwMode="auto">
            <a:xfrm>
              <a:off x="897" y="2084"/>
              <a:ext cx="667" cy="352"/>
            </a:xfrm>
            <a:custGeom>
              <a:avLst/>
              <a:gdLst>
                <a:gd name="T0" fmla="*/ 107881 w 150"/>
                <a:gd name="T1" fmla="*/ 0 h 79"/>
                <a:gd name="T2" fmla="*/ 0 w 150"/>
                <a:gd name="T3" fmla="*/ 226626 h 79"/>
                <a:gd name="T4" fmla="*/ 1159620 w 150"/>
                <a:gd name="T5" fmla="*/ 618072 h 79"/>
                <a:gd name="T6" fmla="*/ 107881 w 150"/>
                <a:gd name="T7" fmla="*/ 0 h 79"/>
                <a:gd name="T8" fmla="*/ 0 60000 65536"/>
                <a:gd name="T9" fmla="*/ 0 60000 65536"/>
                <a:gd name="T10" fmla="*/ 0 60000 65536"/>
                <a:gd name="T11" fmla="*/ 0 60000 65536"/>
                <a:gd name="T12" fmla="*/ 0 w 150"/>
                <a:gd name="T13" fmla="*/ 0 h 79"/>
                <a:gd name="T14" fmla="*/ 150 w 150"/>
                <a:gd name="T15" fmla="*/ 79 h 79"/>
              </a:gdLst>
              <a:ahLst/>
              <a:cxnLst>
                <a:cxn ang="T8">
                  <a:pos x="T0" y="T1"/>
                </a:cxn>
                <a:cxn ang="T9">
                  <a:pos x="T2" y="T3"/>
                </a:cxn>
                <a:cxn ang="T10">
                  <a:pos x="T4" y="T5"/>
                </a:cxn>
                <a:cxn ang="T11">
                  <a:pos x="T6" y="T7"/>
                </a:cxn>
              </a:cxnLst>
              <a:rect l="T12" t="T13" r="T14" b="T15"/>
              <a:pathLst>
                <a:path w="150" h="79">
                  <a:moveTo>
                    <a:pt x="14" y="0"/>
                  </a:moveTo>
                  <a:cubicBezTo>
                    <a:pt x="8" y="9"/>
                    <a:pt x="4" y="19"/>
                    <a:pt x="0" y="29"/>
                  </a:cubicBezTo>
                  <a:lnTo>
                    <a:pt x="150" y="79"/>
                  </a:lnTo>
                  <a:lnTo>
                    <a:pt x="14" y="0"/>
                  </a:lnTo>
                  <a:close/>
                </a:path>
              </a:pathLst>
            </a:custGeom>
            <a:solidFill>
              <a:srgbClr val="FFFF00"/>
            </a:solidFill>
            <a:ln w="6350">
              <a:solidFill>
                <a:srgbClr val="000000"/>
              </a:solidFill>
              <a:prstDash val="solid"/>
              <a:round/>
              <a:headEnd/>
              <a:tailEnd/>
            </a:ln>
          </p:spPr>
          <p:txBody>
            <a:bodyPr/>
            <a:lstStyle/>
            <a:p>
              <a:endParaRPr lang="en-MX" sz="2000"/>
            </a:p>
          </p:txBody>
        </p:sp>
        <p:sp>
          <p:nvSpPr>
            <p:cNvPr id="107568" name="Freeform 22">
              <a:extLst>
                <a:ext uri="{FF2B5EF4-FFF2-40B4-BE49-F238E27FC236}">
                  <a16:creationId xmlns:a16="http://schemas.microsoft.com/office/drawing/2014/main" id="{987EF033-FB6F-FA4C-A25B-4FAD201DC4E4}"/>
                </a:ext>
              </a:extLst>
            </p:cNvPr>
            <p:cNvSpPr>
              <a:spLocks/>
            </p:cNvSpPr>
            <p:nvPr/>
          </p:nvSpPr>
          <p:spPr bwMode="auto">
            <a:xfrm>
              <a:off x="959" y="1867"/>
              <a:ext cx="605" cy="569"/>
            </a:xfrm>
            <a:custGeom>
              <a:avLst/>
              <a:gdLst>
                <a:gd name="T0" fmla="*/ 332857 w 136"/>
                <a:gd name="T1" fmla="*/ 0 h 128"/>
                <a:gd name="T2" fmla="*/ 0 w 136"/>
                <a:gd name="T3" fmla="*/ 378421 h 128"/>
                <a:gd name="T4" fmla="*/ 1053843 w 136"/>
                <a:gd name="T5" fmla="*/ 987526 h 128"/>
                <a:gd name="T6" fmla="*/ 332857 w 136"/>
                <a:gd name="T7" fmla="*/ 0 h 128"/>
                <a:gd name="T8" fmla="*/ 0 60000 65536"/>
                <a:gd name="T9" fmla="*/ 0 60000 65536"/>
                <a:gd name="T10" fmla="*/ 0 60000 65536"/>
                <a:gd name="T11" fmla="*/ 0 60000 65536"/>
                <a:gd name="T12" fmla="*/ 0 w 136"/>
                <a:gd name="T13" fmla="*/ 0 h 128"/>
                <a:gd name="T14" fmla="*/ 136 w 136"/>
                <a:gd name="T15" fmla="*/ 128 h 128"/>
              </a:gdLst>
              <a:ahLst/>
              <a:cxnLst>
                <a:cxn ang="T8">
                  <a:pos x="T0" y="T1"/>
                </a:cxn>
                <a:cxn ang="T9">
                  <a:pos x="T2" y="T3"/>
                </a:cxn>
                <a:cxn ang="T10">
                  <a:pos x="T4" y="T5"/>
                </a:cxn>
                <a:cxn ang="T11">
                  <a:pos x="T6" y="T7"/>
                </a:cxn>
              </a:cxnLst>
              <a:rect l="T12" t="T13" r="T14" b="T15"/>
              <a:pathLst>
                <a:path w="136" h="128">
                  <a:moveTo>
                    <a:pt x="43" y="0"/>
                  </a:moveTo>
                  <a:cubicBezTo>
                    <a:pt x="26" y="13"/>
                    <a:pt x="11" y="30"/>
                    <a:pt x="0" y="49"/>
                  </a:cubicBezTo>
                  <a:lnTo>
                    <a:pt x="136" y="128"/>
                  </a:lnTo>
                  <a:lnTo>
                    <a:pt x="43" y="0"/>
                  </a:lnTo>
                  <a:close/>
                </a:path>
              </a:pathLst>
            </a:custGeom>
            <a:solidFill>
              <a:srgbClr val="FF0000"/>
            </a:solidFill>
            <a:ln w="6350">
              <a:solidFill>
                <a:srgbClr val="000000"/>
              </a:solidFill>
              <a:prstDash val="solid"/>
              <a:round/>
              <a:headEnd/>
              <a:tailEnd/>
            </a:ln>
          </p:spPr>
          <p:txBody>
            <a:bodyPr/>
            <a:lstStyle/>
            <a:p>
              <a:endParaRPr lang="en-MX" sz="2000"/>
            </a:p>
          </p:txBody>
        </p:sp>
        <p:sp>
          <p:nvSpPr>
            <p:cNvPr id="107569" name="Freeform 23">
              <a:extLst>
                <a:ext uri="{FF2B5EF4-FFF2-40B4-BE49-F238E27FC236}">
                  <a16:creationId xmlns:a16="http://schemas.microsoft.com/office/drawing/2014/main" id="{951589C5-C353-5848-9E5B-AEF8DE88F8C6}"/>
                </a:ext>
              </a:extLst>
            </p:cNvPr>
            <p:cNvSpPr>
              <a:spLocks/>
            </p:cNvSpPr>
            <p:nvPr/>
          </p:nvSpPr>
          <p:spPr bwMode="auto">
            <a:xfrm>
              <a:off x="1151" y="1795"/>
              <a:ext cx="413" cy="641"/>
            </a:xfrm>
            <a:custGeom>
              <a:avLst/>
              <a:gdLst>
                <a:gd name="T0" fmla="*/ 214311 w 93"/>
                <a:gd name="T1" fmla="*/ 0 h 144"/>
                <a:gd name="T2" fmla="*/ 0 w 93"/>
                <a:gd name="T3" fmla="*/ 124100 h 144"/>
                <a:gd name="T4" fmla="*/ 713335 w 93"/>
                <a:gd name="T5" fmla="*/ 1120192 h 144"/>
                <a:gd name="T6" fmla="*/ 214311 w 93"/>
                <a:gd name="T7" fmla="*/ 0 h 144"/>
                <a:gd name="T8" fmla="*/ 0 60000 65536"/>
                <a:gd name="T9" fmla="*/ 0 60000 65536"/>
                <a:gd name="T10" fmla="*/ 0 60000 65536"/>
                <a:gd name="T11" fmla="*/ 0 60000 65536"/>
                <a:gd name="T12" fmla="*/ 0 w 93"/>
                <a:gd name="T13" fmla="*/ 0 h 144"/>
                <a:gd name="T14" fmla="*/ 93 w 93"/>
                <a:gd name="T15" fmla="*/ 144 h 144"/>
              </a:gdLst>
              <a:ahLst/>
              <a:cxnLst>
                <a:cxn ang="T8">
                  <a:pos x="T0" y="T1"/>
                </a:cxn>
                <a:cxn ang="T9">
                  <a:pos x="T2" y="T3"/>
                </a:cxn>
                <a:cxn ang="T10">
                  <a:pos x="T4" y="T5"/>
                </a:cxn>
                <a:cxn ang="T11">
                  <a:pos x="T6" y="T7"/>
                </a:cxn>
              </a:cxnLst>
              <a:rect l="T12" t="T13" r="T14" b="T15"/>
              <a:pathLst>
                <a:path w="93" h="144">
                  <a:moveTo>
                    <a:pt x="28" y="0"/>
                  </a:moveTo>
                  <a:cubicBezTo>
                    <a:pt x="19" y="5"/>
                    <a:pt x="9" y="10"/>
                    <a:pt x="0" y="16"/>
                  </a:cubicBezTo>
                  <a:lnTo>
                    <a:pt x="93" y="144"/>
                  </a:lnTo>
                  <a:lnTo>
                    <a:pt x="28" y="0"/>
                  </a:lnTo>
                  <a:close/>
                </a:path>
              </a:pathLst>
            </a:custGeom>
            <a:solidFill>
              <a:srgbClr val="FFFF00"/>
            </a:solidFill>
            <a:ln w="6350">
              <a:solidFill>
                <a:srgbClr val="000000"/>
              </a:solidFill>
              <a:prstDash val="solid"/>
              <a:round/>
              <a:headEnd/>
              <a:tailEnd/>
            </a:ln>
          </p:spPr>
          <p:txBody>
            <a:bodyPr/>
            <a:lstStyle/>
            <a:p>
              <a:endParaRPr lang="en-MX" sz="2000"/>
            </a:p>
          </p:txBody>
        </p:sp>
        <p:sp>
          <p:nvSpPr>
            <p:cNvPr id="107570" name="Freeform 24">
              <a:extLst>
                <a:ext uri="{FF2B5EF4-FFF2-40B4-BE49-F238E27FC236}">
                  <a16:creationId xmlns:a16="http://schemas.microsoft.com/office/drawing/2014/main" id="{0E2D105B-AA80-0E42-8CF7-181F42EF00F0}"/>
                </a:ext>
              </a:extLst>
            </p:cNvPr>
            <p:cNvSpPr>
              <a:spLocks/>
            </p:cNvSpPr>
            <p:nvPr/>
          </p:nvSpPr>
          <p:spPr bwMode="auto">
            <a:xfrm>
              <a:off x="1275" y="1738"/>
              <a:ext cx="289" cy="698"/>
            </a:xfrm>
            <a:custGeom>
              <a:avLst/>
              <a:gdLst>
                <a:gd name="T0" fmla="*/ 495097 w 65"/>
                <a:gd name="T1" fmla="*/ 0 h 157"/>
                <a:gd name="T2" fmla="*/ 0 w 65"/>
                <a:gd name="T3" fmla="*/ 100783 h 157"/>
                <a:gd name="T4" fmla="*/ 502135 w 65"/>
                <a:gd name="T5" fmla="*/ 1212328 h 157"/>
                <a:gd name="T6" fmla="*/ 495097 w 65"/>
                <a:gd name="T7" fmla="*/ 0 h 157"/>
                <a:gd name="T8" fmla="*/ 0 60000 65536"/>
                <a:gd name="T9" fmla="*/ 0 60000 65536"/>
                <a:gd name="T10" fmla="*/ 0 60000 65536"/>
                <a:gd name="T11" fmla="*/ 0 60000 65536"/>
                <a:gd name="T12" fmla="*/ 0 w 65"/>
                <a:gd name="T13" fmla="*/ 0 h 157"/>
                <a:gd name="T14" fmla="*/ 65 w 65"/>
                <a:gd name="T15" fmla="*/ 157 h 157"/>
              </a:gdLst>
              <a:ahLst/>
              <a:cxnLst>
                <a:cxn ang="T8">
                  <a:pos x="T0" y="T1"/>
                </a:cxn>
                <a:cxn ang="T9">
                  <a:pos x="T2" y="T3"/>
                </a:cxn>
                <a:cxn ang="T10">
                  <a:pos x="T4" y="T5"/>
                </a:cxn>
                <a:cxn ang="T11">
                  <a:pos x="T6" y="T7"/>
                </a:cxn>
              </a:cxnLst>
              <a:rect l="T12" t="T13" r="T14" b="T15"/>
              <a:pathLst>
                <a:path w="65" h="157">
                  <a:moveTo>
                    <a:pt x="64" y="0"/>
                  </a:moveTo>
                  <a:cubicBezTo>
                    <a:pt x="42" y="0"/>
                    <a:pt x="21" y="4"/>
                    <a:pt x="0" y="13"/>
                  </a:cubicBezTo>
                  <a:lnTo>
                    <a:pt x="65" y="157"/>
                  </a:lnTo>
                  <a:lnTo>
                    <a:pt x="64" y="0"/>
                  </a:lnTo>
                  <a:close/>
                </a:path>
              </a:pathLst>
            </a:custGeom>
            <a:solidFill>
              <a:srgbClr val="FF0000"/>
            </a:solidFill>
            <a:ln w="6350">
              <a:solidFill>
                <a:srgbClr val="000000"/>
              </a:solidFill>
              <a:prstDash val="solid"/>
              <a:round/>
              <a:headEnd/>
              <a:tailEnd/>
            </a:ln>
          </p:spPr>
          <p:txBody>
            <a:bodyPr/>
            <a:lstStyle/>
            <a:p>
              <a:endParaRPr lang="en-MX" sz="2000"/>
            </a:p>
          </p:txBody>
        </p:sp>
      </p:grpSp>
      <p:grpSp>
        <p:nvGrpSpPr>
          <p:cNvPr id="107523" name="Group 25">
            <a:extLst>
              <a:ext uri="{FF2B5EF4-FFF2-40B4-BE49-F238E27FC236}">
                <a16:creationId xmlns:a16="http://schemas.microsoft.com/office/drawing/2014/main" id="{FF81A961-1706-EB49-9BAA-8E333093802E}"/>
              </a:ext>
            </a:extLst>
          </p:cNvPr>
          <p:cNvGrpSpPr>
            <a:grpSpLocks noChangeAspect="1"/>
          </p:cNvGrpSpPr>
          <p:nvPr/>
        </p:nvGrpSpPr>
        <p:grpSpPr bwMode="auto">
          <a:xfrm>
            <a:off x="2362201" y="3035301"/>
            <a:ext cx="4049713" cy="2741613"/>
            <a:chOff x="2928" y="1572"/>
            <a:chExt cx="2551" cy="1727"/>
          </a:xfrm>
        </p:grpSpPr>
        <p:sp>
          <p:nvSpPr>
            <p:cNvPr id="107529" name="AutoShape 26">
              <a:extLst>
                <a:ext uri="{FF2B5EF4-FFF2-40B4-BE49-F238E27FC236}">
                  <a16:creationId xmlns:a16="http://schemas.microsoft.com/office/drawing/2014/main" id="{46D5490C-A069-5B45-9649-3230DE0CA315}"/>
                </a:ext>
              </a:extLst>
            </p:cNvPr>
            <p:cNvSpPr>
              <a:spLocks noChangeAspect="1" noChangeArrowheads="1" noTextEdit="1"/>
            </p:cNvSpPr>
            <p:nvPr/>
          </p:nvSpPr>
          <p:spPr bwMode="auto">
            <a:xfrm>
              <a:off x="2928" y="1572"/>
              <a:ext cx="2551" cy="1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MX" sz="2000"/>
            </a:p>
          </p:txBody>
        </p:sp>
        <p:sp>
          <p:nvSpPr>
            <p:cNvPr id="107530" name="Freeform 27">
              <a:extLst>
                <a:ext uri="{FF2B5EF4-FFF2-40B4-BE49-F238E27FC236}">
                  <a16:creationId xmlns:a16="http://schemas.microsoft.com/office/drawing/2014/main" id="{1F167087-0604-E544-965F-8F3FEC25531C}"/>
                </a:ext>
              </a:extLst>
            </p:cNvPr>
            <p:cNvSpPr>
              <a:spLocks/>
            </p:cNvSpPr>
            <p:nvPr/>
          </p:nvSpPr>
          <p:spPr bwMode="auto">
            <a:xfrm>
              <a:off x="4199" y="1731"/>
              <a:ext cx="142" cy="700"/>
            </a:xfrm>
            <a:custGeom>
              <a:avLst/>
              <a:gdLst>
                <a:gd name="T0" fmla="*/ 244311 w 32"/>
                <a:gd name="T1" fmla="*/ 30778 h 158"/>
                <a:gd name="T2" fmla="*/ 0 w 32"/>
                <a:gd name="T3" fmla="*/ 6947 h 158"/>
                <a:gd name="T4" fmla="*/ 0 w 32"/>
                <a:gd name="T5" fmla="*/ 6947 h 158"/>
                <a:gd name="T6" fmla="*/ 0 w 32"/>
                <a:gd name="T7" fmla="*/ 1194754 h 158"/>
                <a:gd name="T8" fmla="*/ 244311 w 32"/>
                <a:gd name="T9" fmla="*/ 30778 h 158"/>
                <a:gd name="T10" fmla="*/ 0 60000 65536"/>
                <a:gd name="T11" fmla="*/ 0 60000 65536"/>
                <a:gd name="T12" fmla="*/ 0 60000 65536"/>
                <a:gd name="T13" fmla="*/ 0 60000 65536"/>
                <a:gd name="T14" fmla="*/ 0 60000 65536"/>
                <a:gd name="T15" fmla="*/ 0 w 32"/>
                <a:gd name="T16" fmla="*/ 0 h 158"/>
                <a:gd name="T17" fmla="*/ 32 w 32"/>
                <a:gd name="T18" fmla="*/ 158 h 158"/>
              </a:gdLst>
              <a:ahLst/>
              <a:cxnLst>
                <a:cxn ang="T10">
                  <a:pos x="T0" y="T1"/>
                </a:cxn>
                <a:cxn ang="T11">
                  <a:pos x="T2" y="T3"/>
                </a:cxn>
                <a:cxn ang="T12">
                  <a:pos x="T4" y="T5"/>
                </a:cxn>
                <a:cxn ang="T13">
                  <a:pos x="T6" y="T7"/>
                </a:cxn>
                <a:cxn ang="T14">
                  <a:pos x="T8" y="T9"/>
                </a:cxn>
              </a:cxnLst>
              <a:rect l="T15" t="T16" r="T17" b="T18"/>
              <a:pathLst>
                <a:path w="32" h="158">
                  <a:moveTo>
                    <a:pt x="32" y="4"/>
                  </a:moveTo>
                  <a:cubicBezTo>
                    <a:pt x="22" y="2"/>
                    <a:pt x="11" y="1"/>
                    <a:pt x="0" y="1"/>
                  </a:cubicBezTo>
                  <a:cubicBezTo>
                    <a:pt x="0" y="0"/>
                    <a:pt x="0" y="1"/>
                    <a:pt x="0" y="1"/>
                  </a:cubicBezTo>
                  <a:lnTo>
                    <a:pt x="0" y="158"/>
                  </a:lnTo>
                  <a:lnTo>
                    <a:pt x="32" y="4"/>
                  </a:lnTo>
                  <a:close/>
                </a:path>
              </a:pathLst>
            </a:custGeom>
            <a:solidFill>
              <a:srgbClr val="FF0000"/>
            </a:solidFill>
            <a:ln w="6350">
              <a:solidFill>
                <a:srgbClr val="000000"/>
              </a:solidFill>
              <a:prstDash val="solid"/>
              <a:round/>
              <a:headEnd/>
              <a:tailEnd/>
            </a:ln>
          </p:spPr>
          <p:txBody>
            <a:bodyPr/>
            <a:lstStyle/>
            <a:p>
              <a:endParaRPr lang="en-MX" sz="2000"/>
            </a:p>
          </p:txBody>
        </p:sp>
        <p:sp>
          <p:nvSpPr>
            <p:cNvPr id="107531" name="Freeform 28">
              <a:extLst>
                <a:ext uri="{FF2B5EF4-FFF2-40B4-BE49-F238E27FC236}">
                  <a16:creationId xmlns:a16="http://schemas.microsoft.com/office/drawing/2014/main" id="{A84F6013-EF0B-324B-8D18-CBA65F85821B}"/>
                </a:ext>
              </a:extLst>
            </p:cNvPr>
            <p:cNvSpPr>
              <a:spLocks/>
            </p:cNvSpPr>
            <p:nvPr/>
          </p:nvSpPr>
          <p:spPr bwMode="auto">
            <a:xfrm>
              <a:off x="4199" y="1749"/>
              <a:ext cx="407" cy="682"/>
            </a:xfrm>
            <a:custGeom>
              <a:avLst/>
              <a:gdLst>
                <a:gd name="T0" fmla="*/ 689781 w 92"/>
                <a:gd name="T1" fmla="*/ 195769 h 154"/>
                <a:gd name="T2" fmla="*/ 240528 w 92"/>
                <a:gd name="T3" fmla="*/ 0 h 154"/>
                <a:gd name="T4" fmla="*/ 0 w 92"/>
                <a:gd name="T5" fmla="*/ 1161592 h 154"/>
                <a:gd name="T6" fmla="*/ 689781 w 92"/>
                <a:gd name="T7" fmla="*/ 195769 h 154"/>
                <a:gd name="T8" fmla="*/ 0 60000 65536"/>
                <a:gd name="T9" fmla="*/ 0 60000 65536"/>
                <a:gd name="T10" fmla="*/ 0 60000 65536"/>
                <a:gd name="T11" fmla="*/ 0 60000 65536"/>
                <a:gd name="T12" fmla="*/ 0 w 92"/>
                <a:gd name="T13" fmla="*/ 0 h 154"/>
                <a:gd name="T14" fmla="*/ 92 w 92"/>
                <a:gd name="T15" fmla="*/ 154 h 154"/>
              </a:gdLst>
              <a:ahLst/>
              <a:cxnLst>
                <a:cxn ang="T8">
                  <a:pos x="T0" y="T1"/>
                </a:cxn>
                <a:cxn ang="T9">
                  <a:pos x="T2" y="T3"/>
                </a:cxn>
                <a:cxn ang="T10">
                  <a:pos x="T4" y="T5"/>
                </a:cxn>
                <a:cxn ang="T11">
                  <a:pos x="T6" y="T7"/>
                </a:cxn>
              </a:cxnLst>
              <a:rect l="T12" t="T13" r="T14" b="T15"/>
              <a:pathLst>
                <a:path w="92" h="154">
                  <a:moveTo>
                    <a:pt x="92" y="26"/>
                  </a:moveTo>
                  <a:cubicBezTo>
                    <a:pt x="74" y="13"/>
                    <a:pt x="54" y="4"/>
                    <a:pt x="32" y="0"/>
                  </a:cubicBezTo>
                  <a:lnTo>
                    <a:pt x="0" y="154"/>
                  </a:lnTo>
                  <a:lnTo>
                    <a:pt x="92" y="26"/>
                  </a:lnTo>
                  <a:close/>
                </a:path>
              </a:pathLst>
            </a:custGeom>
            <a:solidFill>
              <a:srgbClr val="FFFF00"/>
            </a:solidFill>
            <a:ln w="6350">
              <a:solidFill>
                <a:srgbClr val="000000"/>
              </a:solidFill>
              <a:prstDash val="solid"/>
              <a:round/>
              <a:headEnd/>
              <a:tailEnd/>
            </a:ln>
          </p:spPr>
          <p:txBody>
            <a:bodyPr/>
            <a:lstStyle/>
            <a:p>
              <a:endParaRPr lang="en-MX" sz="2000"/>
            </a:p>
          </p:txBody>
        </p:sp>
        <p:sp>
          <p:nvSpPr>
            <p:cNvPr id="107532" name="Freeform 29">
              <a:extLst>
                <a:ext uri="{FF2B5EF4-FFF2-40B4-BE49-F238E27FC236}">
                  <a16:creationId xmlns:a16="http://schemas.microsoft.com/office/drawing/2014/main" id="{75EE0EBE-AB0B-6945-996E-41346A966F84}"/>
                </a:ext>
              </a:extLst>
            </p:cNvPr>
            <p:cNvSpPr>
              <a:spLocks/>
            </p:cNvSpPr>
            <p:nvPr/>
          </p:nvSpPr>
          <p:spPr bwMode="auto">
            <a:xfrm>
              <a:off x="4199" y="1864"/>
              <a:ext cx="518" cy="567"/>
            </a:xfrm>
            <a:custGeom>
              <a:avLst/>
              <a:gdLst>
                <a:gd name="T0" fmla="*/ 881007 w 117"/>
                <a:gd name="T1" fmla="*/ 165591 h 128"/>
                <a:gd name="T2" fmla="*/ 692340 w 117"/>
                <a:gd name="T3" fmla="*/ 0 h 128"/>
                <a:gd name="T4" fmla="*/ 0 w 117"/>
                <a:gd name="T5" fmla="*/ 967156 h 128"/>
                <a:gd name="T6" fmla="*/ 881007 w 117"/>
                <a:gd name="T7" fmla="*/ 165591 h 128"/>
                <a:gd name="T8" fmla="*/ 0 60000 65536"/>
                <a:gd name="T9" fmla="*/ 0 60000 65536"/>
                <a:gd name="T10" fmla="*/ 0 60000 65536"/>
                <a:gd name="T11" fmla="*/ 0 60000 65536"/>
                <a:gd name="T12" fmla="*/ 0 w 117"/>
                <a:gd name="T13" fmla="*/ 0 h 128"/>
                <a:gd name="T14" fmla="*/ 117 w 117"/>
                <a:gd name="T15" fmla="*/ 128 h 128"/>
              </a:gdLst>
              <a:ahLst/>
              <a:cxnLst>
                <a:cxn ang="T8">
                  <a:pos x="T0" y="T1"/>
                </a:cxn>
                <a:cxn ang="T9">
                  <a:pos x="T2" y="T3"/>
                </a:cxn>
                <a:cxn ang="T10">
                  <a:pos x="T4" y="T5"/>
                </a:cxn>
                <a:cxn ang="T11">
                  <a:pos x="T6" y="T7"/>
                </a:cxn>
              </a:cxnLst>
              <a:rect l="T12" t="T13" r="T14" b="T15"/>
              <a:pathLst>
                <a:path w="117" h="128">
                  <a:moveTo>
                    <a:pt x="117" y="22"/>
                  </a:moveTo>
                  <a:cubicBezTo>
                    <a:pt x="109" y="14"/>
                    <a:pt x="101" y="7"/>
                    <a:pt x="92" y="0"/>
                  </a:cubicBezTo>
                  <a:lnTo>
                    <a:pt x="0" y="128"/>
                  </a:lnTo>
                  <a:lnTo>
                    <a:pt x="117" y="22"/>
                  </a:lnTo>
                  <a:close/>
                </a:path>
              </a:pathLst>
            </a:custGeom>
            <a:solidFill>
              <a:srgbClr val="FF0000"/>
            </a:solidFill>
            <a:ln w="6350">
              <a:solidFill>
                <a:srgbClr val="000000"/>
              </a:solidFill>
              <a:prstDash val="solid"/>
              <a:round/>
              <a:headEnd/>
              <a:tailEnd/>
            </a:ln>
          </p:spPr>
          <p:txBody>
            <a:bodyPr/>
            <a:lstStyle/>
            <a:p>
              <a:endParaRPr lang="en-MX" sz="2000"/>
            </a:p>
          </p:txBody>
        </p:sp>
        <p:sp>
          <p:nvSpPr>
            <p:cNvPr id="107533" name="Freeform 30">
              <a:extLst>
                <a:ext uri="{FF2B5EF4-FFF2-40B4-BE49-F238E27FC236}">
                  <a16:creationId xmlns:a16="http://schemas.microsoft.com/office/drawing/2014/main" id="{312D5EDA-6EAB-C34C-99C7-8830CFEAEE7B}"/>
                </a:ext>
              </a:extLst>
            </p:cNvPr>
            <p:cNvSpPr>
              <a:spLocks/>
            </p:cNvSpPr>
            <p:nvPr/>
          </p:nvSpPr>
          <p:spPr bwMode="auto">
            <a:xfrm>
              <a:off x="4199" y="1962"/>
              <a:ext cx="660" cy="469"/>
            </a:xfrm>
            <a:custGeom>
              <a:avLst/>
              <a:gdLst>
                <a:gd name="T0" fmla="*/ 1125327 w 149"/>
                <a:gd name="T1" fmla="*/ 420445 h 106"/>
                <a:gd name="T2" fmla="*/ 883089 w 149"/>
                <a:gd name="T3" fmla="*/ 0 h 106"/>
                <a:gd name="T4" fmla="*/ 0 w 149"/>
                <a:gd name="T5" fmla="*/ 795234 h 106"/>
                <a:gd name="T6" fmla="*/ 1125327 w 149"/>
                <a:gd name="T7" fmla="*/ 420445 h 106"/>
                <a:gd name="T8" fmla="*/ 0 60000 65536"/>
                <a:gd name="T9" fmla="*/ 0 60000 65536"/>
                <a:gd name="T10" fmla="*/ 0 60000 65536"/>
                <a:gd name="T11" fmla="*/ 0 60000 65536"/>
                <a:gd name="T12" fmla="*/ 0 w 149"/>
                <a:gd name="T13" fmla="*/ 0 h 106"/>
                <a:gd name="T14" fmla="*/ 149 w 149"/>
                <a:gd name="T15" fmla="*/ 106 h 106"/>
              </a:gdLst>
              <a:ahLst/>
              <a:cxnLst>
                <a:cxn ang="T8">
                  <a:pos x="T0" y="T1"/>
                </a:cxn>
                <a:cxn ang="T9">
                  <a:pos x="T2" y="T3"/>
                </a:cxn>
                <a:cxn ang="T10">
                  <a:pos x="T4" y="T5"/>
                </a:cxn>
                <a:cxn ang="T11">
                  <a:pos x="T6" y="T7"/>
                </a:cxn>
              </a:cxnLst>
              <a:rect l="T12" t="T13" r="T14" b="T15"/>
              <a:pathLst>
                <a:path w="149" h="106">
                  <a:moveTo>
                    <a:pt x="149" y="56"/>
                  </a:moveTo>
                  <a:cubicBezTo>
                    <a:pt x="143" y="35"/>
                    <a:pt x="131" y="16"/>
                    <a:pt x="117" y="0"/>
                  </a:cubicBezTo>
                  <a:lnTo>
                    <a:pt x="0" y="106"/>
                  </a:lnTo>
                  <a:lnTo>
                    <a:pt x="149" y="56"/>
                  </a:lnTo>
                  <a:close/>
                </a:path>
              </a:pathLst>
            </a:custGeom>
            <a:solidFill>
              <a:srgbClr val="FFFF00"/>
            </a:solidFill>
            <a:ln w="6350">
              <a:solidFill>
                <a:srgbClr val="000000"/>
              </a:solidFill>
              <a:prstDash val="solid"/>
              <a:round/>
              <a:headEnd/>
              <a:tailEnd/>
            </a:ln>
          </p:spPr>
          <p:txBody>
            <a:bodyPr/>
            <a:lstStyle/>
            <a:p>
              <a:endParaRPr lang="en-MX" sz="2000"/>
            </a:p>
          </p:txBody>
        </p:sp>
        <p:sp>
          <p:nvSpPr>
            <p:cNvPr id="107534" name="Freeform 31">
              <a:extLst>
                <a:ext uri="{FF2B5EF4-FFF2-40B4-BE49-F238E27FC236}">
                  <a16:creationId xmlns:a16="http://schemas.microsoft.com/office/drawing/2014/main" id="{58922DD7-273C-BD4B-9C8A-3B2AFA37145B}"/>
                </a:ext>
              </a:extLst>
            </p:cNvPr>
            <p:cNvSpPr>
              <a:spLocks/>
            </p:cNvSpPr>
            <p:nvPr/>
          </p:nvSpPr>
          <p:spPr bwMode="auto">
            <a:xfrm>
              <a:off x="4199" y="2210"/>
              <a:ext cx="695" cy="221"/>
            </a:xfrm>
            <a:custGeom>
              <a:avLst/>
              <a:gdLst>
                <a:gd name="T0" fmla="*/ 1181589 w 157"/>
                <a:gd name="T1" fmla="*/ 246176 h 50"/>
                <a:gd name="T2" fmla="*/ 1122075 w 157"/>
                <a:gd name="T3" fmla="*/ 0 h 50"/>
                <a:gd name="T4" fmla="*/ 0 w 157"/>
                <a:gd name="T5" fmla="*/ 372871 h 50"/>
                <a:gd name="T6" fmla="*/ 1181589 w 157"/>
                <a:gd name="T7" fmla="*/ 246176 h 50"/>
                <a:gd name="T8" fmla="*/ 0 60000 65536"/>
                <a:gd name="T9" fmla="*/ 0 60000 65536"/>
                <a:gd name="T10" fmla="*/ 0 60000 65536"/>
                <a:gd name="T11" fmla="*/ 0 60000 65536"/>
                <a:gd name="T12" fmla="*/ 0 w 157"/>
                <a:gd name="T13" fmla="*/ 0 h 50"/>
                <a:gd name="T14" fmla="*/ 157 w 157"/>
                <a:gd name="T15" fmla="*/ 50 h 50"/>
              </a:gdLst>
              <a:ahLst/>
              <a:cxnLst>
                <a:cxn ang="T8">
                  <a:pos x="T0" y="T1"/>
                </a:cxn>
                <a:cxn ang="T9">
                  <a:pos x="T2" y="T3"/>
                </a:cxn>
                <a:cxn ang="T10">
                  <a:pos x="T4" y="T5"/>
                </a:cxn>
                <a:cxn ang="T11">
                  <a:pos x="T6" y="T7"/>
                </a:cxn>
              </a:cxnLst>
              <a:rect l="T12" t="T13" r="T14" b="T15"/>
              <a:pathLst>
                <a:path w="157" h="50">
                  <a:moveTo>
                    <a:pt x="157" y="33"/>
                  </a:moveTo>
                  <a:cubicBezTo>
                    <a:pt x="155" y="22"/>
                    <a:pt x="153" y="11"/>
                    <a:pt x="149" y="0"/>
                  </a:cubicBezTo>
                  <a:lnTo>
                    <a:pt x="0" y="50"/>
                  </a:lnTo>
                  <a:lnTo>
                    <a:pt x="157" y="33"/>
                  </a:lnTo>
                  <a:close/>
                </a:path>
              </a:pathLst>
            </a:custGeom>
            <a:solidFill>
              <a:srgbClr val="FF0000"/>
            </a:solidFill>
            <a:ln w="6350">
              <a:solidFill>
                <a:srgbClr val="000000"/>
              </a:solidFill>
              <a:prstDash val="solid"/>
              <a:round/>
              <a:headEnd/>
              <a:tailEnd/>
            </a:ln>
          </p:spPr>
          <p:txBody>
            <a:bodyPr/>
            <a:lstStyle/>
            <a:p>
              <a:endParaRPr lang="en-MX" sz="2000"/>
            </a:p>
          </p:txBody>
        </p:sp>
        <p:sp>
          <p:nvSpPr>
            <p:cNvPr id="107535" name="Freeform 32">
              <a:extLst>
                <a:ext uri="{FF2B5EF4-FFF2-40B4-BE49-F238E27FC236}">
                  <a16:creationId xmlns:a16="http://schemas.microsoft.com/office/drawing/2014/main" id="{54CD56D8-164B-F242-88A2-8B4B946AD0B9}"/>
                </a:ext>
              </a:extLst>
            </p:cNvPr>
            <p:cNvSpPr>
              <a:spLocks/>
            </p:cNvSpPr>
            <p:nvPr/>
          </p:nvSpPr>
          <p:spPr bwMode="auto">
            <a:xfrm>
              <a:off x="4199" y="2356"/>
              <a:ext cx="700" cy="292"/>
            </a:xfrm>
            <a:custGeom>
              <a:avLst/>
              <a:gdLst>
                <a:gd name="T0" fmla="*/ 1135006 w 158"/>
                <a:gd name="T1" fmla="*/ 495006 h 66"/>
                <a:gd name="T2" fmla="*/ 1194754 w 158"/>
                <a:gd name="T3" fmla="*/ 127210 h 66"/>
                <a:gd name="T4" fmla="*/ 1188139 w 158"/>
                <a:gd name="T5" fmla="*/ 0 h 66"/>
                <a:gd name="T6" fmla="*/ 0 w 158"/>
                <a:gd name="T7" fmla="*/ 127210 h 66"/>
                <a:gd name="T8" fmla="*/ 1135006 w 158"/>
                <a:gd name="T9" fmla="*/ 495006 h 66"/>
                <a:gd name="T10" fmla="*/ 0 60000 65536"/>
                <a:gd name="T11" fmla="*/ 0 60000 65536"/>
                <a:gd name="T12" fmla="*/ 0 60000 65536"/>
                <a:gd name="T13" fmla="*/ 0 60000 65536"/>
                <a:gd name="T14" fmla="*/ 0 60000 65536"/>
                <a:gd name="T15" fmla="*/ 0 w 158"/>
                <a:gd name="T16" fmla="*/ 0 h 66"/>
                <a:gd name="T17" fmla="*/ 158 w 158"/>
                <a:gd name="T18" fmla="*/ 66 h 66"/>
              </a:gdLst>
              <a:ahLst/>
              <a:cxnLst>
                <a:cxn ang="T10">
                  <a:pos x="T0" y="T1"/>
                </a:cxn>
                <a:cxn ang="T11">
                  <a:pos x="T2" y="T3"/>
                </a:cxn>
                <a:cxn ang="T12">
                  <a:pos x="T4" y="T5"/>
                </a:cxn>
                <a:cxn ang="T13">
                  <a:pos x="T6" y="T7"/>
                </a:cxn>
                <a:cxn ang="T14">
                  <a:pos x="T8" y="T9"/>
                </a:cxn>
              </a:cxnLst>
              <a:rect l="T15" t="T16" r="T17" b="T18"/>
              <a:pathLst>
                <a:path w="158" h="66">
                  <a:moveTo>
                    <a:pt x="150" y="66"/>
                  </a:moveTo>
                  <a:cubicBezTo>
                    <a:pt x="155" y="50"/>
                    <a:pt x="158" y="34"/>
                    <a:pt x="158" y="17"/>
                  </a:cubicBezTo>
                  <a:cubicBezTo>
                    <a:pt x="158" y="11"/>
                    <a:pt x="157" y="6"/>
                    <a:pt x="157" y="0"/>
                  </a:cubicBezTo>
                  <a:lnTo>
                    <a:pt x="0" y="17"/>
                  </a:lnTo>
                  <a:lnTo>
                    <a:pt x="150" y="66"/>
                  </a:lnTo>
                  <a:close/>
                </a:path>
              </a:pathLst>
            </a:custGeom>
            <a:solidFill>
              <a:srgbClr val="FFFF00"/>
            </a:solidFill>
            <a:ln w="6350">
              <a:solidFill>
                <a:srgbClr val="000000"/>
              </a:solidFill>
              <a:prstDash val="solid"/>
              <a:round/>
              <a:headEnd/>
              <a:tailEnd/>
            </a:ln>
          </p:spPr>
          <p:txBody>
            <a:bodyPr/>
            <a:lstStyle/>
            <a:p>
              <a:endParaRPr lang="en-MX" sz="2000"/>
            </a:p>
          </p:txBody>
        </p:sp>
        <p:sp>
          <p:nvSpPr>
            <p:cNvPr id="107536" name="Freeform 33">
              <a:extLst>
                <a:ext uri="{FF2B5EF4-FFF2-40B4-BE49-F238E27FC236}">
                  <a16:creationId xmlns:a16="http://schemas.microsoft.com/office/drawing/2014/main" id="{67941365-FA1D-7A43-9E48-8C810AC357F4}"/>
                </a:ext>
              </a:extLst>
            </p:cNvPr>
            <p:cNvSpPr>
              <a:spLocks/>
            </p:cNvSpPr>
            <p:nvPr/>
          </p:nvSpPr>
          <p:spPr bwMode="auto">
            <a:xfrm>
              <a:off x="4199" y="2431"/>
              <a:ext cx="664" cy="350"/>
            </a:xfrm>
            <a:custGeom>
              <a:avLst/>
              <a:gdLst>
                <a:gd name="T0" fmla="*/ 1023290 w 150"/>
                <a:gd name="T1" fmla="*/ 597601 h 79"/>
                <a:gd name="T2" fmla="*/ 1128517 w 150"/>
                <a:gd name="T3" fmla="*/ 370287 h 79"/>
                <a:gd name="T4" fmla="*/ 0 w 150"/>
                <a:gd name="T5" fmla="*/ 0 h 79"/>
                <a:gd name="T6" fmla="*/ 1023290 w 150"/>
                <a:gd name="T7" fmla="*/ 597601 h 79"/>
                <a:gd name="T8" fmla="*/ 0 60000 65536"/>
                <a:gd name="T9" fmla="*/ 0 60000 65536"/>
                <a:gd name="T10" fmla="*/ 0 60000 65536"/>
                <a:gd name="T11" fmla="*/ 0 60000 65536"/>
                <a:gd name="T12" fmla="*/ 0 w 150"/>
                <a:gd name="T13" fmla="*/ 0 h 79"/>
                <a:gd name="T14" fmla="*/ 150 w 150"/>
                <a:gd name="T15" fmla="*/ 79 h 79"/>
              </a:gdLst>
              <a:ahLst/>
              <a:cxnLst>
                <a:cxn ang="T8">
                  <a:pos x="T0" y="T1"/>
                </a:cxn>
                <a:cxn ang="T9">
                  <a:pos x="T2" y="T3"/>
                </a:cxn>
                <a:cxn ang="T10">
                  <a:pos x="T4" y="T5"/>
                </a:cxn>
                <a:cxn ang="T11">
                  <a:pos x="T6" y="T7"/>
                </a:cxn>
              </a:cxnLst>
              <a:rect l="T12" t="T13" r="T14" b="T15"/>
              <a:pathLst>
                <a:path w="150" h="79">
                  <a:moveTo>
                    <a:pt x="136" y="79"/>
                  </a:moveTo>
                  <a:cubicBezTo>
                    <a:pt x="142" y="69"/>
                    <a:pt x="146" y="59"/>
                    <a:pt x="150" y="49"/>
                  </a:cubicBezTo>
                  <a:lnTo>
                    <a:pt x="0" y="0"/>
                  </a:lnTo>
                  <a:lnTo>
                    <a:pt x="136" y="79"/>
                  </a:lnTo>
                  <a:close/>
                </a:path>
              </a:pathLst>
            </a:custGeom>
            <a:solidFill>
              <a:srgbClr val="FF0000"/>
            </a:solidFill>
            <a:ln w="6350">
              <a:solidFill>
                <a:srgbClr val="000000"/>
              </a:solidFill>
              <a:prstDash val="solid"/>
              <a:round/>
              <a:headEnd/>
              <a:tailEnd/>
            </a:ln>
          </p:spPr>
          <p:txBody>
            <a:bodyPr/>
            <a:lstStyle/>
            <a:p>
              <a:endParaRPr lang="en-MX" sz="2000"/>
            </a:p>
          </p:txBody>
        </p:sp>
        <p:sp>
          <p:nvSpPr>
            <p:cNvPr id="107537" name="Freeform 34">
              <a:extLst>
                <a:ext uri="{FF2B5EF4-FFF2-40B4-BE49-F238E27FC236}">
                  <a16:creationId xmlns:a16="http://schemas.microsoft.com/office/drawing/2014/main" id="{54A55C95-4696-DD4E-8FC0-2DFF1DFDEE7A}"/>
                </a:ext>
              </a:extLst>
            </p:cNvPr>
            <p:cNvSpPr>
              <a:spLocks/>
            </p:cNvSpPr>
            <p:nvPr/>
          </p:nvSpPr>
          <p:spPr bwMode="auto">
            <a:xfrm>
              <a:off x="4199" y="2431"/>
              <a:ext cx="602" cy="567"/>
            </a:xfrm>
            <a:custGeom>
              <a:avLst/>
              <a:gdLst>
                <a:gd name="T0" fmla="*/ 691773 w 136"/>
                <a:gd name="T1" fmla="*/ 967156 h 128"/>
                <a:gd name="T2" fmla="*/ 1023161 w 136"/>
                <a:gd name="T3" fmla="*/ 596785 h 128"/>
                <a:gd name="T4" fmla="*/ 0 w 136"/>
                <a:gd name="T5" fmla="*/ 0 h 128"/>
                <a:gd name="T6" fmla="*/ 691773 w 136"/>
                <a:gd name="T7" fmla="*/ 967156 h 128"/>
                <a:gd name="T8" fmla="*/ 0 60000 65536"/>
                <a:gd name="T9" fmla="*/ 0 60000 65536"/>
                <a:gd name="T10" fmla="*/ 0 60000 65536"/>
                <a:gd name="T11" fmla="*/ 0 60000 65536"/>
                <a:gd name="T12" fmla="*/ 0 w 136"/>
                <a:gd name="T13" fmla="*/ 0 h 128"/>
                <a:gd name="T14" fmla="*/ 136 w 136"/>
                <a:gd name="T15" fmla="*/ 128 h 128"/>
              </a:gdLst>
              <a:ahLst/>
              <a:cxnLst>
                <a:cxn ang="T8">
                  <a:pos x="T0" y="T1"/>
                </a:cxn>
                <a:cxn ang="T9">
                  <a:pos x="T2" y="T3"/>
                </a:cxn>
                <a:cxn ang="T10">
                  <a:pos x="T4" y="T5"/>
                </a:cxn>
                <a:cxn ang="T11">
                  <a:pos x="T6" y="T7"/>
                </a:cxn>
              </a:cxnLst>
              <a:rect l="T12" t="T13" r="T14" b="T15"/>
              <a:pathLst>
                <a:path w="136" h="128">
                  <a:moveTo>
                    <a:pt x="92" y="128"/>
                  </a:moveTo>
                  <a:cubicBezTo>
                    <a:pt x="110" y="115"/>
                    <a:pt x="125" y="98"/>
                    <a:pt x="136" y="79"/>
                  </a:cubicBezTo>
                  <a:lnTo>
                    <a:pt x="0" y="0"/>
                  </a:lnTo>
                  <a:lnTo>
                    <a:pt x="92" y="128"/>
                  </a:lnTo>
                  <a:close/>
                </a:path>
              </a:pathLst>
            </a:custGeom>
            <a:solidFill>
              <a:srgbClr val="FFFF00"/>
            </a:solidFill>
            <a:ln w="6350">
              <a:solidFill>
                <a:srgbClr val="000000"/>
              </a:solidFill>
              <a:prstDash val="solid"/>
              <a:round/>
              <a:headEnd/>
              <a:tailEnd/>
            </a:ln>
          </p:spPr>
          <p:txBody>
            <a:bodyPr/>
            <a:lstStyle/>
            <a:p>
              <a:endParaRPr lang="en-MX" sz="2000"/>
            </a:p>
          </p:txBody>
        </p:sp>
        <p:sp>
          <p:nvSpPr>
            <p:cNvPr id="107538" name="Freeform 35">
              <a:extLst>
                <a:ext uri="{FF2B5EF4-FFF2-40B4-BE49-F238E27FC236}">
                  <a16:creationId xmlns:a16="http://schemas.microsoft.com/office/drawing/2014/main" id="{AD7C9260-4EFF-5147-9713-0B178220EC6D}"/>
                </a:ext>
              </a:extLst>
            </p:cNvPr>
            <p:cNvSpPr>
              <a:spLocks/>
            </p:cNvSpPr>
            <p:nvPr/>
          </p:nvSpPr>
          <p:spPr bwMode="auto">
            <a:xfrm>
              <a:off x="4199" y="2431"/>
              <a:ext cx="407" cy="638"/>
            </a:xfrm>
            <a:custGeom>
              <a:avLst/>
              <a:gdLst>
                <a:gd name="T0" fmla="*/ 479570 w 92"/>
                <a:gd name="T1" fmla="*/ 1089319 h 144"/>
                <a:gd name="T2" fmla="*/ 689781 w 92"/>
                <a:gd name="T3" fmla="*/ 967988 h 144"/>
                <a:gd name="T4" fmla="*/ 0 w 92"/>
                <a:gd name="T5" fmla="*/ 0 h 144"/>
                <a:gd name="T6" fmla="*/ 479570 w 92"/>
                <a:gd name="T7" fmla="*/ 1089319 h 144"/>
                <a:gd name="T8" fmla="*/ 0 60000 65536"/>
                <a:gd name="T9" fmla="*/ 0 60000 65536"/>
                <a:gd name="T10" fmla="*/ 0 60000 65536"/>
                <a:gd name="T11" fmla="*/ 0 60000 65536"/>
                <a:gd name="T12" fmla="*/ 0 w 92"/>
                <a:gd name="T13" fmla="*/ 0 h 144"/>
                <a:gd name="T14" fmla="*/ 92 w 92"/>
                <a:gd name="T15" fmla="*/ 144 h 144"/>
              </a:gdLst>
              <a:ahLst/>
              <a:cxnLst>
                <a:cxn ang="T8">
                  <a:pos x="T0" y="T1"/>
                </a:cxn>
                <a:cxn ang="T9">
                  <a:pos x="T2" y="T3"/>
                </a:cxn>
                <a:cxn ang="T10">
                  <a:pos x="T4" y="T5"/>
                </a:cxn>
                <a:cxn ang="T11">
                  <a:pos x="T6" y="T7"/>
                </a:cxn>
              </a:cxnLst>
              <a:rect l="T12" t="T13" r="T14" b="T15"/>
              <a:pathLst>
                <a:path w="92" h="144">
                  <a:moveTo>
                    <a:pt x="64" y="144"/>
                  </a:moveTo>
                  <a:cubicBezTo>
                    <a:pt x="74" y="139"/>
                    <a:pt x="83" y="134"/>
                    <a:pt x="92" y="128"/>
                  </a:cubicBezTo>
                  <a:lnTo>
                    <a:pt x="0" y="0"/>
                  </a:lnTo>
                  <a:lnTo>
                    <a:pt x="64" y="144"/>
                  </a:lnTo>
                  <a:close/>
                </a:path>
              </a:pathLst>
            </a:custGeom>
            <a:solidFill>
              <a:srgbClr val="FF0000"/>
            </a:solidFill>
            <a:ln w="6350">
              <a:solidFill>
                <a:srgbClr val="000000"/>
              </a:solidFill>
              <a:prstDash val="solid"/>
              <a:round/>
              <a:headEnd/>
              <a:tailEnd/>
            </a:ln>
          </p:spPr>
          <p:txBody>
            <a:bodyPr/>
            <a:lstStyle/>
            <a:p>
              <a:endParaRPr lang="en-MX" sz="2000"/>
            </a:p>
          </p:txBody>
        </p:sp>
        <p:sp>
          <p:nvSpPr>
            <p:cNvPr id="107539" name="Freeform 36">
              <a:extLst>
                <a:ext uri="{FF2B5EF4-FFF2-40B4-BE49-F238E27FC236}">
                  <a16:creationId xmlns:a16="http://schemas.microsoft.com/office/drawing/2014/main" id="{36E91757-9CA6-6543-8DAA-ED14D2DC7F94}"/>
                </a:ext>
              </a:extLst>
            </p:cNvPr>
            <p:cNvSpPr>
              <a:spLocks/>
            </p:cNvSpPr>
            <p:nvPr/>
          </p:nvSpPr>
          <p:spPr bwMode="auto">
            <a:xfrm>
              <a:off x="4195" y="2431"/>
              <a:ext cx="287" cy="695"/>
            </a:xfrm>
            <a:custGeom>
              <a:avLst/>
              <a:gdLst>
                <a:gd name="T0" fmla="*/ 0 w 65"/>
                <a:gd name="T1" fmla="*/ 1181589 h 157"/>
                <a:gd name="T2" fmla="*/ 6804 w 65"/>
                <a:gd name="T3" fmla="*/ 1181589 h 157"/>
                <a:gd name="T4" fmla="*/ 481542 w 65"/>
                <a:gd name="T5" fmla="*/ 1082863 h 157"/>
                <a:gd name="T6" fmla="*/ 6804 w 65"/>
                <a:gd name="T7" fmla="*/ 0 h 157"/>
                <a:gd name="T8" fmla="*/ 0 w 65"/>
                <a:gd name="T9" fmla="*/ 1181589 h 157"/>
                <a:gd name="T10" fmla="*/ 0 60000 65536"/>
                <a:gd name="T11" fmla="*/ 0 60000 65536"/>
                <a:gd name="T12" fmla="*/ 0 60000 65536"/>
                <a:gd name="T13" fmla="*/ 0 60000 65536"/>
                <a:gd name="T14" fmla="*/ 0 60000 65536"/>
                <a:gd name="T15" fmla="*/ 0 w 65"/>
                <a:gd name="T16" fmla="*/ 0 h 157"/>
                <a:gd name="T17" fmla="*/ 65 w 65"/>
                <a:gd name="T18" fmla="*/ 157 h 157"/>
              </a:gdLst>
              <a:ahLst/>
              <a:cxnLst>
                <a:cxn ang="T10">
                  <a:pos x="T0" y="T1"/>
                </a:cxn>
                <a:cxn ang="T11">
                  <a:pos x="T2" y="T3"/>
                </a:cxn>
                <a:cxn ang="T12">
                  <a:pos x="T4" y="T5"/>
                </a:cxn>
                <a:cxn ang="T13">
                  <a:pos x="T6" y="T7"/>
                </a:cxn>
                <a:cxn ang="T14">
                  <a:pos x="T8" y="T9"/>
                </a:cxn>
              </a:cxnLst>
              <a:rect l="T15" t="T16" r="T17" b="T18"/>
              <a:pathLst>
                <a:path w="65" h="157">
                  <a:moveTo>
                    <a:pt x="0" y="157"/>
                  </a:moveTo>
                  <a:cubicBezTo>
                    <a:pt x="1" y="157"/>
                    <a:pt x="1" y="157"/>
                    <a:pt x="1" y="157"/>
                  </a:cubicBezTo>
                  <a:cubicBezTo>
                    <a:pt x="23" y="157"/>
                    <a:pt x="45" y="153"/>
                    <a:pt x="65" y="144"/>
                  </a:cubicBezTo>
                  <a:lnTo>
                    <a:pt x="1" y="0"/>
                  </a:lnTo>
                  <a:lnTo>
                    <a:pt x="0" y="157"/>
                  </a:lnTo>
                  <a:close/>
                </a:path>
              </a:pathLst>
            </a:custGeom>
            <a:solidFill>
              <a:srgbClr val="FFFF00"/>
            </a:solidFill>
            <a:ln w="6350">
              <a:solidFill>
                <a:srgbClr val="000000"/>
              </a:solidFill>
              <a:prstDash val="solid"/>
              <a:round/>
              <a:headEnd/>
              <a:tailEnd/>
            </a:ln>
          </p:spPr>
          <p:txBody>
            <a:bodyPr/>
            <a:lstStyle/>
            <a:p>
              <a:endParaRPr lang="en-MX" sz="2000"/>
            </a:p>
          </p:txBody>
        </p:sp>
        <p:sp>
          <p:nvSpPr>
            <p:cNvPr id="107540" name="Freeform 37">
              <a:extLst>
                <a:ext uri="{FF2B5EF4-FFF2-40B4-BE49-F238E27FC236}">
                  <a16:creationId xmlns:a16="http://schemas.microsoft.com/office/drawing/2014/main" id="{A13CE6F6-AC3A-7E4D-883A-06CA5F02F542}"/>
                </a:ext>
              </a:extLst>
            </p:cNvPr>
            <p:cNvSpPr>
              <a:spLocks/>
            </p:cNvSpPr>
            <p:nvPr/>
          </p:nvSpPr>
          <p:spPr bwMode="auto">
            <a:xfrm>
              <a:off x="4048" y="2431"/>
              <a:ext cx="151" cy="695"/>
            </a:xfrm>
            <a:custGeom>
              <a:avLst/>
              <a:gdLst>
                <a:gd name="T0" fmla="*/ 0 w 34"/>
                <a:gd name="T1" fmla="*/ 1159287 h 157"/>
                <a:gd name="T2" fmla="*/ 254026 w 34"/>
                <a:gd name="T3" fmla="*/ 1181589 h 157"/>
                <a:gd name="T4" fmla="*/ 261048 w 34"/>
                <a:gd name="T5" fmla="*/ 0 h 157"/>
                <a:gd name="T6" fmla="*/ 0 w 34"/>
                <a:gd name="T7" fmla="*/ 1159287 h 157"/>
                <a:gd name="T8" fmla="*/ 0 60000 65536"/>
                <a:gd name="T9" fmla="*/ 0 60000 65536"/>
                <a:gd name="T10" fmla="*/ 0 60000 65536"/>
                <a:gd name="T11" fmla="*/ 0 60000 65536"/>
                <a:gd name="T12" fmla="*/ 0 w 34"/>
                <a:gd name="T13" fmla="*/ 0 h 157"/>
                <a:gd name="T14" fmla="*/ 34 w 34"/>
                <a:gd name="T15" fmla="*/ 157 h 157"/>
              </a:gdLst>
              <a:ahLst/>
              <a:cxnLst>
                <a:cxn ang="T8">
                  <a:pos x="T0" y="T1"/>
                </a:cxn>
                <a:cxn ang="T9">
                  <a:pos x="T2" y="T3"/>
                </a:cxn>
                <a:cxn ang="T10">
                  <a:pos x="T4" y="T5"/>
                </a:cxn>
                <a:cxn ang="T11">
                  <a:pos x="T6" y="T7"/>
                </a:cxn>
              </a:cxnLst>
              <a:rect l="T12" t="T13" r="T14" b="T15"/>
              <a:pathLst>
                <a:path w="34" h="157">
                  <a:moveTo>
                    <a:pt x="0" y="154"/>
                  </a:moveTo>
                  <a:cubicBezTo>
                    <a:pt x="11" y="156"/>
                    <a:pt x="22" y="157"/>
                    <a:pt x="33" y="157"/>
                  </a:cubicBezTo>
                  <a:lnTo>
                    <a:pt x="34" y="0"/>
                  </a:lnTo>
                  <a:lnTo>
                    <a:pt x="0" y="154"/>
                  </a:lnTo>
                  <a:close/>
                </a:path>
              </a:pathLst>
            </a:custGeom>
            <a:solidFill>
              <a:srgbClr val="FF0000"/>
            </a:solidFill>
            <a:ln w="6350">
              <a:solidFill>
                <a:srgbClr val="000000"/>
              </a:solidFill>
              <a:prstDash val="solid"/>
              <a:round/>
              <a:headEnd/>
              <a:tailEnd/>
            </a:ln>
          </p:spPr>
          <p:txBody>
            <a:bodyPr/>
            <a:lstStyle/>
            <a:p>
              <a:endParaRPr lang="en-MX" sz="2000"/>
            </a:p>
          </p:txBody>
        </p:sp>
        <p:sp>
          <p:nvSpPr>
            <p:cNvPr id="107541" name="Freeform 38">
              <a:extLst>
                <a:ext uri="{FF2B5EF4-FFF2-40B4-BE49-F238E27FC236}">
                  <a16:creationId xmlns:a16="http://schemas.microsoft.com/office/drawing/2014/main" id="{370BAC05-BEE8-B045-AE4A-E639AD85F336}"/>
                </a:ext>
              </a:extLst>
            </p:cNvPr>
            <p:cNvSpPr>
              <a:spLocks/>
            </p:cNvSpPr>
            <p:nvPr/>
          </p:nvSpPr>
          <p:spPr bwMode="auto">
            <a:xfrm>
              <a:off x="3787" y="2431"/>
              <a:ext cx="412" cy="682"/>
            </a:xfrm>
            <a:custGeom>
              <a:avLst/>
              <a:gdLst>
                <a:gd name="T0" fmla="*/ 0 w 93"/>
                <a:gd name="T1" fmla="*/ 957391 h 154"/>
                <a:gd name="T2" fmla="*/ 445252 w 93"/>
                <a:gd name="T3" fmla="*/ 1161592 h 154"/>
                <a:gd name="T4" fmla="*/ 702938 w 93"/>
                <a:gd name="T5" fmla="*/ 0 h 154"/>
                <a:gd name="T6" fmla="*/ 0 w 93"/>
                <a:gd name="T7" fmla="*/ 957391 h 154"/>
                <a:gd name="T8" fmla="*/ 0 60000 65536"/>
                <a:gd name="T9" fmla="*/ 0 60000 65536"/>
                <a:gd name="T10" fmla="*/ 0 60000 65536"/>
                <a:gd name="T11" fmla="*/ 0 60000 65536"/>
                <a:gd name="T12" fmla="*/ 0 w 93"/>
                <a:gd name="T13" fmla="*/ 0 h 154"/>
                <a:gd name="T14" fmla="*/ 93 w 93"/>
                <a:gd name="T15" fmla="*/ 154 h 154"/>
              </a:gdLst>
              <a:ahLst/>
              <a:cxnLst>
                <a:cxn ang="T8">
                  <a:pos x="T0" y="T1"/>
                </a:cxn>
                <a:cxn ang="T9">
                  <a:pos x="T2" y="T3"/>
                </a:cxn>
                <a:cxn ang="T10">
                  <a:pos x="T4" y="T5"/>
                </a:cxn>
                <a:cxn ang="T11">
                  <a:pos x="T6" y="T7"/>
                </a:cxn>
              </a:cxnLst>
              <a:rect l="T12" t="T13" r="T14" b="T15"/>
              <a:pathLst>
                <a:path w="93" h="154">
                  <a:moveTo>
                    <a:pt x="0" y="127"/>
                  </a:moveTo>
                  <a:cubicBezTo>
                    <a:pt x="18" y="140"/>
                    <a:pt x="38" y="149"/>
                    <a:pt x="59" y="154"/>
                  </a:cubicBezTo>
                  <a:lnTo>
                    <a:pt x="93" y="0"/>
                  </a:lnTo>
                  <a:lnTo>
                    <a:pt x="0" y="127"/>
                  </a:lnTo>
                  <a:close/>
                </a:path>
              </a:pathLst>
            </a:custGeom>
            <a:solidFill>
              <a:srgbClr val="FFFF00"/>
            </a:solidFill>
            <a:ln w="6350">
              <a:solidFill>
                <a:srgbClr val="000000"/>
              </a:solidFill>
              <a:prstDash val="solid"/>
              <a:round/>
              <a:headEnd/>
              <a:tailEnd/>
            </a:ln>
          </p:spPr>
          <p:txBody>
            <a:bodyPr/>
            <a:lstStyle/>
            <a:p>
              <a:endParaRPr lang="en-MX" sz="2000"/>
            </a:p>
          </p:txBody>
        </p:sp>
        <p:sp>
          <p:nvSpPr>
            <p:cNvPr id="107542" name="Freeform 39">
              <a:extLst>
                <a:ext uri="{FF2B5EF4-FFF2-40B4-BE49-F238E27FC236}">
                  <a16:creationId xmlns:a16="http://schemas.microsoft.com/office/drawing/2014/main" id="{2B4D1017-2BD5-E74F-A851-EA5FEE4426B7}"/>
                </a:ext>
              </a:extLst>
            </p:cNvPr>
            <p:cNvSpPr>
              <a:spLocks/>
            </p:cNvSpPr>
            <p:nvPr/>
          </p:nvSpPr>
          <p:spPr bwMode="auto">
            <a:xfrm>
              <a:off x="3676" y="2431"/>
              <a:ext cx="523" cy="562"/>
            </a:xfrm>
            <a:custGeom>
              <a:avLst/>
              <a:gdLst>
                <a:gd name="T0" fmla="*/ 0 w 118"/>
                <a:gd name="T1" fmla="*/ 789167 h 127"/>
                <a:gd name="T2" fmla="*/ 189902 w 118"/>
                <a:gd name="T3" fmla="*/ 953643 h 127"/>
                <a:gd name="T4" fmla="*/ 894529 w 118"/>
                <a:gd name="T5" fmla="*/ 0 h 127"/>
                <a:gd name="T6" fmla="*/ 0 w 118"/>
                <a:gd name="T7" fmla="*/ 789167 h 127"/>
                <a:gd name="T8" fmla="*/ 0 60000 65536"/>
                <a:gd name="T9" fmla="*/ 0 60000 65536"/>
                <a:gd name="T10" fmla="*/ 0 60000 65536"/>
                <a:gd name="T11" fmla="*/ 0 60000 65536"/>
                <a:gd name="T12" fmla="*/ 0 w 118"/>
                <a:gd name="T13" fmla="*/ 0 h 127"/>
                <a:gd name="T14" fmla="*/ 118 w 118"/>
                <a:gd name="T15" fmla="*/ 127 h 127"/>
              </a:gdLst>
              <a:ahLst/>
              <a:cxnLst>
                <a:cxn ang="T8">
                  <a:pos x="T0" y="T1"/>
                </a:cxn>
                <a:cxn ang="T9">
                  <a:pos x="T2" y="T3"/>
                </a:cxn>
                <a:cxn ang="T10">
                  <a:pos x="T4" y="T5"/>
                </a:cxn>
                <a:cxn ang="T11">
                  <a:pos x="T6" y="T7"/>
                </a:cxn>
              </a:cxnLst>
              <a:rect l="T12" t="T13" r="T14" b="T15"/>
              <a:pathLst>
                <a:path w="118" h="127">
                  <a:moveTo>
                    <a:pt x="0" y="105"/>
                  </a:moveTo>
                  <a:cubicBezTo>
                    <a:pt x="8" y="113"/>
                    <a:pt x="16" y="121"/>
                    <a:pt x="25" y="127"/>
                  </a:cubicBezTo>
                  <a:lnTo>
                    <a:pt x="118" y="0"/>
                  </a:lnTo>
                  <a:lnTo>
                    <a:pt x="0" y="105"/>
                  </a:lnTo>
                  <a:close/>
                </a:path>
              </a:pathLst>
            </a:custGeom>
            <a:solidFill>
              <a:srgbClr val="FF0000"/>
            </a:solidFill>
            <a:ln w="6350">
              <a:solidFill>
                <a:srgbClr val="000000"/>
              </a:solidFill>
              <a:prstDash val="solid"/>
              <a:round/>
              <a:headEnd/>
              <a:tailEnd/>
            </a:ln>
          </p:spPr>
          <p:txBody>
            <a:bodyPr/>
            <a:lstStyle/>
            <a:p>
              <a:endParaRPr lang="en-MX" sz="2000"/>
            </a:p>
          </p:txBody>
        </p:sp>
        <p:sp>
          <p:nvSpPr>
            <p:cNvPr id="107543" name="Freeform 40">
              <a:extLst>
                <a:ext uri="{FF2B5EF4-FFF2-40B4-BE49-F238E27FC236}">
                  <a16:creationId xmlns:a16="http://schemas.microsoft.com/office/drawing/2014/main" id="{7AB61181-4DEA-E24D-A694-3FBD76003202}"/>
                </a:ext>
              </a:extLst>
            </p:cNvPr>
            <p:cNvSpPr>
              <a:spLocks/>
            </p:cNvSpPr>
            <p:nvPr/>
          </p:nvSpPr>
          <p:spPr bwMode="auto">
            <a:xfrm>
              <a:off x="3535" y="2431"/>
              <a:ext cx="664" cy="465"/>
            </a:xfrm>
            <a:custGeom>
              <a:avLst/>
              <a:gdLst>
                <a:gd name="T0" fmla="*/ 0 w 150"/>
                <a:gd name="T1" fmla="*/ 369653 h 105"/>
                <a:gd name="T2" fmla="*/ 241492 w 150"/>
                <a:gd name="T3" fmla="*/ 791944 h 105"/>
                <a:gd name="T4" fmla="*/ 1128517 w 150"/>
                <a:gd name="T5" fmla="*/ 0 h 105"/>
                <a:gd name="T6" fmla="*/ 0 w 150"/>
                <a:gd name="T7" fmla="*/ 369653 h 105"/>
                <a:gd name="T8" fmla="*/ 0 60000 65536"/>
                <a:gd name="T9" fmla="*/ 0 60000 65536"/>
                <a:gd name="T10" fmla="*/ 0 60000 65536"/>
                <a:gd name="T11" fmla="*/ 0 60000 65536"/>
                <a:gd name="T12" fmla="*/ 0 w 150"/>
                <a:gd name="T13" fmla="*/ 0 h 105"/>
                <a:gd name="T14" fmla="*/ 150 w 150"/>
                <a:gd name="T15" fmla="*/ 105 h 105"/>
              </a:gdLst>
              <a:ahLst/>
              <a:cxnLst>
                <a:cxn ang="T8">
                  <a:pos x="T0" y="T1"/>
                </a:cxn>
                <a:cxn ang="T9">
                  <a:pos x="T2" y="T3"/>
                </a:cxn>
                <a:cxn ang="T10">
                  <a:pos x="T4" y="T5"/>
                </a:cxn>
                <a:cxn ang="T11">
                  <a:pos x="T6" y="T7"/>
                </a:cxn>
              </a:cxnLst>
              <a:rect l="T12" t="T13" r="T14" b="T15"/>
              <a:pathLst>
                <a:path w="150" h="105">
                  <a:moveTo>
                    <a:pt x="0" y="49"/>
                  </a:moveTo>
                  <a:cubicBezTo>
                    <a:pt x="7" y="69"/>
                    <a:pt x="18" y="88"/>
                    <a:pt x="32" y="105"/>
                  </a:cubicBezTo>
                  <a:lnTo>
                    <a:pt x="150" y="0"/>
                  </a:lnTo>
                  <a:lnTo>
                    <a:pt x="0" y="49"/>
                  </a:lnTo>
                  <a:close/>
                </a:path>
              </a:pathLst>
            </a:custGeom>
            <a:solidFill>
              <a:srgbClr val="FFFF00"/>
            </a:solidFill>
            <a:ln w="6350">
              <a:solidFill>
                <a:srgbClr val="000000"/>
              </a:solidFill>
              <a:prstDash val="solid"/>
              <a:round/>
              <a:headEnd/>
              <a:tailEnd/>
            </a:ln>
          </p:spPr>
          <p:txBody>
            <a:bodyPr/>
            <a:lstStyle/>
            <a:p>
              <a:endParaRPr lang="en-MX" sz="2000"/>
            </a:p>
          </p:txBody>
        </p:sp>
        <p:sp>
          <p:nvSpPr>
            <p:cNvPr id="107544" name="Freeform 41">
              <a:extLst>
                <a:ext uri="{FF2B5EF4-FFF2-40B4-BE49-F238E27FC236}">
                  <a16:creationId xmlns:a16="http://schemas.microsoft.com/office/drawing/2014/main" id="{FB2B04F0-AF18-274B-A6F9-E7A49A1B7A23}"/>
                </a:ext>
              </a:extLst>
            </p:cNvPr>
            <p:cNvSpPr>
              <a:spLocks/>
            </p:cNvSpPr>
            <p:nvPr/>
          </p:nvSpPr>
          <p:spPr bwMode="auto">
            <a:xfrm>
              <a:off x="3504" y="2431"/>
              <a:ext cx="695" cy="217"/>
            </a:xfrm>
            <a:custGeom>
              <a:avLst/>
              <a:gdLst>
                <a:gd name="T0" fmla="*/ 0 w 157"/>
                <a:gd name="T1" fmla="*/ 120811 h 49"/>
                <a:gd name="T2" fmla="*/ 52577 w 157"/>
                <a:gd name="T3" fmla="*/ 369653 h 49"/>
                <a:gd name="T4" fmla="*/ 1181589 w 157"/>
                <a:gd name="T5" fmla="*/ 0 h 49"/>
                <a:gd name="T6" fmla="*/ 0 w 157"/>
                <a:gd name="T7" fmla="*/ 120811 h 49"/>
                <a:gd name="T8" fmla="*/ 0 60000 65536"/>
                <a:gd name="T9" fmla="*/ 0 60000 65536"/>
                <a:gd name="T10" fmla="*/ 0 60000 65536"/>
                <a:gd name="T11" fmla="*/ 0 60000 65536"/>
                <a:gd name="T12" fmla="*/ 0 w 157"/>
                <a:gd name="T13" fmla="*/ 0 h 49"/>
                <a:gd name="T14" fmla="*/ 157 w 157"/>
                <a:gd name="T15" fmla="*/ 49 h 49"/>
              </a:gdLst>
              <a:ahLst/>
              <a:cxnLst>
                <a:cxn ang="T8">
                  <a:pos x="T0" y="T1"/>
                </a:cxn>
                <a:cxn ang="T9">
                  <a:pos x="T2" y="T3"/>
                </a:cxn>
                <a:cxn ang="T10">
                  <a:pos x="T4" y="T5"/>
                </a:cxn>
                <a:cxn ang="T11">
                  <a:pos x="T6" y="T7"/>
                </a:cxn>
              </a:cxnLst>
              <a:rect l="T12" t="T13" r="T14" b="T15"/>
              <a:pathLst>
                <a:path w="157" h="49">
                  <a:moveTo>
                    <a:pt x="0" y="16"/>
                  </a:moveTo>
                  <a:cubicBezTo>
                    <a:pt x="1" y="27"/>
                    <a:pt x="4" y="38"/>
                    <a:pt x="7" y="49"/>
                  </a:cubicBezTo>
                  <a:lnTo>
                    <a:pt x="157" y="0"/>
                  </a:lnTo>
                  <a:lnTo>
                    <a:pt x="0" y="16"/>
                  </a:lnTo>
                  <a:close/>
                </a:path>
              </a:pathLst>
            </a:custGeom>
            <a:solidFill>
              <a:srgbClr val="FF0000"/>
            </a:solidFill>
            <a:ln w="6350">
              <a:solidFill>
                <a:srgbClr val="000000"/>
              </a:solidFill>
              <a:prstDash val="solid"/>
              <a:round/>
              <a:headEnd/>
              <a:tailEnd/>
            </a:ln>
          </p:spPr>
          <p:txBody>
            <a:bodyPr/>
            <a:lstStyle/>
            <a:p>
              <a:endParaRPr lang="en-MX" sz="2000"/>
            </a:p>
          </p:txBody>
        </p:sp>
        <p:sp>
          <p:nvSpPr>
            <p:cNvPr id="107545" name="Freeform 42">
              <a:extLst>
                <a:ext uri="{FF2B5EF4-FFF2-40B4-BE49-F238E27FC236}">
                  <a16:creationId xmlns:a16="http://schemas.microsoft.com/office/drawing/2014/main" id="{91D6333B-FEA4-2449-8356-6B9EBAD8D305}"/>
                </a:ext>
              </a:extLst>
            </p:cNvPr>
            <p:cNvSpPr>
              <a:spLocks/>
            </p:cNvSpPr>
            <p:nvPr/>
          </p:nvSpPr>
          <p:spPr bwMode="auto">
            <a:xfrm>
              <a:off x="3499" y="2210"/>
              <a:ext cx="700" cy="292"/>
            </a:xfrm>
            <a:custGeom>
              <a:avLst/>
              <a:gdLst>
                <a:gd name="T0" fmla="*/ 59748 w 158"/>
                <a:gd name="T1" fmla="*/ 0 h 66"/>
                <a:gd name="T2" fmla="*/ 6947 w 158"/>
                <a:gd name="T3" fmla="*/ 374724 h 66"/>
                <a:gd name="T4" fmla="*/ 6947 w 158"/>
                <a:gd name="T5" fmla="*/ 495006 h 66"/>
                <a:gd name="T6" fmla="*/ 1194754 w 158"/>
                <a:gd name="T7" fmla="*/ 374724 h 66"/>
                <a:gd name="T8" fmla="*/ 59748 w 158"/>
                <a:gd name="T9" fmla="*/ 0 h 66"/>
                <a:gd name="T10" fmla="*/ 0 60000 65536"/>
                <a:gd name="T11" fmla="*/ 0 60000 65536"/>
                <a:gd name="T12" fmla="*/ 0 60000 65536"/>
                <a:gd name="T13" fmla="*/ 0 60000 65536"/>
                <a:gd name="T14" fmla="*/ 0 60000 65536"/>
                <a:gd name="T15" fmla="*/ 0 w 158"/>
                <a:gd name="T16" fmla="*/ 0 h 66"/>
                <a:gd name="T17" fmla="*/ 158 w 158"/>
                <a:gd name="T18" fmla="*/ 66 h 66"/>
              </a:gdLst>
              <a:ahLst/>
              <a:cxnLst>
                <a:cxn ang="T10">
                  <a:pos x="T0" y="T1"/>
                </a:cxn>
                <a:cxn ang="T11">
                  <a:pos x="T2" y="T3"/>
                </a:cxn>
                <a:cxn ang="T12">
                  <a:pos x="T4" y="T5"/>
                </a:cxn>
                <a:cxn ang="T13">
                  <a:pos x="T6" y="T7"/>
                </a:cxn>
                <a:cxn ang="T14">
                  <a:pos x="T8" y="T9"/>
                </a:cxn>
              </a:cxnLst>
              <a:rect l="T15" t="T16" r="T17" b="T18"/>
              <a:pathLst>
                <a:path w="158" h="66">
                  <a:moveTo>
                    <a:pt x="8" y="0"/>
                  </a:moveTo>
                  <a:cubicBezTo>
                    <a:pt x="3" y="16"/>
                    <a:pt x="1" y="33"/>
                    <a:pt x="1" y="50"/>
                  </a:cubicBezTo>
                  <a:cubicBezTo>
                    <a:pt x="0" y="55"/>
                    <a:pt x="1" y="60"/>
                    <a:pt x="1" y="66"/>
                  </a:cubicBezTo>
                  <a:lnTo>
                    <a:pt x="158" y="50"/>
                  </a:lnTo>
                  <a:lnTo>
                    <a:pt x="8" y="0"/>
                  </a:lnTo>
                  <a:close/>
                </a:path>
              </a:pathLst>
            </a:custGeom>
            <a:solidFill>
              <a:srgbClr val="FFFF00"/>
            </a:solidFill>
            <a:ln w="6350">
              <a:solidFill>
                <a:srgbClr val="000000"/>
              </a:solidFill>
              <a:prstDash val="solid"/>
              <a:round/>
              <a:headEnd/>
              <a:tailEnd/>
            </a:ln>
          </p:spPr>
          <p:txBody>
            <a:bodyPr/>
            <a:lstStyle/>
            <a:p>
              <a:endParaRPr lang="en-MX" sz="2000"/>
            </a:p>
          </p:txBody>
        </p:sp>
        <p:sp>
          <p:nvSpPr>
            <p:cNvPr id="107546" name="Freeform 43">
              <a:extLst>
                <a:ext uri="{FF2B5EF4-FFF2-40B4-BE49-F238E27FC236}">
                  <a16:creationId xmlns:a16="http://schemas.microsoft.com/office/drawing/2014/main" id="{7309ADAB-0ED3-0846-ACCE-3E412F0109A3}"/>
                </a:ext>
              </a:extLst>
            </p:cNvPr>
            <p:cNvSpPr>
              <a:spLocks/>
            </p:cNvSpPr>
            <p:nvPr/>
          </p:nvSpPr>
          <p:spPr bwMode="auto">
            <a:xfrm>
              <a:off x="3535" y="2081"/>
              <a:ext cx="664" cy="350"/>
            </a:xfrm>
            <a:custGeom>
              <a:avLst/>
              <a:gdLst>
                <a:gd name="T0" fmla="*/ 105226 w 150"/>
                <a:gd name="T1" fmla="*/ 0 h 79"/>
                <a:gd name="T2" fmla="*/ 0 w 150"/>
                <a:gd name="T3" fmla="*/ 218444 h 79"/>
                <a:gd name="T4" fmla="*/ 1128517 w 150"/>
                <a:gd name="T5" fmla="*/ 597601 h 79"/>
                <a:gd name="T6" fmla="*/ 105226 w 150"/>
                <a:gd name="T7" fmla="*/ 0 h 79"/>
                <a:gd name="T8" fmla="*/ 0 60000 65536"/>
                <a:gd name="T9" fmla="*/ 0 60000 65536"/>
                <a:gd name="T10" fmla="*/ 0 60000 65536"/>
                <a:gd name="T11" fmla="*/ 0 60000 65536"/>
                <a:gd name="T12" fmla="*/ 0 w 150"/>
                <a:gd name="T13" fmla="*/ 0 h 79"/>
                <a:gd name="T14" fmla="*/ 150 w 150"/>
                <a:gd name="T15" fmla="*/ 79 h 79"/>
              </a:gdLst>
              <a:ahLst/>
              <a:cxnLst>
                <a:cxn ang="T8">
                  <a:pos x="T0" y="T1"/>
                </a:cxn>
                <a:cxn ang="T9">
                  <a:pos x="T2" y="T3"/>
                </a:cxn>
                <a:cxn ang="T10">
                  <a:pos x="T4" y="T5"/>
                </a:cxn>
                <a:cxn ang="T11">
                  <a:pos x="T6" y="T7"/>
                </a:cxn>
              </a:cxnLst>
              <a:rect l="T12" t="T13" r="T14" b="T15"/>
              <a:pathLst>
                <a:path w="150" h="79">
                  <a:moveTo>
                    <a:pt x="14" y="0"/>
                  </a:moveTo>
                  <a:cubicBezTo>
                    <a:pt x="8" y="9"/>
                    <a:pt x="4" y="19"/>
                    <a:pt x="0" y="29"/>
                  </a:cubicBezTo>
                  <a:lnTo>
                    <a:pt x="150" y="79"/>
                  </a:lnTo>
                  <a:lnTo>
                    <a:pt x="14" y="0"/>
                  </a:lnTo>
                  <a:close/>
                </a:path>
              </a:pathLst>
            </a:custGeom>
            <a:solidFill>
              <a:srgbClr val="FF0000"/>
            </a:solidFill>
            <a:ln w="6350">
              <a:solidFill>
                <a:srgbClr val="000000"/>
              </a:solidFill>
              <a:prstDash val="solid"/>
              <a:round/>
              <a:headEnd/>
              <a:tailEnd/>
            </a:ln>
          </p:spPr>
          <p:txBody>
            <a:bodyPr/>
            <a:lstStyle/>
            <a:p>
              <a:endParaRPr lang="en-MX" sz="2000"/>
            </a:p>
          </p:txBody>
        </p:sp>
        <p:sp>
          <p:nvSpPr>
            <p:cNvPr id="107547" name="Freeform 44">
              <a:extLst>
                <a:ext uri="{FF2B5EF4-FFF2-40B4-BE49-F238E27FC236}">
                  <a16:creationId xmlns:a16="http://schemas.microsoft.com/office/drawing/2014/main" id="{1DC69331-2B03-0847-8508-91C4B825C44B}"/>
                </a:ext>
              </a:extLst>
            </p:cNvPr>
            <p:cNvSpPr>
              <a:spLocks/>
            </p:cNvSpPr>
            <p:nvPr/>
          </p:nvSpPr>
          <p:spPr bwMode="auto">
            <a:xfrm>
              <a:off x="3597" y="1869"/>
              <a:ext cx="602" cy="562"/>
            </a:xfrm>
            <a:custGeom>
              <a:avLst/>
              <a:gdLst>
                <a:gd name="T0" fmla="*/ 331308 w 136"/>
                <a:gd name="T1" fmla="*/ 0 h 127"/>
                <a:gd name="T2" fmla="*/ 0 w 136"/>
                <a:gd name="T3" fmla="*/ 359707 h 127"/>
                <a:gd name="T4" fmla="*/ 1023161 w 136"/>
                <a:gd name="T5" fmla="*/ 953643 h 127"/>
                <a:gd name="T6" fmla="*/ 331308 w 136"/>
                <a:gd name="T7" fmla="*/ 0 h 127"/>
                <a:gd name="T8" fmla="*/ 0 60000 65536"/>
                <a:gd name="T9" fmla="*/ 0 60000 65536"/>
                <a:gd name="T10" fmla="*/ 0 60000 65536"/>
                <a:gd name="T11" fmla="*/ 0 60000 65536"/>
                <a:gd name="T12" fmla="*/ 0 w 136"/>
                <a:gd name="T13" fmla="*/ 0 h 127"/>
                <a:gd name="T14" fmla="*/ 136 w 136"/>
                <a:gd name="T15" fmla="*/ 127 h 127"/>
              </a:gdLst>
              <a:ahLst/>
              <a:cxnLst>
                <a:cxn ang="T8">
                  <a:pos x="T0" y="T1"/>
                </a:cxn>
                <a:cxn ang="T9">
                  <a:pos x="T2" y="T3"/>
                </a:cxn>
                <a:cxn ang="T10">
                  <a:pos x="T4" y="T5"/>
                </a:cxn>
                <a:cxn ang="T11">
                  <a:pos x="T6" y="T7"/>
                </a:cxn>
              </a:cxnLst>
              <a:rect l="T12" t="T13" r="T14" b="T15"/>
              <a:pathLst>
                <a:path w="136" h="127">
                  <a:moveTo>
                    <a:pt x="44" y="0"/>
                  </a:moveTo>
                  <a:cubicBezTo>
                    <a:pt x="26" y="12"/>
                    <a:pt x="11" y="29"/>
                    <a:pt x="0" y="48"/>
                  </a:cubicBezTo>
                  <a:lnTo>
                    <a:pt x="136" y="127"/>
                  </a:lnTo>
                  <a:lnTo>
                    <a:pt x="44" y="0"/>
                  </a:lnTo>
                  <a:close/>
                </a:path>
              </a:pathLst>
            </a:custGeom>
            <a:solidFill>
              <a:srgbClr val="FFFF00"/>
            </a:solidFill>
            <a:ln w="6350">
              <a:solidFill>
                <a:srgbClr val="000000"/>
              </a:solidFill>
              <a:prstDash val="solid"/>
              <a:round/>
              <a:headEnd/>
              <a:tailEnd/>
            </a:ln>
          </p:spPr>
          <p:txBody>
            <a:bodyPr/>
            <a:lstStyle/>
            <a:p>
              <a:endParaRPr lang="en-MX" sz="2000"/>
            </a:p>
          </p:txBody>
        </p:sp>
        <p:sp>
          <p:nvSpPr>
            <p:cNvPr id="107548" name="Freeform 45">
              <a:extLst>
                <a:ext uri="{FF2B5EF4-FFF2-40B4-BE49-F238E27FC236}">
                  <a16:creationId xmlns:a16="http://schemas.microsoft.com/office/drawing/2014/main" id="{3CA44C94-F065-AD4B-BEFB-DA92F64D7CE9}"/>
                </a:ext>
              </a:extLst>
            </p:cNvPr>
            <p:cNvSpPr>
              <a:spLocks/>
            </p:cNvSpPr>
            <p:nvPr/>
          </p:nvSpPr>
          <p:spPr bwMode="auto">
            <a:xfrm>
              <a:off x="3792" y="1793"/>
              <a:ext cx="407" cy="638"/>
            </a:xfrm>
            <a:custGeom>
              <a:avLst/>
              <a:gdLst>
                <a:gd name="T0" fmla="*/ 201465 w 92"/>
                <a:gd name="T1" fmla="*/ 0 h 144"/>
                <a:gd name="T2" fmla="*/ 0 w 92"/>
                <a:gd name="T3" fmla="*/ 127928 h 144"/>
                <a:gd name="T4" fmla="*/ 689781 w 92"/>
                <a:gd name="T5" fmla="*/ 1089319 h 144"/>
                <a:gd name="T6" fmla="*/ 201465 w 92"/>
                <a:gd name="T7" fmla="*/ 0 h 144"/>
                <a:gd name="T8" fmla="*/ 0 60000 65536"/>
                <a:gd name="T9" fmla="*/ 0 60000 65536"/>
                <a:gd name="T10" fmla="*/ 0 60000 65536"/>
                <a:gd name="T11" fmla="*/ 0 60000 65536"/>
                <a:gd name="T12" fmla="*/ 0 w 92"/>
                <a:gd name="T13" fmla="*/ 0 h 144"/>
                <a:gd name="T14" fmla="*/ 92 w 92"/>
                <a:gd name="T15" fmla="*/ 144 h 144"/>
              </a:gdLst>
              <a:ahLst/>
              <a:cxnLst>
                <a:cxn ang="T8">
                  <a:pos x="T0" y="T1"/>
                </a:cxn>
                <a:cxn ang="T9">
                  <a:pos x="T2" y="T3"/>
                </a:cxn>
                <a:cxn ang="T10">
                  <a:pos x="T4" y="T5"/>
                </a:cxn>
                <a:cxn ang="T11">
                  <a:pos x="T6" y="T7"/>
                </a:cxn>
              </a:cxnLst>
              <a:rect l="T12" t="T13" r="T14" b="T15"/>
              <a:pathLst>
                <a:path w="92" h="144">
                  <a:moveTo>
                    <a:pt x="27" y="0"/>
                  </a:moveTo>
                  <a:cubicBezTo>
                    <a:pt x="18" y="5"/>
                    <a:pt x="8" y="10"/>
                    <a:pt x="0" y="17"/>
                  </a:cubicBezTo>
                  <a:lnTo>
                    <a:pt x="92" y="144"/>
                  </a:lnTo>
                  <a:lnTo>
                    <a:pt x="27" y="0"/>
                  </a:lnTo>
                  <a:close/>
                </a:path>
              </a:pathLst>
            </a:custGeom>
            <a:solidFill>
              <a:srgbClr val="FF0000"/>
            </a:solidFill>
            <a:ln w="6350">
              <a:solidFill>
                <a:srgbClr val="000000"/>
              </a:solidFill>
              <a:prstDash val="solid"/>
              <a:round/>
              <a:headEnd/>
              <a:tailEnd/>
            </a:ln>
          </p:spPr>
          <p:txBody>
            <a:bodyPr/>
            <a:lstStyle/>
            <a:p>
              <a:endParaRPr lang="en-MX" sz="2000"/>
            </a:p>
          </p:txBody>
        </p:sp>
        <p:sp>
          <p:nvSpPr>
            <p:cNvPr id="107549" name="Freeform 46">
              <a:extLst>
                <a:ext uri="{FF2B5EF4-FFF2-40B4-BE49-F238E27FC236}">
                  <a16:creationId xmlns:a16="http://schemas.microsoft.com/office/drawing/2014/main" id="{7EA0B526-97CE-8E46-9461-EC8D1F420CB5}"/>
                </a:ext>
              </a:extLst>
            </p:cNvPr>
            <p:cNvSpPr>
              <a:spLocks/>
            </p:cNvSpPr>
            <p:nvPr/>
          </p:nvSpPr>
          <p:spPr bwMode="auto">
            <a:xfrm>
              <a:off x="3911" y="1736"/>
              <a:ext cx="288" cy="695"/>
            </a:xfrm>
            <a:custGeom>
              <a:avLst/>
              <a:gdLst>
                <a:gd name="T0" fmla="*/ 491815 w 65"/>
                <a:gd name="T1" fmla="*/ 0 h 157"/>
                <a:gd name="T2" fmla="*/ 0 w 65"/>
                <a:gd name="T3" fmla="*/ 98725 h 157"/>
                <a:gd name="T4" fmla="*/ 491815 w 65"/>
                <a:gd name="T5" fmla="*/ 1181589 h 157"/>
                <a:gd name="T6" fmla="*/ 491815 w 65"/>
                <a:gd name="T7" fmla="*/ 0 h 157"/>
                <a:gd name="T8" fmla="*/ 0 60000 65536"/>
                <a:gd name="T9" fmla="*/ 0 60000 65536"/>
                <a:gd name="T10" fmla="*/ 0 60000 65536"/>
                <a:gd name="T11" fmla="*/ 0 60000 65536"/>
                <a:gd name="T12" fmla="*/ 0 w 65"/>
                <a:gd name="T13" fmla="*/ 0 h 157"/>
                <a:gd name="T14" fmla="*/ 65 w 65"/>
                <a:gd name="T15" fmla="*/ 157 h 157"/>
              </a:gdLst>
              <a:ahLst/>
              <a:cxnLst>
                <a:cxn ang="T8">
                  <a:pos x="T0" y="T1"/>
                </a:cxn>
                <a:cxn ang="T9">
                  <a:pos x="T2" y="T3"/>
                </a:cxn>
                <a:cxn ang="T10">
                  <a:pos x="T4" y="T5"/>
                </a:cxn>
                <a:cxn ang="T11">
                  <a:pos x="T6" y="T7"/>
                </a:cxn>
              </a:cxnLst>
              <a:rect l="T12" t="T13" r="T14" b="T15"/>
              <a:pathLst>
                <a:path w="65" h="157">
                  <a:moveTo>
                    <a:pt x="65" y="0"/>
                  </a:moveTo>
                  <a:cubicBezTo>
                    <a:pt x="42" y="0"/>
                    <a:pt x="21" y="4"/>
                    <a:pt x="0" y="13"/>
                  </a:cubicBezTo>
                  <a:lnTo>
                    <a:pt x="65" y="157"/>
                  </a:lnTo>
                  <a:lnTo>
                    <a:pt x="65" y="0"/>
                  </a:lnTo>
                  <a:close/>
                </a:path>
              </a:pathLst>
            </a:custGeom>
            <a:solidFill>
              <a:srgbClr val="FFFF00"/>
            </a:solidFill>
            <a:ln w="6350">
              <a:solidFill>
                <a:srgbClr val="000000"/>
              </a:solidFill>
              <a:prstDash val="solid"/>
              <a:round/>
              <a:headEnd/>
              <a:tailEnd/>
            </a:ln>
          </p:spPr>
          <p:txBody>
            <a:bodyPr/>
            <a:lstStyle/>
            <a:p>
              <a:endParaRPr lang="en-MX" sz="2000"/>
            </a:p>
          </p:txBody>
        </p:sp>
      </p:grpSp>
      <p:sp>
        <p:nvSpPr>
          <p:cNvPr id="107524" name="Text Box 48">
            <a:extLst>
              <a:ext uri="{FF2B5EF4-FFF2-40B4-BE49-F238E27FC236}">
                <a16:creationId xmlns:a16="http://schemas.microsoft.com/office/drawing/2014/main" id="{42013588-711B-414A-91CC-5F1E7C4F0C84}"/>
              </a:ext>
            </a:extLst>
          </p:cNvPr>
          <p:cNvSpPr txBox="1">
            <a:spLocks noChangeArrowheads="1"/>
          </p:cNvSpPr>
          <p:nvPr/>
        </p:nvSpPr>
        <p:spPr bwMode="auto">
          <a:xfrm>
            <a:off x="2209800" y="5867401"/>
            <a:ext cx="7767638"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MX" sz="3600" b="1">
                <a:solidFill>
                  <a:srgbClr val="333399"/>
                </a:solidFill>
              </a:rPr>
              <a:t>Equal chance of: pRed= 1/3, 2/3</a:t>
            </a:r>
          </a:p>
        </p:txBody>
      </p:sp>
      <p:sp>
        <p:nvSpPr>
          <p:cNvPr id="107525" name="Text Box 71">
            <a:extLst>
              <a:ext uri="{FF2B5EF4-FFF2-40B4-BE49-F238E27FC236}">
                <a16:creationId xmlns:a16="http://schemas.microsoft.com/office/drawing/2014/main" id="{B5B4DCB6-BB9A-654B-84B9-C3D09258E75B}"/>
              </a:ext>
            </a:extLst>
          </p:cNvPr>
          <p:cNvSpPr txBox="1">
            <a:spLocks noChangeArrowheads="1"/>
          </p:cNvSpPr>
          <p:nvPr/>
        </p:nvSpPr>
        <p:spPr bwMode="auto">
          <a:xfrm>
            <a:off x="3505200" y="1447800"/>
            <a:ext cx="2127827" cy="1575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69863" indent="-169863"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15000"/>
              </a:spcBef>
            </a:pPr>
            <a:r>
              <a:rPr lang="en-US" altLang="en-MX" sz="3200" b="1" u="sng">
                <a:solidFill>
                  <a:srgbClr val="333399"/>
                </a:solidFill>
              </a:rPr>
              <a:t>Game A</a:t>
            </a:r>
          </a:p>
          <a:p>
            <a:pPr eaLnBrk="1" hangingPunct="1">
              <a:spcBef>
                <a:spcPct val="15000"/>
              </a:spcBef>
              <a:buClr>
                <a:srgbClr val="333399"/>
              </a:buClr>
              <a:buFontTx/>
              <a:buChar char="•"/>
            </a:pPr>
            <a:r>
              <a:rPr lang="en-US" altLang="en-MX" sz="2800"/>
              <a:t>Red=$400</a:t>
            </a:r>
          </a:p>
          <a:p>
            <a:pPr eaLnBrk="1" hangingPunct="1">
              <a:spcBef>
                <a:spcPct val="15000"/>
              </a:spcBef>
              <a:buClr>
                <a:srgbClr val="333399"/>
              </a:buClr>
              <a:buFontTx/>
              <a:buChar char="•"/>
            </a:pPr>
            <a:r>
              <a:rPr lang="en-US" altLang="en-MX" sz="2800"/>
              <a:t>Gold=$600</a:t>
            </a:r>
          </a:p>
        </p:txBody>
      </p:sp>
      <p:sp>
        <p:nvSpPr>
          <p:cNvPr id="107526" name="Text Box 72">
            <a:extLst>
              <a:ext uri="{FF2B5EF4-FFF2-40B4-BE49-F238E27FC236}">
                <a16:creationId xmlns:a16="http://schemas.microsoft.com/office/drawing/2014/main" id="{A4C24FE1-DFE5-7A45-8B28-9B6D60B99FFE}"/>
              </a:ext>
            </a:extLst>
          </p:cNvPr>
          <p:cNvSpPr txBox="1">
            <a:spLocks noChangeArrowheads="1"/>
          </p:cNvSpPr>
          <p:nvPr/>
        </p:nvSpPr>
        <p:spPr bwMode="auto">
          <a:xfrm>
            <a:off x="5791200" y="1447800"/>
            <a:ext cx="2328201" cy="1575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69863" indent="-169863"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15000"/>
              </a:spcBef>
            </a:pPr>
            <a:r>
              <a:rPr lang="en-US" altLang="en-MX" sz="3200" b="1" u="sng">
                <a:solidFill>
                  <a:srgbClr val="333399"/>
                </a:solidFill>
              </a:rPr>
              <a:t>Game B</a:t>
            </a:r>
          </a:p>
          <a:p>
            <a:pPr eaLnBrk="1" hangingPunct="1">
              <a:spcBef>
                <a:spcPct val="15000"/>
              </a:spcBef>
              <a:buClr>
                <a:srgbClr val="333399"/>
              </a:buClr>
              <a:buFontTx/>
              <a:buChar char="•"/>
            </a:pPr>
            <a:r>
              <a:rPr lang="en-US" altLang="en-MX" sz="2800"/>
              <a:t>Red=$100</a:t>
            </a:r>
          </a:p>
          <a:p>
            <a:pPr eaLnBrk="1" hangingPunct="1">
              <a:spcBef>
                <a:spcPct val="15000"/>
              </a:spcBef>
              <a:buClr>
                <a:srgbClr val="333399"/>
              </a:buClr>
              <a:buFontTx/>
              <a:buChar char="•"/>
            </a:pPr>
            <a:r>
              <a:rPr lang="en-US" altLang="en-MX" sz="2800"/>
              <a:t>Gold=$1000</a:t>
            </a:r>
          </a:p>
        </p:txBody>
      </p:sp>
      <p:sp>
        <p:nvSpPr>
          <p:cNvPr id="107527" name="Text Box 73">
            <a:extLst>
              <a:ext uri="{FF2B5EF4-FFF2-40B4-BE49-F238E27FC236}">
                <a16:creationId xmlns:a16="http://schemas.microsoft.com/office/drawing/2014/main" id="{7E1BA71A-5BCB-DF41-A145-0161D105DBBA}"/>
              </a:ext>
            </a:extLst>
          </p:cNvPr>
          <p:cNvSpPr txBox="1">
            <a:spLocks noChangeArrowheads="1"/>
          </p:cNvSpPr>
          <p:nvPr/>
        </p:nvSpPr>
        <p:spPr bwMode="auto">
          <a:xfrm>
            <a:off x="977901" y="1524001"/>
            <a:ext cx="2597149"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MX" sz="2800" dirty="0"/>
              <a:t>Choice between two games</a:t>
            </a:r>
          </a:p>
        </p:txBody>
      </p:sp>
      <p:sp>
        <p:nvSpPr>
          <p:cNvPr id="107528" name="Text Box 76">
            <a:extLst>
              <a:ext uri="{FF2B5EF4-FFF2-40B4-BE49-F238E27FC236}">
                <a16:creationId xmlns:a16="http://schemas.microsoft.com/office/drawing/2014/main" id="{28C9FC73-6B48-874D-AAC1-FEE8571A46C8}"/>
              </a:ext>
            </a:extLst>
          </p:cNvPr>
          <p:cNvSpPr txBox="1">
            <a:spLocks noChangeArrowheads="1"/>
          </p:cNvSpPr>
          <p:nvPr/>
        </p:nvSpPr>
        <p:spPr bwMode="auto">
          <a:xfrm>
            <a:off x="8000999" y="1676401"/>
            <a:ext cx="2684461" cy="1077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MX" sz="3200"/>
              <a:t>E(A) = $500</a:t>
            </a:r>
          </a:p>
          <a:p>
            <a:pPr algn="ctr" eaLnBrk="1" hangingPunct="1"/>
            <a:r>
              <a:rPr lang="en-US" altLang="en-MX" sz="3200"/>
              <a:t>E(B) = $550</a:t>
            </a:r>
          </a:p>
        </p:txBody>
      </p:sp>
    </p:spTree>
    <p:extLst>
      <p:ext uri="{BB962C8B-B14F-4D97-AF65-F5344CB8AC3E}">
        <p14:creationId xmlns:p14="http://schemas.microsoft.com/office/powerpoint/2010/main" val="121379868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0" name="Rectangle 2">
            <a:extLst>
              <a:ext uri="{FF2B5EF4-FFF2-40B4-BE49-F238E27FC236}">
                <a16:creationId xmlns:a16="http://schemas.microsoft.com/office/drawing/2014/main" id="{88F0AB27-A99E-A843-A204-F4B2F0313AE5}"/>
              </a:ext>
            </a:extLst>
          </p:cNvPr>
          <p:cNvSpPr>
            <a:spLocks noGrp="1" noChangeArrowheads="1"/>
          </p:cNvSpPr>
          <p:nvPr>
            <p:ph type="title"/>
          </p:nvPr>
        </p:nvSpPr>
        <p:spPr>
          <a:xfrm>
            <a:off x="1444487" y="1533940"/>
            <a:ext cx="9303026" cy="2209800"/>
          </a:xfrm>
        </p:spPr>
        <p:txBody>
          <a:bodyPr>
            <a:normAutofit/>
          </a:bodyPr>
          <a:lstStyle/>
          <a:p>
            <a:pPr eaLnBrk="1" hangingPunct="1"/>
            <a:r>
              <a:rPr lang="en-US" altLang="en-MX" dirty="0">
                <a:ea typeface="ＭＳ Ｐゴシック" panose="020B0600070205080204" pitchFamily="34" charset="-128"/>
              </a:rPr>
              <a:t>How much would you pay to get perfect information on which wheel it is (</a:t>
            </a:r>
            <a:r>
              <a:rPr lang="en-US" altLang="en-MX" dirty="0" err="1">
                <a:ea typeface="ＭＳ Ｐゴシック" panose="020B0600070205080204" pitchFamily="34" charset="-128"/>
              </a:rPr>
              <a:t>pRed</a:t>
            </a:r>
            <a:r>
              <a:rPr lang="en-US" altLang="en-MX" dirty="0">
                <a:ea typeface="ＭＳ Ｐゴシック" panose="020B0600070205080204" pitchFamily="34" charset="-128"/>
              </a:rPr>
              <a:t>)?</a:t>
            </a:r>
          </a:p>
        </p:txBody>
      </p:sp>
    </p:spTree>
    <p:extLst>
      <p:ext uri="{BB962C8B-B14F-4D97-AF65-F5344CB8AC3E}">
        <p14:creationId xmlns:p14="http://schemas.microsoft.com/office/powerpoint/2010/main" val="285241583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4418" name="Rectangle 2">
            <a:extLst>
              <a:ext uri="{FF2B5EF4-FFF2-40B4-BE49-F238E27FC236}">
                <a16:creationId xmlns:a16="http://schemas.microsoft.com/office/drawing/2014/main" id="{5E995032-4C0D-C244-AF6C-E18B5DD84F65}"/>
              </a:ext>
            </a:extLst>
          </p:cNvPr>
          <p:cNvSpPr>
            <a:spLocks noGrp="1" noChangeArrowheads="1"/>
          </p:cNvSpPr>
          <p:nvPr>
            <p:ph type="title"/>
          </p:nvPr>
        </p:nvSpPr>
        <p:spPr>
          <a:xfrm>
            <a:off x="802257" y="381000"/>
            <a:ext cx="10636369" cy="809445"/>
          </a:xfrm>
        </p:spPr>
        <p:txBody>
          <a:bodyPr/>
          <a:lstStyle/>
          <a:p>
            <a:pPr>
              <a:defRPr/>
            </a:pPr>
            <a:r>
              <a:rPr lang="en-US" dirty="0"/>
              <a:t>Cost-Effectiveness Analysis</a:t>
            </a:r>
          </a:p>
        </p:txBody>
      </p:sp>
      <p:sp>
        <p:nvSpPr>
          <p:cNvPr id="6147" name="Rectangle 3">
            <a:extLst>
              <a:ext uri="{FF2B5EF4-FFF2-40B4-BE49-F238E27FC236}">
                <a16:creationId xmlns:a16="http://schemas.microsoft.com/office/drawing/2014/main" id="{09F28DE6-448A-2547-866E-A4D061F6A849}"/>
              </a:ext>
            </a:extLst>
          </p:cNvPr>
          <p:cNvSpPr>
            <a:spLocks noGrp="1" noChangeArrowheads="1"/>
          </p:cNvSpPr>
          <p:nvPr>
            <p:ph type="body" idx="1"/>
          </p:nvPr>
        </p:nvSpPr>
        <p:spPr>
          <a:xfrm>
            <a:off x="802257" y="1523999"/>
            <a:ext cx="10636369" cy="5238307"/>
          </a:xfrm>
        </p:spPr>
        <p:txBody>
          <a:bodyPr>
            <a:normAutofit/>
          </a:bodyPr>
          <a:lstStyle/>
          <a:p>
            <a:r>
              <a:rPr lang="en-US" dirty="0"/>
              <a:t>Cost‐effectiveness analysis is decision analysis in the context of resource constraints </a:t>
            </a:r>
          </a:p>
          <a:p>
            <a:r>
              <a:rPr lang="en-US" dirty="0"/>
              <a:t>Consider expected health benefits AND costs</a:t>
            </a:r>
          </a:p>
          <a:p>
            <a:pPr lvl="1"/>
            <a:r>
              <a:rPr lang="en-US" dirty="0"/>
              <a:t>Efficiency consideration ($ / health benefit) </a:t>
            </a:r>
          </a:p>
          <a:p>
            <a:r>
              <a:rPr lang="en-US" dirty="0"/>
              <a:t>Common measure of health benefit </a:t>
            </a:r>
          </a:p>
          <a:p>
            <a:pPr lvl="1"/>
            <a:r>
              <a:rPr lang="en-US" dirty="0"/>
              <a:t>Quality‐adjusted life‐year (QALY) </a:t>
            </a:r>
          </a:p>
          <a:p>
            <a:pPr lvl="1"/>
            <a:r>
              <a:rPr lang="en-US" dirty="0"/>
              <a:t>Allows for comparison across different health domains (e.g., cavities vs. heart attacks) </a:t>
            </a:r>
          </a:p>
          <a:p>
            <a:r>
              <a:rPr lang="en-US" dirty="0"/>
              <a:t>Decision must be made within a budget </a:t>
            </a:r>
          </a:p>
          <a:p>
            <a:r>
              <a:rPr lang="en-US" dirty="0"/>
              <a:t>Cannot do all beneficial things, how to prioritize? </a:t>
            </a:r>
          </a:p>
          <a:p>
            <a:endParaRPr lang="en-US" dirty="0"/>
          </a:p>
          <a:p>
            <a:endParaRPr lang="en-US" dirty="0"/>
          </a:p>
        </p:txBody>
      </p:sp>
    </p:spTree>
    <p:extLst>
      <p:ext uri="{BB962C8B-B14F-4D97-AF65-F5344CB8AC3E}">
        <p14:creationId xmlns:p14="http://schemas.microsoft.com/office/powerpoint/2010/main" val="301538764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4418" name="Rectangle 2">
            <a:extLst>
              <a:ext uri="{FF2B5EF4-FFF2-40B4-BE49-F238E27FC236}">
                <a16:creationId xmlns:a16="http://schemas.microsoft.com/office/drawing/2014/main" id="{5E995032-4C0D-C244-AF6C-E18B5DD84F65}"/>
              </a:ext>
            </a:extLst>
          </p:cNvPr>
          <p:cNvSpPr>
            <a:spLocks noGrp="1" noChangeArrowheads="1"/>
          </p:cNvSpPr>
          <p:nvPr>
            <p:ph type="title"/>
          </p:nvPr>
        </p:nvSpPr>
        <p:spPr>
          <a:xfrm>
            <a:off x="802257" y="381000"/>
            <a:ext cx="10636369" cy="809445"/>
          </a:xfrm>
        </p:spPr>
        <p:txBody>
          <a:bodyPr/>
          <a:lstStyle/>
          <a:p>
            <a:pPr>
              <a:defRPr/>
            </a:pPr>
            <a:r>
              <a:rPr lang="en-US" dirty="0"/>
              <a:t>Cost-Effectiveness Analysis</a:t>
            </a:r>
          </a:p>
        </p:txBody>
      </p:sp>
      <p:sp>
        <p:nvSpPr>
          <p:cNvPr id="6147" name="Rectangle 3">
            <a:extLst>
              <a:ext uri="{FF2B5EF4-FFF2-40B4-BE49-F238E27FC236}">
                <a16:creationId xmlns:a16="http://schemas.microsoft.com/office/drawing/2014/main" id="{09F28DE6-448A-2547-866E-A4D061F6A849}"/>
              </a:ext>
            </a:extLst>
          </p:cNvPr>
          <p:cNvSpPr>
            <a:spLocks noGrp="1" noChangeArrowheads="1"/>
          </p:cNvSpPr>
          <p:nvPr>
            <p:ph type="body" idx="1"/>
          </p:nvPr>
        </p:nvSpPr>
        <p:spPr>
          <a:xfrm>
            <a:off x="802257" y="1524000"/>
            <a:ext cx="10636369" cy="4876800"/>
          </a:xfrm>
        </p:spPr>
        <p:txBody>
          <a:bodyPr>
            <a:normAutofit/>
          </a:bodyPr>
          <a:lstStyle/>
          <a:p>
            <a:r>
              <a:rPr lang="en-US" altLang="en-MX" dirty="0"/>
              <a:t>Relevant when alternative options have different costs and health consequences</a:t>
            </a:r>
          </a:p>
          <a:p>
            <a:pPr>
              <a:spcAft>
                <a:spcPct val="20000"/>
              </a:spcAft>
            </a:pPr>
            <a:r>
              <a:rPr lang="en-US" altLang="en-MX" dirty="0"/>
              <a:t>Costs are valued in monetary terms (e.g., CLP$)</a:t>
            </a:r>
          </a:p>
          <a:p>
            <a:pPr>
              <a:spcAft>
                <a:spcPct val="20000"/>
              </a:spcAft>
            </a:pPr>
            <a:r>
              <a:rPr lang="en-US" altLang="en-MX" dirty="0"/>
              <a:t>Benefits are valued in terms of outcomes (e.g., cases prevented or cured, lives saved, years of life gained, quality-adjusted life years gained)</a:t>
            </a:r>
          </a:p>
          <a:p>
            <a:pPr>
              <a:spcAft>
                <a:spcPct val="20000"/>
              </a:spcAft>
            </a:pPr>
            <a:r>
              <a:rPr lang="en-US" altLang="en-MX" dirty="0"/>
              <a:t>Results reported as a cost-effectiveness ratio</a:t>
            </a:r>
          </a:p>
        </p:txBody>
      </p:sp>
    </p:spTree>
    <p:extLst>
      <p:ext uri="{BB962C8B-B14F-4D97-AF65-F5344CB8AC3E}">
        <p14:creationId xmlns:p14="http://schemas.microsoft.com/office/powerpoint/2010/main" val="73306535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6466" name="Rectangle 2">
            <a:extLst>
              <a:ext uri="{FF2B5EF4-FFF2-40B4-BE49-F238E27FC236}">
                <a16:creationId xmlns:a16="http://schemas.microsoft.com/office/drawing/2014/main" id="{ED7E1C67-B2E5-BC49-A685-38D7D57B6590}"/>
              </a:ext>
            </a:extLst>
          </p:cNvPr>
          <p:cNvSpPr>
            <a:spLocks noGrp="1" noChangeArrowheads="1"/>
          </p:cNvSpPr>
          <p:nvPr>
            <p:ph type="title"/>
          </p:nvPr>
        </p:nvSpPr>
        <p:spPr>
          <a:xfrm>
            <a:off x="664233" y="381000"/>
            <a:ext cx="10662249" cy="973347"/>
          </a:xfrm>
        </p:spPr>
        <p:txBody>
          <a:bodyPr vert="horz" lIns="92075" tIns="46038" rIns="92075" bIns="46038" rtlCol="0" anchor="ctr">
            <a:normAutofit/>
          </a:bodyPr>
          <a:lstStyle/>
          <a:p>
            <a:pPr>
              <a:defRPr/>
            </a:pPr>
            <a:r>
              <a:rPr lang="en-US" dirty="0"/>
              <a:t>Cost-Effectiveness Ratio</a:t>
            </a:r>
            <a:endParaRPr lang="en-US" sz="3200" dirty="0"/>
          </a:p>
        </p:txBody>
      </p:sp>
      <p:sp>
        <p:nvSpPr>
          <p:cNvPr id="7171" name="Line 3">
            <a:extLst>
              <a:ext uri="{FF2B5EF4-FFF2-40B4-BE49-F238E27FC236}">
                <a16:creationId xmlns:a16="http://schemas.microsoft.com/office/drawing/2014/main" id="{44558384-ECBD-0743-98F4-B5D9C1427F5A}"/>
              </a:ext>
            </a:extLst>
          </p:cNvPr>
          <p:cNvSpPr>
            <a:spLocks noChangeShapeType="1"/>
          </p:cNvSpPr>
          <p:nvPr/>
        </p:nvSpPr>
        <p:spPr bwMode="auto">
          <a:xfrm flipV="1">
            <a:off x="2819400" y="3352800"/>
            <a:ext cx="67056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7172" name="Rectangle 4">
            <a:extLst>
              <a:ext uri="{FF2B5EF4-FFF2-40B4-BE49-F238E27FC236}">
                <a16:creationId xmlns:a16="http://schemas.microsoft.com/office/drawing/2014/main" id="{B8B31F0E-6247-5344-BD55-7EC52D2B6089}"/>
              </a:ext>
            </a:extLst>
          </p:cNvPr>
          <p:cNvSpPr>
            <a:spLocks noChangeArrowheads="1"/>
          </p:cNvSpPr>
          <p:nvPr/>
        </p:nvSpPr>
        <p:spPr bwMode="auto">
          <a:xfrm>
            <a:off x="2438400" y="2514600"/>
            <a:ext cx="7353300"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algn="ctr">
              <a:spcBef>
                <a:spcPct val="20000"/>
              </a:spcBef>
            </a:pPr>
            <a:r>
              <a:rPr lang="en-US" altLang="en-MX" sz="3200" b="0">
                <a:solidFill>
                  <a:srgbClr val="000000"/>
                </a:solidFill>
                <a:latin typeface="Arial" panose="020B0604020202020204" pitchFamily="34" charset="0"/>
              </a:rPr>
              <a:t>Net increase in health care cost</a:t>
            </a:r>
          </a:p>
        </p:txBody>
      </p:sp>
      <p:sp>
        <p:nvSpPr>
          <p:cNvPr id="7173" name="Rectangle 5">
            <a:extLst>
              <a:ext uri="{FF2B5EF4-FFF2-40B4-BE49-F238E27FC236}">
                <a16:creationId xmlns:a16="http://schemas.microsoft.com/office/drawing/2014/main" id="{F5F64256-4179-0E4C-A981-2781CC79BE2D}"/>
              </a:ext>
            </a:extLst>
          </p:cNvPr>
          <p:cNvSpPr>
            <a:spLocks noChangeArrowheads="1"/>
          </p:cNvSpPr>
          <p:nvPr/>
        </p:nvSpPr>
        <p:spPr bwMode="auto">
          <a:xfrm>
            <a:off x="2590800" y="3505200"/>
            <a:ext cx="7010400"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algn="ctr"/>
            <a:r>
              <a:rPr lang="en-US" altLang="en-MX" sz="3200" b="0">
                <a:solidFill>
                  <a:srgbClr val="000000"/>
                </a:solidFill>
                <a:latin typeface="Arial" panose="020B0604020202020204" pitchFamily="34" charset="0"/>
              </a:rPr>
              <a:t>Net gain in health effect</a:t>
            </a:r>
          </a:p>
        </p:txBody>
      </p:sp>
    </p:spTree>
    <p:extLst>
      <p:ext uri="{BB962C8B-B14F-4D97-AF65-F5344CB8AC3E}">
        <p14:creationId xmlns:p14="http://schemas.microsoft.com/office/powerpoint/2010/main" val="539580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8514" name="Rectangle 2">
            <a:extLst>
              <a:ext uri="{FF2B5EF4-FFF2-40B4-BE49-F238E27FC236}">
                <a16:creationId xmlns:a16="http://schemas.microsoft.com/office/drawing/2014/main" id="{F487FB44-3029-1142-8CBE-1FF13874E61E}"/>
              </a:ext>
            </a:extLst>
          </p:cNvPr>
          <p:cNvSpPr>
            <a:spLocks noGrp="1" noChangeArrowheads="1"/>
          </p:cNvSpPr>
          <p:nvPr>
            <p:ph type="title"/>
          </p:nvPr>
        </p:nvSpPr>
        <p:spPr>
          <a:xfrm>
            <a:off x="914399" y="457200"/>
            <a:ext cx="10584611" cy="810883"/>
          </a:xfrm>
        </p:spPr>
        <p:txBody>
          <a:bodyPr vert="horz" lIns="92075" tIns="46038" rIns="92075" bIns="46038" rtlCol="0" anchor="ctr">
            <a:normAutofit/>
          </a:bodyPr>
          <a:lstStyle/>
          <a:p>
            <a:pPr>
              <a:defRPr/>
            </a:pPr>
            <a:r>
              <a:rPr lang="en-US" dirty="0"/>
              <a:t>A Special Case</a:t>
            </a:r>
            <a:endParaRPr lang="en-US" sz="3200" dirty="0"/>
          </a:p>
        </p:txBody>
      </p:sp>
      <p:sp>
        <p:nvSpPr>
          <p:cNvPr id="8195" name="Line 3">
            <a:extLst>
              <a:ext uri="{FF2B5EF4-FFF2-40B4-BE49-F238E27FC236}">
                <a16:creationId xmlns:a16="http://schemas.microsoft.com/office/drawing/2014/main" id="{83BAC48B-AE9D-0743-A5A9-B37DB1DCF9A9}"/>
              </a:ext>
            </a:extLst>
          </p:cNvPr>
          <p:cNvSpPr>
            <a:spLocks noChangeShapeType="1"/>
          </p:cNvSpPr>
          <p:nvPr/>
        </p:nvSpPr>
        <p:spPr bwMode="auto">
          <a:xfrm flipV="1">
            <a:off x="2819400" y="3429000"/>
            <a:ext cx="67056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MX"/>
          </a:p>
        </p:txBody>
      </p:sp>
      <p:sp>
        <p:nvSpPr>
          <p:cNvPr id="8196" name="Rectangle 4">
            <a:extLst>
              <a:ext uri="{FF2B5EF4-FFF2-40B4-BE49-F238E27FC236}">
                <a16:creationId xmlns:a16="http://schemas.microsoft.com/office/drawing/2014/main" id="{745C8E53-07F6-8146-B54E-770B296CCC23}"/>
              </a:ext>
            </a:extLst>
          </p:cNvPr>
          <p:cNvSpPr>
            <a:spLocks noChangeArrowheads="1"/>
          </p:cNvSpPr>
          <p:nvPr/>
        </p:nvSpPr>
        <p:spPr bwMode="auto">
          <a:xfrm>
            <a:off x="2438400" y="2590800"/>
            <a:ext cx="7353300"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algn="ctr">
              <a:spcBef>
                <a:spcPct val="20000"/>
              </a:spcBef>
            </a:pPr>
            <a:r>
              <a:rPr lang="en-US" altLang="en-MX" sz="3200" b="0">
                <a:solidFill>
                  <a:srgbClr val="000000"/>
                </a:solidFill>
                <a:latin typeface="Arial" panose="020B0604020202020204" pitchFamily="34" charset="0"/>
              </a:rPr>
              <a:t>Net increase in health care cost</a:t>
            </a:r>
          </a:p>
        </p:txBody>
      </p:sp>
      <p:sp>
        <p:nvSpPr>
          <p:cNvPr id="8197" name="Rectangle 5">
            <a:extLst>
              <a:ext uri="{FF2B5EF4-FFF2-40B4-BE49-F238E27FC236}">
                <a16:creationId xmlns:a16="http://schemas.microsoft.com/office/drawing/2014/main" id="{E31EE718-44F6-7841-AE2C-9A2667234C24}"/>
              </a:ext>
            </a:extLst>
          </p:cNvPr>
          <p:cNvSpPr>
            <a:spLocks noChangeArrowheads="1"/>
          </p:cNvSpPr>
          <p:nvPr/>
        </p:nvSpPr>
        <p:spPr bwMode="auto">
          <a:xfrm>
            <a:off x="2514600" y="3505200"/>
            <a:ext cx="7010400"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algn="ctr"/>
            <a:r>
              <a:rPr lang="en-US" altLang="en-MX" sz="3200" b="0">
                <a:solidFill>
                  <a:srgbClr val="000000"/>
                </a:solidFill>
                <a:latin typeface="Arial" panose="020B0604020202020204" pitchFamily="34" charset="0"/>
              </a:rPr>
              <a:t>Net gain in quality-adjusted life years</a:t>
            </a:r>
          </a:p>
        </p:txBody>
      </p:sp>
      <p:sp>
        <p:nvSpPr>
          <p:cNvPr id="8198" name="Rectangle 7">
            <a:extLst>
              <a:ext uri="{FF2B5EF4-FFF2-40B4-BE49-F238E27FC236}">
                <a16:creationId xmlns:a16="http://schemas.microsoft.com/office/drawing/2014/main" id="{6BB4B829-F88C-CD42-BE02-3A471E7325CF}"/>
              </a:ext>
            </a:extLst>
          </p:cNvPr>
          <p:cNvSpPr>
            <a:spLocks noChangeArrowheads="1"/>
          </p:cNvSpPr>
          <p:nvPr/>
        </p:nvSpPr>
        <p:spPr bwMode="auto">
          <a:xfrm>
            <a:off x="4724400" y="3581400"/>
            <a:ext cx="4724400" cy="533400"/>
          </a:xfrm>
          <a:prstGeom prst="rect">
            <a:avLst/>
          </a:prstGeom>
          <a:noFill/>
          <a:ln w="12700">
            <a:solidFill>
              <a:srgbClr val="00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8199" name="Line 8">
            <a:extLst>
              <a:ext uri="{FF2B5EF4-FFF2-40B4-BE49-F238E27FC236}">
                <a16:creationId xmlns:a16="http://schemas.microsoft.com/office/drawing/2014/main" id="{3FB6B14F-82E0-3A4E-93CD-DF8649BE0F06}"/>
              </a:ext>
            </a:extLst>
          </p:cNvPr>
          <p:cNvSpPr>
            <a:spLocks noChangeShapeType="1"/>
          </p:cNvSpPr>
          <p:nvPr/>
        </p:nvSpPr>
        <p:spPr bwMode="auto">
          <a:xfrm flipH="1">
            <a:off x="6477000" y="4343400"/>
            <a:ext cx="457200" cy="685800"/>
          </a:xfrm>
          <a:prstGeom prst="line">
            <a:avLst/>
          </a:prstGeom>
          <a:noFill/>
          <a:ln w="12700">
            <a:solidFill>
              <a:srgbClr val="000000"/>
            </a:solidFill>
            <a:round/>
            <a:headEnd type="triangle" w="med" len="med"/>
            <a:tailEnd type="none" w="sm" len="sm"/>
          </a:ln>
          <a:extLst>
            <a:ext uri="{909E8E84-426E-40DD-AFC4-6F175D3DCCD1}">
              <a14:hiddenFill xmlns:a14="http://schemas.microsoft.com/office/drawing/2010/main">
                <a:noFill/>
              </a14:hiddenFill>
            </a:ext>
          </a:extLst>
        </p:spPr>
        <p:txBody>
          <a:bodyPr/>
          <a:lstStyle/>
          <a:p>
            <a:endParaRPr lang="en-MX"/>
          </a:p>
        </p:txBody>
      </p:sp>
      <p:sp>
        <p:nvSpPr>
          <p:cNvPr id="8200" name="Text Box 9">
            <a:extLst>
              <a:ext uri="{FF2B5EF4-FFF2-40B4-BE49-F238E27FC236}">
                <a16:creationId xmlns:a16="http://schemas.microsoft.com/office/drawing/2014/main" id="{538F020B-6B65-4445-8332-09995754DB52}"/>
              </a:ext>
            </a:extLst>
          </p:cNvPr>
          <p:cNvSpPr txBox="1">
            <a:spLocks noChangeArrowheads="1"/>
          </p:cNvSpPr>
          <p:nvPr/>
        </p:nvSpPr>
        <p:spPr bwMode="auto">
          <a:xfrm>
            <a:off x="4572000" y="5102225"/>
            <a:ext cx="37734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sz="3200" b="0">
                <a:solidFill>
                  <a:srgbClr val="000000"/>
                </a:solidFill>
                <a:latin typeface="Arial" panose="020B0604020202020204" pitchFamily="34" charset="0"/>
              </a:rPr>
              <a:t>Cost-Utility Analysis</a:t>
            </a:r>
          </a:p>
        </p:txBody>
      </p:sp>
    </p:spTree>
    <p:extLst>
      <p:ext uri="{BB962C8B-B14F-4D97-AF65-F5344CB8AC3E}">
        <p14:creationId xmlns:p14="http://schemas.microsoft.com/office/powerpoint/2010/main" val="8622518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7730" name="Rectangle 2">
            <a:extLst>
              <a:ext uri="{FF2B5EF4-FFF2-40B4-BE49-F238E27FC236}">
                <a16:creationId xmlns:a16="http://schemas.microsoft.com/office/drawing/2014/main" id="{4B6B7907-736C-CA46-B7A8-439A73CD90A3}"/>
              </a:ext>
            </a:extLst>
          </p:cNvPr>
          <p:cNvSpPr>
            <a:spLocks noGrp="1" noChangeArrowheads="1"/>
          </p:cNvSpPr>
          <p:nvPr>
            <p:ph type="title"/>
          </p:nvPr>
        </p:nvSpPr>
        <p:spPr>
          <a:xfrm>
            <a:off x="838200" y="381000"/>
            <a:ext cx="10515600" cy="1143000"/>
          </a:xfrm>
        </p:spPr>
        <p:txBody>
          <a:bodyPr/>
          <a:lstStyle/>
          <a:p>
            <a:pPr>
              <a:defRPr/>
            </a:pPr>
            <a:r>
              <a:rPr lang="en-US" dirty="0"/>
              <a:t>Two Types of Policy Decisions</a:t>
            </a:r>
          </a:p>
        </p:txBody>
      </p:sp>
      <p:sp>
        <p:nvSpPr>
          <p:cNvPr id="9219" name="Rectangle 3">
            <a:extLst>
              <a:ext uri="{FF2B5EF4-FFF2-40B4-BE49-F238E27FC236}">
                <a16:creationId xmlns:a16="http://schemas.microsoft.com/office/drawing/2014/main" id="{2D0B7EA8-6AB9-9744-8AE1-E996268D5E4B}"/>
              </a:ext>
            </a:extLst>
          </p:cNvPr>
          <p:cNvSpPr>
            <a:spLocks noGrp="1" noChangeArrowheads="1"/>
          </p:cNvSpPr>
          <p:nvPr>
            <p:ph type="body" idx="1"/>
          </p:nvPr>
        </p:nvSpPr>
        <p:spPr/>
        <p:txBody>
          <a:bodyPr/>
          <a:lstStyle/>
          <a:p>
            <a:endParaRPr lang="en-US" altLang="en-MX"/>
          </a:p>
          <a:p>
            <a:endParaRPr lang="en-US" altLang="en-MX"/>
          </a:p>
        </p:txBody>
      </p:sp>
      <p:graphicFrame>
        <p:nvGraphicFramePr>
          <p:cNvPr id="1097756" name="Group 28">
            <a:extLst>
              <a:ext uri="{FF2B5EF4-FFF2-40B4-BE49-F238E27FC236}">
                <a16:creationId xmlns:a16="http://schemas.microsoft.com/office/drawing/2014/main" id="{9B9772DD-EDC4-8047-B154-9690F420E391}"/>
              </a:ext>
            </a:extLst>
          </p:cNvPr>
          <p:cNvGraphicFramePr>
            <a:graphicFrameLocks noGrp="1"/>
          </p:cNvGraphicFramePr>
          <p:nvPr/>
        </p:nvGraphicFramePr>
        <p:xfrm>
          <a:off x="1424763" y="2009775"/>
          <a:ext cx="5204637" cy="3886200"/>
        </p:xfrm>
        <a:graphic>
          <a:graphicData uri="http://schemas.openxmlformats.org/drawingml/2006/table">
            <a:tbl>
              <a:tblPr/>
              <a:tblGrid>
                <a:gridCol w="5204637">
                  <a:extLst>
                    <a:ext uri="{9D8B030D-6E8A-4147-A177-3AD203B41FA5}">
                      <a16:colId xmlns:a16="http://schemas.microsoft.com/office/drawing/2014/main" val="20000"/>
                    </a:ext>
                  </a:extLst>
                </a:gridCol>
              </a:tblGrid>
              <a:tr h="457200">
                <a:tc>
                  <a:txBody>
                    <a:bodyPr/>
                    <a:lstStyle/>
                    <a:p>
                      <a:pPr marL="0" marR="0" lvl="0" indent="0" algn="l" defTabSz="914400" rtl="0" eaLnBrk="0" fontAlgn="base" latinLnBrk="0" hangingPunct="0">
                        <a:lnSpc>
                          <a:spcPct val="100000"/>
                        </a:lnSpc>
                        <a:spcBef>
                          <a:spcPct val="0"/>
                        </a:spcBef>
                        <a:spcAft>
                          <a:spcPct val="0"/>
                        </a:spcAft>
                        <a:buClr>
                          <a:srgbClr val="990033"/>
                        </a:buClr>
                        <a:buSzTx/>
                        <a:buFontTx/>
                        <a:buNone/>
                        <a:tabLst/>
                      </a:pPr>
                      <a:r>
                        <a:rPr kumimoji="0" lang="en-US" sz="2800" b="0" i="0" u="none" strike="noStrike" cap="none" normalizeH="0" baseline="0" dirty="0">
                          <a:ln>
                            <a:noFill/>
                          </a:ln>
                          <a:solidFill>
                            <a:schemeClr val="tx1"/>
                          </a:solidFill>
                          <a:effectLst/>
                          <a:latin typeface="Arial" charset="0"/>
                        </a:rPr>
                        <a:t>- Malaria Deaths Prevention program</a:t>
                      </a:r>
                    </a:p>
                  </a:txBody>
                  <a:tcPr horzOverflow="overflow">
                    <a:lnL cap="flat">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457200">
                <a:tc>
                  <a:txBody>
                    <a:bodyPr/>
                    <a:lstStyle/>
                    <a:p>
                      <a:pPr marL="0" marR="0" lvl="0" indent="0" algn="l" defTabSz="914400" rtl="0" eaLnBrk="0" fontAlgn="base" latinLnBrk="0" hangingPunct="0">
                        <a:lnSpc>
                          <a:spcPct val="100000"/>
                        </a:lnSpc>
                        <a:spcBef>
                          <a:spcPct val="0"/>
                        </a:spcBef>
                        <a:spcAft>
                          <a:spcPct val="0"/>
                        </a:spcAft>
                        <a:buClr>
                          <a:srgbClr val="990033"/>
                        </a:buClr>
                        <a:buSzTx/>
                        <a:buFontTx/>
                        <a:buNone/>
                        <a:tabLst/>
                      </a:pPr>
                      <a:r>
                        <a:rPr kumimoji="0" lang="en-US" sz="2800" b="0" i="0" u="none" strike="noStrike" cap="none" normalizeH="0" baseline="0" dirty="0">
                          <a:ln>
                            <a:noFill/>
                          </a:ln>
                          <a:solidFill>
                            <a:schemeClr val="tx1"/>
                          </a:solidFill>
                          <a:effectLst/>
                          <a:latin typeface="Arial" charset="0"/>
                        </a:rPr>
                        <a:t>- Depression Screening program</a:t>
                      </a:r>
                    </a:p>
                  </a:txBody>
                  <a:tcPr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533400">
                <a:tc>
                  <a:txBody>
                    <a:bodyPr/>
                    <a:lstStyle/>
                    <a:p>
                      <a:pPr marL="0" marR="0" lvl="0" indent="0" algn="l" defTabSz="914400" rtl="0" eaLnBrk="0" fontAlgn="base" latinLnBrk="0" hangingPunct="0">
                        <a:lnSpc>
                          <a:spcPct val="100000"/>
                        </a:lnSpc>
                        <a:spcBef>
                          <a:spcPct val="0"/>
                        </a:spcBef>
                        <a:spcAft>
                          <a:spcPct val="0"/>
                        </a:spcAft>
                        <a:buClr>
                          <a:srgbClr val="990033"/>
                        </a:buClr>
                        <a:buSzTx/>
                        <a:buFontTx/>
                        <a:buNone/>
                        <a:tabLst/>
                      </a:pPr>
                      <a:r>
                        <a:rPr kumimoji="0" lang="en-US" sz="2800" b="0" i="0" u="none" strike="noStrike" cap="none" normalizeH="0" baseline="0" dirty="0">
                          <a:ln>
                            <a:noFill/>
                          </a:ln>
                          <a:solidFill>
                            <a:schemeClr val="tx1"/>
                          </a:solidFill>
                          <a:effectLst/>
                          <a:latin typeface="Arial" charset="0"/>
                        </a:rPr>
                        <a:t>- Safe Motherhood program</a:t>
                      </a:r>
                    </a:p>
                  </a:txBody>
                  <a:tcPr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457200">
                <a:tc>
                  <a:txBody>
                    <a:bodyPr/>
                    <a:lstStyle/>
                    <a:p>
                      <a:pPr marL="0" marR="0" lvl="0" indent="0" algn="l" defTabSz="914400" rtl="0" eaLnBrk="0" fontAlgn="base" latinLnBrk="0" hangingPunct="0">
                        <a:lnSpc>
                          <a:spcPct val="100000"/>
                        </a:lnSpc>
                        <a:spcBef>
                          <a:spcPct val="0"/>
                        </a:spcBef>
                        <a:spcAft>
                          <a:spcPct val="0"/>
                        </a:spcAft>
                        <a:buClr>
                          <a:srgbClr val="990033"/>
                        </a:buClr>
                        <a:buSzTx/>
                        <a:buFontTx/>
                        <a:buNone/>
                        <a:tabLst/>
                      </a:pPr>
                      <a:r>
                        <a:rPr kumimoji="0" lang="en-US" sz="2800" b="0" i="0" u="none" strike="noStrike" cap="none" normalizeH="0" baseline="0" dirty="0">
                          <a:ln>
                            <a:noFill/>
                          </a:ln>
                          <a:solidFill>
                            <a:schemeClr val="tx1"/>
                          </a:solidFill>
                          <a:effectLst/>
                          <a:latin typeface="Arial" charset="0"/>
                        </a:rPr>
                        <a:t>- Child Vaccination program</a:t>
                      </a:r>
                    </a:p>
                  </a:txBody>
                  <a:tcPr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457200">
                <a:tc>
                  <a:txBody>
                    <a:bodyPr/>
                    <a:lstStyle/>
                    <a:p>
                      <a:pPr marL="0" marR="0" lvl="0" indent="0" algn="l" defTabSz="914400" rtl="0" eaLnBrk="0" fontAlgn="base" latinLnBrk="0" hangingPunct="0">
                        <a:lnSpc>
                          <a:spcPct val="100000"/>
                        </a:lnSpc>
                        <a:spcBef>
                          <a:spcPct val="0"/>
                        </a:spcBef>
                        <a:spcAft>
                          <a:spcPct val="0"/>
                        </a:spcAft>
                        <a:buClr>
                          <a:srgbClr val="990033"/>
                        </a:buClr>
                        <a:buSzTx/>
                        <a:buFontTx/>
                        <a:buNone/>
                        <a:tabLst/>
                      </a:pPr>
                      <a:r>
                        <a:rPr kumimoji="0" lang="en-US" sz="2800" b="0" i="0" u="none" strike="noStrike" cap="none" normalizeH="0" baseline="0" dirty="0">
                          <a:ln>
                            <a:noFill/>
                          </a:ln>
                          <a:solidFill>
                            <a:schemeClr val="tx1"/>
                          </a:solidFill>
                          <a:effectLst/>
                          <a:latin typeface="Arial" charset="0"/>
                        </a:rPr>
                        <a:t>- Cardiovascular Disease program</a:t>
                      </a:r>
                    </a:p>
                  </a:txBody>
                  <a:tcPr horzOverflow="overflow">
                    <a:lnL cap="flat">
                      <a:noFill/>
                    </a:lnL>
                    <a:lnR cap="flat">
                      <a:noFill/>
                    </a:lnR>
                    <a:lnT>
                      <a:noFill/>
                    </a:lnT>
                    <a:lnB cap="flat">
                      <a:noFill/>
                    </a:lnB>
                    <a:lnTlToBr>
                      <a:noFill/>
                    </a:lnTlToBr>
                    <a:lnBlToTr>
                      <a:noFill/>
                    </a:lnBlToTr>
                    <a:noFill/>
                  </a:tcPr>
                </a:tc>
                <a:extLst>
                  <a:ext uri="{0D108BD9-81ED-4DB2-BD59-A6C34878D82A}">
                    <a16:rowId xmlns:a16="http://schemas.microsoft.com/office/drawing/2014/main" val="10004"/>
                  </a:ext>
                </a:extLst>
              </a:tr>
            </a:tbl>
          </a:graphicData>
        </a:graphic>
      </p:graphicFrame>
      <p:sp>
        <p:nvSpPr>
          <p:cNvPr id="9226" name="Line 22">
            <a:extLst>
              <a:ext uri="{FF2B5EF4-FFF2-40B4-BE49-F238E27FC236}">
                <a16:creationId xmlns:a16="http://schemas.microsoft.com/office/drawing/2014/main" id="{E9AEDD04-90D9-D147-A9D8-F27A9028524E}"/>
              </a:ext>
            </a:extLst>
          </p:cNvPr>
          <p:cNvSpPr>
            <a:spLocks noChangeShapeType="1"/>
          </p:cNvSpPr>
          <p:nvPr/>
        </p:nvSpPr>
        <p:spPr bwMode="auto">
          <a:xfrm>
            <a:off x="1541721" y="1966914"/>
            <a:ext cx="8516679" cy="14286"/>
          </a:xfrm>
          <a:prstGeom prst="line">
            <a:avLst/>
          </a:prstGeom>
          <a:noFill/>
          <a:ln w="57150" cmpd="thinThick">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9227" name="Text Box 23">
            <a:extLst>
              <a:ext uri="{FF2B5EF4-FFF2-40B4-BE49-F238E27FC236}">
                <a16:creationId xmlns:a16="http://schemas.microsoft.com/office/drawing/2014/main" id="{C4BAAEEB-1020-5848-B0D3-397C2B034E50}"/>
              </a:ext>
            </a:extLst>
          </p:cNvPr>
          <p:cNvSpPr txBox="1">
            <a:spLocks noChangeArrowheads="1"/>
          </p:cNvSpPr>
          <p:nvPr/>
        </p:nvSpPr>
        <p:spPr bwMode="auto">
          <a:xfrm>
            <a:off x="1424763" y="1419226"/>
            <a:ext cx="283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sz="2800" b="0" dirty="0">
                <a:solidFill>
                  <a:srgbClr val="000000"/>
                </a:solidFill>
                <a:latin typeface="Arial" panose="020B0604020202020204" pitchFamily="34" charset="0"/>
              </a:rPr>
              <a:t>Decision #1</a:t>
            </a:r>
          </a:p>
        </p:txBody>
      </p:sp>
      <p:sp>
        <p:nvSpPr>
          <p:cNvPr id="9228" name="Text Box 24">
            <a:extLst>
              <a:ext uri="{FF2B5EF4-FFF2-40B4-BE49-F238E27FC236}">
                <a16:creationId xmlns:a16="http://schemas.microsoft.com/office/drawing/2014/main" id="{1BD9447C-3368-0440-BDD9-AC4C5B04F1DB}"/>
              </a:ext>
            </a:extLst>
          </p:cNvPr>
          <p:cNvSpPr txBox="1">
            <a:spLocks noChangeArrowheads="1"/>
          </p:cNvSpPr>
          <p:nvPr/>
        </p:nvSpPr>
        <p:spPr bwMode="auto">
          <a:xfrm>
            <a:off x="7848600" y="1447801"/>
            <a:ext cx="20462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sz="2800" b="0">
                <a:solidFill>
                  <a:srgbClr val="000000"/>
                </a:solidFill>
                <a:latin typeface="Arial" panose="020B0604020202020204" pitchFamily="34" charset="0"/>
              </a:rPr>
              <a:t>Decision #2</a:t>
            </a:r>
          </a:p>
        </p:txBody>
      </p:sp>
      <p:sp>
        <p:nvSpPr>
          <p:cNvPr id="9229" name="Text Box 25">
            <a:extLst>
              <a:ext uri="{FF2B5EF4-FFF2-40B4-BE49-F238E27FC236}">
                <a16:creationId xmlns:a16="http://schemas.microsoft.com/office/drawing/2014/main" id="{FBB1F410-FBE3-0348-8801-6DAF3CD6C289}"/>
              </a:ext>
            </a:extLst>
          </p:cNvPr>
          <p:cNvSpPr txBox="1">
            <a:spLocks noChangeArrowheads="1"/>
          </p:cNvSpPr>
          <p:nvPr/>
        </p:nvSpPr>
        <p:spPr bwMode="auto">
          <a:xfrm>
            <a:off x="7758113" y="2911475"/>
            <a:ext cx="1841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sz="3200" b="0">
              <a:solidFill>
                <a:srgbClr val="000000"/>
              </a:solidFill>
              <a:latin typeface="Arial" panose="020B0604020202020204" pitchFamily="34" charset="0"/>
            </a:endParaRPr>
          </a:p>
        </p:txBody>
      </p:sp>
      <p:sp>
        <p:nvSpPr>
          <p:cNvPr id="9230" name="Text Box 26">
            <a:extLst>
              <a:ext uri="{FF2B5EF4-FFF2-40B4-BE49-F238E27FC236}">
                <a16:creationId xmlns:a16="http://schemas.microsoft.com/office/drawing/2014/main" id="{FEF7074C-3ADF-4B46-8957-27393A43D71F}"/>
              </a:ext>
            </a:extLst>
          </p:cNvPr>
          <p:cNvSpPr txBox="1">
            <a:spLocks noChangeArrowheads="1"/>
          </p:cNvSpPr>
          <p:nvPr/>
        </p:nvSpPr>
        <p:spPr bwMode="auto">
          <a:xfrm>
            <a:off x="6629400" y="2895600"/>
            <a:ext cx="3657600" cy="1200150"/>
          </a:xfrm>
          <a:prstGeom prst="rect">
            <a:avLst/>
          </a:prstGeom>
          <a:noFill/>
          <a:ln w="12700">
            <a:solidFill>
              <a:srgbClr val="990033"/>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a:buClr>
                <a:srgbClr val="990033"/>
              </a:buClr>
              <a:buFontTx/>
              <a:buChar char="•"/>
            </a:pPr>
            <a:r>
              <a:rPr lang="en-US" altLang="en-MX" sz="2400" b="0">
                <a:solidFill>
                  <a:srgbClr val="000000"/>
                </a:solidFill>
                <a:latin typeface="Arial" panose="020B0604020202020204" pitchFamily="34" charset="0"/>
              </a:rPr>
              <a:t>  Insecticide-treated nets</a:t>
            </a:r>
          </a:p>
          <a:p>
            <a:pPr>
              <a:buClr>
                <a:srgbClr val="990033"/>
              </a:buClr>
              <a:buFontTx/>
              <a:buChar char="•"/>
            </a:pPr>
            <a:r>
              <a:rPr lang="en-US" altLang="en-MX" sz="2400" b="0">
                <a:solidFill>
                  <a:srgbClr val="000000"/>
                </a:solidFill>
                <a:latin typeface="Arial" panose="020B0604020202020204" pitchFamily="34" charset="0"/>
              </a:rPr>
              <a:t>  Spray houses</a:t>
            </a:r>
          </a:p>
          <a:p>
            <a:pPr>
              <a:buClr>
                <a:srgbClr val="990033"/>
              </a:buClr>
              <a:buFontTx/>
              <a:buChar char="•"/>
            </a:pPr>
            <a:r>
              <a:rPr lang="en-US" altLang="en-MX" sz="2400" b="0">
                <a:solidFill>
                  <a:srgbClr val="000000"/>
                </a:solidFill>
                <a:latin typeface="Arial" panose="020B0604020202020204" pitchFamily="34" charset="0"/>
              </a:rPr>
              <a:t>  Drug prophylaxis</a:t>
            </a:r>
          </a:p>
        </p:txBody>
      </p:sp>
      <p:sp>
        <p:nvSpPr>
          <p:cNvPr id="9231" name="Line 27">
            <a:extLst>
              <a:ext uri="{FF2B5EF4-FFF2-40B4-BE49-F238E27FC236}">
                <a16:creationId xmlns:a16="http://schemas.microsoft.com/office/drawing/2014/main" id="{F237CBF3-73AC-714C-9521-A16DA9A87563}"/>
              </a:ext>
            </a:extLst>
          </p:cNvPr>
          <p:cNvSpPr>
            <a:spLocks noChangeShapeType="1"/>
          </p:cNvSpPr>
          <p:nvPr/>
        </p:nvSpPr>
        <p:spPr bwMode="auto">
          <a:xfrm>
            <a:off x="6007395" y="2593974"/>
            <a:ext cx="698205" cy="225425"/>
          </a:xfrm>
          <a:prstGeom prst="line">
            <a:avLst/>
          </a:prstGeom>
          <a:noFill/>
          <a:ln w="38100">
            <a:solidFill>
              <a:srgbClr val="990033"/>
            </a:solidFill>
            <a:prstDash val="sysDot"/>
            <a:round/>
            <a:headEnd type="none" w="sm" len="sm"/>
            <a:tailEnd type="triangle" w="med" len="med"/>
          </a:ln>
          <a:extLst>
            <a:ext uri="{909E8E84-426E-40DD-AFC4-6F175D3DCCD1}">
              <a14:hiddenFill xmlns:a14="http://schemas.microsoft.com/office/drawing/2010/main">
                <a:noFill/>
              </a14:hiddenFill>
            </a:ext>
          </a:extLst>
        </p:spPr>
        <p:txBody>
          <a:bodyPr/>
          <a:lstStyle/>
          <a:p>
            <a:endParaRPr lang="en-MX"/>
          </a:p>
        </p:txBody>
      </p:sp>
    </p:spTree>
    <p:extLst>
      <p:ext uri="{BB962C8B-B14F-4D97-AF65-F5344CB8AC3E}">
        <p14:creationId xmlns:p14="http://schemas.microsoft.com/office/powerpoint/2010/main" val="51786530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7730" name="Rectangle 2">
            <a:extLst>
              <a:ext uri="{FF2B5EF4-FFF2-40B4-BE49-F238E27FC236}">
                <a16:creationId xmlns:a16="http://schemas.microsoft.com/office/drawing/2014/main" id="{4B6B7907-736C-CA46-B7A8-439A73CD90A3}"/>
              </a:ext>
            </a:extLst>
          </p:cNvPr>
          <p:cNvSpPr>
            <a:spLocks noGrp="1" noChangeArrowheads="1"/>
          </p:cNvSpPr>
          <p:nvPr>
            <p:ph type="title"/>
          </p:nvPr>
        </p:nvSpPr>
        <p:spPr>
          <a:xfrm>
            <a:off x="838200" y="381000"/>
            <a:ext cx="10515600" cy="1143000"/>
          </a:xfrm>
        </p:spPr>
        <p:txBody>
          <a:bodyPr/>
          <a:lstStyle/>
          <a:p>
            <a:pPr>
              <a:defRPr/>
            </a:pPr>
            <a:r>
              <a:rPr lang="en-US" dirty="0"/>
              <a:t>Two Types of Policy Decisions</a:t>
            </a:r>
          </a:p>
        </p:txBody>
      </p:sp>
      <p:sp>
        <p:nvSpPr>
          <p:cNvPr id="9219" name="Rectangle 3">
            <a:extLst>
              <a:ext uri="{FF2B5EF4-FFF2-40B4-BE49-F238E27FC236}">
                <a16:creationId xmlns:a16="http://schemas.microsoft.com/office/drawing/2014/main" id="{2D0B7EA8-6AB9-9744-8AE1-E996268D5E4B}"/>
              </a:ext>
            </a:extLst>
          </p:cNvPr>
          <p:cNvSpPr>
            <a:spLocks noGrp="1" noChangeArrowheads="1"/>
          </p:cNvSpPr>
          <p:nvPr>
            <p:ph type="body" idx="1"/>
          </p:nvPr>
        </p:nvSpPr>
        <p:spPr/>
        <p:txBody>
          <a:bodyPr/>
          <a:lstStyle/>
          <a:p>
            <a:endParaRPr lang="en-US" altLang="en-MX"/>
          </a:p>
          <a:p>
            <a:endParaRPr lang="en-US" altLang="en-MX"/>
          </a:p>
        </p:txBody>
      </p:sp>
      <p:graphicFrame>
        <p:nvGraphicFramePr>
          <p:cNvPr id="1097756" name="Group 28">
            <a:extLst>
              <a:ext uri="{FF2B5EF4-FFF2-40B4-BE49-F238E27FC236}">
                <a16:creationId xmlns:a16="http://schemas.microsoft.com/office/drawing/2014/main" id="{9B9772DD-EDC4-8047-B154-9690F420E391}"/>
              </a:ext>
            </a:extLst>
          </p:cNvPr>
          <p:cNvGraphicFramePr>
            <a:graphicFrameLocks noGrp="1"/>
          </p:cNvGraphicFramePr>
          <p:nvPr/>
        </p:nvGraphicFramePr>
        <p:xfrm>
          <a:off x="1424763" y="2009889"/>
          <a:ext cx="5204637" cy="3886200"/>
        </p:xfrm>
        <a:graphic>
          <a:graphicData uri="http://schemas.openxmlformats.org/drawingml/2006/table">
            <a:tbl>
              <a:tblPr/>
              <a:tblGrid>
                <a:gridCol w="5204637">
                  <a:extLst>
                    <a:ext uri="{9D8B030D-6E8A-4147-A177-3AD203B41FA5}">
                      <a16:colId xmlns:a16="http://schemas.microsoft.com/office/drawing/2014/main" val="20000"/>
                    </a:ext>
                  </a:extLst>
                </a:gridCol>
              </a:tblGrid>
              <a:tr h="457200">
                <a:tc>
                  <a:txBody>
                    <a:bodyPr/>
                    <a:lstStyle/>
                    <a:p>
                      <a:pPr marL="0" marR="0" lvl="0" indent="0" algn="l" defTabSz="914400" rtl="0" eaLnBrk="0" fontAlgn="base" latinLnBrk="0" hangingPunct="0">
                        <a:lnSpc>
                          <a:spcPct val="100000"/>
                        </a:lnSpc>
                        <a:spcBef>
                          <a:spcPct val="0"/>
                        </a:spcBef>
                        <a:spcAft>
                          <a:spcPct val="0"/>
                        </a:spcAft>
                        <a:buClr>
                          <a:srgbClr val="990033"/>
                        </a:buClr>
                        <a:buSzTx/>
                        <a:buFontTx/>
                        <a:buNone/>
                        <a:tabLst/>
                      </a:pPr>
                      <a:r>
                        <a:rPr kumimoji="0" lang="en-US" sz="2800" b="0" i="0" u="none" strike="noStrike" cap="none" normalizeH="0" baseline="0" dirty="0">
                          <a:ln>
                            <a:noFill/>
                          </a:ln>
                          <a:solidFill>
                            <a:schemeClr val="tx1"/>
                          </a:solidFill>
                          <a:effectLst/>
                          <a:latin typeface="Arial" charset="0"/>
                        </a:rPr>
                        <a:t>- Malaria Deaths Prevention program</a:t>
                      </a:r>
                    </a:p>
                  </a:txBody>
                  <a:tcPr horzOverflow="overflow">
                    <a:lnL cap="flat">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457200">
                <a:tc>
                  <a:txBody>
                    <a:bodyPr/>
                    <a:lstStyle/>
                    <a:p>
                      <a:pPr marL="0" marR="0" lvl="0" indent="0" algn="l" defTabSz="914400" rtl="0" eaLnBrk="0" fontAlgn="base" latinLnBrk="0" hangingPunct="0">
                        <a:lnSpc>
                          <a:spcPct val="100000"/>
                        </a:lnSpc>
                        <a:spcBef>
                          <a:spcPct val="0"/>
                        </a:spcBef>
                        <a:spcAft>
                          <a:spcPct val="0"/>
                        </a:spcAft>
                        <a:buClr>
                          <a:srgbClr val="990033"/>
                        </a:buClr>
                        <a:buSzTx/>
                        <a:buFontTx/>
                        <a:buNone/>
                        <a:tabLst/>
                      </a:pPr>
                      <a:r>
                        <a:rPr kumimoji="0" lang="en-US" sz="2800" b="0" i="0" u="none" strike="noStrike" cap="none" normalizeH="0" baseline="0" dirty="0">
                          <a:ln>
                            <a:noFill/>
                          </a:ln>
                          <a:solidFill>
                            <a:schemeClr val="tx1"/>
                          </a:solidFill>
                          <a:effectLst/>
                          <a:latin typeface="Arial" charset="0"/>
                        </a:rPr>
                        <a:t>- Depression Screening program</a:t>
                      </a:r>
                    </a:p>
                  </a:txBody>
                  <a:tcPr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533400">
                <a:tc>
                  <a:txBody>
                    <a:bodyPr/>
                    <a:lstStyle/>
                    <a:p>
                      <a:pPr marL="0" marR="0" lvl="0" indent="0" algn="l" defTabSz="914400" rtl="0" eaLnBrk="0" fontAlgn="base" latinLnBrk="0" hangingPunct="0">
                        <a:lnSpc>
                          <a:spcPct val="100000"/>
                        </a:lnSpc>
                        <a:spcBef>
                          <a:spcPct val="0"/>
                        </a:spcBef>
                        <a:spcAft>
                          <a:spcPct val="0"/>
                        </a:spcAft>
                        <a:buClr>
                          <a:srgbClr val="990033"/>
                        </a:buClr>
                        <a:buSzTx/>
                        <a:buFontTx/>
                        <a:buNone/>
                        <a:tabLst/>
                      </a:pPr>
                      <a:r>
                        <a:rPr kumimoji="0" lang="en-US" sz="2800" b="0" i="0" u="none" strike="noStrike" cap="none" normalizeH="0" baseline="0" dirty="0">
                          <a:ln>
                            <a:noFill/>
                          </a:ln>
                          <a:solidFill>
                            <a:schemeClr val="tx1"/>
                          </a:solidFill>
                          <a:effectLst/>
                          <a:latin typeface="Arial" charset="0"/>
                        </a:rPr>
                        <a:t>- Safe Motherhood program</a:t>
                      </a:r>
                    </a:p>
                  </a:txBody>
                  <a:tcPr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457200">
                <a:tc>
                  <a:txBody>
                    <a:bodyPr/>
                    <a:lstStyle/>
                    <a:p>
                      <a:pPr marL="0" marR="0" lvl="0" indent="0" algn="l" defTabSz="914400" rtl="0" eaLnBrk="0" fontAlgn="base" latinLnBrk="0" hangingPunct="0">
                        <a:lnSpc>
                          <a:spcPct val="100000"/>
                        </a:lnSpc>
                        <a:spcBef>
                          <a:spcPct val="0"/>
                        </a:spcBef>
                        <a:spcAft>
                          <a:spcPct val="0"/>
                        </a:spcAft>
                        <a:buClr>
                          <a:srgbClr val="990033"/>
                        </a:buClr>
                        <a:buSzTx/>
                        <a:buFontTx/>
                        <a:buNone/>
                        <a:tabLst/>
                      </a:pPr>
                      <a:r>
                        <a:rPr kumimoji="0" lang="en-US" sz="2800" b="0" i="0" u="none" strike="noStrike" cap="none" normalizeH="0" baseline="0" dirty="0">
                          <a:ln>
                            <a:noFill/>
                          </a:ln>
                          <a:solidFill>
                            <a:schemeClr val="tx1"/>
                          </a:solidFill>
                          <a:effectLst/>
                          <a:latin typeface="Arial" charset="0"/>
                        </a:rPr>
                        <a:t>- Child Vaccination program</a:t>
                      </a:r>
                    </a:p>
                  </a:txBody>
                  <a:tcPr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457200">
                <a:tc>
                  <a:txBody>
                    <a:bodyPr/>
                    <a:lstStyle/>
                    <a:p>
                      <a:pPr marL="0" marR="0" lvl="0" indent="0" algn="l" defTabSz="914400" rtl="0" eaLnBrk="0" fontAlgn="base" latinLnBrk="0" hangingPunct="0">
                        <a:lnSpc>
                          <a:spcPct val="100000"/>
                        </a:lnSpc>
                        <a:spcBef>
                          <a:spcPct val="0"/>
                        </a:spcBef>
                        <a:spcAft>
                          <a:spcPct val="0"/>
                        </a:spcAft>
                        <a:buClr>
                          <a:srgbClr val="990033"/>
                        </a:buClr>
                        <a:buSzTx/>
                        <a:buFontTx/>
                        <a:buNone/>
                        <a:tabLst/>
                      </a:pPr>
                      <a:r>
                        <a:rPr kumimoji="0" lang="en-US" sz="2800" b="0" i="0" u="none" strike="noStrike" cap="none" normalizeH="0" baseline="0" dirty="0">
                          <a:ln>
                            <a:noFill/>
                          </a:ln>
                          <a:solidFill>
                            <a:schemeClr val="tx1"/>
                          </a:solidFill>
                          <a:effectLst/>
                          <a:latin typeface="Arial" charset="0"/>
                        </a:rPr>
                        <a:t>- Cardiovascular Disease program</a:t>
                      </a:r>
                    </a:p>
                  </a:txBody>
                  <a:tcPr horzOverflow="overflow">
                    <a:lnL cap="flat">
                      <a:noFill/>
                    </a:lnL>
                    <a:lnR cap="flat">
                      <a:noFill/>
                    </a:lnR>
                    <a:lnT>
                      <a:noFill/>
                    </a:lnT>
                    <a:lnB cap="flat">
                      <a:noFill/>
                    </a:lnB>
                    <a:lnTlToBr>
                      <a:noFill/>
                    </a:lnTlToBr>
                    <a:lnBlToTr>
                      <a:noFill/>
                    </a:lnBlToTr>
                    <a:noFill/>
                  </a:tcPr>
                </a:tc>
                <a:extLst>
                  <a:ext uri="{0D108BD9-81ED-4DB2-BD59-A6C34878D82A}">
                    <a16:rowId xmlns:a16="http://schemas.microsoft.com/office/drawing/2014/main" val="10004"/>
                  </a:ext>
                </a:extLst>
              </a:tr>
            </a:tbl>
          </a:graphicData>
        </a:graphic>
      </p:graphicFrame>
      <p:sp>
        <p:nvSpPr>
          <p:cNvPr id="9226" name="Line 22">
            <a:extLst>
              <a:ext uri="{FF2B5EF4-FFF2-40B4-BE49-F238E27FC236}">
                <a16:creationId xmlns:a16="http://schemas.microsoft.com/office/drawing/2014/main" id="{E9AEDD04-90D9-D147-A9D8-F27A9028524E}"/>
              </a:ext>
            </a:extLst>
          </p:cNvPr>
          <p:cNvSpPr>
            <a:spLocks noChangeShapeType="1"/>
          </p:cNvSpPr>
          <p:nvPr/>
        </p:nvSpPr>
        <p:spPr bwMode="auto">
          <a:xfrm>
            <a:off x="1541721" y="1966914"/>
            <a:ext cx="8516679" cy="14286"/>
          </a:xfrm>
          <a:prstGeom prst="line">
            <a:avLst/>
          </a:prstGeom>
          <a:noFill/>
          <a:ln w="57150" cmpd="thinThick">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9227" name="Text Box 23">
            <a:extLst>
              <a:ext uri="{FF2B5EF4-FFF2-40B4-BE49-F238E27FC236}">
                <a16:creationId xmlns:a16="http://schemas.microsoft.com/office/drawing/2014/main" id="{C4BAAEEB-1020-5848-B0D3-397C2B034E50}"/>
              </a:ext>
            </a:extLst>
          </p:cNvPr>
          <p:cNvSpPr txBox="1">
            <a:spLocks noChangeArrowheads="1"/>
          </p:cNvSpPr>
          <p:nvPr/>
        </p:nvSpPr>
        <p:spPr bwMode="auto">
          <a:xfrm>
            <a:off x="1424763" y="1419226"/>
            <a:ext cx="283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sz="2800" b="0" dirty="0">
                <a:solidFill>
                  <a:srgbClr val="000000"/>
                </a:solidFill>
                <a:latin typeface="Arial" panose="020B0604020202020204" pitchFamily="34" charset="0"/>
              </a:rPr>
              <a:t>Decision #1</a:t>
            </a:r>
          </a:p>
        </p:txBody>
      </p:sp>
      <p:sp>
        <p:nvSpPr>
          <p:cNvPr id="9228" name="Text Box 24">
            <a:extLst>
              <a:ext uri="{FF2B5EF4-FFF2-40B4-BE49-F238E27FC236}">
                <a16:creationId xmlns:a16="http://schemas.microsoft.com/office/drawing/2014/main" id="{1BD9447C-3368-0440-BDD9-AC4C5B04F1DB}"/>
              </a:ext>
            </a:extLst>
          </p:cNvPr>
          <p:cNvSpPr txBox="1">
            <a:spLocks noChangeArrowheads="1"/>
          </p:cNvSpPr>
          <p:nvPr/>
        </p:nvSpPr>
        <p:spPr bwMode="auto">
          <a:xfrm>
            <a:off x="7848600" y="1447801"/>
            <a:ext cx="20462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sz="2800" b="0">
                <a:solidFill>
                  <a:srgbClr val="000000"/>
                </a:solidFill>
                <a:latin typeface="Arial" panose="020B0604020202020204" pitchFamily="34" charset="0"/>
              </a:rPr>
              <a:t>Decision #2</a:t>
            </a:r>
          </a:p>
        </p:txBody>
      </p:sp>
      <p:sp>
        <p:nvSpPr>
          <p:cNvPr id="9229" name="Text Box 25">
            <a:extLst>
              <a:ext uri="{FF2B5EF4-FFF2-40B4-BE49-F238E27FC236}">
                <a16:creationId xmlns:a16="http://schemas.microsoft.com/office/drawing/2014/main" id="{FBB1F410-FBE3-0348-8801-6DAF3CD6C289}"/>
              </a:ext>
            </a:extLst>
          </p:cNvPr>
          <p:cNvSpPr txBox="1">
            <a:spLocks noChangeArrowheads="1"/>
          </p:cNvSpPr>
          <p:nvPr/>
        </p:nvSpPr>
        <p:spPr bwMode="auto">
          <a:xfrm>
            <a:off x="7758113" y="2911475"/>
            <a:ext cx="1841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sz="3200" b="0">
              <a:solidFill>
                <a:srgbClr val="000000"/>
              </a:solidFill>
              <a:latin typeface="Arial" panose="020B0604020202020204" pitchFamily="34" charset="0"/>
            </a:endParaRPr>
          </a:p>
        </p:txBody>
      </p:sp>
      <p:sp>
        <p:nvSpPr>
          <p:cNvPr id="9230" name="Text Box 26">
            <a:extLst>
              <a:ext uri="{FF2B5EF4-FFF2-40B4-BE49-F238E27FC236}">
                <a16:creationId xmlns:a16="http://schemas.microsoft.com/office/drawing/2014/main" id="{FEF7074C-3ADF-4B46-8957-27393A43D71F}"/>
              </a:ext>
            </a:extLst>
          </p:cNvPr>
          <p:cNvSpPr txBox="1">
            <a:spLocks noChangeArrowheads="1"/>
          </p:cNvSpPr>
          <p:nvPr/>
        </p:nvSpPr>
        <p:spPr bwMode="auto">
          <a:xfrm>
            <a:off x="6629400" y="2895600"/>
            <a:ext cx="3657600" cy="1200150"/>
          </a:xfrm>
          <a:prstGeom prst="rect">
            <a:avLst/>
          </a:prstGeom>
          <a:noFill/>
          <a:ln w="12700">
            <a:solidFill>
              <a:srgbClr val="990033"/>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a:buClr>
                <a:srgbClr val="990033"/>
              </a:buClr>
              <a:buFontTx/>
              <a:buChar char="•"/>
            </a:pPr>
            <a:r>
              <a:rPr lang="en-US" altLang="en-MX" sz="2400" b="0">
                <a:solidFill>
                  <a:srgbClr val="000000"/>
                </a:solidFill>
                <a:latin typeface="Arial" panose="020B0604020202020204" pitchFamily="34" charset="0"/>
              </a:rPr>
              <a:t>  Insecticide-treated nets</a:t>
            </a:r>
          </a:p>
          <a:p>
            <a:pPr>
              <a:buClr>
                <a:srgbClr val="990033"/>
              </a:buClr>
              <a:buFontTx/>
              <a:buChar char="•"/>
            </a:pPr>
            <a:r>
              <a:rPr lang="en-US" altLang="en-MX" sz="2400" b="0">
                <a:solidFill>
                  <a:srgbClr val="000000"/>
                </a:solidFill>
                <a:latin typeface="Arial" panose="020B0604020202020204" pitchFamily="34" charset="0"/>
              </a:rPr>
              <a:t>  Spray houses</a:t>
            </a:r>
          </a:p>
          <a:p>
            <a:pPr>
              <a:buClr>
                <a:srgbClr val="990033"/>
              </a:buClr>
              <a:buFontTx/>
              <a:buChar char="•"/>
            </a:pPr>
            <a:r>
              <a:rPr lang="en-US" altLang="en-MX" sz="2400" b="0">
                <a:solidFill>
                  <a:srgbClr val="000000"/>
                </a:solidFill>
                <a:latin typeface="Arial" panose="020B0604020202020204" pitchFamily="34" charset="0"/>
              </a:rPr>
              <a:t>  Drug prophylaxis</a:t>
            </a:r>
          </a:p>
        </p:txBody>
      </p:sp>
      <p:sp>
        <p:nvSpPr>
          <p:cNvPr id="9231" name="Line 27">
            <a:extLst>
              <a:ext uri="{FF2B5EF4-FFF2-40B4-BE49-F238E27FC236}">
                <a16:creationId xmlns:a16="http://schemas.microsoft.com/office/drawing/2014/main" id="{F237CBF3-73AC-714C-9521-A16DA9A87563}"/>
              </a:ext>
            </a:extLst>
          </p:cNvPr>
          <p:cNvSpPr>
            <a:spLocks noChangeShapeType="1"/>
          </p:cNvSpPr>
          <p:nvPr/>
        </p:nvSpPr>
        <p:spPr bwMode="auto">
          <a:xfrm>
            <a:off x="6007395" y="2593974"/>
            <a:ext cx="698205" cy="225425"/>
          </a:xfrm>
          <a:prstGeom prst="line">
            <a:avLst/>
          </a:prstGeom>
          <a:noFill/>
          <a:ln w="38100">
            <a:solidFill>
              <a:srgbClr val="990033"/>
            </a:solidFill>
            <a:prstDash val="sysDot"/>
            <a:round/>
            <a:headEnd type="none" w="sm" len="sm"/>
            <a:tailEnd type="triangle" w="med" len="med"/>
          </a:ln>
          <a:extLst>
            <a:ext uri="{909E8E84-426E-40DD-AFC4-6F175D3DCCD1}">
              <a14:hiddenFill xmlns:a14="http://schemas.microsoft.com/office/drawing/2010/main">
                <a:noFill/>
              </a14:hiddenFill>
            </a:ext>
          </a:extLst>
        </p:spPr>
        <p:txBody>
          <a:bodyPr/>
          <a:lstStyle/>
          <a:p>
            <a:endParaRPr lang="en-MX"/>
          </a:p>
        </p:txBody>
      </p:sp>
      <p:sp>
        <p:nvSpPr>
          <p:cNvPr id="11" name="AutoShape 28">
            <a:extLst>
              <a:ext uri="{FF2B5EF4-FFF2-40B4-BE49-F238E27FC236}">
                <a16:creationId xmlns:a16="http://schemas.microsoft.com/office/drawing/2014/main" id="{7DA1D352-5FB2-664C-B480-23F2F48D505C}"/>
              </a:ext>
            </a:extLst>
          </p:cNvPr>
          <p:cNvSpPr>
            <a:spLocks noChangeArrowheads="1"/>
          </p:cNvSpPr>
          <p:nvPr/>
        </p:nvSpPr>
        <p:spPr bwMode="auto">
          <a:xfrm rot="16200000">
            <a:off x="3111500" y="5339618"/>
            <a:ext cx="966788" cy="941388"/>
          </a:xfrm>
          <a:prstGeom prst="rightArrow">
            <a:avLst>
              <a:gd name="adj1" fmla="val 50000"/>
              <a:gd name="adj2" fmla="val 25675"/>
            </a:avLst>
          </a:prstGeom>
          <a:solidFill>
            <a:srgbClr val="FF99FF"/>
          </a:solidFill>
          <a:ln w="12700">
            <a:solidFill>
              <a:srgbClr val="000000"/>
            </a:solidFill>
            <a:miter lim="800000"/>
            <a:headEnd type="none" w="sm" len="sm"/>
            <a:tailEnd type="none" w="sm" len="sm"/>
          </a:ln>
        </p:spPr>
        <p:txBody>
          <a:bodyPr vert="eaVert"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algn="ctr"/>
            <a:endParaRPr lang="en-MX" altLang="en-MX" sz="3200" b="0">
              <a:solidFill>
                <a:srgbClr val="000000"/>
              </a:solidFill>
              <a:latin typeface="Arial" panose="020B0604020202020204" pitchFamily="34" charset="0"/>
            </a:endParaRPr>
          </a:p>
        </p:txBody>
      </p:sp>
      <p:sp>
        <p:nvSpPr>
          <p:cNvPr id="12" name="Text Box 29">
            <a:extLst>
              <a:ext uri="{FF2B5EF4-FFF2-40B4-BE49-F238E27FC236}">
                <a16:creationId xmlns:a16="http://schemas.microsoft.com/office/drawing/2014/main" id="{4AF6518E-CC88-DB41-957E-2D4FAFFA38CA}"/>
              </a:ext>
            </a:extLst>
          </p:cNvPr>
          <p:cNvSpPr txBox="1">
            <a:spLocks noChangeArrowheads="1"/>
          </p:cNvSpPr>
          <p:nvPr/>
        </p:nvSpPr>
        <p:spPr bwMode="auto">
          <a:xfrm>
            <a:off x="2286000" y="6392131"/>
            <a:ext cx="2859088" cy="469900"/>
          </a:xfrm>
          <a:prstGeom prst="rect">
            <a:avLst/>
          </a:prstGeom>
          <a:solidFill>
            <a:srgbClr val="FF99FF"/>
          </a:solidFill>
          <a:ln w="12700">
            <a:solidFill>
              <a:schemeClr val="tx1"/>
            </a:solidFill>
            <a:miter lim="800000"/>
            <a:headEnd type="none" w="sm" len="sm"/>
            <a:tailEnd type="none" w="sm" len="sm"/>
          </a:ln>
        </p:spPr>
        <p:txBody>
          <a:bodyPr wrap="none">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sz="2400" b="0">
                <a:solidFill>
                  <a:srgbClr val="000000"/>
                </a:solidFill>
                <a:latin typeface="Arial" panose="020B0604020202020204" pitchFamily="34" charset="0"/>
              </a:rPr>
              <a:t>Allocative efficiency</a:t>
            </a:r>
          </a:p>
        </p:txBody>
      </p:sp>
      <p:sp>
        <p:nvSpPr>
          <p:cNvPr id="13" name="AutoShape 30">
            <a:extLst>
              <a:ext uri="{FF2B5EF4-FFF2-40B4-BE49-F238E27FC236}">
                <a16:creationId xmlns:a16="http://schemas.microsoft.com/office/drawing/2014/main" id="{FE6E9853-434A-FD4C-A3C6-218A47A1BF22}"/>
              </a:ext>
            </a:extLst>
          </p:cNvPr>
          <p:cNvSpPr>
            <a:spLocks noChangeArrowheads="1"/>
          </p:cNvSpPr>
          <p:nvPr/>
        </p:nvSpPr>
        <p:spPr bwMode="auto">
          <a:xfrm rot="16200000">
            <a:off x="8216900" y="4508500"/>
            <a:ext cx="966788" cy="941388"/>
          </a:xfrm>
          <a:prstGeom prst="rightArrow">
            <a:avLst>
              <a:gd name="adj1" fmla="val 50000"/>
              <a:gd name="adj2" fmla="val 25675"/>
            </a:avLst>
          </a:prstGeom>
          <a:solidFill>
            <a:srgbClr val="99FF66"/>
          </a:solidFill>
          <a:ln w="12700">
            <a:solidFill>
              <a:srgbClr val="000000"/>
            </a:solidFill>
            <a:miter lim="800000"/>
            <a:headEnd type="none" w="sm" len="sm"/>
            <a:tailEnd type="none" w="sm" len="sm"/>
          </a:ln>
        </p:spPr>
        <p:txBody>
          <a:bodyPr vert="eaVert"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algn="ctr"/>
            <a:endParaRPr lang="en-MX" altLang="en-MX" sz="3200" b="0">
              <a:solidFill>
                <a:srgbClr val="000000"/>
              </a:solidFill>
              <a:latin typeface="Arial" panose="020B0604020202020204" pitchFamily="34" charset="0"/>
            </a:endParaRPr>
          </a:p>
        </p:txBody>
      </p:sp>
      <p:sp>
        <p:nvSpPr>
          <p:cNvPr id="14" name="Text Box 31">
            <a:extLst>
              <a:ext uri="{FF2B5EF4-FFF2-40B4-BE49-F238E27FC236}">
                <a16:creationId xmlns:a16="http://schemas.microsoft.com/office/drawing/2014/main" id="{38C1B6DE-5883-3B40-A2F6-D0CBF33E5E86}"/>
              </a:ext>
            </a:extLst>
          </p:cNvPr>
          <p:cNvSpPr txBox="1">
            <a:spLocks noChangeArrowheads="1"/>
          </p:cNvSpPr>
          <p:nvPr/>
        </p:nvSpPr>
        <p:spPr bwMode="auto">
          <a:xfrm>
            <a:off x="7315200" y="5561013"/>
            <a:ext cx="2859088" cy="469900"/>
          </a:xfrm>
          <a:prstGeom prst="rect">
            <a:avLst/>
          </a:prstGeom>
          <a:solidFill>
            <a:srgbClr val="99FF66"/>
          </a:solidFill>
          <a:ln w="12700">
            <a:solidFill>
              <a:schemeClr val="tx1"/>
            </a:solidFill>
            <a:miter lim="800000"/>
            <a:headEnd type="none" w="sm" len="sm"/>
            <a:tailEnd type="none" w="sm" len="sm"/>
          </a:ln>
        </p:spPr>
        <p:txBody>
          <a:bodyPr wrap="none">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sz="2400" b="0">
                <a:solidFill>
                  <a:srgbClr val="000000"/>
                </a:solidFill>
                <a:latin typeface="Arial" panose="020B0604020202020204" pitchFamily="34" charset="0"/>
              </a:rPr>
              <a:t>Technical efficiency</a:t>
            </a:r>
          </a:p>
        </p:txBody>
      </p:sp>
    </p:spTree>
    <p:extLst>
      <p:ext uri="{BB962C8B-B14F-4D97-AF65-F5344CB8AC3E}">
        <p14:creationId xmlns:p14="http://schemas.microsoft.com/office/powerpoint/2010/main" val="214141089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1826" name="Rectangle 2">
            <a:extLst>
              <a:ext uri="{FF2B5EF4-FFF2-40B4-BE49-F238E27FC236}">
                <a16:creationId xmlns:a16="http://schemas.microsoft.com/office/drawing/2014/main" id="{23442060-A322-BE43-A67A-91ECB968F026}"/>
              </a:ext>
            </a:extLst>
          </p:cNvPr>
          <p:cNvSpPr>
            <a:spLocks noGrp="1" noChangeArrowheads="1"/>
          </p:cNvSpPr>
          <p:nvPr>
            <p:ph type="title"/>
          </p:nvPr>
        </p:nvSpPr>
        <p:spPr>
          <a:xfrm>
            <a:off x="690113" y="533400"/>
            <a:ext cx="10860657" cy="914400"/>
          </a:xfrm>
        </p:spPr>
        <p:txBody>
          <a:bodyPr>
            <a:normAutofit/>
          </a:bodyPr>
          <a:lstStyle/>
          <a:p>
            <a:pPr>
              <a:defRPr/>
            </a:pPr>
            <a:r>
              <a:rPr lang="en-US" dirty="0"/>
              <a:t>Introduction to Resource Allocation</a:t>
            </a:r>
          </a:p>
        </p:txBody>
      </p:sp>
      <p:sp>
        <p:nvSpPr>
          <p:cNvPr id="11267" name="Rectangle 3">
            <a:extLst>
              <a:ext uri="{FF2B5EF4-FFF2-40B4-BE49-F238E27FC236}">
                <a16:creationId xmlns:a16="http://schemas.microsoft.com/office/drawing/2014/main" id="{059CBC0B-710E-B34D-BA25-959B5F607421}"/>
              </a:ext>
            </a:extLst>
          </p:cNvPr>
          <p:cNvSpPr>
            <a:spLocks noGrp="1" noChangeArrowheads="1"/>
          </p:cNvSpPr>
          <p:nvPr>
            <p:ph type="body" idx="1"/>
          </p:nvPr>
        </p:nvSpPr>
        <p:spPr>
          <a:xfrm>
            <a:off x="690113" y="1981200"/>
            <a:ext cx="10860657" cy="4114800"/>
          </a:xfrm>
        </p:spPr>
        <p:txBody>
          <a:bodyPr/>
          <a:lstStyle/>
          <a:p>
            <a:r>
              <a:rPr lang="en-US" altLang="en-MX" dirty="0"/>
              <a:t>How can we measure the relative priority of these various health programs that compete for limited resources?</a:t>
            </a:r>
          </a:p>
        </p:txBody>
      </p:sp>
    </p:spTree>
    <p:extLst>
      <p:ext uri="{BB962C8B-B14F-4D97-AF65-F5344CB8AC3E}">
        <p14:creationId xmlns:p14="http://schemas.microsoft.com/office/powerpoint/2010/main" val="36820092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7730" name="Rectangle 2">
            <a:extLst>
              <a:ext uri="{FF2B5EF4-FFF2-40B4-BE49-F238E27FC236}">
                <a16:creationId xmlns:a16="http://schemas.microsoft.com/office/drawing/2014/main" id="{4B6B7907-736C-CA46-B7A8-439A73CD90A3}"/>
              </a:ext>
            </a:extLst>
          </p:cNvPr>
          <p:cNvSpPr>
            <a:spLocks noGrp="1" noChangeArrowheads="1"/>
          </p:cNvSpPr>
          <p:nvPr>
            <p:ph type="title"/>
          </p:nvPr>
        </p:nvSpPr>
        <p:spPr>
          <a:xfrm>
            <a:off x="838200" y="381000"/>
            <a:ext cx="10515600" cy="1143000"/>
          </a:xfrm>
        </p:spPr>
        <p:txBody>
          <a:bodyPr/>
          <a:lstStyle/>
          <a:p>
            <a:pPr>
              <a:defRPr/>
            </a:pPr>
            <a:r>
              <a:rPr lang="en-US" dirty="0"/>
              <a:t>Two Types of Policy Decisions</a:t>
            </a:r>
          </a:p>
        </p:txBody>
      </p:sp>
      <p:sp>
        <p:nvSpPr>
          <p:cNvPr id="9219" name="Rectangle 3">
            <a:extLst>
              <a:ext uri="{FF2B5EF4-FFF2-40B4-BE49-F238E27FC236}">
                <a16:creationId xmlns:a16="http://schemas.microsoft.com/office/drawing/2014/main" id="{2D0B7EA8-6AB9-9744-8AE1-E996268D5E4B}"/>
              </a:ext>
            </a:extLst>
          </p:cNvPr>
          <p:cNvSpPr>
            <a:spLocks noGrp="1" noChangeArrowheads="1"/>
          </p:cNvSpPr>
          <p:nvPr>
            <p:ph type="body" idx="1"/>
          </p:nvPr>
        </p:nvSpPr>
        <p:spPr/>
        <p:txBody>
          <a:bodyPr/>
          <a:lstStyle/>
          <a:p>
            <a:endParaRPr lang="en-US" altLang="en-MX"/>
          </a:p>
          <a:p>
            <a:endParaRPr lang="en-US" altLang="en-MX"/>
          </a:p>
        </p:txBody>
      </p:sp>
      <p:graphicFrame>
        <p:nvGraphicFramePr>
          <p:cNvPr id="1097756" name="Group 28">
            <a:extLst>
              <a:ext uri="{FF2B5EF4-FFF2-40B4-BE49-F238E27FC236}">
                <a16:creationId xmlns:a16="http://schemas.microsoft.com/office/drawing/2014/main" id="{9B9772DD-EDC4-8047-B154-9690F420E391}"/>
              </a:ext>
            </a:extLst>
          </p:cNvPr>
          <p:cNvGraphicFramePr>
            <a:graphicFrameLocks noGrp="1"/>
          </p:cNvGraphicFramePr>
          <p:nvPr/>
        </p:nvGraphicFramePr>
        <p:xfrm>
          <a:off x="1424763" y="2009889"/>
          <a:ext cx="5204637" cy="3886200"/>
        </p:xfrm>
        <a:graphic>
          <a:graphicData uri="http://schemas.openxmlformats.org/drawingml/2006/table">
            <a:tbl>
              <a:tblPr/>
              <a:tblGrid>
                <a:gridCol w="5204637">
                  <a:extLst>
                    <a:ext uri="{9D8B030D-6E8A-4147-A177-3AD203B41FA5}">
                      <a16:colId xmlns:a16="http://schemas.microsoft.com/office/drawing/2014/main" val="20000"/>
                    </a:ext>
                  </a:extLst>
                </a:gridCol>
              </a:tblGrid>
              <a:tr h="457200">
                <a:tc>
                  <a:txBody>
                    <a:bodyPr/>
                    <a:lstStyle/>
                    <a:p>
                      <a:pPr marL="0" marR="0" lvl="0" indent="0" algn="l" defTabSz="914400" rtl="0" eaLnBrk="0" fontAlgn="base" latinLnBrk="0" hangingPunct="0">
                        <a:lnSpc>
                          <a:spcPct val="100000"/>
                        </a:lnSpc>
                        <a:spcBef>
                          <a:spcPct val="0"/>
                        </a:spcBef>
                        <a:spcAft>
                          <a:spcPct val="0"/>
                        </a:spcAft>
                        <a:buClr>
                          <a:srgbClr val="990033"/>
                        </a:buClr>
                        <a:buSzTx/>
                        <a:buFontTx/>
                        <a:buNone/>
                        <a:tabLst/>
                      </a:pPr>
                      <a:r>
                        <a:rPr kumimoji="0" lang="en-US" sz="2800" b="0" i="0" u="none" strike="noStrike" cap="none" normalizeH="0" baseline="0" dirty="0">
                          <a:ln>
                            <a:noFill/>
                          </a:ln>
                          <a:solidFill>
                            <a:schemeClr val="tx1"/>
                          </a:solidFill>
                          <a:effectLst/>
                          <a:latin typeface="Arial" charset="0"/>
                        </a:rPr>
                        <a:t>- Malaria Deaths Prevention program</a:t>
                      </a:r>
                    </a:p>
                  </a:txBody>
                  <a:tcPr horzOverflow="overflow">
                    <a:lnL cap="flat">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457200">
                <a:tc>
                  <a:txBody>
                    <a:bodyPr/>
                    <a:lstStyle/>
                    <a:p>
                      <a:pPr marL="0" marR="0" lvl="0" indent="0" algn="l" defTabSz="914400" rtl="0" eaLnBrk="0" fontAlgn="base" latinLnBrk="0" hangingPunct="0">
                        <a:lnSpc>
                          <a:spcPct val="100000"/>
                        </a:lnSpc>
                        <a:spcBef>
                          <a:spcPct val="0"/>
                        </a:spcBef>
                        <a:spcAft>
                          <a:spcPct val="0"/>
                        </a:spcAft>
                        <a:buClr>
                          <a:srgbClr val="990033"/>
                        </a:buClr>
                        <a:buSzTx/>
                        <a:buFontTx/>
                        <a:buNone/>
                        <a:tabLst/>
                      </a:pPr>
                      <a:r>
                        <a:rPr kumimoji="0" lang="en-US" sz="2800" b="0" i="0" u="none" strike="noStrike" cap="none" normalizeH="0" baseline="0" dirty="0">
                          <a:ln>
                            <a:noFill/>
                          </a:ln>
                          <a:solidFill>
                            <a:schemeClr val="tx1"/>
                          </a:solidFill>
                          <a:effectLst/>
                          <a:latin typeface="Arial" charset="0"/>
                        </a:rPr>
                        <a:t>- Depression Screening program</a:t>
                      </a:r>
                    </a:p>
                  </a:txBody>
                  <a:tcPr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533400">
                <a:tc>
                  <a:txBody>
                    <a:bodyPr/>
                    <a:lstStyle/>
                    <a:p>
                      <a:pPr marL="0" marR="0" lvl="0" indent="0" algn="l" defTabSz="914400" rtl="0" eaLnBrk="0" fontAlgn="base" latinLnBrk="0" hangingPunct="0">
                        <a:lnSpc>
                          <a:spcPct val="100000"/>
                        </a:lnSpc>
                        <a:spcBef>
                          <a:spcPct val="0"/>
                        </a:spcBef>
                        <a:spcAft>
                          <a:spcPct val="0"/>
                        </a:spcAft>
                        <a:buClr>
                          <a:srgbClr val="990033"/>
                        </a:buClr>
                        <a:buSzTx/>
                        <a:buFontTx/>
                        <a:buNone/>
                        <a:tabLst/>
                      </a:pPr>
                      <a:r>
                        <a:rPr kumimoji="0" lang="en-US" sz="2800" b="0" i="0" u="none" strike="noStrike" cap="none" normalizeH="0" baseline="0" dirty="0">
                          <a:ln>
                            <a:noFill/>
                          </a:ln>
                          <a:solidFill>
                            <a:schemeClr val="tx1"/>
                          </a:solidFill>
                          <a:effectLst/>
                          <a:latin typeface="Arial" charset="0"/>
                        </a:rPr>
                        <a:t>- Safe Motherhood program</a:t>
                      </a:r>
                    </a:p>
                  </a:txBody>
                  <a:tcPr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457200">
                <a:tc>
                  <a:txBody>
                    <a:bodyPr/>
                    <a:lstStyle/>
                    <a:p>
                      <a:pPr marL="0" marR="0" lvl="0" indent="0" algn="l" defTabSz="914400" rtl="0" eaLnBrk="0" fontAlgn="base" latinLnBrk="0" hangingPunct="0">
                        <a:lnSpc>
                          <a:spcPct val="100000"/>
                        </a:lnSpc>
                        <a:spcBef>
                          <a:spcPct val="0"/>
                        </a:spcBef>
                        <a:spcAft>
                          <a:spcPct val="0"/>
                        </a:spcAft>
                        <a:buClr>
                          <a:srgbClr val="990033"/>
                        </a:buClr>
                        <a:buSzTx/>
                        <a:buFontTx/>
                        <a:buNone/>
                        <a:tabLst/>
                      </a:pPr>
                      <a:r>
                        <a:rPr kumimoji="0" lang="en-US" sz="2800" b="0" i="0" u="none" strike="noStrike" cap="none" normalizeH="0" baseline="0" dirty="0">
                          <a:ln>
                            <a:noFill/>
                          </a:ln>
                          <a:solidFill>
                            <a:schemeClr val="tx1"/>
                          </a:solidFill>
                          <a:effectLst/>
                          <a:latin typeface="Arial" charset="0"/>
                        </a:rPr>
                        <a:t>- Child Vaccination program</a:t>
                      </a:r>
                    </a:p>
                  </a:txBody>
                  <a:tcPr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457200">
                <a:tc>
                  <a:txBody>
                    <a:bodyPr/>
                    <a:lstStyle/>
                    <a:p>
                      <a:pPr marL="0" marR="0" lvl="0" indent="0" algn="l" defTabSz="914400" rtl="0" eaLnBrk="0" fontAlgn="base" latinLnBrk="0" hangingPunct="0">
                        <a:lnSpc>
                          <a:spcPct val="100000"/>
                        </a:lnSpc>
                        <a:spcBef>
                          <a:spcPct val="0"/>
                        </a:spcBef>
                        <a:spcAft>
                          <a:spcPct val="0"/>
                        </a:spcAft>
                        <a:buClr>
                          <a:srgbClr val="990033"/>
                        </a:buClr>
                        <a:buSzTx/>
                        <a:buFontTx/>
                        <a:buNone/>
                        <a:tabLst/>
                      </a:pPr>
                      <a:r>
                        <a:rPr kumimoji="0" lang="en-US" sz="2800" b="0" i="0" u="none" strike="noStrike" cap="none" normalizeH="0" baseline="0" dirty="0">
                          <a:ln>
                            <a:noFill/>
                          </a:ln>
                          <a:solidFill>
                            <a:schemeClr val="tx1"/>
                          </a:solidFill>
                          <a:effectLst/>
                          <a:latin typeface="Arial" charset="0"/>
                        </a:rPr>
                        <a:t>- Cardiovascular Disease program</a:t>
                      </a:r>
                    </a:p>
                  </a:txBody>
                  <a:tcPr horzOverflow="overflow">
                    <a:lnL cap="flat">
                      <a:noFill/>
                    </a:lnL>
                    <a:lnR cap="flat">
                      <a:noFill/>
                    </a:lnR>
                    <a:lnT>
                      <a:noFill/>
                    </a:lnT>
                    <a:lnB cap="flat">
                      <a:noFill/>
                    </a:lnB>
                    <a:lnTlToBr>
                      <a:noFill/>
                    </a:lnTlToBr>
                    <a:lnBlToTr>
                      <a:noFill/>
                    </a:lnBlToTr>
                    <a:noFill/>
                  </a:tcPr>
                </a:tc>
                <a:extLst>
                  <a:ext uri="{0D108BD9-81ED-4DB2-BD59-A6C34878D82A}">
                    <a16:rowId xmlns:a16="http://schemas.microsoft.com/office/drawing/2014/main" val="10004"/>
                  </a:ext>
                </a:extLst>
              </a:tr>
            </a:tbl>
          </a:graphicData>
        </a:graphic>
      </p:graphicFrame>
      <p:sp>
        <p:nvSpPr>
          <p:cNvPr id="9226" name="Line 22">
            <a:extLst>
              <a:ext uri="{FF2B5EF4-FFF2-40B4-BE49-F238E27FC236}">
                <a16:creationId xmlns:a16="http://schemas.microsoft.com/office/drawing/2014/main" id="{E9AEDD04-90D9-D147-A9D8-F27A9028524E}"/>
              </a:ext>
            </a:extLst>
          </p:cNvPr>
          <p:cNvSpPr>
            <a:spLocks noChangeShapeType="1"/>
          </p:cNvSpPr>
          <p:nvPr/>
        </p:nvSpPr>
        <p:spPr bwMode="auto">
          <a:xfrm>
            <a:off x="1541721" y="1966914"/>
            <a:ext cx="8516679" cy="14286"/>
          </a:xfrm>
          <a:prstGeom prst="line">
            <a:avLst/>
          </a:prstGeom>
          <a:noFill/>
          <a:ln w="57150" cmpd="thinThick">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9227" name="Text Box 23">
            <a:extLst>
              <a:ext uri="{FF2B5EF4-FFF2-40B4-BE49-F238E27FC236}">
                <a16:creationId xmlns:a16="http://schemas.microsoft.com/office/drawing/2014/main" id="{C4BAAEEB-1020-5848-B0D3-397C2B034E50}"/>
              </a:ext>
            </a:extLst>
          </p:cNvPr>
          <p:cNvSpPr txBox="1">
            <a:spLocks noChangeArrowheads="1"/>
          </p:cNvSpPr>
          <p:nvPr/>
        </p:nvSpPr>
        <p:spPr bwMode="auto">
          <a:xfrm>
            <a:off x="1424763" y="1419226"/>
            <a:ext cx="283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sz="2800" b="0" dirty="0">
                <a:solidFill>
                  <a:srgbClr val="000000"/>
                </a:solidFill>
                <a:latin typeface="Arial" panose="020B0604020202020204" pitchFamily="34" charset="0"/>
              </a:rPr>
              <a:t>Decision #1</a:t>
            </a:r>
          </a:p>
        </p:txBody>
      </p:sp>
      <p:sp>
        <p:nvSpPr>
          <p:cNvPr id="9228" name="Text Box 24">
            <a:extLst>
              <a:ext uri="{FF2B5EF4-FFF2-40B4-BE49-F238E27FC236}">
                <a16:creationId xmlns:a16="http://schemas.microsoft.com/office/drawing/2014/main" id="{1BD9447C-3368-0440-BDD9-AC4C5B04F1DB}"/>
              </a:ext>
            </a:extLst>
          </p:cNvPr>
          <p:cNvSpPr txBox="1">
            <a:spLocks noChangeArrowheads="1"/>
          </p:cNvSpPr>
          <p:nvPr/>
        </p:nvSpPr>
        <p:spPr bwMode="auto">
          <a:xfrm>
            <a:off x="7848600" y="1447801"/>
            <a:ext cx="20462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sz="2800" b="0">
                <a:solidFill>
                  <a:srgbClr val="000000"/>
                </a:solidFill>
                <a:latin typeface="Arial" panose="020B0604020202020204" pitchFamily="34" charset="0"/>
              </a:rPr>
              <a:t>Decision #2</a:t>
            </a:r>
          </a:p>
        </p:txBody>
      </p:sp>
      <p:sp>
        <p:nvSpPr>
          <p:cNvPr id="9229" name="Text Box 25">
            <a:extLst>
              <a:ext uri="{FF2B5EF4-FFF2-40B4-BE49-F238E27FC236}">
                <a16:creationId xmlns:a16="http://schemas.microsoft.com/office/drawing/2014/main" id="{FBB1F410-FBE3-0348-8801-6DAF3CD6C289}"/>
              </a:ext>
            </a:extLst>
          </p:cNvPr>
          <p:cNvSpPr txBox="1">
            <a:spLocks noChangeArrowheads="1"/>
          </p:cNvSpPr>
          <p:nvPr/>
        </p:nvSpPr>
        <p:spPr bwMode="auto">
          <a:xfrm>
            <a:off x="7758113" y="2911475"/>
            <a:ext cx="1841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sz="3200" b="0">
              <a:solidFill>
                <a:srgbClr val="000000"/>
              </a:solidFill>
              <a:latin typeface="Arial" panose="020B0604020202020204" pitchFamily="34" charset="0"/>
            </a:endParaRPr>
          </a:p>
        </p:txBody>
      </p:sp>
      <p:sp>
        <p:nvSpPr>
          <p:cNvPr id="9230" name="Text Box 26">
            <a:extLst>
              <a:ext uri="{FF2B5EF4-FFF2-40B4-BE49-F238E27FC236}">
                <a16:creationId xmlns:a16="http://schemas.microsoft.com/office/drawing/2014/main" id="{FEF7074C-3ADF-4B46-8957-27393A43D71F}"/>
              </a:ext>
            </a:extLst>
          </p:cNvPr>
          <p:cNvSpPr txBox="1">
            <a:spLocks noChangeArrowheads="1"/>
          </p:cNvSpPr>
          <p:nvPr/>
        </p:nvSpPr>
        <p:spPr bwMode="auto">
          <a:xfrm>
            <a:off x="6629400" y="2895600"/>
            <a:ext cx="3657600" cy="1200150"/>
          </a:xfrm>
          <a:prstGeom prst="rect">
            <a:avLst/>
          </a:prstGeom>
          <a:noFill/>
          <a:ln w="12700">
            <a:solidFill>
              <a:srgbClr val="990033"/>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a:buClr>
                <a:srgbClr val="990033"/>
              </a:buClr>
              <a:buFontTx/>
              <a:buChar char="•"/>
            </a:pPr>
            <a:r>
              <a:rPr lang="en-US" altLang="en-MX" sz="2400" b="0">
                <a:solidFill>
                  <a:srgbClr val="000000"/>
                </a:solidFill>
                <a:latin typeface="Arial" panose="020B0604020202020204" pitchFamily="34" charset="0"/>
              </a:rPr>
              <a:t>  Insecticide-treated nets</a:t>
            </a:r>
          </a:p>
          <a:p>
            <a:pPr>
              <a:buClr>
                <a:srgbClr val="990033"/>
              </a:buClr>
              <a:buFontTx/>
              <a:buChar char="•"/>
            </a:pPr>
            <a:r>
              <a:rPr lang="en-US" altLang="en-MX" sz="2400" b="0">
                <a:solidFill>
                  <a:srgbClr val="000000"/>
                </a:solidFill>
                <a:latin typeface="Arial" panose="020B0604020202020204" pitchFamily="34" charset="0"/>
              </a:rPr>
              <a:t>  Spray houses</a:t>
            </a:r>
          </a:p>
          <a:p>
            <a:pPr>
              <a:buClr>
                <a:srgbClr val="990033"/>
              </a:buClr>
              <a:buFontTx/>
              <a:buChar char="•"/>
            </a:pPr>
            <a:r>
              <a:rPr lang="en-US" altLang="en-MX" sz="2400" b="0">
                <a:solidFill>
                  <a:srgbClr val="000000"/>
                </a:solidFill>
                <a:latin typeface="Arial" panose="020B0604020202020204" pitchFamily="34" charset="0"/>
              </a:rPr>
              <a:t>  Drug prophylaxis</a:t>
            </a:r>
          </a:p>
        </p:txBody>
      </p:sp>
      <p:sp>
        <p:nvSpPr>
          <p:cNvPr id="9231" name="Line 27">
            <a:extLst>
              <a:ext uri="{FF2B5EF4-FFF2-40B4-BE49-F238E27FC236}">
                <a16:creationId xmlns:a16="http://schemas.microsoft.com/office/drawing/2014/main" id="{F237CBF3-73AC-714C-9521-A16DA9A87563}"/>
              </a:ext>
            </a:extLst>
          </p:cNvPr>
          <p:cNvSpPr>
            <a:spLocks noChangeShapeType="1"/>
          </p:cNvSpPr>
          <p:nvPr/>
        </p:nvSpPr>
        <p:spPr bwMode="auto">
          <a:xfrm>
            <a:off x="6007395" y="2593974"/>
            <a:ext cx="698205" cy="225425"/>
          </a:xfrm>
          <a:prstGeom prst="line">
            <a:avLst/>
          </a:prstGeom>
          <a:noFill/>
          <a:ln w="38100">
            <a:solidFill>
              <a:srgbClr val="990033"/>
            </a:solidFill>
            <a:prstDash val="sysDot"/>
            <a:round/>
            <a:headEnd type="none" w="sm" len="sm"/>
            <a:tailEnd type="triangle" w="med" len="med"/>
          </a:ln>
          <a:extLst>
            <a:ext uri="{909E8E84-426E-40DD-AFC4-6F175D3DCCD1}">
              <a14:hiddenFill xmlns:a14="http://schemas.microsoft.com/office/drawing/2010/main">
                <a:noFill/>
              </a14:hiddenFill>
            </a:ext>
          </a:extLst>
        </p:spPr>
        <p:txBody>
          <a:bodyPr/>
          <a:lstStyle/>
          <a:p>
            <a:endParaRPr lang="en-MX"/>
          </a:p>
        </p:txBody>
      </p:sp>
      <p:sp>
        <p:nvSpPr>
          <p:cNvPr id="11" name="AutoShape 28">
            <a:extLst>
              <a:ext uri="{FF2B5EF4-FFF2-40B4-BE49-F238E27FC236}">
                <a16:creationId xmlns:a16="http://schemas.microsoft.com/office/drawing/2014/main" id="{7DA1D352-5FB2-664C-B480-23F2F48D505C}"/>
              </a:ext>
            </a:extLst>
          </p:cNvPr>
          <p:cNvSpPr>
            <a:spLocks noChangeArrowheads="1"/>
          </p:cNvSpPr>
          <p:nvPr/>
        </p:nvSpPr>
        <p:spPr bwMode="auto">
          <a:xfrm rot="16200000">
            <a:off x="3111500" y="5339618"/>
            <a:ext cx="966788" cy="941388"/>
          </a:xfrm>
          <a:prstGeom prst="rightArrow">
            <a:avLst>
              <a:gd name="adj1" fmla="val 50000"/>
              <a:gd name="adj2" fmla="val 25675"/>
            </a:avLst>
          </a:prstGeom>
          <a:solidFill>
            <a:srgbClr val="FF99FF"/>
          </a:solidFill>
          <a:ln w="12700">
            <a:solidFill>
              <a:srgbClr val="000000"/>
            </a:solidFill>
            <a:miter lim="800000"/>
            <a:headEnd type="none" w="sm" len="sm"/>
            <a:tailEnd type="none" w="sm" len="sm"/>
          </a:ln>
        </p:spPr>
        <p:txBody>
          <a:bodyPr vert="eaVert"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algn="ctr"/>
            <a:endParaRPr lang="en-MX" altLang="en-MX" sz="3200" b="0">
              <a:solidFill>
                <a:srgbClr val="000000"/>
              </a:solidFill>
              <a:latin typeface="Arial" panose="020B0604020202020204" pitchFamily="34" charset="0"/>
            </a:endParaRPr>
          </a:p>
        </p:txBody>
      </p:sp>
      <p:sp>
        <p:nvSpPr>
          <p:cNvPr id="12" name="Text Box 29">
            <a:extLst>
              <a:ext uri="{FF2B5EF4-FFF2-40B4-BE49-F238E27FC236}">
                <a16:creationId xmlns:a16="http://schemas.microsoft.com/office/drawing/2014/main" id="{4AF6518E-CC88-DB41-957E-2D4FAFFA38CA}"/>
              </a:ext>
            </a:extLst>
          </p:cNvPr>
          <p:cNvSpPr txBox="1">
            <a:spLocks noChangeArrowheads="1"/>
          </p:cNvSpPr>
          <p:nvPr/>
        </p:nvSpPr>
        <p:spPr bwMode="auto">
          <a:xfrm>
            <a:off x="2286000" y="6392131"/>
            <a:ext cx="2600392" cy="461665"/>
          </a:xfrm>
          <a:prstGeom prst="rect">
            <a:avLst/>
          </a:prstGeom>
          <a:solidFill>
            <a:srgbClr val="FF99FF"/>
          </a:solidFill>
          <a:ln w="12700">
            <a:solidFill>
              <a:schemeClr val="tx1"/>
            </a:solidFill>
            <a:miter lim="800000"/>
            <a:headEnd type="none" w="sm" len="sm"/>
            <a:tailEnd type="none" w="sm" len="sm"/>
          </a:ln>
        </p:spPr>
        <p:txBody>
          <a:bodyPr wrap="none">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sz="2400" b="0" dirty="0">
                <a:solidFill>
                  <a:srgbClr val="000000"/>
                </a:solidFill>
                <a:latin typeface="Arial" panose="020B0604020202020204" pitchFamily="34" charset="0"/>
              </a:rPr>
              <a:t>“Shopping Spree”</a:t>
            </a:r>
          </a:p>
        </p:txBody>
      </p:sp>
      <p:sp>
        <p:nvSpPr>
          <p:cNvPr id="13" name="AutoShape 30">
            <a:extLst>
              <a:ext uri="{FF2B5EF4-FFF2-40B4-BE49-F238E27FC236}">
                <a16:creationId xmlns:a16="http://schemas.microsoft.com/office/drawing/2014/main" id="{FE6E9853-434A-FD4C-A3C6-218A47A1BF22}"/>
              </a:ext>
            </a:extLst>
          </p:cNvPr>
          <p:cNvSpPr>
            <a:spLocks noChangeArrowheads="1"/>
          </p:cNvSpPr>
          <p:nvPr/>
        </p:nvSpPr>
        <p:spPr bwMode="auto">
          <a:xfrm rot="16200000">
            <a:off x="8216900" y="4508500"/>
            <a:ext cx="966788" cy="941388"/>
          </a:xfrm>
          <a:prstGeom prst="rightArrow">
            <a:avLst>
              <a:gd name="adj1" fmla="val 50000"/>
              <a:gd name="adj2" fmla="val 25675"/>
            </a:avLst>
          </a:prstGeom>
          <a:solidFill>
            <a:srgbClr val="99FF66"/>
          </a:solidFill>
          <a:ln w="12700">
            <a:solidFill>
              <a:srgbClr val="000000"/>
            </a:solidFill>
            <a:miter lim="800000"/>
            <a:headEnd type="none" w="sm" len="sm"/>
            <a:tailEnd type="none" w="sm" len="sm"/>
          </a:ln>
        </p:spPr>
        <p:txBody>
          <a:bodyPr vert="eaVert"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algn="ctr"/>
            <a:endParaRPr lang="en-MX" altLang="en-MX" sz="3200" b="0">
              <a:solidFill>
                <a:srgbClr val="000000"/>
              </a:solidFill>
              <a:latin typeface="Arial" panose="020B0604020202020204" pitchFamily="34" charset="0"/>
            </a:endParaRPr>
          </a:p>
        </p:txBody>
      </p:sp>
      <p:sp>
        <p:nvSpPr>
          <p:cNvPr id="14" name="Text Box 31">
            <a:extLst>
              <a:ext uri="{FF2B5EF4-FFF2-40B4-BE49-F238E27FC236}">
                <a16:creationId xmlns:a16="http://schemas.microsoft.com/office/drawing/2014/main" id="{38C1B6DE-5883-3B40-A2F6-D0CBF33E5E86}"/>
              </a:ext>
            </a:extLst>
          </p:cNvPr>
          <p:cNvSpPr txBox="1">
            <a:spLocks noChangeArrowheads="1"/>
          </p:cNvSpPr>
          <p:nvPr/>
        </p:nvSpPr>
        <p:spPr bwMode="auto">
          <a:xfrm>
            <a:off x="7315200" y="5561013"/>
            <a:ext cx="2925801" cy="461665"/>
          </a:xfrm>
          <a:prstGeom prst="rect">
            <a:avLst/>
          </a:prstGeom>
          <a:solidFill>
            <a:srgbClr val="99FF66"/>
          </a:solidFill>
          <a:ln w="12700">
            <a:solidFill>
              <a:schemeClr val="tx1"/>
            </a:solidFill>
            <a:miter lim="800000"/>
            <a:headEnd type="none" w="sm" len="sm"/>
            <a:tailEnd type="none" w="sm" len="sm"/>
          </a:ln>
        </p:spPr>
        <p:txBody>
          <a:bodyPr wrap="none">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sz="2400" b="0" dirty="0">
                <a:solidFill>
                  <a:srgbClr val="000000"/>
                </a:solidFill>
                <a:latin typeface="Arial" panose="020B0604020202020204" pitchFamily="34" charset="0"/>
              </a:rPr>
              <a:t>“Competing Choice”</a:t>
            </a:r>
          </a:p>
        </p:txBody>
      </p:sp>
    </p:spTree>
    <p:extLst>
      <p:ext uri="{BB962C8B-B14F-4D97-AF65-F5344CB8AC3E}">
        <p14:creationId xmlns:p14="http://schemas.microsoft.com/office/powerpoint/2010/main" val="399767597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A567C821-86C2-5F47-B478-C03BCA5770EF}"/>
              </a:ext>
            </a:extLst>
          </p:cNvPr>
          <p:cNvSpPr>
            <a:spLocks noChangeArrowheads="1"/>
          </p:cNvSpPr>
          <p:nvPr/>
        </p:nvSpPr>
        <p:spPr bwMode="auto">
          <a:xfrm>
            <a:off x="2209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13315" name="Rectangle 3">
            <a:extLst>
              <a:ext uri="{FF2B5EF4-FFF2-40B4-BE49-F238E27FC236}">
                <a16:creationId xmlns:a16="http://schemas.microsoft.com/office/drawing/2014/main" id="{3DCFE3FB-323A-9E4F-A132-704728695D58}"/>
              </a:ext>
            </a:extLst>
          </p:cNvPr>
          <p:cNvSpPr>
            <a:spLocks noChangeArrowheads="1"/>
          </p:cNvSpPr>
          <p:nvPr/>
        </p:nvSpPr>
        <p:spPr bwMode="auto">
          <a:xfrm>
            <a:off x="4648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1105924" name="Rectangle 4">
            <a:extLst>
              <a:ext uri="{FF2B5EF4-FFF2-40B4-BE49-F238E27FC236}">
                <a16:creationId xmlns:a16="http://schemas.microsoft.com/office/drawing/2014/main" id="{3572F20A-4126-6744-8862-07A2CE02A3A8}"/>
              </a:ext>
            </a:extLst>
          </p:cNvPr>
          <p:cNvSpPr>
            <a:spLocks noGrp="1" noChangeArrowheads="1"/>
          </p:cNvSpPr>
          <p:nvPr>
            <p:ph type="title"/>
          </p:nvPr>
        </p:nvSpPr>
        <p:spPr>
          <a:xfrm>
            <a:off x="767751" y="304800"/>
            <a:ext cx="10808898" cy="1143000"/>
          </a:xfrm>
        </p:spPr>
        <p:txBody>
          <a:bodyPr>
            <a:normAutofit/>
          </a:bodyPr>
          <a:lstStyle/>
          <a:p>
            <a:pPr>
              <a:defRPr/>
            </a:pPr>
            <a:r>
              <a:rPr lang="en-US" dirty="0"/>
              <a:t>Assumptions for Shopping Spree (1)</a:t>
            </a:r>
          </a:p>
        </p:txBody>
      </p:sp>
      <p:sp>
        <p:nvSpPr>
          <p:cNvPr id="13317" name="Rectangle 5">
            <a:extLst>
              <a:ext uri="{FF2B5EF4-FFF2-40B4-BE49-F238E27FC236}">
                <a16:creationId xmlns:a16="http://schemas.microsoft.com/office/drawing/2014/main" id="{DECA4AB4-FCB8-4C4A-85AC-FA8A3154D023}"/>
              </a:ext>
            </a:extLst>
          </p:cNvPr>
          <p:cNvSpPr>
            <a:spLocks noGrp="1" noChangeArrowheads="1"/>
          </p:cNvSpPr>
          <p:nvPr>
            <p:ph type="body" idx="1"/>
          </p:nvPr>
        </p:nvSpPr>
        <p:spPr>
          <a:xfrm>
            <a:off x="767751" y="1828800"/>
            <a:ext cx="10463841" cy="4495800"/>
          </a:xfrm>
        </p:spPr>
        <p:txBody>
          <a:bodyPr>
            <a:normAutofit/>
          </a:bodyPr>
          <a:lstStyle/>
          <a:p>
            <a:pPr marL="533400" indent="-533400">
              <a:buClr>
                <a:srgbClr val="000000"/>
              </a:buClr>
              <a:buFontTx/>
              <a:buAutoNum type="arabicPeriod"/>
            </a:pPr>
            <a:r>
              <a:rPr lang="en-US" altLang="en-MX" dirty="0"/>
              <a:t>There are a number of available programs for which </a:t>
            </a:r>
            <a:r>
              <a:rPr lang="en-US" altLang="en-MX" b="1" dirty="0"/>
              <a:t>net costs </a:t>
            </a:r>
            <a:r>
              <a:rPr lang="en-US" altLang="en-MX" dirty="0"/>
              <a:t>and </a:t>
            </a:r>
            <a:r>
              <a:rPr lang="en-US" altLang="en-MX" b="1" dirty="0"/>
              <a:t>net effectiveness</a:t>
            </a:r>
            <a:r>
              <a:rPr lang="en-US" altLang="en-MX" dirty="0"/>
              <a:t> have been evaluated</a:t>
            </a:r>
          </a:p>
          <a:p>
            <a:pPr marL="533400" indent="-533400">
              <a:buClr>
                <a:srgbClr val="000000"/>
              </a:buClr>
              <a:buFontTx/>
              <a:buAutoNum type="arabicPeriod"/>
            </a:pPr>
            <a:r>
              <a:rPr lang="en-US" altLang="en-MX" dirty="0"/>
              <a:t>There is a limited budget – total net cost of programs selected cannot exceed this amount</a:t>
            </a:r>
          </a:p>
          <a:p>
            <a:pPr marL="533400" indent="-533400">
              <a:buClr>
                <a:srgbClr val="000000"/>
              </a:buClr>
              <a:buFontTx/>
              <a:buAutoNum type="arabicPeriod"/>
            </a:pPr>
            <a:r>
              <a:rPr lang="en-US" altLang="en-MX" dirty="0"/>
              <a:t>Objective is to maximize total net effectiveness of programs selected</a:t>
            </a:r>
          </a:p>
          <a:p>
            <a:pPr marL="533400" indent="-533400">
              <a:buClr>
                <a:srgbClr val="000000"/>
              </a:buClr>
              <a:buFontTx/>
              <a:buAutoNum type="arabicPeriod"/>
            </a:pPr>
            <a:r>
              <a:rPr lang="en-US" altLang="en-MX" dirty="0"/>
              <a:t>Any combination of programs is feasible (but limited by budget constraint)</a:t>
            </a:r>
          </a:p>
        </p:txBody>
      </p:sp>
    </p:spTree>
    <p:extLst>
      <p:ext uri="{BB962C8B-B14F-4D97-AF65-F5344CB8AC3E}">
        <p14:creationId xmlns:p14="http://schemas.microsoft.com/office/powerpoint/2010/main" val="2560617360"/>
      </p:ext>
    </p:extLst>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480B8F2F-E1AD-B346-8460-613A82D47EC5}"/>
              </a:ext>
            </a:extLst>
          </p:cNvPr>
          <p:cNvSpPr>
            <a:spLocks noChangeArrowheads="1"/>
          </p:cNvSpPr>
          <p:nvPr/>
        </p:nvSpPr>
        <p:spPr bwMode="auto">
          <a:xfrm>
            <a:off x="2209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14339" name="Rectangle 3">
            <a:extLst>
              <a:ext uri="{FF2B5EF4-FFF2-40B4-BE49-F238E27FC236}">
                <a16:creationId xmlns:a16="http://schemas.microsoft.com/office/drawing/2014/main" id="{58F271E9-0811-5B4B-ADBC-35B728AF6443}"/>
              </a:ext>
            </a:extLst>
          </p:cNvPr>
          <p:cNvSpPr>
            <a:spLocks noChangeArrowheads="1"/>
          </p:cNvSpPr>
          <p:nvPr/>
        </p:nvSpPr>
        <p:spPr bwMode="auto">
          <a:xfrm>
            <a:off x="4648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1107972" name="Rectangle 4">
            <a:extLst>
              <a:ext uri="{FF2B5EF4-FFF2-40B4-BE49-F238E27FC236}">
                <a16:creationId xmlns:a16="http://schemas.microsoft.com/office/drawing/2014/main" id="{D9A34C25-6C32-5F43-AF57-956539801C45}"/>
              </a:ext>
            </a:extLst>
          </p:cNvPr>
          <p:cNvSpPr>
            <a:spLocks noGrp="1" noChangeArrowheads="1"/>
          </p:cNvSpPr>
          <p:nvPr>
            <p:ph type="title"/>
          </p:nvPr>
        </p:nvSpPr>
        <p:spPr>
          <a:xfrm>
            <a:off x="797441" y="304800"/>
            <a:ext cx="10649811" cy="1143000"/>
          </a:xfrm>
        </p:spPr>
        <p:txBody>
          <a:bodyPr>
            <a:normAutofit/>
          </a:bodyPr>
          <a:lstStyle/>
          <a:p>
            <a:pPr>
              <a:defRPr/>
            </a:pPr>
            <a:r>
              <a:rPr lang="en-US" dirty="0"/>
              <a:t>Assumptions for Shopping Spree (2)</a:t>
            </a:r>
          </a:p>
        </p:txBody>
      </p:sp>
      <p:sp>
        <p:nvSpPr>
          <p:cNvPr id="14341" name="Rectangle 5">
            <a:extLst>
              <a:ext uri="{FF2B5EF4-FFF2-40B4-BE49-F238E27FC236}">
                <a16:creationId xmlns:a16="http://schemas.microsoft.com/office/drawing/2014/main" id="{FFDE28DD-4B23-A54B-912E-1036E2F3F712}"/>
              </a:ext>
            </a:extLst>
          </p:cNvPr>
          <p:cNvSpPr>
            <a:spLocks noGrp="1" noChangeArrowheads="1"/>
          </p:cNvSpPr>
          <p:nvPr>
            <p:ph type="body" idx="1"/>
          </p:nvPr>
        </p:nvSpPr>
        <p:spPr>
          <a:xfrm>
            <a:off x="797442" y="1752600"/>
            <a:ext cx="10649811" cy="4495800"/>
          </a:xfrm>
        </p:spPr>
        <p:txBody>
          <a:bodyPr/>
          <a:lstStyle/>
          <a:p>
            <a:pPr marL="533400" indent="-533400">
              <a:buClr>
                <a:srgbClr val="000000"/>
              </a:buClr>
              <a:buNone/>
            </a:pPr>
            <a:r>
              <a:rPr lang="en-US" altLang="en-MX" dirty="0"/>
              <a:t>5. Net cost of any program does not depend on which other programs are also selected</a:t>
            </a:r>
          </a:p>
          <a:p>
            <a:pPr marL="533400" indent="-533400">
              <a:buClr>
                <a:srgbClr val="000000"/>
              </a:buClr>
              <a:buNone/>
            </a:pPr>
            <a:r>
              <a:rPr lang="en-US" altLang="en-MX" dirty="0"/>
              <a:t>6. Net effectiveness of any program does not depend upon which other programs are selected</a:t>
            </a:r>
          </a:p>
          <a:p>
            <a:pPr marL="533400" indent="-533400">
              <a:buClr>
                <a:srgbClr val="000000"/>
              </a:buClr>
              <a:buNone/>
            </a:pPr>
            <a:r>
              <a:rPr lang="en-US" altLang="en-MX" dirty="0"/>
              <a:t>7. All programs are divisible, with proportional costs and effectiveness</a:t>
            </a:r>
          </a:p>
        </p:txBody>
      </p:sp>
    </p:spTree>
    <p:extLst>
      <p:ext uri="{BB962C8B-B14F-4D97-AF65-F5344CB8AC3E}">
        <p14:creationId xmlns:p14="http://schemas.microsoft.com/office/powerpoint/2010/main" val="2791384163"/>
      </p:ext>
    </p:extLst>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FFC2C7D-0923-B84B-AFF2-5F6C5E3884C4}"/>
              </a:ext>
            </a:extLst>
          </p:cNvPr>
          <p:cNvPicPr>
            <a:picLocks noChangeAspect="1"/>
          </p:cNvPicPr>
          <p:nvPr/>
        </p:nvPicPr>
        <p:blipFill>
          <a:blip r:embed="rId2"/>
          <a:stretch>
            <a:fillRect/>
          </a:stretch>
        </p:blipFill>
        <p:spPr>
          <a:xfrm rot="5400000">
            <a:off x="3252449" y="-1044246"/>
            <a:ext cx="5687103" cy="10117388"/>
          </a:xfrm>
          <a:prstGeom prst="rect">
            <a:avLst/>
          </a:prstGeom>
        </p:spPr>
      </p:pic>
      <p:sp>
        <p:nvSpPr>
          <p:cNvPr id="2" name="Title 1">
            <a:extLst>
              <a:ext uri="{FF2B5EF4-FFF2-40B4-BE49-F238E27FC236}">
                <a16:creationId xmlns:a16="http://schemas.microsoft.com/office/drawing/2014/main" id="{4D8FB5F1-4158-2D47-B601-F511C5B6016E}"/>
              </a:ext>
            </a:extLst>
          </p:cNvPr>
          <p:cNvSpPr>
            <a:spLocks noGrp="1"/>
          </p:cNvSpPr>
          <p:nvPr>
            <p:ph type="title"/>
          </p:nvPr>
        </p:nvSpPr>
        <p:spPr/>
        <p:txBody>
          <a:bodyPr/>
          <a:lstStyle/>
          <a:p>
            <a:r>
              <a:rPr lang="en-MX" dirty="0"/>
              <a:t>Shopping Spree Problem</a:t>
            </a:r>
          </a:p>
        </p:txBody>
      </p:sp>
    </p:spTree>
    <p:extLst>
      <p:ext uri="{BB962C8B-B14F-4D97-AF65-F5344CB8AC3E}">
        <p14:creationId xmlns:p14="http://schemas.microsoft.com/office/powerpoint/2010/main" val="262521812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a:extLst>
              <a:ext uri="{FF2B5EF4-FFF2-40B4-BE49-F238E27FC236}">
                <a16:creationId xmlns:a16="http://schemas.microsoft.com/office/drawing/2014/main" id="{4C4CCA5E-7C60-FF43-9417-D2FF7C754BD4}"/>
              </a:ext>
            </a:extLst>
          </p:cNvPr>
          <p:cNvSpPr>
            <a:spLocks noChangeArrowheads="1"/>
          </p:cNvSpPr>
          <p:nvPr/>
        </p:nvSpPr>
        <p:spPr bwMode="auto">
          <a:xfrm>
            <a:off x="2209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1028" name="Rectangle 3">
            <a:extLst>
              <a:ext uri="{FF2B5EF4-FFF2-40B4-BE49-F238E27FC236}">
                <a16:creationId xmlns:a16="http://schemas.microsoft.com/office/drawing/2014/main" id="{52FD919C-0B7C-F74A-B8CE-CEA24F1D9415}"/>
              </a:ext>
            </a:extLst>
          </p:cNvPr>
          <p:cNvSpPr>
            <a:spLocks noChangeArrowheads="1"/>
          </p:cNvSpPr>
          <p:nvPr/>
        </p:nvSpPr>
        <p:spPr bwMode="auto">
          <a:xfrm>
            <a:off x="4648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1110020" name="Rectangle 4">
            <a:extLst>
              <a:ext uri="{FF2B5EF4-FFF2-40B4-BE49-F238E27FC236}">
                <a16:creationId xmlns:a16="http://schemas.microsoft.com/office/drawing/2014/main" id="{E18DE609-91EC-2543-BA20-2EA3B890A547}"/>
              </a:ext>
            </a:extLst>
          </p:cNvPr>
          <p:cNvSpPr>
            <a:spLocks noGrp="1" noChangeArrowheads="1"/>
          </p:cNvSpPr>
          <p:nvPr>
            <p:ph type="title"/>
          </p:nvPr>
        </p:nvSpPr>
        <p:spPr>
          <a:xfrm>
            <a:off x="836761" y="609600"/>
            <a:ext cx="10610491" cy="914400"/>
          </a:xfrm>
        </p:spPr>
        <p:txBody>
          <a:bodyPr/>
          <a:lstStyle/>
          <a:p>
            <a:pPr>
              <a:defRPr/>
            </a:pPr>
            <a:r>
              <a:rPr lang="en-US" dirty="0"/>
              <a:t>Example</a:t>
            </a:r>
          </a:p>
        </p:txBody>
      </p:sp>
      <p:graphicFrame>
        <p:nvGraphicFramePr>
          <p:cNvPr id="1026" name="Object 5">
            <a:extLst>
              <a:ext uri="{FF2B5EF4-FFF2-40B4-BE49-F238E27FC236}">
                <a16:creationId xmlns:a16="http://schemas.microsoft.com/office/drawing/2014/main" id="{A1615ECE-B54D-154E-9132-A1D9290A4EB1}"/>
              </a:ext>
            </a:extLst>
          </p:cNvPr>
          <p:cNvGraphicFramePr>
            <a:graphicFrameLocks noChangeAspect="1"/>
          </p:cNvGraphicFramePr>
          <p:nvPr/>
        </p:nvGraphicFramePr>
        <p:xfrm>
          <a:off x="2895600" y="1790701"/>
          <a:ext cx="6400800" cy="3267075"/>
        </p:xfrm>
        <a:graphic>
          <a:graphicData uri="http://schemas.openxmlformats.org/presentationml/2006/ole">
            <mc:AlternateContent xmlns:mc="http://schemas.openxmlformats.org/markup-compatibility/2006">
              <mc:Choice xmlns:v="urn:schemas-microsoft-com:vml" Requires="v">
                <p:oleObj name="Worksheet" r:id="rId3" imgW="6426200" imgH="3289300" progId="Excel.Sheet.8">
                  <p:embed/>
                </p:oleObj>
              </mc:Choice>
              <mc:Fallback>
                <p:oleObj name="Worksheet" r:id="rId3" imgW="6426200" imgH="3289300" progId="Excel.Sheet.8">
                  <p:embed/>
                  <p:pic>
                    <p:nvPicPr>
                      <p:cNvPr id="1026" name="Object 5">
                        <a:extLst>
                          <a:ext uri="{FF2B5EF4-FFF2-40B4-BE49-F238E27FC236}">
                            <a16:creationId xmlns:a16="http://schemas.microsoft.com/office/drawing/2014/main" id="{A1615ECE-B54D-154E-9132-A1D9290A4E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1790701"/>
                        <a:ext cx="6400800" cy="3267075"/>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Text Box 6">
            <a:extLst>
              <a:ext uri="{FF2B5EF4-FFF2-40B4-BE49-F238E27FC236}">
                <a16:creationId xmlns:a16="http://schemas.microsoft.com/office/drawing/2014/main" id="{44E908AA-4744-8D49-B07B-65DF89BF850C}"/>
              </a:ext>
            </a:extLst>
          </p:cNvPr>
          <p:cNvSpPr txBox="1">
            <a:spLocks noChangeArrowheads="1"/>
          </p:cNvSpPr>
          <p:nvPr/>
        </p:nvSpPr>
        <p:spPr bwMode="auto">
          <a:xfrm>
            <a:off x="2438400" y="5332413"/>
            <a:ext cx="2205038" cy="519112"/>
          </a:xfrm>
          <a:prstGeom prst="rect">
            <a:avLst/>
          </a:prstGeom>
          <a:noFill/>
          <a:ln w="12700">
            <a:solidFill>
              <a:srgbClr val="00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sz="2800" b="0" dirty="0">
                <a:solidFill>
                  <a:srgbClr val="000000"/>
                </a:solidFill>
                <a:latin typeface="Arial" panose="020B0604020202020204" pitchFamily="34" charset="0"/>
              </a:rPr>
              <a:t>Budget $100</a:t>
            </a:r>
          </a:p>
        </p:txBody>
      </p:sp>
      <p:sp>
        <p:nvSpPr>
          <p:cNvPr id="2" name="Rectangle 1">
            <a:extLst>
              <a:ext uri="{FF2B5EF4-FFF2-40B4-BE49-F238E27FC236}">
                <a16:creationId xmlns:a16="http://schemas.microsoft.com/office/drawing/2014/main" id="{A6E22BA7-4964-BA45-9011-97AEB4535EE0}"/>
              </a:ext>
            </a:extLst>
          </p:cNvPr>
          <p:cNvSpPr/>
          <p:nvPr/>
        </p:nvSpPr>
        <p:spPr>
          <a:xfrm>
            <a:off x="2082764" y="5851525"/>
            <a:ext cx="7899436" cy="1077218"/>
          </a:xfrm>
          <a:prstGeom prst="rect">
            <a:avLst/>
          </a:prstGeom>
        </p:spPr>
        <p:txBody>
          <a:bodyPr wrap="square">
            <a:spAutoFit/>
          </a:bodyPr>
          <a:lstStyle/>
          <a:p>
            <a:pPr algn="ctr"/>
            <a:r>
              <a:rPr lang="en-US" sz="3200" dirty="0">
                <a:latin typeface="Constantia" panose="02030602050306030303" pitchFamily="18" charset="0"/>
              </a:rPr>
              <a:t>Which programs should be funded to maximize the total health benefit? </a:t>
            </a:r>
            <a:endParaRPr lang="en-US" sz="3200" dirty="0"/>
          </a:p>
        </p:txBody>
      </p:sp>
      <p:cxnSp>
        <p:nvCxnSpPr>
          <p:cNvPr id="4" name="Straight Arrow Connector 3">
            <a:extLst>
              <a:ext uri="{FF2B5EF4-FFF2-40B4-BE49-F238E27FC236}">
                <a16:creationId xmlns:a16="http://schemas.microsoft.com/office/drawing/2014/main" id="{8192B30E-4063-DF4E-BA5C-E4E7FA380A41}"/>
              </a:ext>
            </a:extLst>
          </p:cNvPr>
          <p:cNvCxnSpPr>
            <a:cxnSpLocks/>
          </p:cNvCxnSpPr>
          <p:nvPr/>
        </p:nvCxnSpPr>
        <p:spPr>
          <a:xfrm>
            <a:off x="8612659" y="3052119"/>
            <a:ext cx="786522" cy="60548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286E1A4D-D478-EE40-93B5-30980336B53A}"/>
              </a:ext>
            </a:extLst>
          </p:cNvPr>
          <p:cNvCxnSpPr>
            <a:cxnSpLocks/>
          </p:cNvCxnSpPr>
          <p:nvPr/>
        </p:nvCxnSpPr>
        <p:spPr>
          <a:xfrm>
            <a:off x="8612659" y="3810000"/>
            <a:ext cx="786522"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27FFC8A6-297C-2C4A-A9C6-401D9D5ABFF2}"/>
              </a:ext>
            </a:extLst>
          </p:cNvPr>
          <p:cNvCxnSpPr>
            <a:cxnSpLocks/>
          </p:cNvCxnSpPr>
          <p:nvPr/>
        </p:nvCxnSpPr>
        <p:spPr>
          <a:xfrm flipV="1">
            <a:off x="8452884" y="4029740"/>
            <a:ext cx="946297" cy="82934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3B67FB86-C30D-2748-B71C-40750CF66B24}"/>
              </a:ext>
            </a:extLst>
          </p:cNvPr>
          <p:cNvSpPr/>
          <p:nvPr/>
        </p:nvSpPr>
        <p:spPr>
          <a:xfrm>
            <a:off x="8731242" y="4734352"/>
            <a:ext cx="1072858" cy="461665"/>
          </a:xfrm>
          <a:prstGeom prst="rect">
            <a:avLst/>
          </a:prstGeom>
        </p:spPr>
        <p:txBody>
          <a:bodyPr wrap="none">
            <a:spAutoFit/>
          </a:bodyPr>
          <a:lstStyle/>
          <a:p>
            <a:r>
              <a:rPr lang="en-US" sz="2400" b="1" dirty="0">
                <a:solidFill>
                  <a:srgbClr val="C00000"/>
                </a:solidFill>
                <a:latin typeface="Constantia" panose="02030602050306030303" pitchFamily="18" charset="0"/>
              </a:rPr>
              <a:t>Fund?</a:t>
            </a:r>
            <a:endParaRPr lang="en-MX" sz="2400" b="1" dirty="0">
              <a:solidFill>
                <a:srgbClr val="C00000"/>
              </a:solidFill>
            </a:endParaRPr>
          </a:p>
        </p:txBody>
      </p:sp>
      <p:pic>
        <p:nvPicPr>
          <p:cNvPr id="13" name="Graphic 12" descr="Packing Box Open">
            <a:extLst>
              <a:ext uri="{FF2B5EF4-FFF2-40B4-BE49-F238E27FC236}">
                <a16:creationId xmlns:a16="http://schemas.microsoft.com/office/drawing/2014/main" id="{C5EA1E2C-D8AB-454E-930E-784F1FD471D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804798" y="3657600"/>
            <a:ext cx="1266856" cy="1266856"/>
          </a:xfrm>
          <a:prstGeom prst="rect">
            <a:avLst/>
          </a:prstGeom>
        </p:spPr>
      </p:pic>
    </p:spTree>
    <p:extLst>
      <p:ext uri="{BB962C8B-B14F-4D97-AF65-F5344CB8AC3E}">
        <p14:creationId xmlns:p14="http://schemas.microsoft.com/office/powerpoint/2010/main" val="544595002"/>
      </p:ext>
    </p:extLst>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a:extLst>
              <a:ext uri="{FF2B5EF4-FFF2-40B4-BE49-F238E27FC236}">
                <a16:creationId xmlns:a16="http://schemas.microsoft.com/office/drawing/2014/main" id="{71C5475E-ED59-154C-83A0-E38A530C2DCF}"/>
              </a:ext>
            </a:extLst>
          </p:cNvPr>
          <p:cNvSpPr>
            <a:spLocks noChangeArrowheads="1"/>
          </p:cNvSpPr>
          <p:nvPr/>
        </p:nvSpPr>
        <p:spPr bwMode="auto">
          <a:xfrm>
            <a:off x="2209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2052" name="Rectangle 3">
            <a:extLst>
              <a:ext uri="{FF2B5EF4-FFF2-40B4-BE49-F238E27FC236}">
                <a16:creationId xmlns:a16="http://schemas.microsoft.com/office/drawing/2014/main" id="{8811E44F-881F-2941-B3F3-E1727892D936}"/>
              </a:ext>
            </a:extLst>
          </p:cNvPr>
          <p:cNvSpPr>
            <a:spLocks noChangeArrowheads="1"/>
          </p:cNvSpPr>
          <p:nvPr/>
        </p:nvSpPr>
        <p:spPr bwMode="auto">
          <a:xfrm>
            <a:off x="4648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1112068" name="Rectangle 4">
            <a:extLst>
              <a:ext uri="{FF2B5EF4-FFF2-40B4-BE49-F238E27FC236}">
                <a16:creationId xmlns:a16="http://schemas.microsoft.com/office/drawing/2014/main" id="{F8C9C8B1-3D20-7A41-B934-A8E06E71CD17}"/>
              </a:ext>
            </a:extLst>
          </p:cNvPr>
          <p:cNvSpPr>
            <a:spLocks noGrp="1" noChangeArrowheads="1"/>
          </p:cNvSpPr>
          <p:nvPr>
            <p:ph type="title"/>
          </p:nvPr>
        </p:nvSpPr>
        <p:spPr>
          <a:xfrm>
            <a:off x="819509" y="471576"/>
            <a:ext cx="10308566" cy="809627"/>
          </a:xfrm>
        </p:spPr>
        <p:txBody>
          <a:bodyPr>
            <a:normAutofit/>
          </a:bodyPr>
          <a:lstStyle/>
          <a:p>
            <a:pPr>
              <a:defRPr/>
            </a:pPr>
            <a:r>
              <a:rPr lang="en-US" dirty="0"/>
              <a:t>Divide Net Cost by Net Effect</a:t>
            </a:r>
          </a:p>
        </p:txBody>
      </p:sp>
      <p:graphicFrame>
        <p:nvGraphicFramePr>
          <p:cNvPr id="2050" name="Object 5">
            <a:extLst>
              <a:ext uri="{FF2B5EF4-FFF2-40B4-BE49-F238E27FC236}">
                <a16:creationId xmlns:a16="http://schemas.microsoft.com/office/drawing/2014/main" id="{EC76C358-4599-9E46-A2BD-81D1E7453AAC}"/>
              </a:ext>
            </a:extLst>
          </p:cNvPr>
          <p:cNvGraphicFramePr>
            <a:graphicFrameLocks noChangeAspect="1"/>
          </p:cNvGraphicFramePr>
          <p:nvPr/>
        </p:nvGraphicFramePr>
        <p:xfrm>
          <a:off x="2476500" y="1514476"/>
          <a:ext cx="7239000" cy="4638675"/>
        </p:xfrm>
        <a:graphic>
          <a:graphicData uri="http://schemas.openxmlformats.org/presentationml/2006/ole">
            <mc:AlternateContent xmlns:mc="http://schemas.openxmlformats.org/markup-compatibility/2006">
              <mc:Choice xmlns:v="urn:schemas-microsoft-com:vml" Requires="v">
                <p:oleObj name="Worksheet" r:id="rId3" imgW="7264400" imgH="4660900" progId="Excel.Sheet.8">
                  <p:embed/>
                </p:oleObj>
              </mc:Choice>
              <mc:Fallback>
                <p:oleObj name="Worksheet" r:id="rId3" imgW="7264400" imgH="4660900" progId="Excel.Sheet.8">
                  <p:embed/>
                  <p:pic>
                    <p:nvPicPr>
                      <p:cNvPr id="2050" name="Object 5">
                        <a:extLst>
                          <a:ext uri="{FF2B5EF4-FFF2-40B4-BE49-F238E27FC236}">
                            <a16:creationId xmlns:a16="http://schemas.microsoft.com/office/drawing/2014/main" id="{EC76C358-4599-9E46-A2BD-81D1E7453A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76500" y="1514476"/>
                        <a:ext cx="7239000" cy="4638675"/>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09051572"/>
      </p:ext>
    </p:extLst>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a:extLst>
              <a:ext uri="{FF2B5EF4-FFF2-40B4-BE49-F238E27FC236}">
                <a16:creationId xmlns:a16="http://schemas.microsoft.com/office/drawing/2014/main" id="{198830C5-53E9-4249-BBFD-20BCB9495398}"/>
              </a:ext>
            </a:extLst>
          </p:cNvPr>
          <p:cNvSpPr>
            <a:spLocks noChangeArrowheads="1"/>
          </p:cNvSpPr>
          <p:nvPr/>
        </p:nvSpPr>
        <p:spPr bwMode="auto">
          <a:xfrm>
            <a:off x="2209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3076" name="Rectangle 3">
            <a:extLst>
              <a:ext uri="{FF2B5EF4-FFF2-40B4-BE49-F238E27FC236}">
                <a16:creationId xmlns:a16="http://schemas.microsoft.com/office/drawing/2014/main" id="{A57CAA1B-D910-F945-8274-E7FAD6218F48}"/>
              </a:ext>
            </a:extLst>
          </p:cNvPr>
          <p:cNvSpPr>
            <a:spLocks noChangeArrowheads="1"/>
          </p:cNvSpPr>
          <p:nvPr/>
        </p:nvSpPr>
        <p:spPr bwMode="auto">
          <a:xfrm>
            <a:off x="4648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1114116" name="Rectangle 4">
            <a:extLst>
              <a:ext uri="{FF2B5EF4-FFF2-40B4-BE49-F238E27FC236}">
                <a16:creationId xmlns:a16="http://schemas.microsoft.com/office/drawing/2014/main" id="{9759947C-DE0F-174A-8A9C-1302691F3C75}"/>
              </a:ext>
            </a:extLst>
          </p:cNvPr>
          <p:cNvSpPr>
            <a:spLocks noGrp="1" noChangeArrowheads="1"/>
          </p:cNvSpPr>
          <p:nvPr>
            <p:ph type="title"/>
          </p:nvPr>
        </p:nvSpPr>
        <p:spPr>
          <a:xfrm>
            <a:off x="603849" y="457200"/>
            <a:ext cx="10748513" cy="838200"/>
          </a:xfrm>
        </p:spPr>
        <p:txBody>
          <a:bodyPr>
            <a:normAutofit/>
          </a:bodyPr>
          <a:lstStyle/>
          <a:p>
            <a:pPr>
              <a:defRPr/>
            </a:pPr>
            <a:r>
              <a:rPr lang="en-US" dirty="0"/>
              <a:t>Order from lowest to highest ratio</a:t>
            </a:r>
          </a:p>
        </p:txBody>
      </p:sp>
      <p:graphicFrame>
        <p:nvGraphicFramePr>
          <p:cNvPr id="3074" name="Object 5">
            <a:extLst>
              <a:ext uri="{FF2B5EF4-FFF2-40B4-BE49-F238E27FC236}">
                <a16:creationId xmlns:a16="http://schemas.microsoft.com/office/drawing/2014/main" id="{AFD795A4-8D06-4F43-A4C9-D630D8971E81}"/>
              </a:ext>
            </a:extLst>
          </p:cNvPr>
          <p:cNvGraphicFramePr>
            <a:graphicFrameLocks noChangeAspect="1"/>
          </p:cNvGraphicFramePr>
          <p:nvPr/>
        </p:nvGraphicFramePr>
        <p:xfrm>
          <a:off x="2438400" y="1524001"/>
          <a:ext cx="7239000" cy="4600575"/>
        </p:xfrm>
        <a:graphic>
          <a:graphicData uri="http://schemas.openxmlformats.org/presentationml/2006/ole">
            <mc:AlternateContent xmlns:mc="http://schemas.openxmlformats.org/markup-compatibility/2006">
              <mc:Choice xmlns:v="urn:schemas-microsoft-com:vml" Requires="v">
                <p:oleObj name="Worksheet" r:id="rId3" imgW="7264400" imgH="4622800" progId="Excel.Sheet.8">
                  <p:embed/>
                </p:oleObj>
              </mc:Choice>
              <mc:Fallback>
                <p:oleObj name="Worksheet" r:id="rId3" imgW="7264400" imgH="4622800" progId="Excel.Sheet.8">
                  <p:embed/>
                  <p:pic>
                    <p:nvPicPr>
                      <p:cNvPr id="3074" name="Object 5">
                        <a:extLst>
                          <a:ext uri="{FF2B5EF4-FFF2-40B4-BE49-F238E27FC236}">
                            <a16:creationId xmlns:a16="http://schemas.microsoft.com/office/drawing/2014/main" id="{AFD795A4-8D06-4F43-A4C9-D630D8971E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1524001"/>
                        <a:ext cx="7239000" cy="4600575"/>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862333759"/>
      </p:ext>
    </p:extLst>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77D8C85B-4BDF-C746-AB26-74141F259E7B}"/>
              </a:ext>
            </a:extLst>
          </p:cNvPr>
          <p:cNvSpPr>
            <a:spLocks noChangeArrowheads="1"/>
          </p:cNvSpPr>
          <p:nvPr/>
        </p:nvSpPr>
        <p:spPr bwMode="auto">
          <a:xfrm>
            <a:off x="2209800" y="5943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15363" name="Rectangle 3">
            <a:extLst>
              <a:ext uri="{FF2B5EF4-FFF2-40B4-BE49-F238E27FC236}">
                <a16:creationId xmlns:a16="http://schemas.microsoft.com/office/drawing/2014/main" id="{FD6C9498-BA46-D045-894C-3A4DD40D1E93}"/>
              </a:ext>
            </a:extLst>
          </p:cNvPr>
          <p:cNvSpPr>
            <a:spLocks noChangeArrowheads="1"/>
          </p:cNvSpPr>
          <p:nvPr/>
        </p:nvSpPr>
        <p:spPr bwMode="auto">
          <a:xfrm>
            <a:off x="4648200" y="59436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1187844" name="Rectangle 4">
            <a:extLst>
              <a:ext uri="{FF2B5EF4-FFF2-40B4-BE49-F238E27FC236}">
                <a16:creationId xmlns:a16="http://schemas.microsoft.com/office/drawing/2014/main" id="{D1380E6D-10FD-D24B-8E1B-F7121BD84D07}"/>
              </a:ext>
            </a:extLst>
          </p:cNvPr>
          <p:cNvSpPr>
            <a:spLocks noGrp="1" noChangeArrowheads="1"/>
          </p:cNvSpPr>
          <p:nvPr>
            <p:ph type="title"/>
          </p:nvPr>
        </p:nvSpPr>
        <p:spPr>
          <a:xfrm>
            <a:off x="741871" y="152400"/>
            <a:ext cx="10705381" cy="762000"/>
          </a:xfrm>
        </p:spPr>
        <p:txBody>
          <a:bodyPr/>
          <a:lstStyle/>
          <a:p>
            <a:pPr>
              <a:defRPr/>
            </a:pPr>
            <a:r>
              <a:rPr lang="en-US" dirty="0"/>
              <a:t>Accumulate costs &amp; effects</a:t>
            </a:r>
          </a:p>
        </p:txBody>
      </p:sp>
      <p:graphicFrame>
        <p:nvGraphicFramePr>
          <p:cNvPr id="1187845" name="Group 5">
            <a:extLst>
              <a:ext uri="{FF2B5EF4-FFF2-40B4-BE49-F238E27FC236}">
                <a16:creationId xmlns:a16="http://schemas.microsoft.com/office/drawing/2014/main" id="{5C93F2F7-D77B-9A4C-B199-FD2E2A213D84}"/>
              </a:ext>
            </a:extLst>
          </p:cNvPr>
          <p:cNvGraphicFramePr>
            <a:graphicFrameLocks noGrp="1"/>
          </p:cNvGraphicFramePr>
          <p:nvPr/>
        </p:nvGraphicFramePr>
        <p:xfrm>
          <a:off x="2133600" y="1066801"/>
          <a:ext cx="7848600" cy="4251705"/>
        </p:xfrm>
        <a:graphic>
          <a:graphicData uri="http://schemas.openxmlformats.org/drawingml/2006/table">
            <a:tbl>
              <a:tblPr/>
              <a:tblGrid>
                <a:gridCol w="16002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228725">
                  <a:extLst>
                    <a:ext uri="{9D8B030D-6E8A-4147-A177-3AD203B41FA5}">
                      <a16:colId xmlns:a16="http://schemas.microsoft.com/office/drawing/2014/main" val="20002"/>
                    </a:ext>
                  </a:extLst>
                </a:gridCol>
                <a:gridCol w="1387475">
                  <a:extLst>
                    <a:ext uri="{9D8B030D-6E8A-4147-A177-3AD203B41FA5}">
                      <a16:colId xmlns:a16="http://schemas.microsoft.com/office/drawing/2014/main" val="20003"/>
                    </a:ext>
                  </a:extLst>
                </a:gridCol>
                <a:gridCol w="1471613">
                  <a:extLst>
                    <a:ext uri="{9D8B030D-6E8A-4147-A177-3AD203B41FA5}">
                      <a16:colId xmlns:a16="http://schemas.microsoft.com/office/drawing/2014/main" val="20004"/>
                    </a:ext>
                  </a:extLst>
                </a:gridCol>
                <a:gridCol w="1144587">
                  <a:extLst>
                    <a:ext uri="{9D8B030D-6E8A-4147-A177-3AD203B41FA5}">
                      <a16:colId xmlns:a16="http://schemas.microsoft.com/office/drawing/2014/main" val="20005"/>
                    </a:ext>
                  </a:extLst>
                </a:gridCol>
              </a:tblGrid>
              <a:tr h="1142829">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Program</a:t>
                      </a:r>
                    </a:p>
                  </a:txBody>
                  <a:tcPr marT="45713" marB="45713"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Cost ($)</a:t>
                      </a:r>
                    </a:p>
                  </a:txBody>
                  <a:tcPr marT="45713" marB="45713"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Effect</a:t>
                      </a:r>
                    </a:p>
                  </a:txBody>
                  <a:tcPr marT="45713" marB="45713"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Cost/</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Effect</a:t>
                      </a:r>
                    </a:p>
                  </a:txBody>
                  <a:tcPr marT="45713" marB="45713"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Cum.</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Cost</a:t>
                      </a:r>
                    </a:p>
                  </a:txBody>
                  <a:tcPr marT="45713" marB="45713"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Cum.</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Effect</a:t>
                      </a:r>
                    </a:p>
                  </a:txBody>
                  <a:tcPr marT="45713" marB="45713"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51808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D</a:t>
                      </a:r>
                    </a:p>
                  </a:txBody>
                  <a:tcPr marT="45713" marB="4571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0.5</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40</a:t>
                      </a:r>
                    </a:p>
                  </a:txBody>
                  <a:tcPr marT="45713" marB="4571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51808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a:t>
                      </a:r>
                    </a:p>
                  </a:txBody>
                  <a:tcPr marT="45713" marB="4571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0.6</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90</a:t>
                      </a:r>
                    </a:p>
                  </a:txBody>
                  <a:tcPr marT="45713" marB="4571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51808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F</a:t>
                      </a:r>
                    </a:p>
                  </a:txBody>
                  <a:tcPr marT="45713" marB="4571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75</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0.667</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100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165</a:t>
                      </a:r>
                    </a:p>
                  </a:txBody>
                  <a:tcPr marT="45713" marB="4571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1808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a:t>
                      </a:r>
                    </a:p>
                  </a:txBody>
                  <a:tcPr marT="45713" marB="4571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56</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70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0.8</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156</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235</a:t>
                      </a:r>
                    </a:p>
                  </a:txBody>
                  <a:tcPr marT="45713" marB="4571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51808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A</a:t>
                      </a:r>
                    </a:p>
                  </a:txBody>
                  <a:tcPr marT="45713" marB="4571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27</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0.9</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183</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265</a:t>
                      </a:r>
                    </a:p>
                  </a:txBody>
                  <a:tcPr marT="45713" marB="4571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51808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B</a:t>
                      </a:r>
                    </a:p>
                  </a:txBody>
                  <a:tcPr marT="45713" marB="45713"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a:t>
                      </a:r>
                    </a:p>
                  </a:txBody>
                  <a:tcPr marT="45713" marB="45713"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a:t>
                      </a:r>
                    </a:p>
                  </a:txBody>
                  <a:tcPr marT="45713" marB="45713"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1.5</a:t>
                      </a:r>
                    </a:p>
                  </a:txBody>
                  <a:tcPr marT="45713" marB="45713"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213</a:t>
                      </a:r>
                    </a:p>
                  </a:txBody>
                  <a:tcPr marT="45713" marB="45713"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285</a:t>
                      </a:r>
                    </a:p>
                  </a:txBody>
                  <a:tcPr marT="45713" marB="45713"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5408" name="Line 74">
            <a:extLst>
              <a:ext uri="{FF2B5EF4-FFF2-40B4-BE49-F238E27FC236}">
                <a16:creationId xmlns:a16="http://schemas.microsoft.com/office/drawing/2014/main" id="{FE27CA6D-E53C-7D46-A85C-2F41E4CEB317}"/>
              </a:ext>
            </a:extLst>
          </p:cNvPr>
          <p:cNvSpPr>
            <a:spLocks noChangeShapeType="1"/>
          </p:cNvSpPr>
          <p:nvPr/>
        </p:nvSpPr>
        <p:spPr bwMode="auto">
          <a:xfrm>
            <a:off x="2057400" y="2057400"/>
            <a:ext cx="79248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graphicFrame>
        <p:nvGraphicFramePr>
          <p:cNvPr id="1187917" name="Group 77">
            <a:extLst>
              <a:ext uri="{FF2B5EF4-FFF2-40B4-BE49-F238E27FC236}">
                <a16:creationId xmlns:a16="http://schemas.microsoft.com/office/drawing/2014/main" id="{D8F345F2-C5D6-F641-A4F7-870CF93E274F}"/>
              </a:ext>
            </a:extLst>
          </p:cNvPr>
          <p:cNvGraphicFramePr>
            <a:graphicFrameLocks noGrp="1"/>
          </p:cNvGraphicFramePr>
          <p:nvPr/>
        </p:nvGraphicFramePr>
        <p:xfrm>
          <a:off x="2133600" y="1066801"/>
          <a:ext cx="7848600" cy="4270375"/>
        </p:xfrm>
        <a:graphic>
          <a:graphicData uri="http://schemas.openxmlformats.org/drawingml/2006/table">
            <a:tbl>
              <a:tblPr/>
              <a:tblGrid>
                <a:gridCol w="16002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228725">
                  <a:extLst>
                    <a:ext uri="{9D8B030D-6E8A-4147-A177-3AD203B41FA5}">
                      <a16:colId xmlns:a16="http://schemas.microsoft.com/office/drawing/2014/main" val="20002"/>
                    </a:ext>
                  </a:extLst>
                </a:gridCol>
                <a:gridCol w="1387475">
                  <a:extLst>
                    <a:ext uri="{9D8B030D-6E8A-4147-A177-3AD203B41FA5}">
                      <a16:colId xmlns:a16="http://schemas.microsoft.com/office/drawing/2014/main" val="20003"/>
                    </a:ext>
                  </a:extLst>
                </a:gridCol>
                <a:gridCol w="1471613">
                  <a:extLst>
                    <a:ext uri="{9D8B030D-6E8A-4147-A177-3AD203B41FA5}">
                      <a16:colId xmlns:a16="http://schemas.microsoft.com/office/drawing/2014/main" val="20004"/>
                    </a:ext>
                  </a:extLst>
                </a:gridCol>
                <a:gridCol w="1144587">
                  <a:extLst>
                    <a:ext uri="{9D8B030D-6E8A-4147-A177-3AD203B41FA5}">
                      <a16:colId xmlns:a16="http://schemas.microsoft.com/office/drawing/2014/main" val="20005"/>
                    </a:ext>
                  </a:extLst>
                </a:gridCol>
              </a:tblGrid>
              <a:tr h="1143000">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Program</a:t>
                      </a:r>
                    </a:p>
                  </a:txBody>
                  <a:tcPr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Cost ($)</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Effect</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Cost/</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Effect</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Cum.</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Cost</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Cum.</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Effect</a:t>
                      </a:r>
                    </a:p>
                  </a:txBody>
                  <a:tcPr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415925">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D</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40</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381000">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0.6</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90</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44926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F</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75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100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165</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08000">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56</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70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0.8</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156</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235</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508000">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A</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27</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0.9</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183</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265</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536575">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B</a:t>
                      </a:r>
                    </a:p>
                  </a:txBody>
                  <a:tcPr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a:t>
                      </a: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a:t>
                      </a: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1.5</a:t>
                      </a: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213</a:t>
                      </a: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285</a:t>
                      </a:r>
                    </a:p>
                  </a:txBody>
                  <a:tcP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5452" name="Line 146">
            <a:extLst>
              <a:ext uri="{FF2B5EF4-FFF2-40B4-BE49-F238E27FC236}">
                <a16:creationId xmlns:a16="http://schemas.microsoft.com/office/drawing/2014/main" id="{491837E9-09F1-F447-BA7F-0C66F1297E6D}"/>
              </a:ext>
            </a:extLst>
          </p:cNvPr>
          <p:cNvSpPr>
            <a:spLocks noChangeShapeType="1"/>
          </p:cNvSpPr>
          <p:nvPr/>
        </p:nvSpPr>
        <p:spPr bwMode="auto">
          <a:xfrm>
            <a:off x="2057400" y="1066800"/>
            <a:ext cx="79248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Tree>
    <p:extLst>
      <p:ext uri="{BB962C8B-B14F-4D97-AF65-F5344CB8AC3E}">
        <p14:creationId xmlns:p14="http://schemas.microsoft.com/office/powerpoint/2010/main" val="3485263566"/>
      </p:ext>
    </p:extLst>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6C374F31-CAD2-8948-8BAD-BD9A972D00FE}"/>
              </a:ext>
            </a:extLst>
          </p:cNvPr>
          <p:cNvSpPr>
            <a:spLocks noChangeArrowheads="1"/>
          </p:cNvSpPr>
          <p:nvPr/>
        </p:nvSpPr>
        <p:spPr bwMode="auto">
          <a:xfrm>
            <a:off x="2209800" y="5943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16387" name="Rectangle 3">
            <a:extLst>
              <a:ext uri="{FF2B5EF4-FFF2-40B4-BE49-F238E27FC236}">
                <a16:creationId xmlns:a16="http://schemas.microsoft.com/office/drawing/2014/main" id="{65852357-643A-5642-8F55-D434FEEA730C}"/>
              </a:ext>
            </a:extLst>
          </p:cNvPr>
          <p:cNvSpPr>
            <a:spLocks noChangeArrowheads="1"/>
          </p:cNvSpPr>
          <p:nvPr/>
        </p:nvSpPr>
        <p:spPr bwMode="auto">
          <a:xfrm>
            <a:off x="4648200" y="59436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1189892" name="Rectangle 4">
            <a:extLst>
              <a:ext uri="{FF2B5EF4-FFF2-40B4-BE49-F238E27FC236}">
                <a16:creationId xmlns:a16="http://schemas.microsoft.com/office/drawing/2014/main" id="{C0B630E7-C50C-934C-ACD4-CB34D3283676}"/>
              </a:ext>
            </a:extLst>
          </p:cNvPr>
          <p:cNvSpPr>
            <a:spLocks noGrp="1" noChangeArrowheads="1"/>
          </p:cNvSpPr>
          <p:nvPr>
            <p:ph type="title"/>
          </p:nvPr>
        </p:nvSpPr>
        <p:spPr>
          <a:xfrm>
            <a:off x="733647" y="152400"/>
            <a:ext cx="10834376" cy="762000"/>
          </a:xfrm>
        </p:spPr>
        <p:txBody>
          <a:bodyPr/>
          <a:lstStyle/>
          <a:p>
            <a:pPr>
              <a:defRPr/>
            </a:pPr>
            <a:r>
              <a:rPr lang="en-US" dirty="0"/>
              <a:t>Spend the budget</a:t>
            </a:r>
          </a:p>
        </p:txBody>
      </p:sp>
      <p:graphicFrame>
        <p:nvGraphicFramePr>
          <p:cNvPr id="1189893" name="Group 5">
            <a:extLst>
              <a:ext uri="{FF2B5EF4-FFF2-40B4-BE49-F238E27FC236}">
                <a16:creationId xmlns:a16="http://schemas.microsoft.com/office/drawing/2014/main" id="{F6680CE3-658F-714D-AF5C-49E32FDB501B}"/>
              </a:ext>
            </a:extLst>
          </p:cNvPr>
          <p:cNvGraphicFramePr>
            <a:graphicFrameLocks noGrp="1"/>
          </p:cNvGraphicFramePr>
          <p:nvPr/>
        </p:nvGraphicFramePr>
        <p:xfrm>
          <a:off x="2133600" y="1066801"/>
          <a:ext cx="7848600" cy="4251705"/>
        </p:xfrm>
        <a:graphic>
          <a:graphicData uri="http://schemas.openxmlformats.org/drawingml/2006/table">
            <a:tbl>
              <a:tblPr/>
              <a:tblGrid>
                <a:gridCol w="16002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228725">
                  <a:extLst>
                    <a:ext uri="{9D8B030D-6E8A-4147-A177-3AD203B41FA5}">
                      <a16:colId xmlns:a16="http://schemas.microsoft.com/office/drawing/2014/main" val="20002"/>
                    </a:ext>
                  </a:extLst>
                </a:gridCol>
                <a:gridCol w="1387475">
                  <a:extLst>
                    <a:ext uri="{9D8B030D-6E8A-4147-A177-3AD203B41FA5}">
                      <a16:colId xmlns:a16="http://schemas.microsoft.com/office/drawing/2014/main" val="20003"/>
                    </a:ext>
                  </a:extLst>
                </a:gridCol>
                <a:gridCol w="1471613">
                  <a:extLst>
                    <a:ext uri="{9D8B030D-6E8A-4147-A177-3AD203B41FA5}">
                      <a16:colId xmlns:a16="http://schemas.microsoft.com/office/drawing/2014/main" val="20004"/>
                    </a:ext>
                  </a:extLst>
                </a:gridCol>
                <a:gridCol w="1144587">
                  <a:extLst>
                    <a:ext uri="{9D8B030D-6E8A-4147-A177-3AD203B41FA5}">
                      <a16:colId xmlns:a16="http://schemas.microsoft.com/office/drawing/2014/main" val="20005"/>
                    </a:ext>
                  </a:extLst>
                </a:gridCol>
              </a:tblGrid>
              <a:tr h="1142829">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Program</a:t>
                      </a:r>
                    </a:p>
                  </a:txBody>
                  <a:tcPr marT="45713" marB="45713"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Cost ($)</a:t>
                      </a:r>
                    </a:p>
                  </a:txBody>
                  <a:tcPr marT="45713" marB="45713"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Effect</a:t>
                      </a:r>
                    </a:p>
                  </a:txBody>
                  <a:tcPr marT="45713" marB="45713"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Cost/</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Effect</a:t>
                      </a:r>
                    </a:p>
                  </a:txBody>
                  <a:tcPr marT="45713" marB="45713"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Cum.</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Cost</a:t>
                      </a:r>
                    </a:p>
                  </a:txBody>
                  <a:tcPr marT="45713" marB="45713"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Cum.</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Effect</a:t>
                      </a:r>
                    </a:p>
                  </a:txBody>
                  <a:tcPr marT="45713" marB="45713"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51808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D</a:t>
                      </a:r>
                    </a:p>
                  </a:txBody>
                  <a:tcPr marT="45713" marB="4571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0.5</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40</a:t>
                      </a:r>
                    </a:p>
                  </a:txBody>
                  <a:tcPr marT="45713" marB="4571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51808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a:t>
                      </a:r>
                    </a:p>
                  </a:txBody>
                  <a:tcPr marT="45713" marB="4571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0.6</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90</a:t>
                      </a:r>
                    </a:p>
                  </a:txBody>
                  <a:tcPr marT="45713" marB="4571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51808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F</a:t>
                      </a:r>
                    </a:p>
                  </a:txBody>
                  <a:tcPr marT="45713" marB="4571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75</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0.667</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100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165</a:t>
                      </a:r>
                    </a:p>
                  </a:txBody>
                  <a:tcPr marT="45713" marB="4571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1808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a:t>
                      </a:r>
                    </a:p>
                  </a:txBody>
                  <a:tcPr marT="45713" marB="4571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56</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70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0.8</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156</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235</a:t>
                      </a:r>
                    </a:p>
                  </a:txBody>
                  <a:tcPr marT="45713" marB="4571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51808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A</a:t>
                      </a:r>
                    </a:p>
                  </a:txBody>
                  <a:tcPr marT="45713" marB="4571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27</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0.9</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183</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265</a:t>
                      </a:r>
                    </a:p>
                  </a:txBody>
                  <a:tcPr marT="45713" marB="4571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51808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B</a:t>
                      </a:r>
                    </a:p>
                  </a:txBody>
                  <a:tcPr marT="45713" marB="45713"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a:t>
                      </a:r>
                    </a:p>
                  </a:txBody>
                  <a:tcPr marT="45713" marB="45713"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a:t>
                      </a:r>
                    </a:p>
                  </a:txBody>
                  <a:tcPr marT="45713" marB="45713"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1.5</a:t>
                      </a:r>
                    </a:p>
                  </a:txBody>
                  <a:tcPr marT="45713" marB="45713"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213</a:t>
                      </a:r>
                    </a:p>
                  </a:txBody>
                  <a:tcPr marT="45713" marB="45713"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285</a:t>
                      </a:r>
                    </a:p>
                  </a:txBody>
                  <a:tcPr marT="45713" marB="45713"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6432" name="Line 74">
            <a:extLst>
              <a:ext uri="{FF2B5EF4-FFF2-40B4-BE49-F238E27FC236}">
                <a16:creationId xmlns:a16="http://schemas.microsoft.com/office/drawing/2014/main" id="{0453AA20-D4AD-6549-B401-29BBEFB81430}"/>
              </a:ext>
            </a:extLst>
          </p:cNvPr>
          <p:cNvSpPr>
            <a:spLocks noChangeShapeType="1"/>
          </p:cNvSpPr>
          <p:nvPr/>
        </p:nvSpPr>
        <p:spPr bwMode="auto">
          <a:xfrm>
            <a:off x="2057400" y="2057400"/>
            <a:ext cx="79248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16433" name="Text Box 75">
            <a:extLst>
              <a:ext uri="{FF2B5EF4-FFF2-40B4-BE49-F238E27FC236}">
                <a16:creationId xmlns:a16="http://schemas.microsoft.com/office/drawing/2014/main" id="{3D624993-020E-F449-B4B6-BDF28F05292C}"/>
              </a:ext>
            </a:extLst>
          </p:cNvPr>
          <p:cNvSpPr txBox="1">
            <a:spLocks noChangeArrowheads="1"/>
          </p:cNvSpPr>
          <p:nvPr/>
        </p:nvSpPr>
        <p:spPr bwMode="auto">
          <a:xfrm>
            <a:off x="2209800" y="5257800"/>
            <a:ext cx="792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tabLst>
                <a:tab pos="1943100" algn="l"/>
                <a:tab pos="4457700" algn="l"/>
                <a:tab pos="6057900" algn="l"/>
              </a:tabLst>
              <a:defRPr sz="2000" b="1">
                <a:solidFill>
                  <a:schemeClr val="tx1"/>
                </a:solidFill>
                <a:latin typeface="Times New Roman" panose="02020603050405020304" pitchFamily="18" charset="0"/>
              </a:defRPr>
            </a:lvl1pPr>
            <a:lvl2pPr marL="742950" indent="-285750">
              <a:tabLst>
                <a:tab pos="1943100" algn="l"/>
                <a:tab pos="4457700" algn="l"/>
                <a:tab pos="6057900" algn="l"/>
              </a:tabLst>
              <a:defRPr sz="2000" b="1">
                <a:solidFill>
                  <a:schemeClr val="tx1"/>
                </a:solidFill>
                <a:latin typeface="Times New Roman" panose="02020603050405020304" pitchFamily="18" charset="0"/>
              </a:defRPr>
            </a:lvl2pPr>
            <a:lvl3pPr marL="1143000" indent="-228600">
              <a:tabLst>
                <a:tab pos="1943100" algn="l"/>
                <a:tab pos="4457700" algn="l"/>
                <a:tab pos="6057900" algn="l"/>
              </a:tabLst>
              <a:defRPr sz="2000" b="1">
                <a:solidFill>
                  <a:schemeClr val="tx1"/>
                </a:solidFill>
                <a:latin typeface="Times New Roman" panose="02020603050405020304" pitchFamily="18" charset="0"/>
              </a:defRPr>
            </a:lvl3pPr>
            <a:lvl4pPr marL="1600200" indent="-228600">
              <a:tabLst>
                <a:tab pos="1943100" algn="l"/>
                <a:tab pos="4457700" algn="l"/>
                <a:tab pos="6057900" algn="l"/>
              </a:tabLst>
              <a:defRPr sz="2000" b="1">
                <a:solidFill>
                  <a:schemeClr val="tx1"/>
                </a:solidFill>
                <a:latin typeface="Times New Roman" panose="02020603050405020304" pitchFamily="18" charset="0"/>
              </a:defRPr>
            </a:lvl4pPr>
            <a:lvl5pPr marL="2057400" indent="-228600">
              <a:tabLst>
                <a:tab pos="1943100" algn="l"/>
                <a:tab pos="4457700" algn="l"/>
                <a:tab pos="6057900" algn="l"/>
              </a:tabLst>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1943100" algn="l"/>
                <a:tab pos="4457700" algn="l"/>
                <a:tab pos="6057900" algn="l"/>
              </a:tabLs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1943100" algn="l"/>
                <a:tab pos="4457700" algn="l"/>
                <a:tab pos="6057900" algn="l"/>
              </a:tabLs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1943100" algn="l"/>
                <a:tab pos="4457700" algn="l"/>
                <a:tab pos="6057900" algn="l"/>
              </a:tabLs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1943100" algn="l"/>
                <a:tab pos="4457700" algn="l"/>
                <a:tab pos="6057900" algn="l"/>
              </a:tabLst>
              <a:defRPr sz="2000" b="1">
                <a:solidFill>
                  <a:schemeClr val="tx1"/>
                </a:solidFill>
                <a:latin typeface="Times New Roman" panose="02020603050405020304" pitchFamily="18" charset="0"/>
              </a:defRPr>
            </a:lvl9pPr>
          </a:lstStyle>
          <a:p>
            <a:r>
              <a:rPr lang="en-US" altLang="en-MX" sz="2400" b="0" u="sng">
                <a:solidFill>
                  <a:srgbClr val="FF0000"/>
                </a:solidFill>
                <a:latin typeface="Arial" panose="020B0604020202020204" pitchFamily="34" charset="0"/>
              </a:rPr>
              <a:t>Budget</a:t>
            </a:r>
            <a:r>
              <a:rPr lang="en-US" altLang="en-MX" sz="2400" b="0">
                <a:solidFill>
                  <a:srgbClr val="FF0000"/>
                </a:solidFill>
                <a:latin typeface="Arial" panose="020B0604020202020204" pitchFamily="34" charset="0"/>
              </a:rPr>
              <a:t>	</a:t>
            </a:r>
            <a:r>
              <a:rPr lang="en-US" altLang="en-MX" sz="2400" b="0" u="sng">
                <a:solidFill>
                  <a:srgbClr val="FF0000"/>
                </a:solidFill>
                <a:latin typeface="Arial" panose="020B0604020202020204" pitchFamily="34" charset="0"/>
              </a:rPr>
              <a:t>Programs</a:t>
            </a:r>
            <a:r>
              <a:rPr lang="en-US" altLang="en-MX" sz="2400" b="0">
                <a:solidFill>
                  <a:srgbClr val="FF0000"/>
                </a:solidFill>
                <a:latin typeface="Arial" panose="020B0604020202020204" pitchFamily="34" charset="0"/>
              </a:rPr>
              <a:t>	</a:t>
            </a:r>
            <a:r>
              <a:rPr lang="en-US" altLang="en-MX" sz="2400" b="0" u="sng">
                <a:solidFill>
                  <a:srgbClr val="FF0000"/>
                </a:solidFill>
                <a:latin typeface="Arial" panose="020B0604020202020204" pitchFamily="34" charset="0"/>
              </a:rPr>
              <a:t>Effect</a:t>
            </a:r>
            <a:r>
              <a:rPr lang="en-US" altLang="en-MX" sz="2400" b="0">
                <a:solidFill>
                  <a:srgbClr val="FF0000"/>
                </a:solidFill>
                <a:latin typeface="Arial" panose="020B0604020202020204" pitchFamily="34" charset="0"/>
              </a:rPr>
              <a:t>	</a:t>
            </a:r>
            <a:r>
              <a:rPr lang="en-US" altLang="en-MX" sz="2400" b="0" u="sng">
                <a:solidFill>
                  <a:srgbClr val="FF0000"/>
                </a:solidFill>
                <a:latin typeface="Arial" panose="020B0604020202020204" pitchFamily="34" charset="0"/>
              </a:rPr>
              <a:t>Threshold</a:t>
            </a:r>
          </a:p>
        </p:txBody>
      </p:sp>
      <p:sp>
        <p:nvSpPr>
          <p:cNvPr id="16434" name="Text Box 76">
            <a:extLst>
              <a:ext uri="{FF2B5EF4-FFF2-40B4-BE49-F238E27FC236}">
                <a16:creationId xmlns:a16="http://schemas.microsoft.com/office/drawing/2014/main" id="{356BFE8F-DDFC-D546-9886-36F5107183CB}"/>
              </a:ext>
            </a:extLst>
          </p:cNvPr>
          <p:cNvSpPr txBox="1">
            <a:spLocks noChangeArrowheads="1"/>
          </p:cNvSpPr>
          <p:nvPr/>
        </p:nvSpPr>
        <p:spPr bwMode="auto">
          <a:xfrm>
            <a:off x="2362201" y="5638801"/>
            <a:ext cx="7866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tabLst>
                <a:tab pos="1943100" algn="l"/>
                <a:tab pos="4457700" algn="l"/>
                <a:tab pos="6057900" algn="l"/>
              </a:tabLst>
              <a:defRPr sz="2000" b="1">
                <a:solidFill>
                  <a:schemeClr val="tx1"/>
                </a:solidFill>
                <a:latin typeface="Times New Roman" panose="02020603050405020304" pitchFamily="18" charset="0"/>
              </a:defRPr>
            </a:lvl1pPr>
            <a:lvl2pPr marL="742950" indent="-285750">
              <a:tabLst>
                <a:tab pos="1943100" algn="l"/>
                <a:tab pos="4457700" algn="l"/>
                <a:tab pos="6057900" algn="l"/>
              </a:tabLst>
              <a:defRPr sz="2000" b="1">
                <a:solidFill>
                  <a:schemeClr val="tx1"/>
                </a:solidFill>
                <a:latin typeface="Times New Roman" panose="02020603050405020304" pitchFamily="18" charset="0"/>
              </a:defRPr>
            </a:lvl2pPr>
            <a:lvl3pPr marL="1143000" indent="-228600">
              <a:tabLst>
                <a:tab pos="1943100" algn="l"/>
                <a:tab pos="4457700" algn="l"/>
                <a:tab pos="6057900" algn="l"/>
              </a:tabLst>
              <a:defRPr sz="2000" b="1">
                <a:solidFill>
                  <a:schemeClr val="tx1"/>
                </a:solidFill>
                <a:latin typeface="Times New Roman" panose="02020603050405020304" pitchFamily="18" charset="0"/>
              </a:defRPr>
            </a:lvl3pPr>
            <a:lvl4pPr marL="1600200" indent="-228600">
              <a:tabLst>
                <a:tab pos="1943100" algn="l"/>
                <a:tab pos="4457700" algn="l"/>
                <a:tab pos="6057900" algn="l"/>
              </a:tabLst>
              <a:defRPr sz="2000" b="1">
                <a:solidFill>
                  <a:schemeClr val="tx1"/>
                </a:solidFill>
                <a:latin typeface="Times New Roman" panose="02020603050405020304" pitchFamily="18" charset="0"/>
              </a:defRPr>
            </a:lvl4pPr>
            <a:lvl5pPr marL="2057400" indent="-228600">
              <a:tabLst>
                <a:tab pos="1943100" algn="l"/>
                <a:tab pos="4457700" algn="l"/>
                <a:tab pos="6057900" algn="l"/>
              </a:tabLst>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1943100" algn="l"/>
                <a:tab pos="4457700" algn="l"/>
                <a:tab pos="6057900" algn="l"/>
              </a:tabLs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1943100" algn="l"/>
                <a:tab pos="4457700" algn="l"/>
                <a:tab pos="6057900" algn="l"/>
              </a:tabLs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1943100" algn="l"/>
                <a:tab pos="4457700" algn="l"/>
                <a:tab pos="6057900" algn="l"/>
              </a:tabLs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1943100" algn="l"/>
                <a:tab pos="4457700" algn="l"/>
                <a:tab pos="6057900" algn="l"/>
              </a:tabLst>
              <a:defRPr sz="2000" b="1">
                <a:solidFill>
                  <a:schemeClr val="tx1"/>
                </a:solidFill>
                <a:latin typeface="Times New Roman" panose="02020603050405020304" pitchFamily="18" charset="0"/>
              </a:defRPr>
            </a:lvl9pPr>
          </a:lstStyle>
          <a:p>
            <a:r>
              <a:rPr lang="en-US" altLang="en-MX">
                <a:solidFill>
                  <a:srgbClr val="3333FF"/>
                </a:solidFill>
                <a:latin typeface="Arial" panose="020B0604020202020204" pitchFamily="34" charset="0"/>
              </a:rPr>
              <a:t>$100	D,E,F	165	0.667</a:t>
            </a:r>
            <a:endParaRPr lang="en-US" altLang="en-MX">
              <a:solidFill>
                <a:srgbClr val="CC0099"/>
              </a:solidFill>
              <a:latin typeface="Arial" panose="020B0604020202020204" pitchFamily="34" charset="0"/>
            </a:endParaRPr>
          </a:p>
        </p:txBody>
      </p:sp>
      <p:graphicFrame>
        <p:nvGraphicFramePr>
          <p:cNvPr id="1189965" name="Group 77">
            <a:extLst>
              <a:ext uri="{FF2B5EF4-FFF2-40B4-BE49-F238E27FC236}">
                <a16:creationId xmlns:a16="http://schemas.microsoft.com/office/drawing/2014/main" id="{974B1070-2FC4-6947-B403-89810A8EAB83}"/>
              </a:ext>
            </a:extLst>
          </p:cNvPr>
          <p:cNvGraphicFramePr>
            <a:graphicFrameLocks noGrp="1"/>
          </p:cNvGraphicFramePr>
          <p:nvPr/>
        </p:nvGraphicFramePr>
        <p:xfrm>
          <a:off x="2133600" y="1066801"/>
          <a:ext cx="7848600" cy="4270375"/>
        </p:xfrm>
        <a:graphic>
          <a:graphicData uri="http://schemas.openxmlformats.org/drawingml/2006/table">
            <a:tbl>
              <a:tblPr/>
              <a:tblGrid>
                <a:gridCol w="16002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228725">
                  <a:extLst>
                    <a:ext uri="{9D8B030D-6E8A-4147-A177-3AD203B41FA5}">
                      <a16:colId xmlns:a16="http://schemas.microsoft.com/office/drawing/2014/main" val="20002"/>
                    </a:ext>
                  </a:extLst>
                </a:gridCol>
                <a:gridCol w="1387475">
                  <a:extLst>
                    <a:ext uri="{9D8B030D-6E8A-4147-A177-3AD203B41FA5}">
                      <a16:colId xmlns:a16="http://schemas.microsoft.com/office/drawing/2014/main" val="20003"/>
                    </a:ext>
                  </a:extLst>
                </a:gridCol>
                <a:gridCol w="1471613">
                  <a:extLst>
                    <a:ext uri="{9D8B030D-6E8A-4147-A177-3AD203B41FA5}">
                      <a16:colId xmlns:a16="http://schemas.microsoft.com/office/drawing/2014/main" val="20004"/>
                    </a:ext>
                  </a:extLst>
                </a:gridCol>
                <a:gridCol w="1144587">
                  <a:extLst>
                    <a:ext uri="{9D8B030D-6E8A-4147-A177-3AD203B41FA5}">
                      <a16:colId xmlns:a16="http://schemas.microsoft.com/office/drawing/2014/main" val="20005"/>
                    </a:ext>
                  </a:extLst>
                </a:gridCol>
              </a:tblGrid>
              <a:tr h="1143000">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Program</a:t>
                      </a:r>
                    </a:p>
                  </a:txBody>
                  <a:tcPr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Cost ($)</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Effect</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Cost/</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Effect</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Cum.</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Cost</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Cum.</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Effect</a:t>
                      </a:r>
                    </a:p>
                  </a:txBody>
                  <a:tcPr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415925">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D</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40</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381000">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0.6</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90</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44926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F</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75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100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165</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08000">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56</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70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0.8</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156</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235</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508000">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A</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27</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0.9</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183</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265</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536575">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B</a:t>
                      </a:r>
                    </a:p>
                  </a:txBody>
                  <a:tcPr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a:t>
                      </a: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a:t>
                      </a: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1.5</a:t>
                      </a: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213</a:t>
                      </a: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285</a:t>
                      </a:r>
                    </a:p>
                  </a:txBody>
                  <a:tcP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6478" name="Line 146">
            <a:extLst>
              <a:ext uri="{FF2B5EF4-FFF2-40B4-BE49-F238E27FC236}">
                <a16:creationId xmlns:a16="http://schemas.microsoft.com/office/drawing/2014/main" id="{90D50707-0AD5-7147-94B7-701747254599}"/>
              </a:ext>
            </a:extLst>
          </p:cNvPr>
          <p:cNvSpPr>
            <a:spLocks noChangeShapeType="1"/>
          </p:cNvSpPr>
          <p:nvPr/>
        </p:nvSpPr>
        <p:spPr bwMode="auto">
          <a:xfrm>
            <a:off x="2057400" y="1066800"/>
            <a:ext cx="79248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16479" name="Line 147">
            <a:extLst>
              <a:ext uri="{FF2B5EF4-FFF2-40B4-BE49-F238E27FC236}">
                <a16:creationId xmlns:a16="http://schemas.microsoft.com/office/drawing/2014/main" id="{356B804E-AAE7-8B44-9333-D40187061B26}"/>
              </a:ext>
            </a:extLst>
          </p:cNvPr>
          <p:cNvSpPr>
            <a:spLocks noChangeShapeType="1"/>
          </p:cNvSpPr>
          <p:nvPr/>
        </p:nvSpPr>
        <p:spPr bwMode="auto">
          <a:xfrm>
            <a:off x="1905000" y="3733800"/>
            <a:ext cx="8077200" cy="0"/>
          </a:xfrm>
          <a:prstGeom prst="line">
            <a:avLst/>
          </a:prstGeom>
          <a:noFill/>
          <a:ln w="19050">
            <a:solidFill>
              <a:srgbClr val="3333FF"/>
            </a:solidFill>
            <a:round/>
            <a:headEnd/>
            <a:tailEnd/>
          </a:ln>
          <a:extLst>
            <a:ext uri="{909E8E84-426E-40DD-AFC4-6F175D3DCCD1}">
              <a14:hiddenFill xmlns:a14="http://schemas.microsoft.com/office/drawing/2010/main">
                <a:noFill/>
              </a14:hiddenFill>
            </a:ext>
          </a:extLst>
        </p:spPr>
        <p:txBody>
          <a:bodyPr/>
          <a:lstStyle/>
          <a:p>
            <a:endParaRPr lang="en-MX"/>
          </a:p>
        </p:txBody>
      </p:sp>
    </p:spTree>
    <p:extLst>
      <p:ext uri="{BB962C8B-B14F-4D97-AF65-F5344CB8AC3E}">
        <p14:creationId xmlns:p14="http://schemas.microsoft.com/office/powerpoint/2010/main" val="3271021898"/>
      </p:ext>
    </p:extLst>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BD69D3B4-18EA-D34D-AC8F-98EDC7A8D03C}"/>
              </a:ext>
            </a:extLst>
          </p:cNvPr>
          <p:cNvSpPr>
            <a:spLocks noChangeArrowheads="1"/>
          </p:cNvSpPr>
          <p:nvPr/>
        </p:nvSpPr>
        <p:spPr bwMode="auto">
          <a:xfrm>
            <a:off x="2209800" y="5943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17411" name="Rectangle 3">
            <a:extLst>
              <a:ext uri="{FF2B5EF4-FFF2-40B4-BE49-F238E27FC236}">
                <a16:creationId xmlns:a16="http://schemas.microsoft.com/office/drawing/2014/main" id="{11F7DB9B-8418-6944-AEA4-2691F381C64A}"/>
              </a:ext>
            </a:extLst>
          </p:cNvPr>
          <p:cNvSpPr>
            <a:spLocks noChangeArrowheads="1"/>
          </p:cNvSpPr>
          <p:nvPr/>
        </p:nvSpPr>
        <p:spPr bwMode="auto">
          <a:xfrm>
            <a:off x="4648200" y="59436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1191940" name="Rectangle 4">
            <a:extLst>
              <a:ext uri="{FF2B5EF4-FFF2-40B4-BE49-F238E27FC236}">
                <a16:creationId xmlns:a16="http://schemas.microsoft.com/office/drawing/2014/main" id="{DE67EE77-608B-4848-9ABD-B3E624BE4457}"/>
              </a:ext>
            </a:extLst>
          </p:cNvPr>
          <p:cNvSpPr>
            <a:spLocks noGrp="1" noChangeArrowheads="1"/>
          </p:cNvSpPr>
          <p:nvPr>
            <p:ph type="title"/>
          </p:nvPr>
        </p:nvSpPr>
        <p:spPr>
          <a:xfrm>
            <a:off x="715992" y="152400"/>
            <a:ext cx="10705382" cy="762000"/>
          </a:xfrm>
        </p:spPr>
        <p:txBody>
          <a:bodyPr/>
          <a:lstStyle/>
          <a:p>
            <a:pPr>
              <a:defRPr/>
            </a:pPr>
            <a:r>
              <a:rPr lang="en-US" dirty="0"/>
              <a:t>Spend the budget</a:t>
            </a:r>
          </a:p>
        </p:txBody>
      </p:sp>
      <p:graphicFrame>
        <p:nvGraphicFramePr>
          <p:cNvPr id="1191941" name="Group 5">
            <a:extLst>
              <a:ext uri="{FF2B5EF4-FFF2-40B4-BE49-F238E27FC236}">
                <a16:creationId xmlns:a16="http://schemas.microsoft.com/office/drawing/2014/main" id="{2417E76B-25C2-064B-A28F-8ED66CEA5F2B}"/>
              </a:ext>
            </a:extLst>
          </p:cNvPr>
          <p:cNvGraphicFramePr>
            <a:graphicFrameLocks noGrp="1"/>
          </p:cNvGraphicFramePr>
          <p:nvPr/>
        </p:nvGraphicFramePr>
        <p:xfrm>
          <a:off x="2133600" y="1066801"/>
          <a:ext cx="7848600" cy="4251705"/>
        </p:xfrm>
        <a:graphic>
          <a:graphicData uri="http://schemas.openxmlformats.org/drawingml/2006/table">
            <a:tbl>
              <a:tblPr/>
              <a:tblGrid>
                <a:gridCol w="16002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228725">
                  <a:extLst>
                    <a:ext uri="{9D8B030D-6E8A-4147-A177-3AD203B41FA5}">
                      <a16:colId xmlns:a16="http://schemas.microsoft.com/office/drawing/2014/main" val="20002"/>
                    </a:ext>
                  </a:extLst>
                </a:gridCol>
                <a:gridCol w="1387475">
                  <a:extLst>
                    <a:ext uri="{9D8B030D-6E8A-4147-A177-3AD203B41FA5}">
                      <a16:colId xmlns:a16="http://schemas.microsoft.com/office/drawing/2014/main" val="20003"/>
                    </a:ext>
                  </a:extLst>
                </a:gridCol>
                <a:gridCol w="1471613">
                  <a:extLst>
                    <a:ext uri="{9D8B030D-6E8A-4147-A177-3AD203B41FA5}">
                      <a16:colId xmlns:a16="http://schemas.microsoft.com/office/drawing/2014/main" val="20004"/>
                    </a:ext>
                  </a:extLst>
                </a:gridCol>
                <a:gridCol w="1144587">
                  <a:extLst>
                    <a:ext uri="{9D8B030D-6E8A-4147-A177-3AD203B41FA5}">
                      <a16:colId xmlns:a16="http://schemas.microsoft.com/office/drawing/2014/main" val="20005"/>
                    </a:ext>
                  </a:extLst>
                </a:gridCol>
              </a:tblGrid>
              <a:tr h="1142829">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Program</a:t>
                      </a:r>
                    </a:p>
                  </a:txBody>
                  <a:tcPr marT="45713" marB="45713"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Cost ($)</a:t>
                      </a:r>
                    </a:p>
                  </a:txBody>
                  <a:tcPr marT="45713" marB="45713"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Effect</a:t>
                      </a:r>
                    </a:p>
                  </a:txBody>
                  <a:tcPr marT="45713" marB="45713"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Cost/</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Effect</a:t>
                      </a:r>
                    </a:p>
                  </a:txBody>
                  <a:tcPr marT="45713" marB="45713"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Cum.</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Cost</a:t>
                      </a:r>
                    </a:p>
                  </a:txBody>
                  <a:tcPr marT="45713" marB="45713"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Cum.</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Effect</a:t>
                      </a:r>
                    </a:p>
                  </a:txBody>
                  <a:tcPr marT="45713" marB="45713"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51808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D</a:t>
                      </a:r>
                    </a:p>
                  </a:txBody>
                  <a:tcPr marT="45713" marB="4571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0.5</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40</a:t>
                      </a:r>
                    </a:p>
                  </a:txBody>
                  <a:tcPr marT="45713" marB="4571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51808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a:t>
                      </a:r>
                    </a:p>
                  </a:txBody>
                  <a:tcPr marT="45713" marB="4571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0.6</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90</a:t>
                      </a:r>
                    </a:p>
                  </a:txBody>
                  <a:tcPr marT="45713" marB="4571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51808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F</a:t>
                      </a:r>
                    </a:p>
                  </a:txBody>
                  <a:tcPr marT="45713" marB="4571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75</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0.667</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100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165</a:t>
                      </a:r>
                    </a:p>
                  </a:txBody>
                  <a:tcPr marT="45713" marB="4571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1808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a:t>
                      </a:r>
                    </a:p>
                  </a:txBody>
                  <a:tcPr marT="45713" marB="4571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56</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70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0.8</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156</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235</a:t>
                      </a:r>
                    </a:p>
                  </a:txBody>
                  <a:tcPr marT="45713" marB="4571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51808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A</a:t>
                      </a:r>
                    </a:p>
                  </a:txBody>
                  <a:tcPr marT="45713" marB="4571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27</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0.9</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183</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265</a:t>
                      </a:r>
                    </a:p>
                  </a:txBody>
                  <a:tcPr marT="45713" marB="4571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51808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B</a:t>
                      </a:r>
                    </a:p>
                  </a:txBody>
                  <a:tcPr marT="45713" marB="45713"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a:t>
                      </a:r>
                    </a:p>
                  </a:txBody>
                  <a:tcPr marT="45713" marB="45713"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a:t>
                      </a:r>
                    </a:p>
                  </a:txBody>
                  <a:tcPr marT="45713" marB="45713"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1.5</a:t>
                      </a:r>
                    </a:p>
                  </a:txBody>
                  <a:tcPr marT="45713" marB="45713"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213</a:t>
                      </a:r>
                    </a:p>
                  </a:txBody>
                  <a:tcPr marT="45713" marB="45713"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285</a:t>
                      </a:r>
                    </a:p>
                  </a:txBody>
                  <a:tcPr marT="45713" marB="45713"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7456" name="Line 74">
            <a:extLst>
              <a:ext uri="{FF2B5EF4-FFF2-40B4-BE49-F238E27FC236}">
                <a16:creationId xmlns:a16="http://schemas.microsoft.com/office/drawing/2014/main" id="{A5AF3D5A-B465-194A-8EA5-E18C9D6734F8}"/>
              </a:ext>
            </a:extLst>
          </p:cNvPr>
          <p:cNvSpPr>
            <a:spLocks noChangeShapeType="1"/>
          </p:cNvSpPr>
          <p:nvPr/>
        </p:nvSpPr>
        <p:spPr bwMode="auto">
          <a:xfrm>
            <a:off x="2057400" y="2057400"/>
            <a:ext cx="79248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17457" name="Text Box 75">
            <a:extLst>
              <a:ext uri="{FF2B5EF4-FFF2-40B4-BE49-F238E27FC236}">
                <a16:creationId xmlns:a16="http://schemas.microsoft.com/office/drawing/2014/main" id="{32A34AD6-AE75-A44B-A1AB-85956758B1EF}"/>
              </a:ext>
            </a:extLst>
          </p:cNvPr>
          <p:cNvSpPr txBox="1">
            <a:spLocks noChangeArrowheads="1"/>
          </p:cNvSpPr>
          <p:nvPr/>
        </p:nvSpPr>
        <p:spPr bwMode="auto">
          <a:xfrm>
            <a:off x="2209800" y="5257800"/>
            <a:ext cx="792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tabLst>
                <a:tab pos="1943100" algn="l"/>
                <a:tab pos="4457700" algn="l"/>
                <a:tab pos="6057900" algn="l"/>
              </a:tabLst>
              <a:defRPr sz="2000" b="1">
                <a:solidFill>
                  <a:schemeClr val="tx1"/>
                </a:solidFill>
                <a:latin typeface="Times New Roman" panose="02020603050405020304" pitchFamily="18" charset="0"/>
              </a:defRPr>
            </a:lvl1pPr>
            <a:lvl2pPr marL="742950" indent="-285750">
              <a:tabLst>
                <a:tab pos="1943100" algn="l"/>
                <a:tab pos="4457700" algn="l"/>
                <a:tab pos="6057900" algn="l"/>
              </a:tabLst>
              <a:defRPr sz="2000" b="1">
                <a:solidFill>
                  <a:schemeClr val="tx1"/>
                </a:solidFill>
                <a:latin typeface="Times New Roman" panose="02020603050405020304" pitchFamily="18" charset="0"/>
              </a:defRPr>
            </a:lvl2pPr>
            <a:lvl3pPr marL="1143000" indent="-228600">
              <a:tabLst>
                <a:tab pos="1943100" algn="l"/>
                <a:tab pos="4457700" algn="l"/>
                <a:tab pos="6057900" algn="l"/>
              </a:tabLst>
              <a:defRPr sz="2000" b="1">
                <a:solidFill>
                  <a:schemeClr val="tx1"/>
                </a:solidFill>
                <a:latin typeface="Times New Roman" panose="02020603050405020304" pitchFamily="18" charset="0"/>
              </a:defRPr>
            </a:lvl3pPr>
            <a:lvl4pPr marL="1600200" indent="-228600">
              <a:tabLst>
                <a:tab pos="1943100" algn="l"/>
                <a:tab pos="4457700" algn="l"/>
                <a:tab pos="6057900" algn="l"/>
              </a:tabLst>
              <a:defRPr sz="2000" b="1">
                <a:solidFill>
                  <a:schemeClr val="tx1"/>
                </a:solidFill>
                <a:latin typeface="Times New Roman" panose="02020603050405020304" pitchFamily="18" charset="0"/>
              </a:defRPr>
            </a:lvl4pPr>
            <a:lvl5pPr marL="2057400" indent="-228600">
              <a:tabLst>
                <a:tab pos="1943100" algn="l"/>
                <a:tab pos="4457700" algn="l"/>
                <a:tab pos="6057900" algn="l"/>
              </a:tabLst>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1943100" algn="l"/>
                <a:tab pos="4457700" algn="l"/>
                <a:tab pos="6057900" algn="l"/>
              </a:tabLs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1943100" algn="l"/>
                <a:tab pos="4457700" algn="l"/>
                <a:tab pos="6057900" algn="l"/>
              </a:tabLs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1943100" algn="l"/>
                <a:tab pos="4457700" algn="l"/>
                <a:tab pos="6057900" algn="l"/>
              </a:tabLs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1943100" algn="l"/>
                <a:tab pos="4457700" algn="l"/>
                <a:tab pos="6057900" algn="l"/>
              </a:tabLst>
              <a:defRPr sz="2000" b="1">
                <a:solidFill>
                  <a:schemeClr val="tx1"/>
                </a:solidFill>
                <a:latin typeface="Times New Roman" panose="02020603050405020304" pitchFamily="18" charset="0"/>
              </a:defRPr>
            </a:lvl9pPr>
          </a:lstStyle>
          <a:p>
            <a:r>
              <a:rPr lang="en-US" altLang="en-MX" sz="2400" b="0">
                <a:solidFill>
                  <a:srgbClr val="FF0000"/>
                </a:solidFill>
                <a:latin typeface="Arial" panose="020B0604020202020204" pitchFamily="34" charset="0"/>
              </a:rPr>
              <a:t>Budget	Programs	Effect	Threshold</a:t>
            </a:r>
          </a:p>
        </p:txBody>
      </p:sp>
      <p:sp>
        <p:nvSpPr>
          <p:cNvPr id="17458" name="Text Box 76">
            <a:extLst>
              <a:ext uri="{FF2B5EF4-FFF2-40B4-BE49-F238E27FC236}">
                <a16:creationId xmlns:a16="http://schemas.microsoft.com/office/drawing/2014/main" id="{C5673BE0-7B97-DA42-8E8E-2C1B66EC7492}"/>
              </a:ext>
            </a:extLst>
          </p:cNvPr>
          <p:cNvSpPr txBox="1">
            <a:spLocks noChangeArrowheads="1"/>
          </p:cNvSpPr>
          <p:nvPr/>
        </p:nvSpPr>
        <p:spPr bwMode="auto">
          <a:xfrm>
            <a:off x="2362201" y="5638801"/>
            <a:ext cx="786606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tabLst>
                <a:tab pos="1943100" algn="l"/>
                <a:tab pos="4457700" algn="l"/>
                <a:tab pos="6057900" algn="l"/>
              </a:tabLst>
              <a:defRPr sz="2000" b="1">
                <a:solidFill>
                  <a:schemeClr val="tx1"/>
                </a:solidFill>
                <a:latin typeface="Times New Roman" panose="02020603050405020304" pitchFamily="18" charset="0"/>
              </a:defRPr>
            </a:lvl1pPr>
            <a:lvl2pPr marL="742950" indent="-285750">
              <a:tabLst>
                <a:tab pos="1943100" algn="l"/>
                <a:tab pos="4457700" algn="l"/>
                <a:tab pos="6057900" algn="l"/>
              </a:tabLst>
              <a:defRPr sz="2000" b="1">
                <a:solidFill>
                  <a:schemeClr val="tx1"/>
                </a:solidFill>
                <a:latin typeface="Times New Roman" panose="02020603050405020304" pitchFamily="18" charset="0"/>
              </a:defRPr>
            </a:lvl2pPr>
            <a:lvl3pPr marL="1143000" indent="-228600">
              <a:tabLst>
                <a:tab pos="1943100" algn="l"/>
                <a:tab pos="4457700" algn="l"/>
                <a:tab pos="6057900" algn="l"/>
              </a:tabLst>
              <a:defRPr sz="2000" b="1">
                <a:solidFill>
                  <a:schemeClr val="tx1"/>
                </a:solidFill>
                <a:latin typeface="Times New Roman" panose="02020603050405020304" pitchFamily="18" charset="0"/>
              </a:defRPr>
            </a:lvl3pPr>
            <a:lvl4pPr marL="1600200" indent="-228600">
              <a:tabLst>
                <a:tab pos="1943100" algn="l"/>
                <a:tab pos="4457700" algn="l"/>
                <a:tab pos="6057900" algn="l"/>
              </a:tabLst>
              <a:defRPr sz="2000" b="1">
                <a:solidFill>
                  <a:schemeClr val="tx1"/>
                </a:solidFill>
                <a:latin typeface="Times New Roman" panose="02020603050405020304" pitchFamily="18" charset="0"/>
              </a:defRPr>
            </a:lvl4pPr>
            <a:lvl5pPr marL="2057400" indent="-228600">
              <a:tabLst>
                <a:tab pos="1943100" algn="l"/>
                <a:tab pos="4457700" algn="l"/>
                <a:tab pos="6057900" algn="l"/>
              </a:tabLst>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1943100" algn="l"/>
                <a:tab pos="4457700" algn="l"/>
                <a:tab pos="6057900" algn="l"/>
              </a:tabLs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1943100" algn="l"/>
                <a:tab pos="4457700" algn="l"/>
                <a:tab pos="6057900" algn="l"/>
              </a:tabLs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1943100" algn="l"/>
                <a:tab pos="4457700" algn="l"/>
                <a:tab pos="6057900" algn="l"/>
              </a:tabLs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1943100" algn="l"/>
                <a:tab pos="4457700" algn="l"/>
                <a:tab pos="6057900" algn="l"/>
              </a:tabLst>
              <a:defRPr sz="2000" b="1">
                <a:solidFill>
                  <a:schemeClr val="tx1"/>
                </a:solidFill>
                <a:latin typeface="Times New Roman" panose="02020603050405020304" pitchFamily="18" charset="0"/>
              </a:defRPr>
            </a:lvl9pPr>
          </a:lstStyle>
          <a:p>
            <a:r>
              <a:rPr lang="en-US" altLang="en-MX">
                <a:solidFill>
                  <a:srgbClr val="3333FF"/>
                </a:solidFill>
                <a:latin typeface="Arial" panose="020B0604020202020204" pitchFamily="34" charset="0"/>
              </a:rPr>
              <a:t>$100	D,E,F	165		0.667</a:t>
            </a:r>
          </a:p>
          <a:p>
            <a:r>
              <a:rPr lang="en-US" altLang="en-MX">
                <a:solidFill>
                  <a:srgbClr val="009900"/>
                </a:solidFill>
                <a:latin typeface="Arial" panose="020B0604020202020204" pitchFamily="34" charset="0"/>
              </a:rPr>
              <a:t>$183	D,E,F,C,A	265		0.9</a:t>
            </a:r>
            <a:endParaRPr lang="en-US" altLang="en-MX">
              <a:solidFill>
                <a:srgbClr val="CC0099"/>
              </a:solidFill>
              <a:latin typeface="Arial" panose="020B0604020202020204" pitchFamily="34" charset="0"/>
            </a:endParaRPr>
          </a:p>
        </p:txBody>
      </p:sp>
      <p:graphicFrame>
        <p:nvGraphicFramePr>
          <p:cNvPr id="1192013" name="Group 77">
            <a:extLst>
              <a:ext uri="{FF2B5EF4-FFF2-40B4-BE49-F238E27FC236}">
                <a16:creationId xmlns:a16="http://schemas.microsoft.com/office/drawing/2014/main" id="{72011962-20B5-A245-8B96-6221F5ACF503}"/>
              </a:ext>
            </a:extLst>
          </p:cNvPr>
          <p:cNvGraphicFramePr>
            <a:graphicFrameLocks noGrp="1"/>
          </p:cNvGraphicFramePr>
          <p:nvPr/>
        </p:nvGraphicFramePr>
        <p:xfrm>
          <a:off x="2133600" y="1066801"/>
          <a:ext cx="7848600" cy="4270375"/>
        </p:xfrm>
        <a:graphic>
          <a:graphicData uri="http://schemas.openxmlformats.org/drawingml/2006/table">
            <a:tbl>
              <a:tblPr/>
              <a:tblGrid>
                <a:gridCol w="16002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228725">
                  <a:extLst>
                    <a:ext uri="{9D8B030D-6E8A-4147-A177-3AD203B41FA5}">
                      <a16:colId xmlns:a16="http://schemas.microsoft.com/office/drawing/2014/main" val="20002"/>
                    </a:ext>
                  </a:extLst>
                </a:gridCol>
                <a:gridCol w="1387475">
                  <a:extLst>
                    <a:ext uri="{9D8B030D-6E8A-4147-A177-3AD203B41FA5}">
                      <a16:colId xmlns:a16="http://schemas.microsoft.com/office/drawing/2014/main" val="20003"/>
                    </a:ext>
                  </a:extLst>
                </a:gridCol>
                <a:gridCol w="1471613">
                  <a:extLst>
                    <a:ext uri="{9D8B030D-6E8A-4147-A177-3AD203B41FA5}">
                      <a16:colId xmlns:a16="http://schemas.microsoft.com/office/drawing/2014/main" val="20004"/>
                    </a:ext>
                  </a:extLst>
                </a:gridCol>
                <a:gridCol w="1144587">
                  <a:extLst>
                    <a:ext uri="{9D8B030D-6E8A-4147-A177-3AD203B41FA5}">
                      <a16:colId xmlns:a16="http://schemas.microsoft.com/office/drawing/2014/main" val="20005"/>
                    </a:ext>
                  </a:extLst>
                </a:gridCol>
              </a:tblGrid>
              <a:tr h="1143000">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Program</a:t>
                      </a:r>
                    </a:p>
                  </a:txBody>
                  <a:tcPr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Cost ($)</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Effect</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Cost/</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Effect</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Cum.</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Cost</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Cum.</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Effect</a:t>
                      </a:r>
                    </a:p>
                  </a:txBody>
                  <a:tcPr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415925">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D</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40</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381000">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0.6</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90</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44926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F</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75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100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165</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08000">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56</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70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0.8</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156</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235</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508000">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A</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27</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0.9</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183</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265</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536575">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B</a:t>
                      </a:r>
                    </a:p>
                  </a:txBody>
                  <a:tcPr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a:t>
                      </a: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a:t>
                      </a: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1.5</a:t>
                      </a: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213</a:t>
                      </a: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285</a:t>
                      </a:r>
                    </a:p>
                  </a:txBody>
                  <a:tcP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7502" name="Line 146">
            <a:extLst>
              <a:ext uri="{FF2B5EF4-FFF2-40B4-BE49-F238E27FC236}">
                <a16:creationId xmlns:a16="http://schemas.microsoft.com/office/drawing/2014/main" id="{C5245D30-CB8C-AB43-AB81-4749D08CB5DF}"/>
              </a:ext>
            </a:extLst>
          </p:cNvPr>
          <p:cNvSpPr>
            <a:spLocks noChangeShapeType="1"/>
          </p:cNvSpPr>
          <p:nvPr/>
        </p:nvSpPr>
        <p:spPr bwMode="auto">
          <a:xfrm>
            <a:off x="2057400" y="1066800"/>
            <a:ext cx="79248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17503" name="Line 147">
            <a:extLst>
              <a:ext uri="{FF2B5EF4-FFF2-40B4-BE49-F238E27FC236}">
                <a16:creationId xmlns:a16="http://schemas.microsoft.com/office/drawing/2014/main" id="{83698F43-3500-2D4A-BB20-EA6B9F7D879B}"/>
              </a:ext>
            </a:extLst>
          </p:cNvPr>
          <p:cNvSpPr>
            <a:spLocks noChangeShapeType="1"/>
          </p:cNvSpPr>
          <p:nvPr/>
        </p:nvSpPr>
        <p:spPr bwMode="auto">
          <a:xfrm>
            <a:off x="2057400" y="4800600"/>
            <a:ext cx="8229600" cy="0"/>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a:lstStyle/>
          <a:p>
            <a:endParaRPr lang="en-MX"/>
          </a:p>
        </p:txBody>
      </p:sp>
    </p:spTree>
    <p:extLst>
      <p:ext uri="{BB962C8B-B14F-4D97-AF65-F5344CB8AC3E}">
        <p14:creationId xmlns:p14="http://schemas.microsoft.com/office/powerpoint/2010/main" val="3917706586"/>
      </p:ext>
    </p:extLst>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0ED21E44-B146-1F42-8495-D92FD4EDBDFC}"/>
              </a:ext>
            </a:extLst>
          </p:cNvPr>
          <p:cNvSpPr>
            <a:spLocks noChangeArrowheads="1"/>
          </p:cNvSpPr>
          <p:nvPr/>
        </p:nvSpPr>
        <p:spPr bwMode="auto">
          <a:xfrm>
            <a:off x="2209800" y="5943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18435" name="Rectangle 3">
            <a:extLst>
              <a:ext uri="{FF2B5EF4-FFF2-40B4-BE49-F238E27FC236}">
                <a16:creationId xmlns:a16="http://schemas.microsoft.com/office/drawing/2014/main" id="{05FEC225-5B88-0F4B-BDA5-DF9E28FE2536}"/>
              </a:ext>
            </a:extLst>
          </p:cNvPr>
          <p:cNvSpPr>
            <a:spLocks noChangeArrowheads="1"/>
          </p:cNvSpPr>
          <p:nvPr/>
        </p:nvSpPr>
        <p:spPr bwMode="auto">
          <a:xfrm>
            <a:off x="4648200" y="59436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1193988" name="Rectangle 4">
            <a:extLst>
              <a:ext uri="{FF2B5EF4-FFF2-40B4-BE49-F238E27FC236}">
                <a16:creationId xmlns:a16="http://schemas.microsoft.com/office/drawing/2014/main" id="{F82429C8-A332-FB45-8354-126132253815}"/>
              </a:ext>
            </a:extLst>
          </p:cNvPr>
          <p:cNvSpPr>
            <a:spLocks noGrp="1" noChangeArrowheads="1"/>
          </p:cNvSpPr>
          <p:nvPr>
            <p:ph type="title"/>
          </p:nvPr>
        </p:nvSpPr>
        <p:spPr>
          <a:xfrm>
            <a:off x="712381" y="152400"/>
            <a:ext cx="10795257" cy="762000"/>
          </a:xfrm>
        </p:spPr>
        <p:txBody>
          <a:bodyPr/>
          <a:lstStyle/>
          <a:p>
            <a:pPr>
              <a:defRPr/>
            </a:pPr>
            <a:r>
              <a:rPr lang="en-US" dirty="0"/>
              <a:t>Spend the budget</a:t>
            </a:r>
          </a:p>
        </p:txBody>
      </p:sp>
      <p:graphicFrame>
        <p:nvGraphicFramePr>
          <p:cNvPr id="1193989" name="Group 5">
            <a:extLst>
              <a:ext uri="{FF2B5EF4-FFF2-40B4-BE49-F238E27FC236}">
                <a16:creationId xmlns:a16="http://schemas.microsoft.com/office/drawing/2014/main" id="{A2A63C6A-A805-5146-8A8A-2466DA54309D}"/>
              </a:ext>
            </a:extLst>
          </p:cNvPr>
          <p:cNvGraphicFramePr>
            <a:graphicFrameLocks noGrp="1"/>
          </p:cNvGraphicFramePr>
          <p:nvPr/>
        </p:nvGraphicFramePr>
        <p:xfrm>
          <a:off x="2133600" y="1066801"/>
          <a:ext cx="7848600" cy="4251705"/>
        </p:xfrm>
        <a:graphic>
          <a:graphicData uri="http://schemas.openxmlformats.org/drawingml/2006/table">
            <a:tbl>
              <a:tblPr/>
              <a:tblGrid>
                <a:gridCol w="16002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228725">
                  <a:extLst>
                    <a:ext uri="{9D8B030D-6E8A-4147-A177-3AD203B41FA5}">
                      <a16:colId xmlns:a16="http://schemas.microsoft.com/office/drawing/2014/main" val="20002"/>
                    </a:ext>
                  </a:extLst>
                </a:gridCol>
                <a:gridCol w="1387475">
                  <a:extLst>
                    <a:ext uri="{9D8B030D-6E8A-4147-A177-3AD203B41FA5}">
                      <a16:colId xmlns:a16="http://schemas.microsoft.com/office/drawing/2014/main" val="20003"/>
                    </a:ext>
                  </a:extLst>
                </a:gridCol>
                <a:gridCol w="1471613">
                  <a:extLst>
                    <a:ext uri="{9D8B030D-6E8A-4147-A177-3AD203B41FA5}">
                      <a16:colId xmlns:a16="http://schemas.microsoft.com/office/drawing/2014/main" val="20004"/>
                    </a:ext>
                  </a:extLst>
                </a:gridCol>
                <a:gridCol w="1144587">
                  <a:extLst>
                    <a:ext uri="{9D8B030D-6E8A-4147-A177-3AD203B41FA5}">
                      <a16:colId xmlns:a16="http://schemas.microsoft.com/office/drawing/2014/main" val="20005"/>
                    </a:ext>
                  </a:extLst>
                </a:gridCol>
              </a:tblGrid>
              <a:tr h="1142829">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Program</a:t>
                      </a:r>
                    </a:p>
                  </a:txBody>
                  <a:tcPr marT="45713" marB="45713"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Cost ($)</a:t>
                      </a:r>
                    </a:p>
                  </a:txBody>
                  <a:tcPr marT="45713" marB="45713"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Effect</a:t>
                      </a:r>
                    </a:p>
                  </a:txBody>
                  <a:tcPr marT="45713" marB="45713"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Cost/</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Effect</a:t>
                      </a:r>
                    </a:p>
                  </a:txBody>
                  <a:tcPr marT="45713" marB="45713"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Cum.</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Cost</a:t>
                      </a:r>
                    </a:p>
                  </a:txBody>
                  <a:tcPr marT="45713" marB="45713"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Cum.</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Effect</a:t>
                      </a:r>
                    </a:p>
                  </a:txBody>
                  <a:tcPr marT="45713" marB="45713"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51808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D</a:t>
                      </a:r>
                    </a:p>
                  </a:txBody>
                  <a:tcPr marT="45713" marB="4571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0.5</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40</a:t>
                      </a:r>
                    </a:p>
                  </a:txBody>
                  <a:tcPr marT="45713" marB="4571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51808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a:t>
                      </a:r>
                    </a:p>
                  </a:txBody>
                  <a:tcPr marT="45713" marB="4571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0.6</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90</a:t>
                      </a:r>
                    </a:p>
                  </a:txBody>
                  <a:tcPr marT="45713" marB="4571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51808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F</a:t>
                      </a:r>
                    </a:p>
                  </a:txBody>
                  <a:tcPr marT="45713" marB="4571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75</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0.667</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100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165</a:t>
                      </a:r>
                    </a:p>
                  </a:txBody>
                  <a:tcPr marT="45713" marB="4571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1808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a:t>
                      </a:r>
                    </a:p>
                  </a:txBody>
                  <a:tcPr marT="45713" marB="4571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56</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70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0.8</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156</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235</a:t>
                      </a:r>
                    </a:p>
                  </a:txBody>
                  <a:tcPr marT="45713" marB="4571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51808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A</a:t>
                      </a:r>
                    </a:p>
                  </a:txBody>
                  <a:tcPr marT="45713" marB="4571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27</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0.9</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183</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265</a:t>
                      </a:r>
                    </a:p>
                  </a:txBody>
                  <a:tcPr marT="45713" marB="4571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51808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B</a:t>
                      </a:r>
                    </a:p>
                  </a:txBody>
                  <a:tcPr marT="45713" marB="45713"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a:t>
                      </a:r>
                    </a:p>
                  </a:txBody>
                  <a:tcPr marT="45713" marB="45713"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a:t>
                      </a:r>
                    </a:p>
                  </a:txBody>
                  <a:tcPr marT="45713" marB="45713"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1.5</a:t>
                      </a:r>
                    </a:p>
                  </a:txBody>
                  <a:tcPr marT="45713" marB="45713"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213</a:t>
                      </a:r>
                    </a:p>
                  </a:txBody>
                  <a:tcPr marT="45713" marB="45713"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285</a:t>
                      </a:r>
                    </a:p>
                  </a:txBody>
                  <a:tcPr marT="45713" marB="45713"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8480" name="Line 74">
            <a:extLst>
              <a:ext uri="{FF2B5EF4-FFF2-40B4-BE49-F238E27FC236}">
                <a16:creationId xmlns:a16="http://schemas.microsoft.com/office/drawing/2014/main" id="{54FDCB72-CF73-3D4D-B598-77CF6223E319}"/>
              </a:ext>
            </a:extLst>
          </p:cNvPr>
          <p:cNvSpPr>
            <a:spLocks noChangeShapeType="1"/>
          </p:cNvSpPr>
          <p:nvPr/>
        </p:nvSpPr>
        <p:spPr bwMode="auto">
          <a:xfrm>
            <a:off x="2057400" y="2057400"/>
            <a:ext cx="79248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18481" name="Text Box 75">
            <a:extLst>
              <a:ext uri="{FF2B5EF4-FFF2-40B4-BE49-F238E27FC236}">
                <a16:creationId xmlns:a16="http://schemas.microsoft.com/office/drawing/2014/main" id="{79DA53F8-B418-A048-8A68-28C0AC509A0C}"/>
              </a:ext>
            </a:extLst>
          </p:cNvPr>
          <p:cNvSpPr txBox="1">
            <a:spLocks noChangeArrowheads="1"/>
          </p:cNvSpPr>
          <p:nvPr/>
        </p:nvSpPr>
        <p:spPr bwMode="auto">
          <a:xfrm>
            <a:off x="2209800" y="5257800"/>
            <a:ext cx="792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tabLst>
                <a:tab pos="1943100" algn="l"/>
                <a:tab pos="4457700" algn="l"/>
                <a:tab pos="6057900" algn="l"/>
              </a:tabLst>
              <a:defRPr sz="2000" b="1">
                <a:solidFill>
                  <a:schemeClr val="tx1"/>
                </a:solidFill>
                <a:latin typeface="Times New Roman" panose="02020603050405020304" pitchFamily="18" charset="0"/>
              </a:defRPr>
            </a:lvl1pPr>
            <a:lvl2pPr marL="742950" indent="-285750">
              <a:tabLst>
                <a:tab pos="1943100" algn="l"/>
                <a:tab pos="4457700" algn="l"/>
                <a:tab pos="6057900" algn="l"/>
              </a:tabLst>
              <a:defRPr sz="2000" b="1">
                <a:solidFill>
                  <a:schemeClr val="tx1"/>
                </a:solidFill>
                <a:latin typeface="Times New Roman" panose="02020603050405020304" pitchFamily="18" charset="0"/>
              </a:defRPr>
            </a:lvl2pPr>
            <a:lvl3pPr marL="1143000" indent="-228600">
              <a:tabLst>
                <a:tab pos="1943100" algn="l"/>
                <a:tab pos="4457700" algn="l"/>
                <a:tab pos="6057900" algn="l"/>
              </a:tabLst>
              <a:defRPr sz="2000" b="1">
                <a:solidFill>
                  <a:schemeClr val="tx1"/>
                </a:solidFill>
                <a:latin typeface="Times New Roman" panose="02020603050405020304" pitchFamily="18" charset="0"/>
              </a:defRPr>
            </a:lvl3pPr>
            <a:lvl4pPr marL="1600200" indent="-228600">
              <a:tabLst>
                <a:tab pos="1943100" algn="l"/>
                <a:tab pos="4457700" algn="l"/>
                <a:tab pos="6057900" algn="l"/>
              </a:tabLst>
              <a:defRPr sz="2000" b="1">
                <a:solidFill>
                  <a:schemeClr val="tx1"/>
                </a:solidFill>
                <a:latin typeface="Times New Roman" panose="02020603050405020304" pitchFamily="18" charset="0"/>
              </a:defRPr>
            </a:lvl4pPr>
            <a:lvl5pPr marL="2057400" indent="-228600">
              <a:tabLst>
                <a:tab pos="1943100" algn="l"/>
                <a:tab pos="4457700" algn="l"/>
                <a:tab pos="6057900" algn="l"/>
              </a:tabLst>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1943100" algn="l"/>
                <a:tab pos="4457700" algn="l"/>
                <a:tab pos="6057900" algn="l"/>
              </a:tabLs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1943100" algn="l"/>
                <a:tab pos="4457700" algn="l"/>
                <a:tab pos="6057900" algn="l"/>
              </a:tabLs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1943100" algn="l"/>
                <a:tab pos="4457700" algn="l"/>
                <a:tab pos="6057900" algn="l"/>
              </a:tabLs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1943100" algn="l"/>
                <a:tab pos="4457700" algn="l"/>
                <a:tab pos="6057900" algn="l"/>
              </a:tabLst>
              <a:defRPr sz="2000" b="1">
                <a:solidFill>
                  <a:schemeClr val="tx1"/>
                </a:solidFill>
                <a:latin typeface="Times New Roman" panose="02020603050405020304" pitchFamily="18" charset="0"/>
              </a:defRPr>
            </a:lvl9pPr>
          </a:lstStyle>
          <a:p>
            <a:r>
              <a:rPr lang="en-US" altLang="en-MX" sz="2400" b="0">
                <a:solidFill>
                  <a:srgbClr val="FF0000"/>
                </a:solidFill>
                <a:latin typeface="Arial" panose="020B0604020202020204" pitchFamily="34" charset="0"/>
              </a:rPr>
              <a:t>Budget	Programs	Effect	Threshold</a:t>
            </a:r>
          </a:p>
        </p:txBody>
      </p:sp>
      <p:sp>
        <p:nvSpPr>
          <p:cNvPr id="18482" name="Text Box 76">
            <a:extLst>
              <a:ext uri="{FF2B5EF4-FFF2-40B4-BE49-F238E27FC236}">
                <a16:creationId xmlns:a16="http://schemas.microsoft.com/office/drawing/2014/main" id="{A3C79230-A795-CC4D-AE07-B4D6E801560A}"/>
              </a:ext>
            </a:extLst>
          </p:cNvPr>
          <p:cNvSpPr txBox="1">
            <a:spLocks noChangeArrowheads="1"/>
          </p:cNvSpPr>
          <p:nvPr/>
        </p:nvSpPr>
        <p:spPr bwMode="auto">
          <a:xfrm>
            <a:off x="2362201" y="5638801"/>
            <a:ext cx="7866063"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tabLst>
                <a:tab pos="1943100" algn="l"/>
                <a:tab pos="4457700" algn="l"/>
                <a:tab pos="6057900" algn="l"/>
              </a:tabLst>
              <a:defRPr sz="2000" b="1">
                <a:solidFill>
                  <a:schemeClr val="tx1"/>
                </a:solidFill>
                <a:latin typeface="Times New Roman" panose="02020603050405020304" pitchFamily="18" charset="0"/>
              </a:defRPr>
            </a:lvl1pPr>
            <a:lvl2pPr marL="742950" indent="-285750">
              <a:tabLst>
                <a:tab pos="1943100" algn="l"/>
                <a:tab pos="4457700" algn="l"/>
                <a:tab pos="6057900" algn="l"/>
              </a:tabLst>
              <a:defRPr sz="2000" b="1">
                <a:solidFill>
                  <a:schemeClr val="tx1"/>
                </a:solidFill>
                <a:latin typeface="Times New Roman" panose="02020603050405020304" pitchFamily="18" charset="0"/>
              </a:defRPr>
            </a:lvl2pPr>
            <a:lvl3pPr marL="1143000" indent="-228600">
              <a:tabLst>
                <a:tab pos="1943100" algn="l"/>
                <a:tab pos="4457700" algn="l"/>
                <a:tab pos="6057900" algn="l"/>
              </a:tabLst>
              <a:defRPr sz="2000" b="1">
                <a:solidFill>
                  <a:schemeClr val="tx1"/>
                </a:solidFill>
                <a:latin typeface="Times New Roman" panose="02020603050405020304" pitchFamily="18" charset="0"/>
              </a:defRPr>
            </a:lvl3pPr>
            <a:lvl4pPr marL="1600200" indent="-228600">
              <a:tabLst>
                <a:tab pos="1943100" algn="l"/>
                <a:tab pos="4457700" algn="l"/>
                <a:tab pos="6057900" algn="l"/>
              </a:tabLst>
              <a:defRPr sz="2000" b="1">
                <a:solidFill>
                  <a:schemeClr val="tx1"/>
                </a:solidFill>
                <a:latin typeface="Times New Roman" panose="02020603050405020304" pitchFamily="18" charset="0"/>
              </a:defRPr>
            </a:lvl4pPr>
            <a:lvl5pPr marL="2057400" indent="-228600">
              <a:tabLst>
                <a:tab pos="1943100" algn="l"/>
                <a:tab pos="4457700" algn="l"/>
                <a:tab pos="6057900" algn="l"/>
              </a:tabLst>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1943100" algn="l"/>
                <a:tab pos="4457700" algn="l"/>
                <a:tab pos="6057900" algn="l"/>
              </a:tabLs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1943100" algn="l"/>
                <a:tab pos="4457700" algn="l"/>
                <a:tab pos="6057900" algn="l"/>
              </a:tabLs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1943100" algn="l"/>
                <a:tab pos="4457700" algn="l"/>
                <a:tab pos="6057900" algn="l"/>
              </a:tabLs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1943100" algn="l"/>
                <a:tab pos="4457700" algn="l"/>
                <a:tab pos="6057900" algn="l"/>
              </a:tabLst>
              <a:defRPr sz="2000" b="1">
                <a:solidFill>
                  <a:schemeClr val="tx1"/>
                </a:solidFill>
                <a:latin typeface="Times New Roman" panose="02020603050405020304" pitchFamily="18" charset="0"/>
              </a:defRPr>
            </a:lvl9pPr>
          </a:lstStyle>
          <a:p>
            <a:r>
              <a:rPr lang="en-US" altLang="en-MX">
                <a:solidFill>
                  <a:srgbClr val="3333FF"/>
                </a:solidFill>
                <a:latin typeface="Arial" panose="020B0604020202020204" pitchFamily="34" charset="0"/>
              </a:rPr>
              <a:t>$100	D,E,F	165		0.667</a:t>
            </a:r>
          </a:p>
          <a:p>
            <a:r>
              <a:rPr lang="en-US" altLang="en-MX">
                <a:solidFill>
                  <a:srgbClr val="009900"/>
                </a:solidFill>
                <a:latin typeface="Arial" panose="020B0604020202020204" pitchFamily="34" charset="0"/>
              </a:rPr>
              <a:t>$183	D,E,F,C,A	265		0.9</a:t>
            </a:r>
          </a:p>
          <a:p>
            <a:r>
              <a:rPr lang="en-US" altLang="en-MX">
                <a:solidFill>
                  <a:srgbClr val="CC0099"/>
                </a:solidFill>
                <a:latin typeface="Arial" panose="020B0604020202020204" pitchFamily="34" charset="0"/>
              </a:rPr>
              <a:t>$150	D,E,F,(50/56)C	227.5		0.8</a:t>
            </a:r>
          </a:p>
        </p:txBody>
      </p:sp>
      <p:graphicFrame>
        <p:nvGraphicFramePr>
          <p:cNvPr id="1194061" name="Group 77">
            <a:extLst>
              <a:ext uri="{FF2B5EF4-FFF2-40B4-BE49-F238E27FC236}">
                <a16:creationId xmlns:a16="http://schemas.microsoft.com/office/drawing/2014/main" id="{7F2CC565-0457-A14E-9296-7892611616EA}"/>
              </a:ext>
            </a:extLst>
          </p:cNvPr>
          <p:cNvGraphicFramePr>
            <a:graphicFrameLocks noGrp="1"/>
          </p:cNvGraphicFramePr>
          <p:nvPr/>
        </p:nvGraphicFramePr>
        <p:xfrm>
          <a:off x="2133600" y="1066801"/>
          <a:ext cx="7848600" cy="4270375"/>
        </p:xfrm>
        <a:graphic>
          <a:graphicData uri="http://schemas.openxmlformats.org/drawingml/2006/table">
            <a:tbl>
              <a:tblPr/>
              <a:tblGrid>
                <a:gridCol w="16002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228725">
                  <a:extLst>
                    <a:ext uri="{9D8B030D-6E8A-4147-A177-3AD203B41FA5}">
                      <a16:colId xmlns:a16="http://schemas.microsoft.com/office/drawing/2014/main" val="20002"/>
                    </a:ext>
                  </a:extLst>
                </a:gridCol>
                <a:gridCol w="1387475">
                  <a:extLst>
                    <a:ext uri="{9D8B030D-6E8A-4147-A177-3AD203B41FA5}">
                      <a16:colId xmlns:a16="http://schemas.microsoft.com/office/drawing/2014/main" val="20003"/>
                    </a:ext>
                  </a:extLst>
                </a:gridCol>
                <a:gridCol w="1471613">
                  <a:extLst>
                    <a:ext uri="{9D8B030D-6E8A-4147-A177-3AD203B41FA5}">
                      <a16:colId xmlns:a16="http://schemas.microsoft.com/office/drawing/2014/main" val="20004"/>
                    </a:ext>
                  </a:extLst>
                </a:gridCol>
                <a:gridCol w="1144587">
                  <a:extLst>
                    <a:ext uri="{9D8B030D-6E8A-4147-A177-3AD203B41FA5}">
                      <a16:colId xmlns:a16="http://schemas.microsoft.com/office/drawing/2014/main" val="20005"/>
                    </a:ext>
                  </a:extLst>
                </a:gridCol>
              </a:tblGrid>
              <a:tr h="1143000">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Program</a:t>
                      </a:r>
                    </a:p>
                  </a:txBody>
                  <a:tcPr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Cost ($)</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Effect</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Cost/</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Effect</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Cum.</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Cost</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Cum.</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Effect</a:t>
                      </a:r>
                    </a:p>
                  </a:txBody>
                  <a:tcPr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415925">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D</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40</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381000">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0.6</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90</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44926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F</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75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100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165</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08000">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56</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70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0.8</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156</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235</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508000">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A</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27</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0.9</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183</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265</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536575">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B</a:t>
                      </a:r>
                    </a:p>
                  </a:txBody>
                  <a:tcPr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a:t>
                      </a: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a:t>
                      </a: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1.5</a:t>
                      </a: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213</a:t>
                      </a: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285</a:t>
                      </a:r>
                    </a:p>
                  </a:txBody>
                  <a:tcP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8526" name="Line 146">
            <a:extLst>
              <a:ext uri="{FF2B5EF4-FFF2-40B4-BE49-F238E27FC236}">
                <a16:creationId xmlns:a16="http://schemas.microsoft.com/office/drawing/2014/main" id="{87195A1A-C43A-894E-B65F-B8FE192D3624}"/>
              </a:ext>
            </a:extLst>
          </p:cNvPr>
          <p:cNvSpPr>
            <a:spLocks noChangeShapeType="1"/>
          </p:cNvSpPr>
          <p:nvPr/>
        </p:nvSpPr>
        <p:spPr bwMode="auto">
          <a:xfrm>
            <a:off x="2057400" y="1066800"/>
            <a:ext cx="79248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18527" name="Line 147">
            <a:extLst>
              <a:ext uri="{FF2B5EF4-FFF2-40B4-BE49-F238E27FC236}">
                <a16:creationId xmlns:a16="http://schemas.microsoft.com/office/drawing/2014/main" id="{B199025A-C00F-294B-B4C3-3F469A4D9F44}"/>
              </a:ext>
            </a:extLst>
          </p:cNvPr>
          <p:cNvSpPr>
            <a:spLocks noChangeShapeType="1"/>
          </p:cNvSpPr>
          <p:nvPr/>
        </p:nvSpPr>
        <p:spPr bwMode="auto">
          <a:xfrm>
            <a:off x="1981200" y="4086439"/>
            <a:ext cx="8077200" cy="0"/>
          </a:xfrm>
          <a:prstGeom prst="line">
            <a:avLst/>
          </a:prstGeom>
          <a:noFill/>
          <a:ln w="19050">
            <a:solidFill>
              <a:srgbClr val="CC0099"/>
            </a:solidFill>
            <a:round/>
            <a:headEnd/>
            <a:tailEnd/>
          </a:ln>
          <a:extLst>
            <a:ext uri="{909E8E84-426E-40DD-AFC4-6F175D3DCCD1}">
              <a14:hiddenFill xmlns:a14="http://schemas.microsoft.com/office/drawing/2010/main">
                <a:noFill/>
              </a14:hiddenFill>
            </a:ext>
          </a:extLst>
        </p:spPr>
        <p:txBody>
          <a:bodyPr/>
          <a:lstStyle/>
          <a:p>
            <a:endParaRPr lang="en-MX"/>
          </a:p>
        </p:txBody>
      </p:sp>
    </p:spTree>
    <p:extLst>
      <p:ext uri="{BB962C8B-B14F-4D97-AF65-F5344CB8AC3E}">
        <p14:creationId xmlns:p14="http://schemas.microsoft.com/office/powerpoint/2010/main" val="562770196"/>
      </p:ext>
    </p:extLst>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0258" name="Rectangle 2">
            <a:extLst>
              <a:ext uri="{FF2B5EF4-FFF2-40B4-BE49-F238E27FC236}">
                <a16:creationId xmlns:a16="http://schemas.microsoft.com/office/drawing/2014/main" id="{F0C4651F-A4D8-684C-B8AB-F4F5C5AF8194}"/>
              </a:ext>
            </a:extLst>
          </p:cNvPr>
          <p:cNvSpPr>
            <a:spLocks noGrp="1" noChangeArrowheads="1"/>
          </p:cNvSpPr>
          <p:nvPr>
            <p:ph type="title"/>
          </p:nvPr>
        </p:nvSpPr>
        <p:spPr>
          <a:xfrm>
            <a:off x="750498" y="533400"/>
            <a:ext cx="10644996" cy="914400"/>
          </a:xfrm>
        </p:spPr>
        <p:txBody>
          <a:bodyPr>
            <a:normAutofit/>
          </a:bodyPr>
          <a:lstStyle/>
          <a:p>
            <a:pPr>
              <a:defRPr/>
            </a:pPr>
            <a:r>
              <a:rPr lang="en-US" dirty="0"/>
              <a:t>Solution for Shopping Spree Problem </a:t>
            </a:r>
          </a:p>
        </p:txBody>
      </p:sp>
      <p:sp>
        <p:nvSpPr>
          <p:cNvPr id="19459" name="Rectangle 3">
            <a:extLst>
              <a:ext uri="{FF2B5EF4-FFF2-40B4-BE49-F238E27FC236}">
                <a16:creationId xmlns:a16="http://schemas.microsoft.com/office/drawing/2014/main" id="{5271BDAF-15DE-9749-8F1B-59E5E31E0A03}"/>
              </a:ext>
            </a:extLst>
          </p:cNvPr>
          <p:cNvSpPr>
            <a:spLocks noGrp="1" noChangeArrowheads="1"/>
          </p:cNvSpPr>
          <p:nvPr>
            <p:ph type="body" idx="1"/>
          </p:nvPr>
        </p:nvSpPr>
        <p:spPr>
          <a:xfrm>
            <a:off x="750497" y="1828800"/>
            <a:ext cx="10644995" cy="4495800"/>
          </a:xfrm>
        </p:spPr>
        <p:txBody>
          <a:bodyPr/>
          <a:lstStyle/>
          <a:p>
            <a:pPr marL="533400" indent="-533400">
              <a:buClr>
                <a:srgbClr val="000000"/>
              </a:buClr>
              <a:buFontTx/>
              <a:buAutoNum type="arabicPeriod"/>
            </a:pPr>
            <a:r>
              <a:rPr lang="en-US" altLang="en-MX" dirty="0"/>
              <a:t>Rule out programs with C &gt; 0 and E &lt; 0</a:t>
            </a:r>
          </a:p>
          <a:p>
            <a:pPr marL="533400" indent="-533400">
              <a:buClr>
                <a:srgbClr val="000000"/>
              </a:buClr>
              <a:buFontTx/>
              <a:buAutoNum type="arabicPeriod"/>
            </a:pPr>
            <a:r>
              <a:rPr lang="en-US" altLang="en-MX" dirty="0"/>
              <a:t>Rule in programs with C &lt; 0 and E &gt; 0</a:t>
            </a:r>
          </a:p>
          <a:p>
            <a:pPr marL="533400" indent="-533400">
              <a:buClr>
                <a:srgbClr val="000000"/>
              </a:buClr>
              <a:buFontTx/>
              <a:buAutoNum type="arabicPeriod"/>
            </a:pPr>
            <a:r>
              <a:rPr lang="en-US" altLang="en-MX" dirty="0"/>
              <a:t>Rank remaining programs in ascending order of cost-effectiveness ratios </a:t>
            </a:r>
          </a:p>
          <a:p>
            <a:pPr marL="533400" indent="-533400">
              <a:buClr>
                <a:srgbClr val="000000"/>
              </a:buClr>
              <a:buFontTx/>
              <a:buAutoNum type="arabicPeriod"/>
            </a:pPr>
            <a:r>
              <a:rPr lang="en-US" altLang="en-MX" dirty="0"/>
              <a:t>Select programs from the rank list until budget is exhausted</a:t>
            </a:r>
          </a:p>
          <a:p>
            <a:pPr marL="533400" indent="-533400">
              <a:buClr>
                <a:srgbClr val="000000"/>
              </a:buClr>
              <a:buFontTx/>
              <a:buAutoNum type="arabicPeriod"/>
            </a:pPr>
            <a:endParaRPr lang="en-US" altLang="en-MX" dirty="0"/>
          </a:p>
        </p:txBody>
      </p:sp>
    </p:spTree>
    <p:extLst>
      <p:ext uri="{BB962C8B-B14F-4D97-AF65-F5344CB8AC3E}">
        <p14:creationId xmlns:p14="http://schemas.microsoft.com/office/powerpoint/2010/main" val="109190790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6034" name="Rectangle 2">
            <a:extLst>
              <a:ext uri="{FF2B5EF4-FFF2-40B4-BE49-F238E27FC236}">
                <a16:creationId xmlns:a16="http://schemas.microsoft.com/office/drawing/2014/main" id="{E4FD6BE9-D889-5D45-A190-CA15363D662D}"/>
              </a:ext>
            </a:extLst>
          </p:cNvPr>
          <p:cNvSpPr>
            <a:spLocks noGrp="1" noChangeArrowheads="1"/>
          </p:cNvSpPr>
          <p:nvPr>
            <p:ph type="title"/>
          </p:nvPr>
        </p:nvSpPr>
        <p:spPr>
          <a:xfrm>
            <a:off x="838200" y="365126"/>
            <a:ext cx="10515600" cy="946090"/>
          </a:xfrm>
        </p:spPr>
        <p:txBody>
          <a:bodyPr/>
          <a:lstStyle/>
          <a:p>
            <a:pPr>
              <a:defRPr/>
            </a:pPr>
            <a:r>
              <a:rPr lang="en-US" dirty="0"/>
              <a:t>Should Program H be Funded?</a:t>
            </a:r>
          </a:p>
        </p:txBody>
      </p:sp>
      <p:sp>
        <p:nvSpPr>
          <p:cNvPr id="20483" name="Rectangle 3">
            <a:extLst>
              <a:ext uri="{FF2B5EF4-FFF2-40B4-BE49-F238E27FC236}">
                <a16:creationId xmlns:a16="http://schemas.microsoft.com/office/drawing/2014/main" id="{D5452303-E34C-FD43-9E70-9B7AE9BAD12D}"/>
              </a:ext>
            </a:extLst>
          </p:cNvPr>
          <p:cNvSpPr>
            <a:spLocks noGrp="1" noChangeArrowheads="1"/>
          </p:cNvSpPr>
          <p:nvPr>
            <p:ph type="body" idx="1"/>
          </p:nvPr>
        </p:nvSpPr>
        <p:spPr/>
        <p:txBody>
          <a:bodyPr/>
          <a:lstStyle/>
          <a:p>
            <a:r>
              <a:rPr lang="en-US" altLang="en-MX"/>
              <a:t>Net Cost = $50</a:t>
            </a:r>
          </a:p>
          <a:p>
            <a:r>
              <a:rPr lang="en-US" altLang="en-MX"/>
              <a:t>Net Effect = 70</a:t>
            </a:r>
          </a:p>
          <a:p>
            <a:r>
              <a:rPr lang="en-US" altLang="en-MX"/>
              <a:t>Costs/Effect = 0.714</a:t>
            </a:r>
          </a:p>
        </p:txBody>
      </p:sp>
    </p:spTree>
    <p:extLst>
      <p:ext uri="{BB962C8B-B14F-4D97-AF65-F5344CB8AC3E}">
        <p14:creationId xmlns:p14="http://schemas.microsoft.com/office/powerpoint/2010/main" val="352492809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7BAA5A9C-809D-674F-965F-C420CBD54E87}"/>
              </a:ext>
            </a:extLst>
          </p:cNvPr>
          <p:cNvSpPr>
            <a:spLocks noChangeArrowheads="1"/>
          </p:cNvSpPr>
          <p:nvPr/>
        </p:nvSpPr>
        <p:spPr bwMode="auto">
          <a:xfrm>
            <a:off x="2209800" y="5943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21507" name="Rectangle 3">
            <a:extLst>
              <a:ext uri="{FF2B5EF4-FFF2-40B4-BE49-F238E27FC236}">
                <a16:creationId xmlns:a16="http://schemas.microsoft.com/office/drawing/2014/main" id="{B1D43546-583F-B444-A9BB-CA85D2F43054}"/>
              </a:ext>
            </a:extLst>
          </p:cNvPr>
          <p:cNvSpPr>
            <a:spLocks noChangeArrowheads="1"/>
          </p:cNvSpPr>
          <p:nvPr/>
        </p:nvSpPr>
        <p:spPr bwMode="auto">
          <a:xfrm>
            <a:off x="4648200" y="59436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1197060" name="Rectangle 4">
            <a:extLst>
              <a:ext uri="{FF2B5EF4-FFF2-40B4-BE49-F238E27FC236}">
                <a16:creationId xmlns:a16="http://schemas.microsoft.com/office/drawing/2014/main" id="{8748F0BC-3A84-914C-A9C8-86728290CDCD}"/>
              </a:ext>
            </a:extLst>
          </p:cNvPr>
          <p:cNvSpPr>
            <a:spLocks noGrp="1" noChangeArrowheads="1"/>
          </p:cNvSpPr>
          <p:nvPr>
            <p:ph type="title"/>
          </p:nvPr>
        </p:nvSpPr>
        <p:spPr>
          <a:xfrm>
            <a:off x="629727" y="152400"/>
            <a:ext cx="10843399" cy="762000"/>
          </a:xfrm>
        </p:spPr>
        <p:txBody>
          <a:bodyPr>
            <a:normAutofit/>
          </a:bodyPr>
          <a:lstStyle/>
          <a:p>
            <a:pPr>
              <a:defRPr/>
            </a:pPr>
            <a:r>
              <a:rPr lang="en-US" dirty="0"/>
              <a:t>Should New Program H be Included?</a:t>
            </a:r>
          </a:p>
        </p:txBody>
      </p:sp>
      <p:graphicFrame>
        <p:nvGraphicFramePr>
          <p:cNvPr id="1197061" name="Group 5">
            <a:extLst>
              <a:ext uri="{FF2B5EF4-FFF2-40B4-BE49-F238E27FC236}">
                <a16:creationId xmlns:a16="http://schemas.microsoft.com/office/drawing/2014/main" id="{80E2F46D-C12F-234C-B1AD-A1B5712E8B24}"/>
              </a:ext>
            </a:extLst>
          </p:cNvPr>
          <p:cNvGraphicFramePr>
            <a:graphicFrameLocks noGrp="1"/>
          </p:cNvGraphicFramePr>
          <p:nvPr/>
        </p:nvGraphicFramePr>
        <p:xfrm>
          <a:off x="2133600" y="1066801"/>
          <a:ext cx="7848600" cy="4251705"/>
        </p:xfrm>
        <a:graphic>
          <a:graphicData uri="http://schemas.openxmlformats.org/drawingml/2006/table">
            <a:tbl>
              <a:tblPr/>
              <a:tblGrid>
                <a:gridCol w="16002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228725">
                  <a:extLst>
                    <a:ext uri="{9D8B030D-6E8A-4147-A177-3AD203B41FA5}">
                      <a16:colId xmlns:a16="http://schemas.microsoft.com/office/drawing/2014/main" val="20002"/>
                    </a:ext>
                  </a:extLst>
                </a:gridCol>
                <a:gridCol w="1387475">
                  <a:extLst>
                    <a:ext uri="{9D8B030D-6E8A-4147-A177-3AD203B41FA5}">
                      <a16:colId xmlns:a16="http://schemas.microsoft.com/office/drawing/2014/main" val="20003"/>
                    </a:ext>
                  </a:extLst>
                </a:gridCol>
                <a:gridCol w="1471613">
                  <a:extLst>
                    <a:ext uri="{9D8B030D-6E8A-4147-A177-3AD203B41FA5}">
                      <a16:colId xmlns:a16="http://schemas.microsoft.com/office/drawing/2014/main" val="20004"/>
                    </a:ext>
                  </a:extLst>
                </a:gridCol>
                <a:gridCol w="1144587">
                  <a:extLst>
                    <a:ext uri="{9D8B030D-6E8A-4147-A177-3AD203B41FA5}">
                      <a16:colId xmlns:a16="http://schemas.microsoft.com/office/drawing/2014/main" val="20005"/>
                    </a:ext>
                  </a:extLst>
                </a:gridCol>
              </a:tblGrid>
              <a:tr h="1142829">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Program</a:t>
                      </a:r>
                    </a:p>
                  </a:txBody>
                  <a:tcPr marT="45713" marB="45713"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Cost ($)</a:t>
                      </a:r>
                    </a:p>
                  </a:txBody>
                  <a:tcPr marT="45713" marB="45713"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Effect</a:t>
                      </a:r>
                    </a:p>
                  </a:txBody>
                  <a:tcPr marT="45713" marB="45713"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Cost/</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Effect</a:t>
                      </a:r>
                    </a:p>
                  </a:txBody>
                  <a:tcPr marT="45713" marB="45713"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Cum.</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Cost</a:t>
                      </a:r>
                    </a:p>
                  </a:txBody>
                  <a:tcPr marT="45713" marB="45713"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Cum.</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Effect</a:t>
                      </a:r>
                    </a:p>
                  </a:txBody>
                  <a:tcPr marT="45713" marB="45713"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51808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D</a:t>
                      </a:r>
                    </a:p>
                  </a:txBody>
                  <a:tcPr marT="45713" marB="4571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0.5</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40</a:t>
                      </a:r>
                    </a:p>
                  </a:txBody>
                  <a:tcPr marT="45713" marB="4571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51808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a:t>
                      </a:r>
                    </a:p>
                  </a:txBody>
                  <a:tcPr marT="45713" marB="4571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0.6</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90</a:t>
                      </a:r>
                    </a:p>
                  </a:txBody>
                  <a:tcPr marT="45713" marB="4571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51808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F</a:t>
                      </a:r>
                    </a:p>
                  </a:txBody>
                  <a:tcPr marT="45713" marB="4571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75</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0.667</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100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165</a:t>
                      </a:r>
                    </a:p>
                  </a:txBody>
                  <a:tcPr marT="45713" marB="4571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1808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a:t>
                      </a:r>
                    </a:p>
                  </a:txBody>
                  <a:tcPr marT="45713" marB="4571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56</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70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0.8</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3" marB="4571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51808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A</a:t>
                      </a:r>
                    </a:p>
                  </a:txBody>
                  <a:tcPr marT="45713" marB="4571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27</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3" marB="4571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51808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B</a:t>
                      </a:r>
                    </a:p>
                  </a:txBody>
                  <a:tcPr marT="45713" marB="45713"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a:t>
                      </a:r>
                    </a:p>
                  </a:txBody>
                  <a:tcPr marT="45713" marB="45713"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a:t>
                      </a:r>
                    </a:p>
                  </a:txBody>
                  <a:tcPr marT="45713" marB="45713"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3" marB="45713"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3" marB="45713"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3" marB="45713"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6"/>
                  </a:ext>
                </a:extLst>
              </a:tr>
            </a:tbl>
          </a:graphicData>
        </a:graphic>
      </p:graphicFrame>
      <p:sp>
        <p:nvSpPr>
          <p:cNvPr id="21552" name="Line 74">
            <a:extLst>
              <a:ext uri="{FF2B5EF4-FFF2-40B4-BE49-F238E27FC236}">
                <a16:creationId xmlns:a16="http://schemas.microsoft.com/office/drawing/2014/main" id="{71334F7A-B29D-CE46-967B-BA821AFF3059}"/>
              </a:ext>
            </a:extLst>
          </p:cNvPr>
          <p:cNvSpPr>
            <a:spLocks noChangeShapeType="1"/>
          </p:cNvSpPr>
          <p:nvPr/>
        </p:nvSpPr>
        <p:spPr bwMode="auto">
          <a:xfrm>
            <a:off x="2057400" y="2057400"/>
            <a:ext cx="79248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21553" name="Text Box 75">
            <a:extLst>
              <a:ext uri="{FF2B5EF4-FFF2-40B4-BE49-F238E27FC236}">
                <a16:creationId xmlns:a16="http://schemas.microsoft.com/office/drawing/2014/main" id="{59E167D1-5B0F-4C41-8A38-F2384C228058}"/>
              </a:ext>
            </a:extLst>
          </p:cNvPr>
          <p:cNvSpPr txBox="1">
            <a:spLocks noChangeArrowheads="1"/>
          </p:cNvSpPr>
          <p:nvPr/>
        </p:nvSpPr>
        <p:spPr bwMode="auto">
          <a:xfrm>
            <a:off x="2209800" y="5257800"/>
            <a:ext cx="792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tabLst>
                <a:tab pos="1943100" algn="l"/>
                <a:tab pos="4457700" algn="l"/>
                <a:tab pos="6057900" algn="l"/>
              </a:tabLst>
              <a:defRPr sz="2000" b="1">
                <a:solidFill>
                  <a:schemeClr val="tx1"/>
                </a:solidFill>
                <a:latin typeface="Times New Roman" panose="02020603050405020304" pitchFamily="18" charset="0"/>
              </a:defRPr>
            </a:lvl1pPr>
            <a:lvl2pPr marL="742950" indent="-285750">
              <a:tabLst>
                <a:tab pos="1943100" algn="l"/>
                <a:tab pos="4457700" algn="l"/>
                <a:tab pos="6057900" algn="l"/>
              </a:tabLst>
              <a:defRPr sz="2000" b="1">
                <a:solidFill>
                  <a:schemeClr val="tx1"/>
                </a:solidFill>
                <a:latin typeface="Times New Roman" panose="02020603050405020304" pitchFamily="18" charset="0"/>
              </a:defRPr>
            </a:lvl2pPr>
            <a:lvl3pPr marL="1143000" indent="-228600">
              <a:tabLst>
                <a:tab pos="1943100" algn="l"/>
                <a:tab pos="4457700" algn="l"/>
                <a:tab pos="6057900" algn="l"/>
              </a:tabLst>
              <a:defRPr sz="2000" b="1">
                <a:solidFill>
                  <a:schemeClr val="tx1"/>
                </a:solidFill>
                <a:latin typeface="Times New Roman" panose="02020603050405020304" pitchFamily="18" charset="0"/>
              </a:defRPr>
            </a:lvl3pPr>
            <a:lvl4pPr marL="1600200" indent="-228600">
              <a:tabLst>
                <a:tab pos="1943100" algn="l"/>
                <a:tab pos="4457700" algn="l"/>
                <a:tab pos="6057900" algn="l"/>
              </a:tabLst>
              <a:defRPr sz="2000" b="1">
                <a:solidFill>
                  <a:schemeClr val="tx1"/>
                </a:solidFill>
                <a:latin typeface="Times New Roman" panose="02020603050405020304" pitchFamily="18" charset="0"/>
              </a:defRPr>
            </a:lvl4pPr>
            <a:lvl5pPr marL="2057400" indent="-228600">
              <a:tabLst>
                <a:tab pos="1943100" algn="l"/>
                <a:tab pos="4457700" algn="l"/>
                <a:tab pos="6057900" algn="l"/>
              </a:tabLst>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1943100" algn="l"/>
                <a:tab pos="4457700" algn="l"/>
                <a:tab pos="6057900" algn="l"/>
              </a:tabLs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1943100" algn="l"/>
                <a:tab pos="4457700" algn="l"/>
                <a:tab pos="6057900" algn="l"/>
              </a:tabLs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1943100" algn="l"/>
                <a:tab pos="4457700" algn="l"/>
                <a:tab pos="6057900" algn="l"/>
              </a:tabLs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1943100" algn="l"/>
                <a:tab pos="4457700" algn="l"/>
                <a:tab pos="6057900" algn="l"/>
              </a:tabLst>
              <a:defRPr sz="2000" b="1">
                <a:solidFill>
                  <a:schemeClr val="tx1"/>
                </a:solidFill>
                <a:latin typeface="Times New Roman" panose="02020603050405020304" pitchFamily="18" charset="0"/>
              </a:defRPr>
            </a:lvl9pPr>
          </a:lstStyle>
          <a:p>
            <a:r>
              <a:rPr lang="en-US" altLang="en-MX" sz="2400" b="0">
                <a:solidFill>
                  <a:srgbClr val="FF0000"/>
                </a:solidFill>
                <a:latin typeface="Arial" panose="020B0604020202020204" pitchFamily="34" charset="0"/>
              </a:rPr>
              <a:t>Budget	Programs	Effect	Threshold</a:t>
            </a:r>
          </a:p>
        </p:txBody>
      </p:sp>
      <p:sp>
        <p:nvSpPr>
          <p:cNvPr id="21554" name="Text Box 76">
            <a:extLst>
              <a:ext uri="{FF2B5EF4-FFF2-40B4-BE49-F238E27FC236}">
                <a16:creationId xmlns:a16="http://schemas.microsoft.com/office/drawing/2014/main" id="{633599F6-BC62-5F49-84E9-D6B15D4EC9F5}"/>
              </a:ext>
            </a:extLst>
          </p:cNvPr>
          <p:cNvSpPr txBox="1">
            <a:spLocks noChangeArrowheads="1"/>
          </p:cNvSpPr>
          <p:nvPr/>
        </p:nvSpPr>
        <p:spPr bwMode="auto">
          <a:xfrm>
            <a:off x="2362201" y="5638800"/>
            <a:ext cx="7866063"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tabLst>
                <a:tab pos="1943100" algn="l"/>
                <a:tab pos="4457700" algn="l"/>
                <a:tab pos="6057900" algn="l"/>
              </a:tabLst>
              <a:defRPr sz="2000" b="1">
                <a:solidFill>
                  <a:schemeClr val="tx1"/>
                </a:solidFill>
                <a:latin typeface="Times New Roman" panose="02020603050405020304" pitchFamily="18" charset="0"/>
              </a:defRPr>
            </a:lvl1pPr>
            <a:lvl2pPr marL="742950" indent="-285750">
              <a:tabLst>
                <a:tab pos="1943100" algn="l"/>
                <a:tab pos="4457700" algn="l"/>
                <a:tab pos="6057900" algn="l"/>
              </a:tabLst>
              <a:defRPr sz="2000" b="1">
                <a:solidFill>
                  <a:schemeClr val="tx1"/>
                </a:solidFill>
                <a:latin typeface="Times New Roman" panose="02020603050405020304" pitchFamily="18" charset="0"/>
              </a:defRPr>
            </a:lvl2pPr>
            <a:lvl3pPr marL="1143000" indent="-228600">
              <a:tabLst>
                <a:tab pos="1943100" algn="l"/>
                <a:tab pos="4457700" algn="l"/>
                <a:tab pos="6057900" algn="l"/>
              </a:tabLst>
              <a:defRPr sz="2000" b="1">
                <a:solidFill>
                  <a:schemeClr val="tx1"/>
                </a:solidFill>
                <a:latin typeface="Times New Roman" panose="02020603050405020304" pitchFamily="18" charset="0"/>
              </a:defRPr>
            </a:lvl3pPr>
            <a:lvl4pPr marL="1600200" indent="-228600">
              <a:tabLst>
                <a:tab pos="1943100" algn="l"/>
                <a:tab pos="4457700" algn="l"/>
                <a:tab pos="6057900" algn="l"/>
              </a:tabLst>
              <a:defRPr sz="2000" b="1">
                <a:solidFill>
                  <a:schemeClr val="tx1"/>
                </a:solidFill>
                <a:latin typeface="Times New Roman" panose="02020603050405020304" pitchFamily="18" charset="0"/>
              </a:defRPr>
            </a:lvl4pPr>
            <a:lvl5pPr marL="2057400" indent="-228600">
              <a:tabLst>
                <a:tab pos="1943100" algn="l"/>
                <a:tab pos="4457700" algn="l"/>
                <a:tab pos="6057900" algn="l"/>
              </a:tabLst>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1943100" algn="l"/>
                <a:tab pos="4457700" algn="l"/>
                <a:tab pos="6057900" algn="l"/>
              </a:tabLs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1943100" algn="l"/>
                <a:tab pos="4457700" algn="l"/>
                <a:tab pos="6057900" algn="l"/>
              </a:tabLs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1943100" algn="l"/>
                <a:tab pos="4457700" algn="l"/>
                <a:tab pos="6057900" algn="l"/>
              </a:tabLs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1943100" algn="l"/>
                <a:tab pos="4457700" algn="l"/>
                <a:tab pos="6057900" algn="l"/>
              </a:tabLst>
              <a:defRPr sz="2000" b="1">
                <a:solidFill>
                  <a:schemeClr val="tx1"/>
                </a:solidFill>
                <a:latin typeface="Times New Roman" panose="02020603050405020304" pitchFamily="18" charset="0"/>
              </a:defRPr>
            </a:lvl9pPr>
          </a:lstStyle>
          <a:p>
            <a:r>
              <a:rPr lang="en-US" altLang="en-MX">
                <a:solidFill>
                  <a:srgbClr val="3333FF"/>
                </a:solidFill>
                <a:latin typeface="Arial" panose="020B0604020202020204" pitchFamily="34" charset="0"/>
              </a:rPr>
              <a:t>$100	D,E,F	165		0.667</a:t>
            </a:r>
          </a:p>
          <a:p>
            <a:r>
              <a:rPr lang="en-US" altLang="en-MX">
                <a:solidFill>
                  <a:srgbClr val="CC0099"/>
                </a:solidFill>
                <a:latin typeface="Arial" panose="020B0604020202020204" pitchFamily="34" charset="0"/>
              </a:rPr>
              <a:t>$150	D,E,F,(50/56)C	227.5		0.8</a:t>
            </a:r>
          </a:p>
          <a:p>
            <a:r>
              <a:rPr lang="en-US" altLang="en-MX">
                <a:solidFill>
                  <a:srgbClr val="7030A0"/>
                </a:solidFill>
                <a:latin typeface="Arial" panose="020B0604020202020204" pitchFamily="34" charset="0"/>
              </a:rPr>
              <a:t>$150	D,E,F,H	235		0.714</a:t>
            </a:r>
          </a:p>
        </p:txBody>
      </p:sp>
      <p:sp>
        <p:nvSpPr>
          <p:cNvPr id="21555" name="Rectangle 81">
            <a:extLst>
              <a:ext uri="{FF2B5EF4-FFF2-40B4-BE49-F238E27FC236}">
                <a16:creationId xmlns:a16="http://schemas.microsoft.com/office/drawing/2014/main" id="{1E623145-07C8-B742-A07A-030A9A961592}"/>
              </a:ext>
            </a:extLst>
          </p:cNvPr>
          <p:cNvSpPr>
            <a:spLocks noChangeArrowheads="1"/>
          </p:cNvSpPr>
          <p:nvPr/>
        </p:nvSpPr>
        <p:spPr bwMode="auto">
          <a:xfrm>
            <a:off x="8837614" y="3244851"/>
            <a:ext cx="114458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algn="ctr">
              <a:spcBef>
                <a:spcPct val="20000"/>
              </a:spcBef>
              <a:buClr>
                <a:srgbClr val="990033"/>
              </a:buClr>
            </a:pPr>
            <a:r>
              <a:rPr lang="en-US" altLang="en-MX" sz="2800" b="0">
                <a:latin typeface="Arial" panose="020B0604020202020204" pitchFamily="34" charset="0"/>
              </a:rPr>
              <a:t>165</a:t>
            </a:r>
          </a:p>
        </p:txBody>
      </p:sp>
      <p:sp>
        <p:nvSpPr>
          <p:cNvPr id="21556" name="Rectangle 82">
            <a:extLst>
              <a:ext uri="{FF2B5EF4-FFF2-40B4-BE49-F238E27FC236}">
                <a16:creationId xmlns:a16="http://schemas.microsoft.com/office/drawing/2014/main" id="{103E61C8-77B0-9E4D-B623-CB6B74611886}"/>
              </a:ext>
            </a:extLst>
          </p:cNvPr>
          <p:cNvSpPr>
            <a:spLocks noChangeArrowheads="1"/>
          </p:cNvSpPr>
          <p:nvPr/>
        </p:nvSpPr>
        <p:spPr bwMode="auto">
          <a:xfrm>
            <a:off x="8837614" y="2727326"/>
            <a:ext cx="114458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algn="ctr">
              <a:spcBef>
                <a:spcPct val="20000"/>
              </a:spcBef>
              <a:buClr>
                <a:srgbClr val="990033"/>
              </a:buClr>
            </a:pPr>
            <a:r>
              <a:rPr lang="en-US" altLang="en-MX" sz="2800" b="0">
                <a:latin typeface="Arial" panose="020B0604020202020204" pitchFamily="34" charset="0"/>
              </a:rPr>
              <a:t>90</a:t>
            </a:r>
          </a:p>
        </p:txBody>
      </p:sp>
      <p:sp>
        <p:nvSpPr>
          <p:cNvPr id="21557" name="Rectangle 83">
            <a:extLst>
              <a:ext uri="{FF2B5EF4-FFF2-40B4-BE49-F238E27FC236}">
                <a16:creationId xmlns:a16="http://schemas.microsoft.com/office/drawing/2014/main" id="{547EF5D8-15AE-4B46-BA48-AFF35D8731BE}"/>
              </a:ext>
            </a:extLst>
          </p:cNvPr>
          <p:cNvSpPr>
            <a:spLocks noChangeArrowheads="1"/>
          </p:cNvSpPr>
          <p:nvPr/>
        </p:nvSpPr>
        <p:spPr bwMode="auto">
          <a:xfrm>
            <a:off x="8837614" y="2209801"/>
            <a:ext cx="114458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algn="ctr">
              <a:spcBef>
                <a:spcPct val="20000"/>
              </a:spcBef>
              <a:buClr>
                <a:srgbClr val="990033"/>
              </a:buClr>
            </a:pPr>
            <a:r>
              <a:rPr lang="en-US" altLang="en-MX" sz="2800" b="0">
                <a:latin typeface="Arial" panose="020B0604020202020204" pitchFamily="34" charset="0"/>
              </a:rPr>
              <a:t>40</a:t>
            </a:r>
          </a:p>
        </p:txBody>
      </p:sp>
      <p:sp>
        <p:nvSpPr>
          <p:cNvPr id="21558" name="Rectangle 84">
            <a:extLst>
              <a:ext uri="{FF2B5EF4-FFF2-40B4-BE49-F238E27FC236}">
                <a16:creationId xmlns:a16="http://schemas.microsoft.com/office/drawing/2014/main" id="{E5DFFF57-F77A-F947-8D52-EF28C02C19A5}"/>
              </a:ext>
            </a:extLst>
          </p:cNvPr>
          <p:cNvSpPr>
            <a:spLocks noChangeArrowheads="1"/>
          </p:cNvSpPr>
          <p:nvPr/>
        </p:nvSpPr>
        <p:spPr bwMode="auto">
          <a:xfrm>
            <a:off x="8837614" y="1066800"/>
            <a:ext cx="114458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algn="ctr">
              <a:spcBef>
                <a:spcPct val="20000"/>
              </a:spcBef>
              <a:buClr>
                <a:srgbClr val="990033"/>
              </a:buClr>
            </a:pPr>
            <a:r>
              <a:rPr lang="en-US" altLang="en-MX" sz="2800" b="0">
                <a:latin typeface="Arial" panose="020B0604020202020204" pitchFamily="34" charset="0"/>
              </a:rPr>
              <a:t>Cum.</a:t>
            </a:r>
          </a:p>
          <a:p>
            <a:pPr algn="ctr">
              <a:spcBef>
                <a:spcPct val="20000"/>
              </a:spcBef>
              <a:buClr>
                <a:srgbClr val="990033"/>
              </a:buClr>
            </a:pPr>
            <a:r>
              <a:rPr lang="en-US" altLang="en-MX" sz="2800" b="0">
                <a:latin typeface="Arial" panose="020B0604020202020204" pitchFamily="34" charset="0"/>
              </a:rPr>
              <a:t>Effect</a:t>
            </a:r>
          </a:p>
        </p:txBody>
      </p:sp>
      <p:sp>
        <p:nvSpPr>
          <p:cNvPr id="21559" name="Rectangle 87">
            <a:extLst>
              <a:ext uri="{FF2B5EF4-FFF2-40B4-BE49-F238E27FC236}">
                <a16:creationId xmlns:a16="http://schemas.microsoft.com/office/drawing/2014/main" id="{2F18CF0C-BEAB-E744-BAEF-29BF700F352F}"/>
              </a:ext>
            </a:extLst>
          </p:cNvPr>
          <p:cNvSpPr>
            <a:spLocks noChangeArrowheads="1"/>
          </p:cNvSpPr>
          <p:nvPr/>
        </p:nvSpPr>
        <p:spPr bwMode="auto">
          <a:xfrm>
            <a:off x="4749801" y="4797426"/>
            <a:ext cx="122872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algn="ctr">
              <a:spcBef>
                <a:spcPct val="20000"/>
              </a:spcBef>
              <a:buClr>
                <a:srgbClr val="990033"/>
              </a:buClr>
            </a:pPr>
            <a:r>
              <a:rPr lang="en-US" altLang="en-MX" sz="2800" b="0">
                <a:latin typeface="Arial" panose="020B0604020202020204" pitchFamily="34" charset="0"/>
              </a:rPr>
              <a:t>20</a:t>
            </a:r>
          </a:p>
        </p:txBody>
      </p:sp>
      <p:sp>
        <p:nvSpPr>
          <p:cNvPr id="21560" name="Rectangle 88">
            <a:extLst>
              <a:ext uri="{FF2B5EF4-FFF2-40B4-BE49-F238E27FC236}">
                <a16:creationId xmlns:a16="http://schemas.microsoft.com/office/drawing/2014/main" id="{49730846-EC86-E149-B118-9152EC956F97}"/>
              </a:ext>
            </a:extLst>
          </p:cNvPr>
          <p:cNvSpPr>
            <a:spLocks noChangeArrowheads="1"/>
          </p:cNvSpPr>
          <p:nvPr/>
        </p:nvSpPr>
        <p:spPr bwMode="auto">
          <a:xfrm>
            <a:off x="3733800" y="4797426"/>
            <a:ext cx="101600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algn="ctr">
              <a:spcBef>
                <a:spcPct val="20000"/>
              </a:spcBef>
              <a:buClr>
                <a:srgbClr val="990033"/>
              </a:buClr>
            </a:pPr>
            <a:r>
              <a:rPr lang="en-US" altLang="en-MX" sz="2800" b="0">
                <a:latin typeface="Arial" panose="020B0604020202020204" pitchFamily="34" charset="0"/>
              </a:rPr>
              <a:t>30</a:t>
            </a:r>
          </a:p>
        </p:txBody>
      </p:sp>
      <p:sp>
        <p:nvSpPr>
          <p:cNvPr id="21561" name="Rectangle 89">
            <a:extLst>
              <a:ext uri="{FF2B5EF4-FFF2-40B4-BE49-F238E27FC236}">
                <a16:creationId xmlns:a16="http://schemas.microsoft.com/office/drawing/2014/main" id="{00F1002D-70BA-4740-8055-62B6B2E3A878}"/>
              </a:ext>
            </a:extLst>
          </p:cNvPr>
          <p:cNvSpPr>
            <a:spLocks noChangeArrowheads="1"/>
          </p:cNvSpPr>
          <p:nvPr/>
        </p:nvSpPr>
        <p:spPr bwMode="auto">
          <a:xfrm>
            <a:off x="2133600" y="4797426"/>
            <a:ext cx="160020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a:spcBef>
                <a:spcPct val="20000"/>
              </a:spcBef>
              <a:buClr>
                <a:srgbClr val="990033"/>
              </a:buClr>
            </a:pPr>
            <a:r>
              <a:rPr lang="en-US" altLang="en-MX" sz="2800" b="0">
                <a:latin typeface="Arial" panose="020B0604020202020204" pitchFamily="34" charset="0"/>
              </a:rPr>
              <a:t>B</a:t>
            </a:r>
          </a:p>
        </p:txBody>
      </p:sp>
      <p:sp>
        <p:nvSpPr>
          <p:cNvPr id="21562" name="Rectangle 92">
            <a:extLst>
              <a:ext uri="{FF2B5EF4-FFF2-40B4-BE49-F238E27FC236}">
                <a16:creationId xmlns:a16="http://schemas.microsoft.com/office/drawing/2014/main" id="{7DD77DE7-CDE6-4347-83E3-CD5BE38E2498}"/>
              </a:ext>
            </a:extLst>
          </p:cNvPr>
          <p:cNvSpPr>
            <a:spLocks noChangeArrowheads="1"/>
          </p:cNvSpPr>
          <p:nvPr/>
        </p:nvSpPr>
        <p:spPr bwMode="auto">
          <a:xfrm>
            <a:off x="4749801" y="4279901"/>
            <a:ext cx="122872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algn="ctr">
              <a:spcBef>
                <a:spcPct val="20000"/>
              </a:spcBef>
              <a:buClr>
                <a:srgbClr val="990033"/>
              </a:buClr>
            </a:pPr>
            <a:r>
              <a:rPr lang="en-US" altLang="en-MX" sz="2800" b="0">
                <a:latin typeface="Arial" panose="020B0604020202020204" pitchFamily="34" charset="0"/>
              </a:rPr>
              <a:t>30</a:t>
            </a:r>
          </a:p>
        </p:txBody>
      </p:sp>
      <p:sp>
        <p:nvSpPr>
          <p:cNvPr id="21563" name="Rectangle 93">
            <a:extLst>
              <a:ext uri="{FF2B5EF4-FFF2-40B4-BE49-F238E27FC236}">
                <a16:creationId xmlns:a16="http://schemas.microsoft.com/office/drawing/2014/main" id="{C6E6A0E0-09B5-9C44-B456-3C3F1C1E54A9}"/>
              </a:ext>
            </a:extLst>
          </p:cNvPr>
          <p:cNvSpPr>
            <a:spLocks noChangeArrowheads="1"/>
          </p:cNvSpPr>
          <p:nvPr/>
        </p:nvSpPr>
        <p:spPr bwMode="auto">
          <a:xfrm>
            <a:off x="3733800" y="4279901"/>
            <a:ext cx="10160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algn="ctr">
              <a:spcBef>
                <a:spcPct val="20000"/>
              </a:spcBef>
              <a:buClr>
                <a:srgbClr val="990033"/>
              </a:buClr>
            </a:pPr>
            <a:r>
              <a:rPr lang="en-US" altLang="en-MX" sz="2800" b="0">
                <a:latin typeface="Arial" panose="020B0604020202020204" pitchFamily="34" charset="0"/>
              </a:rPr>
              <a:t>27</a:t>
            </a:r>
          </a:p>
        </p:txBody>
      </p:sp>
      <p:sp>
        <p:nvSpPr>
          <p:cNvPr id="21564" name="Rectangle 94">
            <a:extLst>
              <a:ext uri="{FF2B5EF4-FFF2-40B4-BE49-F238E27FC236}">
                <a16:creationId xmlns:a16="http://schemas.microsoft.com/office/drawing/2014/main" id="{0774EC02-DB60-0547-9FCC-BAB58A7F3A45}"/>
              </a:ext>
            </a:extLst>
          </p:cNvPr>
          <p:cNvSpPr>
            <a:spLocks noChangeArrowheads="1"/>
          </p:cNvSpPr>
          <p:nvPr/>
        </p:nvSpPr>
        <p:spPr bwMode="auto">
          <a:xfrm>
            <a:off x="2133600" y="4279901"/>
            <a:ext cx="16002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a:spcBef>
                <a:spcPct val="20000"/>
              </a:spcBef>
              <a:buClr>
                <a:srgbClr val="990033"/>
              </a:buClr>
            </a:pPr>
            <a:r>
              <a:rPr lang="en-US" altLang="en-MX" sz="2800" b="0">
                <a:latin typeface="Arial" panose="020B0604020202020204" pitchFamily="34" charset="0"/>
              </a:rPr>
              <a:t>A</a:t>
            </a:r>
          </a:p>
        </p:txBody>
      </p:sp>
      <p:sp>
        <p:nvSpPr>
          <p:cNvPr id="21565" name="Rectangle 97">
            <a:extLst>
              <a:ext uri="{FF2B5EF4-FFF2-40B4-BE49-F238E27FC236}">
                <a16:creationId xmlns:a16="http://schemas.microsoft.com/office/drawing/2014/main" id="{6D6A6EDE-4864-484B-B87C-85769E6C966F}"/>
              </a:ext>
            </a:extLst>
          </p:cNvPr>
          <p:cNvSpPr>
            <a:spLocks noChangeArrowheads="1"/>
          </p:cNvSpPr>
          <p:nvPr/>
        </p:nvSpPr>
        <p:spPr bwMode="auto">
          <a:xfrm>
            <a:off x="4749801" y="3762376"/>
            <a:ext cx="122872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algn="ctr">
              <a:spcBef>
                <a:spcPct val="20000"/>
              </a:spcBef>
              <a:buClr>
                <a:srgbClr val="990033"/>
              </a:buClr>
            </a:pPr>
            <a:endParaRPr lang="en-MX" altLang="en-MX" sz="2800" b="0">
              <a:latin typeface="Arial" panose="020B0604020202020204" pitchFamily="34" charset="0"/>
            </a:endParaRPr>
          </a:p>
        </p:txBody>
      </p:sp>
      <p:sp>
        <p:nvSpPr>
          <p:cNvPr id="21566" name="Rectangle 98">
            <a:extLst>
              <a:ext uri="{FF2B5EF4-FFF2-40B4-BE49-F238E27FC236}">
                <a16:creationId xmlns:a16="http://schemas.microsoft.com/office/drawing/2014/main" id="{8AC424CB-2966-2346-A389-3DBD45800854}"/>
              </a:ext>
            </a:extLst>
          </p:cNvPr>
          <p:cNvSpPr>
            <a:spLocks noChangeArrowheads="1"/>
          </p:cNvSpPr>
          <p:nvPr/>
        </p:nvSpPr>
        <p:spPr bwMode="auto">
          <a:xfrm>
            <a:off x="3733800" y="3762376"/>
            <a:ext cx="10160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algn="ctr">
              <a:spcBef>
                <a:spcPct val="20000"/>
              </a:spcBef>
              <a:buClr>
                <a:srgbClr val="990033"/>
              </a:buClr>
            </a:pPr>
            <a:r>
              <a:rPr lang="en-US" altLang="en-MX" sz="2800" b="0">
                <a:latin typeface="Arial" panose="020B0604020202020204" pitchFamily="34" charset="0"/>
              </a:rPr>
              <a:t>56</a:t>
            </a:r>
          </a:p>
        </p:txBody>
      </p:sp>
      <p:sp>
        <p:nvSpPr>
          <p:cNvPr id="21567" name="Rectangle 99">
            <a:extLst>
              <a:ext uri="{FF2B5EF4-FFF2-40B4-BE49-F238E27FC236}">
                <a16:creationId xmlns:a16="http://schemas.microsoft.com/office/drawing/2014/main" id="{CF0326DF-D6CB-8F49-9CA9-84AF0F254246}"/>
              </a:ext>
            </a:extLst>
          </p:cNvPr>
          <p:cNvSpPr>
            <a:spLocks noChangeArrowheads="1"/>
          </p:cNvSpPr>
          <p:nvPr/>
        </p:nvSpPr>
        <p:spPr bwMode="auto">
          <a:xfrm>
            <a:off x="2133600" y="3762376"/>
            <a:ext cx="16002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a:spcBef>
                <a:spcPct val="20000"/>
              </a:spcBef>
              <a:buClr>
                <a:srgbClr val="990033"/>
              </a:buClr>
            </a:pPr>
            <a:r>
              <a:rPr lang="en-US" altLang="en-MX" sz="2800" b="0">
                <a:latin typeface="Arial" panose="020B0604020202020204" pitchFamily="34" charset="0"/>
              </a:rPr>
              <a:t>C</a:t>
            </a:r>
          </a:p>
        </p:txBody>
      </p:sp>
      <p:sp>
        <p:nvSpPr>
          <p:cNvPr id="21568" name="Rectangle 100">
            <a:extLst>
              <a:ext uri="{FF2B5EF4-FFF2-40B4-BE49-F238E27FC236}">
                <a16:creationId xmlns:a16="http://schemas.microsoft.com/office/drawing/2014/main" id="{E4FF4146-7442-984E-8932-732013D6C199}"/>
              </a:ext>
            </a:extLst>
          </p:cNvPr>
          <p:cNvSpPr>
            <a:spLocks noChangeArrowheads="1"/>
          </p:cNvSpPr>
          <p:nvPr/>
        </p:nvSpPr>
        <p:spPr bwMode="auto">
          <a:xfrm>
            <a:off x="7366001" y="3244851"/>
            <a:ext cx="147161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algn="ctr">
              <a:spcBef>
                <a:spcPct val="20000"/>
              </a:spcBef>
              <a:buClr>
                <a:srgbClr val="990033"/>
              </a:buClr>
            </a:pPr>
            <a:r>
              <a:rPr lang="en-US" altLang="en-MX" sz="2800" b="0">
                <a:latin typeface="Arial" panose="020B0604020202020204" pitchFamily="34" charset="0"/>
              </a:rPr>
              <a:t>100</a:t>
            </a:r>
          </a:p>
        </p:txBody>
      </p:sp>
      <p:sp>
        <p:nvSpPr>
          <p:cNvPr id="21569" name="Rectangle 101">
            <a:extLst>
              <a:ext uri="{FF2B5EF4-FFF2-40B4-BE49-F238E27FC236}">
                <a16:creationId xmlns:a16="http://schemas.microsoft.com/office/drawing/2014/main" id="{D754BA86-8830-DF4E-BA00-A7BD15F1968B}"/>
              </a:ext>
            </a:extLst>
          </p:cNvPr>
          <p:cNvSpPr>
            <a:spLocks noChangeArrowheads="1"/>
          </p:cNvSpPr>
          <p:nvPr/>
        </p:nvSpPr>
        <p:spPr bwMode="auto">
          <a:xfrm>
            <a:off x="5978526" y="3244851"/>
            <a:ext cx="13874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algn="ctr">
              <a:spcBef>
                <a:spcPct val="20000"/>
              </a:spcBef>
              <a:buClr>
                <a:srgbClr val="990033"/>
              </a:buClr>
            </a:pPr>
            <a:endParaRPr lang="en-MX" altLang="en-MX" sz="2800" b="0">
              <a:latin typeface="Arial" panose="020B0604020202020204" pitchFamily="34" charset="0"/>
            </a:endParaRPr>
          </a:p>
        </p:txBody>
      </p:sp>
      <p:sp>
        <p:nvSpPr>
          <p:cNvPr id="21570" name="Rectangle 102">
            <a:extLst>
              <a:ext uri="{FF2B5EF4-FFF2-40B4-BE49-F238E27FC236}">
                <a16:creationId xmlns:a16="http://schemas.microsoft.com/office/drawing/2014/main" id="{25D89DF0-9242-BA48-A64B-1C58C8E592B6}"/>
              </a:ext>
            </a:extLst>
          </p:cNvPr>
          <p:cNvSpPr>
            <a:spLocks noChangeArrowheads="1"/>
          </p:cNvSpPr>
          <p:nvPr/>
        </p:nvSpPr>
        <p:spPr bwMode="auto">
          <a:xfrm>
            <a:off x="4749801" y="3244851"/>
            <a:ext cx="122872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algn="ctr">
              <a:spcBef>
                <a:spcPct val="20000"/>
              </a:spcBef>
              <a:buClr>
                <a:srgbClr val="990033"/>
              </a:buClr>
            </a:pPr>
            <a:r>
              <a:rPr lang="en-US" altLang="en-MX" sz="2800" b="0">
                <a:latin typeface="Arial" panose="020B0604020202020204" pitchFamily="34" charset="0"/>
              </a:rPr>
              <a:t>75</a:t>
            </a:r>
          </a:p>
        </p:txBody>
      </p:sp>
      <p:sp>
        <p:nvSpPr>
          <p:cNvPr id="21571" name="Rectangle 103">
            <a:extLst>
              <a:ext uri="{FF2B5EF4-FFF2-40B4-BE49-F238E27FC236}">
                <a16:creationId xmlns:a16="http://schemas.microsoft.com/office/drawing/2014/main" id="{AF48E4FE-5A65-1142-9EFE-061E4523DC2C}"/>
              </a:ext>
            </a:extLst>
          </p:cNvPr>
          <p:cNvSpPr>
            <a:spLocks noChangeArrowheads="1"/>
          </p:cNvSpPr>
          <p:nvPr/>
        </p:nvSpPr>
        <p:spPr bwMode="auto">
          <a:xfrm>
            <a:off x="3733800" y="3244851"/>
            <a:ext cx="10160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algn="ctr">
              <a:spcBef>
                <a:spcPct val="20000"/>
              </a:spcBef>
              <a:buClr>
                <a:srgbClr val="990033"/>
              </a:buClr>
            </a:pPr>
            <a:r>
              <a:rPr lang="en-US" altLang="en-MX" sz="2800" b="0">
                <a:latin typeface="Arial" panose="020B0604020202020204" pitchFamily="34" charset="0"/>
              </a:rPr>
              <a:t>50</a:t>
            </a:r>
          </a:p>
        </p:txBody>
      </p:sp>
      <p:sp>
        <p:nvSpPr>
          <p:cNvPr id="21572" name="Rectangle 104">
            <a:extLst>
              <a:ext uri="{FF2B5EF4-FFF2-40B4-BE49-F238E27FC236}">
                <a16:creationId xmlns:a16="http://schemas.microsoft.com/office/drawing/2014/main" id="{71B14C6A-8FAF-8B4B-A4CB-EAA2ED868F37}"/>
              </a:ext>
            </a:extLst>
          </p:cNvPr>
          <p:cNvSpPr>
            <a:spLocks noChangeArrowheads="1"/>
          </p:cNvSpPr>
          <p:nvPr/>
        </p:nvSpPr>
        <p:spPr bwMode="auto">
          <a:xfrm>
            <a:off x="2133600" y="3244851"/>
            <a:ext cx="16002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a:spcBef>
                <a:spcPct val="20000"/>
              </a:spcBef>
              <a:buClr>
                <a:srgbClr val="990033"/>
              </a:buClr>
            </a:pPr>
            <a:r>
              <a:rPr lang="en-US" altLang="en-MX" sz="2800" b="0">
                <a:latin typeface="Arial" panose="020B0604020202020204" pitchFamily="34" charset="0"/>
              </a:rPr>
              <a:t>F</a:t>
            </a:r>
          </a:p>
        </p:txBody>
      </p:sp>
      <p:sp>
        <p:nvSpPr>
          <p:cNvPr id="21573" name="Rectangle 105">
            <a:extLst>
              <a:ext uri="{FF2B5EF4-FFF2-40B4-BE49-F238E27FC236}">
                <a16:creationId xmlns:a16="http://schemas.microsoft.com/office/drawing/2014/main" id="{73C4E44D-79D1-EF4E-A13F-405B4368C0E2}"/>
              </a:ext>
            </a:extLst>
          </p:cNvPr>
          <p:cNvSpPr>
            <a:spLocks noChangeArrowheads="1"/>
          </p:cNvSpPr>
          <p:nvPr/>
        </p:nvSpPr>
        <p:spPr bwMode="auto">
          <a:xfrm>
            <a:off x="7366001" y="2727326"/>
            <a:ext cx="147161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algn="ctr">
              <a:spcBef>
                <a:spcPct val="20000"/>
              </a:spcBef>
              <a:buClr>
                <a:srgbClr val="990033"/>
              </a:buClr>
            </a:pPr>
            <a:r>
              <a:rPr lang="en-US" altLang="en-MX" sz="2800" b="0">
                <a:latin typeface="Arial" panose="020B0604020202020204" pitchFamily="34" charset="0"/>
              </a:rPr>
              <a:t>50</a:t>
            </a:r>
          </a:p>
        </p:txBody>
      </p:sp>
      <p:sp>
        <p:nvSpPr>
          <p:cNvPr id="21574" name="Rectangle 106">
            <a:extLst>
              <a:ext uri="{FF2B5EF4-FFF2-40B4-BE49-F238E27FC236}">
                <a16:creationId xmlns:a16="http://schemas.microsoft.com/office/drawing/2014/main" id="{2F14BB73-23B2-4F42-A3B2-A4CDE48132C6}"/>
              </a:ext>
            </a:extLst>
          </p:cNvPr>
          <p:cNvSpPr>
            <a:spLocks noChangeArrowheads="1"/>
          </p:cNvSpPr>
          <p:nvPr/>
        </p:nvSpPr>
        <p:spPr bwMode="auto">
          <a:xfrm>
            <a:off x="5978526" y="2727326"/>
            <a:ext cx="13874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algn="ctr">
              <a:spcBef>
                <a:spcPct val="20000"/>
              </a:spcBef>
              <a:buClr>
                <a:srgbClr val="990033"/>
              </a:buClr>
            </a:pPr>
            <a:r>
              <a:rPr lang="en-US" altLang="en-MX" sz="2800" b="0">
                <a:latin typeface="Arial" panose="020B0604020202020204" pitchFamily="34" charset="0"/>
              </a:rPr>
              <a:t>0.6</a:t>
            </a:r>
          </a:p>
        </p:txBody>
      </p:sp>
      <p:sp>
        <p:nvSpPr>
          <p:cNvPr id="21575" name="Rectangle 107">
            <a:extLst>
              <a:ext uri="{FF2B5EF4-FFF2-40B4-BE49-F238E27FC236}">
                <a16:creationId xmlns:a16="http://schemas.microsoft.com/office/drawing/2014/main" id="{25B5B9F7-F013-6B4E-8BA7-252AC605F878}"/>
              </a:ext>
            </a:extLst>
          </p:cNvPr>
          <p:cNvSpPr>
            <a:spLocks noChangeArrowheads="1"/>
          </p:cNvSpPr>
          <p:nvPr/>
        </p:nvSpPr>
        <p:spPr bwMode="auto">
          <a:xfrm>
            <a:off x="4749801" y="2727326"/>
            <a:ext cx="122872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algn="ctr">
              <a:spcBef>
                <a:spcPct val="20000"/>
              </a:spcBef>
              <a:buClr>
                <a:srgbClr val="990033"/>
              </a:buClr>
            </a:pPr>
            <a:r>
              <a:rPr lang="en-US" altLang="en-MX" sz="2800" b="0">
                <a:latin typeface="Arial" panose="020B0604020202020204" pitchFamily="34" charset="0"/>
              </a:rPr>
              <a:t>50</a:t>
            </a:r>
          </a:p>
        </p:txBody>
      </p:sp>
      <p:sp>
        <p:nvSpPr>
          <p:cNvPr id="21576" name="Rectangle 108">
            <a:extLst>
              <a:ext uri="{FF2B5EF4-FFF2-40B4-BE49-F238E27FC236}">
                <a16:creationId xmlns:a16="http://schemas.microsoft.com/office/drawing/2014/main" id="{39FD9C28-09DF-EC4D-BB31-9A53B3F82B6C}"/>
              </a:ext>
            </a:extLst>
          </p:cNvPr>
          <p:cNvSpPr>
            <a:spLocks noChangeArrowheads="1"/>
          </p:cNvSpPr>
          <p:nvPr/>
        </p:nvSpPr>
        <p:spPr bwMode="auto">
          <a:xfrm>
            <a:off x="3733800" y="2727326"/>
            <a:ext cx="10160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algn="ctr">
              <a:spcBef>
                <a:spcPct val="20000"/>
              </a:spcBef>
              <a:buClr>
                <a:srgbClr val="990033"/>
              </a:buClr>
            </a:pPr>
            <a:r>
              <a:rPr lang="en-US" altLang="en-MX" sz="2800" b="0">
                <a:latin typeface="Arial" panose="020B0604020202020204" pitchFamily="34" charset="0"/>
              </a:rPr>
              <a:t>30</a:t>
            </a:r>
          </a:p>
        </p:txBody>
      </p:sp>
      <p:sp>
        <p:nvSpPr>
          <p:cNvPr id="21577" name="Rectangle 109">
            <a:extLst>
              <a:ext uri="{FF2B5EF4-FFF2-40B4-BE49-F238E27FC236}">
                <a16:creationId xmlns:a16="http://schemas.microsoft.com/office/drawing/2014/main" id="{E148DE74-C0B2-AF44-A70C-38F9BAA9B01E}"/>
              </a:ext>
            </a:extLst>
          </p:cNvPr>
          <p:cNvSpPr>
            <a:spLocks noChangeArrowheads="1"/>
          </p:cNvSpPr>
          <p:nvPr/>
        </p:nvSpPr>
        <p:spPr bwMode="auto">
          <a:xfrm>
            <a:off x="2133600" y="2727326"/>
            <a:ext cx="16002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a:spcBef>
                <a:spcPct val="20000"/>
              </a:spcBef>
              <a:buClr>
                <a:srgbClr val="990033"/>
              </a:buClr>
            </a:pPr>
            <a:r>
              <a:rPr lang="en-US" altLang="en-MX" sz="2800" b="0">
                <a:latin typeface="Arial" panose="020B0604020202020204" pitchFamily="34" charset="0"/>
              </a:rPr>
              <a:t>E</a:t>
            </a:r>
          </a:p>
        </p:txBody>
      </p:sp>
      <p:sp>
        <p:nvSpPr>
          <p:cNvPr id="21578" name="Rectangle 110">
            <a:extLst>
              <a:ext uri="{FF2B5EF4-FFF2-40B4-BE49-F238E27FC236}">
                <a16:creationId xmlns:a16="http://schemas.microsoft.com/office/drawing/2014/main" id="{5D3016CB-8D25-D04B-A2AB-BD4F44172784}"/>
              </a:ext>
            </a:extLst>
          </p:cNvPr>
          <p:cNvSpPr>
            <a:spLocks noChangeArrowheads="1"/>
          </p:cNvSpPr>
          <p:nvPr/>
        </p:nvSpPr>
        <p:spPr bwMode="auto">
          <a:xfrm>
            <a:off x="7366001" y="2209801"/>
            <a:ext cx="147161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algn="ctr">
              <a:spcBef>
                <a:spcPct val="20000"/>
              </a:spcBef>
              <a:buClr>
                <a:srgbClr val="990033"/>
              </a:buClr>
            </a:pPr>
            <a:r>
              <a:rPr lang="en-US" altLang="en-MX" sz="2800" b="0">
                <a:latin typeface="Arial" panose="020B0604020202020204" pitchFamily="34" charset="0"/>
              </a:rPr>
              <a:t>20</a:t>
            </a:r>
          </a:p>
        </p:txBody>
      </p:sp>
      <p:sp>
        <p:nvSpPr>
          <p:cNvPr id="21579" name="Rectangle 111">
            <a:extLst>
              <a:ext uri="{FF2B5EF4-FFF2-40B4-BE49-F238E27FC236}">
                <a16:creationId xmlns:a16="http://schemas.microsoft.com/office/drawing/2014/main" id="{4C791841-8CDE-984B-84E4-F3AFCFCEB90F}"/>
              </a:ext>
            </a:extLst>
          </p:cNvPr>
          <p:cNvSpPr>
            <a:spLocks noChangeArrowheads="1"/>
          </p:cNvSpPr>
          <p:nvPr/>
        </p:nvSpPr>
        <p:spPr bwMode="auto">
          <a:xfrm>
            <a:off x="5978526" y="2209801"/>
            <a:ext cx="13874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algn="ctr">
              <a:spcBef>
                <a:spcPct val="20000"/>
              </a:spcBef>
              <a:buClr>
                <a:srgbClr val="990033"/>
              </a:buClr>
            </a:pPr>
            <a:r>
              <a:rPr lang="en-US" altLang="en-MX" sz="2800" b="0">
                <a:latin typeface="Arial" panose="020B0604020202020204" pitchFamily="34" charset="0"/>
              </a:rPr>
              <a:t>0.5</a:t>
            </a:r>
          </a:p>
        </p:txBody>
      </p:sp>
      <p:sp>
        <p:nvSpPr>
          <p:cNvPr id="21580" name="Rectangle 112">
            <a:extLst>
              <a:ext uri="{FF2B5EF4-FFF2-40B4-BE49-F238E27FC236}">
                <a16:creationId xmlns:a16="http://schemas.microsoft.com/office/drawing/2014/main" id="{03D03166-4FF4-6449-A442-4F26EE0866FE}"/>
              </a:ext>
            </a:extLst>
          </p:cNvPr>
          <p:cNvSpPr>
            <a:spLocks noChangeArrowheads="1"/>
          </p:cNvSpPr>
          <p:nvPr/>
        </p:nvSpPr>
        <p:spPr bwMode="auto">
          <a:xfrm>
            <a:off x="4749801" y="2209801"/>
            <a:ext cx="122872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algn="ctr">
              <a:spcBef>
                <a:spcPct val="20000"/>
              </a:spcBef>
              <a:buClr>
                <a:srgbClr val="990033"/>
              </a:buClr>
            </a:pPr>
            <a:r>
              <a:rPr lang="en-US" altLang="en-MX" sz="2800" b="0">
                <a:latin typeface="Arial" panose="020B0604020202020204" pitchFamily="34" charset="0"/>
              </a:rPr>
              <a:t>40</a:t>
            </a:r>
          </a:p>
        </p:txBody>
      </p:sp>
      <p:sp>
        <p:nvSpPr>
          <p:cNvPr id="21581" name="Rectangle 113">
            <a:extLst>
              <a:ext uri="{FF2B5EF4-FFF2-40B4-BE49-F238E27FC236}">
                <a16:creationId xmlns:a16="http://schemas.microsoft.com/office/drawing/2014/main" id="{6EF9B69F-EE44-2348-BA52-1D0B0D42BDDD}"/>
              </a:ext>
            </a:extLst>
          </p:cNvPr>
          <p:cNvSpPr>
            <a:spLocks noChangeArrowheads="1"/>
          </p:cNvSpPr>
          <p:nvPr/>
        </p:nvSpPr>
        <p:spPr bwMode="auto">
          <a:xfrm>
            <a:off x="3733800" y="2209801"/>
            <a:ext cx="10160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algn="ctr">
              <a:spcBef>
                <a:spcPct val="20000"/>
              </a:spcBef>
              <a:buClr>
                <a:srgbClr val="990033"/>
              </a:buClr>
            </a:pPr>
            <a:r>
              <a:rPr lang="en-US" altLang="en-MX" sz="2800" b="0">
                <a:latin typeface="Arial" panose="020B0604020202020204" pitchFamily="34" charset="0"/>
              </a:rPr>
              <a:t>20</a:t>
            </a:r>
          </a:p>
        </p:txBody>
      </p:sp>
      <p:sp>
        <p:nvSpPr>
          <p:cNvPr id="21582" name="Rectangle 114">
            <a:extLst>
              <a:ext uri="{FF2B5EF4-FFF2-40B4-BE49-F238E27FC236}">
                <a16:creationId xmlns:a16="http://schemas.microsoft.com/office/drawing/2014/main" id="{70407963-BEA4-974F-AEE6-B51FA6C8D9FA}"/>
              </a:ext>
            </a:extLst>
          </p:cNvPr>
          <p:cNvSpPr>
            <a:spLocks noChangeArrowheads="1"/>
          </p:cNvSpPr>
          <p:nvPr/>
        </p:nvSpPr>
        <p:spPr bwMode="auto">
          <a:xfrm>
            <a:off x="2133600" y="2209801"/>
            <a:ext cx="16002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a:spcBef>
                <a:spcPct val="20000"/>
              </a:spcBef>
              <a:buClr>
                <a:srgbClr val="990033"/>
              </a:buClr>
            </a:pPr>
            <a:r>
              <a:rPr lang="en-US" altLang="en-MX" sz="2800" b="0">
                <a:latin typeface="Arial" panose="020B0604020202020204" pitchFamily="34" charset="0"/>
              </a:rPr>
              <a:t>D</a:t>
            </a:r>
          </a:p>
        </p:txBody>
      </p:sp>
      <p:sp>
        <p:nvSpPr>
          <p:cNvPr id="21583" name="Rectangle 115">
            <a:extLst>
              <a:ext uri="{FF2B5EF4-FFF2-40B4-BE49-F238E27FC236}">
                <a16:creationId xmlns:a16="http://schemas.microsoft.com/office/drawing/2014/main" id="{0B773DE3-131E-F642-ACB2-931E06063539}"/>
              </a:ext>
            </a:extLst>
          </p:cNvPr>
          <p:cNvSpPr>
            <a:spLocks noChangeArrowheads="1"/>
          </p:cNvSpPr>
          <p:nvPr/>
        </p:nvSpPr>
        <p:spPr bwMode="auto">
          <a:xfrm>
            <a:off x="7366001" y="1066800"/>
            <a:ext cx="147161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algn="ctr">
              <a:spcBef>
                <a:spcPct val="20000"/>
              </a:spcBef>
              <a:buClr>
                <a:srgbClr val="990033"/>
              </a:buClr>
            </a:pPr>
            <a:r>
              <a:rPr lang="en-US" altLang="en-MX" sz="2800" b="0">
                <a:latin typeface="Arial" panose="020B0604020202020204" pitchFamily="34" charset="0"/>
              </a:rPr>
              <a:t>Cum.</a:t>
            </a:r>
          </a:p>
          <a:p>
            <a:pPr algn="ctr">
              <a:spcBef>
                <a:spcPct val="20000"/>
              </a:spcBef>
              <a:buClr>
                <a:srgbClr val="990033"/>
              </a:buClr>
            </a:pPr>
            <a:r>
              <a:rPr lang="en-US" altLang="en-MX" sz="2800" b="0">
                <a:latin typeface="Arial" panose="020B0604020202020204" pitchFamily="34" charset="0"/>
              </a:rPr>
              <a:t>Cost</a:t>
            </a:r>
          </a:p>
        </p:txBody>
      </p:sp>
      <p:sp>
        <p:nvSpPr>
          <p:cNvPr id="21584" name="Rectangle 116">
            <a:extLst>
              <a:ext uri="{FF2B5EF4-FFF2-40B4-BE49-F238E27FC236}">
                <a16:creationId xmlns:a16="http://schemas.microsoft.com/office/drawing/2014/main" id="{959F62F6-44C6-AC41-AE12-AF9612E92AA3}"/>
              </a:ext>
            </a:extLst>
          </p:cNvPr>
          <p:cNvSpPr>
            <a:spLocks noChangeArrowheads="1"/>
          </p:cNvSpPr>
          <p:nvPr/>
        </p:nvSpPr>
        <p:spPr bwMode="auto">
          <a:xfrm>
            <a:off x="5978526" y="1066800"/>
            <a:ext cx="13874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algn="ctr">
              <a:spcBef>
                <a:spcPct val="20000"/>
              </a:spcBef>
              <a:buClr>
                <a:srgbClr val="990033"/>
              </a:buClr>
            </a:pPr>
            <a:r>
              <a:rPr lang="en-US" altLang="en-MX" sz="2800" b="0">
                <a:latin typeface="Arial" panose="020B0604020202020204" pitchFamily="34" charset="0"/>
              </a:rPr>
              <a:t>Cost/</a:t>
            </a:r>
          </a:p>
          <a:p>
            <a:pPr algn="ctr">
              <a:spcBef>
                <a:spcPct val="20000"/>
              </a:spcBef>
              <a:buClr>
                <a:srgbClr val="990033"/>
              </a:buClr>
            </a:pPr>
            <a:r>
              <a:rPr lang="en-US" altLang="en-MX" sz="2800" b="0">
                <a:latin typeface="Arial" panose="020B0604020202020204" pitchFamily="34" charset="0"/>
              </a:rPr>
              <a:t>Effect</a:t>
            </a:r>
          </a:p>
        </p:txBody>
      </p:sp>
      <p:sp>
        <p:nvSpPr>
          <p:cNvPr id="21585" name="Rectangle 117">
            <a:extLst>
              <a:ext uri="{FF2B5EF4-FFF2-40B4-BE49-F238E27FC236}">
                <a16:creationId xmlns:a16="http://schemas.microsoft.com/office/drawing/2014/main" id="{F1A9CE01-4192-4848-8F19-303464F3600D}"/>
              </a:ext>
            </a:extLst>
          </p:cNvPr>
          <p:cNvSpPr>
            <a:spLocks noChangeArrowheads="1"/>
          </p:cNvSpPr>
          <p:nvPr/>
        </p:nvSpPr>
        <p:spPr bwMode="auto">
          <a:xfrm>
            <a:off x="4749801" y="1066800"/>
            <a:ext cx="12287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algn="ctr">
              <a:spcBef>
                <a:spcPct val="20000"/>
              </a:spcBef>
              <a:buClr>
                <a:srgbClr val="990033"/>
              </a:buClr>
            </a:pPr>
            <a:r>
              <a:rPr lang="en-US" altLang="en-MX" sz="2800" b="0">
                <a:latin typeface="Arial" panose="020B0604020202020204" pitchFamily="34" charset="0"/>
              </a:rPr>
              <a:t>Effect</a:t>
            </a:r>
          </a:p>
        </p:txBody>
      </p:sp>
      <p:sp>
        <p:nvSpPr>
          <p:cNvPr id="21586" name="Rectangle 118">
            <a:extLst>
              <a:ext uri="{FF2B5EF4-FFF2-40B4-BE49-F238E27FC236}">
                <a16:creationId xmlns:a16="http://schemas.microsoft.com/office/drawing/2014/main" id="{C2E59C13-736A-CA4A-911F-05620FF0138D}"/>
              </a:ext>
            </a:extLst>
          </p:cNvPr>
          <p:cNvSpPr>
            <a:spLocks noChangeArrowheads="1"/>
          </p:cNvSpPr>
          <p:nvPr/>
        </p:nvSpPr>
        <p:spPr bwMode="auto">
          <a:xfrm>
            <a:off x="3733800" y="1066800"/>
            <a:ext cx="1016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algn="ctr">
              <a:spcBef>
                <a:spcPct val="20000"/>
              </a:spcBef>
              <a:buClr>
                <a:srgbClr val="990033"/>
              </a:buClr>
            </a:pPr>
            <a:r>
              <a:rPr lang="en-US" altLang="en-MX" sz="2800" b="0">
                <a:latin typeface="Arial" panose="020B0604020202020204" pitchFamily="34" charset="0"/>
              </a:rPr>
              <a:t>Cost ($)</a:t>
            </a:r>
          </a:p>
        </p:txBody>
      </p:sp>
      <p:sp>
        <p:nvSpPr>
          <p:cNvPr id="21587" name="Rectangle 119">
            <a:extLst>
              <a:ext uri="{FF2B5EF4-FFF2-40B4-BE49-F238E27FC236}">
                <a16:creationId xmlns:a16="http://schemas.microsoft.com/office/drawing/2014/main" id="{E6A4CE61-39BF-C74C-9E9E-FF2F5569899A}"/>
              </a:ext>
            </a:extLst>
          </p:cNvPr>
          <p:cNvSpPr>
            <a:spLocks noChangeArrowheads="1"/>
          </p:cNvSpPr>
          <p:nvPr/>
        </p:nvSpPr>
        <p:spPr bwMode="auto">
          <a:xfrm>
            <a:off x="2133600" y="1066800"/>
            <a:ext cx="1600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a:spcBef>
                <a:spcPct val="20000"/>
              </a:spcBef>
              <a:buClr>
                <a:srgbClr val="990033"/>
              </a:buClr>
            </a:pPr>
            <a:r>
              <a:rPr lang="en-US" altLang="en-MX" sz="2800" b="0">
                <a:latin typeface="Arial" panose="020B0604020202020204" pitchFamily="34" charset="0"/>
              </a:rPr>
              <a:t>Program</a:t>
            </a:r>
          </a:p>
        </p:txBody>
      </p:sp>
      <p:sp>
        <p:nvSpPr>
          <p:cNvPr id="21588" name="Line 120">
            <a:extLst>
              <a:ext uri="{FF2B5EF4-FFF2-40B4-BE49-F238E27FC236}">
                <a16:creationId xmlns:a16="http://schemas.microsoft.com/office/drawing/2014/main" id="{95FEB21C-2C80-7448-9450-79E01BE7442E}"/>
              </a:ext>
            </a:extLst>
          </p:cNvPr>
          <p:cNvSpPr>
            <a:spLocks noChangeShapeType="1"/>
          </p:cNvSpPr>
          <p:nvPr/>
        </p:nvSpPr>
        <p:spPr bwMode="auto">
          <a:xfrm>
            <a:off x="2133600" y="1066800"/>
            <a:ext cx="160020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cap="sq">
                <a:solidFill>
                  <a:srgbClr val="000000"/>
                </a:solidFill>
                <a:round/>
                <a:headEnd type="none" w="sm" len="sm"/>
                <a:tailEnd type="none" w="sm" len="sm"/>
              </a14:hiddenLine>
            </a:ext>
          </a:extLst>
        </p:spPr>
        <p:txBody>
          <a:bodyPr/>
          <a:lstStyle/>
          <a:p>
            <a:endParaRPr lang="en-MX"/>
          </a:p>
        </p:txBody>
      </p:sp>
      <p:sp>
        <p:nvSpPr>
          <p:cNvPr id="21589" name="Line 121">
            <a:extLst>
              <a:ext uri="{FF2B5EF4-FFF2-40B4-BE49-F238E27FC236}">
                <a16:creationId xmlns:a16="http://schemas.microsoft.com/office/drawing/2014/main" id="{5BBA52AF-1A31-0647-A544-12FE5D3541D1}"/>
              </a:ext>
            </a:extLst>
          </p:cNvPr>
          <p:cNvSpPr>
            <a:spLocks noChangeShapeType="1"/>
          </p:cNvSpPr>
          <p:nvPr/>
        </p:nvSpPr>
        <p:spPr bwMode="auto">
          <a:xfrm>
            <a:off x="2133600" y="5334000"/>
            <a:ext cx="160020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cap="sq">
                <a:solidFill>
                  <a:srgbClr val="000000"/>
                </a:solidFill>
                <a:round/>
                <a:headEnd type="none" w="sm" len="sm"/>
                <a:tailEnd type="none" w="sm" len="sm"/>
              </a14:hiddenLine>
            </a:ext>
          </a:extLst>
        </p:spPr>
        <p:txBody>
          <a:bodyPr/>
          <a:lstStyle/>
          <a:p>
            <a:endParaRPr lang="en-MX"/>
          </a:p>
        </p:txBody>
      </p:sp>
      <p:sp>
        <p:nvSpPr>
          <p:cNvPr id="21590" name="Line 122">
            <a:extLst>
              <a:ext uri="{FF2B5EF4-FFF2-40B4-BE49-F238E27FC236}">
                <a16:creationId xmlns:a16="http://schemas.microsoft.com/office/drawing/2014/main" id="{EDDC236D-21A6-0048-959C-40390630D341}"/>
              </a:ext>
            </a:extLst>
          </p:cNvPr>
          <p:cNvSpPr>
            <a:spLocks noChangeShapeType="1"/>
          </p:cNvSpPr>
          <p:nvPr/>
        </p:nvSpPr>
        <p:spPr bwMode="auto">
          <a:xfrm>
            <a:off x="2133600" y="1066800"/>
            <a:ext cx="0" cy="11430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cap="sq">
                <a:solidFill>
                  <a:srgbClr val="000000"/>
                </a:solidFill>
                <a:round/>
                <a:headEnd type="none" w="sm" len="sm"/>
                <a:tailEnd type="none" w="sm" len="sm"/>
              </a14:hiddenLine>
            </a:ext>
          </a:extLst>
        </p:spPr>
        <p:txBody>
          <a:bodyPr/>
          <a:lstStyle/>
          <a:p>
            <a:endParaRPr lang="en-MX"/>
          </a:p>
        </p:txBody>
      </p:sp>
      <p:sp>
        <p:nvSpPr>
          <p:cNvPr id="21591" name="Line 123">
            <a:extLst>
              <a:ext uri="{FF2B5EF4-FFF2-40B4-BE49-F238E27FC236}">
                <a16:creationId xmlns:a16="http://schemas.microsoft.com/office/drawing/2014/main" id="{3B962FAC-E803-8041-B244-4A253CDAA629}"/>
              </a:ext>
            </a:extLst>
          </p:cNvPr>
          <p:cNvSpPr>
            <a:spLocks noChangeShapeType="1"/>
          </p:cNvSpPr>
          <p:nvPr/>
        </p:nvSpPr>
        <p:spPr bwMode="auto">
          <a:xfrm>
            <a:off x="9982200" y="1066800"/>
            <a:ext cx="0" cy="11430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cap="sq">
                <a:solidFill>
                  <a:srgbClr val="000000"/>
                </a:solidFill>
                <a:round/>
                <a:headEnd type="none" w="sm" len="sm"/>
                <a:tailEnd type="none" w="sm" len="sm"/>
              </a14:hiddenLine>
            </a:ext>
          </a:extLst>
        </p:spPr>
        <p:txBody>
          <a:bodyPr/>
          <a:lstStyle/>
          <a:p>
            <a:endParaRPr lang="en-MX"/>
          </a:p>
        </p:txBody>
      </p:sp>
      <p:sp>
        <p:nvSpPr>
          <p:cNvPr id="21592" name="Line 124">
            <a:extLst>
              <a:ext uri="{FF2B5EF4-FFF2-40B4-BE49-F238E27FC236}">
                <a16:creationId xmlns:a16="http://schemas.microsoft.com/office/drawing/2014/main" id="{F8C81786-8649-FD4F-94C1-91E415BDD5F8}"/>
              </a:ext>
            </a:extLst>
          </p:cNvPr>
          <p:cNvSpPr>
            <a:spLocks noChangeShapeType="1"/>
          </p:cNvSpPr>
          <p:nvPr/>
        </p:nvSpPr>
        <p:spPr bwMode="auto">
          <a:xfrm>
            <a:off x="3733800" y="1066800"/>
            <a:ext cx="101600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cap="sq">
                <a:solidFill>
                  <a:srgbClr val="000000"/>
                </a:solidFill>
                <a:round/>
                <a:headEnd type="none" w="sm" len="sm"/>
                <a:tailEnd type="none" w="sm" len="sm"/>
              </a14:hiddenLine>
            </a:ext>
          </a:extLst>
        </p:spPr>
        <p:txBody>
          <a:bodyPr/>
          <a:lstStyle/>
          <a:p>
            <a:endParaRPr lang="en-MX"/>
          </a:p>
        </p:txBody>
      </p:sp>
      <p:sp>
        <p:nvSpPr>
          <p:cNvPr id="21593" name="Line 125">
            <a:extLst>
              <a:ext uri="{FF2B5EF4-FFF2-40B4-BE49-F238E27FC236}">
                <a16:creationId xmlns:a16="http://schemas.microsoft.com/office/drawing/2014/main" id="{7D1C5A77-8C0E-8140-8F6C-6D61CEF3B643}"/>
              </a:ext>
            </a:extLst>
          </p:cNvPr>
          <p:cNvSpPr>
            <a:spLocks noChangeShapeType="1"/>
          </p:cNvSpPr>
          <p:nvPr/>
        </p:nvSpPr>
        <p:spPr bwMode="auto">
          <a:xfrm>
            <a:off x="2133600" y="2209801"/>
            <a:ext cx="0" cy="517525"/>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cap="sq">
                <a:solidFill>
                  <a:srgbClr val="000000"/>
                </a:solidFill>
                <a:round/>
                <a:headEnd type="none" w="sm" len="sm"/>
                <a:tailEnd type="none" w="sm" len="sm"/>
              </a14:hiddenLine>
            </a:ext>
          </a:extLst>
        </p:spPr>
        <p:txBody>
          <a:bodyPr/>
          <a:lstStyle/>
          <a:p>
            <a:endParaRPr lang="en-MX"/>
          </a:p>
        </p:txBody>
      </p:sp>
      <p:sp>
        <p:nvSpPr>
          <p:cNvPr id="21594" name="Line 126">
            <a:extLst>
              <a:ext uri="{FF2B5EF4-FFF2-40B4-BE49-F238E27FC236}">
                <a16:creationId xmlns:a16="http://schemas.microsoft.com/office/drawing/2014/main" id="{637EFDEA-0833-2942-B6E9-6C7A9192B664}"/>
              </a:ext>
            </a:extLst>
          </p:cNvPr>
          <p:cNvSpPr>
            <a:spLocks noChangeShapeType="1"/>
          </p:cNvSpPr>
          <p:nvPr/>
        </p:nvSpPr>
        <p:spPr bwMode="auto">
          <a:xfrm>
            <a:off x="4749801" y="1066800"/>
            <a:ext cx="12287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cap="sq">
                <a:solidFill>
                  <a:srgbClr val="000000"/>
                </a:solidFill>
                <a:round/>
                <a:headEnd type="none" w="sm" len="sm"/>
                <a:tailEnd type="none" w="sm" len="sm"/>
              </a14:hiddenLine>
            </a:ext>
          </a:extLst>
        </p:spPr>
        <p:txBody>
          <a:bodyPr/>
          <a:lstStyle/>
          <a:p>
            <a:endParaRPr lang="en-MX"/>
          </a:p>
        </p:txBody>
      </p:sp>
      <p:sp>
        <p:nvSpPr>
          <p:cNvPr id="21595" name="Line 127">
            <a:extLst>
              <a:ext uri="{FF2B5EF4-FFF2-40B4-BE49-F238E27FC236}">
                <a16:creationId xmlns:a16="http://schemas.microsoft.com/office/drawing/2014/main" id="{B4AB8E9D-0FE5-EE41-8472-E18B55250F2B}"/>
              </a:ext>
            </a:extLst>
          </p:cNvPr>
          <p:cNvSpPr>
            <a:spLocks noChangeShapeType="1"/>
          </p:cNvSpPr>
          <p:nvPr/>
        </p:nvSpPr>
        <p:spPr bwMode="auto">
          <a:xfrm>
            <a:off x="5978526" y="1066800"/>
            <a:ext cx="138747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cap="sq">
                <a:solidFill>
                  <a:srgbClr val="000000"/>
                </a:solidFill>
                <a:round/>
                <a:headEnd type="none" w="sm" len="sm"/>
                <a:tailEnd type="none" w="sm" len="sm"/>
              </a14:hiddenLine>
            </a:ext>
          </a:extLst>
        </p:spPr>
        <p:txBody>
          <a:bodyPr/>
          <a:lstStyle/>
          <a:p>
            <a:endParaRPr lang="en-MX"/>
          </a:p>
        </p:txBody>
      </p:sp>
      <p:sp>
        <p:nvSpPr>
          <p:cNvPr id="21596" name="Line 128">
            <a:extLst>
              <a:ext uri="{FF2B5EF4-FFF2-40B4-BE49-F238E27FC236}">
                <a16:creationId xmlns:a16="http://schemas.microsoft.com/office/drawing/2014/main" id="{B1C50542-D897-C140-875F-2F770BE56DB0}"/>
              </a:ext>
            </a:extLst>
          </p:cNvPr>
          <p:cNvSpPr>
            <a:spLocks noChangeShapeType="1"/>
          </p:cNvSpPr>
          <p:nvPr/>
        </p:nvSpPr>
        <p:spPr bwMode="auto">
          <a:xfrm>
            <a:off x="7366001" y="1066800"/>
            <a:ext cx="1471613"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cap="sq">
                <a:solidFill>
                  <a:srgbClr val="000000"/>
                </a:solidFill>
                <a:round/>
                <a:headEnd type="none" w="sm" len="sm"/>
                <a:tailEnd type="none" w="sm" len="sm"/>
              </a14:hiddenLine>
            </a:ext>
          </a:extLst>
        </p:spPr>
        <p:txBody>
          <a:bodyPr/>
          <a:lstStyle/>
          <a:p>
            <a:endParaRPr lang="en-MX"/>
          </a:p>
        </p:txBody>
      </p:sp>
      <p:sp>
        <p:nvSpPr>
          <p:cNvPr id="21597" name="Line 129">
            <a:extLst>
              <a:ext uri="{FF2B5EF4-FFF2-40B4-BE49-F238E27FC236}">
                <a16:creationId xmlns:a16="http://schemas.microsoft.com/office/drawing/2014/main" id="{4575FCB9-C962-644E-8998-5BB6701C84A7}"/>
              </a:ext>
            </a:extLst>
          </p:cNvPr>
          <p:cNvSpPr>
            <a:spLocks noChangeShapeType="1"/>
          </p:cNvSpPr>
          <p:nvPr/>
        </p:nvSpPr>
        <p:spPr bwMode="auto">
          <a:xfrm>
            <a:off x="8837614" y="1066800"/>
            <a:ext cx="1144587"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cap="sq">
                <a:solidFill>
                  <a:srgbClr val="000000"/>
                </a:solidFill>
                <a:round/>
                <a:headEnd type="none" w="sm" len="sm"/>
                <a:tailEnd type="none" w="sm" len="sm"/>
              </a14:hiddenLine>
            </a:ext>
          </a:extLst>
        </p:spPr>
        <p:txBody>
          <a:bodyPr/>
          <a:lstStyle/>
          <a:p>
            <a:endParaRPr lang="en-MX"/>
          </a:p>
        </p:txBody>
      </p:sp>
      <p:sp>
        <p:nvSpPr>
          <p:cNvPr id="21598" name="Line 130">
            <a:extLst>
              <a:ext uri="{FF2B5EF4-FFF2-40B4-BE49-F238E27FC236}">
                <a16:creationId xmlns:a16="http://schemas.microsoft.com/office/drawing/2014/main" id="{54B496B0-5C06-204D-95B9-D99FF504790F}"/>
              </a:ext>
            </a:extLst>
          </p:cNvPr>
          <p:cNvSpPr>
            <a:spLocks noChangeShapeType="1"/>
          </p:cNvSpPr>
          <p:nvPr/>
        </p:nvSpPr>
        <p:spPr bwMode="auto">
          <a:xfrm>
            <a:off x="9982200" y="2209801"/>
            <a:ext cx="0" cy="517525"/>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cap="sq">
                <a:solidFill>
                  <a:srgbClr val="000000"/>
                </a:solidFill>
                <a:round/>
                <a:headEnd type="none" w="sm" len="sm"/>
                <a:tailEnd type="none" w="sm" len="sm"/>
              </a14:hiddenLine>
            </a:ext>
          </a:extLst>
        </p:spPr>
        <p:txBody>
          <a:bodyPr/>
          <a:lstStyle/>
          <a:p>
            <a:endParaRPr lang="en-MX"/>
          </a:p>
        </p:txBody>
      </p:sp>
      <p:sp>
        <p:nvSpPr>
          <p:cNvPr id="21599" name="Line 131">
            <a:extLst>
              <a:ext uri="{FF2B5EF4-FFF2-40B4-BE49-F238E27FC236}">
                <a16:creationId xmlns:a16="http://schemas.microsoft.com/office/drawing/2014/main" id="{9D75F4D2-E7C8-A54D-8C2A-F07FB8695230}"/>
              </a:ext>
            </a:extLst>
          </p:cNvPr>
          <p:cNvSpPr>
            <a:spLocks noChangeShapeType="1"/>
          </p:cNvSpPr>
          <p:nvPr/>
        </p:nvSpPr>
        <p:spPr bwMode="auto">
          <a:xfrm>
            <a:off x="2133600" y="2727326"/>
            <a:ext cx="0" cy="517525"/>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cap="sq">
                <a:solidFill>
                  <a:srgbClr val="000000"/>
                </a:solidFill>
                <a:round/>
                <a:headEnd type="none" w="sm" len="sm"/>
                <a:tailEnd type="none" w="sm" len="sm"/>
              </a14:hiddenLine>
            </a:ext>
          </a:extLst>
        </p:spPr>
        <p:txBody>
          <a:bodyPr/>
          <a:lstStyle/>
          <a:p>
            <a:endParaRPr lang="en-MX"/>
          </a:p>
        </p:txBody>
      </p:sp>
      <p:sp>
        <p:nvSpPr>
          <p:cNvPr id="21600" name="Line 132">
            <a:extLst>
              <a:ext uri="{FF2B5EF4-FFF2-40B4-BE49-F238E27FC236}">
                <a16:creationId xmlns:a16="http://schemas.microsoft.com/office/drawing/2014/main" id="{4E13473D-18D7-8542-9CD4-D6FA158C6AA0}"/>
              </a:ext>
            </a:extLst>
          </p:cNvPr>
          <p:cNvSpPr>
            <a:spLocks noChangeShapeType="1"/>
          </p:cNvSpPr>
          <p:nvPr/>
        </p:nvSpPr>
        <p:spPr bwMode="auto">
          <a:xfrm>
            <a:off x="9982200" y="2727326"/>
            <a:ext cx="0" cy="517525"/>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cap="sq">
                <a:solidFill>
                  <a:srgbClr val="000000"/>
                </a:solidFill>
                <a:round/>
                <a:headEnd type="none" w="sm" len="sm"/>
                <a:tailEnd type="none" w="sm" len="sm"/>
              </a14:hiddenLine>
            </a:ext>
          </a:extLst>
        </p:spPr>
        <p:txBody>
          <a:bodyPr/>
          <a:lstStyle/>
          <a:p>
            <a:endParaRPr lang="en-MX"/>
          </a:p>
        </p:txBody>
      </p:sp>
      <p:sp>
        <p:nvSpPr>
          <p:cNvPr id="21601" name="Line 133">
            <a:extLst>
              <a:ext uri="{FF2B5EF4-FFF2-40B4-BE49-F238E27FC236}">
                <a16:creationId xmlns:a16="http://schemas.microsoft.com/office/drawing/2014/main" id="{CB52A4FA-76D5-B84C-860A-69FC566BB890}"/>
              </a:ext>
            </a:extLst>
          </p:cNvPr>
          <p:cNvSpPr>
            <a:spLocks noChangeShapeType="1"/>
          </p:cNvSpPr>
          <p:nvPr/>
        </p:nvSpPr>
        <p:spPr bwMode="auto">
          <a:xfrm>
            <a:off x="2133600" y="3244851"/>
            <a:ext cx="0" cy="517525"/>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cap="sq">
                <a:solidFill>
                  <a:srgbClr val="000000"/>
                </a:solidFill>
                <a:round/>
                <a:headEnd type="none" w="sm" len="sm"/>
                <a:tailEnd type="none" w="sm" len="sm"/>
              </a14:hiddenLine>
            </a:ext>
          </a:extLst>
        </p:spPr>
        <p:txBody>
          <a:bodyPr/>
          <a:lstStyle/>
          <a:p>
            <a:endParaRPr lang="en-MX"/>
          </a:p>
        </p:txBody>
      </p:sp>
      <p:sp>
        <p:nvSpPr>
          <p:cNvPr id="21602" name="Line 134">
            <a:extLst>
              <a:ext uri="{FF2B5EF4-FFF2-40B4-BE49-F238E27FC236}">
                <a16:creationId xmlns:a16="http://schemas.microsoft.com/office/drawing/2014/main" id="{AB7DCA75-7432-BF47-A2DB-D9B0553A5DAF}"/>
              </a:ext>
            </a:extLst>
          </p:cNvPr>
          <p:cNvSpPr>
            <a:spLocks noChangeShapeType="1"/>
          </p:cNvSpPr>
          <p:nvPr/>
        </p:nvSpPr>
        <p:spPr bwMode="auto">
          <a:xfrm>
            <a:off x="9982200" y="3244851"/>
            <a:ext cx="0" cy="517525"/>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cap="sq">
                <a:solidFill>
                  <a:srgbClr val="000000"/>
                </a:solidFill>
                <a:round/>
                <a:headEnd type="none" w="sm" len="sm"/>
                <a:tailEnd type="none" w="sm" len="sm"/>
              </a14:hiddenLine>
            </a:ext>
          </a:extLst>
        </p:spPr>
        <p:txBody>
          <a:bodyPr/>
          <a:lstStyle/>
          <a:p>
            <a:endParaRPr lang="en-MX"/>
          </a:p>
        </p:txBody>
      </p:sp>
      <p:sp>
        <p:nvSpPr>
          <p:cNvPr id="21603" name="Line 135">
            <a:extLst>
              <a:ext uri="{FF2B5EF4-FFF2-40B4-BE49-F238E27FC236}">
                <a16:creationId xmlns:a16="http://schemas.microsoft.com/office/drawing/2014/main" id="{62A36E25-11C3-6642-B1BA-8F369E272345}"/>
              </a:ext>
            </a:extLst>
          </p:cNvPr>
          <p:cNvSpPr>
            <a:spLocks noChangeShapeType="1"/>
          </p:cNvSpPr>
          <p:nvPr/>
        </p:nvSpPr>
        <p:spPr bwMode="auto">
          <a:xfrm>
            <a:off x="2133600" y="3762376"/>
            <a:ext cx="0" cy="517525"/>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cap="sq">
                <a:solidFill>
                  <a:srgbClr val="000000"/>
                </a:solidFill>
                <a:round/>
                <a:headEnd type="none" w="sm" len="sm"/>
                <a:tailEnd type="none" w="sm" len="sm"/>
              </a14:hiddenLine>
            </a:ext>
          </a:extLst>
        </p:spPr>
        <p:txBody>
          <a:bodyPr/>
          <a:lstStyle/>
          <a:p>
            <a:endParaRPr lang="en-MX"/>
          </a:p>
        </p:txBody>
      </p:sp>
      <p:sp>
        <p:nvSpPr>
          <p:cNvPr id="21604" name="Line 136">
            <a:extLst>
              <a:ext uri="{FF2B5EF4-FFF2-40B4-BE49-F238E27FC236}">
                <a16:creationId xmlns:a16="http://schemas.microsoft.com/office/drawing/2014/main" id="{13E74892-1777-F946-842A-071E8BBC245B}"/>
              </a:ext>
            </a:extLst>
          </p:cNvPr>
          <p:cNvSpPr>
            <a:spLocks noChangeShapeType="1"/>
          </p:cNvSpPr>
          <p:nvPr/>
        </p:nvSpPr>
        <p:spPr bwMode="auto">
          <a:xfrm>
            <a:off x="9982200" y="3762376"/>
            <a:ext cx="0" cy="517525"/>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cap="sq">
                <a:solidFill>
                  <a:srgbClr val="000000"/>
                </a:solidFill>
                <a:round/>
                <a:headEnd type="none" w="sm" len="sm"/>
                <a:tailEnd type="none" w="sm" len="sm"/>
              </a14:hiddenLine>
            </a:ext>
          </a:extLst>
        </p:spPr>
        <p:txBody>
          <a:bodyPr/>
          <a:lstStyle/>
          <a:p>
            <a:endParaRPr lang="en-MX"/>
          </a:p>
        </p:txBody>
      </p:sp>
      <p:sp>
        <p:nvSpPr>
          <p:cNvPr id="21605" name="Line 137">
            <a:extLst>
              <a:ext uri="{FF2B5EF4-FFF2-40B4-BE49-F238E27FC236}">
                <a16:creationId xmlns:a16="http://schemas.microsoft.com/office/drawing/2014/main" id="{1F43F18F-21D7-E046-9C63-6DAB83C3CF30}"/>
              </a:ext>
            </a:extLst>
          </p:cNvPr>
          <p:cNvSpPr>
            <a:spLocks noChangeShapeType="1"/>
          </p:cNvSpPr>
          <p:nvPr/>
        </p:nvSpPr>
        <p:spPr bwMode="auto">
          <a:xfrm>
            <a:off x="2133600" y="4279901"/>
            <a:ext cx="0" cy="517525"/>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cap="sq">
                <a:solidFill>
                  <a:srgbClr val="000000"/>
                </a:solidFill>
                <a:round/>
                <a:headEnd type="none" w="sm" len="sm"/>
                <a:tailEnd type="none" w="sm" len="sm"/>
              </a14:hiddenLine>
            </a:ext>
          </a:extLst>
        </p:spPr>
        <p:txBody>
          <a:bodyPr/>
          <a:lstStyle/>
          <a:p>
            <a:endParaRPr lang="en-MX"/>
          </a:p>
        </p:txBody>
      </p:sp>
      <p:sp>
        <p:nvSpPr>
          <p:cNvPr id="21606" name="Line 138">
            <a:extLst>
              <a:ext uri="{FF2B5EF4-FFF2-40B4-BE49-F238E27FC236}">
                <a16:creationId xmlns:a16="http://schemas.microsoft.com/office/drawing/2014/main" id="{EE21F2DE-756D-D64B-B855-3803D2FA9F30}"/>
              </a:ext>
            </a:extLst>
          </p:cNvPr>
          <p:cNvSpPr>
            <a:spLocks noChangeShapeType="1"/>
          </p:cNvSpPr>
          <p:nvPr/>
        </p:nvSpPr>
        <p:spPr bwMode="auto">
          <a:xfrm>
            <a:off x="9982200" y="4279901"/>
            <a:ext cx="0" cy="517525"/>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cap="sq">
                <a:solidFill>
                  <a:srgbClr val="000000"/>
                </a:solidFill>
                <a:round/>
                <a:headEnd type="none" w="sm" len="sm"/>
                <a:tailEnd type="none" w="sm" len="sm"/>
              </a14:hiddenLine>
            </a:ext>
          </a:extLst>
        </p:spPr>
        <p:txBody>
          <a:bodyPr/>
          <a:lstStyle/>
          <a:p>
            <a:endParaRPr lang="en-MX"/>
          </a:p>
        </p:txBody>
      </p:sp>
      <p:sp>
        <p:nvSpPr>
          <p:cNvPr id="21607" name="Line 139">
            <a:extLst>
              <a:ext uri="{FF2B5EF4-FFF2-40B4-BE49-F238E27FC236}">
                <a16:creationId xmlns:a16="http://schemas.microsoft.com/office/drawing/2014/main" id="{64B48D43-44ED-F341-80B5-BF41D649D255}"/>
              </a:ext>
            </a:extLst>
          </p:cNvPr>
          <p:cNvSpPr>
            <a:spLocks noChangeShapeType="1"/>
          </p:cNvSpPr>
          <p:nvPr/>
        </p:nvSpPr>
        <p:spPr bwMode="auto">
          <a:xfrm>
            <a:off x="2133600" y="4797426"/>
            <a:ext cx="0" cy="536575"/>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cap="sq">
                <a:solidFill>
                  <a:srgbClr val="000000"/>
                </a:solidFill>
                <a:round/>
                <a:headEnd type="none" w="sm" len="sm"/>
                <a:tailEnd type="none" w="sm" len="sm"/>
              </a14:hiddenLine>
            </a:ext>
          </a:extLst>
        </p:spPr>
        <p:txBody>
          <a:bodyPr/>
          <a:lstStyle/>
          <a:p>
            <a:endParaRPr lang="en-MX"/>
          </a:p>
        </p:txBody>
      </p:sp>
      <p:sp>
        <p:nvSpPr>
          <p:cNvPr id="21608" name="Line 140">
            <a:extLst>
              <a:ext uri="{FF2B5EF4-FFF2-40B4-BE49-F238E27FC236}">
                <a16:creationId xmlns:a16="http://schemas.microsoft.com/office/drawing/2014/main" id="{4531C376-F452-1E4F-92A5-D24DE20DC1C9}"/>
              </a:ext>
            </a:extLst>
          </p:cNvPr>
          <p:cNvSpPr>
            <a:spLocks noChangeShapeType="1"/>
          </p:cNvSpPr>
          <p:nvPr/>
        </p:nvSpPr>
        <p:spPr bwMode="auto">
          <a:xfrm>
            <a:off x="9982200" y="4797426"/>
            <a:ext cx="0" cy="536575"/>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cap="sq">
                <a:solidFill>
                  <a:srgbClr val="000000"/>
                </a:solidFill>
                <a:round/>
                <a:headEnd type="none" w="sm" len="sm"/>
                <a:tailEnd type="none" w="sm" len="sm"/>
              </a14:hiddenLine>
            </a:ext>
          </a:extLst>
        </p:spPr>
        <p:txBody>
          <a:bodyPr/>
          <a:lstStyle/>
          <a:p>
            <a:endParaRPr lang="en-MX"/>
          </a:p>
        </p:txBody>
      </p:sp>
      <p:sp>
        <p:nvSpPr>
          <p:cNvPr id="21609" name="Line 141">
            <a:extLst>
              <a:ext uri="{FF2B5EF4-FFF2-40B4-BE49-F238E27FC236}">
                <a16:creationId xmlns:a16="http://schemas.microsoft.com/office/drawing/2014/main" id="{5DC85FB2-9548-1B44-A37A-07DF8AF5DD9D}"/>
              </a:ext>
            </a:extLst>
          </p:cNvPr>
          <p:cNvSpPr>
            <a:spLocks noChangeShapeType="1"/>
          </p:cNvSpPr>
          <p:nvPr/>
        </p:nvSpPr>
        <p:spPr bwMode="auto">
          <a:xfrm>
            <a:off x="3733800" y="5334000"/>
            <a:ext cx="101600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cap="sq">
                <a:solidFill>
                  <a:srgbClr val="000000"/>
                </a:solidFill>
                <a:round/>
                <a:headEnd type="none" w="sm" len="sm"/>
                <a:tailEnd type="none" w="sm" len="sm"/>
              </a14:hiddenLine>
            </a:ext>
          </a:extLst>
        </p:spPr>
        <p:txBody>
          <a:bodyPr/>
          <a:lstStyle/>
          <a:p>
            <a:endParaRPr lang="en-MX"/>
          </a:p>
        </p:txBody>
      </p:sp>
      <p:sp>
        <p:nvSpPr>
          <p:cNvPr id="21610" name="Line 142">
            <a:extLst>
              <a:ext uri="{FF2B5EF4-FFF2-40B4-BE49-F238E27FC236}">
                <a16:creationId xmlns:a16="http://schemas.microsoft.com/office/drawing/2014/main" id="{0412C4D2-DE17-B04E-A742-B98240D89FE4}"/>
              </a:ext>
            </a:extLst>
          </p:cNvPr>
          <p:cNvSpPr>
            <a:spLocks noChangeShapeType="1"/>
          </p:cNvSpPr>
          <p:nvPr/>
        </p:nvSpPr>
        <p:spPr bwMode="auto">
          <a:xfrm>
            <a:off x="4749801" y="5334000"/>
            <a:ext cx="12287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cap="sq">
                <a:solidFill>
                  <a:srgbClr val="000000"/>
                </a:solidFill>
                <a:round/>
                <a:headEnd type="none" w="sm" len="sm"/>
                <a:tailEnd type="none" w="sm" len="sm"/>
              </a14:hiddenLine>
            </a:ext>
          </a:extLst>
        </p:spPr>
        <p:txBody>
          <a:bodyPr/>
          <a:lstStyle/>
          <a:p>
            <a:endParaRPr lang="en-MX"/>
          </a:p>
        </p:txBody>
      </p:sp>
      <p:sp>
        <p:nvSpPr>
          <p:cNvPr id="21611" name="Line 143">
            <a:extLst>
              <a:ext uri="{FF2B5EF4-FFF2-40B4-BE49-F238E27FC236}">
                <a16:creationId xmlns:a16="http://schemas.microsoft.com/office/drawing/2014/main" id="{C5C98C38-F8FA-3F49-B9CB-F449C7DFCBB0}"/>
              </a:ext>
            </a:extLst>
          </p:cNvPr>
          <p:cNvSpPr>
            <a:spLocks noChangeShapeType="1"/>
          </p:cNvSpPr>
          <p:nvPr/>
        </p:nvSpPr>
        <p:spPr bwMode="auto">
          <a:xfrm>
            <a:off x="5978526" y="5334000"/>
            <a:ext cx="138747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cap="sq">
                <a:solidFill>
                  <a:srgbClr val="000000"/>
                </a:solidFill>
                <a:round/>
                <a:headEnd type="none" w="sm" len="sm"/>
                <a:tailEnd type="none" w="sm" len="sm"/>
              </a14:hiddenLine>
            </a:ext>
          </a:extLst>
        </p:spPr>
        <p:txBody>
          <a:bodyPr/>
          <a:lstStyle/>
          <a:p>
            <a:endParaRPr lang="en-MX"/>
          </a:p>
        </p:txBody>
      </p:sp>
      <p:sp>
        <p:nvSpPr>
          <p:cNvPr id="21612" name="Line 144">
            <a:extLst>
              <a:ext uri="{FF2B5EF4-FFF2-40B4-BE49-F238E27FC236}">
                <a16:creationId xmlns:a16="http://schemas.microsoft.com/office/drawing/2014/main" id="{70E984D8-D833-2744-9CCA-A0996FA948B9}"/>
              </a:ext>
            </a:extLst>
          </p:cNvPr>
          <p:cNvSpPr>
            <a:spLocks noChangeShapeType="1"/>
          </p:cNvSpPr>
          <p:nvPr/>
        </p:nvSpPr>
        <p:spPr bwMode="auto">
          <a:xfrm>
            <a:off x="7366001" y="5334000"/>
            <a:ext cx="1471613"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cap="sq">
                <a:solidFill>
                  <a:srgbClr val="000000"/>
                </a:solidFill>
                <a:round/>
                <a:headEnd type="none" w="sm" len="sm"/>
                <a:tailEnd type="none" w="sm" len="sm"/>
              </a14:hiddenLine>
            </a:ext>
          </a:extLst>
        </p:spPr>
        <p:txBody>
          <a:bodyPr/>
          <a:lstStyle/>
          <a:p>
            <a:endParaRPr lang="en-MX"/>
          </a:p>
        </p:txBody>
      </p:sp>
      <p:sp>
        <p:nvSpPr>
          <p:cNvPr id="21613" name="Line 145">
            <a:extLst>
              <a:ext uri="{FF2B5EF4-FFF2-40B4-BE49-F238E27FC236}">
                <a16:creationId xmlns:a16="http://schemas.microsoft.com/office/drawing/2014/main" id="{CA79B07A-B22D-054B-AAD0-CF60799C7EAC}"/>
              </a:ext>
            </a:extLst>
          </p:cNvPr>
          <p:cNvSpPr>
            <a:spLocks noChangeShapeType="1"/>
          </p:cNvSpPr>
          <p:nvPr/>
        </p:nvSpPr>
        <p:spPr bwMode="auto">
          <a:xfrm>
            <a:off x="8837614" y="5334000"/>
            <a:ext cx="1144587"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cap="sq">
                <a:solidFill>
                  <a:srgbClr val="000000"/>
                </a:solidFill>
                <a:round/>
                <a:headEnd type="none" w="sm" len="sm"/>
                <a:tailEnd type="none" w="sm" len="sm"/>
              </a14:hiddenLine>
            </a:ext>
          </a:extLst>
        </p:spPr>
        <p:txBody>
          <a:bodyPr/>
          <a:lstStyle/>
          <a:p>
            <a:endParaRPr lang="en-MX"/>
          </a:p>
        </p:txBody>
      </p:sp>
      <p:sp>
        <p:nvSpPr>
          <p:cNvPr id="21614" name="Line 146">
            <a:extLst>
              <a:ext uri="{FF2B5EF4-FFF2-40B4-BE49-F238E27FC236}">
                <a16:creationId xmlns:a16="http://schemas.microsoft.com/office/drawing/2014/main" id="{18341D61-0DA8-C94E-9151-BA83D85AF2F6}"/>
              </a:ext>
            </a:extLst>
          </p:cNvPr>
          <p:cNvSpPr>
            <a:spLocks noChangeShapeType="1"/>
          </p:cNvSpPr>
          <p:nvPr/>
        </p:nvSpPr>
        <p:spPr bwMode="auto">
          <a:xfrm>
            <a:off x="2057400" y="1066800"/>
            <a:ext cx="79248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21615" name="Text Box 148">
            <a:extLst>
              <a:ext uri="{FF2B5EF4-FFF2-40B4-BE49-F238E27FC236}">
                <a16:creationId xmlns:a16="http://schemas.microsoft.com/office/drawing/2014/main" id="{E446C94E-3CAB-D341-AB95-DFC51E2AB8DA}"/>
              </a:ext>
            </a:extLst>
          </p:cNvPr>
          <p:cNvSpPr txBox="1">
            <a:spLocks noChangeArrowheads="1"/>
          </p:cNvSpPr>
          <p:nvPr/>
        </p:nvSpPr>
        <p:spPr bwMode="auto">
          <a:xfrm>
            <a:off x="9813925" y="5573714"/>
            <a:ext cx="495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a:solidFill>
                  <a:srgbClr val="990033"/>
                </a:solidFill>
                <a:latin typeface="Arial" panose="020B0604020202020204" pitchFamily="34" charset="0"/>
              </a:rPr>
              <a:t>no</a:t>
            </a:r>
          </a:p>
        </p:txBody>
      </p:sp>
      <p:sp>
        <p:nvSpPr>
          <p:cNvPr id="21616" name="Text Box 149">
            <a:extLst>
              <a:ext uri="{FF2B5EF4-FFF2-40B4-BE49-F238E27FC236}">
                <a16:creationId xmlns:a16="http://schemas.microsoft.com/office/drawing/2014/main" id="{235501B3-7511-A84A-898B-B913B675E5F8}"/>
              </a:ext>
            </a:extLst>
          </p:cNvPr>
          <p:cNvSpPr txBox="1">
            <a:spLocks noChangeArrowheads="1"/>
          </p:cNvSpPr>
          <p:nvPr/>
        </p:nvSpPr>
        <p:spPr bwMode="auto">
          <a:xfrm>
            <a:off x="9829801" y="5867401"/>
            <a:ext cx="608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a:solidFill>
                  <a:srgbClr val="990033"/>
                </a:solidFill>
                <a:latin typeface="Arial" panose="020B0604020202020204" pitchFamily="34" charset="0"/>
              </a:rPr>
              <a:t>yes</a:t>
            </a:r>
          </a:p>
        </p:txBody>
      </p:sp>
      <p:sp>
        <p:nvSpPr>
          <p:cNvPr id="21617" name="Text Box 150">
            <a:extLst>
              <a:ext uri="{FF2B5EF4-FFF2-40B4-BE49-F238E27FC236}">
                <a16:creationId xmlns:a16="http://schemas.microsoft.com/office/drawing/2014/main" id="{72BE08F4-1545-C54E-ADFA-7ED86480242B}"/>
              </a:ext>
            </a:extLst>
          </p:cNvPr>
          <p:cNvSpPr txBox="1">
            <a:spLocks noChangeArrowheads="1"/>
          </p:cNvSpPr>
          <p:nvPr/>
        </p:nvSpPr>
        <p:spPr bwMode="auto">
          <a:xfrm>
            <a:off x="2743201" y="3505200"/>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sz="2400" b="0">
                <a:solidFill>
                  <a:srgbClr val="990033"/>
                </a:solidFill>
                <a:latin typeface="Arial" panose="020B0604020202020204" pitchFamily="34" charset="0"/>
              </a:rPr>
              <a:t>H</a:t>
            </a:r>
          </a:p>
        </p:txBody>
      </p:sp>
      <p:sp>
        <p:nvSpPr>
          <p:cNvPr id="21618" name="Line 151">
            <a:extLst>
              <a:ext uri="{FF2B5EF4-FFF2-40B4-BE49-F238E27FC236}">
                <a16:creationId xmlns:a16="http://schemas.microsoft.com/office/drawing/2014/main" id="{CA183D15-6CDD-5644-A16E-91B6AFBCAD31}"/>
              </a:ext>
            </a:extLst>
          </p:cNvPr>
          <p:cNvSpPr>
            <a:spLocks noChangeShapeType="1"/>
          </p:cNvSpPr>
          <p:nvPr/>
        </p:nvSpPr>
        <p:spPr bwMode="auto">
          <a:xfrm flipH="1">
            <a:off x="2362200" y="3733800"/>
            <a:ext cx="381000" cy="0"/>
          </a:xfrm>
          <a:prstGeom prst="line">
            <a:avLst/>
          </a:prstGeom>
          <a:noFill/>
          <a:ln w="19050">
            <a:solidFill>
              <a:srgbClr val="990033"/>
            </a:solidFill>
            <a:round/>
            <a:headEnd/>
            <a:tailEnd type="triangle" w="med" len="med"/>
          </a:ln>
          <a:extLst>
            <a:ext uri="{909E8E84-426E-40DD-AFC4-6F175D3DCCD1}">
              <a14:hiddenFill xmlns:a14="http://schemas.microsoft.com/office/drawing/2010/main">
                <a:noFill/>
              </a14:hiddenFill>
            </a:ext>
          </a:extLst>
        </p:spPr>
        <p:txBody>
          <a:bodyPr/>
          <a:lstStyle/>
          <a:p>
            <a:endParaRPr lang="en-MX"/>
          </a:p>
        </p:txBody>
      </p:sp>
      <p:sp>
        <p:nvSpPr>
          <p:cNvPr id="21619" name="Text Box 149">
            <a:extLst>
              <a:ext uri="{FF2B5EF4-FFF2-40B4-BE49-F238E27FC236}">
                <a16:creationId xmlns:a16="http://schemas.microsoft.com/office/drawing/2014/main" id="{9AC14082-3CE8-804C-AD82-A5CAD98BB31C}"/>
              </a:ext>
            </a:extLst>
          </p:cNvPr>
          <p:cNvSpPr txBox="1">
            <a:spLocks noChangeArrowheads="1"/>
          </p:cNvSpPr>
          <p:nvPr/>
        </p:nvSpPr>
        <p:spPr bwMode="auto">
          <a:xfrm>
            <a:off x="9829800" y="6172200"/>
            <a:ext cx="711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a:solidFill>
                  <a:srgbClr val="990033"/>
                </a:solidFill>
                <a:latin typeface="Arial" panose="020B0604020202020204" pitchFamily="34" charset="0"/>
              </a:rPr>
              <a:t>w/ H</a:t>
            </a:r>
          </a:p>
        </p:txBody>
      </p:sp>
    </p:spTree>
    <p:extLst>
      <p:ext uri="{BB962C8B-B14F-4D97-AF65-F5344CB8AC3E}">
        <p14:creationId xmlns:p14="http://schemas.microsoft.com/office/powerpoint/2010/main" val="3225225271"/>
      </p:ext>
    </p:extLst>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4354" name="Rectangle 2">
            <a:extLst>
              <a:ext uri="{FF2B5EF4-FFF2-40B4-BE49-F238E27FC236}">
                <a16:creationId xmlns:a16="http://schemas.microsoft.com/office/drawing/2014/main" id="{810042C4-44CA-5B4F-A0E6-4D1157D623FE}"/>
              </a:ext>
            </a:extLst>
          </p:cNvPr>
          <p:cNvSpPr>
            <a:spLocks noGrp="1" noChangeArrowheads="1"/>
          </p:cNvSpPr>
          <p:nvPr>
            <p:ph type="title"/>
          </p:nvPr>
        </p:nvSpPr>
        <p:spPr>
          <a:xfrm>
            <a:off x="698740" y="685800"/>
            <a:ext cx="10722634" cy="838200"/>
          </a:xfrm>
        </p:spPr>
        <p:txBody>
          <a:bodyPr>
            <a:normAutofit/>
          </a:bodyPr>
          <a:lstStyle/>
          <a:p>
            <a:pPr>
              <a:defRPr/>
            </a:pPr>
            <a:r>
              <a:rPr lang="en-US" dirty="0"/>
              <a:t>Threshold Cost-Effectiveness Ratio</a:t>
            </a:r>
          </a:p>
        </p:txBody>
      </p:sp>
      <p:sp>
        <p:nvSpPr>
          <p:cNvPr id="22531" name="Rectangle 3">
            <a:extLst>
              <a:ext uri="{FF2B5EF4-FFF2-40B4-BE49-F238E27FC236}">
                <a16:creationId xmlns:a16="http://schemas.microsoft.com/office/drawing/2014/main" id="{7401CD8B-792B-6E4D-A3F7-4C17C3744C3B}"/>
              </a:ext>
            </a:extLst>
          </p:cNvPr>
          <p:cNvSpPr>
            <a:spLocks noChangeArrowheads="1"/>
          </p:cNvSpPr>
          <p:nvPr/>
        </p:nvSpPr>
        <p:spPr bwMode="auto">
          <a:xfrm>
            <a:off x="698739" y="1905000"/>
            <a:ext cx="10722633"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a:spcBef>
                <a:spcPct val="10000"/>
              </a:spcBef>
              <a:spcAft>
                <a:spcPct val="30000"/>
              </a:spcAft>
              <a:buClr>
                <a:srgbClr val="990033"/>
              </a:buClr>
              <a:buSzPct val="100000"/>
              <a:buFontTx/>
              <a:buChar char="•"/>
            </a:pPr>
            <a:r>
              <a:rPr lang="en-US" altLang="en-MX" sz="2800" b="0" dirty="0">
                <a:solidFill>
                  <a:srgbClr val="000000"/>
                </a:solidFill>
                <a:latin typeface="Arial" panose="020B0604020202020204" pitchFamily="34" charset="0"/>
              </a:rPr>
              <a:t>Cost-effectiveness ratio of the last included program selected before budget exhausted</a:t>
            </a:r>
          </a:p>
          <a:p>
            <a:pPr>
              <a:spcBef>
                <a:spcPct val="10000"/>
              </a:spcBef>
              <a:spcAft>
                <a:spcPct val="30000"/>
              </a:spcAft>
              <a:buClr>
                <a:srgbClr val="990033"/>
              </a:buClr>
              <a:buSzPct val="100000"/>
              <a:buFontTx/>
              <a:buChar char="•"/>
            </a:pPr>
            <a:r>
              <a:rPr lang="en-US" altLang="en-MX" sz="2800" b="0" dirty="0">
                <a:solidFill>
                  <a:srgbClr val="000000"/>
                </a:solidFill>
                <a:latin typeface="Arial" panose="020B0604020202020204" pitchFamily="34" charset="0"/>
              </a:rPr>
              <a:t>Represents the standard against which programs that make claims against the budget can be judged</a:t>
            </a:r>
          </a:p>
          <a:p>
            <a:pPr>
              <a:spcBef>
                <a:spcPct val="10000"/>
              </a:spcBef>
              <a:spcAft>
                <a:spcPct val="30000"/>
              </a:spcAft>
              <a:buClr>
                <a:srgbClr val="990033"/>
              </a:buClr>
              <a:buSzPct val="100000"/>
              <a:buFontTx/>
              <a:buChar char="•"/>
            </a:pPr>
            <a:r>
              <a:rPr lang="en-US" altLang="en-MX" sz="2800" b="0" dirty="0">
                <a:solidFill>
                  <a:srgbClr val="000000"/>
                </a:solidFill>
                <a:latin typeface="Arial" panose="020B0604020202020204" pitchFamily="34" charset="0"/>
              </a:rPr>
              <a:t>As budget rises what happens to the cost-effectiveness threshold?</a:t>
            </a:r>
          </a:p>
        </p:txBody>
      </p:sp>
    </p:spTree>
    <p:extLst>
      <p:ext uri="{BB962C8B-B14F-4D97-AF65-F5344CB8AC3E}">
        <p14:creationId xmlns:p14="http://schemas.microsoft.com/office/powerpoint/2010/main" val="322336300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A763F6A0-D8BE-9A4E-B9B1-4FC69ADDB441}"/>
              </a:ext>
            </a:extLst>
          </p:cNvPr>
          <p:cNvSpPr>
            <a:spLocks noChangeArrowheads="1"/>
          </p:cNvSpPr>
          <p:nvPr/>
        </p:nvSpPr>
        <p:spPr bwMode="auto">
          <a:xfrm>
            <a:off x="2209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23555" name="Rectangle 3">
            <a:extLst>
              <a:ext uri="{FF2B5EF4-FFF2-40B4-BE49-F238E27FC236}">
                <a16:creationId xmlns:a16="http://schemas.microsoft.com/office/drawing/2014/main" id="{C5A45007-C9C2-A04F-A604-71FA06D114E1}"/>
              </a:ext>
            </a:extLst>
          </p:cNvPr>
          <p:cNvSpPr>
            <a:spLocks noChangeArrowheads="1"/>
          </p:cNvSpPr>
          <p:nvPr/>
        </p:nvSpPr>
        <p:spPr bwMode="auto">
          <a:xfrm>
            <a:off x="4648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1138692" name="Rectangle 4">
            <a:extLst>
              <a:ext uri="{FF2B5EF4-FFF2-40B4-BE49-F238E27FC236}">
                <a16:creationId xmlns:a16="http://schemas.microsoft.com/office/drawing/2014/main" id="{C5345744-CC38-F444-A641-7705CDA75BEF}"/>
              </a:ext>
            </a:extLst>
          </p:cNvPr>
          <p:cNvSpPr>
            <a:spLocks noGrp="1" noChangeArrowheads="1"/>
          </p:cNvSpPr>
          <p:nvPr>
            <p:ph type="title"/>
          </p:nvPr>
        </p:nvSpPr>
        <p:spPr>
          <a:xfrm>
            <a:off x="733245" y="381000"/>
            <a:ext cx="10506974" cy="1143000"/>
          </a:xfrm>
        </p:spPr>
        <p:txBody>
          <a:bodyPr/>
          <a:lstStyle/>
          <a:p>
            <a:pPr>
              <a:defRPr/>
            </a:pPr>
            <a:r>
              <a:rPr lang="en-US" dirty="0"/>
              <a:t>Competing Choice Problem</a:t>
            </a:r>
          </a:p>
        </p:txBody>
      </p:sp>
      <p:sp>
        <p:nvSpPr>
          <p:cNvPr id="23557" name="Rectangle 5">
            <a:extLst>
              <a:ext uri="{FF2B5EF4-FFF2-40B4-BE49-F238E27FC236}">
                <a16:creationId xmlns:a16="http://schemas.microsoft.com/office/drawing/2014/main" id="{E0A3874E-0233-184F-9B7B-1AB6ED5C2518}"/>
              </a:ext>
            </a:extLst>
          </p:cNvPr>
          <p:cNvSpPr>
            <a:spLocks noGrp="1" noChangeArrowheads="1"/>
          </p:cNvSpPr>
          <p:nvPr>
            <p:ph type="body" idx="1"/>
          </p:nvPr>
        </p:nvSpPr>
        <p:spPr>
          <a:xfrm>
            <a:off x="733245" y="1600200"/>
            <a:ext cx="10506974" cy="4876800"/>
          </a:xfrm>
        </p:spPr>
        <p:txBody>
          <a:bodyPr/>
          <a:lstStyle/>
          <a:p>
            <a:pPr marL="533400" indent="-533400"/>
            <a:r>
              <a:rPr lang="en-US" altLang="en-MX" dirty="0"/>
              <a:t>We will make an additional assumption to the cost-effectiveness algorithm we used for the “shopping spree”</a:t>
            </a:r>
          </a:p>
          <a:p>
            <a:pPr lvl="1">
              <a:buFont typeface="Courier New" panose="02070309020205020404" pitchFamily="49" charset="0"/>
              <a:buChar char="o"/>
            </a:pPr>
            <a:r>
              <a:rPr lang="en-US" altLang="en-MX" sz="3200" dirty="0"/>
              <a:t> Some programs (e.g., different interventions to prevent malaria) will not be independent and will be mutually exclusive</a:t>
            </a:r>
          </a:p>
        </p:txBody>
      </p:sp>
    </p:spTree>
    <p:extLst>
      <p:ext uri="{BB962C8B-B14F-4D97-AF65-F5344CB8AC3E}">
        <p14:creationId xmlns:p14="http://schemas.microsoft.com/office/powerpoint/2010/main" val="1150461835"/>
      </p:ext>
    </p:extLst>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9106" name="Rectangle 2">
            <a:extLst>
              <a:ext uri="{FF2B5EF4-FFF2-40B4-BE49-F238E27FC236}">
                <a16:creationId xmlns:a16="http://schemas.microsoft.com/office/drawing/2014/main" id="{009D051B-F0E7-6047-B5B7-8CF0ACFEC73F}"/>
              </a:ext>
            </a:extLst>
          </p:cNvPr>
          <p:cNvSpPr>
            <a:spLocks noGrp="1" noChangeArrowheads="1"/>
          </p:cNvSpPr>
          <p:nvPr>
            <p:ph type="title"/>
          </p:nvPr>
        </p:nvSpPr>
        <p:spPr>
          <a:xfrm>
            <a:off x="838200" y="365126"/>
            <a:ext cx="10515600" cy="980596"/>
          </a:xfrm>
        </p:spPr>
        <p:txBody>
          <a:bodyPr/>
          <a:lstStyle/>
          <a:p>
            <a:pPr>
              <a:defRPr/>
            </a:pPr>
            <a:r>
              <a:rPr lang="en-US" dirty="0"/>
              <a:t>General Assumptions</a:t>
            </a:r>
          </a:p>
        </p:txBody>
      </p:sp>
      <p:sp>
        <p:nvSpPr>
          <p:cNvPr id="24579" name="Rectangle 3">
            <a:extLst>
              <a:ext uri="{FF2B5EF4-FFF2-40B4-BE49-F238E27FC236}">
                <a16:creationId xmlns:a16="http://schemas.microsoft.com/office/drawing/2014/main" id="{1D28E5A0-7F5B-414C-9906-305C0012C077}"/>
              </a:ext>
            </a:extLst>
          </p:cNvPr>
          <p:cNvSpPr>
            <a:spLocks noGrp="1" noChangeArrowheads="1"/>
          </p:cNvSpPr>
          <p:nvPr>
            <p:ph type="body" idx="1"/>
          </p:nvPr>
        </p:nvSpPr>
        <p:spPr/>
        <p:txBody>
          <a:bodyPr/>
          <a:lstStyle/>
          <a:p>
            <a:pPr>
              <a:lnSpc>
                <a:spcPct val="90000"/>
              </a:lnSpc>
            </a:pPr>
            <a:r>
              <a:rPr lang="en-US" altLang="en-MX"/>
              <a:t>Same  as Shopping Spree, except…</a:t>
            </a:r>
          </a:p>
          <a:p>
            <a:pPr>
              <a:lnSpc>
                <a:spcPct val="90000"/>
              </a:lnSpc>
            </a:pPr>
            <a:r>
              <a:rPr lang="en-US" altLang="en-MX"/>
              <a:t>Some programs are mutually exclusive (i.e., if you select X</a:t>
            </a:r>
            <a:r>
              <a:rPr lang="en-US" altLang="en-MX" baseline="-25000"/>
              <a:t>1</a:t>
            </a:r>
            <a:r>
              <a:rPr lang="en-US" altLang="en-MX"/>
              <a:t>, then you cannot select X</a:t>
            </a:r>
            <a:r>
              <a:rPr lang="en-US" altLang="en-MX" baseline="-25000"/>
              <a:t>2</a:t>
            </a:r>
            <a:r>
              <a:rPr lang="en-US" altLang="en-MX"/>
              <a:t>, X</a:t>
            </a:r>
            <a:r>
              <a:rPr lang="en-US" altLang="en-MX" baseline="-25000"/>
              <a:t>3</a:t>
            </a:r>
            <a:r>
              <a:rPr lang="en-US" altLang="en-MX"/>
              <a:t>, X</a:t>
            </a:r>
            <a:r>
              <a:rPr lang="en-US" altLang="en-MX" baseline="-25000"/>
              <a:t>4</a:t>
            </a:r>
            <a:r>
              <a:rPr lang="en-US" altLang="en-MX"/>
              <a:t>, etc.)</a:t>
            </a:r>
          </a:p>
          <a:p>
            <a:pPr>
              <a:lnSpc>
                <a:spcPct val="90000"/>
              </a:lnSpc>
            </a:pPr>
            <a:r>
              <a:rPr lang="en-US" altLang="en-MX" i="1"/>
              <a:t>Divisibility</a:t>
            </a:r>
            <a:r>
              <a:rPr lang="en-US" altLang="en-MX"/>
              <a:t>: It is possible to offer different competing choice alternatives to different fractions of the target population (e.g., 50% X</a:t>
            </a:r>
            <a:r>
              <a:rPr lang="en-US" altLang="en-MX" baseline="-25000"/>
              <a:t>1</a:t>
            </a:r>
            <a:r>
              <a:rPr lang="en-US" altLang="en-MX"/>
              <a:t>, 50% X</a:t>
            </a:r>
            <a:r>
              <a:rPr lang="en-US" altLang="en-MX" baseline="-25000"/>
              <a:t>2</a:t>
            </a:r>
            <a:r>
              <a:rPr lang="en-US" altLang="en-MX"/>
              <a:t>)</a:t>
            </a:r>
          </a:p>
        </p:txBody>
      </p:sp>
    </p:spTree>
    <p:extLst>
      <p:ext uri="{BB962C8B-B14F-4D97-AF65-F5344CB8AC3E}">
        <p14:creationId xmlns:p14="http://schemas.microsoft.com/office/powerpoint/2010/main" val="126728990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B61646D6-EC95-7040-A132-EE890378A0FC}"/>
              </a:ext>
            </a:extLst>
          </p:cNvPr>
          <p:cNvSpPr>
            <a:spLocks noChangeArrowheads="1"/>
          </p:cNvSpPr>
          <p:nvPr/>
        </p:nvSpPr>
        <p:spPr bwMode="auto">
          <a:xfrm>
            <a:off x="2209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25603" name="Rectangle 3">
            <a:extLst>
              <a:ext uri="{FF2B5EF4-FFF2-40B4-BE49-F238E27FC236}">
                <a16:creationId xmlns:a16="http://schemas.microsoft.com/office/drawing/2014/main" id="{30BCC049-6975-6B4B-AAB0-451DC8F5B738}"/>
              </a:ext>
            </a:extLst>
          </p:cNvPr>
          <p:cNvSpPr>
            <a:spLocks noChangeArrowheads="1"/>
          </p:cNvSpPr>
          <p:nvPr/>
        </p:nvSpPr>
        <p:spPr bwMode="auto">
          <a:xfrm>
            <a:off x="4648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1144836" name="Rectangle 4">
            <a:extLst>
              <a:ext uri="{FF2B5EF4-FFF2-40B4-BE49-F238E27FC236}">
                <a16:creationId xmlns:a16="http://schemas.microsoft.com/office/drawing/2014/main" id="{EBD6C0D0-80A9-2248-8CEF-B6C71B069DA0}"/>
              </a:ext>
            </a:extLst>
          </p:cNvPr>
          <p:cNvSpPr>
            <a:spLocks noGrp="1" noChangeArrowheads="1"/>
          </p:cNvSpPr>
          <p:nvPr>
            <p:ph type="title"/>
          </p:nvPr>
        </p:nvSpPr>
        <p:spPr>
          <a:xfrm>
            <a:off x="664234" y="381000"/>
            <a:ext cx="10688128" cy="762000"/>
          </a:xfrm>
        </p:spPr>
        <p:txBody>
          <a:bodyPr/>
          <a:lstStyle/>
          <a:p>
            <a:pPr>
              <a:defRPr/>
            </a:pPr>
            <a:r>
              <a:rPr lang="en-US" dirty="0"/>
              <a:t>Example 1: Budget $180</a:t>
            </a:r>
          </a:p>
        </p:txBody>
      </p:sp>
      <p:graphicFrame>
        <p:nvGraphicFramePr>
          <p:cNvPr id="1144913" name="Group 81">
            <a:extLst>
              <a:ext uri="{FF2B5EF4-FFF2-40B4-BE49-F238E27FC236}">
                <a16:creationId xmlns:a16="http://schemas.microsoft.com/office/drawing/2014/main" id="{1EE484AF-463E-824F-894E-387D0670BF71}"/>
              </a:ext>
            </a:extLst>
          </p:cNvPr>
          <p:cNvGraphicFramePr>
            <a:graphicFrameLocks noGrp="1"/>
          </p:cNvGraphicFramePr>
          <p:nvPr/>
        </p:nvGraphicFramePr>
        <p:xfrm>
          <a:off x="2133600" y="1371600"/>
          <a:ext cx="7848600" cy="4326310"/>
        </p:xfrm>
        <a:graphic>
          <a:graphicData uri="http://schemas.openxmlformats.org/drawingml/2006/table">
            <a:tbl>
              <a:tblPr/>
              <a:tblGrid>
                <a:gridCol w="16002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228725">
                  <a:extLst>
                    <a:ext uri="{9D8B030D-6E8A-4147-A177-3AD203B41FA5}">
                      <a16:colId xmlns:a16="http://schemas.microsoft.com/office/drawing/2014/main" val="20002"/>
                    </a:ext>
                  </a:extLst>
                </a:gridCol>
                <a:gridCol w="1387475">
                  <a:extLst>
                    <a:ext uri="{9D8B030D-6E8A-4147-A177-3AD203B41FA5}">
                      <a16:colId xmlns:a16="http://schemas.microsoft.com/office/drawing/2014/main" val="20003"/>
                    </a:ext>
                  </a:extLst>
                </a:gridCol>
                <a:gridCol w="1471613">
                  <a:extLst>
                    <a:ext uri="{9D8B030D-6E8A-4147-A177-3AD203B41FA5}">
                      <a16:colId xmlns:a16="http://schemas.microsoft.com/office/drawing/2014/main" val="20004"/>
                    </a:ext>
                  </a:extLst>
                </a:gridCol>
                <a:gridCol w="1144587">
                  <a:extLst>
                    <a:ext uri="{9D8B030D-6E8A-4147-A177-3AD203B41FA5}">
                      <a16:colId xmlns:a16="http://schemas.microsoft.com/office/drawing/2014/main" val="20005"/>
                    </a:ext>
                  </a:extLst>
                </a:gridCol>
              </a:tblGrid>
              <a:tr h="1217434">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Program</a:t>
                      </a:r>
                    </a:p>
                  </a:txBody>
                  <a:tcPr marT="45713" marB="45713"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Cost ($)</a:t>
                      </a:r>
                    </a:p>
                  </a:txBody>
                  <a:tcPr marT="45713" marB="45713"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Effect</a:t>
                      </a:r>
                    </a:p>
                  </a:txBody>
                  <a:tcPr marT="45713" marB="45713"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Cost/</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Effect</a:t>
                      </a:r>
                    </a:p>
                  </a:txBody>
                  <a:tcPr marT="45713" marB="45713"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Cum.</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Cost</a:t>
                      </a:r>
                    </a:p>
                  </a:txBody>
                  <a:tcPr marT="45713" marB="45713"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Cum.</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Effect</a:t>
                      </a:r>
                    </a:p>
                  </a:txBody>
                  <a:tcPr marT="45713" marB="45713"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518084">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D</a:t>
                      </a:r>
                    </a:p>
                  </a:txBody>
                  <a:tcPr marT="45713" marB="4571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0.5</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40</a:t>
                      </a:r>
                    </a:p>
                  </a:txBody>
                  <a:tcPr marT="45713" marB="4571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518084">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a:t>
                      </a:r>
                    </a:p>
                  </a:txBody>
                  <a:tcPr marT="45713" marB="4571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0.6</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90</a:t>
                      </a:r>
                    </a:p>
                  </a:txBody>
                  <a:tcPr marT="45713" marB="4571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518084">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F</a:t>
                      </a:r>
                    </a:p>
                  </a:txBody>
                  <a:tcPr marT="45713" marB="4571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75</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0.67</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100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165</a:t>
                      </a:r>
                    </a:p>
                  </a:txBody>
                  <a:tcPr marT="45713" marB="4571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18084">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a:t>
                      </a:r>
                    </a:p>
                  </a:txBody>
                  <a:tcPr marT="45713" marB="4571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56</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70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0.8</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156</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235</a:t>
                      </a:r>
                    </a:p>
                  </a:txBody>
                  <a:tcPr marT="45713" marB="4571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518084">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A</a:t>
                      </a:r>
                    </a:p>
                  </a:txBody>
                  <a:tcPr marT="45713" marB="4571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27</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0.9</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183</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265</a:t>
                      </a:r>
                    </a:p>
                  </a:txBody>
                  <a:tcPr marT="45713" marB="4571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518084">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B</a:t>
                      </a:r>
                    </a:p>
                  </a:txBody>
                  <a:tcPr marT="45713" marB="45713"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a:t>
                      </a:r>
                    </a:p>
                  </a:txBody>
                  <a:tcPr marT="45713" marB="45713"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a:t>
                      </a:r>
                    </a:p>
                  </a:txBody>
                  <a:tcPr marT="45713" marB="45713"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1.5</a:t>
                      </a:r>
                    </a:p>
                  </a:txBody>
                  <a:tcPr marT="45713" marB="45713"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213</a:t>
                      </a:r>
                    </a:p>
                  </a:txBody>
                  <a:tcPr marT="45713" marB="45713"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285</a:t>
                      </a:r>
                    </a:p>
                  </a:txBody>
                  <a:tcPr marT="45713" marB="45713"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6"/>
                  </a:ext>
                </a:extLst>
              </a:tr>
            </a:tbl>
          </a:graphicData>
        </a:graphic>
      </p:graphicFrame>
      <p:sp>
        <p:nvSpPr>
          <p:cNvPr id="25648" name="Line 74">
            <a:extLst>
              <a:ext uri="{FF2B5EF4-FFF2-40B4-BE49-F238E27FC236}">
                <a16:creationId xmlns:a16="http://schemas.microsoft.com/office/drawing/2014/main" id="{A272949F-52ED-9F46-A2CC-DC6292E67B51}"/>
              </a:ext>
            </a:extLst>
          </p:cNvPr>
          <p:cNvSpPr>
            <a:spLocks noChangeShapeType="1"/>
          </p:cNvSpPr>
          <p:nvPr/>
        </p:nvSpPr>
        <p:spPr bwMode="auto">
          <a:xfrm>
            <a:off x="2057400" y="2438400"/>
            <a:ext cx="79248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25649" name="Line 76">
            <a:extLst>
              <a:ext uri="{FF2B5EF4-FFF2-40B4-BE49-F238E27FC236}">
                <a16:creationId xmlns:a16="http://schemas.microsoft.com/office/drawing/2014/main" id="{5D2D9912-3F40-EC43-9F47-B8EFADC04B14}"/>
              </a:ext>
            </a:extLst>
          </p:cNvPr>
          <p:cNvSpPr>
            <a:spLocks noChangeShapeType="1"/>
          </p:cNvSpPr>
          <p:nvPr/>
        </p:nvSpPr>
        <p:spPr bwMode="auto">
          <a:xfrm>
            <a:off x="2057400" y="1371600"/>
            <a:ext cx="79248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25650" name="Text Box 78">
            <a:extLst>
              <a:ext uri="{FF2B5EF4-FFF2-40B4-BE49-F238E27FC236}">
                <a16:creationId xmlns:a16="http://schemas.microsoft.com/office/drawing/2014/main" id="{26EB3E29-57CF-E34C-84B2-CE21736F4495}"/>
              </a:ext>
            </a:extLst>
          </p:cNvPr>
          <p:cNvSpPr txBox="1">
            <a:spLocks noChangeArrowheads="1"/>
          </p:cNvSpPr>
          <p:nvPr/>
        </p:nvSpPr>
        <p:spPr bwMode="auto">
          <a:xfrm>
            <a:off x="2209800" y="5638800"/>
            <a:ext cx="792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tabLst>
                <a:tab pos="1943100" algn="l"/>
                <a:tab pos="4457700" algn="l"/>
                <a:tab pos="6057900" algn="l"/>
              </a:tabLst>
              <a:defRPr sz="2000" b="1">
                <a:solidFill>
                  <a:schemeClr val="tx1"/>
                </a:solidFill>
                <a:latin typeface="Times New Roman" panose="02020603050405020304" pitchFamily="18" charset="0"/>
              </a:defRPr>
            </a:lvl1pPr>
            <a:lvl2pPr marL="742950" indent="-285750">
              <a:tabLst>
                <a:tab pos="1943100" algn="l"/>
                <a:tab pos="4457700" algn="l"/>
                <a:tab pos="6057900" algn="l"/>
              </a:tabLst>
              <a:defRPr sz="2000" b="1">
                <a:solidFill>
                  <a:schemeClr val="tx1"/>
                </a:solidFill>
                <a:latin typeface="Times New Roman" panose="02020603050405020304" pitchFamily="18" charset="0"/>
              </a:defRPr>
            </a:lvl2pPr>
            <a:lvl3pPr marL="1143000" indent="-228600">
              <a:tabLst>
                <a:tab pos="1943100" algn="l"/>
                <a:tab pos="4457700" algn="l"/>
                <a:tab pos="6057900" algn="l"/>
              </a:tabLst>
              <a:defRPr sz="2000" b="1">
                <a:solidFill>
                  <a:schemeClr val="tx1"/>
                </a:solidFill>
                <a:latin typeface="Times New Roman" panose="02020603050405020304" pitchFamily="18" charset="0"/>
              </a:defRPr>
            </a:lvl3pPr>
            <a:lvl4pPr marL="1600200" indent="-228600">
              <a:tabLst>
                <a:tab pos="1943100" algn="l"/>
                <a:tab pos="4457700" algn="l"/>
                <a:tab pos="6057900" algn="l"/>
              </a:tabLst>
              <a:defRPr sz="2000" b="1">
                <a:solidFill>
                  <a:schemeClr val="tx1"/>
                </a:solidFill>
                <a:latin typeface="Times New Roman" panose="02020603050405020304" pitchFamily="18" charset="0"/>
              </a:defRPr>
            </a:lvl4pPr>
            <a:lvl5pPr marL="2057400" indent="-228600">
              <a:tabLst>
                <a:tab pos="1943100" algn="l"/>
                <a:tab pos="4457700" algn="l"/>
                <a:tab pos="6057900" algn="l"/>
              </a:tabLst>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1943100" algn="l"/>
                <a:tab pos="4457700" algn="l"/>
                <a:tab pos="6057900" algn="l"/>
              </a:tabLs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1943100" algn="l"/>
                <a:tab pos="4457700" algn="l"/>
                <a:tab pos="6057900" algn="l"/>
              </a:tabLs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1943100" algn="l"/>
                <a:tab pos="4457700" algn="l"/>
                <a:tab pos="6057900" algn="l"/>
              </a:tabLs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1943100" algn="l"/>
                <a:tab pos="4457700" algn="l"/>
                <a:tab pos="6057900" algn="l"/>
              </a:tabLst>
              <a:defRPr sz="2000" b="1">
                <a:solidFill>
                  <a:schemeClr val="tx1"/>
                </a:solidFill>
                <a:latin typeface="Times New Roman" panose="02020603050405020304" pitchFamily="18" charset="0"/>
              </a:defRPr>
            </a:lvl9pPr>
          </a:lstStyle>
          <a:p>
            <a:r>
              <a:rPr lang="en-US" altLang="en-MX" sz="2400" b="0" u="sng">
                <a:solidFill>
                  <a:srgbClr val="FF0000"/>
                </a:solidFill>
                <a:latin typeface="Arial" panose="020B0604020202020204" pitchFamily="34" charset="0"/>
              </a:rPr>
              <a:t>Budget</a:t>
            </a:r>
            <a:r>
              <a:rPr lang="en-US" altLang="en-MX" sz="2400" b="0">
                <a:solidFill>
                  <a:srgbClr val="FF0000"/>
                </a:solidFill>
                <a:latin typeface="Arial" panose="020B0604020202020204" pitchFamily="34" charset="0"/>
              </a:rPr>
              <a:t>	</a:t>
            </a:r>
            <a:r>
              <a:rPr lang="en-US" altLang="en-MX" sz="2400" b="0" u="sng">
                <a:solidFill>
                  <a:srgbClr val="FF0000"/>
                </a:solidFill>
                <a:latin typeface="Arial" panose="020B0604020202020204" pitchFamily="34" charset="0"/>
              </a:rPr>
              <a:t>Programs</a:t>
            </a:r>
            <a:r>
              <a:rPr lang="en-US" altLang="en-MX" sz="2400" b="0">
                <a:solidFill>
                  <a:srgbClr val="FF0000"/>
                </a:solidFill>
                <a:latin typeface="Arial" panose="020B0604020202020204" pitchFamily="34" charset="0"/>
              </a:rPr>
              <a:t>	</a:t>
            </a:r>
            <a:r>
              <a:rPr lang="en-US" altLang="en-MX" sz="2400" b="0" u="sng">
                <a:solidFill>
                  <a:srgbClr val="FF0000"/>
                </a:solidFill>
                <a:latin typeface="Arial" panose="020B0604020202020204" pitchFamily="34" charset="0"/>
              </a:rPr>
              <a:t>Effect</a:t>
            </a:r>
            <a:r>
              <a:rPr lang="en-US" altLang="en-MX" sz="2400" b="0">
                <a:solidFill>
                  <a:srgbClr val="FF0000"/>
                </a:solidFill>
                <a:latin typeface="Arial" panose="020B0604020202020204" pitchFamily="34" charset="0"/>
              </a:rPr>
              <a:t>	</a:t>
            </a:r>
            <a:r>
              <a:rPr lang="en-US" altLang="en-MX" sz="2400" b="0" u="sng">
                <a:solidFill>
                  <a:srgbClr val="FF0000"/>
                </a:solidFill>
                <a:latin typeface="Arial" panose="020B0604020202020204" pitchFamily="34" charset="0"/>
              </a:rPr>
              <a:t>Threshold</a:t>
            </a:r>
          </a:p>
        </p:txBody>
      </p:sp>
      <p:sp>
        <p:nvSpPr>
          <p:cNvPr id="25651" name="Text Box 79">
            <a:extLst>
              <a:ext uri="{FF2B5EF4-FFF2-40B4-BE49-F238E27FC236}">
                <a16:creationId xmlns:a16="http://schemas.microsoft.com/office/drawing/2014/main" id="{D1E088CD-353C-D84D-B5FC-AA350813E181}"/>
              </a:ext>
            </a:extLst>
          </p:cNvPr>
          <p:cNvSpPr txBox="1">
            <a:spLocks noChangeArrowheads="1"/>
          </p:cNvSpPr>
          <p:nvPr/>
        </p:nvSpPr>
        <p:spPr bwMode="auto">
          <a:xfrm>
            <a:off x="2209801" y="6096001"/>
            <a:ext cx="80184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tabLst>
                <a:tab pos="1943100" algn="l"/>
                <a:tab pos="4457700" algn="l"/>
                <a:tab pos="6057900" algn="l"/>
              </a:tabLst>
              <a:defRPr sz="2000" b="1">
                <a:solidFill>
                  <a:schemeClr val="tx1"/>
                </a:solidFill>
                <a:latin typeface="Times New Roman" panose="02020603050405020304" pitchFamily="18" charset="0"/>
              </a:defRPr>
            </a:lvl1pPr>
            <a:lvl2pPr marL="742950" indent="-285750">
              <a:tabLst>
                <a:tab pos="1943100" algn="l"/>
                <a:tab pos="4457700" algn="l"/>
                <a:tab pos="6057900" algn="l"/>
              </a:tabLst>
              <a:defRPr sz="2000" b="1">
                <a:solidFill>
                  <a:schemeClr val="tx1"/>
                </a:solidFill>
                <a:latin typeface="Times New Roman" panose="02020603050405020304" pitchFamily="18" charset="0"/>
              </a:defRPr>
            </a:lvl2pPr>
            <a:lvl3pPr marL="1143000" indent="-228600">
              <a:tabLst>
                <a:tab pos="1943100" algn="l"/>
                <a:tab pos="4457700" algn="l"/>
                <a:tab pos="6057900" algn="l"/>
              </a:tabLst>
              <a:defRPr sz="2000" b="1">
                <a:solidFill>
                  <a:schemeClr val="tx1"/>
                </a:solidFill>
                <a:latin typeface="Times New Roman" panose="02020603050405020304" pitchFamily="18" charset="0"/>
              </a:defRPr>
            </a:lvl3pPr>
            <a:lvl4pPr marL="1600200" indent="-228600">
              <a:tabLst>
                <a:tab pos="1943100" algn="l"/>
                <a:tab pos="4457700" algn="l"/>
                <a:tab pos="6057900" algn="l"/>
              </a:tabLst>
              <a:defRPr sz="2000" b="1">
                <a:solidFill>
                  <a:schemeClr val="tx1"/>
                </a:solidFill>
                <a:latin typeface="Times New Roman" panose="02020603050405020304" pitchFamily="18" charset="0"/>
              </a:defRPr>
            </a:lvl4pPr>
            <a:lvl5pPr marL="2057400" indent="-228600">
              <a:tabLst>
                <a:tab pos="1943100" algn="l"/>
                <a:tab pos="4457700" algn="l"/>
                <a:tab pos="6057900" algn="l"/>
              </a:tabLst>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1943100" algn="l"/>
                <a:tab pos="4457700" algn="l"/>
                <a:tab pos="6057900" algn="l"/>
              </a:tabLs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1943100" algn="l"/>
                <a:tab pos="4457700" algn="l"/>
                <a:tab pos="6057900" algn="l"/>
              </a:tabLs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1943100" algn="l"/>
                <a:tab pos="4457700" algn="l"/>
                <a:tab pos="6057900" algn="l"/>
              </a:tabLs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1943100" algn="l"/>
                <a:tab pos="4457700" algn="l"/>
                <a:tab pos="6057900" algn="l"/>
              </a:tabLst>
              <a:defRPr sz="2000" b="1">
                <a:solidFill>
                  <a:schemeClr val="tx1"/>
                </a:solidFill>
                <a:latin typeface="Times New Roman" panose="02020603050405020304" pitchFamily="18" charset="0"/>
              </a:defRPr>
            </a:lvl9pPr>
          </a:lstStyle>
          <a:p>
            <a:r>
              <a:rPr lang="en-US" altLang="en-MX">
                <a:solidFill>
                  <a:srgbClr val="3333FF"/>
                </a:solidFill>
                <a:latin typeface="Arial" panose="020B0604020202020204" pitchFamily="34" charset="0"/>
              </a:rPr>
              <a:t>$180	D,E,F,C,(24/27)A	261.7	0.9</a:t>
            </a:r>
            <a:endParaRPr lang="en-US" altLang="en-MX">
              <a:solidFill>
                <a:srgbClr val="CC0099"/>
              </a:solidFill>
              <a:latin typeface="Arial" panose="020B0604020202020204" pitchFamily="34" charset="0"/>
            </a:endParaRPr>
          </a:p>
        </p:txBody>
      </p:sp>
    </p:spTree>
    <p:extLst>
      <p:ext uri="{BB962C8B-B14F-4D97-AF65-F5344CB8AC3E}">
        <p14:creationId xmlns:p14="http://schemas.microsoft.com/office/powerpoint/2010/main" val="263937245"/>
      </p:ext>
    </p:extLst>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0130" name="Rectangle 2">
            <a:extLst>
              <a:ext uri="{FF2B5EF4-FFF2-40B4-BE49-F238E27FC236}">
                <a16:creationId xmlns:a16="http://schemas.microsoft.com/office/drawing/2014/main" id="{3A3DED8D-0622-CB47-9A45-7E603287858C}"/>
              </a:ext>
            </a:extLst>
          </p:cNvPr>
          <p:cNvSpPr>
            <a:spLocks noGrp="1" noChangeArrowheads="1"/>
          </p:cNvSpPr>
          <p:nvPr>
            <p:ph type="title"/>
          </p:nvPr>
        </p:nvSpPr>
        <p:spPr/>
        <p:txBody>
          <a:bodyPr/>
          <a:lstStyle/>
          <a:p>
            <a:pPr>
              <a:defRPr/>
            </a:pPr>
            <a:r>
              <a:rPr lang="en-US" sz="3600"/>
              <a:t>Which H Program should we fund, if any (Budget = $180)?</a:t>
            </a:r>
          </a:p>
        </p:txBody>
      </p:sp>
      <p:sp>
        <p:nvSpPr>
          <p:cNvPr id="26627" name="Rectangle 3">
            <a:extLst>
              <a:ext uri="{FF2B5EF4-FFF2-40B4-BE49-F238E27FC236}">
                <a16:creationId xmlns:a16="http://schemas.microsoft.com/office/drawing/2014/main" id="{671C2E5C-A745-BB40-9AB0-12F79CDE712E}"/>
              </a:ext>
            </a:extLst>
          </p:cNvPr>
          <p:cNvSpPr>
            <a:spLocks noGrp="1" noChangeArrowheads="1"/>
          </p:cNvSpPr>
          <p:nvPr>
            <p:ph type="body" idx="1"/>
          </p:nvPr>
        </p:nvSpPr>
        <p:spPr/>
        <p:txBody>
          <a:bodyPr/>
          <a:lstStyle/>
          <a:p>
            <a:pPr>
              <a:buNone/>
              <a:tabLst>
                <a:tab pos="3371850" algn="ctr"/>
                <a:tab pos="5943600" algn="ctr"/>
              </a:tabLst>
            </a:pPr>
            <a:r>
              <a:rPr lang="en-US" altLang="en-MX"/>
              <a:t>Program	Cost ($)	Effect</a:t>
            </a:r>
          </a:p>
          <a:p>
            <a:pPr>
              <a:buNone/>
              <a:tabLst>
                <a:tab pos="3371850" algn="ctr"/>
                <a:tab pos="5943600" algn="ctr"/>
              </a:tabLst>
            </a:pPr>
            <a:r>
              <a:rPr lang="en-US" altLang="en-MX"/>
              <a:t>	H1	60	80</a:t>
            </a:r>
          </a:p>
          <a:p>
            <a:pPr>
              <a:buNone/>
              <a:tabLst>
                <a:tab pos="3371850" algn="ctr"/>
                <a:tab pos="5943600" algn="ctr"/>
              </a:tabLst>
            </a:pPr>
            <a:r>
              <a:rPr lang="en-US" altLang="en-MX"/>
              <a:t>	H2	40	65</a:t>
            </a:r>
          </a:p>
          <a:p>
            <a:pPr>
              <a:buNone/>
              <a:tabLst>
                <a:tab pos="3371850" algn="ctr"/>
                <a:tab pos="5943600" algn="ctr"/>
              </a:tabLst>
            </a:pPr>
            <a:r>
              <a:rPr lang="en-US" altLang="en-MX"/>
              <a:t>	H3	55	70</a:t>
            </a:r>
          </a:p>
          <a:p>
            <a:pPr>
              <a:buNone/>
              <a:tabLst>
                <a:tab pos="3371850" algn="ctr"/>
                <a:tab pos="5943600" algn="ctr"/>
              </a:tabLst>
            </a:pPr>
            <a:r>
              <a:rPr lang="en-US" altLang="en-MX"/>
              <a:t>	H4	22	40</a:t>
            </a:r>
          </a:p>
          <a:p>
            <a:pPr>
              <a:buNone/>
              <a:tabLst>
                <a:tab pos="3371850" algn="ctr"/>
                <a:tab pos="5943600" algn="ctr"/>
              </a:tabLst>
            </a:pPr>
            <a:r>
              <a:rPr lang="en-US" altLang="en-MX"/>
              <a:t>	H5	45	60</a:t>
            </a:r>
          </a:p>
        </p:txBody>
      </p:sp>
      <p:sp>
        <p:nvSpPr>
          <p:cNvPr id="26628" name="Line 5">
            <a:extLst>
              <a:ext uri="{FF2B5EF4-FFF2-40B4-BE49-F238E27FC236}">
                <a16:creationId xmlns:a16="http://schemas.microsoft.com/office/drawing/2014/main" id="{F9E4C28A-73EC-874A-A1F4-1D5AA13FBE83}"/>
              </a:ext>
            </a:extLst>
          </p:cNvPr>
          <p:cNvSpPr>
            <a:spLocks noChangeShapeType="1"/>
          </p:cNvSpPr>
          <p:nvPr/>
        </p:nvSpPr>
        <p:spPr bwMode="auto">
          <a:xfrm>
            <a:off x="838200" y="2356884"/>
            <a:ext cx="7391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26629" name="Text Box 6">
            <a:extLst>
              <a:ext uri="{FF2B5EF4-FFF2-40B4-BE49-F238E27FC236}">
                <a16:creationId xmlns:a16="http://schemas.microsoft.com/office/drawing/2014/main" id="{83A00CAA-051A-554E-8A95-FA682DED39F8}"/>
              </a:ext>
            </a:extLst>
          </p:cNvPr>
          <p:cNvSpPr txBox="1">
            <a:spLocks noChangeArrowheads="1"/>
          </p:cNvSpPr>
          <p:nvPr/>
        </p:nvSpPr>
        <p:spPr bwMode="auto">
          <a:xfrm>
            <a:off x="2438401" y="5715000"/>
            <a:ext cx="7440613" cy="8318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sz="2400" b="0">
                <a:solidFill>
                  <a:srgbClr val="990033"/>
                </a:solidFill>
                <a:latin typeface="Arial" panose="020B0604020202020204" pitchFamily="34" charset="0"/>
              </a:rPr>
              <a:t>Best we can do </a:t>
            </a:r>
            <a:r>
              <a:rPr lang="en-US" altLang="en-MX" sz="2400" b="0" i="1">
                <a:solidFill>
                  <a:srgbClr val="990033"/>
                </a:solidFill>
                <a:latin typeface="Arial" panose="020B0604020202020204" pitchFamily="34" charset="0"/>
              </a:rPr>
              <a:t>without </a:t>
            </a:r>
            <a:r>
              <a:rPr lang="en-US" altLang="en-MX" sz="2400" b="0">
                <a:solidFill>
                  <a:srgbClr val="990033"/>
                </a:solidFill>
                <a:latin typeface="Arial" panose="020B0604020202020204" pitchFamily="34" charset="0"/>
              </a:rPr>
              <a:t>Program H is D,E,F,C, and (24/27)A = 261.7. </a:t>
            </a:r>
            <a:r>
              <a:rPr lang="en-US" altLang="en-MX" sz="2400" b="0" i="1">
                <a:solidFill>
                  <a:srgbClr val="990033"/>
                </a:solidFill>
                <a:latin typeface="Arial" panose="020B0604020202020204" pitchFamily="34" charset="0"/>
              </a:rPr>
              <a:t>Can we do better?</a:t>
            </a:r>
          </a:p>
        </p:txBody>
      </p:sp>
    </p:spTree>
    <p:extLst>
      <p:ext uri="{BB962C8B-B14F-4D97-AF65-F5344CB8AC3E}">
        <p14:creationId xmlns:p14="http://schemas.microsoft.com/office/powerpoint/2010/main" val="107811889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1154" name="Rectangle 2">
            <a:extLst>
              <a:ext uri="{FF2B5EF4-FFF2-40B4-BE49-F238E27FC236}">
                <a16:creationId xmlns:a16="http://schemas.microsoft.com/office/drawing/2014/main" id="{12DCD8A5-E4D4-7047-B55F-9C4737D3D5DA}"/>
              </a:ext>
            </a:extLst>
          </p:cNvPr>
          <p:cNvSpPr>
            <a:spLocks noGrp="1" noChangeArrowheads="1"/>
          </p:cNvSpPr>
          <p:nvPr>
            <p:ph type="title"/>
          </p:nvPr>
        </p:nvSpPr>
        <p:spPr/>
        <p:txBody>
          <a:bodyPr/>
          <a:lstStyle/>
          <a:p>
            <a:pPr>
              <a:defRPr/>
            </a:pPr>
            <a:r>
              <a:rPr lang="en-US"/>
              <a:t>Do C/E Ratios Help?</a:t>
            </a:r>
          </a:p>
        </p:txBody>
      </p:sp>
      <p:sp>
        <p:nvSpPr>
          <p:cNvPr id="27651" name="Rectangle 3">
            <a:extLst>
              <a:ext uri="{FF2B5EF4-FFF2-40B4-BE49-F238E27FC236}">
                <a16:creationId xmlns:a16="http://schemas.microsoft.com/office/drawing/2014/main" id="{F2764375-2C95-9346-85D1-76A19FA1B62E}"/>
              </a:ext>
            </a:extLst>
          </p:cNvPr>
          <p:cNvSpPr>
            <a:spLocks noGrp="1" noChangeArrowheads="1"/>
          </p:cNvSpPr>
          <p:nvPr>
            <p:ph type="body" idx="1"/>
          </p:nvPr>
        </p:nvSpPr>
        <p:spPr/>
        <p:txBody>
          <a:bodyPr/>
          <a:lstStyle/>
          <a:p>
            <a:pPr>
              <a:buNone/>
              <a:tabLst>
                <a:tab pos="2914650" algn="ctr"/>
                <a:tab pos="4686300" algn="ctr"/>
                <a:tab pos="6515100" algn="ctr"/>
              </a:tabLst>
            </a:pPr>
            <a:r>
              <a:rPr lang="en-US" altLang="en-MX"/>
              <a:t>Program	Cost ($)	Effect	C/E</a:t>
            </a:r>
          </a:p>
          <a:p>
            <a:pPr>
              <a:buNone/>
              <a:tabLst>
                <a:tab pos="2914650" algn="ctr"/>
                <a:tab pos="4686300" algn="ctr"/>
                <a:tab pos="6515100" algn="ctr"/>
              </a:tabLst>
            </a:pPr>
            <a:r>
              <a:rPr lang="en-US" altLang="en-MX"/>
              <a:t>	H1	60	80	0.75</a:t>
            </a:r>
          </a:p>
          <a:p>
            <a:pPr>
              <a:buNone/>
              <a:tabLst>
                <a:tab pos="2914650" algn="ctr"/>
                <a:tab pos="4686300" algn="ctr"/>
                <a:tab pos="6515100" algn="ctr"/>
              </a:tabLst>
            </a:pPr>
            <a:r>
              <a:rPr lang="en-US" altLang="en-MX"/>
              <a:t>	H2	40	65	0.62</a:t>
            </a:r>
          </a:p>
          <a:p>
            <a:pPr>
              <a:buNone/>
              <a:tabLst>
                <a:tab pos="2914650" algn="ctr"/>
                <a:tab pos="4686300" algn="ctr"/>
                <a:tab pos="6515100" algn="ctr"/>
              </a:tabLst>
            </a:pPr>
            <a:r>
              <a:rPr lang="en-US" altLang="en-MX"/>
              <a:t>	H3	55	70	0.79</a:t>
            </a:r>
          </a:p>
          <a:p>
            <a:pPr>
              <a:buNone/>
              <a:tabLst>
                <a:tab pos="2914650" algn="ctr"/>
                <a:tab pos="4686300" algn="ctr"/>
                <a:tab pos="6515100" algn="ctr"/>
              </a:tabLst>
            </a:pPr>
            <a:r>
              <a:rPr lang="en-US" altLang="en-MX"/>
              <a:t>	H4	22	40	0.55</a:t>
            </a:r>
          </a:p>
          <a:p>
            <a:pPr>
              <a:buNone/>
              <a:tabLst>
                <a:tab pos="2914650" algn="ctr"/>
                <a:tab pos="4686300" algn="ctr"/>
                <a:tab pos="6515100" algn="ctr"/>
              </a:tabLst>
            </a:pPr>
            <a:r>
              <a:rPr lang="en-US" altLang="en-MX"/>
              <a:t>	H5	45	60	0.75</a:t>
            </a:r>
          </a:p>
        </p:txBody>
      </p:sp>
      <p:sp>
        <p:nvSpPr>
          <p:cNvPr id="27652" name="Line 4">
            <a:extLst>
              <a:ext uri="{FF2B5EF4-FFF2-40B4-BE49-F238E27FC236}">
                <a16:creationId xmlns:a16="http://schemas.microsoft.com/office/drawing/2014/main" id="{3DC4AD0F-F5B1-654A-9605-51B5C24F5DFD}"/>
              </a:ext>
            </a:extLst>
          </p:cNvPr>
          <p:cNvSpPr>
            <a:spLocks noChangeShapeType="1"/>
          </p:cNvSpPr>
          <p:nvPr/>
        </p:nvSpPr>
        <p:spPr bwMode="auto">
          <a:xfrm>
            <a:off x="838200" y="2346252"/>
            <a:ext cx="7391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MX"/>
          </a:p>
        </p:txBody>
      </p:sp>
    </p:spTree>
    <p:extLst>
      <p:ext uri="{BB962C8B-B14F-4D97-AF65-F5344CB8AC3E}">
        <p14:creationId xmlns:p14="http://schemas.microsoft.com/office/powerpoint/2010/main" val="284610254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BB06305E-89C2-E94E-A6FE-2AA0914A3D1A}"/>
              </a:ext>
            </a:extLst>
          </p:cNvPr>
          <p:cNvSpPr>
            <a:spLocks noChangeArrowheads="1"/>
          </p:cNvSpPr>
          <p:nvPr/>
        </p:nvSpPr>
        <p:spPr bwMode="auto">
          <a:xfrm>
            <a:off x="2209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28675" name="Rectangle 3">
            <a:extLst>
              <a:ext uri="{FF2B5EF4-FFF2-40B4-BE49-F238E27FC236}">
                <a16:creationId xmlns:a16="http://schemas.microsoft.com/office/drawing/2014/main" id="{F8FB0AC0-50D1-7848-A07B-F2A8B28F0007}"/>
              </a:ext>
            </a:extLst>
          </p:cNvPr>
          <p:cNvSpPr>
            <a:spLocks noChangeArrowheads="1"/>
          </p:cNvSpPr>
          <p:nvPr/>
        </p:nvSpPr>
        <p:spPr bwMode="auto">
          <a:xfrm>
            <a:off x="4648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1153028" name="Rectangle 4">
            <a:extLst>
              <a:ext uri="{FF2B5EF4-FFF2-40B4-BE49-F238E27FC236}">
                <a16:creationId xmlns:a16="http://schemas.microsoft.com/office/drawing/2014/main" id="{7E3F7339-B498-594C-A056-B87F280FCF0F}"/>
              </a:ext>
            </a:extLst>
          </p:cNvPr>
          <p:cNvSpPr>
            <a:spLocks noGrp="1" noChangeArrowheads="1"/>
          </p:cNvSpPr>
          <p:nvPr>
            <p:ph type="title"/>
          </p:nvPr>
        </p:nvSpPr>
        <p:spPr>
          <a:xfrm>
            <a:off x="793629" y="304800"/>
            <a:ext cx="10524227" cy="990600"/>
          </a:xfrm>
        </p:spPr>
        <p:txBody>
          <a:bodyPr/>
          <a:lstStyle/>
          <a:p>
            <a:pPr>
              <a:defRPr/>
            </a:pPr>
            <a:r>
              <a:rPr lang="en-US" dirty="0"/>
              <a:t>Add H4 (lowest C/E ratio)</a:t>
            </a:r>
            <a:endParaRPr lang="en-US" sz="3600" dirty="0"/>
          </a:p>
        </p:txBody>
      </p:sp>
      <p:graphicFrame>
        <p:nvGraphicFramePr>
          <p:cNvPr id="1153110" name="Group 86">
            <a:extLst>
              <a:ext uri="{FF2B5EF4-FFF2-40B4-BE49-F238E27FC236}">
                <a16:creationId xmlns:a16="http://schemas.microsoft.com/office/drawing/2014/main" id="{EA4D3919-3557-6F43-BF20-101718FCF629}"/>
              </a:ext>
            </a:extLst>
          </p:cNvPr>
          <p:cNvGraphicFramePr>
            <a:graphicFrameLocks noGrp="1"/>
          </p:cNvGraphicFramePr>
          <p:nvPr/>
        </p:nvGraphicFramePr>
        <p:xfrm>
          <a:off x="2057400" y="1371601"/>
          <a:ext cx="8229600" cy="4467226"/>
        </p:xfrm>
        <a:graphic>
          <a:graphicData uri="http://schemas.openxmlformats.org/drawingml/2006/table">
            <a:tbl>
              <a:tblPr/>
              <a:tblGrid>
                <a:gridCol w="1447800">
                  <a:extLst>
                    <a:ext uri="{9D8B030D-6E8A-4147-A177-3AD203B41FA5}">
                      <a16:colId xmlns:a16="http://schemas.microsoft.com/office/drawing/2014/main" val="20000"/>
                    </a:ext>
                  </a:extLst>
                </a:gridCol>
                <a:gridCol w="1114425">
                  <a:extLst>
                    <a:ext uri="{9D8B030D-6E8A-4147-A177-3AD203B41FA5}">
                      <a16:colId xmlns:a16="http://schemas.microsoft.com/office/drawing/2014/main" val="20001"/>
                    </a:ext>
                  </a:extLst>
                </a:gridCol>
                <a:gridCol w="1206500">
                  <a:extLst>
                    <a:ext uri="{9D8B030D-6E8A-4147-A177-3AD203B41FA5}">
                      <a16:colId xmlns:a16="http://schemas.microsoft.com/office/drawing/2014/main" val="20002"/>
                    </a:ext>
                  </a:extLst>
                </a:gridCol>
                <a:gridCol w="1154113">
                  <a:extLst>
                    <a:ext uri="{9D8B030D-6E8A-4147-A177-3AD203B41FA5}">
                      <a16:colId xmlns:a16="http://schemas.microsoft.com/office/drawing/2014/main" val="20003"/>
                    </a:ext>
                  </a:extLst>
                </a:gridCol>
                <a:gridCol w="357187">
                  <a:extLst>
                    <a:ext uri="{9D8B030D-6E8A-4147-A177-3AD203B41FA5}">
                      <a16:colId xmlns:a16="http://schemas.microsoft.com/office/drawing/2014/main" val="20004"/>
                    </a:ext>
                  </a:extLst>
                </a:gridCol>
                <a:gridCol w="1257300">
                  <a:extLst>
                    <a:ext uri="{9D8B030D-6E8A-4147-A177-3AD203B41FA5}">
                      <a16:colId xmlns:a16="http://schemas.microsoft.com/office/drawing/2014/main" val="20005"/>
                    </a:ext>
                  </a:extLst>
                </a:gridCol>
                <a:gridCol w="261938">
                  <a:extLst>
                    <a:ext uri="{9D8B030D-6E8A-4147-A177-3AD203B41FA5}">
                      <a16:colId xmlns:a16="http://schemas.microsoft.com/office/drawing/2014/main" val="20006"/>
                    </a:ext>
                  </a:extLst>
                </a:gridCol>
                <a:gridCol w="1430337">
                  <a:extLst>
                    <a:ext uri="{9D8B030D-6E8A-4147-A177-3AD203B41FA5}">
                      <a16:colId xmlns:a16="http://schemas.microsoft.com/office/drawing/2014/main" val="20007"/>
                    </a:ext>
                  </a:extLst>
                </a:gridCol>
              </a:tblGrid>
              <a:tr h="823018">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Program</a:t>
                      </a:r>
                    </a:p>
                  </a:txBody>
                  <a:tcPr marT="45723" marB="45723"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Cost ($)</a:t>
                      </a:r>
                    </a:p>
                  </a:txBody>
                  <a:tcPr marT="45723" marB="45723"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Effect</a:t>
                      </a:r>
                    </a:p>
                  </a:txBody>
                  <a:tcPr marT="45723" marB="45723"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C/E</a:t>
                      </a:r>
                    </a:p>
                  </a:txBody>
                  <a:tcPr marT="45723" marB="45723" horzOverflow="overflow">
                    <a:lnL>
                      <a:noFill/>
                    </a:lnL>
                    <a:lnR>
                      <a:noFill/>
                    </a:lnR>
                    <a:lnT cap="fla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Cum. Cost</a:t>
                      </a:r>
                    </a:p>
                  </a:txBody>
                  <a:tcPr marT="45723" marB="45723" horzOverflow="overflow">
                    <a:lnL>
                      <a:noFill/>
                    </a:lnL>
                    <a:lnR>
                      <a:noFill/>
                    </a:lnR>
                    <a:lnT cap="fla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Cum. Effect</a:t>
                      </a:r>
                    </a:p>
                  </a:txBody>
                  <a:tcPr marT="45723" marB="45723" horzOverflow="overflow">
                    <a:lnL>
                      <a:noFill/>
                    </a:lnL>
                    <a:lnR cap="flat">
                      <a:noFill/>
                    </a:lnR>
                    <a:lnT cap="flat">
                      <a:noFill/>
                    </a:lnT>
                    <a:lnB>
                      <a:noFill/>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518197">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D</a:t>
                      </a:r>
                    </a:p>
                  </a:txBody>
                  <a:tcPr marT="45723" marB="4572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40</a:t>
                      </a:r>
                    </a:p>
                  </a:txBody>
                  <a:tcPr marT="45723" marB="45723"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0.5</a:t>
                      </a:r>
                    </a:p>
                  </a:txBody>
                  <a:tcPr marT="45723" marB="45723"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a:t>
                      </a:r>
                    </a:p>
                  </a:txBody>
                  <a:tcPr marT="45723" marB="45723"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40</a:t>
                      </a:r>
                    </a:p>
                  </a:txBody>
                  <a:tcPr marT="45723" marB="4572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518197">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H4</a:t>
                      </a:r>
                    </a:p>
                  </a:txBody>
                  <a:tcPr marT="45723" marB="4572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22</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40</a:t>
                      </a:r>
                    </a:p>
                  </a:txBody>
                  <a:tcPr marT="45723" marB="45723"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0.55</a:t>
                      </a:r>
                    </a:p>
                  </a:txBody>
                  <a:tcPr marT="45723" marB="45723"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42</a:t>
                      </a:r>
                    </a:p>
                  </a:txBody>
                  <a:tcPr marT="45723" marB="45723"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80</a:t>
                      </a:r>
                    </a:p>
                  </a:txBody>
                  <a:tcPr marT="45723" marB="4572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518197">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a:t>
                      </a:r>
                    </a:p>
                  </a:txBody>
                  <a:tcPr marT="45723" marB="4572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50</a:t>
                      </a:r>
                    </a:p>
                  </a:txBody>
                  <a:tcPr marT="45723" marB="45723"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0.6</a:t>
                      </a:r>
                    </a:p>
                  </a:txBody>
                  <a:tcPr marT="45723" marB="45723"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72</a:t>
                      </a:r>
                    </a:p>
                  </a:txBody>
                  <a:tcPr marT="45723" marB="45723"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130</a:t>
                      </a:r>
                    </a:p>
                  </a:txBody>
                  <a:tcPr marT="45723" marB="4572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18197">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F</a:t>
                      </a:r>
                    </a:p>
                  </a:txBody>
                  <a:tcPr marT="45723" marB="4572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50</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75</a:t>
                      </a:r>
                    </a:p>
                  </a:txBody>
                  <a:tcPr marT="45723" marB="45723"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0.67</a:t>
                      </a:r>
                    </a:p>
                  </a:txBody>
                  <a:tcPr marT="45723" marB="45723"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122</a:t>
                      </a:r>
                    </a:p>
                  </a:txBody>
                  <a:tcPr marT="45723" marB="45723"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205</a:t>
                      </a:r>
                    </a:p>
                  </a:txBody>
                  <a:tcPr marT="45723" marB="4572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518197">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a:t>
                      </a:r>
                    </a:p>
                  </a:txBody>
                  <a:tcPr marT="45723" marB="4572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56</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70</a:t>
                      </a:r>
                    </a:p>
                  </a:txBody>
                  <a:tcPr marT="45723" marB="45723"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0.8</a:t>
                      </a:r>
                    </a:p>
                  </a:txBody>
                  <a:tcPr marT="45723" marB="45723"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178</a:t>
                      </a:r>
                    </a:p>
                  </a:txBody>
                  <a:tcPr marT="45723" marB="45723"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275</a:t>
                      </a:r>
                    </a:p>
                  </a:txBody>
                  <a:tcPr marT="45723" marB="4572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518197">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A</a:t>
                      </a:r>
                    </a:p>
                  </a:txBody>
                  <a:tcPr marT="45723" marB="4572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27</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a:t>
                      </a:r>
                    </a:p>
                  </a:txBody>
                  <a:tcPr marT="45723" marB="45723"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0.9</a:t>
                      </a:r>
                    </a:p>
                  </a:txBody>
                  <a:tcPr marT="45723" marB="45723"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205</a:t>
                      </a:r>
                    </a:p>
                  </a:txBody>
                  <a:tcPr marT="45723" marB="45723"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305</a:t>
                      </a:r>
                    </a:p>
                  </a:txBody>
                  <a:tcPr marT="45723" marB="4572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535026">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B</a:t>
                      </a:r>
                    </a:p>
                  </a:txBody>
                  <a:tcPr marT="45723" marB="45723"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a:t>
                      </a:r>
                    </a:p>
                  </a:txBody>
                  <a:tcPr marT="45723" marB="45723"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a:t>
                      </a:r>
                    </a:p>
                  </a:txBody>
                  <a:tcPr marT="45723" marB="45723" horzOverflow="overflow">
                    <a:lnL>
                      <a:noFill/>
                    </a:lnL>
                    <a:lnR>
                      <a:noFill/>
                    </a:lnR>
                    <a:lnT>
                      <a:noFill/>
                    </a:lnT>
                    <a:lnB cap="flat">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1.5</a:t>
                      </a:r>
                    </a:p>
                  </a:txBody>
                  <a:tcPr marT="45723" marB="45723" horzOverflow="overflow">
                    <a:lnL>
                      <a:noFill/>
                    </a:lnL>
                    <a:lnR>
                      <a:noFill/>
                    </a:lnR>
                    <a:lnT>
                      <a:noFill/>
                    </a:lnT>
                    <a:lnB cap="flat">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23" marB="45723" horzOverflow="overflow">
                    <a:lnL>
                      <a:noFill/>
                    </a:lnL>
                    <a:lnR>
                      <a:noFill/>
                    </a:lnR>
                    <a:lnT>
                      <a:noFill/>
                    </a:lnT>
                    <a:lnB cap="flat">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23" marB="45723"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7"/>
                  </a:ext>
                </a:extLst>
              </a:tr>
            </a:tbl>
          </a:graphicData>
        </a:graphic>
      </p:graphicFrame>
      <p:sp>
        <p:nvSpPr>
          <p:cNvPr id="28726" name="Line 80">
            <a:extLst>
              <a:ext uri="{FF2B5EF4-FFF2-40B4-BE49-F238E27FC236}">
                <a16:creationId xmlns:a16="http://schemas.microsoft.com/office/drawing/2014/main" id="{D6C77D04-8009-E04A-9CFE-87ED74EBD26C}"/>
              </a:ext>
            </a:extLst>
          </p:cNvPr>
          <p:cNvSpPr>
            <a:spLocks noChangeShapeType="1"/>
          </p:cNvSpPr>
          <p:nvPr/>
        </p:nvSpPr>
        <p:spPr bwMode="auto">
          <a:xfrm>
            <a:off x="2057400" y="2209800"/>
            <a:ext cx="80010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28727" name="Line 81">
            <a:extLst>
              <a:ext uri="{FF2B5EF4-FFF2-40B4-BE49-F238E27FC236}">
                <a16:creationId xmlns:a16="http://schemas.microsoft.com/office/drawing/2014/main" id="{D10FE26D-D3FA-884F-BD53-A7CEBD02EDBB}"/>
              </a:ext>
            </a:extLst>
          </p:cNvPr>
          <p:cNvSpPr>
            <a:spLocks noChangeShapeType="1"/>
          </p:cNvSpPr>
          <p:nvPr/>
        </p:nvSpPr>
        <p:spPr bwMode="auto">
          <a:xfrm>
            <a:off x="2133600" y="1295400"/>
            <a:ext cx="80772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28728" name="Line 82">
            <a:extLst>
              <a:ext uri="{FF2B5EF4-FFF2-40B4-BE49-F238E27FC236}">
                <a16:creationId xmlns:a16="http://schemas.microsoft.com/office/drawing/2014/main" id="{94505C3B-B9B7-844E-8A81-6985FB6449F2}"/>
              </a:ext>
            </a:extLst>
          </p:cNvPr>
          <p:cNvSpPr>
            <a:spLocks noChangeShapeType="1"/>
          </p:cNvSpPr>
          <p:nvPr/>
        </p:nvSpPr>
        <p:spPr bwMode="auto">
          <a:xfrm>
            <a:off x="2057400" y="5334000"/>
            <a:ext cx="8001000" cy="0"/>
          </a:xfrm>
          <a:prstGeom prst="line">
            <a:avLst/>
          </a:prstGeom>
          <a:noFill/>
          <a:ln w="28575">
            <a:solidFill>
              <a:srgbClr val="000000"/>
            </a:solidFill>
            <a:prstDash val="dashDot"/>
            <a:round/>
            <a:headEnd/>
            <a:tailEnd/>
          </a:ln>
          <a:extLst>
            <a:ext uri="{909E8E84-426E-40DD-AFC4-6F175D3DCCD1}">
              <a14:hiddenFill xmlns:a14="http://schemas.microsoft.com/office/drawing/2010/main">
                <a:noFill/>
              </a14:hiddenFill>
            </a:ext>
          </a:extLst>
        </p:spPr>
        <p:txBody>
          <a:bodyPr/>
          <a:lstStyle/>
          <a:p>
            <a:endParaRPr lang="en-MX"/>
          </a:p>
        </p:txBody>
      </p:sp>
      <p:sp>
        <p:nvSpPr>
          <p:cNvPr id="28729" name="Text Box 83">
            <a:extLst>
              <a:ext uri="{FF2B5EF4-FFF2-40B4-BE49-F238E27FC236}">
                <a16:creationId xmlns:a16="http://schemas.microsoft.com/office/drawing/2014/main" id="{1FF6AF69-B432-5848-AEEC-2AE8DADA6359}"/>
              </a:ext>
            </a:extLst>
          </p:cNvPr>
          <p:cNvSpPr txBox="1">
            <a:spLocks noChangeArrowheads="1"/>
          </p:cNvSpPr>
          <p:nvPr/>
        </p:nvSpPr>
        <p:spPr bwMode="auto">
          <a:xfrm>
            <a:off x="2057401" y="6019801"/>
            <a:ext cx="7796213" cy="4667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sz="2400" b="0">
                <a:solidFill>
                  <a:srgbClr val="990033"/>
                </a:solidFill>
                <a:latin typeface="Arial" panose="020B0604020202020204" pitchFamily="34" charset="0"/>
              </a:rPr>
              <a:t>Best we can do is Program D,H4,E,F,C,(2/27)A </a:t>
            </a:r>
            <a:r>
              <a:rPr lang="en-US" altLang="en-MX" sz="2400">
                <a:solidFill>
                  <a:srgbClr val="990033"/>
                </a:solidFill>
                <a:latin typeface="Arial" panose="020B0604020202020204" pitchFamily="34" charset="0"/>
              </a:rPr>
              <a:t>= 277.2.</a:t>
            </a:r>
            <a:endParaRPr lang="en-US" altLang="en-MX" sz="2400" b="0">
              <a:solidFill>
                <a:srgbClr val="990033"/>
              </a:solidFill>
              <a:latin typeface="Arial" panose="020B0604020202020204" pitchFamily="34" charset="0"/>
            </a:endParaRPr>
          </a:p>
        </p:txBody>
      </p:sp>
    </p:spTree>
    <p:extLst>
      <p:ext uri="{BB962C8B-B14F-4D97-AF65-F5344CB8AC3E}">
        <p14:creationId xmlns:p14="http://schemas.microsoft.com/office/powerpoint/2010/main" val="824979337"/>
      </p:ext>
    </p:extLst>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ABE48FC7-A12D-754F-8693-731DBC7BF4DE}"/>
              </a:ext>
            </a:extLst>
          </p:cNvPr>
          <p:cNvSpPr>
            <a:spLocks noChangeArrowheads="1"/>
          </p:cNvSpPr>
          <p:nvPr/>
        </p:nvSpPr>
        <p:spPr bwMode="auto">
          <a:xfrm>
            <a:off x="2209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29699" name="Rectangle 3">
            <a:extLst>
              <a:ext uri="{FF2B5EF4-FFF2-40B4-BE49-F238E27FC236}">
                <a16:creationId xmlns:a16="http://schemas.microsoft.com/office/drawing/2014/main" id="{80448D90-480D-F249-B798-3182EB36641C}"/>
              </a:ext>
            </a:extLst>
          </p:cNvPr>
          <p:cNvSpPr>
            <a:spLocks noChangeArrowheads="1"/>
          </p:cNvSpPr>
          <p:nvPr/>
        </p:nvSpPr>
        <p:spPr bwMode="auto">
          <a:xfrm>
            <a:off x="4648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1155076" name="Rectangle 4">
            <a:extLst>
              <a:ext uri="{FF2B5EF4-FFF2-40B4-BE49-F238E27FC236}">
                <a16:creationId xmlns:a16="http://schemas.microsoft.com/office/drawing/2014/main" id="{9EDB7530-0434-2849-B9EC-71515E093643}"/>
              </a:ext>
            </a:extLst>
          </p:cNvPr>
          <p:cNvSpPr>
            <a:spLocks noGrp="1" noChangeArrowheads="1"/>
          </p:cNvSpPr>
          <p:nvPr>
            <p:ph type="title"/>
          </p:nvPr>
        </p:nvSpPr>
        <p:spPr>
          <a:xfrm>
            <a:off x="793630" y="304800"/>
            <a:ext cx="10593238" cy="990600"/>
          </a:xfrm>
        </p:spPr>
        <p:txBody>
          <a:bodyPr/>
          <a:lstStyle/>
          <a:p>
            <a:pPr>
              <a:defRPr/>
            </a:pPr>
            <a:r>
              <a:rPr lang="en-US" dirty="0"/>
              <a:t>Add H3 (closest to threshold)</a:t>
            </a:r>
            <a:endParaRPr lang="en-US" sz="3600" dirty="0"/>
          </a:p>
        </p:txBody>
      </p:sp>
      <p:graphicFrame>
        <p:nvGraphicFramePr>
          <p:cNvPr id="1155157" name="Group 85">
            <a:extLst>
              <a:ext uri="{FF2B5EF4-FFF2-40B4-BE49-F238E27FC236}">
                <a16:creationId xmlns:a16="http://schemas.microsoft.com/office/drawing/2014/main" id="{7E2F0114-89C2-A74D-BC7E-C909FA349420}"/>
              </a:ext>
            </a:extLst>
          </p:cNvPr>
          <p:cNvGraphicFramePr>
            <a:graphicFrameLocks noGrp="1"/>
          </p:cNvGraphicFramePr>
          <p:nvPr/>
        </p:nvGraphicFramePr>
        <p:xfrm>
          <a:off x="1981200" y="1371601"/>
          <a:ext cx="8305800" cy="4467226"/>
        </p:xfrm>
        <a:graphic>
          <a:graphicData uri="http://schemas.openxmlformats.org/drawingml/2006/table">
            <a:tbl>
              <a:tblPr/>
              <a:tblGrid>
                <a:gridCol w="1447800">
                  <a:extLst>
                    <a:ext uri="{9D8B030D-6E8A-4147-A177-3AD203B41FA5}">
                      <a16:colId xmlns:a16="http://schemas.microsoft.com/office/drawing/2014/main" val="20000"/>
                    </a:ext>
                  </a:extLst>
                </a:gridCol>
                <a:gridCol w="1138238">
                  <a:extLst>
                    <a:ext uri="{9D8B030D-6E8A-4147-A177-3AD203B41FA5}">
                      <a16:colId xmlns:a16="http://schemas.microsoft.com/office/drawing/2014/main" val="20001"/>
                    </a:ext>
                  </a:extLst>
                </a:gridCol>
                <a:gridCol w="1217612">
                  <a:extLst>
                    <a:ext uri="{9D8B030D-6E8A-4147-A177-3AD203B41FA5}">
                      <a16:colId xmlns:a16="http://schemas.microsoft.com/office/drawing/2014/main" val="20002"/>
                    </a:ext>
                  </a:extLst>
                </a:gridCol>
                <a:gridCol w="1163638">
                  <a:extLst>
                    <a:ext uri="{9D8B030D-6E8A-4147-A177-3AD203B41FA5}">
                      <a16:colId xmlns:a16="http://schemas.microsoft.com/office/drawing/2014/main" val="20003"/>
                    </a:ext>
                  </a:extLst>
                </a:gridCol>
                <a:gridCol w="361950">
                  <a:extLst>
                    <a:ext uri="{9D8B030D-6E8A-4147-A177-3AD203B41FA5}">
                      <a16:colId xmlns:a16="http://schemas.microsoft.com/office/drawing/2014/main" val="20004"/>
                    </a:ext>
                  </a:extLst>
                </a:gridCol>
                <a:gridCol w="1268412">
                  <a:extLst>
                    <a:ext uri="{9D8B030D-6E8A-4147-A177-3AD203B41FA5}">
                      <a16:colId xmlns:a16="http://schemas.microsoft.com/office/drawing/2014/main" val="20005"/>
                    </a:ext>
                  </a:extLst>
                </a:gridCol>
                <a:gridCol w="263525">
                  <a:extLst>
                    <a:ext uri="{9D8B030D-6E8A-4147-A177-3AD203B41FA5}">
                      <a16:colId xmlns:a16="http://schemas.microsoft.com/office/drawing/2014/main" val="20006"/>
                    </a:ext>
                  </a:extLst>
                </a:gridCol>
                <a:gridCol w="1444625">
                  <a:extLst>
                    <a:ext uri="{9D8B030D-6E8A-4147-A177-3AD203B41FA5}">
                      <a16:colId xmlns:a16="http://schemas.microsoft.com/office/drawing/2014/main" val="20007"/>
                    </a:ext>
                  </a:extLst>
                </a:gridCol>
              </a:tblGrid>
              <a:tr h="823018">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Program</a:t>
                      </a:r>
                    </a:p>
                  </a:txBody>
                  <a:tcPr marT="45723" marB="45723"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Cost ($)</a:t>
                      </a:r>
                    </a:p>
                  </a:txBody>
                  <a:tcPr marT="45723" marB="45723"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Effect</a:t>
                      </a:r>
                    </a:p>
                  </a:txBody>
                  <a:tcPr marT="45723" marB="45723"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C/E</a:t>
                      </a:r>
                    </a:p>
                  </a:txBody>
                  <a:tcPr marT="45723" marB="45723" horzOverflow="overflow">
                    <a:lnL>
                      <a:noFill/>
                    </a:lnL>
                    <a:lnR>
                      <a:noFill/>
                    </a:lnR>
                    <a:lnT cap="fla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Cum. Cost</a:t>
                      </a:r>
                    </a:p>
                  </a:txBody>
                  <a:tcPr marT="45723" marB="45723" horzOverflow="overflow">
                    <a:lnL>
                      <a:noFill/>
                    </a:lnL>
                    <a:lnR>
                      <a:noFill/>
                    </a:lnR>
                    <a:lnT cap="fla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Cum. Effect</a:t>
                      </a:r>
                    </a:p>
                  </a:txBody>
                  <a:tcPr marT="45723" marB="45723" horzOverflow="overflow">
                    <a:lnL>
                      <a:noFill/>
                    </a:lnL>
                    <a:lnR cap="flat">
                      <a:noFill/>
                    </a:lnR>
                    <a:lnT cap="flat">
                      <a:noFill/>
                    </a:lnT>
                    <a:lnB>
                      <a:noFill/>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518197">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D</a:t>
                      </a:r>
                    </a:p>
                  </a:txBody>
                  <a:tcPr marT="45723" marB="4572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40</a:t>
                      </a:r>
                    </a:p>
                  </a:txBody>
                  <a:tcPr marT="45723" marB="45723"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0.5</a:t>
                      </a:r>
                    </a:p>
                  </a:txBody>
                  <a:tcPr marT="45723" marB="45723"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a:t>
                      </a:r>
                    </a:p>
                  </a:txBody>
                  <a:tcPr marT="45723" marB="45723"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40</a:t>
                      </a:r>
                    </a:p>
                  </a:txBody>
                  <a:tcPr marT="45723" marB="4572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518197">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a:t>
                      </a:r>
                    </a:p>
                  </a:txBody>
                  <a:tcPr marT="45723" marB="4572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50</a:t>
                      </a:r>
                    </a:p>
                  </a:txBody>
                  <a:tcPr marT="45723" marB="45723"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0.6</a:t>
                      </a:r>
                    </a:p>
                  </a:txBody>
                  <a:tcPr marT="45723" marB="45723"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50</a:t>
                      </a:r>
                    </a:p>
                  </a:txBody>
                  <a:tcPr marT="45723" marB="45723"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90</a:t>
                      </a:r>
                    </a:p>
                  </a:txBody>
                  <a:tcPr marT="45723" marB="4572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518197">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F</a:t>
                      </a:r>
                    </a:p>
                  </a:txBody>
                  <a:tcPr marT="45723" marB="4572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50</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75</a:t>
                      </a:r>
                    </a:p>
                  </a:txBody>
                  <a:tcPr marT="45723" marB="45723"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0.67</a:t>
                      </a:r>
                    </a:p>
                  </a:txBody>
                  <a:tcPr marT="45723" marB="45723"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100</a:t>
                      </a:r>
                    </a:p>
                  </a:txBody>
                  <a:tcPr marT="45723" marB="45723"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165</a:t>
                      </a:r>
                    </a:p>
                  </a:txBody>
                  <a:tcPr marT="45723" marB="4572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18197">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H3</a:t>
                      </a:r>
                    </a:p>
                  </a:txBody>
                  <a:tcPr marT="45723" marB="4572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55</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70</a:t>
                      </a:r>
                    </a:p>
                  </a:txBody>
                  <a:tcPr marT="45723" marB="45723"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0.79</a:t>
                      </a:r>
                    </a:p>
                  </a:txBody>
                  <a:tcPr marT="45723" marB="45723"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155</a:t>
                      </a:r>
                    </a:p>
                  </a:txBody>
                  <a:tcPr marT="45723" marB="45723"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235</a:t>
                      </a:r>
                    </a:p>
                  </a:txBody>
                  <a:tcPr marT="45723" marB="4572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518197">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a:t>
                      </a:r>
                    </a:p>
                  </a:txBody>
                  <a:tcPr marT="45723" marB="4572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56</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70</a:t>
                      </a:r>
                    </a:p>
                  </a:txBody>
                  <a:tcPr marT="45723" marB="45723"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0.8</a:t>
                      </a:r>
                    </a:p>
                  </a:txBody>
                  <a:tcPr marT="45723" marB="45723"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211</a:t>
                      </a:r>
                    </a:p>
                  </a:txBody>
                  <a:tcPr marT="45723" marB="45723"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305</a:t>
                      </a:r>
                    </a:p>
                  </a:txBody>
                  <a:tcPr marT="45723" marB="4572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518197">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A</a:t>
                      </a:r>
                    </a:p>
                  </a:txBody>
                  <a:tcPr marT="45723" marB="4572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27</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a:t>
                      </a:r>
                    </a:p>
                  </a:txBody>
                  <a:tcPr marT="45723" marB="45723"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0.9</a:t>
                      </a:r>
                    </a:p>
                  </a:txBody>
                  <a:tcPr marT="45723" marB="45723"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23" marB="45723"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23" marB="4572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535026">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B</a:t>
                      </a:r>
                    </a:p>
                  </a:txBody>
                  <a:tcPr marT="45723" marB="45723"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a:t>
                      </a:r>
                    </a:p>
                  </a:txBody>
                  <a:tcPr marT="45723" marB="45723"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a:t>
                      </a:r>
                    </a:p>
                  </a:txBody>
                  <a:tcPr marT="45723" marB="45723" horzOverflow="overflow">
                    <a:lnL>
                      <a:noFill/>
                    </a:lnL>
                    <a:lnR>
                      <a:noFill/>
                    </a:lnR>
                    <a:lnT>
                      <a:noFill/>
                    </a:lnT>
                    <a:lnB cap="flat">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1.5</a:t>
                      </a:r>
                    </a:p>
                  </a:txBody>
                  <a:tcPr marT="45723" marB="45723" horzOverflow="overflow">
                    <a:lnL>
                      <a:noFill/>
                    </a:lnL>
                    <a:lnR>
                      <a:noFill/>
                    </a:lnR>
                    <a:lnT>
                      <a:noFill/>
                    </a:lnT>
                    <a:lnB cap="flat">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23" marB="45723" horzOverflow="overflow">
                    <a:lnL>
                      <a:noFill/>
                    </a:lnL>
                    <a:lnR>
                      <a:noFill/>
                    </a:lnR>
                    <a:lnT>
                      <a:noFill/>
                    </a:lnT>
                    <a:lnB cap="flat">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23" marB="45723"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7"/>
                  </a:ext>
                </a:extLst>
              </a:tr>
            </a:tbl>
          </a:graphicData>
        </a:graphic>
      </p:graphicFrame>
      <p:sp>
        <p:nvSpPr>
          <p:cNvPr id="29750" name="Line 78">
            <a:extLst>
              <a:ext uri="{FF2B5EF4-FFF2-40B4-BE49-F238E27FC236}">
                <a16:creationId xmlns:a16="http://schemas.microsoft.com/office/drawing/2014/main" id="{C074D619-FB8E-744B-9974-7FA4F50A5E2C}"/>
              </a:ext>
            </a:extLst>
          </p:cNvPr>
          <p:cNvSpPr>
            <a:spLocks noChangeShapeType="1"/>
          </p:cNvSpPr>
          <p:nvPr/>
        </p:nvSpPr>
        <p:spPr bwMode="auto">
          <a:xfrm>
            <a:off x="1905000" y="2209800"/>
            <a:ext cx="80772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29751" name="Line 79">
            <a:extLst>
              <a:ext uri="{FF2B5EF4-FFF2-40B4-BE49-F238E27FC236}">
                <a16:creationId xmlns:a16="http://schemas.microsoft.com/office/drawing/2014/main" id="{77F3704C-2F71-824B-8480-ACA5875C0A5F}"/>
              </a:ext>
            </a:extLst>
          </p:cNvPr>
          <p:cNvSpPr>
            <a:spLocks noChangeShapeType="1"/>
          </p:cNvSpPr>
          <p:nvPr/>
        </p:nvSpPr>
        <p:spPr bwMode="auto">
          <a:xfrm>
            <a:off x="1981200" y="1295400"/>
            <a:ext cx="80772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29752" name="Text Box 80">
            <a:extLst>
              <a:ext uri="{FF2B5EF4-FFF2-40B4-BE49-F238E27FC236}">
                <a16:creationId xmlns:a16="http://schemas.microsoft.com/office/drawing/2014/main" id="{E5CBDFB4-DC9B-5F4B-B364-BD1277D02F40}"/>
              </a:ext>
            </a:extLst>
          </p:cNvPr>
          <p:cNvSpPr txBox="1">
            <a:spLocks noChangeArrowheads="1"/>
          </p:cNvSpPr>
          <p:nvPr/>
        </p:nvSpPr>
        <p:spPr bwMode="auto">
          <a:xfrm>
            <a:off x="1981200" y="5867401"/>
            <a:ext cx="8153400" cy="4667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sz="2400" b="0">
                <a:solidFill>
                  <a:srgbClr val="990033"/>
                </a:solidFill>
                <a:latin typeface="Arial" panose="020B0604020202020204" pitchFamily="34" charset="0"/>
              </a:rPr>
              <a:t>Best we can do is Program D,E,F,H3,(25/56)C </a:t>
            </a:r>
            <a:r>
              <a:rPr lang="en-US" altLang="en-MX" sz="2400">
                <a:solidFill>
                  <a:srgbClr val="990033"/>
                </a:solidFill>
                <a:latin typeface="Arial" panose="020B0604020202020204" pitchFamily="34" charset="0"/>
              </a:rPr>
              <a:t>= 266.25</a:t>
            </a:r>
            <a:r>
              <a:rPr lang="en-US" altLang="en-MX" sz="2400" b="0">
                <a:solidFill>
                  <a:srgbClr val="990033"/>
                </a:solidFill>
                <a:latin typeface="Arial" panose="020B0604020202020204" pitchFamily="34" charset="0"/>
              </a:rPr>
              <a:t>.</a:t>
            </a:r>
          </a:p>
        </p:txBody>
      </p:sp>
      <p:sp>
        <p:nvSpPr>
          <p:cNvPr id="29753" name="Line 81">
            <a:extLst>
              <a:ext uri="{FF2B5EF4-FFF2-40B4-BE49-F238E27FC236}">
                <a16:creationId xmlns:a16="http://schemas.microsoft.com/office/drawing/2014/main" id="{8B5A32F8-65B7-B047-9E7C-30150FBD0A2D}"/>
              </a:ext>
            </a:extLst>
          </p:cNvPr>
          <p:cNvSpPr>
            <a:spLocks noChangeShapeType="1"/>
          </p:cNvSpPr>
          <p:nvPr/>
        </p:nvSpPr>
        <p:spPr bwMode="auto">
          <a:xfrm>
            <a:off x="1981200" y="4800600"/>
            <a:ext cx="8001000" cy="0"/>
          </a:xfrm>
          <a:prstGeom prst="line">
            <a:avLst/>
          </a:prstGeom>
          <a:noFill/>
          <a:ln w="28575">
            <a:solidFill>
              <a:srgbClr val="000000"/>
            </a:solidFill>
            <a:prstDash val="dashDot"/>
            <a:round/>
            <a:headEnd/>
            <a:tailEnd/>
          </a:ln>
          <a:extLst>
            <a:ext uri="{909E8E84-426E-40DD-AFC4-6F175D3DCCD1}">
              <a14:hiddenFill xmlns:a14="http://schemas.microsoft.com/office/drawing/2010/main">
                <a:noFill/>
              </a14:hiddenFill>
            </a:ext>
          </a:extLst>
        </p:spPr>
        <p:txBody>
          <a:bodyPr/>
          <a:lstStyle/>
          <a:p>
            <a:endParaRPr lang="en-MX"/>
          </a:p>
        </p:txBody>
      </p:sp>
    </p:spTree>
    <p:extLst>
      <p:ext uri="{BB962C8B-B14F-4D97-AF65-F5344CB8AC3E}">
        <p14:creationId xmlns:p14="http://schemas.microsoft.com/office/powerpoint/2010/main" val="288521949"/>
      </p:ext>
    </p:extLst>
  </p:cSld>
  <p:clrMapOvr>
    <a:masterClrMapping/>
  </p:clrMapOv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4D413531-92A5-4449-A215-02F516F1A161}"/>
              </a:ext>
            </a:extLst>
          </p:cNvPr>
          <p:cNvSpPr>
            <a:spLocks noChangeArrowheads="1"/>
          </p:cNvSpPr>
          <p:nvPr/>
        </p:nvSpPr>
        <p:spPr bwMode="auto">
          <a:xfrm>
            <a:off x="2209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30723" name="Rectangle 3">
            <a:extLst>
              <a:ext uri="{FF2B5EF4-FFF2-40B4-BE49-F238E27FC236}">
                <a16:creationId xmlns:a16="http://schemas.microsoft.com/office/drawing/2014/main" id="{7698C7EF-AD26-FF4A-A554-0E83554CA628}"/>
              </a:ext>
            </a:extLst>
          </p:cNvPr>
          <p:cNvSpPr>
            <a:spLocks noChangeArrowheads="1"/>
          </p:cNvSpPr>
          <p:nvPr/>
        </p:nvSpPr>
        <p:spPr bwMode="auto">
          <a:xfrm>
            <a:off x="4648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1157124" name="Rectangle 4">
            <a:extLst>
              <a:ext uri="{FF2B5EF4-FFF2-40B4-BE49-F238E27FC236}">
                <a16:creationId xmlns:a16="http://schemas.microsoft.com/office/drawing/2014/main" id="{80E844F7-3C14-674C-B52A-6C2718A56E0D}"/>
              </a:ext>
            </a:extLst>
          </p:cNvPr>
          <p:cNvSpPr>
            <a:spLocks noGrp="1" noChangeArrowheads="1"/>
          </p:cNvSpPr>
          <p:nvPr>
            <p:ph type="title"/>
          </p:nvPr>
        </p:nvSpPr>
        <p:spPr>
          <a:xfrm>
            <a:off x="871268" y="304800"/>
            <a:ext cx="10394830" cy="990600"/>
          </a:xfrm>
        </p:spPr>
        <p:txBody>
          <a:bodyPr/>
          <a:lstStyle/>
          <a:p>
            <a:pPr>
              <a:defRPr/>
            </a:pPr>
            <a:r>
              <a:rPr lang="en-US" dirty="0"/>
              <a:t>Let’s try adding H2</a:t>
            </a:r>
            <a:endParaRPr lang="en-US" sz="3600" dirty="0"/>
          </a:p>
        </p:txBody>
      </p:sp>
      <p:graphicFrame>
        <p:nvGraphicFramePr>
          <p:cNvPr id="1157203" name="Group 83">
            <a:extLst>
              <a:ext uri="{FF2B5EF4-FFF2-40B4-BE49-F238E27FC236}">
                <a16:creationId xmlns:a16="http://schemas.microsoft.com/office/drawing/2014/main" id="{2C07A157-F9BA-364C-A2E0-04F682BB83C8}"/>
              </a:ext>
            </a:extLst>
          </p:cNvPr>
          <p:cNvGraphicFramePr>
            <a:graphicFrameLocks noGrp="1"/>
          </p:cNvGraphicFramePr>
          <p:nvPr/>
        </p:nvGraphicFramePr>
        <p:xfrm>
          <a:off x="1981200" y="1371601"/>
          <a:ext cx="8305800" cy="4467226"/>
        </p:xfrm>
        <a:graphic>
          <a:graphicData uri="http://schemas.openxmlformats.org/drawingml/2006/table">
            <a:tbl>
              <a:tblPr/>
              <a:tblGrid>
                <a:gridCol w="1447800">
                  <a:extLst>
                    <a:ext uri="{9D8B030D-6E8A-4147-A177-3AD203B41FA5}">
                      <a16:colId xmlns:a16="http://schemas.microsoft.com/office/drawing/2014/main" val="20000"/>
                    </a:ext>
                  </a:extLst>
                </a:gridCol>
                <a:gridCol w="1138238">
                  <a:extLst>
                    <a:ext uri="{9D8B030D-6E8A-4147-A177-3AD203B41FA5}">
                      <a16:colId xmlns:a16="http://schemas.microsoft.com/office/drawing/2014/main" val="20001"/>
                    </a:ext>
                  </a:extLst>
                </a:gridCol>
                <a:gridCol w="1217612">
                  <a:extLst>
                    <a:ext uri="{9D8B030D-6E8A-4147-A177-3AD203B41FA5}">
                      <a16:colId xmlns:a16="http://schemas.microsoft.com/office/drawing/2014/main" val="20002"/>
                    </a:ext>
                  </a:extLst>
                </a:gridCol>
                <a:gridCol w="1163638">
                  <a:extLst>
                    <a:ext uri="{9D8B030D-6E8A-4147-A177-3AD203B41FA5}">
                      <a16:colId xmlns:a16="http://schemas.microsoft.com/office/drawing/2014/main" val="20003"/>
                    </a:ext>
                  </a:extLst>
                </a:gridCol>
                <a:gridCol w="361950">
                  <a:extLst>
                    <a:ext uri="{9D8B030D-6E8A-4147-A177-3AD203B41FA5}">
                      <a16:colId xmlns:a16="http://schemas.microsoft.com/office/drawing/2014/main" val="20004"/>
                    </a:ext>
                  </a:extLst>
                </a:gridCol>
                <a:gridCol w="1268412">
                  <a:extLst>
                    <a:ext uri="{9D8B030D-6E8A-4147-A177-3AD203B41FA5}">
                      <a16:colId xmlns:a16="http://schemas.microsoft.com/office/drawing/2014/main" val="20005"/>
                    </a:ext>
                  </a:extLst>
                </a:gridCol>
                <a:gridCol w="263525">
                  <a:extLst>
                    <a:ext uri="{9D8B030D-6E8A-4147-A177-3AD203B41FA5}">
                      <a16:colId xmlns:a16="http://schemas.microsoft.com/office/drawing/2014/main" val="20006"/>
                    </a:ext>
                  </a:extLst>
                </a:gridCol>
                <a:gridCol w="1444625">
                  <a:extLst>
                    <a:ext uri="{9D8B030D-6E8A-4147-A177-3AD203B41FA5}">
                      <a16:colId xmlns:a16="http://schemas.microsoft.com/office/drawing/2014/main" val="20007"/>
                    </a:ext>
                  </a:extLst>
                </a:gridCol>
              </a:tblGrid>
              <a:tr h="823018">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Program</a:t>
                      </a:r>
                    </a:p>
                  </a:txBody>
                  <a:tcPr marT="45723" marB="45723"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Cost ($)</a:t>
                      </a:r>
                    </a:p>
                  </a:txBody>
                  <a:tcPr marT="45723" marB="45723"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Effect</a:t>
                      </a:r>
                    </a:p>
                  </a:txBody>
                  <a:tcPr marT="45723" marB="45723"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C/E</a:t>
                      </a:r>
                    </a:p>
                  </a:txBody>
                  <a:tcPr marT="45723" marB="45723" horzOverflow="overflow">
                    <a:lnL>
                      <a:noFill/>
                    </a:lnL>
                    <a:lnR>
                      <a:noFill/>
                    </a:lnR>
                    <a:lnT cap="fla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Cum. Cost</a:t>
                      </a:r>
                    </a:p>
                  </a:txBody>
                  <a:tcPr marT="45723" marB="45723" horzOverflow="overflow">
                    <a:lnL>
                      <a:noFill/>
                    </a:lnL>
                    <a:lnR>
                      <a:noFill/>
                    </a:lnR>
                    <a:lnT cap="fla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Cum. Effect</a:t>
                      </a:r>
                    </a:p>
                  </a:txBody>
                  <a:tcPr marT="45723" marB="45723" horzOverflow="overflow">
                    <a:lnL>
                      <a:noFill/>
                    </a:lnL>
                    <a:lnR cap="flat">
                      <a:noFill/>
                    </a:lnR>
                    <a:lnT cap="flat">
                      <a:noFill/>
                    </a:lnT>
                    <a:lnB>
                      <a:noFill/>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518197">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D</a:t>
                      </a:r>
                    </a:p>
                  </a:txBody>
                  <a:tcPr marT="45723" marB="4572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40</a:t>
                      </a:r>
                    </a:p>
                  </a:txBody>
                  <a:tcPr marT="45723" marB="45723"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0.5</a:t>
                      </a:r>
                    </a:p>
                  </a:txBody>
                  <a:tcPr marT="45723" marB="45723"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a:t>
                      </a:r>
                    </a:p>
                  </a:txBody>
                  <a:tcPr marT="45723" marB="45723"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40</a:t>
                      </a:r>
                    </a:p>
                  </a:txBody>
                  <a:tcPr marT="45723" marB="4572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518197">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a:t>
                      </a:r>
                    </a:p>
                  </a:txBody>
                  <a:tcPr marT="45723" marB="4572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50</a:t>
                      </a:r>
                    </a:p>
                  </a:txBody>
                  <a:tcPr marT="45723" marB="45723"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0.6</a:t>
                      </a:r>
                    </a:p>
                  </a:txBody>
                  <a:tcPr marT="45723" marB="45723"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50</a:t>
                      </a:r>
                    </a:p>
                  </a:txBody>
                  <a:tcPr marT="45723" marB="45723"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90</a:t>
                      </a:r>
                    </a:p>
                  </a:txBody>
                  <a:tcPr marT="45723" marB="4572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518197">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H2</a:t>
                      </a:r>
                    </a:p>
                  </a:txBody>
                  <a:tcPr marT="45723" marB="4572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40</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65</a:t>
                      </a:r>
                    </a:p>
                  </a:txBody>
                  <a:tcPr marT="45723" marB="45723"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0.62</a:t>
                      </a:r>
                    </a:p>
                  </a:txBody>
                  <a:tcPr marT="45723" marB="45723"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90</a:t>
                      </a:r>
                    </a:p>
                  </a:txBody>
                  <a:tcPr marT="45723" marB="45723"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155</a:t>
                      </a:r>
                    </a:p>
                  </a:txBody>
                  <a:tcPr marT="45723" marB="4572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18197">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F</a:t>
                      </a:r>
                    </a:p>
                  </a:txBody>
                  <a:tcPr marT="45723" marB="4572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50</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75</a:t>
                      </a:r>
                    </a:p>
                  </a:txBody>
                  <a:tcPr marT="45723" marB="45723"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0.67</a:t>
                      </a:r>
                    </a:p>
                  </a:txBody>
                  <a:tcPr marT="45723" marB="45723"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140</a:t>
                      </a:r>
                    </a:p>
                  </a:txBody>
                  <a:tcPr marT="45723" marB="45723"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230</a:t>
                      </a:r>
                    </a:p>
                  </a:txBody>
                  <a:tcPr marT="45723" marB="4572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518197">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a:t>
                      </a:r>
                    </a:p>
                  </a:txBody>
                  <a:tcPr marT="45723" marB="4572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56</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70</a:t>
                      </a:r>
                    </a:p>
                  </a:txBody>
                  <a:tcPr marT="45723" marB="45723"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0.8</a:t>
                      </a:r>
                    </a:p>
                  </a:txBody>
                  <a:tcPr marT="45723" marB="45723"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196</a:t>
                      </a:r>
                    </a:p>
                  </a:txBody>
                  <a:tcPr marT="45723" marB="45723"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300</a:t>
                      </a:r>
                    </a:p>
                  </a:txBody>
                  <a:tcPr marT="45723" marB="4572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518197">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A</a:t>
                      </a:r>
                    </a:p>
                  </a:txBody>
                  <a:tcPr marT="45723" marB="4572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27</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a:t>
                      </a:r>
                    </a:p>
                  </a:txBody>
                  <a:tcPr marT="45723" marB="45723"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0.9</a:t>
                      </a:r>
                    </a:p>
                  </a:txBody>
                  <a:tcPr marT="45723" marB="45723"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23" marB="45723"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23" marB="4572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535026">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B</a:t>
                      </a:r>
                    </a:p>
                  </a:txBody>
                  <a:tcPr marT="45723" marB="45723"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a:t>
                      </a:r>
                    </a:p>
                  </a:txBody>
                  <a:tcPr marT="45723" marB="45723"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a:t>
                      </a:r>
                    </a:p>
                  </a:txBody>
                  <a:tcPr marT="45723" marB="45723" horzOverflow="overflow">
                    <a:lnL>
                      <a:noFill/>
                    </a:lnL>
                    <a:lnR>
                      <a:noFill/>
                    </a:lnR>
                    <a:lnT>
                      <a:noFill/>
                    </a:lnT>
                    <a:lnB cap="flat">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1.5</a:t>
                      </a:r>
                    </a:p>
                  </a:txBody>
                  <a:tcPr marT="45723" marB="45723" horzOverflow="overflow">
                    <a:lnL>
                      <a:noFill/>
                    </a:lnL>
                    <a:lnR>
                      <a:noFill/>
                    </a:lnR>
                    <a:lnT>
                      <a:noFill/>
                    </a:lnT>
                    <a:lnB cap="flat">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23" marB="45723" horzOverflow="overflow">
                    <a:lnL>
                      <a:noFill/>
                    </a:lnL>
                    <a:lnR>
                      <a:noFill/>
                    </a:lnR>
                    <a:lnT>
                      <a:noFill/>
                    </a:lnT>
                    <a:lnB cap="flat">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23" marB="45723"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7"/>
                  </a:ext>
                </a:extLst>
              </a:tr>
            </a:tbl>
          </a:graphicData>
        </a:graphic>
      </p:graphicFrame>
      <p:sp>
        <p:nvSpPr>
          <p:cNvPr id="30774" name="Line 78">
            <a:extLst>
              <a:ext uri="{FF2B5EF4-FFF2-40B4-BE49-F238E27FC236}">
                <a16:creationId xmlns:a16="http://schemas.microsoft.com/office/drawing/2014/main" id="{9E7A36F9-41B5-664D-B0ED-F8AD839D3185}"/>
              </a:ext>
            </a:extLst>
          </p:cNvPr>
          <p:cNvSpPr>
            <a:spLocks noChangeShapeType="1"/>
          </p:cNvSpPr>
          <p:nvPr/>
        </p:nvSpPr>
        <p:spPr bwMode="auto">
          <a:xfrm>
            <a:off x="1981200" y="2209800"/>
            <a:ext cx="81534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30775" name="Line 79">
            <a:extLst>
              <a:ext uri="{FF2B5EF4-FFF2-40B4-BE49-F238E27FC236}">
                <a16:creationId xmlns:a16="http://schemas.microsoft.com/office/drawing/2014/main" id="{9A64BCFB-5BD4-3442-9FF4-8010E6E53725}"/>
              </a:ext>
            </a:extLst>
          </p:cNvPr>
          <p:cNvSpPr>
            <a:spLocks noChangeShapeType="1"/>
          </p:cNvSpPr>
          <p:nvPr/>
        </p:nvSpPr>
        <p:spPr bwMode="auto">
          <a:xfrm>
            <a:off x="1981200" y="1295400"/>
            <a:ext cx="82296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30776" name="Text Box 80">
            <a:extLst>
              <a:ext uri="{FF2B5EF4-FFF2-40B4-BE49-F238E27FC236}">
                <a16:creationId xmlns:a16="http://schemas.microsoft.com/office/drawing/2014/main" id="{488159CC-1D2D-C547-920A-869F97C177BD}"/>
              </a:ext>
            </a:extLst>
          </p:cNvPr>
          <p:cNvSpPr txBox="1">
            <a:spLocks noChangeArrowheads="1"/>
          </p:cNvSpPr>
          <p:nvPr/>
        </p:nvSpPr>
        <p:spPr bwMode="auto">
          <a:xfrm>
            <a:off x="1905001" y="5867401"/>
            <a:ext cx="8018463" cy="4667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sz="2400" b="0">
                <a:solidFill>
                  <a:srgbClr val="990033"/>
                </a:solidFill>
                <a:latin typeface="Arial" panose="020B0604020202020204" pitchFamily="34" charset="0"/>
              </a:rPr>
              <a:t>Best we can do is Program D,E,H2,F,(40/56)C </a:t>
            </a:r>
            <a:r>
              <a:rPr lang="en-US" altLang="en-MX" sz="2400">
                <a:solidFill>
                  <a:srgbClr val="990033"/>
                </a:solidFill>
                <a:latin typeface="Arial" panose="020B0604020202020204" pitchFamily="34" charset="0"/>
              </a:rPr>
              <a:t>= 280</a:t>
            </a:r>
            <a:r>
              <a:rPr lang="en-US" altLang="en-MX" sz="2400" b="0">
                <a:solidFill>
                  <a:srgbClr val="990033"/>
                </a:solidFill>
                <a:latin typeface="Arial" panose="020B0604020202020204" pitchFamily="34" charset="0"/>
              </a:rPr>
              <a:t>.</a:t>
            </a:r>
          </a:p>
        </p:txBody>
      </p:sp>
      <p:sp>
        <p:nvSpPr>
          <p:cNvPr id="30777" name="Line 81">
            <a:extLst>
              <a:ext uri="{FF2B5EF4-FFF2-40B4-BE49-F238E27FC236}">
                <a16:creationId xmlns:a16="http://schemas.microsoft.com/office/drawing/2014/main" id="{047F3439-46C2-C84A-89C3-787E3727CA8F}"/>
              </a:ext>
            </a:extLst>
          </p:cNvPr>
          <p:cNvSpPr>
            <a:spLocks noChangeShapeType="1"/>
          </p:cNvSpPr>
          <p:nvPr/>
        </p:nvSpPr>
        <p:spPr bwMode="auto">
          <a:xfrm>
            <a:off x="1981200" y="4724400"/>
            <a:ext cx="8001000" cy="0"/>
          </a:xfrm>
          <a:prstGeom prst="line">
            <a:avLst/>
          </a:prstGeom>
          <a:noFill/>
          <a:ln w="28575">
            <a:solidFill>
              <a:srgbClr val="000000"/>
            </a:solidFill>
            <a:prstDash val="dashDot"/>
            <a:round/>
            <a:headEnd/>
            <a:tailEnd/>
          </a:ln>
          <a:extLst>
            <a:ext uri="{909E8E84-426E-40DD-AFC4-6F175D3DCCD1}">
              <a14:hiddenFill xmlns:a14="http://schemas.microsoft.com/office/drawing/2010/main">
                <a:noFill/>
              </a14:hiddenFill>
            </a:ext>
          </a:extLst>
        </p:spPr>
        <p:txBody>
          <a:bodyPr/>
          <a:lstStyle/>
          <a:p>
            <a:endParaRPr lang="en-MX"/>
          </a:p>
        </p:txBody>
      </p:sp>
    </p:spTree>
    <p:extLst>
      <p:ext uri="{BB962C8B-B14F-4D97-AF65-F5344CB8AC3E}">
        <p14:creationId xmlns:p14="http://schemas.microsoft.com/office/powerpoint/2010/main" val="3571217550"/>
      </p:ext>
    </p:extLst>
  </p:cSld>
  <p:clrMapOvr>
    <a:masterClrMapping/>
  </p:clrMapOv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2178" name="Rectangle 2">
            <a:extLst>
              <a:ext uri="{FF2B5EF4-FFF2-40B4-BE49-F238E27FC236}">
                <a16:creationId xmlns:a16="http://schemas.microsoft.com/office/drawing/2014/main" id="{855FFBF3-BB1B-6C42-BFA7-864F95826498}"/>
              </a:ext>
            </a:extLst>
          </p:cNvPr>
          <p:cNvSpPr>
            <a:spLocks noGrp="1" noChangeArrowheads="1"/>
          </p:cNvSpPr>
          <p:nvPr>
            <p:ph type="title"/>
          </p:nvPr>
        </p:nvSpPr>
        <p:spPr>
          <a:xfrm>
            <a:off x="838200" y="365126"/>
            <a:ext cx="10515600" cy="937464"/>
          </a:xfrm>
        </p:spPr>
        <p:txBody>
          <a:bodyPr>
            <a:normAutofit/>
          </a:bodyPr>
          <a:lstStyle/>
          <a:p>
            <a:pPr>
              <a:defRPr/>
            </a:pPr>
            <a:r>
              <a:rPr lang="en-US" dirty="0"/>
              <a:t>Incremental Cost-Effectiveness Analysis</a:t>
            </a:r>
          </a:p>
        </p:txBody>
      </p:sp>
      <p:sp>
        <p:nvSpPr>
          <p:cNvPr id="31747" name="Rectangle 3">
            <a:extLst>
              <a:ext uri="{FF2B5EF4-FFF2-40B4-BE49-F238E27FC236}">
                <a16:creationId xmlns:a16="http://schemas.microsoft.com/office/drawing/2014/main" id="{0793A29A-EDDB-9347-B6EB-AE438CB5CEDD}"/>
              </a:ext>
            </a:extLst>
          </p:cNvPr>
          <p:cNvSpPr>
            <a:spLocks noGrp="1" noChangeArrowheads="1"/>
          </p:cNvSpPr>
          <p:nvPr>
            <p:ph type="body" idx="1"/>
          </p:nvPr>
        </p:nvSpPr>
        <p:spPr>
          <a:xfrm>
            <a:off x="2209800" y="1981200"/>
            <a:ext cx="7772400" cy="3657600"/>
          </a:xfrm>
        </p:spPr>
        <p:txBody>
          <a:bodyPr/>
          <a:lstStyle/>
          <a:p>
            <a:pPr>
              <a:buNone/>
              <a:tabLst>
                <a:tab pos="3429000" algn="ctr"/>
                <a:tab pos="5943600" algn="ctr"/>
              </a:tabLst>
            </a:pPr>
            <a:r>
              <a:rPr lang="en-US" altLang="en-MX"/>
              <a:t>Program	Costs ($)	Effect</a:t>
            </a:r>
          </a:p>
          <a:p>
            <a:pPr>
              <a:buNone/>
              <a:tabLst>
                <a:tab pos="3429000" algn="ctr"/>
                <a:tab pos="5943600" algn="ctr"/>
              </a:tabLst>
            </a:pPr>
            <a:r>
              <a:rPr lang="en-US" altLang="en-MX"/>
              <a:t>	H1	60	80</a:t>
            </a:r>
          </a:p>
          <a:p>
            <a:pPr>
              <a:buNone/>
              <a:tabLst>
                <a:tab pos="3429000" algn="ctr"/>
                <a:tab pos="5943600" algn="ctr"/>
              </a:tabLst>
            </a:pPr>
            <a:r>
              <a:rPr lang="en-US" altLang="en-MX"/>
              <a:t>	H2	40	65</a:t>
            </a:r>
          </a:p>
          <a:p>
            <a:pPr>
              <a:buNone/>
              <a:tabLst>
                <a:tab pos="3429000" algn="ctr"/>
                <a:tab pos="5943600" algn="ctr"/>
              </a:tabLst>
            </a:pPr>
            <a:r>
              <a:rPr lang="en-US" altLang="en-MX"/>
              <a:t>	H3	55	70</a:t>
            </a:r>
          </a:p>
          <a:p>
            <a:pPr>
              <a:buNone/>
              <a:tabLst>
                <a:tab pos="3429000" algn="ctr"/>
                <a:tab pos="5943600" algn="ctr"/>
              </a:tabLst>
            </a:pPr>
            <a:r>
              <a:rPr lang="en-US" altLang="en-MX"/>
              <a:t>	H4	22	40</a:t>
            </a:r>
          </a:p>
          <a:p>
            <a:pPr>
              <a:buNone/>
              <a:tabLst>
                <a:tab pos="3429000" algn="ctr"/>
                <a:tab pos="5943600" algn="ctr"/>
              </a:tabLst>
            </a:pPr>
            <a:r>
              <a:rPr lang="en-US" altLang="en-MX"/>
              <a:t>	H5	45	60</a:t>
            </a:r>
          </a:p>
        </p:txBody>
      </p:sp>
      <p:sp>
        <p:nvSpPr>
          <p:cNvPr id="1202180" name="Line 4">
            <a:extLst>
              <a:ext uri="{FF2B5EF4-FFF2-40B4-BE49-F238E27FC236}">
                <a16:creationId xmlns:a16="http://schemas.microsoft.com/office/drawing/2014/main" id="{17910861-5668-8C45-907E-400888224E86}"/>
              </a:ext>
            </a:extLst>
          </p:cNvPr>
          <p:cNvSpPr>
            <a:spLocks noChangeShapeType="1"/>
          </p:cNvSpPr>
          <p:nvPr/>
        </p:nvSpPr>
        <p:spPr bwMode="auto">
          <a:xfrm>
            <a:off x="2093344" y="5043578"/>
            <a:ext cx="7086600" cy="0"/>
          </a:xfrm>
          <a:prstGeom prst="line">
            <a:avLst/>
          </a:prstGeom>
          <a:noFill/>
          <a:ln w="19050">
            <a:solidFill>
              <a:srgbClr val="990033"/>
            </a:solidFill>
            <a:prstDash val="dash"/>
            <a:round/>
            <a:headEnd/>
            <a:tailEnd/>
          </a:ln>
          <a:extLst>
            <a:ext uri="{909E8E84-426E-40DD-AFC4-6F175D3DCCD1}">
              <a14:hiddenFill xmlns:a14="http://schemas.microsoft.com/office/drawing/2010/main">
                <a:noFill/>
              </a14:hiddenFill>
            </a:ext>
          </a:extLst>
        </p:spPr>
        <p:txBody>
          <a:bodyPr/>
          <a:lstStyle/>
          <a:p>
            <a:endParaRPr lang="en-MX"/>
          </a:p>
        </p:txBody>
      </p:sp>
      <p:sp>
        <p:nvSpPr>
          <p:cNvPr id="1202182" name="Text Box 6">
            <a:extLst>
              <a:ext uri="{FF2B5EF4-FFF2-40B4-BE49-F238E27FC236}">
                <a16:creationId xmlns:a16="http://schemas.microsoft.com/office/drawing/2014/main" id="{4430F3C0-3D26-AA4E-B111-7530EC34F47F}"/>
              </a:ext>
            </a:extLst>
          </p:cNvPr>
          <p:cNvSpPr txBox="1">
            <a:spLocks noChangeArrowheads="1"/>
          </p:cNvSpPr>
          <p:nvPr/>
        </p:nvSpPr>
        <p:spPr bwMode="auto">
          <a:xfrm>
            <a:off x="1981201" y="5943600"/>
            <a:ext cx="8380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sz="2400" dirty="0">
                <a:solidFill>
                  <a:srgbClr val="990033"/>
                </a:solidFill>
                <a:latin typeface="Arial" panose="020B0604020202020204" pitchFamily="34" charset="0"/>
              </a:rPr>
              <a:t>H5 costs more and is less effective than H2 (dominated)!</a:t>
            </a:r>
          </a:p>
        </p:txBody>
      </p:sp>
    </p:spTree>
    <p:extLst>
      <p:ext uri="{BB962C8B-B14F-4D97-AF65-F5344CB8AC3E}">
        <p14:creationId xmlns:p14="http://schemas.microsoft.com/office/powerpoint/2010/main" val="40357641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202180"/>
                                        </p:tgtEl>
                                        <p:attrNameLst>
                                          <p:attrName>style.visibility</p:attrName>
                                        </p:attrNameLst>
                                      </p:cBhvr>
                                      <p:to>
                                        <p:strVal val="visible"/>
                                      </p:to>
                                    </p:set>
                                    <p:anim calcmode="lin" valueType="num">
                                      <p:cBhvr additive="base">
                                        <p:cTn id="7" dur="1000" fill="hold"/>
                                        <p:tgtEl>
                                          <p:spTgt spid="1202180"/>
                                        </p:tgtEl>
                                        <p:attrNameLst>
                                          <p:attrName>ppt_x</p:attrName>
                                        </p:attrNameLst>
                                      </p:cBhvr>
                                      <p:tavLst>
                                        <p:tav tm="0">
                                          <p:val>
                                            <p:strVal val="0-#ppt_w/2"/>
                                          </p:val>
                                        </p:tav>
                                        <p:tav tm="100000">
                                          <p:val>
                                            <p:strVal val="#ppt_x"/>
                                          </p:val>
                                        </p:tav>
                                      </p:tavLst>
                                    </p:anim>
                                    <p:anim calcmode="lin" valueType="num">
                                      <p:cBhvr additive="base">
                                        <p:cTn id="8" dur="1000" fill="hold"/>
                                        <p:tgtEl>
                                          <p:spTgt spid="1202180"/>
                                        </p:tgtEl>
                                        <p:attrNameLst>
                                          <p:attrName>ppt_y</p:attrName>
                                        </p:attrNameLst>
                                      </p:cBhvr>
                                      <p:tavLst>
                                        <p:tav tm="0">
                                          <p:val>
                                            <p:strVal val="#ppt_y"/>
                                          </p:val>
                                        </p:tav>
                                        <p:tav tm="100000">
                                          <p:val>
                                            <p:strVal val="#ppt_y"/>
                                          </p:val>
                                        </p:tav>
                                      </p:tavLst>
                                    </p:anim>
                                  </p:childTnLst>
                                </p:cTn>
                              </p:par>
                              <p:par>
                                <p:cTn id="9" presetID="1" presetClass="entr" presetSubtype="0" fill="hold" grpId="0" nodeType="withEffect">
                                  <p:stCondLst>
                                    <p:cond delay="0"/>
                                  </p:stCondLst>
                                  <p:childTnLst>
                                    <p:set>
                                      <p:cBhvr>
                                        <p:cTn id="10" dur="1" fill="hold">
                                          <p:stCondLst>
                                            <p:cond delay="0"/>
                                          </p:stCondLst>
                                        </p:cTn>
                                        <p:tgtEl>
                                          <p:spTgt spid="12021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2182"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1220" name="Rectangle 4">
            <a:extLst>
              <a:ext uri="{FF2B5EF4-FFF2-40B4-BE49-F238E27FC236}">
                <a16:creationId xmlns:a16="http://schemas.microsoft.com/office/drawing/2014/main" id="{9E4E4A25-49AF-F441-91DD-6054EE178ECB}"/>
              </a:ext>
            </a:extLst>
          </p:cNvPr>
          <p:cNvSpPr>
            <a:spLocks noGrp="1" noChangeArrowheads="1"/>
          </p:cNvSpPr>
          <p:nvPr>
            <p:ph type="title"/>
          </p:nvPr>
        </p:nvSpPr>
        <p:spPr>
          <a:xfrm>
            <a:off x="681487" y="380999"/>
            <a:ext cx="10688128" cy="1370162"/>
          </a:xfrm>
        </p:spPr>
        <p:txBody>
          <a:bodyPr>
            <a:normAutofit/>
          </a:bodyPr>
          <a:lstStyle/>
          <a:p>
            <a:pPr>
              <a:defRPr/>
            </a:pPr>
            <a:r>
              <a:rPr lang="en-US" dirty="0"/>
              <a:t>Order in terms of increasing costs and effectiveness</a:t>
            </a:r>
          </a:p>
        </p:txBody>
      </p:sp>
      <p:graphicFrame>
        <p:nvGraphicFramePr>
          <p:cNvPr id="1161296" name="Group 80">
            <a:extLst>
              <a:ext uri="{FF2B5EF4-FFF2-40B4-BE49-F238E27FC236}">
                <a16:creationId xmlns:a16="http://schemas.microsoft.com/office/drawing/2014/main" id="{A46EACBB-3298-7C46-8E0C-362AB653EC35}"/>
              </a:ext>
            </a:extLst>
          </p:cNvPr>
          <p:cNvGraphicFramePr>
            <a:graphicFrameLocks noGrp="1"/>
          </p:cNvGraphicFramePr>
          <p:nvPr/>
        </p:nvGraphicFramePr>
        <p:xfrm>
          <a:off x="2133600" y="2209801"/>
          <a:ext cx="7772400" cy="3808413"/>
        </p:xfrm>
        <a:graphic>
          <a:graphicData uri="http://schemas.openxmlformats.org/drawingml/2006/table">
            <a:tbl>
              <a:tblPr/>
              <a:tblGrid>
                <a:gridCol w="1524000">
                  <a:extLst>
                    <a:ext uri="{9D8B030D-6E8A-4147-A177-3AD203B41FA5}">
                      <a16:colId xmlns:a16="http://schemas.microsoft.com/office/drawing/2014/main" val="20000"/>
                    </a:ext>
                  </a:extLst>
                </a:gridCol>
                <a:gridCol w="1038225">
                  <a:extLst>
                    <a:ext uri="{9D8B030D-6E8A-4147-A177-3AD203B41FA5}">
                      <a16:colId xmlns:a16="http://schemas.microsoft.com/office/drawing/2014/main" val="20001"/>
                    </a:ext>
                  </a:extLst>
                </a:gridCol>
                <a:gridCol w="1204913">
                  <a:extLst>
                    <a:ext uri="{9D8B030D-6E8A-4147-A177-3AD203B41FA5}">
                      <a16:colId xmlns:a16="http://schemas.microsoft.com/office/drawing/2014/main" val="20002"/>
                    </a:ext>
                  </a:extLst>
                </a:gridCol>
                <a:gridCol w="1077912">
                  <a:extLst>
                    <a:ext uri="{9D8B030D-6E8A-4147-A177-3AD203B41FA5}">
                      <a16:colId xmlns:a16="http://schemas.microsoft.com/office/drawing/2014/main" val="20003"/>
                    </a:ext>
                  </a:extLst>
                </a:gridCol>
                <a:gridCol w="1154113">
                  <a:extLst>
                    <a:ext uri="{9D8B030D-6E8A-4147-A177-3AD203B41FA5}">
                      <a16:colId xmlns:a16="http://schemas.microsoft.com/office/drawing/2014/main" val="20004"/>
                    </a:ext>
                  </a:extLst>
                </a:gridCol>
                <a:gridCol w="846137">
                  <a:extLst>
                    <a:ext uri="{9D8B030D-6E8A-4147-A177-3AD203B41FA5}">
                      <a16:colId xmlns:a16="http://schemas.microsoft.com/office/drawing/2014/main" val="20005"/>
                    </a:ext>
                  </a:extLst>
                </a:gridCol>
                <a:gridCol w="927100">
                  <a:extLst>
                    <a:ext uri="{9D8B030D-6E8A-4147-A177-3AD203B41FA5}">
                      <a16:colId xmlns:a16="http://schemas.microsoft.com/office/drawing/2014/main" val="20006"/>
                    </a:ext>
                  </a:extLst>
                </a:gridCol>
              </a:tblGrid>
              <a:tr h="121761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Program</a:t>
                      </a:r>
                    </a:p>
                  </a:txBody>
                  <a:tcPr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Cost ($)</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Effect</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1" u="none" strike="noStrike" cap="none" normalizeH="0" baseline="0">
                          <a:ln>
                            <a:noFill/>
                          </a:ln>
                          <a:solidFill>
                            <a:schemeClr val="tx1"/>
                          </a:solidFill>
                          <a:effectLst/>
                          <a:latin typeface="Arial" charset="0"/>
                        </a:rPr>
                        <a:t>Avg</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1" u="none" strike="noStrike" cap="none" normalizeH="0" baseline="0">
                          <a:ln>
                            <a:noFill/>
                          </a:ln>
                          <a:solidFill>
                            <a:schemeClr val="tx1"/>
                          </a:solidFill>
                          <a:effectLst/>
                          <a:latin typeface="Arial" charset="0"/>
                        </a:rPr>
                        <a:t>C/E</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Inc.</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Costs</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Inc.</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Eff.</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Inc.</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C/E</a:t>
                      </a:r>
                    </a:p>
                  </a:txBody>
                  <a:tcPr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45561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H4</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22</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0.55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45561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H2</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65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0.62</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18</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0.72</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45561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H3</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70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0.79</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45561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H1</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60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80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0.75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0.5</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45561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5"/>
                  </a:ext>
                </a:extLst>
              </a:tr>
            </a:tbl>
          </a:graphicData>
        </a:graphic>
      </p:graphicFrame>
      <p:sp>
        <p:nvSpPr>
          <p:cNvPr id="32814" name="Line 74">
            <a:extLst>
              <a:ext uri="{FF2B5EF4-FFF2-40B4-BE49-F238E27FC236}">
                <a16:creationId xmlns:a16="http://schemas.microsoft.com/office/drawing/2014/main" id="{09DB20B2-0C63-DE42-92C5-7883E985BCE3}"/>
              </a:ext>
            </a:extLst>
          </p:cNvPr>
          <p:cNvSpPr>
            <a:spLocks noChangeShapeType="1"/>
          </p:cNvSpPr>
          <p:nvPr/>
        </p:nvSpPr>
        <p:spPr bwMode="auto">
          <a:xfrm>
            <a:off x="2133600" y="2133600"/>
            <a:ext cx="80010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32815" name="Line 77">
            <a:extLst>
              <a:ext uri="{FF2B5EF4-FFF2-40B4-BE49-F238E27FC236}">
                <a16:creationId xmlns:a16="http://schemas.microsoft.com/office/drawing/2014/main" id="{9501959A-3E0D-6E4B-9DB1-FB8033CC52C8}"/>
              </a:ext>
            </a:extLst>
          </p:cNvPr>
          <p:cNvSpPr>
            <a:spLocks noChangeShapeType="1"/>
          </p:cNvSpPr>
          <p:nvPr/>
        </p:nvSpPr>
        <p:spPr bwMode="auto">
          <a:xfrm>
            <a:off x="2133600" y="3276600"/>
            <a:ext cx="80010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Tree>
    <p:extLst>
      <p:ext uri="{BB962C8B-B14F-4D97-AF65-F5344CB8AC3E}">
        <p14:creationId xmlns:p14="http://schemas.microsoft.com/office/powerpoint/2010/main" val="1948974105"/>
      </p:ext>
    </p:extLst>
  </p:cSld>
  <p:clrMapOvr>
    <a:masterClrMapping/>
  </p:clrMapOv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4226" name="Rectangle 2">
            <a:extLst>
              <a:ext uri="{FF2B5EF4-FFF2-40B4-BE49-F238E27FC236}">
                <a16:creationId xmlns:a16="http://schemas.microsoft.com/office/drawing/2014/main" id="{6C749618-46A7-D347-8D45-B11B6808FDCA}"/>
              </a:ext>
            </a:extLst>
          </p:cNvPr>
          <p:cNvSpPr>
            <a:spLocks noGrp="1" noChangeArrowheads="1"/>
          </p:cNvSpPr>
          <p:nvPr>
            <p:ph type="title"/>
          </p:nvPr>
        </p:nvSpPr>
        <p:spPr>
          <a:xfrm>
            <a:off x="793630" y="381000"/>
            <a:ext cx="10834778" cy="1066800"/>
          </a:xfrm>
        </p:spPr>
        <p:txBody>
          <a:bodyPr>
            <a:normAutofit/>
          </a:bodyPr>
          <a:lstStyle/>
          <a:p>
            <a:pPr>
              <a:defRPr/>
            </a:pPr>
            <a:r>
              <a:rPr lang="en-US" dirty="0"/>
              <a:t>Are incremental CE ratios increasing?</a:t>
            </a:r>
          </a:p>
        </p:txBody>
      </p:sp>
      <p:graphicFrame>
        <p:nvGraphicFramePr>
          <p:cNvPr id="1204227" name="Group 3">
            <a:extLst>
              <a:ext uri="{FF2B5EF4-FFF2-40B4-BE49-F238E27FC236}">
                <a16:creationId xmlns:a16="http://schemas.microsoft.com/office/drawing/2014/main" id="{DE50ADDB-CC8A-3D4D-91F4-313F8C96EAEC}"/>
              </a:ext>
            </a:extLst>
          </p:cNvPr>
          <p:cNvGraphicFramePr>
            <a:graphicFrameLocks noGrp="1"/>
          </p:cNvGraphicFramePr>
          <p:nvPr/>
        </p:nvGraphicFramePr>
        <p:xfrm>
          <a:off x="2133600" y="2209801"/>
          <a:ext cx="7772400" cy="3808413"/>
        </p:xfrm>
        <a:graphic>
          <a:graphicData uri="http://schemas.openxmlformats.org/drawingml/2006/table">
            <a:tbl>
              <a:tblPr/>
              <a:tblGrid>
                <a:gridCol w="1524000">
                  <a:extLst>
                    <a:ext uri="{9D8B030D-6E8A-4147-A177-3AD203B41FA5}">
                      <a16:colId xmlns:a16="http://schemas.microsoft.com/office/drawing/2014/main" val="20000"/>
                    </a:ext>
                  </a:extLst>
                </a:gridCol>
                <a:gridCol w="1038225">
                  <a:extLst>
                    <a:ext uri="{9D8B030D-6E8A-4147-A177-3AD203B41FA5}">
                      <a16:colId xmlns:a16="http://schemas.microsoft.com/office/drawing/2014/main" val="20001"/>
                    </a:ext>
                  </a:extLst>
                </a:gridCol>
                <a:gridCol w="1204913">
                  <a:extLst>
                    <a:ext uri="{9D8B030D-6E8A-4147-A177-3AD203B41FA5}">
                      <a16:colId xmlns:a16="http://schemas.microsoft.com/office/drawing/2014/main" val="20002"/>
                    </a:ext>
                  </a:extLst>
                </a:gridCol>
                <a:gridCol w="1077912">
                  <a:extLst>
                    <a:ext uri="{9D8B030D-6E8A-4147-A177-3AD203B41FA5}">
                      <a16:colId xmlns:a16="http://schemas.microsoft.com/office/drawing/2014/main" val="20003"/>
                    </a:ext>
                  </a:extLst>
                </a:gridCol>
                <a:gridCol w="1154113">
                  <a:extLst>
                    <a:ext uri="{9D8B030D-6E8A-4147-A177-3AD203B41FA5}">
                      <a16:colId xmlns:a16="http://schemas.microsoft.com/office/drawing/2014/main" val="20004"/>
                    </a:ext>
                  </a:extLst>
                </a:gridCol>
                <a:gridCol w="846137">
                  <a:extLst>
                    <a:ext uri="{9D8B030D-6E8A-4147-A177-3AD203B41FA5}">
                      <a16:colId xmlns:a16="http://schemas.microsoft.com/office/drawing/2014/main" val="20005"/>
                    </a:ext>
                  </a:extLst>
                </a:gridCol>
                <a:gridCol w="927100">
                  <a:extLst>
                    <a:ext uri="{9D8B030D-6E8A-4147-A177-3AD203B41FA5}">
                      <a16:colId xmlns:a16="http://schemas.microsoft.com/office/drawing/2014/main" val="20006"/>
                    </a:ext>
                  </a:extLst>
                </a:gridCol>
              </a:tblGrid>
              <a:tr h="121761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Program</a:t>
                      </a:r>
                    </a:p>
                  </a:txBody>
                  <a:tcPr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Cost ($)</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Effect</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1" u="none" strike="noStrike" cap="none" normalizeH="0" baseline="0">
                          <a:ln>
                            <a:noFill/>
                          </a:ln>
                          <a:solidFill>
                            <a:schemeClr val="tx1"/>
                          </a:solidFill>
                          <a:effectLst/>
                          <a:latin typeface="Arial" charset="0"/>
                        </a:rPr>
                        <a:t>Avg</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1" u="none" strike="noStrike" cap="none" normalizeH="0" baseline="0">
                          <a:ln>
                            <a:noFill/>
                          </a:ln>
                          <a:solidFill>
                            <a:schemeClr val="tx1"/>
                          </a:solidFill>
                          <a:effectLst/>
                          <a:latin typeface="Arial" charset="0"/>
                        </a:rPr>
                        <a:t>C/E</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Inc.</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Costs</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Inc.</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Eff.</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Inc.</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C/E</a:t>
                      </a:r>
                    </a:p>
                  </a:txBody>
                  <a:tcPr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45561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H4</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22</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0.55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45561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H2</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65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0.62</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18</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0.72</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45561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H3</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70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0.79</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45561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H1</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60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80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0.75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0.5</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45561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5"/>
                  </a:ext>
                </a:extLst>
              </a:tr>
            </a:tbl>
          </a:graphicData>
        </a:graphic>
      </p:graphicFrame>
      <p:sp>
        <p:nvSpPr>
          <p:cNvPr id="33838" name="Line 72">
            <a:extLst>
              <a:ext uri="{FF2B5EF4-FFF2-40B4-BE49-F238E27FC236}">
                <a16:creationId xmlns:a16="http://schemas.microsoft.com/office/drawing/2014/main" id="{D8FB17A1-D75D-0F42-B1EF-70D39F84F7CE}"/>
              </a:ext>
            </a:extLst>
          </p:cNvPr>
          <p:cNvSpPr>
            <a:spLocks noChangeShapeType="1"/>
          </p:cNvSpPr>
          <p:nvPr/>
        </p:nvSpPr>
        <p:spPr bwMode="auto">
          <a:xfrm>
            <a:off x="2133600" y="2133600"/>
            <a:ext cx="80010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33839" name="Line 73">
            <a:extLst>
              <a:ext uri="{FF2B5EF4-FFF2-40B4-BE49-F238E27FC236}">
                <a16:creationId xmlns:a16="http://schemas.microsoft.com/office/drawing/2014/main" id="{1DD5BC04-2D8E-6C43-9442-316CEFE0AD9F}"/>
              </a:ext>
            </a:extLst>
          </p:cNvPr>
          <p:cNvSpPr>
            <a:spLocks noChangeShapeType="1"/>
          </p:cNvSpPr>
          <p:nvPr/>
        </p:nvSpPr>
        <p:spPr bwMode="auto">
          <a:xfrm>
            <a:off x="2133600" y="3276600"/>
            <a:ext cx="80010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1204298" name="Line 74">
            <a:extLst>
              <a:ext uri="{FF2B5EF4-FFF2-40B4-BE49-F238E27FC236}">
                <a16:creationId xmlns:a16="http://schemas.microsoft.com/office/drawing/2014/main" id="{B578E5F6-D103-9D4C-867A-AD4EAFBBD76D}"/>
              </a:ext>
            </a:extLst>
          </p:cNvPr>
          <p:cNvSpPr>
            <a:spLocks noChangeShapeType="1"/>
          </p:cNvSpPr>
          <p:nvPr/>
        </p:nvSpPr>
        <p:spPr bwMode="auto">
          <a:xfrm>
            <a:off x="2209800" y="4724400"/>
            <a:ext cx="7620000" cy="0"/>
          </a:xfrm>
          <a:prstGeom prst="line">
            <a:avLst/>
          </a:prstGeom>
          <a:noFill/>
          <a:ln w="19050">
            <a:solidFill>
              <a:srgbClr val="990033"/>
            </a:solidFill>
            <a:prstDash val="dash"/>
            <a:round/>
            <a:headEnd/>
            <a:tailEnd/>
          </a:ln>
          <a:extLst>
            <a:ext uri="{909E8E84-426E-40DD-AFC4-6F175D3DCCD1}">
              <a14:hiddenFill xmlns:a14="http://schemas.microsoft.com/office/drawing/2010/main">
                <a:noFill/>
              </a14:hiddenFill>
            </a:ext>
          </a:extLst>
        </p:spPr>
        <p:txBody>
          <a:bodyPr/>
          <a:lstStyle/>
          <a:p>
            <a:endParaRPr lang="en-MX"/>
          </a:p>
        </p:txBody>
      </p:sp>
      <p:sp>
        <p:nvSpPr>
          <p:cNvPr id="1204299" name="Text Box 75">
            <a:extLst>
              <a:ext uri="{FF2B5EF4-FFF2-40B4-BE49-F238E27FC236}">
                <a16:creationId xmlns:a16="http://schemas.microsoft.com/office/drawing/2014/main" id="{82004E01-4C8B-8146-8196-D8EE48095DC4}"/>
              </a:ext>
            </a:extLst>
          </p:cNvPr>
          <p:cNvSpPr txBox="1">
            <a:spLocks noChangeArrowheads="1"/>
          </p:cNvSpPr>
          <p:nvPr/>
        </p:nvSpPr>
        <p:spPr bwMode="auto">
          <a:xfrm>
            <a:off x="1905000" y="5638800"/>
            <a:ext cx="7226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sz="2400">
                <a:solidFill>
                  <a:srgbClr val="990033"/>
                </a:solidFill>
                <a:latin typeface="Arial" panose="020B0604020202020204" pitchFamily="34" charset="0"/>
              </a:rPr>
              <a:t>H3 eliminated by extended (or weak) dominance.</a:t>
            </a:r>
          </a:p>
        </p:txBody>
      </p:sp>
    </p:spTree>
    <p:extLst>
      <p:ext uri="{BB962C8B-B14F-4D97-AF65-F5344CB8AC3E}">
        <p14:creationId xmlns:p14="http://schemas.microsoft.com/office/powerpoint/2010/main" val="15243898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204298"/>
                                        </p:tgtEl>
                                        <p:attrNameLst>
                                          <p:attrName>style.visibility</p:attrName>
                                        </p:attrNameLst>
                                      </p:cBhvr>
                                      <p:to>
                                        <p:strVal val="visible"/>
                                      </p:to>
                                    </p:set>
                                    <p:anim calcmode="lin" valueType="num">
                                      <p:cBhvr additive="base">
                                        <p:cTn id="7" dur="1000" fill="hold"/>
                                        <p:tgtEl>
                                          <p:spTgt spid="1204298"/>
                                        </p:tgtEl>
                                        <p:attrNameLst>
                                          <p:attrName>ppt_x</p:attrName>
                                        </p:attrNameLst>
                                      </p:cBhvr>
                                      <p:tavLst>
                                        <p:tav tm="0">
                                          <p:val>
                                            <p:strVal val="0-#ppt_w/2"/>
                                          </p:val>
                                        </p:tav>
                                        <p:tav tm="100000">
                                          <p:val>
                                            <p:strVal val="#ppt_x"/>
                                          </p:val>
                                        </p:tav>
                                      </p:tavLst>
                                    </p:anim>
                                    <p:anim calcmode="lin" valueType="num">
                                      <p:cBhvr additive="base">
                                        <p:cTn id="8" dur="1000" fill="hold"/>
                                        <p:tgtEl>
                                          <p:spTgt spid="1204298"/>
                                        </p:tgtEl>
                                        <p:attrNameLst>
                                          <p:attrName>ppt_y</p:attrName>
                                        </p:attrNameLst>
                                      </p:cBhvr>
                                      <p:tavLst>
                                        <p:tav tm="0">
                                          <p:val>
                                            <p:strVal val="#ppt_y"/>
                                          </p:val>
                                        </p:tav>
                                        <p:tav tm="100000">
                                          <p:val>
                                            <p:strVal val="#ppt_y"/>
                                          </p:val>
                                        </p:tav>
                                      </p:tavLst>
                                    </p:anim>
                                  </p:childTnLst>
                                </p:cTn>
                              </p:par>
                              <p:par>
                                <p:cTn id="9" presetID="1" presetClass="entr" presetSubtype="0" fill="hold" grpId="0" nodeType="withEffect">
                                  <p:stCondLst>
                                    <p:cond delay="0"/>
                                  </p:stCondLst>
                                  <p:childTnLst>
                                    <p:set>
                                      <p:cBhvr>
                                        <p:cTn id="10" dur="1" fill="hold">
                                          <p:stCondLst>
                                            <p:cond delay="0"/>
                                          </p:stCondLst>
                                        </p:cTn>
                                        <p:tgtEl>
                                          <p:spTgt spid="12042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4299"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027D0A00-F54E-A347-B366-392038687F0F}"/>
              </a:ext>
            </a:extLst>
          </p:cNvPr>
          <p:cNvSpPr>
            <a:spLocks noChangeArrowheads="1"/>
          </p:cNvSpPr>
          <p:nvPr/>
        </p:nvSpPr>
        <p:spPr bwMode="auto">
          <a:xfrm>
            <a:off x="2286000" y="5486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1167363" name="Rectangle 3">
            <a:extLst>
              <a:ext uri="{FF2B5EF4-FFF2-40B4-BE49-F238E27FC236}">
                <a16:creationId xmlns:a16="http://schemas.microsoft.com/office/drawing/2014/main" id="{7B696CA1-787A-E94D-A5B2-52E348E1C280}"/>
              </a:ext>
            </a:extLst>
          </p:cNvPr>
          <p:cNvSpPr>
            <a:spLocks noGrp="1" noChangeArrowheads="1"/>
          </p:cNvSpPr>
          <p:nvPr>
            <p:ph type="title"/>
          </p:nvPr>
        </p:nvSpPr>
        <p:spPr>
          <a:xfrm>
            <a:off x="802257" y="533400"/>
            <a:ext cx="10662249" cy="800100"/>
          </a:xfrm>
        </p:spPr>
        <p:txBody>
          <a:bodyPr/>
          <a:lstStyle/>
          <a:p>
            <a:pPr>
              <a:defRPr/>
            </a:pPr>
            <a:r>
              <a:rPr lang="en-US" dirty="0"/>
              <a:t>Recalculate ICERs</a:t>
            </a:r>
            <a:endParaRPr lang="en-US" sz="3600" dirty="0"/>
          </a:p>
        </p:txBody>
      </p:sp>
      <p:graphicFrame>
        <p:nvGraphicFramePr>
          <p:cNvPr id="1167432" name="Group 72">
            <a:extLst>
              <a:ext uri="{FF2B5EF4-FFF2-40B4-BE49-F238E27FC236}">
                <a16:creationId xmlns:a16="http://schemas.microsoft.com/office/drawing/2014/main" id="{126DD000-A1E1-E941-8B12-39CC5ADEA48D}"/>
              </a:ext>
            </a:extLst>
          </p:cNvPr>
          <p:cNvGraphicFramePr>
            <a:graphicFrameLocks noGrp="1"/>
          </p:cNvGraphicFramePr>
          <p:nvPr/>
        </p:nvGraphicFramePr>
        <p:xfrm>
          <a:off x="2057400" y="1981200"/>
          <a:ext cx="8001000" cy="3583064"/>
        </p:xfrm>
        <a:graphic>
          <a:graphicData uri="http://schemas.openxmlformats.org/drawingml/2006/table">
            <a:tbl>
              <a:tblPr/>
              <a:tblGrid>
                <a:gridCol w="1600200">
                  <a:extLst>
                    <a:ext uri="{9D8B030D-6E8A-4147-A177-3AD203B41FA5}">
                      <a16:colId xmlns:a16="http://schemas.microsoft.com/office/drawing/2014/main" val="20000"/>
                    </a:ext>
                  </a:extLst>
                </a:gridCol>
                <a:gridCol w="1038225">
                  <a:extLst>
                    <a:ext uri="{9D8B030D-6E8A-4147-A177-3AD203B41FA5}">
                      <a16:colId xmlns:a16="http://schemas.microsoft.com/office/drawing/2014/main" val="20001"/>
                    </a:ext>
                  </a:extLst>
                </a:gridCol>
                <a:gridCol w="1239838">
                  <a:extLst>
                    <a:ext uri="{9D8B030D-6E8A-4147-A177-3AD203B41FA5}">
                      <a16:colId xmlns:a16="http://schemas.microsoft.com/office/drawing/2014/main" val="20002"/>
                    </a:ext>
                  </a:extLst>
                </a:gridCol>
                <a:gridCol w="1109662">
                  <a:extLst>
                    <a:ext uri="{9D8B030D-6E8A-4147-A177-3AD203B41FA5}">
                      <a16:colId xmlns:a16="http://schemas.microsoft.com/office/drawing/2014/main" val="20003"/>
                    </a:ext>
                  </a:extLst>
                </a:gridCol>
                <a:gridCol w="1187450">
                  <a:extLst>
                    <a:ext uri="{9D8B030D-6E8A-4147-A177-3AD203B41FA5}">
                      <a16:colId xmlns:a16="http://schemas.microsoft.com/office/drawing/2014/main" val="20004"/>
                    </a:ext>
                  </a:extLst>
                </a:gridCol>
                <a:gridCol w="871538">
                  <a:extLst>
                    <a:ext uri="{9D8B030D-6E8A-4147-A177-3AD203B41FA5}">
                      <a16:colId xmlns:a16="http://schemas.microsoft.com/office/drawing/2014/main" val="20005"/>
                    </a:ext>
                  </a:extLst>
                </a:gridCol>
                <a:gridCol w="954087">
                  <a:extLst>
                    <a:ext uri="{9D8B030D-6E8A-4147-A177-3AD203B41FA5}">
                      <a16:colId xmlns:a16="http://schemas.microsoft.com/office/drawing/2014/main" val="20006"/>
                    </a:ext>
                  </a:extLst>
                </a:gridCol>
              </a:tblGrid>
              <a:tr h="1217397">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dirty="0">
                          <a:ln>
                            <a:noFill/>
                          </a:ln>
                          <a:solidFill>
                            <a:schemeClr val="tx1"/>
                          </a:solidFill>
                          <a:effectLst/>
                          <a:latin typeface="Arial" charset="0"/>
                        </a:rPr>
                        <a:t>Program</a:t>
                      </a:r>
                    </a:p>
                  </a:txBody>
                  <a:tcPr marT="45712" marB="45712"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Cost ($)</a:t>
                      </a:r>
                    </a:p>
                  </a:txBody>
                  <a:tcPr marT="45712" marB="45712"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Effect</a:t>
                      </a:r>
                    </a:p>
                  </a:txBody>
                  <a:tcPr marT="45712" marB="45712"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1" u="none" strike="noStrike" cap="none" normalizeH="0" baseline="0">
                          <a:ln>
                            <a:noFill/>
                          </a:ln>
                          <a:solidFill>
                            <a:schemeClr val="tx1"/>
                          </a:solidFill>
                          <a:effectLst/>
                          <a:latin typeface="Arial" charset="0"/>
                        </a:rPr>
                        <a:t>Avg</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1" u="none" strike="noStrike" cap="none" normalizeH="0" baseline="0">
                          <a:ln>
                            <a:noFill/>
                          </a:ln>
                          <a:solidFill>
                            <a:schemeClr val="tx1"/>
                          </a:solidFill>
                          <a:effectLst/>
                          <a:latin typeface="Arial" charset="0"/>
                        </a:rPr>
                        <a:t>C/E</a:t>
                      </a:r>
                    </a:p>
                  </a:txBody>
                  <a:tcPr marT="45712" marB="45712"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Inc.</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Costs</a:t>
                      </a:r>
                    </a:p>
                  </a:txBody>
                  <a:tcPr marT="45712" marB="45712"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Inc.</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Eff.</a:t>
                      </a:r>
                    </a:p>
                  </a:txBody>
                  <a:tcPr marT="45712" marB="45712"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Inc.</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C/E</a:t>
                      </a:r>
                    </a:p>
                  </a:txBody>
                  <a:tcPr marT="45712" marB="45712"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615841">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H4</a:t>
                      </a:r>
                    </a:p>
                  </a:txBody>
                  <a:tcPr marT="45712" marB="45712"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22</a:t>
                      </a:r>
                    </a:p>
                  </a:txBody>
                  <a:tcPr marT="45712" marB="4571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40</a:t>
                      </a:r>
                    </a:p>
                  </a:txBody>
                  <a:tcPr marT="45712" marB="4571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0.55</a:t>
                      </a:r>
                    </a:p>
                  </a:txBody>
                  <a:tcPr marT="45712" marB="4571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2" marB="4571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2" marB="4571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1" i="0" u="none" strike="noStrike" cap="none" normalizeH="0" baseline="0">
                          <a:ln>
                            <a:noFill/>
                          </a:ln>
                          <a:solidFill>
                            <a:schemeClr val="tx1"/>
                          </a:solidFill>
                          <a:effectLst/>
                          <a:latin typeface="Arial" charset="0"/>
                        </a:rPr>
                        <a:t>--</a:t>
                      </a:r>
                    </a:p>
                  </a:txBody>
                  <a:tcPr marT="45712" marB="45712"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615841">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H2</a:t>
                      </a:r>
                    </a:p>
                  </a:txBody>
                  <a:tcPr marT="45712" marB="45712"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40</a:t>
                      </a:r>
                    </a:p>
                  </a:txBody>
                  <a:tcPr marT="45712" marB="4571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65</a:t>
                      </a:r>
                    </a:p>
                  </a:txBody>
                  <a:tcPr marT="45712" marB="4571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dirty="0">
                          <a:ln>
                            <a:noFill/>
                          </a:ln>
                          <a:solidFill>
                            <a:schemeClr val="tx1"/>
                          </a:solidFill>
                          <a:effectLst/>
                          <a:latin typeface="Arial" charset="0"/>
                        </a:rPr>
                        <a:t>0.62</a:t>
                      </a:r>
                    </a:p>
                  </a:txBody>
                  <a:tcPr marT="45712" marB="4571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18</a:t>
                      </a:r>
                    </a:p>
                  </a:txBody>
                  <a:tcPr marT="45712" marB="4571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25</a:t>
                      </a:r>
                    </a:p>
                  </a:txBody>
                  <a:tcPr marT="45712" marB="4571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1" i="0" u="none" strike="noStrike" cap="none" normalizeH="0" baseline="0">
                          <a:ln>
                            <a:noFill/>
                          </a:ln>
                          <a:solidFill>
                            <a:schemeClr val="tx1"/>
                          </a:solidFill>
                          <a:effectLst/>
                          <a:latin typeface="Arial" charset="0"/>
                        </a:rPr>
                        <a:t>0.72</a:t>
                      </a:r>
                    </a:p>
                  </a:txBody>
                  <a:tcPr marT="45712" marB="45712"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615841">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H1</a:t>
                      </a:r>
                    </a:p>
                  </a:txBody>
                  <a:tcPr marT="45712" marB="45712"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60</a:t>
                      </a:r>
                    </a:p>
                  </a:txBody>
                  <a:tcPr marT="45712" marB="4571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80</a:t>
                      </a:r>
                    </a:p>
                  </a:txBody>
                  <a:tcPr marT="45712" marB="4571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0.75</a:t>
                      </a:r>
                    </a:p>
                  </a:txBody>
                  <a:tcPr marT="45712" marB="4571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a:t>
                      </a:r>
                    </a:p>
                  </a:txBody>
                  <a:tcPr marT="45712" marB="4571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15</a:t>
                      </a:r>
                    </a:p>
                  </a:txBody>
                  <a:tcPr marT="45712" marB="4571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1" i="0" u="none" strike="noStrike" cap="none" normalizeH="0" baseline="0">
                          <a:ln>
                            <a:noFill/>
                          </a:ln>
                          <a:solidFill>
                            <a:schemeClr val="tx1"/>
                          </a:solidFill>
                          <a:effectLst/>
                          <a:latin typeface="Arial" charset="0"/>
                        </a:rPr>
                        <a:t>1.33</a:t>
                      </a:r>
                    </a:p>
                  </a:txBody>
                  <a:tcPr marT="45712" marB="45712"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18068">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2" marB="45712"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2" marB="45712"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2" marB="45712"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2" marB="45712"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2" marB="45712"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2" marB="45712"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2" marB="45712"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4856" name="Line 62">
            <a:extLst>
              <a:ext uri="{FF2B5EF4-FFF2-40B4-BE49-F238E27FC236}">
                <a16:creationId xmlns:a16="http://schemas.microsoft.com/office/drawing/2014/main" id="{D8067C2E-4509-0E45-BA61-63A9521736E6}"/>
              </a:ext>
            </a:extLst>
          </p:cNvPr>
          <p:cNvSpPr>
            <a:spLocks noChangeShapeType="1"/>
          </p:cNvSpPr>
          <p:nvPr/>
        </p:nvSpPr>
        <p:spPr bwMode="auto">
          <a:xfrm>
            <a:off x="2133600" y="1905000"/>
            <a:ext cx="80010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34857" name="Line 65">
            <a:extLst>
              <a:ext uri="{FF2B5EF4-FFF2-40B4-BE49-F238E27FC236}">
                <a16:creationId xmlns:a16="http://schemas.microsoft.com/office/drawing/2014/main" id="{0EE1A9D9-0BDE-474B-BBDF-1A7DA14EA146}"/>
              </a:ext>
            </a:extLst>
          </p:cNvPr>
          <p:cNvSpPr>
            <a:spLocks noChangeShapeType="1"/>
          </p:cNvSpPr>
          <p:nvPr/>
        </p:nvSpPr>
        <p:spPr bwMode="auto">
          <a:xfrm>
            <a:off x="2133600" y="2895600"/>
            <a:ext cx="80010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34858" name="Text Box 66">
            <a:extLst>
              <a:ext uri="{FF2B5EF4-FFF2-40B4-BE49-F238E27FC236}">
                <a16:creationId xmlns:a16="http://schemas.microsoft.com/office/drawing/2014/main" id="{3C3EF83F-4DD6-0549-909E-EC9295F0A997}"/>
              </a:ext>
            </a:extLst>
          </p:cNvPr>
          <p:cNvSpPr txBox="1">
            <a:spLocks noChangeArrowheads="1"/>
          </p:cNvSpPr>
          <p:nvPr/>
        </p:nvSpPr>
        <p:spPr bwMode="auto">
          <a:xfrm>
            <a:off x="2133600" y="5486400"/>
            <a:ext cx="7543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sz="2400" b="0">
                <a:solidFill>
                  <a:srgbClr val="990033"/>
                </a:solidFill>
                <a:latin typeface="Arial" panose="020B0604020202020204" pitchFamily="34" charset="0"/>
              </a:rPr>
              <a:t>These are the ratios to compare to the threshold</a:t>
            </a:r>
          </a:p>
        </p:txBody>
      </p:sp>
      <p:sp>
        <p:nvSpPr>
          <p:cNvPr id="34859" name="Line 67">
            <a:extLst>
              <a:ext uri="{FF2B5EF4-FFF2-40B4-BE49-F238E27FC236}">
                <a16:creationId xmlns:a16="http://schemas.microsoft.com/office/drawing/2014/main" id="{B35423DB-D834-CA44-BC06-677556A12D10}"/>
              </a:ext>
            </a:extLst>
          </p:cNvPr>
          <p:cNvSpPr>
            <a:spLocks noChangeShapeType="1"/>
          </p:cNvSpPr>
          <p:nvPr/>
        </p:nvSpPr>
        <p:spPr bwMode="auto">
          <a:xfrm flipV="1">
            <a:off x="8839200" y="5181600"/>
            <a:ext cx="609600" cy="457200"/>
          </a:xfrm>
          <a:prstGeom prst="line">
            <a:avLst/>
          </a:prstGeom>
          <a:noFill/>
          <a:ln w="9525">
            <a:solidFill>
              <a:srgbClr val="990033"/>
            </a:solidFill>
            <a:round/>
            <a:headEnd/>
            <a:tailEnd type="triangle" w="med" len="med"/>
          </a:ln>
          <a:extLst>
            <a:ext uri="{909E8E84-426E-40DD-AFC4-6F175D3DCCD1}">
              <a14:hiddenFill xmlns:a14="http://schemas.microsoft.com/office/drawing/2010/main">
                <a:noFill/>
              </a14:hiddenFill>
            </a:ext>
          </a:extLst>
        </p:spPr>
        <p:txBody>
          <a:bodyPr/>
          <a:lstStyle/>
          <a:p>
            <a:endParaRPr lang="en-MX"/>
          </a:p>
        </p:txBody>
      </p:sp>
    </p:spTree>
    <p:extLst>
      <p:ext uri="{BB962C8B-B14F-4D97-AF65-F5344CB8AC3E}">
        <p14:creationId xmlns:p14="http://schemas.microsoft.com/office/powerpoint/2010/main" val="1287826224"/>
      </p:ext>
    </p:extLst>
  </p:cSld>
  <p:clrMapOvr>
    <a:masterClrMapping/>
  </p:clrMapOv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24A4981E-C513-EE4D-8B25-A6FE53E5597E}"/>
              </a:ext>
            </a:extLst>
          </p:cNvPr>
          <p:cNvSpPr>
            <a:spLocks noChangeArrowheads="1"/>
          </p:cNvSpPr>
          <p:nvPr/>
        </p:nvSpPr>
        <p:spPr bwMode="auto">
          <a:xfrm>
            <a:off x="2286000" y="5486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1206275" name="Rectangle 3">
            <a:extLst>
              <a:ext uri="{FF2B5EF4-FFF2-40B4-BE49-F238E27FC236}">
                <a16:creationId xmlns:a16="http://schemas.microsoft.com/office/drawing/2014/main" id="{080E8A02-3358-294A-90C0-F7009AC15FF1}"/>
              </a:ext>
            </a:extLst>
          </p:cNvPr>
          <p:cNvSpPr>
            <a:spLocks noGrp="1" noChangeArrowheads="1"/>
          </p:cNvSpPr>
          <p:nvPr>
            <p:ph type="title"/>
          </p:nvPr>
        </p:nvSpPr>
        <p:spPr>
          <a:xfrm>
            <a:off x="715991" y="533400"/>
            <a:ext cx="10644997" cy="800100"/>
          </a:xfrm>
        </p:spPr>
        <p:txBody>
          <a:bodyPr/>
          <a:lstStyle/>
          <a:p>
            <a:pPr>
              <a:defRPr/>
            </a:pPr>
            <a:r>
              <a:rPr lang="en-US" dirty="0"/>
              <a:t>Recalculate ICERs</a:t>
            </a:r>
            <a:endParaRPr lang="en-US" sz="3600" dirty="0"/>
          </a:p>
        </p:txBody>
      </p:sp>
      <p:graphicFrame>
        <p:nvGraphicFramePr>
          <p:cNvPr id="1206276" name="Group 4">
            <a:extLst>
              <a:ext uri="{FF2B5EF4-FFF2-40B4-BE49-F238E27FC236}">
                <a16:creationId xmlns:a16="http://schemas.microsoft.com/office/drawing/2014/main" id="{00653762-EF7A-5D4F-872A-7B8A1EA33A2E}"/>
              </a:ext>
            </a:extLst>
          </p:cNvPr>
          <p:cNvGraphicFramePr>
            <a:graphicFrameLocks noGrp="1"/>
          </p:cNvGraphicFramePr>
          <p:nvPr/>
        </p:nvGraphicFramePr>
        <p:xfrm>
          <a:off x="2057400" y="1981200"/>
          <a:ext cx="8001000" cy="3583064"/>
        </p:xfrm>
        <a:graphic>
          <a:graphicData uri="http://schemas.openxmlformats.org/drawingml/2006/table">
            <a:tbl>
              <a:tblPr/>
              <a:tblGrid>
                <a:gridCol w="1600200">
                  <a:extLst>
                    <a:ext uri="{9D8B030D-6E8A-4147-A177-3AD203B41FA5}">
                      <a16:colId xmlns:a16="http://schemas.microsoft.com/office/drawing/2014/main" val="20000"/>
                    </a:ext>
                  </a:extLst>
                </a:gridCol>
                <a:gridCol w="1038225">
                  <a:extLst>
                    <a:ext uri="{9D8B030D-6E8A-4147-A177-3AD203B41FA5}">
                      <a16:colId xmlns:a16="http://schemas.microsoft.com/office/drawing/2014/main" val="20001"/>
                    </a:ext>
                  </a:extLst>
                </a:gridCol>
                <a:gridCol w="1239838">
                  <a:extLst>
                    <a:ext uri="{9D8B030D-6E8A-4147-A177-3AD203B41FA5}">
                      <a16:colId xmlns:a16="http://schemas.microsoft.com/office/drawing/2014/main" val="20002"/>
                    </a:ext>
                  </a:extLst>
                </a:gridCol>
                <a:gridCol w="1109662">
                  <a:extLst>
                    <a:ext uri="{9D8B030D-6E8A-4147-A177-3AD203B41FA5}">
                      <a16:colId xmlns:a16="http://schemas.microsoft.com/office/drawing/2014/main" val="20003"/>
                    </a:ext>
                  </a:extLst>
                </a:gridCol>
                <a:gridCol w="1187450">
                  <a:extLst>
                    <a:ext uri="{9D8B030D-6E8A-4147-A177-3AD203B41FA5}">
                      <a16:colId xmlns:a16="http://schemas.microsoft.com/office/drawing/2014/main" val="20004"/>
                    </a:ext>
                  </a:extLst>
                </a:gridCol>
                <a:gridCol w="871538">
                  <a:extLst>
                    <a:ext uri="{9D8B030D-6E8A-4147-A177-3AD203B41FA5}">
                      <a16:colId xmlns:a16="http://schemas.microsoft.com/office/drawing/2014/main" val="20005"/>
                    </a:ext>
                  </a:extLst>
                </a:gridCol>
                <a:gridCol w="954087">
                  <a:extLst>
                    <a:ext uri="{9D8B030D-6E8A-4147-A177-3AD203B41FA5}">
                      <a16:colId xmlns:a16="http://schemas.microsoft.com/office/drawing/2014/main" val="20006"/>
                    </a:ext>
                  </a:extLst>
                </a:gridCol>
              </a:tblGrid>
              <a:tr h="1217397">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Program</a:t>
                      </a:r>
                    </a:p>
                  </a:txBody>
                  <a:tcPr marT="45712" marB="45712"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Cost ($)</a:t>
                      </a:r>
                    </a:p>
                  </a:txBody>
                  <a:tcPr marT="45712" marB="45712"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Effect</a:t>
                      </a:r>
                    </a:p>
                  </a:txBody>
                  <a:tcPr marT="45712" marB="45712"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1" u="none" strike="noStrike" cap="none" normalizeH="0" baseline="0">
                          <a:ln>
                            <a:noFill/>
                          </a:ln>
                          <a:solidFill>
                            <a:schemeClr val="tx1"/>
                          </a:solidFill>
                          <a:effectLst/>
                          <a:latin typeface="Arial" charset="0"/>
                        </a:rPr>
                        <a:t>Avg</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1" u="none" strike="noStrike" cap="none" normalizeH="0" baseline="0">
                          <a:ln>
                            <a:noFill/>
                          </a:ln>
                          <a:solidFill>
                            <a:schemeClr val="tx1"/>
                          </a:solidFill>
                          <a:effectLst/>
                          <a:latin typeface="Arial" charset="0"/>
                        </a:rPr>
                        <a:t>C/E</a:t>
                      </a:r>
                    </a:p>
                  </a:txBody>
                  <a:tcPr marT="45712" marB="45712"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Inc.</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Costs</a:t>
                      </a:r>
                    </a:p>
                  </a:txBody>
                  <a:tcPr marT="45712" marB="45712"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Inc.</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Eff.</a:t>
                      </a:r>
                    </a:p>
                  </a:txBody>
                  <a:tcPr marT="45712" marB="45712"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Inc.</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C/E</a:t>
                      </a:r>
                    </a:p>
                  </a:txBody>
                  <a:tcPr marT="45712" marB="45712"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615841">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H4</a:t>
                      </a:r>
                    </a:p>
                  </a:txBody>
                  <a:tcPr marT="45712" marB="45712"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22</a:t>
                      </a:r>
                    </a:p>
                  </a:txBody>
                  <a:tcPr marT="45712" marB="4571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40</a:t>
                      </a:r>
                    </a:p>
                  </a:txBody>
                  <a:tcPr marT="45712" marB="4571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0.55</a:t>
                      </a:r>
                    </a:p>
                  </a:txBody>
                  <a:tcPr marT="45712" marB="4571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2" marB="4571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2" marB="4571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1" i="0" u="none" strike="noStrike" cap="none" normalizeH="0" baseline="0">
                          <a:ln>
                            <a:noFill/>
                          </a:ln>
                          <a:solidFill>
                            <a:schemeClr val="tx1"/>
                          </a:solidFill>
                          <a:effectLst/>
                          <a:latin typeface="Arial" charset="0"/>
                        </a:rPr>
                        <a:t>--</a:t>
                      </a:r>
                    </a:p>
                  </a:txBody>
                  <a:tcPr marT="45712" marB="45712"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615841">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H2</a:t>
                      </a:r>
                    </a:p>
                  </a:txBody>
                  <a:tcPr marT="45712" marB="45712"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40</a:t>
                      </a:r>
                    </a:p>
                  </a:txBody>
                  <a:tcPr marT="45712" marB="4571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65</a:t>
                      </a:r>
                    </a:p>
                  </a:txBody>
                  <a:tcPr marT="45712" marB="4571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0.615</a:t>
                      </a:r>
                    </a:p>
                  </a:txBody>
                  <a:tcPr marT="45712" marB="4571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18</a:t>
                      </a:r>
                    </a:p>
                  </a:txBody>
                  <a:tcPr marT="45712" marB="4571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25</a:t>
                      </a:r>
                    </a:p>
                  </a:txBody>
                  <a:tcPr marT="45712" marB="4571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1" i="0" u="none" strike="noStrike" cap="none" normalizeH="0" baseline="0">
                          <a:ln>
                            <a:noFill/>
                          </a:ln>
                          <a:solidFill>
                            <a:schemeClr val="tx1"/>
                          </a:solidFill>
                          <a:effectLst/>
                          <a:latin typeface="Arial" charset="0"/>
                        </a:rPr>
                        <a:t>0.72</a:t>
                      </a:r>
                    </a:p>
                  </a:txBody>
                  <a:tcPr marT="45712" marB="45712"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615841">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H1</a:t>
                      </a:r>
                    </a:p>
                  </a:txBody>
                  <a:tcPr marT="45712" marB="45712"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60</a:t>
                      </a:r>
                    </a:p>
                  </a:txBody>
                  <a:tcPr marT="45712" marB="4571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80</a:t>
                      </a:r>
                    </a:p>
                  </a:txBody>
                  <a:tcPr marT="45712" marB="4571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0.75</a:t>
                      </a:r>
                    </a:p>
                  </a:txBody>
                  <a:tcPr marT="45712" marB="4571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a:t>
                      </a:r>
                    </a:p>
                  </a:txBody>
                  <a:tcPr marT="45712" marB="4571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15</a:t>
                      </a:r>
                    </a:p>
                  </a:txBody>
                  <a:tcPr marT="45712" marB="4571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1" i="0" u="none" strike="noStrike" cap="none" normalizeH="0" baseline="0">
                          <a:ln>
                            <a:noFill/>
                          </a:ln>
                          <a:solidFill>
                            <a:schemeClr val="tx1"/>
                          </a:solidFill>
                          <a:effectLst/>
                          <a:latin typeface="Arial" charset="0"/>
                        </a:rPr>
                        <a:t>1.33</a:t>
                      </a:r>
                    </a:p>
                  </a:txBody>
                  <a:tcPr marT="45712" marB="45712"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18068">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2" marB="45712"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2" marB="45712"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2" marB="45712"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2" marB="45712"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2" marB="45712"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2" marB="45712"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2" marB="45712"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5880" name="Line 62">
            <a:extLst>
              <a:ext uri="{FF2B5EF4-FFF2-40B4-BE49-F238E27FC236}">
                <a16:creationId xmlns:a16="http://schemas.microsoft.com/office/drawing/2014/main" id="{2236A776-7B40-FB49-96E5-60B2FC689715}"/>
              </a:ext>
            </a:extLst>
          </p:cNvPr>
          <p:cNvSpPr>
            <a:spLocks noChangeShapeType="1"/>
          </p:cNvSpPr>
          <p:nvPr/>
        </p:nvSpPr>
        <p:spPr bwMode="auto">
          <a:xfrm>
            <a:off x="2133600" y="1905000"/>
            <a:ext cx="80010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35881" name="Line 63">
            <a:extLst>
              <a:ext uri="{FF2B5EF4-FFF2-40B4-BE49-F238E27FC236}">
                <a16:creationId xmlns:a16="http://schemas.microsoft.com/office/drawing/2014/main" id="{4D9ADF00-C101-264D-972A-E6F75463CDBF}"/>
              </a:ext>
            </a:extLst>
          </p:cNvPr>
          <p:cNvSpPr>
            <a:spLocks noChangeShapeType="1"/>
          </p:cNvSpPr>
          <p:nvPr/>
        </p:nvSpPr>
        <p:spPr bwMode="auto">
          <a:xfrm>
            <a:off x="2133600" y="2895600"/>
            <a:ext cx="80010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35882" name="Text Box 64">
            <a:extLst>
              <a:ext uri="{FF2B5EF4-FFF2-40B4-BE49-F238E27FC236}">
                <a16:creationId xmlns:a16="http://schemas.microsoft.com/office/drawing/2014/main" id="{0CBCBEEF-8905-8E47-92B7-3746EA294DE5}"/>
              </a:ext>
            </a:extLst>
          </p:cNvPr>
          <p:cNvSpPr txBox="1">
            <a:spLocks noChangeArrowheads="1"/>
          </p:cNvSpPr>
          <p:nvPr/>
        </p:nvSpPr>
        <p:spPr bwMode="auto">
          <a:xfrm>
            <a:off x="2133600" y="5486400"/>
            <a:ext cx="7543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algn="ctr"/>
            <a:r>
              <a:rPr lang="en-US" altLang="en-MX" sz="2400" b="0">
                <a:solidFill>
                  <a:srgbClr val="990033"/>
                </a:solidFill>
                <a:latin typeface="Arial" panose="020B0604020202020204" pitchFamily="34" charset="0"/>
              </a:rPr>
              <a:t>These ratios are meaningless!</a:t>
            </a:r>
          </a:p>
        </p:txBody>
      </p:sp>
      <p:sp>
        <p:nvSpPr>
          <p:cNvPr id="35883" name="Line 65">
            <a:extLst>
              <a:ext uri="{FF2B5EF4-FFF2-40B4-BE49-F238E27FC236}">
                <a16:creationId xmlns:a16="http://schemas.microsoft.com/office/drawing/2014/main" id="{D37590A8-B3AE-C94D-8371-502E798FC3B7}"/>
              </a:ext>
            </a:extLst>
          </p:cNvPr>
          <p:cNvSpPr>
            <a:spLocks noChangeShapeType="1"/>
          </p:cNvSpPr>
          <p:nvPr/>
        </p:nvSpPr>
        <p:spPr bwMode="auto">
          <a:xfrm flipV="1">
            <a:off x="6477000" y="5029200"/>
            <a:ext cx="0" cy="533400"/>
          </a:xfrm>
          <a:prstGeom prst="line">
            <a:avLst/>
          </a:prstGeom>
          <a:noFill/>
          <a:ln w="9525">
            <a:solidFill>
              <a:srgbClr val="990033"/>
            </a:solidFill>
            <a:round/>
            <a:headEnd/>
            <a:tailEnd type="triangle" w="med" len="med"/>
          </a:ln>
          <a:extLst>
            <a:ext uri="{909E8E84-426E-40DD-AFC4-6F175D3DCCD1}">
              <a14:hiddenFill xmlns:a14="http://schemas.microsoft.com/office/drawing/2010/main">
                <a:noFill/>
              </a14:hiddenFill>
            </a:ext>
          </a:extLst>
        </p:spPr>
        <p:txBody>
          <a:bodyPr/>
          <a:lstStyle/>
          <a:p>
            <a:endParaRPr lang="en-MX"/>
          </a:p>
        </p:txBody>
      </p:sp>
    </p:spTree>
    <p:extLst>
      <p:ext uri="{BB962C8B-B14F-4D97-AF65-F5344CB8AC3E}">
        <p14:creationId xmlns:p14="http://schemas.microsoft.com/office/powerpoint/2010/main" val="991062734"/>
      </p:ext>
    </p:extLst>
  </p:cSld>
  <p:clrMapOvr>
    <a:masterClrMapping/>
  </p:clrMapOvr>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B50C770D-52BD-5744-B5EC-5E55AF380A3A}"/>
              </a:ext>
            </a:extLst>
          </p:cNvPr>
          <p:cNvSpPr>
            <a:spLocks noChangeArrowheads="1"/>
          </p:cNvSpPr>
          <p:nvPr/>
        </p:nvSpPr>
        <p:spPr bwMode="auto">
          <a:xfrm>
            <a:off x="2209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36867" name="Rectangle 3">
            <a:extLst>
              <a:ext uri="{FF2B5EF4-FFF2-40B4-BE49-F238E27FC236}">
                <a16:creationId xmlns:a16="http://schemas.microsoft.com/office/drawing/2014/main" id="{2A8A1005-3EB0-B14B-9820-9D0C749C0D32}"/>
              </a:ext>
            </a:extLst>
          </p:cNvPr>
          <p:cNvSpPr>
            <a:spLocks noChangeArrowheads="1"/>
          </p:cNvSpPr>
          <p:nvPr/>
        </p:nvSpPr>
        <p:spPr bwMode="auto">
          <a:xfrm>
            <a:off x="4648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1213444" name="Rectangle 4">
            <a:extLst>
              <a:ext uri="{FF2B5EF4-FFF2-40B4-BE49-F238E27FC236}">
                <a16:creationId xmlns:a16="http://schemas.microsoft.com/office/drawing/2014/main" id="{BEAA87BA-5F52-2D45-8441-B4E9436982EA}"/>
              </a:ext>
            </a:extLst>
          </p:cNvPr>
          <p:cNvSpPr>
            <a:spLocks noGrp="1" noChangeArrowheads="1"/>
          </p:cNvSpPr>
          <p:nvPr>
            <p:ph type="title"/>
          </p:nvPr>
        </p:nvSpPr>
        <p:spPr>
          <a:xfrm>
            <a:off x="785004" y="304800"/>
            <a:ext cx="10679502" cy="990600"/>
          </a:xfrm>
        </p:spPr>
        <p:txBody>
          <a:bodyPr/>
          <a:lstStyle/>
          <a:p>
            <a:pPr>
              <a:defRPr/>
            </a:pPr>
            <a:r>
              <a:rPr lang="en-US" dirty="0"/>
              <a:t>Back to the Example</a:t>
            </a:r>
            <a:endParaRPr lang="en-US" sz="3600" dirty="0"/>
          </a:p>
        </p:txBody>
      </p:sp>
      <p:graphicFrame>
        <p:nvGraphicFramePr>
          <p:cNvPr id="1213445" name="Group 5">
            <a:extLst>
              <a:ext uri="{FF2B5EF4-FFF2-40B4-BE49-F238E27FC236}">
                <a16:creationId xmlns:a16="http://schemas.microsoft.com/office/drawing/2014/main" id="{7A8734BA-A6E7-4C4B-97B0-6DCDF5BE25FB}"/>
              </a:ext>
            </a:extLst>
          </p:cNvPr>
          <p:cNvGraphicFramePr>
            <a:graphicFrameLocks noGrp="1"/>
          </p:cNvGraphicFramePr>
          <p:nvPr/>
        </p:nvGraphicFramePr>
        <p:xfrm>
          <a:off x="1981200" y="1371601"/>
          <a:ext cx="8305800" cy="4467226"/>
        </p:xfrm>
        <a:graphic>
          <a:graphicData uri="http://schemas.openxmlformats.org/drawingml/2006/table">
            <a:tbl>
              <a:tblPr/>
              <a:tblGrid>
                <a:gridCol w="1447800">
                  <a:extLst>
                    <a:ext uri="{9D8B030D-6E8A-4147-A177-3AD203B41FA5}">
                      <a16:colId xmlns:a16="http://schemas.microsoft.com/office/drawing/2014/main" val="20000"/>
                    </a:ext>
                  </a:extLst>
                </a:gridCol>
                <a:gridCol w="1138238">
                  <a:extLst>
                    <a:ext uri="{9D8B030D-6E8A-4147-A177-3AD203B41FA5}">
                      <a16:colId xmlns:a16="http://schemas.microsoft.com/office/drawing/2014/main" val="20001"/>
                    </a:ext>
                  </a:extLst>
                </a:gridCol>
                <a:gridCol w="1217612">
                  <a:extLst>
                    <a:ext uri="{9D8B030D-6E8A-4147-A177-3AD203B41FA5}">
                      <a16:colId xmlns:a16="http://schemas.microsoft.com/office/drawing/2014/main" val="20002"/>
                    </a:ext>
                  </a:extLst>
                </a:gridCol>
                <a:gridCol w="1163638">
                  <a:extLst>
                    <a:ext uri="{9D8B030D-6E8A-4147-A177-3AD203B41FA5}">
                      <a16:colId xmlns:a16="http://schemas.microsoft.com/office/drawing/2014/main" val="20003"/>
                    </a:ext>
                  </a:extLst>
                </a:gridCol>
                <a:gridCol w="361950">
                  <a:extLst>
                    <a:ext uri="{9D8B030D-6E8A-4147-A177-3AD203B41FA5}">
                      <a16:colId xmlns:a16="http://schemas.microsoft.com/office/drawing/2014/main" val="20004"/>
                    </a:ext>
                  </a:extLst>
                </a:gridCol>
                <a:gridCol w="1268412">
                  <a:extLst>
                    <a:ext uri="{9D8B030D-6E8A-4147-A177-3AD203B41FA5}">
                      <a16:colId xmlns:a16="http://schemas.microsoft.com/office/drawing/2014/main" val="20005"/>
                    </a:ext>
                  </a:extLst>
                </a:gridCol>
                <a:gridCol w="263525">
                  <a:extLst>
                    <a:ext uri="{9D8B030D-6E8A-4147-A177-3AD203B41FA5}">
                      <a16:colId xmlns:a16="http://schemas.microsoft.com/office/drawing/2014/main" val="20006"/>
                    </a:ext>
                  </a:extLst>
                </a:gridCol>
                <a:gridCol w="1444625">
                  <a:extLst>
                    <a:ext uri="{9D8B030D-6E8A-4147-A177-3AD203B41FA5}">
                      <a16:colId xmlns:a16="http://schemas.microsoft.com/office/drawing/2014/main" val="20007"/>
                    </a:ext>
                  </a:extLst>
                </a:gridCol>
              </a:tblGrid>
              <a:tr h="823018">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Program</a:t>
                      </a:r>
                    </a:p>
                  </a:txBody>
                  <a:tcPr marT="45723" marB="45723"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Cost ($)</a:t>
                      </a:r>
                    </a:p>
                  </a:txBody>
                  <a:tcPr marT="45723" marB="45723"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Effect</a:t>
                      </a:r>
                    </a:p>
                  </a:txBody>
                  <a:tcPr marT="45723" marB="45723"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C/E</a:t>
                      </a:r>
                    </a:p>
                  </a:txBody>
                  <a:tcPr marT="45723" marB="45723" horzOverflow="overflow">
                    <a:lnL>
                      <a:noFill/>
                    </a:lnL>
                    <a:lnR>
                      <a:noFill/>
                    </a:lnR>
                    <a:lnT cap="fla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Cum. Cost</a:t>
                      </a:r>
                    </a:p>
                  </a:txBody>
                  <a:tcPr marT="45723" marB="45723" horzOverflow="overflow">
                    <a:lnL>
                      <a:noFill/>
                    </a:lnL>
                    <a:lnR>
                      <a:noFill/>
                    </a:lnR>
                    <a:lnT cap="fla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Cum. Effect</a:t>
                      </a:r>
                    </a:p>
                  </a:txBody>
                  <a:tcPr marT="45723" marB="45723" horzOverflow="overflow">
                    <a:lnL>
                      <a:noFill/>
                    </a:lnL>
                    <a:lnR cap="flat">
                      <a:noFill/>
                    </a:lnR>
                    <a:lnT cap="flat">
                      <a:noFill/>
                    </a:lnT>
                    <a:lnB>
                      <a:noFill/>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518197">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D</a:t>
                      </a:r>
                    </a:p>
                  </a:txBody>
                  <a:tcPr marT="45723" marB="4572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40</a:t>
                      </a:r>
                    </a:p>
                  </a:txBody>
                  <a:tcPr marT="45723" marB="45723"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0.5</a:t>
                      </a:r>
                    </a:p>
                  </a:txBody>
                  <a:tcPr marT="45723" marB="45723"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a:t>
                      </a:r>
                    </a:p>
                  </a:txBody>
                  <a:tcPr marT="45723" marB="45723"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40</a:t>
                      </a:r>
                    </a:p>
                  </a:txBody>
                  <a:tcPr marT="45723" marB="4572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518197">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a:t>
                      </a:r>
                    </a:p>
                  </a:txBody>
                  <a:tcPr marT="45723" marB="4572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50</a:t>
                      </a:r>
                    </a:p>
                  </a:txBody>
                  <a:tcPr marT="45723" marB="45723"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0.6</a:t>
                      </a:r>
                    </a:p>
                  </a:txBody>
                  <a:tcPr marT="45723" marB="45723"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50</a:t>
                      </a:r>
                    </a:p>
                  </a:txBody>
                  <a:tcPr marT="45723" marB="45723"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90</a:t>
                      </a:r>
                    </a:p>
                  </a:txBody>
                  <a:tcPr marT="45723" marB="4572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518197">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F</a:t>
                      </a:r>
                    </a:p>
                  </a:txBody>
                  <a:tcPr marT="45723" marB="4572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50</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75</a:t>
                      </a:r>
                    </a:p>
                  </a:txBody>
                  <a:tcPr marT="45723" marB="45723"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0.67</a:t>
                      </a:r>
                    </a:p>
                  </a:txBody>
                  <a:tcPr marT="45723" marB="45723"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100</a:t>
                      </a:r>
                    </a:p>
                  </a:txBody>
                  <a:tcPr marT="45723" marB="45723"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165</a:t>
                      </a:r>
                    </a:p>
                  </a:txBody>
                  <a:tcPr marT="45723" marB="4572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18197">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rgbClr val="990033"/>
                          </a:solidFill>
                          <a:effectLst/>
                          <a:latin typeface="Arial" charset="0"/>
                        </a:rPr>
                        <a:t>H2</a:t>
                      </a:r>
                    </a:p>
                  </a:txBody>
                  <a:tcPr marT="45723" marB="4572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rgbClr val="990033"/>
                          </a:solidFill>
                          <a:effectLst/>
                          <a:latin typeface="Arial" charset="0"/>
                        </a:rPr>
                        <a:t>40</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rgbClr val="990033"/>
                          </a:solidFill>
                          <a:effectLst/>
                          <a:latin typeface="Arial" charset="0"/>
                        </a:rPr>
                        <a:t>65</a:t>
                      </a:r>
                    </a:p>
                  </a:txBody>
                  <a:tcPr marT="45723" marB="45723"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rgbClr val="990033"/>
                          </a:solidFill>
                          <a:effectLst/>
                          <a:latin typeface="Arial" charset="0"/>
                        </a:rPr>
                        <a:t>0.72</a:t>
                      </a:r>
                    </a:p>
                  </a:txBody>
                  <a:tcPr marT="45723" marB="45723"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rgbClr val="990033"/>
                          </a:solidFill>
                          <a:effectLst/>
                          <a:latin typeface="Arial" charset="0"/>
                        </a:rPr>
                        <a:t>140</a:t>
                      </a:r>
                    </a:p>
                  </a:txBody>
                  <a:tcPr marT="45723" marB="45723"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rgbClr val="990033"/>
                          </a:solidFill>
                          <a:effectLst/>
                          <a:latin typeface="Arial" charset="0"/>
                        </a:rPr>
                        <a:t>230</a:t>
                      </a:r>
                    </a:p>
                  </a:txBody>
                  <a:tcPr marT="45723" marB="4572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518197">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a:t>
                      </a:r>
                    </a:p>
                  </a:txBody>
                  <a:tcPr marT="45723" marB="4572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56</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70</a:t>
                      </a:r>
                    </a:p>
                  </a:txBody>
                  <a:tcPr marT="45723" marB="45723"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0.8</a:t>
                      </a:r>
                    </a:p>
                  </a:txBody>
                  <a:tcPr marT="45723" marB="45723"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196</a:t>
                      </a:r>
                    </a:p>
                  </a:txBody>
                  <a:tcPr marT="45723" marB="45723"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300</a:t>
                      </a:r>
                    </a:p>
                  </a:txBody>
                  <a:tcPr marT="45723" marB="4572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518197">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A</a:t>
                      </a:r>
                    </a:p>
                  </a:txBody>
                  <a:tcPr marT="45723" marB="4572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27</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a:t>
                      </a:r>
                    </a:p>
                  </a:txBody>
                  <a:tcPr marT="45723" marB="45723"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0.9</a:t>
                      </a:r>
                    </a:p>
                  </a:txBody>
                  <a:tcPr marT="45723" marB="45723"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23" marB="45723"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23" marB="4572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535026">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B</a:t>
                      </a:r>
                    </a:p>
                  </a:txBody>
                  <a:tcPr marT="45723" marB="45723"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a:t>
                      </a:r>
                    </a:p>
                  </a:txBody>
                  <a:tcPr marT="45723" marB="45723"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a:t>
                      </a:r>
                    </a:p>
                  </a:txBody>
                  <a:tcPr marT="45723" marB="45723" horzOverflow="overflow">
                    <a:lnL>
                      <a:noFill/>
                    </a:lnL>
                    <a:lnR>
                      <a:noFill/>
                    </a:lnR>
                    <a:lnT>
                      <a:noFill/>
                    </a:lnT>
                    <a:lnB cap="flat">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1.5</a:t>
                      </a:r>
                    </a:p>
                  </a:txBody>
                  <a:tcPr marT="45723" marB="45723" horzOverflow="overflow">
                    <a:lnL>
                      <a:noFill/>
                    </a:lnL>
                    <a:lnR>
                      <a:noFill/>
                    </a:lnR>
                    <a:lnT>
                      <a:noFill/>
                    </a:lnT>
                    <a:lnB cap="flat">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23" marB="45723" horzOverflow="overflow">
                    <a:lnL>
                      <a:noFill/>
                    </a:lnL>
                    <a:lnR>
                      <a:noFill/>
                    </a:lnR>
                    <a:lnT>
                      <a:noFill/>
                    </a:lnT>
                    <a:lnB cap="flat">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23" marB="45723"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7"/>
                  </a:ext>
                </a:extLst>
              </a:tr>
            </a:tbl>
          </a:graphicData>
        </a:graphic>
      </p:graphicFrame>
      <p:sp>
        <p:nvSpPr>
          <p:cNvPr id="36918" name="Line 78">
            <a:extLst>
              <a:ext uri="{FF2B5EF4-FFF2-40B4-BE49-F238E27FC236}">
                <a16:creationId xmlns:a16="http://schemas.microsoft.com/office/drawing/2014/main" id="{F9159972-2B14-4D47-B5A4-3994353F5656}"/>
              </a:ext>
            </a:extLst>
          </p:cNvPr>
          <p:cNvSpPr>
            <a:spLocks noChangeShapeType="1"/>
          </p:cNvSpPr>
          <p:nvPr/>
        </p:nvSpPr>
        <p:spPr bwMode="auto">
          <a:xfrm>
            <a:off x="1981200" y="2209800"/>
            <a:ext cx="81534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36919" name="Line 79">
            <a:extLst>
              <a:ext uri="{FF2B5EF4-FFF2-40B4-BE49-F238E27FC236}">
                <a16:creationId xmlns:a16="http://schemas.microsoft.com/office/drawing/2014/main" id="{3DF60223-818A-8F4A-9155-28EB75EA8573}"/>
              </a:ext>
            </a:extLst>
          </p:cNvPr>
          <p:cNvSpPr>
            <a:spLocks noChangeShapeType="1"/>
          </p:cNvSpPr>
          <p:nvPr/>
        </p:nvSpPr>
        <p:spPr bwMode="auto">
          <a:xfrm>
            <a:off x="1981200" y="1295400"/>
            <a:ext cx="82296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36920" name="Text Box 80">
            <a:extLst>
              <a:ext uri="{FF2B5EF4-FFF2-40B4-BE49-F238E27FC236}">
                <a16:creationId xmlns:a16="http://schemas.microsoft.com/office/drawing/2014/main" id="{FC46858D-3E27-E048-917D-3C9A1DF05C55}"/>
              </a:ext>
            </a:extLst>
          </p:cNvPr>
          <p:cNvSpPr txBox="1">
            <a:spLocks noChangeArrowheads="1"/>
          </p:cNvSpPr>
          <p:nvPr/>
        </p:nvSpPr>
        <p:spPr bwMode="auto">
          <a:xfrm>
            <a:off x="2438400" y="5867400"/>
            <a:ext cx="7239000" cy="8318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sz="2400" b="0" dirty="0">
                <a:solidFill>
                  <a:srgbClr val="990033"/>
                </a:solidFill>
                <a:latin typeface="Arial" panose="020B0604020202020204" pitchFamily="34" charset="0"/>
              </a:rPr>
              <a:t>Maximum benefit is obtained by implementing D,E,F, H2,(40/56)C </a:t>
            </a:r>
            <a:r>
              <a:rPr lang="en-US" altLang="en-MX" sz="2400" dirty="0">
                <a:solidFill>
                  <a:srgbClr val="990033"/>
                </a:solidFill>
                <a:latin typeface="Arial" panose="020B0604020202020204" pitchFamily="34" charset="0"/>
              </a:rPr>
              <a:t>= 280</a:t>
            </a:r>
            <a:r>
              <a:rPr lang="en-US" altLang="en-MX" sz="2400" b="0" dirty="0">
                <a:solidFill>
                  <a:srgbClr val="990033"/>
                </a:solidFill>
                <a:latin typeface="Arial" panose="020B0604020202020204" pitchFamily="34" charset="0"/>
              </a:rPr>
              <a:t>.</a:t>
            </a:r>
          </a:p>
        </p:txBody>
      </p:sp>
      <p:sp>
        <p:nvSpPr>
          <p:cNvPr id="36921" name="Line 81">
            <a:extLst>
              <a:ext uri="{FF2B5EF4-FFF2-40B4-BE49-F238E27FC236}">
                <a16:creationId xmlns:a16="http://schemas.microsoft.com/office/drawing/2014/main" id="{7DB13EF1-F2C6-9F4B-BD0E-767CA437C2F4}"/>
              </a:ext>
            </a:extLst>
          </p:cNvPr>
          <p:cNvSpPr>
            <a:spLocks noChangeShapeType="1"/>
          </p:cNvSpPr>
          <p:nvPr/>
        </p:nvSpPr>
        <p:spPr bwMode="auto">
          <a:xfrm>
            <a:off x="1981200" y="4724400"/>
            <a:ext cx="8001000" cy="0"/>
          </a:xfrm>
          <a:prstGeom prst="line">
            <a:avLst/>
          </a:prstGeom>
          <a:noFill/>
          <a:ln w="28575">
            <a:solidFill>
              <a:srgbClr val="000000"/>
            </a:solidFill>
            <a:prstDash val="dashDot"/>
            <a:round/>
            <a:headEnd/>
            <a:tailEnd/>
          </a:ln>
          <a:extLst>
            <a:ext uri="{909E8E84-426E-40DD-AFC4-6F175D3DCCD1}">
              <a14:hiddenFill xmlns:a14="http://schemas.microsoft.com/office/drawing/2010/main">
                <a:noFill/>
              </a14:hiddenFill>
            </a:ext>
          </a:extLst>
        </p:spPr>
        <p:txBody>
          <a:bodyPr/>
          <a:lstStyle/>
          <a:p>
            <a:endParaRPr lang="en-MX"/>
          </a:p>
        </p:txBody>
      </p:sp>
    </p:spTree>
    <p:extLst>
      <p:ext uri="{BB962C8B-B14F-4D97-AF65-F5344CB8AC3E}">
        <p14:creationId xmlns:p14="http://schemas.microsoft.com/office/powerpoint/2010/main" val="3668148959"/>
      </p:ext>
    </p:extLst>
  </p:cSld>
  <p:clrMapOvr>
    <a:masterClrMapping/>
  </p:clrMapOvr>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5554" name="Rectangle 2">
            <a:extLst>
              <a:ext uri="{FF2B5EF4-FFF2-40B4-BE49-F238E27FC236}">
                <a16:creationId xmlns:a16="http://schemas.microsoft.com/office/drawing/2014/main" id="{0AAF0756-667F-F74E-BB2E-799EA1198976}"/>
              </a:ext>
            </a:extLst>
          </p:cNvPr>
          <p:cNvSpPr>
            <a:spLocks noGrp="1" noChangeArrowheads="1"/>
          </p:cNvSpPr>
          <p:nvPr>
            <p:ph type="title"/>
          </p:nvPr>
        </p:nvSpPr>
        <p:spPr>
          <a:xfrm>
            <a:off x="868989" y="304800"/>
            <a:ext cx="10495861" cy="1143000"/>
          </a:xfrm>
        </p:spPr>
        <p:txBody>
          <a:bodyPr>
            <a:normAutofit/>
          </a:bodyPr>
          <a:lstStyle/>
          <a:p>
            <a:pPr>
              <a:defRPr/>
            </a:pPr>
            <a:r>
              <a:rPr lang="en-US" dirty="0"/>
              <a:t>Results of Competing Choice (1)</a:t>
            </a:r>
          </a:p>
        </p:txBody>
      </p:sp>
      <p:sp>
        <p:nvSpPr>
          <p:cNvPr id="37891" name="Line 3">
            <a:extLst>
              <a:ext uri="{FF2B5EF4-FFF2-40B4-BE49-F238E27FC236}">
                <a16:creationId xmlns:a16="http://schemas.microsoft.com/office/drawing/2014/main" id="{80BEDECB-44D3-BA45-BC5B-C3A47EE313AA}"/>
              </a:ext>
            </a:extLst>
          </p:cNvPr>
          <p:cNvSpPr>
            <a:spLocks noChangeShapeType="1"/>
          </p:cNvSpPr>
          <p:nvPr/>
        </p:nvSpPr>
        <p:spPr bwMode="auto">
          <a:xfrm flipV="1">
            <a:off x="2989264" y="4441826"/>
            <a:ext cx="2014537" cy="1065213"/>
          </a:xfrm>
          <a:prstGeom prst="line">
            <a:avLst/>
          </a:prstGeom>
          <a:noFill/>
          <a:ln w="17463">
            <a:solidFill>
              <a:srgbClr val="C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7892" name="Line 4">
            <a:extLst>
              <a:ext uri="{FF2B5EF4-FFF2-40B4-BE49-F238E27FC236}">
                <a16:creationId xmlns:a16="http://schemas.microsoft.com/office/drawing/2014/main" id="{FFB35C76-8D62-3D49-AAB0-A1E8AC72EBDC}"/>
              </a:ext>
            </a:extLst>
          </p:cNvPr>
          <p:cNvSpPr>
            <a:spLocks noChangeShapeType="1"/>
          </p:cNvSpPr>
          <p:nvPr/>
        </p:nvSpPr>
        <p:spPr bwMode="auto">
          <a:xfrm flipV="1">
            <a:off x="5003800" y="3571875"/>
            <a:ext cx="1258888" cy="869950"/>
          </a:xfrm>
          <a:prstGeom prst="line">
            <a:avLst/>
          </a:prstGeom>
          <a:noFill/>
          <a:ln w="17463">
            <a:solidFill>
              <a:srgbClr val="C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7893" name="Line 5">
            <a:extLst>
              <a:ext uri="{FF2B5EF4-FFF2-40B4-BE49-F238E27FC236}">
                <a16:creationId xmlns:a16="http://schemas.microsoft.com/office/drawing/2014/main" id="{5A28BCA3-3500-5B44-9BB3-D45C35BF5816}"/>
              </a:ext>
            </a:extLst>
          </p:cNvPr>
          <p:cNvSpPr>
            <a:spLocks noChangeShapeType="1"/>
          </p:cNvSpPr>
          <p:nvPr/>
        </p:nvSpPr>
        <p:spPr bwMode="auto">
          <a:xfrm flipV="1">
            <a:off x="6262688" y="2603501"/>
            <a:ext cx="755650" cy="968375"/>
          </a:xfrm>
          <a:prstGeom prst="line">
            <a:avLst/>
          </a:prstGeom>
          <a:noFill/>
          <a:ln w="17463">
            <a:solidFill>
              <a:srgbClr val="C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7894" name="Rectangle 6">
            <a:extLst>
              <a:ext uri="{FF2B5EF4-FFF2-40B4-BE49-F238E27FC236}">
                <a16:creationId xmlns:a16="http://schemas.microsoft.com/office/drawing/2014/main" id="{0EA07F62-65C2-0141-9EE1-1E5B60BD5A47}"/>
              </a:ext>
            </a:extLst>
          </p:cNvPr>
          <p:cNvSpPr>
            <a:spLocks noChangeArrowheads="1"/>
          </p:cNvSpPr>
          <p:nvPr/>
        </p:nvSpPr>
        <p:spPr bwMode="auto">
          <a:xfrm>
            <a:off x="4973639" y="4397375"/>
            <a:ext cx="53975" cy="57150"/>
          </a:xfrm>
          <a:prstGeom prst="rect">
            <a:avLst/>
          </a:prstGeom>
          <a:solidFill>
            <a:srgbClr val="FFFFFF"/>
          </a:solidFill>
          <a:ln w="33338">
            <a:solidFill>
              <a:srgbClr val="C00000"/>
            </a:solidFill>
            <a:miter lim="800000"/>
            <a:headEnd/>
            <a:tailEnd/>
          </a:ln>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37895" name="Rectangle 7">
            <a:extLst>
              <a:ext uri="{FF2B5EF4-FFF2-40B4-BE49-F238E27FC236}">
                <a16:creationId xmlns:a16="http://schemas.microsoft.com/office/drawing/2014/main" id="{3749F9AC-88DE-CC4F-8C5C-2561629C1175}"/>
              </a:ext>
            </a:extLst>
          </p:cNvPr>
          <p:cNvSpPr>
            <a:spLocks noChangeArrowheads="1"/>
          </p:cNvSpPr>
          <p:nvPr/>
        </p:nvSpPr>
        <p:spPr bwMode="auto">
          <a:xfrm>
            <a:off x="6229350" y="3529014"/>
            <a:ext cx="50800" cy="53975"/>
          </a:xfrm>
          <a:prstGeom prst="rect">
            <a:avLst/>
          </a:prstGeom>
          <a:solidFill>
            <a:srgbClr val="FFFFFF"/>
          </a:solidFill>
          <a:ln w="33338">
            <a:solidFill>
              <a:srgbClr val="C00000"/>
            </a:solidFill>
            <a:miter lim="800000"/>
            <a:headEnd/>
            <a:tailEnd/>
          </a:ln>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37896" name="Rectangle 8">
            <a:extLst>
              <a:ext uri="{FF2B5EF4-FFF2-40B4-BE49-F238E27FC236}">
                <a16:creationId xmlns:a16="http://schemas.microsoft.com/office/drawing/2014/main" id="{F027765A-9E5E-C34A-A29B-6CF10E9BFDF7}"/>
              </a:ext>
            </a:extLst>
          </p:cNvPr>
          <p:cNvSpPr>
            <a:spLocks noChangeArrowheads="1"/>
          </p:cNvSpPr>
          <p:nvPr/>
        </p:nvSpPr>
        <p:spPr bwMode="auto">
          <a:xfrm>
            <a:off x="6980238" y="2565400"/>
            <a:ext cx="49212" cy="57150"/>
          </a:xfrm>
          <a:prstGeom prst="rect">
            <a:avLst/>
          </a:prstGeom>
          <a:solidFill>
            <a:srgbClr val="FFFFFF"/>
          </a:solidFill>
          <a:ln w="33338">
            <a:solidFill>
              <a:srgbClr val="C00000"/>
            </a:solidFill>
            <a:miter lim="800000"/>
            <a:headEnd/>
            <a:tailEnd/>
          </a:ln>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37897" name="Line 9">
            <a:extLst>
              <a:ext uri="{FF2B5EF4-FFF2-40B4-BE49-F238E27FC236}">
                <a16:creationId xmlns:a16="http://schemas.microsoft.com/office/drawing/2014/main" id="{7C066532-6BB3-BF4C-9975-4AE48687A02D}"/>
              </a:ext>
            </a:extLst>
          </p:cNvPr>
          <p:cNvSpPr>
            <a:spLocks noChangeShapeType="1"/>
          </p:cNvSpPr>
          <p:nvPr/>
        </p:nvSpPr>
        <p:spPr bwMode="auto">
          <a:xfrm>
            <a:off x="2989264" y="5507039"/>
            <a:ext cx="5037137" cy="1587"/>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7898" name="Line 10">
            <a:extLst>
              <a:ext uri="{FF2B5EF4-FFF2-40B4-BE49-F238E27FC236}">
                <a16:creationId xmlns:a16="http://schemas.microsoft.com/office/drawing/2014/main" id="{BADAF329-3AAD-2843-84CC-303CC886CB58}"/>
              </a:ext>
            </a:extLst>
          </p:cNvPr>
          <p:cNvSpPr>
            <a:spLocks noChangeShapeType="1"/>
          </p:cNvSpPr>
          <p:nvPr/>
        </p:nvSpPr>
        <p:spPr bwMode="auto">
          <a:xfrm>
            <a:off x="2989264" y="5507039"/>
            <a:ext cx="1587" cy="98425"/>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7899" name="Rectangle 11">
            <a:extLst>
              <a:ext uri="{FF2B5EF4-FFF2-40B4-BE49-F238E27FC236}">
                <a16:creationId xmlns:a16="http://schemas.microsoft.com/office/drawing/2014/main" id="{B78DF511-7C44-5840-947E-A50F775A5050}"/>
              </a:ext>
            </a:extLst>
          </p:cNvPr>
          <p:cNvSpPr>
            <a:spLocks noChangeArrowheads="1"/>
          </p:cNvSpPr>
          <p:nvPr/>
        </p:nvSpPr>
        <p:spPr bwMode="auto">
          <a:xfrm>
            <a:off x="2862263" y="5641976"/>
            <a:ext cx="1426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b="0">
                <a:solidFill>
                  <a:srgbClr val="000000"/>
                </a:solidFill>
                <a:latin typeface="Arial" panose="020B0604020202020204" pitchFamily="34" charset="0"/>
              </a:rPr>
              <a:t>0</a:t>
            </a:r>
            <a:endParaRPr lang="en-US" altLang="en-MX" sz="2400" b="0">
              <a:latin typeface="Arial" panose="020B0604020202020204" pitchFamily="34" charset="0"/>
            </a:endParaRPr>
          </a:p>
        </p:txBody>
      </p:sp>
      <p:sp>
        <p:nvSpPr>
          <p:cNvPr id="37900" name="Line 12">
            <a:extLst>
              <a:ext uri="{FF2B5EF4-FFF2-40B4-BE49-F238E27FC236}">
                <a16:creationId xmlns:a16="http://schemas.microsoft.com/office/drawing/2014/main" id="{A4C7A678-4BEE-EC46-93CF-BB5A2DA0AE97}"/>
              </a:ext>
            </a:extLst>
          </p:cNvPr>
          <p:cNvSpPr>
            <a:spLocks noChangeShapeType="1"/>
          </p:cNvSpPr>
          <p:nvPr/>
        </p:nvSpPr>
        <p:spPr bwMode="auto">
          <a:xfrm>
            <a:off x="4248150" y="5507039"/>
            <a:ext cx="1588" cy="98425"/>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7901" name="Rectangle 13">
            <a:extLst>
              <a:ext uri="{FF2B5EF4-FFF2-40B4-BE49-F238E27FC236}">
                <a16:creationId xmlns:a16="http://schemas.microsoft.com/office/drawing/2014/main" id="{9C255C3C-C70D-F040-BD3C-EC8107CC7575}"/>
              </a:ext>
            </a:extLst>
          </p:cNvPr>
          <p:cNvSpPr>
            <a:spLocks noChangeArrowheads="1"/>
          </p:cNvSpPr>
          <p:nvPr/>
        </p:nvSpPr>
        <p:spPr bwMode="auto">
          <a:xfrm>
            <a:off x="4051301" y="5641975"/>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b="0">
                <a:solidFill>
                  <a:srgbClr val="000000"/>
                </a:solidFill>
                <a:latin typeface="Arial" panose="020B0604020202020204" pitchFamily="34" charset="0"/>
              </a:rPr>
              <a:t>25</a:t>
            </a:r>
            <a:endParaRPr lang="en-US" altLang="en-MX" sz="2400" b="0">
              <a:latin typeface="Arial" panose="020B0604020202020204" pitchFamily="34" charset="0"/>
            </a:endParaRPr>
          </a:p>
        </p:txBody>
      </p:sp>
      <p:sp>
        <p:nvSpPr>
          <p:cNvPr id="37902" name="Line 14">
            <a:extLst>
              <a:ext uri="{FF2B5EF4-FFF2-40B4-BE49-F238E27FC236}">
                <a16:creationId xmlns:a16="http://schemas.microsoft.com/office/drawing/2014/main" id="{CB1B6634-9021-1243-9C1F-B4D2CD2A4DED}"/>
              </a:ext>
            </a:extLst>
          </p:cNvPr>
          <p:cNvSpPr>
            <a:spLocks noChangeShapeType="1"/>
          </p:cNvSpPr>
          <p:nvPr/>
        </p:nvSpPr>
        <p:spPr bwMode="auto">
          <a:xfrm>
            <a:off x="5507039" y="5507039"/>
            <a:ext cx="3175" cy="98425"/>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7903" name="Rectangle 15">
            <a:extLst>
              <a:ext uri="{FF2B5EF4-FFF2-40B4-BE49-F238E27FC236}">
                <a16:creationId xmlns:a16="http://schemas.microsoft.com/office/drawing/2014/main" id="{070BB9D5-0420-DD49-9FEB-BFE633B59CD5}"/>
              </a:ext>
            </a:extLst>
          </p:cNvPr>
          <p:cNvSpPr>
            <a:spLocks noChangeArrowheads="1"/>
          </p:cNvSpPr>
          <p:nvPr/>
        </p:nvSpPr>
        <p:spPr bwMode="auto">
          <a:xfrm>
            <a:off x="5310189" y="5641975"/>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b="0">
                <a:solidFill>
                  <a:srgbClr val="000000"/>
                </a:solidFill>
                <a:latin typeface="Arial" panose="020B0604020202020204" pitchFamily="34" charset="0"/>
              </a:rPr>
              <a:t>50</a:t>
            </a:r>
            <a:endParaRPr lang="en-US" altLang="en-MX" sz="2400" b="0">
              <a:latin typeface="Arial" panose="020B0604020202020204" pitchFamily="34" charset="0"/>
            </a:endParaRPr>
          </a:p>
        </p:txBody>
      </p:sp>
      <p:sp>
        <p:nvSpPr>
          <p:cNvPr id="37904" name="Line 16">
            <a:extLst>
              <a:ext uri="{FF2B5EF4-FFF2-40B4-BE49-F238E27FC236}">
                <a16:creationId xmlns:a16="http://schemas.microsoft.com/office/drawing/2014/main" id="{11AD54E1-FB51-6647-8599-D8593C2489C5}"/>
              </a:ext>
            </a:extLst>
          </p:cNvPr>
          <p:cNvSpPr>
            <a:spLocks noChangeShapeType="1"/>
          </p:cNvSpPr>
          <p:nvPr/>
        </p:nvSpPr>
        <p:spPr bwMode="auto">
          <a:xfrm>
            <a:off x="6767514" y="5507039"/>
            <a:ext cx="1587" cy="98425"/>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7905" name="Rectangle 17">
            <a:extLst>
              <a:ext uri="{FF2B5EF4-FFF2-40B4-BE49-F238E27FC236}">
                <a16:creationId xmlns:a16="http://schemas.microsoft.com/office/drawing/2014/main" id="{07435EA3-1F59-F340-BE88-DB6FE71402B6}"/>
              </a:ext>
            </a:extLst>
          </p:cNvPr>
          <p:cNvSpPr>
            <a:spLocks noChangeArrowheads="1"/>
          </p:cNvSpPr>
          <p:nvPr/>
        </p:nvSpPr>
        <p:spPr bwMode="auto">
          <a:xfrm>
            <a:off x="6570664" y="5641975"/>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b="0">
                <a:solidFill>
                  <a:srgbClr val="000000"/>
                </a:solidFill>
                <a:latin typeface="Arial" panose="020B0604020202020204" pitchFamily="34" charset="0"/>
              </a:rPr>
              <a:t>75</a:t>
            </a:r>
            <a:endParaRPr lang="en-US" altLang="en-MX" sz="2400" b="0">
              <a:latin typeface="Arial" panose="020B0604020202020204" pitchFamily="34" charset="0"/>
            </a:endParaRPr>
          </a:p>
        </p:txBody>
      </p:sp>
      <p:sp>
        <p:nvSpPr>
          <p:cNvPr id="37906" name="Line 18">
            <a:extLst>
              <a:ext uri="{FF2B5EF4-FFF2-40B4-BE49-F238E27FC236}">
                <a16:creationId xmlns:a16="http://schemas.microsoft.com/office/drawing/2014/main" id="{68FE2C7C-570F-2846-98F0-B56631EDF239}"/>
              </a:ext>
            </a:extLst>
          </p:cNvPr>
          <p:cNvSpPr>
            <a:spLocks noChangeShapeType="1"/>
          </p:cNvSpPr>
          <p:nvPr/>
        </p:nvSpPr>
        <p:spPr bwMode="auto">
          <a:xfrm>
            <a:off x="8026400" y="5507039"/>
            <a:ext cx="1588" cy="98425"/>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7907" name="Rectangle 19">
            <a:extLst>
              <a:ext uri="{FF2B5EF4-FFF2-40B4-BE49-F238E27FC236}">
                <a16:creationId xmlns:a16="http://schemas.microsoft.com/office/drawing/2014/main" id="{BA5E721E-148E-8740-B540-CF8BD0AF3D2D}"/>
              </a:ext>
            </a:extLst>
          </p:cNvPr>
          <p:cNvSpPr>
            <a:spLocks noChangeArrowheads="1"/>
          </p:cNvSpPr>
          <p:nvPr/>
        </p:nvSpPr>
        <p:spPr bwMode="auto">
          <a:xfrm>
            <a:off x="7758113" y="5641976"/>
            <a:ext cx="42800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b="0">
                <a:solidFill>
                  <a:srgbClr val="000000"/>
                </a:solidFill>
                <a:latin typeface="Arial" panose="020B0604020202020204" pitchFamily="34" charset="0"/>
              </a:rPr>
              <a:t>100</a:t>
            </a:r>
            <a:endParaRPr lang="en-US" altLang="en-MX" sz="2400" b="0">
              <a:latin typeface="Arial" panose="020B0604020202020204" pitchFamily="34" charset="0"/>
            </a:endParaRPr>
          </a:p>
        </p:txBody>
      </p:sp>
      <p:sp>
        <p:nvSpPr>
          <p:cNvPr id="37908" name="Line 20">
            <a:extLst>
              <a:ext uri="{FF2B5EF4-FFF2-40B4-BE49-F238E27FC236}">
                <a16:creationId xmlns:a16="http://schemas.microsoft.com/office/drawing/2014/main" id="{A1A5CB37-61CD-D24F-ACAF-EF46C785C6B5}"/>
              </a:ext>
            </a:extLst>
          </p:cNvPr>
          <p:cNvSpPr>
            <a:spLocks noChangeShapeType="1"/>
          </p:cNvSpPr>
          <p:nvPr/>
        </p:nvSpPr>
        <p:spPr bwMode="auto">
          <a:xfrm flipV="1">
            <a:off x="2989264" y="1878014"/>
            <a:ext cx="1587" cy="3629025"/>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7909" name="Line 21">
            <a:extLst>
              <a:ext uri="{FF2B5EF4-FFF2-40B4-BE49-F238E27FC236}">
                <a16:creationId xmlns:a16="http://schemas.microsoft.com/office/drawing/2014/main" id="{9AF4E37D-C33C-2745-9317-A08F733564FE}"/>
              </a:ext>
            </a:extLst>
          </p:cNvPr>
          <p:cNvSpPr>
            <a:spLocks noChangeShapeType="1"/>
          </p:cNvSpPr>
          <p:nvPr/>
        </p:nvSpPr>
        <p:spPr bwMode="auto">
          <a:xfrm flipH="1">
            <a:off x="2897189" y="5507039"/>
            <a:ext cx="92075" cy="1587"/>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7910" name="Rectangle 22">
            <a:extLst>
              <a:ext uri="{FF2B5EF4-FFF2-40B4-BE49-F238E27FC236}">
                <a16:creationId xmlns:a16="http://schemas.microsoft.com/office/drawing/2014/main" id="{427E0D37-1AA9-5041-B4EC-0882A6A3A1E8}"/>
              </a:ext>
            </a:extLst>
          </p:cNvPr>
          <p:cNvSpPr>
            <a:spLocks noChangeArrowheads="1"/>
          </p:cNvSpPr>
          <p:nvPr/>
        </p:nvSpPr>
        <p:spPr bwMode="auto">
          <a:xfrm>
            <a:off x="2609850" y="5360988"/>
            <a:ext cx="1412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b="0">
                <a:solidFill>
                  <a:srgbClr val="000000"/>
                </a:solidFill>
                <a:latin typeface="Arial" panose="020B0604020202020204" pitchFamily="34" charset="0"/>
              </a:rPr>
              <a:t>0</a:t>
            </a:r>
            <a:endParaRPr lang="en-US" altLang="en-MX" sz="2400" b="0">
              <a:latin typeface="Arial" panose="020B0604020202020204" pitchFamily="34" charset="0"/>
            </a:endParaRPr>
          </a:p>
        </p:txBody>
      </p:sp>
      <p:sp>
        <p:nvSpPr>
          <p:cNvPr id="37911" name="Line 23">
            <a:extLst>
              <a:ext uri="{FF2B5EF4-FFF2-40B4-BE49-F238E27FC236}">
                <a16:creationId xmlns:a16="http://schemas.microsoft.com/office/drawing/2014/main" id="{587C3F81-1440-8245-983F-E7E448FE12A2}"/>
              </a:ext>
            </a:extLst>
          </p:cNvPr>
          <p:cNvSpPr>
            <a:spLocks noChangeShapeType="1"/>
          </p:cNvSpPr>
          <p:nvPr/>
        </p:nvSpPr>
        <p:spPr bwMode="auto">
          <a:xfrm flipH="1">
            <a:off x="2897189" y="4297364"/>
            <a:ext cx="92075" cy="1587"/>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7912" name="Rectangle 24">
            <a:extLst>
              <a:ext uri="{FF2B5EF4-FFF2-40B4-BE49-F238E27FC236}">
                <a16:creationId xmlns:a16="http://schemas.microsoft.com/office/drawing/2014/main" id="{7FA413A6-BA30-D742-BCA6-79BF8BF008ED}"/>
              </a:ext>
            </a:extLst>
          </p:cNvPr>
          <p:cNvSpPr>
            <a:spLocks noChangeArrowheads="1"/>
          </p:cNvSpPr>
          <p:nvPr/>
        </p:nvSpPr>
        <p:spPr bwMode="auto">
          <a:xfrm>
            <a:off x="2468564" y="4151313"/>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b="0">
                <a:solidFill>
                  <a:srgbClr val="000000"/>
                </a:solidFill>
                <a:latin typeface="Arial" panose="020B0604020202020204" pitchFamily="34" charset="0"/>
              </a:rPr>
              <a:t>25</a:t>
            </a:r>
            <a:endParaRPr lang="en-US" altLang="en-MX" sz="2400" b="0">
              <a:latin typeface="Arial" panose="020B0604020202020204" pitchFamily="34" charset="0"/>
            </a:endParaRPr>
          </a:p>
        </p:txBody>
      </p:sp>
      <p:sp>
        <p:nvSpPr>
          <p:cNvPr id="37913" name="Line 25">
            <a:extLst>
              <a:ext uri="{FF2B5EF4-FFF2-40B4-BE49-F238E27FC236}">
                <a16:creationId xmlns:a16="http://schemas.microsoft.com/office/drawing/2014/main" id="{D9CDC251-EEB1-9449-B8C2-D4307FE79F86}"/>
              </a:ext>
            </a:extLst>
          </p:cNvPr>
          <p:cNvSpPr>
            <a:spLocks noChangeShapeType="1"/>
          </p:cNvSpPr>
          <p:nvPr/>
        </p:nvSpPr>
        <p:spPr bwMode="auto">
          <a:xfrm flipH="1">
            <a:off x="2897189" y="3087689"/>
            <a:ext cx="92075" cy="1587"/>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7914" name="Rectangle 26">
            <a:extLst>
              <a:ext uri="{FF2B5EF4-FFF2-40B4-BE49-F238E27FC236}">
                <a16:creationId xmlns:a16="http://schemas.microsoft.com/office/drawing/2014/main" id="{3006C6D4-3053-8841-8E68-2CAA21484A2D}"/>
              </a:ext>
            </a:extLst>
          </p:cNvPr>
          <p:cNvSpPr>
            <a:spLocks noChangeArrowheads="1"/>
          </p:cNvSpPr>
          <p:nvPr/>
        </p:nvSpPr>
        <p:spPr bwMode="auto">
          <a:xfrm>
            <a:off x="2468564" y="2943225"/>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b="0">
                <a:solidFill>
                  <a:srgbClr val="000000"/>
                </a:solidFill>
                <a:latin typeface="Arial" panose="020B0604020202020204" pitchFamily="34" charset="0"/>
              </a:rPr>
              <a:t>50</a:t>
            </a:r>
            <a:endParaRPr lang="en-US" altLang="en-MX" sz="2400" b="0">
              <a:latin typeface="Arial" panose="020B0604020202020204" pitchFamily="34" charset="0"/>
            </a:endParaRPr>
          </a:p>
        </p:txBody>
      </p:sp>
      <p:sp>
        <p:nvSpPr>
          <p:cNvPr id="37915" name="Line 27">
            <a:extLst>
              <a:ext uri="{FF2B5EF4-FFF2-40B4-BE49-F238E27FC236}">
                <a16:creationId xmlns:a16="http://schemas.microsoft.com/office/drawing/2014/main" id="{DAA30361-FD1F-9647-922E-30CDCD8B700C}"/>
              </a:ext>
            </a:extLst>
          </p:cNvPr>
          <p:cNvSpPr>
            <a:spLocks noChangeShapeType="1"/>
          </p:cNvSpPr>
          <p:nvPr/>
        </p:nvSpPr>
        <p:spPr bwMode="auto">
          <a:xfrm flipH="1">
            <a:off x="2897189" y="1878014"/>
            <a:ext cx="92075" cy="1587"/>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7916" name="Rectangle 28">
            <a:extLst>
              <a:ext uri="{FF2B5EF4-FFF2-40B4-BE49-F238E27FC236}">
                <a16:creationId xmlns:a16="http://schemas.microsoft.com/office/drawing/2014/main" id="{BDA698B5-B14C-F24A-8B4F-CA676DADC370}"/>
              </a:ext>
            </a:extLst>
          </p:cNvPr>
          <p:cNvSpPr>
            <a:spLocks noChangeArrowheads="1"/>
          </p:cNvSpPr>
          <p:nvPr/>
        </p:nvSpPr>
        <p:spPr bwMode="auto">
          <a:xfrm>
            <a:off x="2468564" y="1733550"/>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b="0">
                <a:solidFill>
                  <a:srgbClr val="000000"/>
                </a:solidFill>
                <a:latin typeface="Arial" panose="020B0604020202020204" pitchFamily="34" charset="0"/>
              </a:rPr>
              <a:t>75</a:t>
            </a:r>
            <a:endParaRPr lang="en-US" altLang="en-MX" sz="2400" b="0">
              <a:latin typeface="Arial" panose="020B0604020202020204" pitchFamily="34" charset="0"/>
            </a:endParaRPr>
          </a:p>
        </p:txBody>
      </p:sp>
      <p:sp>
        <p:nvSpPr>
          <p:cNvPr id="37917" name="Rectangle 29">
            <a:extLst>
              <a:ext uri="{FF2B5EF4-FFF2-40B4-BE49-F238E27FC236}">
                <a16:creationId xmlns:a16="http://schemas.microsoft.com/office/drawing/2014/main" id="{4ABC70BC-4B3D-2A41-A315-AA7B36A2C694}"/>
              </a:ext>
            </a:extLst>
          </p:cNvPr>
          <p:cNvSpPr>
            <a:spLocks noChangeArrowheads="1"/>
          </p:cNvSpPr>
          <p:nvPr/>
        </p:nvSpPr>
        <p:spPr bwMode="auto">
          <a:xfrm>
            <a:off x="7772401" y="4648200"/>
            <a:ext cx="244060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sz="2400" b="0">
                <a:solidFill>
                  <a:srgbClr val="000000"/>
                </a:solidFill>
                <a:latin typeface="Arial" panose="020B0604020202020204" pitchFamily="34" charset="0"/>
              </a:rPr>
              <a:t>“Efficient Frontier”</a:t>
            </a:r>
            <a:endParaRPr lang="en-US" altLang="en-MX" sz="2400" b="0">
              <a:latin typeface="Arial" panose="020B0604020202020204" pitchFamily="34" charset="0"/>
            </a:endParaRPr>
          </a:p>
        </p:txBody>
      </p:sp>
      <p:sp>
        <p:nvSpPr>
          <p:cNvPr id="37918" name="Line 30">
            <a:extLst>
              <a:ext uri="{FF2B5EF4-FFF2-40B4-BE49-F238E27FC236}">
                <a16:creationId xmlns:a16="http://schemas.microsoft.com/office/drawing/2014/main" id="{AFADCBAA-6567-5F46-AE02-B27F81CA3F0C}"/>
              </a:ext>
            </a:extLst>
          </p:cNvPr>
          <p:cNvSpPr>
            <a:spLocks noChangeShapeType="1"/>
          </p:cNvSpPr>
          <p:nvPr/>
        </p:nvSpPr>
        <p:spPr bwMode="auto">
          <a:xfrm>
            <a:off x="7105651" y="4830764"/>
            <a:ext cx="493713" cy="1587"/>
          </a:xfrm>
          <a:prstGeom prst="line">
            <a:avLst/>
          </a:prstGeom>
          <a:noFill/>
          <a:ln w="17463">
            <a:solidFill>
              <a:srgbClr val="C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7919" name="Rectangle 31">
            <a:extLst>
              <a:ext uri="{FF2B5EF4-FFF2-40B4-BE49-F238E27FC236}">
                <a16:creationId xmlns:a16="http://schemas.microsoft.com/office/drawing/2014/main" id="{4F48DE01-C373-E846-9329-C5E16DF6D15D}"/>
              </a:ext>
            </a:extLst>
          </p:cNvPr>
          <p:cNvSpPr>
            <a:spLocks noChangeArrowheads="1"/>
          </p:cNvSpPr>
          <p:nvPr/>
        </p:nvSpPr>
        <p:spPr bwMode="auto">
          <a:xfrm>
            <a:off x="7315200" y="4800601"/>
            <a:ext cx="50800" cy="55563"/>
          </a:xfrm>
          <a:prstGeom prst="rect">
            <a:avLst/>
          </a:prstGeom>
          <a:solidFill>
            <a:srgbClr val="FFFFFF"/>
          </a:solidFill>
          <a:ln w="33338">
            <a:solidFill>
              <a:srgbClr val="C00000"/>
            </a:solidFill>
            <a:miter lim="800000"/>
            <a:headEnd/>
            <a:tailEnd/>
          </a:ln>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37920" name="Rectangle 32">
            <a:extLst>
              <a:ext uri="{FF2B5EF4-FFF2-40B4-BE49-F238E27FC236}">
                <a16:creationId xmlns:a16="http://schemas.microsoft.com/office/drawing/2014/main" id="{4C927C14-374B-AB4A-BF8A-54F6D31E7ECC}"/>
              </a:ext>
            </a:extLst>
          </p:cNvPr>
          <p:cNvSpPr>
            <a:spLocks noChangeArrowheads="1"/>
          </p:cNvSpPr>
          <p:nvPr/>
        </p:nvSpPr>
        <p:spPr bwMode="auto">
          <a:xfrm>
            <a:off x="5257800" y="6019800"/>
            <a:ext cx="9585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sz="2400" b="0">
                <a:solidFill>
                  <a:srgbClr val="000000"/>
                </a:solidFill>
                <a:latin typeface="Arial" panose="020B0604020202020204" pitchFamily="34" charset="0"/>
              </a:rPr>
              <a:t>Benefit</a:t>
            </a:r>
            <a:endParaRPr lang="en-US" altLang="en-MX" sz="2400" b="0">
              <a:latin typeface="Arial" panose="020B0604020202020204" pitchFamily="34" charset="0"/>
            </a:endParaRPr>
          </a:p>
        </p:txBody>
      </p:sp>
      <p:sp>
        <p:nvSpPr>
          <p:cNvPr id="37921" name="Rectangle 33">
            <a:extLst>
              <a:ext uri="{FF2B5EF4-FFF2-40B4-BE49-F238E27FC236}">
                <a16:creationId xmlns:a16="http://schemas.microsoft.com/office/drawing/2014/main" id="{F0649328-E0C8-4A4C-BA18-54D6EEAE92D9}"/>
              </a:ext>
            </a:extLst>
          </p:cNvPr>
          <p:cNvSpPr>
            <a:spLocks noChangeArrowheads="1"/>
          </p:cNvSpPr>
          <p:nvPr/>
        </p:nvSpPr>
        <p:spPr bwMode="auto">
          <a:xfrm rot="16200000">
            <a:off x="1770970" y="3427691"/>
            <a:ext cx="6331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sz="2400" b="0">
                <a:solidFill>
                  <a:srgbClr val="000000"/>
                </a:solidFill>
                <a:latin typeface="Arial" panose="020B0604020202020204" pitchFamily="34" charset="0"/>
              </a:rPr>
              <a:t>Cost</a:t>
            </a:r>
            <a:endParaRPr lang="en-US" altLang="en-MX" sz="2400" b="0">
              <a:latin typeface="Arial" panose="020B0604020202020204" pitchFamily="34" charset="0"/>
            </a:endParaRPr>
          </a:p>
        </p:txBody>
      </p:sp>
      <p:sp>
        <p:nvSpPr>
          <p:cNvPr id="37922" name="Text Box 34">
            <a:extLst>
              <a:ext uri="{FF2B5EF4-FFF2-40B4-BE49-F238E27FC236}">
                <a16:creationId xmlns:a16="http://schemas.microsoft.com/office/drawing/2014/main" id="{8AB7B800-ED08-7342-A106-57B2BFA856AC}"/>
              </a:ext>
            </a:extLst>
          </p:cNvPr>
          <p:cNvSpPr txBox="1">
            <a:spLocks noChangeArrowheads="1"/>
          </p:cNvSpPr>
          <p:nvPr/>
        </p:nvSpPr>
        <p:spPr bwMode="auto">
          <a:xfrm>
            <a:off x="5029201" y="4341813"/>
            <a:ext cx="574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sz="2400" b="0">
                <a:solidFill>
                  <a:srgbClr val="000000"/>
                </a:solidFill>
                <a:latin typeface="Arial" panose="020B0604020202020204" pitchFamily="34" charset="0"/>
              </a:rPr>
              <a:t>H4</a:t>
            </a:r>
          </a:p>
        </p:txBody>
      </p:sp>
      <p:sp>
        <p:nvSpPr>
          <p:cNvPr id="37923" name="Text Box 35">
            <a:extLst>
              <a:ext uri="{FF2B5EF4-FFF2-40B4-BE49-F238E27FC236}">
                <a16:creationId xmlns:a16="http://schemas.microsoft.com/office/drawing/2014/main" id="{1FC61A07-60B7-CC40-BCFD-FCB86215F32D}"/>
              </a:ext>
            </a:extLst>
          </p:cNvPr>
          <p:cNvSpPr txBox="1">
            <a:spLocks noChangeArrowheads="1"/>
          </p:cNvSpPr>
          <p:nvPr/>
        </p:nvSpPr>
        <p:spPr bwMode="auto">
          <a:xfrm>
            <a:off x="6324601" y="3351213"/>
            <a:ext cx="574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sz="2400" b="0">
                <a:solidFill>
                  <a:srgbClr val="000000"/>
                </a:solidFill>
                <a:latin typeface="Arial" panose="020B0604020202020204" pitchFamily="34" charset="0"/>
              </a:rPr>
              <a:t>H2</a:t>
            </a:r>
          </a:p>
        </p:txBody>
      </p:sp>
      <p:sp>
        <p:nvSpPr>
          <p:cNvPr id="37924" name="Text Box 36">
            <a:extLst>
              <a:ext uri="{FF2B5EF4-FFF2-40B4-BE49-F238E27FC236}">
                <a16:creationId xmlns:a16="http://schemas.microsoft.com/office/drawing/2014/main" id="{CD0F1423-75D6-7E4A-B20C-E02AC285D283}"/>
              </a:ext>
            </a:extLst>
          </p:cNvPr>
          <p:cNvSpPr txBox="1">
            <a:spLocks noChangeArrowheads="1"/>
          </p:cNvSpPr>
          <p:nvPr/>
        </p:nvSpPr>
        <p:spPr bwMode="auto">
          <a:xfrm>
            <a:off x="7086601" y="2132013"/>
            <a:ext cx="574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sz="2400" b="0">
                <a:solidFill>
                  <a:srgbClr val="000000"/>
                </a:solidFill>
                <a:latin typeface="Arial" panose="020B0604020202020204" pitchFamily="34" charset="0"/>
              </a:rPr>
              <a:t>H1</a:t>
            </a:r>
          </a:p>
        </p:txBody>
      </p:sp>
      <p:sp>
        <p:nvSpPr>
          <p:cNvPr id="37925" name="Rectangle 38">
            <a:extLst>
              <a:ext uri="{FF2B5EF4-FFF2-40B4-BE49-F238E27FC236}">
                <a16:creationId xmlns:a16="http://schemas.microsoft.com/office/drawing/2014/main" id="{F11D13ED-B705-6842-899A-DBBC0817404F}"/>
              </a:ext>
            </a:extLst>
          </p:cNvPr>
          <p:cNvSpPr>
            <a:spLocks noChangeArrowheads="1"/>
          </p:cNvSpPr>
          <p:nvPr/>
        </p:nvSpPr>
        <p:spPr bwMode="auto">
          <a:xfrm>
            <a:off x="5867400" y="3200400"/>
            <a:ext cx="52388" cy="57150"/>
          </a:xfrm>
          <a:prstGeom prst="rect">
            <a:avLst/>
          </a:prstGeom>
          <a:solidFill>
            <a:srgbClr val="FFFFFF"/>
          </a:solidFill>
          <a:ln w="33338">
            <a:solidFill>
              <a:srgbClr val="C00000"/>
            </a:solidFill>
            <a:miter lim="800000"/>
            <a:headEnd/>
            <a:tailEnd/>
          </a:ln>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37926" name="Rectangle 39">
            <a:extLst>
              <a:ext uri="{FF2B5EF4-FFF2-40B4-BE49-F238E27FC236}">
                <a16:creationId xmlns:a16="http://schemas.microsoft.com/office/drawing/2014/main" id="{A1620654-3DC9-2F4C-AE53-27166732E490}"/>
              </a:ext>
            </a:extLst>
          </p:cNvPr>
          <p:cNvSpPr>
            <a:spLocks noChangeArrowheads="1"/>
          </p:cNvSpPr>
          <p:nvPr/>
        </p:nvSpPr>
        <p:spPr bwMode="auto">
          <a:xfrm>
            <a:off x="6400800" y="2743200"/>
            <a:ext cx="52388" cy="57150"/>
          </a:xfrm>
          <a:prstGeom prst="rect">
            <a:avLst/>
          </a:prstGeom>
          <a:solidFill>
            <a:srgbClr val="FFFFFF"/>
          </a:solidFill>
          <a:ln w="33338">
            <a:solidFill>
              <a:srgbClr val="C00000"/>
            </a:solidFill>
            <a:miter lim="800000"/>
            <a:headEnd/>
            <a:tailEnd/>
          </a:ln>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37927" name="Text Box 40">
            <a:extLst>
              <a:ext uri="{FF2B5EF4-FFF2-40B4-BE49-F238E27FC236}">
                <a16:creationId xmlns:a16="http://schemas.microsoft.com/office/drawing/2014/main" id="{C683EF7C-0A0A-1248-A08B-F4BD01C691B4}"/>
              </a:ext>
            </a:extLst>
          </p:cNvPr>
          <p:cNvSpPr txBox="1">
            <a:spLocks noChangeArrowheads="1"/>
          </p:cNvSpPr>
          <p:nvPr/>
        </p:nvSpPr>
        <p:spPr bwMode="auto">
          <a:xfrm>
            <a:off x="5867401" y="2436813"/>
            <a:ext cx="574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sz="2400" b="0">
                <a:solidFill>
                  <a:srgbClr val="000000"/>
                </a:solidFill>
                <a:latin typeface="Arial" panose="020B0604020202020204" pitchFamily="34" charset="0"/>
              </a:rPr>
              <a:t>H3</a:t>
            </a:r>
          </a:p>
        </p:txBody>
      </p:sp>
      <p:sp>
        <p:nvSpPr>
          <p:cNvPr id="37928" name="Text Box 41">
            <a:extLst>
              <a:ext uri="{FF2B5EF4-FFF2-40B4-BE49-F238E27FC236}">
                <a16:creationId xmlns:a16="http://schemas.microsoft.com/office/drawing/2014/main" id="{A294107C-41CF-5B44-B4A4-B877741C76C2}"/>
              </a:ext>
            </a:extLst>
          </p:cNvPr>
          <p:cNvSpPr txBox="1">
            <a:spLocks noChangeArrowheads="1"/>
          </p:cNvSpPr>
          <p:nvPr/>
        </p:nvSpPr>
        <p:spPr bwMode="auto">
          <a:xfrm>
            <a:off x="5257801" y="2970213"/>
            <a:ext cx="574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sz="2400" b="0">
                <a:solidFill>
                  <a:srgbClr val="000000"/>
                </a:solidFill>
                <a:latin typeface="Arial" panose="020B0604020202020204" pitchFamily="34" charset="0"/>
              </a:rPr>
              <a:t>H5</a:t>
            </a:r>
          </a:p>
        </p:txBody>
      </p:sp>
    </p:spTree>
    <p:extLst>
      <p:ext uri="{BB962C8B-B14F-4D97-AF65-F5344CB8AC3E}">
        <p14:creationId xmlns:p14="http://schemas.microsoft.com/office/powerpoint/2010/main" val="113057218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Line 3">
            <a:extLst>
              <a:ext uri="{FF2B5EF4-FFF2-40B4-BE49-F238E27FC236}">
                <a16:creationId xmlns:a16="http://schemas.microsoft.com/office/drawing/2014/main" id="{6C60EF75-CD8F-AF48-8D6E-F255C570214F}"/>
              </a:ext>
            </a:extLst>
          </p:cNvPr>
          <p:cNvSpPr>
            <a:spLocks noChangeShapeType="1"/>
          </p:cNvSpPr>
          <p:nvPr/>
        </p:nvSpPr>
        <p:spPr bwMode="auto">
          <a:xfrm flipV="1">
            <a:off x="2989264" y="4441826"/>
            <a:ext cx="2014537" cy="1065213"/>
          </a:xfrm>
          <a:prstGeom prst="line">
            <a:avLst/>
          </a:prstGeom>
          <a:noFill/>
          <a:ln w="17463">
            <a:solidFill>
              <a:srgbClr val="C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8916" name="Line 4">
            <a:extLst>
              <a:ext uri="{FF2B5EF4-FFF2-40B4-BE49-F238E27FC236}">
                <a16:creationId xmlns:a16="http://schemas.microsoft.com/office/drawing/2014/main" id="{3AE99082-9977-A542-861C-24C4864E930A}"/>
              </a:ext>
            </a:extLst>
          </p:cNvPr>
          <p:cNvSpPr>
            <a:spLocks noChangeShapeType="1"/>
          </p:cNvSpPr>
          <p:nvPr/>
        </p:nvSpPr>
        <p:spPr bwMode="auto">
          <a:xfrm flipV="1">
            <a:off x="5003800" y="3571875"/>
            <a:ext cx="1258888" cy="869950"/>
          </a:xfrm>
          <a:prstGeom prst="line">
            <a:avLst/>
          </a:prstGeom>
          <a:noFill/>
          <a:ln w="17463">
            <a:solidFill>
              <a:srgbClr val="C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8917" name="Line 5">
            <a:extLst>
              <a:ext uri="{FF2B5EF4-FFF2-40B4-BE49-F238E27FC236}">
                <a16:creationId xmlns:a16="http://schemas.microsoft.com/office/drawing/2014/main" id="{6231AA0A-CEE9-AD40-B1D2-A5899422D125}"/>
              </a:ext>
            </a:extLst>
          </p:cNvPr>
          <p:cNvSpPr>
            <a:spLocks noChangeShapeType="1"/>
          </p:cNvSpPr>
          <p:nvPr/>
        </p:nvSpPr>
        <p:spPr bwMode="auto">
          <a:xfrm flipV="1">
            <a:off x="6262688" y="2603501"/>
            <a:ext cx="755650" cy="968375"/>
          </a:xfrm>
          <a:prstGeom prst="line">
            <a:avLst/>
          </a:prstGeom>
          <a:noFill/>
          <a:ln w="17463">
            <a:solidFill>
              <a:srgbClr val="C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8918" name="Rectangle 6">
            <a:extLst>
              <a:ext uri="{FF2B5EF4-FFF2-40B4-BE49-F238E27FC236}">
                <a16:creationId xmlns:a16="http://schemas.microsoft.com/office/drawing/2014/main" id="{128FAB4E-27F8-CF4F-843B-5B28BD4C39EC}"/>
              </a:ext>
            </a:extLst>
          </p:cNvPr>
          <p:cNvSpPr>
            <a:spLocks noChangeArrowheads="1"/>
          </p:cNvSpPr>
          <p:nvPr/>
        </p:nvSpPr>
        <p:spPr bwMode="auto">
          <a:xfrm>
            <a:off x="4973639" y="4397375"/>
            <a:ext cx="53975" cy="57150"/>
          </a:xfrm>
          <a:prstGeom prst="rect">
            <a:avLst/>
          </a:prstGeom>
          <a:solidFill>
            <a:srgbClr val="FFFFFF"/>
          </a:solidFill>
          <a:ln w="33338">
            <a:solidFill>
              <a:srgbClr val="C00000"/>
            </a:solidFill>
            <a:miter lim="800000"/>
            <a:headEnd/>
            <a:tailEnd/>
          </a:ln>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38919" name="Rectangle 7">
            <a:extLst>
              <a:ext uri="{FF2B5EF4-FFF2-40B4-BE49-F238E27FC236}">
                <a16:creationId xmlns:a16="http://schemas.microsoft.com/office/drawing/2014/main" id="{EC694BBA-D92C-6843-83B9-57C3739A2C55}"/>
              </a:ext>
            </a:extLst>
          </p:cNvPr>
          <p:cNvSpPr>
            <a:spLocks noChangeArrowheads="1"/>
          </p:cNvSpPr>
          <p:nvPr/>
        </p:nvSpPr>
        <p:spPr bwMode="auto">
          <a:xfrm>
            <a:off x="6229350" y="3529014"/>
            <a:ext cx="50800" cy="53975"/>
          </a:xfrm>
          <a:prstGeom prst="rect">
            <a:avLst/>
          </a:prstGeom>
          <a:solidFill>
            <a:srgbClr val="FFFFFF"/>
          </a:solidFill>
          <a:ln w="33338">
            <a:solidFill>
              <a:srgbClr val="C00000"/>
            </a:solidFill>
            <a:miter lim="800000"/>
            <a:headEnd/>
            <a:tailEnd/>
          </a:ln>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38920" name="Rectangle 8">
            <a:extLst>
              <a:ext uri="{FF2B5EF4-FFF2-40B4-BE49-F238E27FC236}">
                <a16:creationId xmlns:a16="http://schemas.microsoft.com/office/drawing/2014/main" id="{4C54FE68-D511-9E44-8A03-71CA08751D14}"/>
              </a:ext>
            </a:extLst>
          </p:cNvPr>
          <p:cNvSpPr>
            <a:spLocks noChangeArrowheads="1"/>
          </p:cNvSpPr>
          <p:nvPr/>
        </p:nvSpPr>
        <p:spPr bwMode="auto">
          <a:xfrm>
            <a:off x="6980238" y="2565400"/>
            <a:ext cx="49212" cy="57150"/>
          </a:xfrm>
          <a:prstGeom prst="rect">
            <a:avLst/>
          </a:prstGeom>
          <a:solidFill>
            <a:srgbClr val="FFFFFF"/>
          </a:solidFill>
          <a:ln w="33338">
            <a:solidFill>
              <a:srgbClr val="C00000"/>
            </a:solidFill>
            <a:miter lim="800000"/>
            <a:headEnd/>
            <a:tailEnd/>
          </a:ln>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38921" name="Line 9">
            <a:extLst>
              <a:ext uri="{FF2B5EF4-FFF2-40B4-BE49-F238E27FC236}">
                <a16:creationId xmlns:a16="http://schemas.microsoft.com/office/drawing/2014/main" id="{464948ED-48A7-D242-A4A9-4D0798CA2155}"/>
              </a:ext>
            </a:extLst>
          </p:cNvPr>
          <p:cNvSpPr>
            <a:spLocks noChangeShapeType="1"/>
          </p:cNvSpPr>
          <p:nvPr/>
        </p:nvSpPr>
        <p:spPr bwMode="auto">
          <a:xfrm>
            <a:off x="2989264" y="5507039"/>
            <a:ext cx="5037137" cy="1587"/>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8922" name="Line 10">
            <a:extLst>
              <a:ext uri="{FF2B5EF4-FFF2-40B4-BE49-F238E27FC236}">
                <a16:creationId xmlns:a16="http://schemas.microsoft.com/office/drawing/2014/main" id="{2ADBF13D-2220-1F45-BF03-46CA7D104A1B}"/>
              </a:ext>
            </a:extLst>
          </p:cNvPr>
          <p:cNvSpPr>
            <a:spLocks noChangeShapeType="1"/>
          </p:cNvSpPr>
          <p:nvPr/>
        </p:nvSpPr>
        <p:spPr bwMode="auto">
          <a:xfrm>
            <a:off x="2989264" y="5507039"/>
            <a:ext cx="1587" cy="98425"/>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8923" name="Rectangle 11">
            <a:extLst>
              <a:ext uri="{FF2B5EF4-FFF2-40B4-BE49-F238E27FC236}">
                <a16:creationId xmlns:a16="http://schemas.microsoft.com/office/drawing/2014/main" id="{C5CFD120-4C1E-F646-8558-90EB691B8507}"/>
              </a:ext>
            </a:extLst>
          </p:cNvPr>
          <p:cNvSpPr>
            <a:spLocks noChangeArrowheads="1"/>
          </p:cNvSpPr>
          <p:nvPr/>
        </p:nvSpPr>
        <p:spPr bwMode="auto">
          <a:xfrm>
            <a:off x="2862263" y="5641976"/>
            <a:ext cx="1426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b="0">
                <a:solidFill>
                  <a:srgbClr val="000000"/>
                </a:solidFill>
                <a:latin typeface="Arial" panose="020B0604020202020204" pitchFamily="34" charset="0"/>
              </a:rPr>
              <a:t>0</a:t>
            </a:r>
            <a:endParaRPr lang="en-US" altLang="en-MX" sz="2400" b="0">
              <a:latin typeface="Arial" panose="020B0604020202020204" pitchFamily="34" charset="0"/>
            </a:endParaRPr>
          </a:p>
        </p:txBody>
      </p:sp>
      <p:sp>
        <p:nvSpPr>
          <p:cNvPr id="38924" name="Line 12">
            <a:extLst>
              <a:ext uri="{FF2B5EF4-FFF2-40B4-BE49-F238E27FC236}">
                <a16:creationId xmlns:a16="http://schemas.microsoft.com/office/drawing/2014/main" id="{EE8EED4B-EB1E-194D-95A6-97F0DF2BF609}"/>
              </a:ext>
            </a:extLst>
          </p:cNvPr>
          <p:cNvSpPr>
            <a:spLocks noChangeShapeType="1"/>
          </p:cNvSpPr>
          <p:nvPr/>
        </p:nvSpPr>
        <p:spPr bwMode="auto">
          <a:xfrm>
            <a:off x="4248150" y="5507039"/>
            <a:ext cx="1588" cy="98425"/>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8925" name="Rectangle 13">
            <a:extLst>
              <a:ext uri="{FF2B5EF4-FFF2-40B4-BE49-F238E27FC236}">
                <a16:creationId xmlns:a16="http://schemas.microsoft.com/office/drawing/2014/main" id="{F4ED27FD-4DBB-D54E-A34A-D8053D3F0BA5}"/>
              </a:ext>
            </a:extLst>
          </p:cNvPr>
          <p:cNvSpPr>
            <a:spLocks noChangeArrowheads="1"/>
          </p:cNvSpPr>
          <p:nvPr/>
        </p:nvSpPr>
        <p:spPr bwMode="auto">
          <a:xfrm>
            <a:off x="4051301" y="5641975"/>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b="0">
                <a:solidFill>
                  <a:srgbClr val="000000"/>
                </a:solidFill>
                <a:latin typeface="Arial" panose="020B0604020202020204" pitchFamily="34" charset="0"/>
              </a:rPr>
              <a:t>25</a:t>
            </a:r>
            <a:endParaRPr lang="en-US" altLang="en-MX" sz="2400" b="0">
              <a:latin typeface="Arial" panose="020B0604020202020204" pitchFamily="34" charset="0"/>
            </a:endParaRPr>
          </a:p>
        </p:txBody>
      </p:sp>
      <p:sp>
        <p:nvSpPr>
          <p:cNvPr id="38926" name="Line 14">
            <a:extLst>
              <a:ext uri="{FF2B5EF4-FFF2-40B4-BE49-F238E27FC236}">
                <a16:creationId xmlns:a16="http://schemas.microsoft.com/office/drawing/2014/main" id="{C8281CF5-13DA-EF41-906C-18674E9C9B78}"/>
              </a:ext>
            </a:extLst>
          </p:cNvPr>
          <p:cNvSpPr>
            <a:spLocks noChangeShapeType="1"/>
          </p:cNvSpPr>
          <p:nvPr/>
        </p:nvSpPr>
        <p:spPr bwMode="auto">
          <a:xfrm>
            <a:off x="5507039" y="5507039"/>
            <a:ext cx="3175" cy="98425"/>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8927" name="Rectangle 15">
            <a:extLst>
              <a:ext uri="{FF2B5EF4-FFF2-40B4-BE49-F238E27FC236}">
                <a16:creationId xmlns:a16="http://schemas.microsoft.com/office/drawing/2014/main" id="{3D648382-CBBD-5C41-A672-95D6ECA04BB7}"/>
              </a:ext>
            </a:extLst>
          </p:cNvPr>
          <p:cNvSpPr>
            <a:spLocks noChangeArrowheads="1"/>
          </p:cNvSpPr>
          <p:nvPr/>
        </p:nvSpPr>
        <p:spPr bwMode="auto">
          <a:xfrm>
            <a:off x="5310189" y="5641975"/>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b="0">
                <a:solidFill>
                  <a:srgbClr val="000000"/>
                </a:solidFill>
                <a:latin typeface="Arial" panose="020B0604020202020204" pitchFamily="34" charset="0"/>
              </a:rPr>
              <a:t>50</a:t>
            </a:r>
            <a:endParaRPr lang="en-US" altLang="en-MX" sz="2400" b="0">
              <a:latin typeface="Arial" panose="020B0604020202020204" pitchFamily="34" charset="0"/>
            </a:endParaRPr>
          </a:p>
        </p:txBody>
      </p:sp>
      <p:sp>
        <p:nvSpPr>
          <p:cNvPr id="38928" name="Line 16">
            <a:extLst>
              <a:ext uri="{FF2B5EF4-FFF2-40B4-BE49-F238E27FC236}">
                <a16:creationId xmlns:a16="http://schemas.microsoft.com/office/drawing/2014/main" id="{3A637356-8819-0B4B-98F7-0D62271CB18B}"/>
              </a:ext>
            </a:extLst>
          </p:cNvPr>
          <p:cNvSpPr>
            <a:spLocks noChangeShapeType="1"/>
          </p:cNvSpPr>
          <p:nvPr/>
        </p:nvSpPr>
        <p:spPr bwMode="auto">
          <a:xfrm>
            <a:off x="6767514" y="5507039"/>
            <a:ext cx="1587" cy="98425"/>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8929" name="Rectangle 17">
            <a:extLst>
              <a:ext uri="{FF2B5EF4-FFF2-40B4-BE49-F238E27FC236}">
                <a16:creationId xmlns:a16="http://schemas.microsoft.com/office/drawing/2014/main" id="{7E3D9ED5-F269-AC43-A463-2E0B5147E824}"/>
              </a:ext>
            </a:extLst>
          </p:cNvPr>
          <p:cNvSpPr>
            <a:spLocks noChangeArrowheads="1"/>
          </p:cNvSpPr>
          <p:nvPr/>
        </p:nvSpPr>
        <p:spPr bwMode="auto">
          <a:xfrm>
            <a:off x="6570664" y="5641975"/>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b="0">
                <a:solidFill>
                  <a:srgbClr val="000000"/>
                </a:solidFill>
                <a:latin typeface="Arial" panose="020B0604020202020204" pitchFamily="34" charset="0"/>
              </a:rPr>
              <a:t>75</a:t>
            </a:r>
            <a:endParaRPr lang="en-US" altLang="en-MX" sz="2400" b="0">
              <a:latin typeface="Arial" panose="020B0604020202020204" pitchFamily="34" charset="0"/>
            </a:endParaRPr>
          </a:p>
        </p:txBody>
      </p:sp>
      <p:sp>
        <p:nvSpPr>
          <p:cNvPr id="38930" name="Line 18">
            <a:extLst>
              <a:ext uri="{FF2B5EF4-FFF2-40B4-BE49-F238E27FC236}">
                <a16:creationId xmlns:a16="http://schemas.microsoft.com/office/drawing/2014/main" id="{7D7DF267-4C9C-2D42-AE95-98696AA78220}"/>
              </a:ext>
            </a:extLst>
          </p:cNvPr>
          <p:cNvSpPr>
            <a:spLocks noChangeShapeType="1"/>
          </p:cNvSpPr>
          <p:nvPr/>
        </p:nvSpPr>
        <p:spPr bwMode="auto">
          <a:xfrm>
            <a:off x="8026400" y="5507039"/>
            <a:ext cx="1588" cy="98425"/>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8931" name="Rectangle 19">
            <a:extLst>
              <a:ext uri="{FF2B5EF4-FFF2-40B4-BE49-F238E27FC236}">
                <a16:creationId xmlns:a16="http://schemas.microsoft.com/office/drawing/2014/main" id="{5F3131E6-33BB-184A-AE39-4FB584F0A877}"/>
              </a:ext>
            </a:extLst>
          </p:cNvPr>
          <p:cNvSpPr>
            <a:spLocks noChangeArrowheads="1"/>
          </p:cNvSpPr>
          <p:nvPr/>
        </p:nvSpPr>
        <p:spPr bwMode="auto">
          <a:xfrm>
            <a:off x="7758113" y="5641976"/>
            <a:ext cx="42800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b="0">
                <a:solidFill>
                  <a:srgbClr val="000000"/>
                </a:solidFill>
                <a:latin typeface="Arial" panose="020B0604020202020204" pitchFamily="34" charset="0"/>
              </a:rPr>
              <a:t>100</a:t>
            </a:r>
            <a:endParaRPr lang="en-US" altLang="en-MX" sz="2400" b="0">
              <a:latin typeface="Arial" panose="020B0604020202020204" pitchFamily="34" charset="0"/>
            </a:endParaRPr>
          </a:p>
        </p:txBody>
      </p:sp>
      <p:sp>
        <p:nvSpPr>
          <p:cNvPr id="38932" name="Line 20">
            <a:extLst>
              <a:ext uri="{FF2B5EF4-FFF2-40B4-BE49-F238E27FC236}">
                <a16:creationId xmlns:a16="http://schemas.microsoft.com/office/drawing/2014/main" id="{79E95B8E-375A-6742-8ACD-638BBCB677AC}"/>
              </a:ext>
            </a:extLst>
          </p:cNvPr>
          <p:cNvSpPr>
            <a:spLocks noChangeShapeType="1"/>
          </p:cNvSpPr>
          <p:nvPr/>
        </p:nvSpPr>
        <p:spPr bwMode="auto">
          <a:xfrm flipV="1">
            <a:off x="2989264" y="1878014"/>
            <a:ext cx="1587" cy="3629025"/>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8933" name="Line 21">
            <a:extLst>
              <a:ext uri="{FF2B5EF4-FFF2-40B4-BE49-F238E27FC236}">
                <a16:creationId xmlns:a16="http://schemas.microsoft.com/office/drawing/2014/main" id="{FAD6D320-B0F6-C047-A187-98D62E86D5A7}"/>
              </a:ext>
            </a:extLst>
          </p:cNvPr>
          <p:cNvSpPr>
            <a:spLocks noChangeShapeType="1"/>
          </p:cNvSpPr>
          <p:nvPr/>
        </p:nvSpPr>
        <p:spPr bwMode="auto">
          <a:xfrm flipH="1">
            <a:off x="2897189" y="5507039"/>
            <a:ext cx="92075" cy="1587"/>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8934" name="Rectangle 22">
            <a:extLst>
              <a:ext uri="{FF2B5EF4-FFF2-40B4-BE49-F238E27FC236}">
                <a16:creationId xmlns:a16="http://schemas.microsoft.com/office/drawing/2014/main" id="{18BC48B7-5C29-2346-B29B-AF5851687B20}"/>
              </a:ext>
            </a:extLst>
          </p:cNvPr>
          <p:cNvSpPr>
            <a:spLocks noChangeArrowheads="1"/>
          </p:cNvSpPr>
          <p:nvPr/>
        </p:nvSpPr>
        <p:spPr bwMode="auto">
          <a:xfrm>
            <a:off x="2609850" y="5360988"/>
            <a:ext cx="1412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b="0">
                <a:solidFill>
                  <a:srgbClr val="000000"/>
                </a:solidFill>
                <a:latin typeface="Arial" panose="020B0604020202020204" pitchFamily="34" charset="0"/>
              </a:rPr>
              <a:t>0</a:t>
            </a:r>
            <a:endParaRPr lang="en-US" altLang="en-MX" sz="2400" b="0">
              <a:latin typeface="Arial" panose="020B0604020202020204" pitchFamily="34" charset="0"/>
            </a:endParaRPr>
          </a:p>
        </p:txBody>
      </p:sp>
      <p:sp>
        <p:nvSpPr>
          <p:cNvPr id="38935" name="Line 23">
            <a:extLst>
              <a:ext uri="{FF2B5EF4-FFF2-40B4-BE49-F238E27FC236}">
                <a16:creationId xmlns:a16="http://schemas.microsoft.com/office/drawing/2014/main" id="{068C3B4B-C2E0-CD4F-9ADD-1151B4C2DE1F}"/>
              </a:ext>
            </a:extLst>
          </p:cNvPr>
          <p:cNvSpPr>
            <a:spLocks noChangeShapeType="1"/>
          </p:cNvSpPr>
          <p:nvPr/>
        </p:nvSpPr>
        <p:spPr bwMode="auto">
          <a:xfrm flipH="1">
            <a:off x="2897189" y="4297364"/>
            <a:ext cx="92075" cy="1587"/>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8936" name="Rectangle 24">
            <a:extLst>
              <a:ext uri="{FF2B5EF4-FFF2-40B4-BE49-F238E27FC236}">
                <a16:creationId xmlns:a16="http://schemas.microsoft.com/office/drawing/2014/main" id="{F4B88EF5-A0F9-E14A-A5B5-73041D8EF540}"/>
              </a:ext>
            </a:extLst>
          </p:cNvPr>
          <p:cNvSpPr>
            <a:spLocks noChangeArrowheads="1"/>
          </p:cNvSpPr>
          <p:nvPr/>
        </p:nvSpPr>
        <p:spPr bwMode="auto">
          <a:xfrm>
            <a:off x="2468564" y="4151313"/>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b="0">
                <a:solidFill>
                  <a:srgbClr val="000000"/>
                </a:solidFill>
                <a:latin typeface="Arial" panose="020B0604020202020204" pitchFamily="34" charset="0"/>
              </a:rPr>
              <a:t>25</a:t>
            </a:r>
            <a:endParaRPr lang="en-US" altLang="en-MX" sz="2400" b="0">
              <a:latin typeface="Arial" panose="020B0604020202020204" pitchFamily="34" charset="0"/>
            </a:endParaRPr>
          </a:p>
        </p:txBody>
      </p:sp>
      <p:sp>
        <p:nvSpPr>
          <p:cNvPr id="38937" name="Line 25">
            <a:extLst>
              <a:ext uri="{FF2B5EF4-FFF2-40B4-BE49-F238E27FC236}">
                <a16:creationId xmlns:a16="http://schemas.microsoft.com/office/drawing/2014/main" id="{F23B5805-32C1-744B-A8F1-19ABA342E4CA}"/>
              </a:ext>
            </a:extLst>
          </p:cNvPr>
          <p:cNvSpPr>
            <a:spLocks noChangeShapeType="1"/>
          </p:cNvSpPr>
          <p:nvPr/>
        </p:nvSpPr>
        <p:spPr bwMode="auto">
          <a:xfrm flipH="1">
            <a:off x="2897189" y="3087689"/>
            <a:ext cx="92075" cy="1587"/>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8938" name="Rectangle 26">
            <a:extLst>
              <a:ext uri="{FF2B5EF4-FFF2-40B4-BE49-F238E27FC236}">
                <a16:creationId xmlns:a16="http://schemas.microsoft.com/office/drawing/2014/main" id="{70E7883C-3995-FA47-8F68-EDF5DAE4ABE5}"/>
              </a:ext>
            </a:extLst>
          </p:cNvPr>
          <p:cNvSpPr>
            <a:spLocks noChangeArrowheads="1"/>
          </p:cNvSpPr>
          <p:nvPr/>
        </p:nvSpPr>
        <p:spPr bwMode="auto">
          <a:xfrm>
            <a:off x="2468564" y="2943225"/>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b="0">
                <a:solidFill>
                  <a:srgbClr val="000000"/>
                </a:solidFill>
                <a:latin typeface="Arial" panose="020B0604020202020204" pitchFamily="34" charset="0"/>
              </a:rPr>
              <a:t>50</a:t>
            </a:r>
            <a:endParaRPr lang="en-US" altLang="en-MX" sz="2400" b="0">
              <a:latin typeface="Arial" panose="020B0604020202020204" pitchFamily="34" charset="0"/>
            </a:endParaRPr>
          </a:p>
        </p:txBody>
      </p:sp>
      <p:sp>
        <p:nvSpPr>
          <p:cNvPr id="38939" name="Line 27">
            <a:extLst>
              <a:ext uri="{FF2B5EF4-FFF2-40B4-BE49-F238E27FC236}">
                <a16:creationId xmlns:a16="http://schemas.microsoft.com/office/drawing/2014/main" id="{6722C60C-72B3-F54E-9F2B-CA86228E1808}"/>
              </a:ext>
            </a:extLst>
          </p:cNvPr>
          <p:cNvSpPr>
            <a:spLocks noChangeShapeType="1"/>
          </p:cNvSpPr>
          <p:nvPr/>
        </p:nvSpPr>
        <p:spPr bwMode="auto">
          <a:xfrm flipH="1">
            <a:off x="2897189" y="1878014"/>
            <a:ext cx="92075" cy="1587"/>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8940" name="Rectangle 28">
            <a:extLst>
              <a:ext uri="{FF2B5EF4-FFF2-40B4-BE49-F238E27FC236}">
                <a16:creationId xmlns:a16="http://schemas.microsoft.com/office/drawing/2014/main" id="{AED1D0D2-8AAD-C945-9EDE-6BA9D17D89ED}"/>
              </a:ext>
            </a:extLst>
          </p:cNvPr>
          <p:cNvSpPr>
            <a:spLocks noChangeArrowheads="1"/>
          </p:cNvSpPr>
          <p:nvPr/>
        </p:nvSpPr>
        <p:spPr bwMode="auto">
          <a:xfrm>
            <a:off x="2468564" y="1733550"/>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b="0">
                <a:solidFill>
                  <a:srgbClr val="000000"/>
                </a:solidFill>
                <a:latin typeface="Arial" panose="020B0604020202020204" pitchFamily="34" charset="0"/>
              </a:rPr>
              <a:t>75</a:t>
            </a:r>
            <a:endParaRPr lang="en-US" altLang="en-MX" sz="2400" b="0">
              <a:latin typeface="Arial" panose="020B0604020202020204" pitchFamily="34" charset="0"/>
            </a:endParaRPr>
          </a:p>
        </p:txBody>
      </p:sp>
      <p:sp>
        <p:nvSpPr>
          <p:cNvPr id="38941" name="Rectangle 29">
            <a:extLst>
              <a:ext uri="{FF2B5EF4-FFF2-40B4-BE49-F238E27FC236}">
                <a16:creationId xmlns:a16="http://schemas.microsoft.com/office/drawing/2014/main" id="{A65C9A19-9DB1-8B42-8B6B-64B00D61FC94}"/>
              </a:ext>
            </a:extLst>
          </p:cNvPr>
          <p:cNvSpPr>
            <a:spLocks noChangeArrowheads="1"/>
          </p:cNvSpPr>
          <p:nvPr/>
        </p:nvSpPr>
        <p:spPr bwMode="auto">
          <a:xfrm>
            <a:off x="7772401" y="4648200"/>
            <a:ext cx="244060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sz="2400" b="0">
                <a:solidFill>
                  <a:srgbClr val="000000"/>
                </a:solidFill>
                <a:latin typeface="Arial" panose="020B0604020202020204" pitchFamily="34" charset="0"/>
              </a:rPr>
              <a:t>“Efficient Frontier”</a:t>
            </a:r>
            <a:endParaRPr lang="en-US" altLang="en-MX" sz="2400" b="0">
              <a:latin typeface="Arial" panose="020B0604020202020204" pitchFamily="34" charset="0"/>
            </a:endParaRPr>
          </a:p>
        </p:txBody>
      </p:sp>
      <p:sp>
        <p:nvSpPr>
          <p:cNvPr id="38942" name="Line 30">
            <a:extLst>
              <a:ext uri="{FF2B5EF4-FFF2-40B4-BE49-F238E27FC236}">
                <a16:creationId xmlns:a16="http://schemas.microsoft.com/office/drawing/2014/main" id="{DA5563D1-15DA-AA47-9A23-CD97ADF31600}"/>
              </a:ext>
            </a:extLst>
          </p:cNvPr>
          <p:cNvSpPr>
            <a:spLocks noChangeShapeType="1"/>
          </p:cNvSpPr>
          <p:nvPr/>
        </p:nvSpPr>
        <p:spPr bwMode="auto">
          <a:xfrm>
            <a:off x="7105651" y="4830764"/>
            <a:ext cx="493713" cy="1587"/>
          </a:xfrm>
          <a:prstGeom prst="line">
            <a:avLst/>
          </a:prstGeom>
          <a:noFill/>
          <a:ln w="17463">
            <a:solidFill>
              <a:srgbClr val="C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8943" name="Rectangle 31">
            <a:extLst>
              <a:ext uri="{FF2B5EF4-FFF2-40B4-BE49-F238E27FC236}">
                <a16:creationId xmlns:a16="http://schemas.microsoft.com/office/drawing/2014/main" id="{FC4AD543-507C-6E43-9AC8-9176552D26FC}"/>
              </a:ext>
            </a:extLst>
          </p:cNvPr>
          <p:cNvSpPr>
            <a:spLocks noChangeArrowheads="1"/>
          </p:cNvSpPr>
          <p:nvPr/>
        </p:nvSpPr>
        <p:spPr bwMode="auto">
          <a:xfrm>
            <a:off x="7315200" y="4800601"/>
            <a:ext cx="50800" cy="55563"/>
          </a:xfrm>
          <a:prstGeom prst="rect">
            <a:avLst/>
          </a:prstGeom>
          <a:solidFill>
            <a:srgbClr val="FFFFFF"/>
          </a:solidFill>
          <a:ln w="33338">
            <a:solidFill>
              <a:srgbClr val="C00000"/>
            </a:solidFill>
            <a:miter lim="800000"/>
            <a:headEnd/>
            <a:tailEnd/>
          </a:ln>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38944" name="Rectangle 32">
            <a:extLst>
              <a:ext uri="{FF2B5EF4-FFF2-40B4-BE49-F238E27FC236}">
                <a16:creationId xmlns:a16="http://schemas.microsoft.com/office/drawing/2014/main" id="{07EEF5B3-71EB-9149-8A9F-57591A14E3CC}"/>
              </a:ext>
            </a:extLst>
          </p:cNvPr>
          <p:cNvSpPr>
            <a:spLocks noChangeArrowheads="1"/>
          </p:cNvSpPr>
          <p:nvPr/>
        </p:nvSpPr>
        <p:spPr bwMode="auto">
          <a:xfrm>
            <a:off x="5181600" y="6096000"/>
            <a:ext cx="9585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sz="2400" b="0">
                <a:solidFill>
                  <a:srgbClr val="000000"/>
                </a:solidFill>
                <a:latin typeface="Arial" panose="020B0604020202020204" pitchFamily="34" charset="0"/>
              </a:rPr>
              <a:t>Benefit</a:t>
            </a:r>
            <a:endParaRPr lang="en-US" altLang="en-MX" sz="2400" b="0">
              <a:latin typeface="Arial" panose="020B0604020202020204" pitchFamily="34" charset="0"/>
            </a:endParaRPr>
          </a:p>
        </p:txBody>
      </p:sp>
      <p:sp>
        <p:nvSpPr>
          <p:cNvPr id="38945" name="Rectangle 33">
            <a:extLst>
              <a:ext uri="{FF2B5EF4-FFF2-40B4-BE49-F238E27FC236}">
                <a16:creationId xmlns:a16="http://schemas.microsoft.com/office/drawing/2014/main" id="{83058723-D197-C44D-8B30-3A6ED5DE7A68}"/>
              </a:ext>
            </a:extLst>
          </p:cNvPr>
          <p:cNvSpPr>
            <a:spLocks noChangeArrowheads="1"/>
          </p:cNvSpPr>
          <p:nvPr/>
        </p:nvSpPr>
        <p:spPr bwMode="auto">
          <a:xfrm rot="16200000">
            <a:off x="1770970" y="3427691"/>
            <a:ext cx="6331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sz="2400" b="0">
                <a:solidFill>
                  <a:srgbClr val="000000"/>
                </a:solidFill>
                <a:latin typeface="Arial" panose="020B0604020202020204" pitchFamily="34" charset="0"/>
              </a:rPr>
              <a:t>Cost</a:t>
            </a:r>
            <a:endParaRPr lang="en-US" altLang="en-MX" sz="2400" b="0">
              <a:latin typeface="Arial" panose="020B0604020202020204" pitchFamily="34" charset="0"/>
            </a:endParaRPr>
          </a:p>
        </p:txBody>
      </p:sp>
      <p:sp>
        <p:nvSpPr>
          <p:cNvPr id="38946" name="Text Box 34">
            <a:extLst>
              <a:ext uri="{FF2B5EF4-FFF2-40B4-BE49-F238E27FC236}">
                <a16:creationId xmlns:a16="http://schemas.microsoft.com/office/drawing/2014/main" id="{BD2EE7F8-945D-F24C-A0BE-8C827A1997D4}"/>
              </a:ext>
            </a:extLst>
          </p:cNvPr>
          <p:cNvSpPr txBox="1">
            <a:spLocks noChangeArrowheads="1"/>
          </p:cNvSpPr>
          <p:nvPr/>
        </p:nvSpPr>
        <p:spPr bwMode="auto">
          <a:xfrm>
            <a:off x="5029201" y="4341813"/>
            <a:ext cx="574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sz="2400" b="0">
                <a:solidFill>
                  <a:srgbClr val="000000"/>
                </a:solidFill>
                <a:latin typeface="Arial" panose="020B0604020202020204" pitchFamily="34" charset="0"/>
              </a:rPr>
              <a:t>H4</a:t>
            </a:r>
          </a:p>
        </p:txBody>
      </p:sp>
      <p:sp>
        <p:nvSpPr>
          <p:cNvPr id="38947" name="Text Box 35">
            <a:extLst>
              <a:ext uri="{FF2B5EF4-FFF2-40B4-BE49-F238E27FC236}">
                <a16:creationId xmlns:a16="http://schemas.microsoft.com/office/drawing/2014/main" id="{65534323-58DD-B54A-B361-5D9CCD51C7BA}"/>
              </a:ext>
            </a:extLst>
          </p:cNvPr>
          <p:cNvSpPr txBox="1">
            <a:spLocks noChangeArrowheads="1"/>
          </p:cNvSpPr>
          <p:nvPr/>
        </p:nvSpPr>
        <p:spPr bwMode="auto">
          <a:xfrm>
            <a:off x="6324601" y="3351213"/>
            <a:ext cx="574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sz="2400" b="0">
                <a:solidFill>
                  <a:srgbClr val="000000"/>
                </a:solidFill>
                <a:latin typeface="Arial" panose="020B0604020202020204" pitchFamily="34" charset="0"/>
              </a:rPr>
              <a:t>H2</a:t>
            </a:r>
          </a:p>
        </p:txBody>
      </p:sp>
      <p:sp>
        <p:nvSpPr>
          <p:cNvPr id="38948" name="Text Box 36">
            <a:extLst>
              <a:ext uri="{FF2B5EF4-FFF2-40B4-BE49-F238E27FC236}">
                <a16:creationId xmlns:a16="http://schemas.microsoft.com/office/drawing/2014/main" id="{7D9DA715-E299-9C47-9957-BB47E17A1B35}"/>
              </a:ext>
            </a:extLst>
          </p:cNvPr>
          <p:cNvSpPr txBox="1">
            <a:spLocks noChangeArrowheads="1"/>
          </p:cNvSpPr>
          <p:nvPr/>
        </p:nvSpPr>
        <p:spPr bwMode="auto">
          <a:xfrm>
            <a:off x="7086601" y="2132013"/>
            <a:ext cx="574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sz="2400" b="0">
                <a:solidFill>
                  <a:srgbClr val="000000"/>
                </a:solidFill>
                <a:latin typeface="Arial" panose="020B0604020202020204" pitchFamily="34" charset="0"/>
              </a:rPr>
              <a:t>H1</a:t>
            </a:r>
          </a:p>
        </p:txBody>
      </p:sp>
      <p:sp>
        <p:nvSpPr>
          <p:cNvPr id="38949" name="Rectangle 38">
            <a:extLst>
              <a:ext uri="{FF2B5EF4-FFF2-40B4-BE49-F238E27FC236}">
                <a16:creationId xmlns:a16="http://schemas.microsoft.com/office/drawing/2014/main" id="{3A7FB46B-ACBD-5449-9789-644977A3EB9C}"/>
              </a:ext>
            </a:extLst>
          </p:cNvPr>
          <p:cNvSpPr>
            <a:spLocks noChangeArrowheads="1"/>
          </p:cNvSpPr>
          <p:nvPr/>
        </p:nvSpPr>
        <p:spPr bwMode="auto">
          <a:xfrm>
            <a:off x="5867400" y="3200400"/>
            <a:ext cx="52388" cy="57150"/>
          </a:xfrm>
          <a:prstGeom prst="rect">
            <a:avLst/>
          </a:prstGeom>
          <a:solidFill>
            <a:srgbClr val="FFFFFF"/>
          </a:solidFill>
          <a:ln w="33338">
            <a:solidFill>
              <a:srgbClr val="C00000"/>
            </a:solidFill>
            <a:miter lim="800000"/>
            <a:headEnd/>
            <a:tailEnd/>
          </a:ln>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38950" name="Rectangle 39">
            <a:extLst>
              <a:ext uri="{FF2B5EF4-FFF2-40B4-BE49-F238E27FC236}">
                <a16:creationId xmlns:a16="http://schemas.microsoft.com/office/drawing/2014/main" id="{EA8FB067-AD2E-4543-88AD-2F792466E10A}"/>
              </a:ext>
            </a:extLst>
          </p:cNvPr>
          <p:cNvSpPr>
            <a:spLocks noChangeArrowheads="1"/>
          </p:cNvSpPr>
          <p:nvPr/>
        </p:nvSpPr>
        <p:spPr bwMode="auto">
          <a:xfrm>
            <a:off x="6400800" y="2743200"/>
            <a:ext cx="52388" cy="57150"/>
          </a:xfrm>
          <a:prstGeom prst="rect">
            <a:avLst/>
          </a:prstGeom>
          <a:solidFill>
            <a:srgbClr val="FFFFFF"/>
          </a:solidFill>
          <a:ln w="33338">
            <a:solidFill>
              <a:srgbClr val="C00000"/>
            </a:solidFill>
            <a:miter lim="800000"/>
            <a:headEnd/>
            <a:tailEnd/>
          </a:ln>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38951" name="Text Box 40">
            <a:extLst>
              <a:ext uri="{FF2B5EF4-FFF2-40B4-BE49-F238E27FC236}">
                <a16:creationId xmlns:a16="http://schemas.microsoft.com/office/drawing/2014/main" id="{4245DF49-EE1C-5D49-BFBA-6AC952E32C08}"/>
              </a:ext>
            </a:extLst>
          </p:cNvPr>
          <p:cNvSpPr txBox="1">
            <a:spLocks noChangeArrowheads="1"/>
          </p:cNvSpPr>
          <p:nvPr/>
        </p:nvSpPr>
        <p:spPr bwMode="auto">
          <a:xfrm>
            <a:off x="5867401" y="2436813"/>
            <a:ext cx="574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sz="2400" b="0">
                <a:solidFill>
                  <a:srgbClr val="000000"/>
                </a:solidFill>
                <a:latin typeface="Arial" panose="020B0604020202020204" pitchFamily="34" charset="0"/>
              </a:rPr>
              <a:t>H3</a:t>
            </a:r>
          </a:p>
        </p:txBody>
      </p:sp>
      <p:sp>
        <p:nvSpPr>
          <p:cNvPr id="38952" name="Text Box 41">
            <a:extLst>
              <a:ext uri="{FF2B5EF4-FFF2-40B4-BE49-F238E27FC236}">
                <a16:creationId xmlns:a16="http://schemas.microsoft.com/office/drawing/2014/main" id="{3F4D6A87-6334-F84F-89C2-E60D5132D485}"/>
              </a:ext>
            </a:extLst>
          </p:cNvPr>
          <p:cNvSpPr txBox="1">
            <a:spLocks noChangeArrowheads="1"/>
          </p:cNvSpPr>
          <p:nvPr/>
        </p:nvSpPr>
        <p:spPr bwMode="auto">
          <a:xfrm>
            <a:off x="5257801" y="2970213"/>
            <a:ext cx="574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sz="2400" b="0">
                <a:solidFill>
                  <a:srgbClr val="000000"/>
                </a:solidFill>
                <a:latin typeface="Arial" panose="020B0604020202020204" pitchFamily="34" charset="0"/>
              </a:rPr>
              <a:t>H5</a:t>
            </a:r>
          </a:p>
        </p:txBody>
      </p:sp>
      <p:sp>
        <p:nvSpPr>
          <p:cNvPr id="38953" name="Text Box 42">
            <a:extLst>
              <a:ext uri="{FF2B5EF4-FFF2-40B4-BE49-F238E27FC236}">
                <a16:creationId xmlns:a16="http://schemas.microsoft.com/office/drawing/2014/main" id="{771CB8B9-73D3-FB42-A85E-17FF3824F3E0}"/>
              </a:ext>
            </a:extLst>
          </p:cNvPr>
          <p:cNvSpPr txBox="1">
            <a:spLocks noChangeArrowheads="1"/>
          </p:cNvSpPr>
          <p:nvPr/>
        </p:nvSpPr>
        <p:spPr bwMode="auto">
          <a:xfrm>
            <a:off x="4419601" y="1749426"/>
            <a:ext cx="26130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b="0">
                <a:solidFill>
                  <a:srgbClr val="000000"/>
                </a:solidFill>
                <a:latin typeface="Arial" panose="020B0604020202020204" pitchFamily="34" charset="0"/>
              </a:rPr>
              <a:t>H3 weakly dominated</a:t>
            </a:r>
          </a:p>
        </p:txBody>
      </p:sp>
      <p:sp>
        <p:nvSpPr>
          <p:cNvPr id="38954" name="Text Box 43">
            <a:extLst>
              <a:ext uri="{FF2B5EF4-FFF2-40B4-BE49-F238E27FC236}">
                <a16:creationId xmlns:a16="http://schemas.microsoft.com/office/drawing/2014/main" id="{2D98EFB4-303C-4B4F-8F4F-BD7979C1552E}"/>
              </a:ext>
            </a:extLst>
          </p:cNvPr>
          <p:cNvSpPr txBox="1">
            <a:spLocks noChangeArrowheads="1"/>
          </p:cNvSpPr>
          <p:nvPr/>
        </p:nvSpPr>
        <p:spPr bwMode="auto">
          <a:xfrm>
            <a:off x="3048001" y="3581401"/>
            <a:ext cx="253206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r>
              <a:rPr lang="en-US" altLang="en-MX" b="0">
                <a:solidFill>
                  <a:srgbClr val="000000"/>
                </a:solidFill>
                <a:latin typeface="Arial" panose="020B0604020202020204" pitchFamily="34" charset="0"/>
              </a:rPr>
              <a:t>H5 strongly dominated</a:t>
            </a:r>
          </a:p>
        </p:txBody>
      </p:sp>
      <p:sp>
        <p:nvSpPr>
          <p:cNvPr id="38955" name="Line 44">
            <a:extLst>
              <a:ext uri="{FF2B5EF4-FFF2-40B4-BE49-F238E27FC236}">
                <a16:creationId xmlns:a16="http://schemas.microsoft.com/office/drawing/2014/main" id="{4B90D23F-5AEC-454A-AEA2-FB348CA0C83B}"/>
              </a:ext>
            </a:extLst>
          </p:cNvPr>
          <p:cNvSpPr>
            <a:spLocks noChangeShapeType="1"/>
          </p:cNvSpPr>
          <p:nvPr/>
        </p:nvSpPr>
        <p:spPr bwMode="auto">
          <a:xfrm flipV="1">
            <a:off x="4495800" y="3200400"/>
            <a:ext cx="762000" cy="3810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MX"/>
          </a:p>
        </p:txBody>
      </p:sp>
      <p:sp>
        <p:nvSpPr>
          <p:cNvPr id="38956" name="Line 45">
            <a:extLst>
              <a:ext uri="{FF2B5EF4-FFF2-40B4-BE49-F238E27FC236}">
                <a16:creationId xmlns:a16="http://schemas.microsoft.com/office/drawing/2014/main" id="{ED0CAB29-25CA-3F42-B064-69892B241D63}"/>
              </a:ext>
            </a:extLst>
          </p:cNvPr>
          <p:cNvSpPr>
            <a:spLocks noChangeShapeType="1"/>
          </p:cNvSpPr>
          <p:nvPr/>
        </p:nvSpPr>
        <p:spPr bwMode="auto">
          <a:xfrm>
            <a:off x="5410200" y="2286000"/>
            <a:ext cx="533400" cy="228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MX"/>
          </a:p>
        </p:txBody>
      </p:sp>
      <p:sp>
        <p:nvSpPr>
          <p:cNvPr id="38957" name="Line 46">
            <a:extLst>
              <a:ext uri="{FF2B5EF4-FFF2-40B4-BE49-F238E27FC236}">
                <a16:creationId xmlns:a16="http://schemas.microsoft.com/office/drawing/2014/main" id="{4B11CC79-06AF-0144-B04E-24F3577B6ACB}"/>
              </a:ext>
            </a:extLst>
          </p:cNvPr>
          <p:cNvSpPr>
            <a:spLocks noChangeShapeType="1"/>
          </p:cNvSpPr>
          <p:nvPr/>
        </p:nvSpPr>
        <p:spPr bwMode="auto">
          <a:xfrm flipH="1">
            <a:off x="6400800" y="2590800"/>
            <a:ext cx="609600" cy="152400"/>
          </a:xfrm>
          <a:prstGeom prst="line">
            <a:avLst/>
          </a:prstGeom>
          <a:noFill/>
          <a:ln w="9525"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MX"/>
          </a:p>
        </p:txBody>
      </p:sp>
      <p:sp>
        <p:nvSpPr>
          <p:cNvPr id="38958" name="Line 47">
            <a:extLst>
              <a:ext uri="{FF2B5EF4-FFF2-40B4-BE49-F238E27FC236}">
                <a16:creationId xmlns:a16="http://schemas.microsoft.com/office/drawing/2014/main" id="{1E655E4A-D5DF-C542-B15D-30D3B7884002}"/>
              </a:ext>
            </a:extLst>
          </p:cNvPr>
          <p:cNvSpPr>
            <a:spLocks noChangeShapeType="1"/>
          </p:cNvSpPr>
          <p:nvPr/>
        </p:nvSpPr>
        <p:spPr bwMode="auto">
          <a:xfrm flipV="1">
            <a:off x="6248400" y="2743200"/>
            <a:ext cx="152400" cy="762000"/>
          </a:xfrm>
          <a:prstGeom prst="line">
            <a:avLst/>
          </a:prstGeom>
          <a:noFill/>
          <a:ln w="9525"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MX"/>
          </a:p>
        </p:txBody>
      </p:sp>
      <p:sp>
        <p:nvSpPr>
          <p:cNvPr id="49" name="Rectangle 2">
            <a:extLst>
              <a:ext uri="{FF2B5EF4-FFF2-40B4-BE49-F238E27FC236}">
                <a16:creationId xmlns:a16="http://schemas.microsoft.com/office/drawing/2014/main" id="{73A864A9-06EF-5347-8E1B-3270BC0B4D3F}"/>
              </a:ext>
            </a:extLst>
          </p:cNvPr>
          <p:cNvSpPr>
            <a:spLocks noGrp="1" noChangeArrowheads="1"/>
          </p:cNvSpPr>
          <p:nvPr>
            <p:ph type="title"/>
          </p:nvPr>
        </p:nvSpPr>
        <p:spPr>
          <a:xfrm>
            <a:off x="868989" y="304800"/>
            <a:ext cx="10495861" cy="1143000"/>
          </a:xfrm>
        </p:spPr>
        <p:txBody>
          <a:bodyPr>
            <a:normAutofit/>
          </a:bodyPr>
          <a:lstStyle/>
          <a:p>
            <a:pPr>
              <a:defRPr/>
            </a:pPr>
            <a:r>
              <a:rPr lang="en-US" dirty="0"/>
              <a:t>Results of Competing Choice (2)</a:t>
            </a:r>
          </a:p>
        </p:txBody>
      </p:sp>
    </p:spTree>
    <p:extLst>
      <p:ext uri="{BB962C8B-B14F-4D97-AF65-F5344CB8AC3E}">
        <p14:creationId xmlns:p14="http://schemas.microsoft.com/office/powerpoint/2010/main" val="130461460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9650" name="Rectangle 2">
            <a:extLst>
              <a:ext uri="{FF2B5EF4-FFF2-40B4-BE49-F238E27FC236}">
                <a16:creationId xmlns:a16="http://schemas.microsoft.com/office/drawing/2014/main" id="{55BC47E3-A460-7B4D-9C45-C4BF2B497D40}"/>
              </a:ext>
            </a:extLst>
          </p:cNvPr>
          <p:cNvSpPr>
            <a:spLocks noGrp="1" noChangeArrowheads="1"/>
          </p:cNvSpPr>
          <p:nvPr>
            <p:ph type="title"/>
          </p:nvPr>
        </p:nvSpPr>
        <p:spPr>
          <a:xfrm>
            <a:off x="819509" y="609600"/>
            <a:ext cx="10714008" cy="762000"/>
          </a:xfrm>
        </p:spPr>
        <p:txBody>
          <a:bodyPr/>
          <a:lstStyle/>
          <a:p>
            <a:pPr>
              <a:defRPr/>
            </a:pPr>
            <a:r>
              <a:rPr lang="en-US" dirty="0"/>
              <a:t>Competing Choice Solution</a:t>
            </a:r>
          </a:p>
        </p:txBody>
      </p:sp>
      <p:sp>
        <p:nvSpPr>
          <p:cNvPr id="39939" name="Rectangle 3">
            <a:extLst>
              <a:ext uri="{FF2B5EF4-FFF2-40B4-BE49-F238E27FC236}">
                <a16:creationId xmlns:a16="http://schemas.microsoft.com/office/drawing/2014/main" id="{9DCFCF62-8890-BE49-B2DB-53836AF08EEA}"/>
              </a:ext>
            </a:extLst>
          </p:cNvPr>
          <p:cNvSpPr>
            <a:spLocks noGrp="1" noChangeArrowheads="1"/>
          </p:cNvSpPr>
          <p:nvPr>
            <p:ph type="body" idx="1"/>
          </p:nvPr>
        </p:nvSpPr>
        <p:spPr>
          <a:xfrm>
            <a:off x="819509" y="1600200"/>
            <a:ext cx="10714008" cy="4191000"/>
          </a:xfrm>
        </p:spPr>
        <p:txBody>
          <a:bodyPr>
            <a:normAutofit/>
          </a:bodyPr>
          <a:lstStyle/>
          <a:p>
            <a:pPr marL="533400" indent="-533400"/>
            <a:r>
              <a:rPr lang="en-US" altLang="en-MX" dirty="0"/>
              <a:t>Arrange the competing programs in increasing order of cost</a:t>
            </a:r>
          </a:p>
          <a:p>
            <a:pPr marL="533400" indent="-533400"/>
            <a:r>
              <a:rPr lang="en-US" altLang="en-MX" dirty="0"/>
              <a:t>Exclude the strongly dominated options</a:t>
            </a:r>
          </a:p>
          <a:p>
            <a:pPr marL="533400" indent="-533400"/>
            <a:r>
              <a:rPr lang="en-US" altLang="en-MX" dirty="0"/>
              <a:t>Calculate incremental C/E for remaining options</a:t>
            </a:r>
          </a:p>
          <a:p>
            <a:pPr marL="533400" indent="-533400"/>
            <a:r>
              <a:rPr lang="en-US" altLang="en-MX" dirty="0"/>
              <a:t>Exclude the weakly dominated options</a:t>
            </a:r>
          </a:p>
          <a:p>
            <a:pPr marL="533400" indent="-533400"/>
            <a:r>
              <a:rPr lang="en-US" altLang="en-MX" dirty="0"/>
              <a:t>Recalculate incremental C/E for remaining options</a:t>
            </a:r>
          </a:p>
          <a:p>
            <a:pPr marL="533400" indent="-533400"/>
            <a:r>
              <a:rPr lang="en-US" altLang="en-MX" dirty="0"/>
              <a:t>Repeat until remaining options are in increasing order of C/E</a:t>
            </a:r>
          </a:p>
        </p:txBody>
      </p:sp>
    </p:spTree>
    <p:extLst>
      <p:ext uri="{BB962C8B-B14F-4D97-AF65-F5344CB8AC3E}">
        <p14:creationId xmlns:p14="http://schemas.microsoft.com/office/powerpoint/2010/main" val="63213342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1698" name="Rectangle 2">
            <a:extLst>
              <a:ext uri="{FF2B5EF4-FFF2-40B4-BE49-F238E27FC236}">
                <a16:creationId xmlns:a16="http://schemas.microsoft.com/office/drawing/2014/main" id="{47023176-740D-5D4F-9975-D15BF8D4B3AE}"/>
              </a:ext>
            </a:extLst>
          </p:cNvPr>
          <p:cNvSpPr>
            <a:spLocks noGrp="1" noChangeArrowheads="1"/>
          </p:cNvSpPr>
          <p:nvPr>
            <p:ph type="title"/>
          </p:nvPr>
        </p:nvSpPr>
        <p:spPr>
          <a:xfrm>
            <a:off x="767751" y="304800"/>
            <a:ext cx="10489721" cy="1143000"/>
          </a:xfrm>
        </p:spPr>
        <p:txBody>
          <a:bodyPr/>
          <a:lstStyle/>
          <a:p>
            <a:pPr>
              <a:defRPr/>
            </a:pPr>
            <a:r>
              <a:rPr lang="en-US" dirty="0"/>
              <a:t>Net (Health or Monetary) Benefit</a:t>
            </a:r>
          </a:p>
        </p:txBody>
      </p:sp>
      <p:sp>
        <p:nvSpPr>
          <p:cNvPr id="40963" name="Rectangle 3">
            <a:extLst>
              <a:ext uri="{FF2B5EF4-FFF2-40B4-BE49-F238E27FC236}">
                <a16:creationId xmlns:a16="http://schemas.microsoft.com/office/drawing/2014/main" id="{C88A1169-8F65-4A46-9738-CE3FC0B66FA8}"/>
              </a:ext>
            </a:extLst>
          </p:cNvPr>
          <p:cNvSpPr>
            <a:spLocks noGrp="1" noChangeArrowheads="1"/>
          </p:cNvSpPr>
          <p:nvPr>
            <p:ph type="body" idx="1"/>
          </p:nvPr>
        </p:nvSpPr>
        <p:spPr>
          <a:xfrm>
            <a:off x="767751" y="1752600"/>
            <a:ext cx="10662249" cy="4800600"/>
          </a:xfrm>
        </p:spPr>
        <p:txBody>
          <a:bodyPr>
            <a:normAutofit/>
          </a:bodyPr>
          <a:lstStyle/>
          <a:p>
            <a:r>
              <a:rPr lang="en-US" altLang="en-MX" dirty="0"/>
              <a:t>Determine the threshold CE ratio (</a:t>
            </a:r>
            <a:r>
              <a:rPr lang="en-US" altLang="en-MX" dirty="0">
                <a:latin typeface="Symbol" pitchFamily="2" charset="2"/>
              </a:rPr>
              <a:t>l</a:t>
            </a:r>
            <a:r>
              <a:rPr lang="en-US" altLang="en-MX" dirty="0"/>
              <a:t>)</a:t>
            </a:r>
          </a:p>
          <a:p>
            <a:pPr>
              <a:spcAft>
                <a:spcPct val="40000"/>
              </a:spcAft>
            </a:pPr>
            <a:r>
              <a:rPr lang="en-US" altLang="en-MX" dirty="0"/>
              <a:t>For each competing option, compute the net health benefit (NHB):</a:t>
            </a:r>
          </a:p>
          <a:p>
            <a:pPr algn="ctr">
              <a:spcAft>
                <a:spcPct val="40000"/>
              </a:spcAft>
              <a:buFontTx/>
              <a:buNone/>
            </a:pPr>
            <a:r>
              <a:rPr lang="en-US" altLang="en-MX" sz="2800" dirty="0"/>
              <a:t>NHB = Benefit – Cost * (1/</a:t>
            </a:r>
            <a:r>
              <a:rPr lang="en-US" altLang="en-MX" sz="2800" dirty="0">
                <a:latin typeface="Symbol" pitchFamily="2" charset="2"/>
              </a:rPr>
              <a:t>l</a:t>
            </a:r>
            <a:r>
              <a:rPr lang="en-US" altLang="en-MX" sz="2800" dirty="0"/>
              <a:t>)</a:t>
            </a:r>
          </a:p>
          <a:p>
            <a:pPr>
              <a:spcAft>
                <a:spcPct val="40000"/>
              </a:spcAft>
            </a:pPr>
            <a:r>
              <a:rPr lang="en-US" altLang="en-MX" dirty="0"/>
              <a:t>Or, compute the net monetary benefit (NMB):</a:t>
            </a:r>
          </a:p>
          <a:p>
            <a:pPr algn="ctr">
              <a:spcAft>
                <a:spcPct val="40000"/>
              </a:spcAft>
              <a:buFontTx/>
              <a:buNone/>
            </a:pPr>
            <a:r>
              <a:rPr lang="en-US" altLang="en-MX" sz="2800" dirty="0"/>
              <a:t>NMB = Benefit</a:t>
            </a:r>
            <a:r>
              <a:rPr lang="en-US" altLang="en-MX" sz="2400" dirty="0"/>
              <a:t>*</a:t>
            </a:r>
            <a:r>
              <a:rPr lang="en-US" altLang="en-MX" sz="2800" dirty="0">
                <a:latin typeface="Symbol" pitchFamily="2" charset="2"/>
              </a:rPr>
              <a:t>l </a:t>
            </a:r>
            <a:r>
              <a:rPr lang="en-US" altLang="en-MX" sz="2800" dirty="0"/>
              <a:t>– Cost</a:t>
            </a:r>
            <a:endParaRPr lang="en-US" altLang="en-MX" dirty="0"/>
          </a:p>
          <a:p>
            <a:r>
              <a:rPr lang="en-US" altLang="en-MX" dirty="0"/>
              <a:t>Select the option with greatest NHB or NMB</a:t>
            </a:r>
          </a:p>
        </p:txBody>
      </p:sp>
    </p:spTree>
    <p:extLst>
      <p:ext uri="{BB962C8B-B14F-4D97-AF65-F5344CB8AC3E}">
        <p14:creationId xmlns:p14="http://schemas.microsoft.com/office/powerpoint/2010/main" val="3523798907"/>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58E4AC4B-2B79-624E-9E00-B2848A93FCEF}"/>
              </a:ext>
            </a:extLst>
          </p:cNvPr>
          <p:cNvSpPr>
            <a:spLocks noChangeArrowheads="1"/>
          </p:cNvSpPr>
          <p:nvPr/>
        </p:nvSpPr>
        <p:spPr bwMode="auto">
          <a:xfrm>
            <a:off x="2209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41987" name="Rectangle 3">
            <a:extLst>
              <a:ext uri="{FF2B5EF4-FFF2-40B4-BE49-F238E27FC236}">
                <a16:creationId xmlns:a16="http://schemas.microsoft.com/office/drawing/2014/main" id="{21735401-5DC6-0F44-B5D8-B8FDAEEEC46F}"/>
              </a:ext>
            </a:extLst>
          </p:cNvPr>
          <p:cNvSpPr>
            <a:spLocks noChangeArrowheads="1"/>
          </p:cNvSpPr>
          <p:nvPr/>
        </p:nvSpPr>
        <p:spPr bwMode="auto">
          <a:xfrm>
            <a:off x="4648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endParaRPr lang="en-MX" altLang="en-MX"/>
          </a:p>
        </p:txBody>
      </p:sp>
      <p:sp>
        <p:nvSpPr>
          <p:cNvPr id="1183748" name="Rectangle 4">
            <a:extLst>
              <a:ext uri="{FF2B5EF4-FFF2-40B4-BE49-F238E27FC236}">
                <a16:creationId xmlns:a16="http://schemas.microsoft.com/office/drawing/2014/main" id="{58C625AC-5C0C-174F-879F-440F15FD79D0}"/>
              </a:ext>
            </a:extLst>
          </p:cNvPr>
          <p:cNvSpPr>
            <a:spLocks noGrp="1" noChangeArrowheads="1"/>
          </p:cNvSpPr>
          <p:nvPr>
            <p:ph type="title"/>
          </p:nvPr>
        </p:nvSpPr>
        <p:spPr>
          <a:xfrm>
            <a:off x="672860" y="457200"/>
            <a:ext cx="10722634" cy="1219200"/>
          </a:xfrm>
        </p:spPr>
        <p:txBody>
          <a:bodyPr/>
          <a:lstStyle/>
          <a:p>
            <a:pPr>
              <a:defRPr/>
            </a:pPr>
            <a:r>
              <a:rPr lang="en-US" dirty="0"/>
              <a:t>NHB Methods</a:t>
            </a:r>
            <a:br>
              <a:rPr lang="en-US" dirty="0"/>
            </a:br>
            <a:r>
              <a:rPr lang="en-US" sz="3200" dirty="0"/>
              <a:t>Budget = $180 (Threshold = 0.9)</a:t>
            </a:r>
          </a:p>
        </p:txBody>
      </p:sp>
      <p:graphicFrame>
        <p:nvGraphicFramePr>
          <p:cNvPr id="1183749" name="Group 5">
            <a:extLst>
              <a:ext uri="{FF2B5EF4-FFF2-40B4-BE49-F238E27FC236}">
                <a16:creationId xmlns:a16="http://schemas.microsoft.com/office/drawing/2014/main" id="{63056DB9-23C4-7C41-8603-BBC3B253B765}"/>
              </a:ext>
            </a:extLst>
          </p:cNvPr>
          <p:cNvGraphicFramePr>
            <a:graphicFrameLocks noGrp="1"/>
          </p:cNvGraphicFramePr>
          <p:nvPr/>
        </p:nvGraphicFramePr>
        <p:xfrm>
          <a:off x="2057400" y="2057401"/>
          <a:ext cx="7696200" cy="3617913"/>
        </p:xfrm>
        <a:graphic>
          <a:graphicData uri="http://schemas.openxmlformats.org/drawingml/2006/table">
            <a:tbl>
              <a:tblPr/>
              <a:tblGrid>
                <a:gridCol w="1924050">
                  <a:extLst>
                    <a:ext uri="{9D8B030D-6E8A-4147-A177-3AD203B41FA5}">
                      <a16:colId xmlns:a16="http://schemas.microsoft.com/office/drawing/2014/main" val="20000"/>
                    </a:ext>
                  </a:extLst>
                </a:gridCol>
                <a:gridCol w="1811338">
                  <a:extLst>
                    <a:ext uri="{9D8B030D-6E8A-4147-A177-3AD203B41FA5}">
                      <a16:colId xmlns:a16="http://schemas.microsoft.com/office/drawing/2014/main" val="20001"/>
                    </a:ext>
                  </a:extLst>
                </a:gridCol>
                <a:gridCol w="1758950">
                  <a:extLst>
                    <a:ext uri="{9D8B030D-6E8A-4147-A177-3AD203B41FA5}">
                      <a16:colId xmlns:a16="http://schemas.microsoft.com/office/drawing/2014/main" val="20002"/>
                    </a:ext>
                  </a:extLst>
                </a:gridCol>
                <a:gridCol w="2201862">
                  <a:extLst>
                    <a:ext uri="{9D8B030D-6E8A-4147-A177-3AD203B41FA5}">
                      <a16:colId xmlns:a16="http://schemas.microsoft.com/office/drawing/2014/main" val="20003"/>
                    </a:ext>
                  </a:extLst>
                </a:gridCol>
              </a:tblGrid>
              <a:tr h="72231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3200" b="0" i="0" u="none" strike="noStrike" cap="none" normalizeH="0" baseline="0" dirty="0">
                          <a:ln>
                            <a:noFill/>
                          </a:ln>
                          <a:solidFill>
                            <a:schemeClr val="tx1"/>
                          </a:solidFill>
                          <a:effectLst/>
                          <a:latin typeface="Arial" charset="0"/>
                        </a:rPr>
                        <a:t>Program</a:t>
                      </a:r>
                    </a:p>
                  </a:txBody>
                  <a:tcPr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3200" b="0" i="0" u="none" strike="noStrike" cap="none" normalizeH="0" baseline="0">
                          <a:ln>
                            <a:noFill/>
                          </a:ln>
                          <a:solidFill>
                            <a:schemeClr val="tx1"/>
                          </a:solidFill>
                          <a:effectLst/>
                          <a:latin typeface="Arial" charset="0"/>
                        </a:rPr>
                        <a:t>Cost ($)</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3200" b="0" i="0" u="none" strike="noStrike" cap="none" normalizeH="0" baseline="0">
                          <a:ln>
                            <a:noFill/>
                          </a:ln>
                          <a:solidFill>
                            <a:schemeClr val="tx1"/>
                          </a:solidFill>
                          <a:effectLst/>
                          <a:latin typeface="Arial" charset="0"/>
                        </a:rPr>
                        <a:t>Effect</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3200" b="0" i="0" u="none" strike="noStrike" cap="none" normalizeH="0" baseline="0">
                          <a:ln>
                            <a:noFill/>
                          </a:ln>
                          <a:solidFill>
                            <a:schemeClr val="tx1"/>
                          </a:solidFill>
                          <a:effectLst/>
                          <a:latin typeface="Arial" charset="0"/>
                        </a:rPr>
                        <a:t>NHB</a:t>
                      </a:r>
                    </a:p>
                  </a:txBody>
                  <a:tcPr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577850">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3200" b="0" i="0" u="none" strike="noStrike" cap="none" normalizeH="0" baseline="0">
                          <a:ln>
                            <a:noFill/>
                          </a:ln>
                          <a:solidFill>
                            <a:schemeClr val="tx1"/>
                          </a:solidFill>
                          <a:effectLst/>
                          <a:latin typeface="Arial" charset="0"/>
                        </a:rPr>
                        <a:t>H1</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3200" b="0" i="0" u="none" strike="noStrike" cap="none" normalizeH="0" baseline="0">
                          <a:ln>
                            <a:noFill/>
                          </a:ln>
                          <a:solidFill>
                            <a:schemeClr val="tx1"/>
                          </a:solidFill>
                          <a:effectLst/>
                          <a:latin typeface="Arial" charset="0"/>
                        </a:rPr>
                        <a:t>60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3200" b="0" i="0" u="none" strike="noStrike" cap="none" normalizeH="0" baseline="0">
                          <a:ln>
                            <a:noFill/>
                          </a:ln>
                          <a:solidFill>
                            <a:schemeClr val="tx1"/>
                          </a:solidFill>
                          <a:effectLst/>
                          <a:latin typeface="Arial" charset="0"/>
                        </a:rPr>
                        <a:t>80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3200" b="0" i="0" u="none" strike="noStrike" cap="none" normalizeH="0" baseline="0">
                          <a:ln>
                            <a:noFill/>
                          </a:ln>
                          <a:solidFill>
                            <a:schemeClr val="tx1"/>
                          </a:solidFill>
                          <a:effectLst/>
                          <a:latin typeface="Arial" charset="0"/>
                        </a:rPr>
                        <a:t>13.3</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577850">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3200" b="0" i="0" u="none" strike="noStrike" cap="none" normalizeH="0" baseline="0">
                          <a:ln>
                            <a:noFill/>
                          </a:ln>
                          <a:solidFill>
                            <a:schemeClr val="tx1"/>
                          </a:solidFill>
                          <a:effectLst/>
                          <a:latin typeface="Arial" charset="0"/>
                        </a:rPr>
                        <a:t>H2</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3200" b="0" i="0" u="none" strike="noStrike" cap="none" normalizeH="0" baseline="0">
                          <a:ln>
                            <a:noFill/>
                          </a:ln>
                          <a:solidFill>
                            <a:schemeClr val="tx1"/>
                          </a:solidFill>
                          <a:effectLst/>
                          <a:latin typeface="Arial" charset="0"/>
                        </a:rPr>
                        <a:t>40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3200" b="0" i="0" u="none" strike="noStrike" cap="none" normalizeH="0" baseline="0">
                          <a:ln>
                            <a:noFill/>
                          </a:ln>
                          <a:solidFill>
                            <a:schemeClr val="tx1"/>
                          </a:solidFill>
                          <a:effectLst/>
                          <a:latin typeface="Arial" charset="0"/>
                        </a:rPr>
                        <a:t>65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3200" b="1" i="0" u="none" strike="noStrike" cap="none" normalizeH="0" baseline="0" dirty="0">
                          <a:ln>
                            <a:noFill/>
                          </a:ln>
                          <a:solidFill>
                            <a:srgbClr val="990033"/>
                          </a:solidFill>
                          <a:effectLst/>
                          <a:latin typeface="Arial" charset="0"/>
                        </a:rPr>
                        <a:t>20.6</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577850">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3200" b="0" i="0" u="none" strike="noStrike" cap="none" normalizeH="0" baseline="0">
                          <a:ln>
                            <a:noFill/>
                          </a:ln>
                          <a:solidFill>
                            <a:schemeClr val="tx1"/>
                          </a:solidFill>
                          <a:effectLst/>
                          <a:latin typeface="Arial" charset="0"/>
                        </a:rPr>
                        <a:t>H3</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3200" b="0" i="0" u="none" strike="noStrike" cap="none" normalizeH="0" baseline="0">
                          <a:ln>
                            <a:noFill/>
                          </a:ln>
                          <a:solidFill>
                            <a:schemeClr val="tx1"/>
                          </a:solidFill>
                          <a:effectLst/>
                          <a:latin typeface="Arial" charset="0"/>
                        </a:rPr>
                        <a:t>55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3200" b="0" i="0" u="none" strike="noStrike" cap="none" normalizeH="0" baseline="0">
                          <a:ln>
                            <a:noFill/>
                          </a:ln>
                          <a:solidFill>
                            <a:schemeClr val="tx1"/>
                          </a:solidFill>
                          <a:effectLst/>
                          <a:latin typeface="Arial" charset="0"/>
                        </a:rPr>
                        <a:t>70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3200" b="0" i="0" u="none" strike="noStrike" cap="none" normalizeH="0" baseline="0">
                          <a:ln>
                            <a:noFill/>
                          </a:ln>
                          <a:solidFill>
                            <a:schemeClr val="tx1"/>
                          </a:solidFill>
                          <a:effectLst/>
                          <a:latin typeface="Arial" charset="0"/>
                        </a:rPr>
                        <a:t>8.9</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77850">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3200" b="0" i="0" u="none" strike="noStrike" cap="none" normalizeH="0" baseline="0">
                          <a:ln>
                            <a:noFill/>
                          </a:ln>
                          <a:solidFill>
                            <a:schemeClr val="tx1"/>
                          </a:solidFill>
                          <a:effectLst/>
                          <a:latin typeface="Arial" charset="0"/>
                        </a:rPr>
                        <a:t>H4</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3200" b="0" i="0" u="none" strike="noStrike" cap="none" normalizeH="0" baseline="0">
                          <a:ln>
                            <a:noFill/>
                          </a:ln>
                          <a:solidFill>
                            <a:schemeClr val="tx1"/>
                          </a:solidFill>
                          <a:effectLst/>
                          <a:latin typeface="Arial" charset="0"/>
                        </a:rPr>
                        <a:t>22</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3200" b="0" i="0" u="none" strike="noStrike" cap="none" normalizeH="0" baseline="0">
                          <a:ln>
                            <a:noFill/>
                          </a:ln>
                          <a:solidFill>
                            <a:schemeClr val="tx1"/>
                          </a:solidFill>
                          <a:effectLst/>
                          <a:latin typeface="Arial" charset="0"/>
                        </a:rPr>
                        <a:t>40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3200" b="0" i="0" u="none" strike="noStrike" cap="none" normalizeH="0" baseline="0">
                          <a:ln>
                            <a:noFill/>
                          </a:ln>
                          <a:solidFill>
                            <a:schemeClr val="tx1"/>
                          </a:solidFill>
                          <a:effectLst/>
                          <a:latin typeface="Arial" charset="0"/>
                        </a:rPr>
                        <a:t>15.6</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577850">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3200" b="0" i="0" u="none" strike="noStrike" cap="none" normalizeH="0" baseline="0">
                          <a:ln>
                            <a:noFill/>
                          </a:ln>
                          <a:solidFill>
                            <a:schemeClr val="tx1"/>
                          </a:solidFill>
                          <a:effectLst/>
                          <a:latin typeface="Arial" charset="0"/>
                        </a:rPr>
                        <a:t>H5</a:t>
                      </a:r>
                    </a:p>
                  </a:txBody>
                  <a:tcPr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3200" b="0" i="0" u="none" strike="noStrike" cap="none" normalizeH="0" baseline="0">
                          <a:ln>
                            <a:noFill/>
                          </a:ln>
                          <a:solidFill>
                            <a:schemeClr val="tx1"/>
                          </a:solidFill>
                          <a:effectLst/>
                          <a:latin typeface="Arial" charset="0"/>
                        </a:rPr>
                        <a:t>45</a:t>
                      </a: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3200" b="0" i="0" u="none" strike="noStrike" cap="none" normalizeH="0" baseline="0">
                          <a:ln>
                            <a:noFill/>
                          </a:ln>
                          <a:solidFill>
                            <a:schemeClr val="tx1"/>
                          </a:solidFill>
                          <a:effectLst/>
                          <a:latin typeface="Arial" charset="0"/>
                        </a:rPr>
                        <a:t>60</a:t>
                      </a: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3200" b="0" i="0" u="none" strike="noStrike" cap="none" normalizeH="0" baseline="0">
                          <a:ln>
                            <a:noFill/>
                          </a:ln>
                          <a:solidFill>
                            <a:schemeClr val="tx1"/>
                          </a:solidFill>
                          <a:effectLst/>
                          <a:latin typeface="Arial" charset="0"/>
                        </a:rPr>
                        <a:t>10.0</a:t>
                      </a:r>
                    </a:p>
                  </a:txBody>
                  <a:tcP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5"/>
                  </a:ext>
                </a:extLst>
              </a:tr>
            </a:tbl>
          </a:graphicData>
        </a:graphic>
      </p:graphicFrame>
      <p:sp>
        <p:nvSpPr>
          <p:cNvPr id="42014" name="Line 50">
            <a:extLst>
              <a:ext uri="{FF2B5EF4-FFF2-40B4-BE49-F238E27FC236}">
                <a16:creationId xmlns:a16="http://schemas.microsoft.com/office/drawing/2014/main" id="{D432A377-3C77-E742-A1E9-14EC0C19D64A}"/>
              </a:ext>
            </a:extLst>
          </p:cNvPr>
          <p:cNvSpPr>
            <a:spLocks noChangeShapeType="1"/>
          </p:cNvSpPr>
          <p:nvPr/>
        </p:nvSpPr>
        <p:spPr bwMode="auto">
          <a:xfrm>
            <a:off x="1905000" y="2743200"/>
            <a:ext cx="80010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Tree>
    <p:extLst>
      <p:ext uri="{BB962C8B-B14F-4D97-AF65-F5344CB8AC3E}">
        <p14:creationId xmlns:p14="http://schemas.microsoft.com/office/powerpoint/2010/main" val="449949701"/>
      </p:ext>
    </p:extLst>
  </p:cSld>
  <p:clrMapOvr>
    <a:masterClrMapping/>
  </p:clrMapOvr>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0370" name="Rectangle 2">
            <a:extLst>
              <a:ext uri="{FF2B5EF4-FFF2-40B4-BE49-F238E27FC236}">
                <a16:creationId xmlns:a16="http://schemas.microsoft.com/office/drawing/2014/main" id="{788808BF-385A-D844-9988-5CFBEE928172}"/>
              </a:ext>
            </a:extLst>
          </p:cNvPr>
          <p:cNvSpPr>
            <a:spLocks noGrp="1" noChangeArrowheads="1"/>
          </p:cNvSpPr>
          <p:nvPr>
            <p:ph type="title"/>
          </p:nvPr>
        </p:nvSpPr>
        <p:spPr/>
        <p:txBody>
          <a:bodyPr/>
          <a:lstStyle/>
          <a:p>
            <a:pPr>
              <a:defRPr/>
            </a:pPr>
            <a:r>
              <a:rPr lang="en-US" dirty="0"/>
              <a:t>Net Health or Monetary Benefit</a:t>
            </a:r>
          </a:p>
        </p:txBody>
      </p:sp>
      <p:sp>
        <p:nvSpPr>
          <p:cNvPr id="43011" name="Rectangle 3">
            <a:extLst>
              <a:ext uri="{FF2B5EF4-FFF2-40B4-BE49-F238E27FC236}">
                <a16:creationId xmlns:a16="http://schemas.microsoft.com/office/drawing/2014/main" id="{92636A06-1305-BE4E-BA20-7F006E1177D3}"/>
              </a:ext>
            </a:extLst>
          </p:cNvPr>
          <p:cNvSpPr>
            <a:spLocks noGrp="1" noChangeArrowheads="1"/>
          </p:cNvSpPr>
          <p:nvPr>
            <p:ph type="body" idx="1"/>
          </p:nvPr>
        </p:nvSpPr>
        <p:spPr>
          <a:xfrm>
            <a:off x="838200" y="1752600"/>
            <a:ext cx="10515600" cy="4495800"/>
          </a:xfrm>
        </p:spPr>
        <p:txBody>
          <a:bodyPr>
            <a:normAutofit/>
          </a:bodyPr>
          <a:lstStyle/>
          <a:p>
            <a:r>
              <a:rPr lang="en-US" altLang="en-MX" dirty="0"/>
              <a:t>For a given C/E threshold, the competing choice alternative with the greatest net health benefit (NHB, or NMB) is the most cost-effective option </a:t>
            </a:r>
            <a:r>
              <a:rPr lang="en-US" altLang="en-MX" i="1" dirty="0"/>
              <a:t>at that budget constraint</a:t>
            </a:r>
            <a:r>
              <a:rPr lang="en-US" altLang="en-MX" dirty="0"/>
              <a:t>.</a:t>
            </a:r>
          </a:p>
          <a:p>
            <a:endParaRPr lang="en-US" altLang="en-MX" dirty="0"/>
          </a:p>
          <a:p>
            <a:r>
              <a:rPr lang="en-US" altLang="en-MX" dirty="0"/>
              <a:t>The procedure of comparing NHB at a fixed C/E threshold is equivalent to applying the rule of selecting the </a:t>
            </a:r>
            <a:r>
              <a:rPr lang="en-US" altLang="en-MX" i="1" dirty="0"/>
              <a:t>largest</a:t>
            </a:r>
            <a:r>
              <a:rPr lang="en-US" altLang="en-MX" dirty="0"/>
              <a:t> competing alternative whose incremental C/E ratio is below the C/E threshold.</a:t>
            </a:r>
          </a:p>
        </p:txBody>
      </p:sp>
    </p:spTree>
    <p:extLst>
      <p:ext uri="{BB962C8B-B14F-4D97-AF65-F5344CB8AC3E}">
        <p14:creationId xmlns:p14="http://schemas.microsoft.com/office/powerpoint/2010/main" val="195289824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7CD9CA82-B9EA-7D41-A244-9FC12A97CB38}"/>
              </a:ext>
            </a:extLst>
          </p:cNvPr>
          <p:cNvSpPr>
            <a:spLocks noChangeArrowheads="1"/>
          </p:cNvSpPr>
          <p:nvPr/>
        </p:nvSpPr>
        <p:spPr bwMode="auto">
          <a:xfrm>
            <a:off x="2209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3075" name="Rectangle 3">
            <a:extLst>
              <a:ext uri="{FF2B5EF4-FFF2-40B4-BE49-F238E27FC236}">
                <a16:creationId xmlns:a16="http://schemas.microsoft.com/office/drawing/2014/main" id="{1223793C-9D3C-B442-81DC-830B8408FDF2}"/>
              </a:ext>
            </a:extLst>
          </p:cNvPr>
          <p:cNvSpPr>
            <a:spLocks noChangeArrowheads="1"/>
          </p:cNvSpPr>
          <p:nvPr/>
        </p:nvSpPr>
        <p:spPr bwMode="auto">
          <a:xfrm>
            <a:off x="4648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992260" name="Rectangle 4">
            <a:extLst>
              <a:ext uri="{FF2B5EF4-FFF2-40B4-BE49-F238E27FC236}">
                <a16:creationId xmlns:a16="http://schemas.microsoft.com/office/drawing/2014/main" id="{C4D0FC52-99E9-AF47-83A7-FCFD5CE11857}"/>
              </a:ext>
            </a:extLst>
          </p:cNvPr>
          <p:cNvSpPr>
            <a:spLocks noGrp="1" noChangeArrowheads="1"/>
          </p:cNvSpPr>
          <p:nvPr>
            <p:ph type="title"/>
          </p:nvPr>
        </p:nvSpPr>
        <p:spPr>
          <a:xfrm>
            <a:off x="767751" y="381000"/>
            <a:ext cx="10791645" cy="1143000"/>
          </a:xfrm>
        </p:spPr>
        <p:txBody>
          <a:bodyPr>
            <a:normAutofit/>
          </a:bodyPr>
          <a:lstStyle/>
          <a:p>
            <a:pPr>
              <a:defRPr/>
            </a:pPr>
            <a:r>
              <a:rPr lang="en-US" dirty="0"/>
              <a:t>Review: Competing Choice Problem</a:t>
            </a:r>
          </a:p>
        </p:txBody>
      </p:sp>
      <p:sp>
        <p:nvSpPr>
          <p:cNvPr id="3077" name="Rectangle 5">
            <a:extLst>
              <a:ext uri="{FF2B5EF4-FFF2-40B4-BE49-F238E27FC236}">
                <a16:creationId xmlns:a16="http://schemas.microsoft.com/office/drawing/2014/main" id="{8608A78A-C083-584B-A241-B6A9BF66A095}"/>
              </a:ext>
            </a:extLst>
          </p:cNvPr>
          <p:cNvSpPr>
            <a:spLocks noGrp="1" noChangeArrowheads="1"/>
          </p:cNvSpPr>
          <p:nvPr>
            <p:ph type="body" idx="1"/>
          </p:nvPr>
        </p:nvSpPr>
        <p:spPr>
          <a:xfrm>
            <a:off x="767751" y="1981200"/>
            <a:ext cx="10791645" cy="4495800"/>
          </a:xfrm>
        </p:spPr>
        <p:txBody>
          <a:bodyPr/>
          <a:lstStyle/>
          <a:p>
            <a:pPr marL="533400" indent="-533400"/>
            <a:r>
              <a:rPr lang="en-US" altLang="en-MX" dirty="0"/>
              <a:t>We will make an additional assumption to the cost-effectiveness algorithm we used for the “shopping spree”</a:t>
            </a:r>
          </a:p>
          <a:p>
            <a:pPr marL="914400" lvl="1" indent="-457200"/>
            <a:r>
              <a:rPr lang="en-US" altLang="en-MX" sz="3200" dirty="0"/>
              <a:t>Some programs will not be independent and will be mutually exclusive</a:t>
            </a:r>
          </a:p>
        </p:txBody>
      </p:sp>
    </p:spTree>
    <p:extLst>
      <p:ext uri="{BB962C8B-B14F-4D97-AF65-F5344CB8AC3E}">
        <p14:creationId xmlns:p14="http://schemas.microsoft.com/office/powerpoint/2010/main" val="1158505442"/>
      </p:ext>
    </p:extLst>
  </p:cSld>
  <p:clrMapOvr>
    <a:masterClrMapping/>
  </p:clrMapOvr>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A5255968-C5B0-5345-951F-D6A7259AD73A}"/>
              </a:ext>
            </a:extLst>
          </p:cNvPr>
          <p:cNvSpPr>
            <a:spLocks noChangeArrowheads="1"/>
          </p:cNvSpPr>
          <p:nvPr/>
        </p:nvSpPr>
        <p:spPr bwMode="auto">
          <a:xfrm>
            <a:off x="2209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4099" name="Rectangle 3">
            <a:extLst>
              <a:ext uri="{FF2B5EF4-FFF2-40B4-BE49-F238E27FC236}">
                <a16:creationId xmlns:a16="http://schemas.microsoft.com/office/drawing/2014/main" id="{FE025D1F-FF44-FE45-9E49-EBC4D7F33908}"/>
              </a:ext>
            </a:extLst>
          </p:cNvPr>
          <p:cNvSpPr>
            <a:spLocks noChangeArrowheads="1"/>
          </p:cNvSpPr>
          <p:nvPr/>
        </p:nvSpPr>
        <p:spPr bwMode="auto">
          <a:xfrm>
            <a:off x="4648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994308" name="Rectangle 4">
            <a:extLst>
              <a:ext uri="{FF2B5EF4-FFF2-40B4-BE49-F238E27FC236}">
                <a16:creationId xmlns:a16="http://schemas.microsoft.com/office/drawing/2014/main" id="{322A82B1-0DBA-F148-8C32-C39B9AB3C95C}"/>
              </a:ext>
            </a:extLst>
          </p:cNvPr>
          <p:cNvSpPr>
            <a:spLocks noGrp="1" noChangeArrowheads="1"/>
          </p:cNvSpPr>
          <p:nvPr>
            <p:ph type="title"/>
          </p:nvPr>
        </p:nvSpPr>
        <p:spPr>
          <a:xfrm>
            <a:off x="802256" y="381000"/>
            <a:ext cx="10541480" cy="1295400"/>
          </a:xfrm>
        </p:spPr>
        <p:txBody>
          <a:bodyPr>
            <a:normAutofit/>
          </a:bodyPr>
          <a:lstStyle/>
          <a:p>
            <a:pPr>
              <a:defRPr/>
            </a:pPr>
            <a:r>
              <a:rPr lang="en-US" dirty="0"/>
              <a:t>General Algorithm Assumptions (1)</a:t>
            </a:r>
          </a:p>
        </p:txBody>
      </p:sp>
      <p:sp>
        <p:nvSpPr>
          <p:cNvPr id="4101" name="Rectangle 5">
            <a:extLst>
              <a:ext uri="{FF2B5EF4-FFF2-40B4-BE49-F238E27FC236}">
                <a16:creationId xmlns:a16="http://schemas.microsoft.com/office/drawing/2014/main" id="{6864D654-8C80-F641-BB59-69467C1E7225}"/>
              </a:ext>
            </a:extLst>
          </p:cNvPr>
          <p:cNvSpPr>
            <a:spLocks noGrp="1" noChangeArrowheads="1"/>
          </p:cNvSpPr>
          <p:nvPr>
            <p:ph type="body" idx="1"/>
          </p:nvPr>
        </p:nvSpPr>
        <p:spPr>
          <a:xfrm>
            <a:off x="802255" y="1905000"/>
            <a:ext cx="10541479" cy="4495800"/>
          </a:xfrm>
        </p:spPr>
        <p:txBody>
          <a:bodyPr/>
          <a:lstStyle/>
          <a:p>
            <a:pPr marL="533400" indent="-533400">
              <a:buClr>
                <a:srgbClr val="000000"/>
              </a:buClr>
              <a:buFontTx/>
              <a:buAutoNum type="arabicPeriod"/>
            </a:pPr>
            <a:r>
              <a:rPr lang="en-US" altLang="en-MX" sz="2800" dirty="0"/>
              <a:t>There are a number of available programs for which net costs and net effectiveness have been evaluated</a:t>
            </a:r>
          </a:p>
          <a:p>
            <a:pPr marL="533400" indent="-533400">
              <a:buClr>
                <a:srgbClr val="000000"/>
              </a:buClr>
              <a:buFontTx/>
              <a:buAutoNum type="arabicPeriod"/>
            </a:pPr>
            <a:r>
              <a:rPr lang="en-US" altLang="en-MX" sz="2800" dirty="0"/>
              <a:t>There is a limited budget – total net cost of programs selected cannot exceed this amount</a:t>
            </a:r>
          </a:p>
          <a:p>
            <a:pPr marL="533400" indent="-533400">
              <a:buClr>
                <a:srgbClr val="000000"/>
              </a:buClr>
              <a:buFontTx/>
              <a:buAutoNum type="arabicPeriod"/>
            </a:pPr>
            <a:r>
              <a:rPr lang="en-US" altLang="en-MX" sz="2800" dirty="0"/>
              <a:t>Objective is to maximize total net effectiveness of programs selected</a:t>
            </a:r>
          </a:p>
          <a:p>
            <a:pPr marL="533400" indent="-533400">
              <a:buClr>
                <a:srgbClr val="000000"/>
              </a:buClr>
              <a:buFontTx/>
              <a:buAutoNum type="arabicPeriod"/>
            </a:pPr>
            <a:r>
              <a:rPr lang="en-US" altLang="en-MX" sz="2800" b="1" dirty="0"/>
              <a:t>Some programs are mutually exclusive</a:t>
            </a:r>
          </a:p>
        </p:txBody>
      </p:sp>
    </p:spTree>
    <p:extLst>
      <p:ext uri="{BB962C8B-B14F-4D97-AF65-F5344CB8AC3E}">
        <p14:creationId xmlns:p14="http://schemas.microsoft.com/office/powerpoint/2010/main" val="3448918351"/>
      </p:ext>
    </p:extLst>
  </p:cSld>
  <p:clrMapOvr>
    <a:masterClrMapping/>
  </p:clrMapOvr>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6354" name="Rectangle 2">
            <a:extLst>
              <a:ext uri="{FF2B5EF4-FFF2-40B4-BE49-F238E27FC236}">
                <a16:creationId xmlns:a16="http://schemas.microsoft.com/office/drawing/2014/main" id="{7595BA18-8BFC-F543-89D5-79A232BC596E}"/>
              </a:ext>
            </a:extLst>
          </p:cNvPr>
          <p:cNvSpPr>
            <a:spLocks noGrp="1" noChangeArrowheads="1"/>
          </p:cNvSpPr>
          <p:nvPr>
            <p:ph type="title"/>
          </p:nvPr>
        </p:nvSpPr>
        <p:spPr>
          <a:xfrm>
            <a:off x="733245" y="533400"/>
            <a:ext cx="10619117" cy="1066800"/>
          </a:xfrm>
        </p:spPr>
        <p:txBody>
          <a:bodyPr>
            <a:normAutofit/>
          </a:bodyPr>
          <a:lstStyle/>
          <a:p>
            <a:pPr>
              <a:defRPr/>
            </a:pPr>
            <a:r>
              <a:rPr lang="en-US" dirty="0"/>
              <a:t>General Algorithm Assumptions (2)</a:t>
            </a:r>
          </a:p>
        </p:txBody>
      </p:sp>
      <p:sp>
        <p:nvSpPr>
          <p:cNvPr id="5123" name="Rectangle 3">
            <a:extLst>
              <a:ext uri="{FF2B5EF4-FFF2-40B4-BE49-F238E27FC236}">
                <a16:creationId xmlns:a16="http://schemas.microsoft.com/office/drawing/2014/main" id="{9883473C-77E8-D14A-9F07-71B839917816}"/>
              </a:ext>
            </a:extLst>
          </p:cNvPr>
          <p:cNvSpPr>
            <a:spLocks noGrp="1" noChangeArrowheads="1"/>
          </p:cNvSpPr>
          <p:nvPr>
            <p:ph type="body" idx="1"/>
          </p:nvPr>
        </p:nvSpPr>
        <p:spPr>
          <a:xfrm>
            <a:off x="733245" y="1905000"/>
            <a:ext cx="10619117" cy="4114800"/>
          </a:xfrm>
        </p:spPr>
        <p:txBody>
          <a:bodyPr/>
          <a:lstStyle/>
          <a:p>
            <a:pPr marL="533400" indent="-533400">
              <a:buClr>
                <a:srgbClr val="000000"/>
              </a:buClr>
              <a:buNone/>
            </a:pPr>
            <a:r>
              <a:rPr lang="en-US" altLang="en-MX" sz="2800" dirty="0"/>
              <a:t>5.</a:t>
            </a:r>
            <a:r>
              <a:rPr lang="en-US" altLang="en-MX" dirty="0"/>
              <a:t>  </a:t>
            </a:r>
            <a:r>
              <a:rPr lang="en-US" altLang="en-MX" sz="2800" dirty="0"/>
              <a:t>Net cost of any program does not depend on which other programs are also selected</a:t>
            </a:r>
          </a:p>
          <a:p>
            <a:pPr marL="533400" indent="-533400">
              <a:buClr>
                <a:srgbClr val="000000"/>
              </a:buClr>
              <a:buNone/>
            </a:pPr>
            <a:r>
              <a:rPr lang="en-US" altLang="en-MX" sz="2800" dirty="0"/>
              <a:t>6.  Net effectiveness of any program does not depend upon which other programs are selected</a:t>
            </a:r>
          </a:p>
          <a:p>
            <a:pPr marL="533400" indent="-533400">
              <a:buClr>
                <a:srgbClr val="000000"/>
              </a:buClr>
              <a:buNone/>
            </a:pPr>
            <a:r>
              <a:rPr lang="en-US" altLang="en-MX" sz="2800" dirty="0"/>
              <a:t>7.  All programs are divisible, with proportional costs and effectiveness</a:t>
            </a:r>
          </a:p>
          <a:p>
            <a:pPr marL="533400" indent="-533400"/>
            <a:endParaRPr lang="en-US" altLang="en-MX" sz="2400" dirty="0"/>
          </a:p>
        </p:txBody>
      </p:sp>
    </p:spTree>
    <p:extLst>
      <p:ext uri="{BB962C8B-B14F-4D97-AF65-F5344CB8AC3E}">
        <p14:creationId xmlns:p14="http://schemas.microsoft.com/office/powerpoint/2010/main" val="110462140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8404" name="Rectangle 4">
            <a:extLst>
              <a:ext uri="{FF2B5EF4-FFF2-40B4-BE49-F238E27FC236}">
                <a16:creationId xmlns:a16="http://schemas.microsoft.com/office/drawing/2014/main" id="{259072EF-56B0-5443-8974-BB072CAD9393}"/>
              </a:ext>
            </a:extLst>
          </p:cNvPr>
          <p:cNvSpPr>
            <a:spLocks noGrp="1" noChangeArrowheads="1"/>
          </p:cNvSpPr>
          <p:nvPr>
            <p:ph type="title"/>
          </p:nvPr>
        </p:nvSpPr>
        <p:spPr>
          <a:xfrm>
            <a:off x="862641" y="258793"/>
            <a:ext cx="10412083" cy="1341402"/>
          </a:xfrm>
        </p:spPr>
        <p:txBody>
          <a:bodyPr>
            <a:normAutofit/>
          </a:bodyPr>
          <a:lstStyle/>
          <a:p>
            <a:pPr>
              <a:defRPr/>
            </a:pPr>
            <a:r>
              <a:rPr lang="en-US" dirty="0"/>
              <a:t>Review: Shopping Spree</a:t>
            </a:r>
            <a:br>
              <a:rPr lang="en-US" dirty="0"/>
            </a:br>
            <a:r>
              <a:rPr lang="en-US" sz="4000" dirty="0"/>
              <a:t>Budget $180</a:t>
            </a:r>
          </a:p>
        </p:txBody>
      </p:sp>
      <p:graphicFrame>
        <p:nvGraphicFramePr>
          <p:cNvPr id="998478" name="Group 78">
            <a:extLst>
              <a:ext uri="{FF2B5EF4-FFF2-40B4-BE49-F238E27FC236}">
                <a16:creationId xmlns:a16="http://schemas.microsoft.com/office/drawing/2014/main" id="{A08F123B-1538-FA43-AE18-DE398D5D7676}"/>
              </a:ext>
            </a:extLst>
          </p:cNvPr>
          <p:cNvGraphicFramePr>
            <a:graphicFrameLocks noGrp="1"/>
          </p:cNvGraphicFramePr>
          <p:nvPr/>
        </p:nvGraphicFramePr>
        <p:xfrm>
          <a:off x="2286000" y="1600200"/>
          <a:ext cx="7696200" cy="4326310"/>
        </p:xfrm>
        <a:graphic>
          <a:graphicData uri="http://schemas.openxmlformats.org/drawingml/2006/table">
            <a:tbl>
              <a:tblPr/>
              <a:tblGrid>
                <a:gridCol w="1600200">
                  <a:extLst>
                    <a:ext uri="{9D8B030D-6E8A-4147-A177-3AD203B41FA5}">
                      <a16:colId xmlns:a16="http://schemas.microsoft.com/office/drawing/2014/main" val="20000"/>
                    </a:ext>
                  </a:extLst>
                </a:gridCol>
                <a:gridCol w="965200">
                  <a:extLst>
                    <a:ext uri="{9D8B030D-6E8A-4147-A177-3AD203B41FA5}">
                      <a16:colId xmlns:a16="http://schemas.microsoft.com/office/drawing/2014/main" val="20001"/>
                    </a:ext>
                  </a:extLst>
                </a:gridCol>
                <a:gridCol w="1204913">
                  <a:extLst>
                    <a:ext uri="{9D8B030D-6E8A-4147-A177-3AD203B41FA5}">
                      <a16:colId xmlns:a16="http://schemas.microsoft.com/office/drawing/2014/main" val="20002"/>
                    </a:ext>
                  </a:extLst>
                </a:gridCol>
                <a:gridCol w="1360487">
                  <a:extLst>
                    <a:ext uri="{9D8B030D-6E8A-4147-A177-3AD203B41FA5}">
                      <a16:colId xmlns:a16="http://schemas.microsoft.com/office/drawing/2014/main" val="20003"/>
                    </a:ext>
                  </a:extLst>
                </a:gridCol>
                <a:gridCol w="1443038">
                  <a:extLst>
                    <a:ext uri="{9D8B030D-6E8A-4147-A177-3AD203B41FA5}">
                      <a16:colId xmlns:a16="http://schemas.microsoft.com/office/drawing/2014/main" val="20004"/>
                    </a:ext>
                  </a:extLst>
                </a:gridCol>
                <a:gridCol w="1122362">
                  <a:extLst>
                    <a:ext uri="{9D8B030D-6E8A-4147-A177-3AD203B41FA5}">
                      <a16:colId xmlns:a16="http://schemas.microsoft.com/office/drawing/2014/main" val="20005"/>
                    </a:ext>
                  </a:extLst>
                </a:gridCol>
              </a:tblGrid>
              <a:tr h="1217434">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Program</a:t>
                      </a:r>
                    </a:p>
                  </a:txBody>
                  <a:tcPr marT="45713" marB="45713"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Cost ($)</a:t>
                      </a:r>
                    </a:p>
                  </a:txBody>
                  <a:tcPr marT="45713" marB="45713"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Effect</a:t>
                      </a:r>
                    </a:p>
                  </a:txBody>
                  <a:tcPr marT="45713" marB="45713"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Cost/</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Effect</a:t>
                      </a:r>
                    </a:p>
                  </a:txBody>
                  <a:tcPr marT="45713" marB="45713"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Cum.</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Cost</a:t>
                      </a:r>
                    </a:p>
                  </a:txBody>
                  <a:tcPr marT="45713" marB="45713"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Cum.</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Effect</a:t>
                      </a:r>
                    </a:p>
                  </a:txBody>
                  <a:tcPr marT="45713" marB="45713"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518084">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D</a:t>
                      </a:r>
                    </a:p>
                  </a:txBody>
                  <a:tcPr marT="45713" marB="4571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0.5</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40</a:t>
                      </a:r>
                    </a:p>
                  </a:txBody>
                  <a:tcPr marT="45713" marB="4571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518084">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a:t>
                      </a:r>
                    </a:p>
                  </a:txBody>
                  <a:tcPr marT="45713" marB="4571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0.6</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90</a:t>
                      </a:r>
                    </a:p>
                  </a:txBody>
                  <a:tcPr marT="45713" marB="4571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518084">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F</a:t>
                      </a:r>
                    </a:p>
                  </a:txBody>
                  <a:tcPr marT="45713" marB="4571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75</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0.667</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100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165</a:t>
                      </a:r>
                    </a:p>
                  </a:txBody>
                  <a:tcPr marT="45713" marB="4571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18084">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a:t>
                      </a:r>
                    </a:p>
                  </a:txBody>
                  <a:tcPr marT="45713" marB="4571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56</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70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0.8</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156</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235</a:t>
                      </a:r>
                    </a:p>
                  </a:txBody>
                  <a:tcPr marT="45713" marB="4571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518084">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A</a:t>
                      </a:r>
                    </a:p>
                  </a:txBody>
                  <a:tcPr marT="45713" marB="4571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27</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0.9</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183</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265</a:t>
                      </a:r>
                    </a:p>
                  </a:txBody>
                  <a:tcPr marT="45713" marB="4571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518084">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B</a:t>
                      </a:r>
                    </a:p>
                  </a:txBody>
                  <a:tcPr marT="45713" marB="45713"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30</a:t>
                      </a:r>
                    </a:p>
                  </a:txBody>
                  <a:tcPr marT="45713" marB="45713"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a:t>
                      </a:r>
                    </a:p>
                  </a:txBody>
                  <a:tcPr marT="45713" marB="45713"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1.5</a:t>
                      </a:r>
                    </a:p>
                  </a:txBody>
                  <a:tcPr marT="45713" marB="45713"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213</a:t>
                      </a:r>
                    </a:p>
                  </a:txBody>
                  <a:tcPr marT="45713" marB="45713"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285</a:t>
                      </a:r>
                    </a:p>
                  </a:txBody>
                  <a:tcPr marT="45713" marB="45713"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6"/>
                  </a:ext>
                </a:extLst>
              </a:tr>
            </a:tbl>
          </a:graphicData>
        </a:graphic>
      </p:graphicFrame>
      <p:sp>
        <p:nvSpPr>
          <p:cNvPr id="6190" name="Line 74">
            <a:extLst>
              <a:ext uri="{FF2B5EF4-FFF2-40B4-BE49-F238E27FC236}">
                <a16:creationId xmlns:a16="http://schemas.microsoft.com/office/drawing/2014/main" id="{372A3203-89BE-EB4C-8289-C9EB3446A9C5}"/>
              </a:ext>
            </a:extLst>
          </p:cNvPr>
          <p:cNvSpPr>
            <a:spLocks noChangeShapeType="1"/>
          </p:cNvSpPr>
          <p:nvPr/>
        </p:nvSpPr>
        <p:spPr bwMode="auto">
          <a:xfrm>
            <a:off x="2057400" y="2667000"/>
            <a:ext cx="79248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6191" name="Line 76">
            <a:extLst>
              <a:ext uri="{FF2B5EF4-FFF2-40B4-BE49-F238E27FC236}">
                <a16:creationId xmlns:a16="http://schemas.microsoft.com/office/drawing/2014/main" id="{C94205CF-D850-134C-B745-535FCBC32C5B}"/>
              </a:ext>
            </a:extLst>
          </p:cNvPr>
          <p:cNvSpPr>
            <a:spLocks noChangeShapeType="1"/>
          </p:cNvSpPr>
          <p:nvPr/>
        </p:nvSpPr>
        <p:spPr bwMode="auto">
          <a:xfrm>
            <a:off x="2057400" y="1600200"/>
            <a:ext cx="79248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Tree>
    <p:extLst>
      <p:ext uri="{BB962C8B-B14F-4D97-AF65-F5344CB8AC3E}">
        <p14:creationId xmlns:p14="http://schemas.microsoft.com/office/powerpoint/2010/main" val="1162676299"/>
      </p:ext>
    </p:extLst>
  </p:cSld>
  <p:clrMapOvr>
    <a:masterClrMapping/>
  </p:clrMapOvr>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E4BC3665-4E90-804A-AD6B-EC5CEBAC1DFB}"/>
              </a:ext>
            </a:extLst>
          </p:cNvPr>
          <p:cNvSpPr>
            <a:spLocks noChangeArrowheads="1"/>
          </p:cNvSpPr>
          <p:nvPr/>
        </p:nvSpPr>
        <p:spPr bwMode="auto">
          <a:xfrm>
            <a:off x="2209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7171" name="Rectangle 3">
            <a:extLst>
              <a:ext uri="{FF2B5EF4-FFF2-40B4-BE49-F238E27FC236}">
                <a16:creationId xmlns:a16="http://schemas.microsoft.com/office/drawing/2014/main" id="{069EFC21-4148-BE41-836F-830E89DA1E2E}"/>
              </a:ext>
            </a:extLst>
          </p:cNvPr>
          <p:cNvSpPr>
            <a:spLocks noChangeArrowheads="1"/>
          </p:cNvSpPr>
          <p:nvPr/>
        </p:nvSpPr>
        <p:spPr bwMode="auto">
          <a:xfrm>
            <a:off x="4648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1000452" name="Rectangle 4">
            <a:extLst>
              <a:ext uri="{FF2B5EF4-FFF2-40B4-BE49-F238E27FC236}">
                <a16:creationId xmlns:a16="http://schemas.microsoft.com/office/drawing/2014/main" id="{058572F7-BF48-6148-81D1-DCE0EC5F704C}"/>
              </a:ext>
            </a:extLst>
          </p:cNvPr>
          <p:cNvSpPr>
            <a:spLocks noGrp="1" noChangeArrowheads="1"/>
          </p:cNvSpPr>
          <p:nvPr>
            <p:ph type="title"/>
          </p:nvPr>
        </p:nvSpPr>
        <p:spPr>
          <a:xfrm>
            <a:off x="733245" y="533400"/>
            <a:ext cx="10506974" cy="800100"/>
          </a:xfrm>
        </p:spPr>
        <p:txBody>
          <a:bodyPr/>
          <a:lstStyle/>
          <a:p>
            <a:pPr>
              <a:defRPr/>
            </a:pPr>
            <a:r>
              <a:rPr lang="en-US" dirty="0"/>
              <a:t>Review: Competing Choice</a:t>
            </a:r>
            <a:endParaRPr lang="en-US" sz="3600" dirty="0"/>
          </a:p>
        </p:txBody>
      </p:sp>
      <p:graphicFrame>
        <p:nvGraphicFramePr>
          <p:cNvPr id="1000525" name="Group 77">
            <a:extLst>
              <a:ext uri="{FF2B5EF4-FFF2-40B4-BE49-F238E27FC236}">
                <a16:creationId xmlns:a16="http://schemas.microsoft.com/office/drawing/2014/main" id="{0545E653-491A-A44E-9382-87CC2CC56C18}"/>
              </a:ext>
            </a:extLst>
          </p:cNvPr>
          <p:cNvGraphicFramePr>
            <a:graphicFrameLocks noGrp="1"/>
          </p:cNvGraphicFramePr>
          <p:nvPr/>
        </p:nvGraphicFramePr>
        <p:xfrm>
          <a:off x="2057400" y="2514600"/>
          <a:ext cx="8153400" cy="2903538"/>
        </p:xfrm>
        <a:graphic>
          <a:graphicData uri="http://schemas.openxmlformats.org/drawingml/2006/table">
            <a:tbl>
              <a:tblPr/>
              <a:tblGrid>
                <a:gridCol w="16002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354013">
                  <a:extLst>
                    <a:ext uri="{9D8B030D-6E8A-4147-A177-3AD203B41FA5}">
                      <a16:colId xmlns:a16="http://schemas.microsoft.com/office/drawing/2014/main" val="20004"/>
                    </a:ext>
                  </a:extLst>
                </a:gridCol>
                <a:gridCol w="1246187">
                  <a:extLst>
                    <a:ext uri="{9D8B030D-6E8A-4147-A177-3AD203B41FA5}">
                      <a16:colId xmlns:a16="http://schemas.microsoft.com/office/drawing/2014/main" val="20005"/>
                    </a:ext>
                  </a:extLst>
                </a:gridCol>
                <a:gridCol w="258763">
                  <a:extLst>
                    <a:ext uri="{9D8B030D-6E8A-4147-A177-3AD203B41FA5}">
                      <a16:colId xmlns:a16="http://schemas.microsoft.com/office/drawing/2014/main" val="20006"/>
                    </a:ext>
                  </a:extLst>
                </a:gridCol>
                <a:gridCol w="1417637">
                  <a:extLst>
                    <a:ext uri="{9D8B030D-6E8A-4147-A177-3AD203B41FA5}">
                      <a16:colId xmlns:a16="http://schemas.microsoft.com/office/drawing/2014/main" val="20007"/>
                    </a:ext>
                  </a:extLst>
                </a:gridCol>
              </a:tblGrid>
              <a:tr h="615950">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Program</a:t>
                      </a:r>
                    </a:p>
                  </a:txBody>
                  <a:tcPr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Cost ($)</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Effect</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a:noFill/>
                    </a:lnL>
                    <a:lnR>
                      <a:noFill/>
                    </a:lnR>
                    <a:lnT cap="fla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a:noFill/>
                    </a:lnL>
                    <a:lnR>
                      <a:noFill/>
                    </a:lnR>
                    <a:lnT cap="fla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a:noFill/>
                    </a:lnL>
                    <a:lnR cap="flat">
                      <a:noFill/>
                    </a:lnR>
                    <a:lnT cap="flat">
                      <a:noFill/>
                    </a:lnT>
                    <a:lnB>
                      <a:noFill/>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45561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H1</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60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80</a:t>
                      </a:r>
                    </a:p>
                  </a:txBody>
                  <a:tcPr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45561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H2</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40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65</a:t>
                      </a:r>
                    </a:p>
                  </a:txBody>
                  <a:tcPr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458788">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H3</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55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70</a:t>
                      </a:r>
                    </a:p>
                  </a:txBody>
                  <a:tcPr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45561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H4</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22</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40</a:t>
                      </a:r>
                    </a:p>
                  </a:txBody>
                  <a:tcPr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45561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H5</a:t>
                      </a:r>
                    </a:p>
                  </a:txBody>
                  <a:tcPr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45</a:t>
                      </a: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60</a:t>
                      </a:r>
                    </a:p>
                  </a:txBody>
                  <a:tcPr horzOverflow="overflow">
                    <a:lnL>
                      <a:noFill/>
                    </a:lnL>
                    <a:lnR>
                      <a:noFill/>
                    </a:lnR>
                    <a:lnT>
                      <a:noFill/>
                    </a:lnT>
                    <a:lnB cap="flat">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a:noFill/>
                    </a:lnL>
                    <a:lnR>
                      <a:noFill/>
                    </a:lnR>
                    <a:lnT>
                      <a:noFill/>
                    </a:lnT>
                    <a:lnB cap="flat">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a:noFill/>
                    </a:lnL>
                    <a:lnR>
                      <a:noFill/>
                    </a:lnR>
                    <a:lnT>
                      <a:noFill/>
                    </a:lnT>
                    <a:lnB cap="flat">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5"/>
                  </a:ext>
                </a:extLst>
              </a:tr>
            </a:tbl>
          </a:graphicData>
        </a:graphic>
      </p:graphicFrame>
      <p:sp>
        <p:nvSpPr>
          <p:cNvPr id="7210" name="Line 66">
            <a:extLst>
              <a:ext uri="{FF2B5EF4-FFF2-40B4-BE49-F238E27FC236}">
                <a16:creationId xmlns:a16="http://schemas.microsoft.com/office/drawing/2014/main" id="{CDD0FEB4-04AD-DA4A-AA14-DCC2C1515AEC}"/>
              </a:ext>
            </a:extLst>
          </p:cNvPr>
          <p:cNvSpPr>
            <a:spLocks noChangeShapeType="1"/>
          </p:cNvSpPr>
          <p:nvPr/>
        </p:nvSpPr>
        <p:spPr bwMode="auto">
          <a:xfrm>
            <a:off x="2057400" y="3124200"/>
            <a:ext cx="80010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7211" name="Text Box 68">
            <a:extLst>
              <a:ext uri="{FF2B5EF4-FFF2-40B4-BE49-F238E27FC236}">
                <a16:creationId xmlns:a16="http://schemas.microsoft.com/office/drawing/2014/main" id="{4DA69852-FB11-9241-B2F4-DE910042719F}"/>
              </a:ext>
            </a:extLst>
          </p:cNvPr>
          <p:cNvSpPr txBox="1">
            <a:spLocks noChangeArrowheads="1"/>
          </p:cNvSpPr>
          <p:nvPr/>
        </p:nvSpPr>
        <p:spPr bwMode="auto">
          <a:xfrm>
            <a:off x="2743201" y="1447800"/>
            <a:ext cx="71088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3200" b="0"/>
              <a:t>Which Program H should you choose?</a:t>
            </a:r>
          </a:p>
        </p:txBody>
      </p:sp>
      <p:sp>
        <p:nvSpPr>
          <p:cNvPr id="7212" name="Line 76">
            <a:extLst>
              <a:ext uri="{FF2B5EF4-FFF2-40B4-BE49-F238E27FC236}">
                <a16:creationId xmlns:a16="http://schemas.microsoft.com/office/drawing/2014/main" id="{7CE10F70-E271-4D4D-A53C-3A5A104084BA}"/>
              </a:ext>
            </a:extLst>
          </p:cNvPr>
          <p:cNvSpPr>
            <a:spLocks noChangeShapeType="1"/>
          </p:cNvSpPr>
          <p:nvPr/>
        </p:nvSpPr>
        <p:spPr bwMode="auto">
          <a:xfrm>
            <a:off x="2133600" y="2438400"/>
            <a:ext cx="79248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Tree>
    <p:extLst>
      <p:ext uri="{BB962C8B-B14F-4D97-AF65-F5344CB8AC3E}">
        <p14:creationId xmlns:p14="http://schemas.microsoft.com/office/powerpoint/2010/main" val="3372352796"/>
      </p:ext>
    </p:extLst>
  </p:cSld>
  <p:clrMapOvr>
    <a:masterClrMapping/>
  </p:clrMapOvr>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DFE7F2EE-FE1D-8F4D-B0BB-4100A14EDB9C}"/>
              </a:ext>
            </a:extLst>
          </p:cNvPr>
          <p:cNvSpPr>
            <a:spLocks noChangeArrowheads="1"/>
          </p:cNvSpPr>
          <p:nvPr/>
        </p:nvSpPr>
        <p:spPr bwMode="auto">
          <a:xfrm>
            <a:off x="2209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8195" name="Rectangle 3">
            <a:extLst>
              <a:ext uri="{FF2B5EF4-FFF2-40B4-BE49-F238E27FC236}">
                <a16:creationId xmlns:a16="http://schemas.microsoft.com/office/drawing/2014/main" id="{1645A597-8530-AF49-9DB7-FECDB30B73B0}"/>
              </a:ext>
            </a:extLst>
          </p:cNvPr>
          <p:cNvSpPr>
            <a:spLocks noChangeArrowheads="1"/>
          </p:cNvSpPr>
          <p:nvPr/>
        </p:nvSpPr>
        <p:spPr bwMode="auto">
          <a:xfrm>
            <a:off x="4648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1002500" name="Rectangle 4">
            <a:extLst>
              <a:ext uri="{FF2B5EF4-FFF2-40B4-BE49-F238E27FC236}">
                <a16:creationId xmlns:a16="http://schemas.microsoft.com/office/drawing/2014/main" id="{22C62B26-34EC-5344-9CF0-1193A19D930D}"/>
              </a:ext>
            </a:extLst>
          </p:cNvPr>
          <p:cNvSpPr>
            <a:spLocks noGrp="1" noChangeArrowheads="1"/>
          </p:cNvSpPr>
          <p:nvPr>
            <p:ph type="title"/>
          </p:nvPr>
        </p:nvSpPr>
        <p:spPr>
          <a:xfrm>
            <a:off x="931653" y="0"/>
            <a:ext cx="10170543" cy="990600"/>
          </a:xfrm>
        </p:spPr>
        <p:txBody>
          <a:bodyPr/>
          <a:lstStyle/>
          <a:p>
            <a:pPr>
              <a:defRPr/>
            </a:pPr>
            <a:r>
              <a:rPr lang="en-US" dirty="0"/>
              <a:t>Review: The Wrong Way</a:t>
            </a:r>
            <a:endParaRPr lang="en-US" sz="3600" dirty="0"/>
          </a:p>
        </p:txBody>
      </p:sp>
      <p:graphicFrame>
        <p:nvGraphicFramePr>
          <p:cNvPr id="1002613" name="Group 117">
            <a:extLst>
              <a:ext uri="{FF2B5EF4-FFF2-40B4-BE49-F238E27FC236}">
                <a16:creationId xmlns:a16="http://schemas.microsoft.com/office/drawing/2014/main" id="{FEC52072-7491-9C48-B1E9-35ACEB8A49BF}"/>
              </a:ext>
            </a:extLst>
          </p:cNvPr>
          <p:cNvGraphicFramePr>
            <a:graphicFrameLocks noGrp="1"/>
          </p:cNvGraphicFramePr>
          <p:nvPr/>
        </p:nvGraphicFramePr>
        <p:xfrm>
          <a:off x="1905000" y="914400"/>
          <a:ext cx="8305800" cy="5913442"/>
        </p:xfrm>
        <a:graphic>
          <a:graphicData uri="http://schemas.openxmlformats.org/drawingml/2006/table">
            <a:tbl>
              <a:tblPr/>
              <a:tblGrid>
                <a:gridCol w="1371600">
                  <a:extLst>
                    <a:ext uri="{9D8B030D-6E8A-4147-A177-3AD203B41FA5}">
                      <a16:colId xmlns:a16="http://schemas.microsoft.com/office/drawing/2014/main" val="20000"/>
                    </a:ext>
                  </a:extLst>
                </a:gridCol>
                <a:gridCol w="1214438">
                  <a:extLst>
                    <a:ext uri="{9D8B030D-6E8A-4147-A177-3AD203B41FA5}">
                      <a16:colId xmlns:a16="http://schemas.microsoft.com/office/drawing/2014/main" val="20001"/>
                    </a:ext>
                  </a:extLst>
                </a:gridCol>
                <a:gridCol w="1217612">
                  <a:extLst>
                    <a:ext uri="{9D8B030D-6E8A-4147-A177-3AD203B41FA5}">
                      <a16:colId xmlns:a16="http://schemas.microsoft.com/office/drawing/2014/main" val="20002"/>
                    </a:ext>
                  </a:extLst>
                </a:gridCol>
                <a:gridCol w="1163638">
                  <a:extLst>
                    <a:ext uri="{9D8B030D-6E8A-4147-A177-3AD203B41FA5}">
                      <a16:colId xmlns:a16="http://schemas.microsoft.com/office/drawing/2014/main" val="20003"/>
                    </a:ext>
                  </a:extLst>
                </a:gridCol>
                <a:gridCol w="361950">
                  <a:extLst>
                    <a:ext uri="{9D8B030D-6E8A-4147-A177-3AD203B41FA5}">
                      <a16:colId xmlns:a16="http://schemas.microsoft.com/office/drawing/2014/main" val="20004"/>
                    </a:ext>
                  </a:extLst>
                </a:gridCol>
                <a:gridCol w="1268412">
                  <a:extLst>
                    <a:ext uri="{9D8B030D-6E8A-4147-A177-3AD203B41FA5}">
                      <a16:colId xmlns:a16="http://schemas.microsoft.com/office/drawing/2014/main" val="20005"/>
                    </a:ext>
                  </a:extLst>
                </a:gridCol>
                <a:gridCol w="263525">
                  <a:extLst>
                    <a:ext uri="{9D8B030D-6E8A-4147-A177-3AD203B41FA5}">
                      <a16:colId xmlns:a16="http://schemas.microsoft.com/office/drawing/2014/main" val="20006"/>
                    </a:ext>
                  </a:extLst>
                </a:gridCol>
                <a:gridCol w="1444625">
                  <a:extLst>
                    <a:ext uri="{9D8B030D-6E8A-4147-A177-3AD203B41FA5}">
                      <a16:colId xmlns:a16="http://schemas.microsoft.com/office/drawing/2014/main" val="20007"/>
                    </a:ext>
                  </a:extLst>
                </a:gridCol>
              </a:tblGrid>
              <a:tr h="823004">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Program</a:t>
                      </a:r>
                    </a:p>
                  </a:txBody>
                  <a:tcPr marT="45722" marB="45722"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Cost ($)</a:t>
                      </a:r>
                    </a:p>
                  </a:txBody>
                  <a:tcPr marT="45722" marB="45722"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Effect</a:t>
                      </a:r>
                    </a:p>
                  </a:txBody>
                  <a:tcPr marT="45722" marB="45722"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C/E</a:t>
                      </a:r>
                    </a:p>
                  </a:txBody>
                  <a:tcPr marT="45722" marB="45722" horzOverflow="overflow">
                    <a:lnL>
                      <a:noFill/>
                    </a:lnL>
                    <a:lnR>
                      <a:noFill/>
                    </a:lnR>
                    <a:lnT cap="fla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Cum. Cost</a:t>
                      </a:r>
                    </a:p>
                  </a:txBody>
                  <a:tcPr marT="45722" marB="45722" horzOverflow="overflow">
                    <a:lnL>
                      <a:noFill/>
                    </a:lnL>
                    <a:lnR>
                      <a:noFill/>
                    </a:lnR>
                    <a:lnT cap="fla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Cum. Effect</a:t>
                      </a:r>
                    </a:p>
                  </a:txBody>
                  <a:tcPr marT="45722" marB="45722" horzOverflow="overflow">
                    <a:lnL>
                      <a:noFill/>
                    </a:lnL>
                    <a:lnR cap="flat">
                      <a:noFill/>
                    </a:lnR>
                    <a:lnT cap="flat">
                      <a:noFill/>
                    </a:lnT>
                    <a:lnB>
                      <a:noFill/>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457225">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D</a:t>
                      </a:r>
                    </a:p>
                  </a:txBody>
                  <a:tcPr marT="45722" marB="45722"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20</a:t>
                      </a:r>
                    </a:p>
                  </a:txBody>
                  <a:tcPr marT="45722" marB="4572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40</a:t>
                      </a:r>
                    </a:p>
                  </a:txBody>
                  <a:tcPr marT="45722" marB="45722"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0.5</a:t>
                      </a:r>
                    </a:p>
                  </a:txBody>
                  <a:tcPr marT="45722" marB="45722"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20</a:t>
                      </a:r>
                    </a:p>
                  </a:txBody>
                  <a:tcPr marT="45722" marB="45722"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40</a:t>
                      </a:r>
                    </a:p>
                  </a:txBody>
                  <a:tcPr marT="45722" marB="45722"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457225">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E</a:t>
                      </a:r>
                    </a:p>
                  </a:txBody>
                  <a:tcPr marT="45722" marB="45722"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30</a:t>
                      </a:r>
                    </a:p>
                  </a:txBody>
                  <a:tcPr marT="45722" marB="4572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50</a:t>
                      </a:r>
                    </a:p>
                  </a:txBody>
                  <a:tcPr marT="45722" marB="45722"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0.6</a:t>
                      </a:r>
                    </a:p>
                  </a:txBody>
                  <a:tcPr marT="45722" marB="45722"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50</a:t>
                      </a:r>
                    </a:p>
                  </a:txBody>
                  <a:tcPr marT="45722" marB="45722"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90</a:t>
                      </a:r>
                    </a:p>
                  </a:txBody>
                  <a:tcPr marT="45722" marB="45722"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457225">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F</a:t>
                      </a:r>
                    </a:p>
                  </a:txBody>
                  <a:tcPr marT="45722" marB="45722"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50</a:t>
                      </a:r>
                    </a:p>
                  </a:txBody>
                  <a:tcPr marT="45722" marB="4572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75</a:t>
                      </a:r>
                    </a:p>
                  </a:txBody>
                  <a:tcPr marT="45722" marB="45722"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0.667</a:t>
                      </a:r>
                    </a:p>
                  </a:txBody>
                  <a:tcPr marT="45722" marB="45722"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100</a:t>
                      </a:r>
                    </a:p>
                  </a:txBody>
                  <a:tcPr marT="45722" marB="45722"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165</a:t>
                      </a:r>
                    </a:p>
                  </a:txBody>
                  <a:tcPr marT="45722" marB="45722"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457225">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a:t>
                      </a:r>
                    </a:p>
                  </a:txBody>
                  <a:tcPr marT="45722" marB="45722"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56</a:t>
                      </a:r>
                    </a:p>
                  </a:txBody>
                  <a:tcPr marT="45722" marB="4572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70</a:t>
                      </a:r>
                    </a:p>
                  </a:txBody>
                  <a:tcPr marT="45722" marB="45722"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0.8</a:t>
                      </a:r>
                    </a:p>
                  </a:txBody>
                  <a:tcPr marT="45722" marB="45722"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156</a:t>
                      </a:r>
                    </a:p>
                  </a:txBody>
                  <a:tcPr marT="45722" marB="45722"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235</a:t>
                      </a:r>
                    </a:p>
                  </a:txBody>
                  <a:tcPr marT="45722" marB="45722"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457225">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A</a:t>
                      </a:r>
                    </a:p>
                  </a:txBody>
                  <a:tcPr marT="45722" marB="45722"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27</a:t>
                      </a:r>
                    </a:p>
                  </a:txBody>
                  <a:tcPr marT="45722" marB="4572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30</a:t>
                      </a:r>
                    </a:p>
                  </a:txBody>
                  <a:tcPr marT="45722" marB="45722"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0.9</a:t>
                      </a:r>
                    </a:p>
                  </a:txBody>
                  <a:tcPr marT="45722" marB="45722"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183</a:t>
                      </a:r>
                    </a:p>
                  </a:txBody>
                  <a:tcPr marT="45722" marB="45722"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265</a:t>
                      </a:r>
                    </a:p>
                  </a:txBody>
                  <a:tcPr marT="45722" marB="45722"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457225">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B</a:t>
                      </a:r>
                    </a:p>
                  </a:txBody>
                  <a:tcPr marT="45722" marB="45722"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30</a:t>
                      </a:r>
                    </a:p>
                  </a:txBody>
                  <a:tcPr marT="45722" marB="4572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20</a:t>
                      </a:r>
                    </a:p>
                  </a:txBody>
                  <a:tcPr marT="45722" marB="45722"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1.5</a:t>
                      </a:r>
                    </a:p>
                  </a:txBody>
                  <a:tcPr marT="45722" marB="45722"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22" marB="45722"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22" marB="45722"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457225">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1" i="0" u="none" strike="noStrike" cap="none" normalizeH="0" baseline="0">
                          <a:ln>
                            <a:noFill/>
                          </a:ln>
                          <a:solidFill>
                            <a:schemeClr val="tx1"/>
                          </a:solidFill>
                          <a:effectLst/>
                          <a:latin typeface="Arial" charset="0"/>
                        </a:rPr>
                        <a:t>H1</a:t>
                      </a:r>
                    </a:p>
                  </a:txBody>
                  <a:tcPr marT="45722" marB="45722" horzOverflow="overflow">
                    <a:lnL cap="flat">
                      <a:noFill/>
                    </a:lnL>
                    <a:lnR>
                      <a:noFill/>
                    </a:lnR>
                    <a:lnT>
                      <a:noFill/>
                    </a:lnT>
                    <a:lnB>
                      <a:noFill/>
                    </a:lnB>
                    <a:lnTlToBr>
                      <a:noFill/>
                    </a:lnTlToBr>
                    <a:lnBlToTr>
                      <a:noFill/>
                    </a:lnBlToTr>
                    <a:solidFill>
                      <a:schemeClr val="hlink"/>
                    </a:solid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1" i="0" u="none" strike="noStrike" cap="none" normalizeH="0" baseline="0">
                          <a:ln>
                            <a:noFill/>
                          </a:ln>
                          <a:solidFill>
                            <a:schemeClr val="tx1"/>
                          </a:solidFill>
                          <a:effectLst/>
                          <a:latin typeface="Arial" charset="0"/>
                        </a:rPr>
                        <a:t>60</a:t>
                      </a:r>
                    </a:p>
                  </a:txBody>
                  <a:tcPr marT="45722" marB="45722" horzOverflow="overflow">
                    <a:lnL>
                      <a:noFill/>
                    </a:lnL>
                    <a:lnR>
                      <a:noFill/>
                    </a:lnR>
                    <a:lnT>
                      <a:noFill/>
                    </a:lnT>
                    <a:lnB>
                      <a:noFill/>
                    </a:lnB>
                    <a:lnTlToBr>
                      <a:noFill/>
                    </a:lnTlToBr>
                    <a:lnBlToTr>
                      <a:noFill/>
                    </a:lnBlToTr>
                    <a:solidFill>
                      <a:schemeClr val="hlink"/>
                    </a:solid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1" i="0" u="none" strike="noStrike" cap="none" normalizeH="0" baseline="0">
                          <a:ln>
                            <a:noFill/>
                          </a:ln>
                          <a:solidFill>
                            <a:schemeClr val="tx1"/>
                          </a:solidFill>
                          <a:effectLst/>
                          <a:latin typeface="Arial" charset="0"/>
                        </a:rPr>
                        <a:t>80</a:t>
                      </a:r>
                    </a:p>
                  </a:txBody>
                  <a:tcPr marT="45722" marB="45722" horzOverflow="overflow">
                    <a:lnL>
                      <a:noFill/>
                    </a:lnL>
                    <a:lnR>
                      <a:noFill/>
                    </a:lnR>
                    <a:lnT>
                      <a:noFill/>
                    </a:lnT>
                    <a:lnB>
                      <a:noFill/>
                    </a:lnB>
                    <a:lnTlToBr>
                      <a:noFill/>
                    </a:lnTlToBr>
                    <a:lnBlToTr>
                      <a:noFill/>
                    </a:lnBlToTr>
                    <a:solidFill>
                      <a:schemeClr val="hlink"/>
                    </a:solid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1" i="0" u="none" strike="noStrike" cap="none" normalizeH="0" baseline="0">
                          <a:ln>
                            <a:noFill/>
                          </a:ln>
                          <a:solidFill>
                            <a:schemeClr val="tx1"/>
                          </a:solidFill>
                          <a:effectLst/>
                          <a:latin typeface="Arial" charset="0"/>
                        </a:rPr>
                        <a:t>0.75</a:t>
                      </a:r>
                    </a:p>
                  </a:txBody>
                  <a:tcPr marT="45722" marB="45722" horzOverflow="overflow">
                    <a:lnL>
                      <a:noFill/>
                    </a:lnL>
                    <a:lnR>
                      <a:noFill/>
                    </a:lnR>
                    <a:lnT>
                      <a:noFill/>
                    </a:lnT>
                    <a:lnB>
                      <a:noFill/>
                    </a:lnB>
                    <a:lnTlToBr>
                      <a:noFill/>
                    </a:lnTlToBr>
                    <a:lnBlToTr>
                      <a:noFill/>
                    </a:lnBlToTr>
                    <a:solidFill>
                      <a:schemeClr val="hlink"/>
                    </a:solid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22" marB="45722" horzOverflow="overflow">
                    <a:lnL>
                      <a:noFill/>
                    </a:lnL>
                    <a:lnR>
                      <a:noFill/>
                    </a:lnR>
                    <a:lnT>
                      <a:noFill/>
                    </a:lnT>
                    <a:lnB>
                      <a:noFill/>
                    </a:lnB>
                    <a:lnTlToBr>
                      <a:noFill/>
                    </a:lnTlToBr>
                    <a:lnBlToTr>
                      <a:noFill/>
                    </a:lnBlToTr>
                    <a:pattFill prst="pct5">
                      <a:fgClr>
                        <a:schemeClr val="folHlink"/>
                      </a:fgClr>
                      <a:bgClr>
                        <a:schemeClr val="bg1"/>
                      </a:bgClr>
                    </a:patt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22" marB="45722" horzOverflow="overflow">
                    <a:lnL>
                      <a:noFill/>
                    </a:lnL>
                    <a:lnR cap="flat">
                      <a:noFill/>
                    </a:lnR>
                    <a:lnT>
                      <a:noFill/>
                    </a:lnT>
                    <a:lnB>
                      <a:noFill/>
                    </a:lnB>
                    <a:lnTlToBr>
                      <a:noFill/>
                    </a:lnTlToBr>
                    <a:lnBlToTr>
                      <a:noFill/>
                    </a:lnBlToTr>
                    <a:pattFill prst="pct5">
                      <a:fgClr>
                        <a:schemeClr val="folHlink"/>
                      </a:fgClr>
                      <a:bgClr>
                        <a:schemeClr val="bg1"/>
                      </a:bgClr>
                    </a:pattFill>
                  </a:tcPr>
                </a:tc>
                <a:extLst>
                  <a:ext uri="{0D108BD9-81ED-4DB2-BD59-A6C34878D82A}">
                    <a16:rowId xmlns:a16="http://schemas.microsoft.com/office/drawing/2014/main" val="10007"/>
                  </a:ext>
                </a:extLst>
              </a:tr>
              <a:tr h="457225">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1" i="0" u="none" strike="noStrike" cap="none" normalizeH="0" baseline="0">
                          <a:ln>
                            <a:noFill/>
                          </a:ln>
                          <a:solidFill>
                            <a:schemeClr val="tx1"/>
                          </a:solidFill>
                          <a:effectLst/>
                          <a:latin typeface="Arial" charset="0"/>
                        </a:rPr>
                        <a:t>H2</a:t>
                      </a:r>
                    </a:p>
                  </a:txBody>
                  <a:tcPr marT="45722" marB="45722" horzOverflow="overflow">
                    <a:lnL cap="flat">
                      <a:noFill/>
                    </a:lnL>
                    <a:lnR>
                      <a:noFill/>
                    </a:lnR>
                    <a:lnT>
                      <a:noFill/>
                    </a:lnT>
                    <a:lnB>
                      <a:noFill/>
                    </a:lnB>
                    <a:lnTlToBr>
                      <a:noFill/>
                    </a:lnTlToBr>
                    <a:lnBlToTr>
                      <a:noFill/>
                    </a:lnBlToTr>
                    <a:solidFill>
                      <a:schemeClr val="hlink"/>
                    </a:solid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1" i="0" u="none" strike="noStrike" cap="none" normalizeH="0" baseline="0">
                          <a:ln>
                            <a:noFill/>
                          </a:ln>
                          <a:solidFill>
                            <a:schemeClr val="tx1"/>
                          </a:solidFill>
                          <a:effectLst/>
                          <a:latin typeface="Arial" charset="0"/>
                        </a:rPr>
                        <a:t>40</a:t>
                      </a:r>
                    </a:p>
                  </a:txBody>
                  <a:tcPr marT="45722" marB="45722" horzOverflow="overflow">
                    <a:lnL>
                      <a:noFill/>
                    </a:lnL>
                    <a:lnR>
                      <a:noFill/>
                    </a:lnR>
                    <a:lnT>
                      <a:noFill/>
                    </a:lnT>
                    <a:lnB>
                      <a:noFill/>
                    </a:lnB>
                    <a:lnTlToBr>
                      <a:noFill/>
                    </a:lnTlToBr>
                    <a:lnBlToTr>
                      <a:noFill/>
                    </a:lnBlToTr>
                    <a:solidFill>
                      <a:schemeClr val="hlink"/>
                    </a:solid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1" i="0" u="none" strike="noStrike" cap="none" normalizeH="0" baseline="0">
                          <a:ln>
                            <a:noFill/>
                          </a:ln>
                          <a:solidFill>
                            <a:schemeClr val="tx1"/>
                          </a:solidFill>
                          <a:effectLst/>
                          <a:latin typeface="Arial" charset="0"/>
                        </a:rPr>
                        <a:t>65</a:t>
                      </a:r>
                    </a:p>
                  </a:txBody>
                  <a:tcPr marT="45722" marB="45722" horzOverflow="overflow">
                    <a:lnL>
                      <a:noFill/>
                    </a:lnL>
                    <a:lnR>
                      <a:noFill/>
                    </a:lnR>
                    <a:lnT>
                      <a:noFill/>
                    </a:lnT>
                    <a:lnB>
                      <a:noFill/>
                    </a:lnB>
                    <a:lnTlToBr>
                      <a:noFill/>
                    </a:lnTlToBr>
                    <a:lnBlToTr>
                      <a:noFill/>
                    </a:lnBlToTr>
                    <a:solidFill>
                      <a:schemeClr val="hlink"/>
                    </a:solid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1" i="0" u="none" strike="noStrike" cap="none" normalizeH="0" baseline="0">
                          <a:ln>
                            <a:noFill/>
                          </a:ln>
                          <a:solidFill>
                            <a:schemeClr val="tx1"/>
                          </a:solidFill>
                          <a:effectLst/>
                          <a:latin typeface="Arial" charset="0"/>
                        </a:rPr>
                        <a:t>0.615</a:t>
                      </a:r>
                    </a:p>
                  </a:txBody>
                  <a:tcPr marT="45722" marB="45722" horzOverflow="overflow">
                    <a:lnL>
                      <a:noFill/>
                    </a:lnL>
                    <a:lnR>
                      <a:noFill/>
                    </a:lnR>
                    <a:lnT>
                      <a:noFill/>
                    </a:lnT>
                    <a:lnB>
                      <a:noFill/>
                    </a:lnB>
                    <a:lnTlToBr>
                      <a:noFill/>
                    </a:lnTlToBr>
                    <a:lnBlToTr>
                      <a:noFill/>
                    </a:lnBlToTr>
                    <a:solidFill>
                      <a:schemeClr val="hlink"/>
                    </a:solid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22" marB="45722" horzOverflow="overflow">
                    <a:lnL>
                      <a:noFill/>
                    </a:lnL>
                    <a:lnR>
                      <a:noFill/>
                    </a:lnR>
                    <a:lnT>
                      <a:noFill/>
                    </a:lnT>
                    <a:lnB>
                      <a:noFill/>
                    </a:lnB>
                    <a:lnTlToBr>
                      <a:noFill/>
                    </a:lnTlToBr>
                    <a:lnBlToTr>
                      <a:noFill/>
                    </a:lnBlToTr>
                    <a:pattFill prst="pct5">
                      <a:fgClr>
                        <a:schemeClr val="folHlink"/>
                      </a:fgClr>
                      <a:bgClr>
                        <a:schemeClr val="bg1"/>
                      </a:bgClr>
                    </a:patt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22" marB="45722" horzOverflow="overflow">
                    <a:lnL>
                      <a:noFill/>
                    </a:lnL>
                    <a:lnR cap="flat">
                      <a:noFill/>
                    </a:lnR>
                    <a:lnT>
                      <a:noFill/>
                    </a:lnT>
                    <a:lnB>
                      <a:noFill/>
                    </a:lnB>
                    <a:lnTlToBr>
                      <a:noFill/>
                    </a:lnTlToBr>
                    <a:lnBlToTr>
                      <a:noFill/>
                    </a:lnBlToTr>
                    <a:pattFill prst="pct5">
                      <a:fgClr>
                        <a:schemeClr val="folHlink"/>
                      </a:fgClr>
                      <a:bgClr>
                        <a:schemeClr val="bg1"/>
                      </a:bgClr>
                    </a:pattFill>
                  </a:tcPr>
                </a:tc>
                <a:extLst>
                  <a:ext uri="{0D108BD9-81ED-4DB2-BD59-A6C34878D82A}">
                    <a16:rowId xmlns:a16="http://schemas.microsoft.com/office/drawing/2014/main" val="10008"/>
                  </a:ext>
                </a:extLst>
              </a:tr>
              <a:tr h="457225">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1" i="0" u="none" strike="noStrike" cap="none" normalizeH="0" baseline="0">
                          <a:ln>
                            <a:noFill/>
                          </a:ln>
                          <a:solidFill>
                            <a:schemeClr val="tx1"/>
                          </a:solidFill>
                          <a:effectLst/>
                          <a:latin typeface="Arial" charset="0"/>
                        </a:rPr>
                        <a:t>H3</a:t>
                      </a:r>
                    </a:p>
                  </a:txBody>
                  <a:tcPr marT="45722" marB="45722" horzOverflow="overflow">
                    <a:lnL cap="flat">
                      <a:noFill/>
                    </a:lnL>
                    <a:lnR>
                      <a:noFill/>
                    </a:lnR>
                    <a:lnT>
                      <a:noFill/>
                    </a:lnT>
                    <a:lnB>
                      <a:noFill/>
                    </a:lnB>
                    <a:lnTlToBr>
                      <a:noFill/>
                    </a:lnTlToBr>
                    <a:lnBlToTr>
                      <a:noFill/>
                    </a:lnBlToTr>
                    <a:solidFill>
                      <a:schemeClr val="hlink"/>
                    </a:solid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1" i="0" u="none" strike="noStrike" cap="none" normalizeH="0" baseline="0">
                          <a:ln>
                            <a:noFill/>
                          </a:ln>
                          <a:solidFill>
                            <a:schemeClr val="tx1"/>
                          </a:solidFill>
                          <a:effectLst/>
                          <a:latin typeface="Arial" charset="0"/>
                        </a:rPr>
                        <a:t>55</a:t>
                      </a:r>
                    </a:p>
                  </a:txBody>
                  <a:tcPr marT="45722" marB="45722" horzOverflow="overflow">
                    <a:lnL>
                      <a:noFill/>
                    </a:lnL>
                    <a:lnR>
                      <a:noFill/>
                    </a:lnR>
                    <a:lnT>
                      <a:noFill/>
                    </a:lnT>
                    <a:lnB>
                      <a:noFill/>
                    </a:lnB>
                    <a:lnTlToBr>
                      <a:noFill/>
                    </a:lnTlToBr>
                    <a:lnBlToTr>
                      <a:noFill/>
                    </a:lnBlToTr>
                    <a:solidFill>
                      <a:schemeClr val="hlink"/>
                    </a:solid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1" i="0" u="none" strike="noStrike" cap="none" normalizeH="0" baseline="0">
                          <a:ln>
                            <a:noFill/>
                          </a:ln>
                          <a:solidFill>
                            <a:schemeClr val="tx1"/>
                          </a:solidFill>
                          <a:effectLst/>
                          <a:latin typeface="Arial" charset="0"/>
                        </a:rPr>
                        <a:t>70</a:t>
                      </a:r>
                    </a:p>
                  </a:txBody>
                  <a:tcPr marT="45722" marB="45722" horzOverflow="overflow">
                    <a:lnL>
                      <a:noFill/>
                    </a:lnL>
                    <a:lnR>
                      <a:noFill/>
                    </a:lnR>
                    <a:lnT>
                      <a:noFill/>
                    </a:lnT>
                    <a:lnB>
                      <a:noFill/>
                    </a:lnB>
                    <a:lnTlToBr>
                      <a:noFill/>
                    </a:lnTlToBr>
                    <a:lnBlToTr>
                      <a:noFill/>
                    </a:lnBlToTr>
                    <a:solidFill>
                      <a:schemeClr val="hlink"/>
                    </a:solid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1" i="0" u="none" strike="noStrike" cap="none" normalizeH="0" baseline="0">
                          <a:ln>
                            <a:noFill/>
                          </a:ln>
                          <a:solidFill>
                            <a:schemeClr val="tx1"/>
                          </a:solidFill>
                          <a:effectLst/>
                          <a:latin typeface="Arial" charset="0"/>
                        </a:rPr>
                        <a:t>0.786</a:t>
                      </a:r>
                    </a:p>
                  </a:txBody>
                  <a:tcPr marT="45722" marB="45722" horzOverflow="overflow">
                    <a:lnL>
                      <a:noFill/>
                    </a:lnL>
                    <a:lnR>
                      <a:noFill/>
                    </a:lnR>
                    <a:lnT>
                      <a:noFill/>
                    </a:lnT>
                    <a:lnB>
                      <a:noFill/>
                    </a:lnB>
                    <a:lnTlToBr>
                      <a:noFill/>
                    </a:lnTlToBr>
                    <a:lnBlToTr>
                      <a:noFill/>
                    </a:lnBlToTr>
                    <a:solidFill>
                      <a:schemeClr val="hlink"/>
                    </a:solid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22" marB="45722" horzOverflow="overflow">
                    <a:lnL>
                      <a:noFill/>
                    </a:lnL>
                    <a:lnR>
                      <a:noFill/>
                    </a:lnR>
                    <a:lnT>
                      <a:noFill/>
                    </a:lnT>
                    <a:lnB>
                      <a:noFill/>
                    </a:lnB>
                    <a:lnTlToBr>
                      <a:noFill/>
                    </a:lnTlToBr>
                    <a:lnBlToTr>
                      <a:noFill/>
                    </a:lnBlToTr>
                    <a:pattFill prst="pct5">
                      <a:fgClr>
                        <a:schemeClr val="folHlink"/>
                      </a:fgClr>
                      <a:bgClr>
                        <a:schemeClr val="bg1"/>
                      </a:bgClr>
                    </a:patt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22" marB="45722" horzOverflow="overflow">
                    <a:lnL>
                      <a:noFill/>
                    </a:lnL>
                    <a:lnR cap="flat">
                      <a:noFill/>
                    </a:lnR>
                    <a:lnT>
                      <a:noFill/>
                    </a:lnT>
                    <a:lnB>
                      <a:noFill/>
                    </a:lnB>
                    <a:lnTlToBr>
                      <a:noFill/>
                    </a:lnTlToBr>
                    <a:lnBlToTr>
                      <a:noFill/>
                    </a:lnBlToTr>
                    <a:pattFill prst="pct5">
                      <a:fgClr>
                        <a:schemeClr val="folHlink"/>
                      </a:fgClr>
                      <a:bgClr>
                        <a:schemeClr val="bg1"/>
                      </a:bgClr>
                    </a:pattFill>
                  </a:tcPr>
                </a:tc>
                <a:extLst>
                  <a:ext uri="{0D108BD9-81ED-4DB2-BD59-A6C34878D82A}">
                    <a16:rowId xmlns:a16="http://schemas.microsoft.com/office/drawing/2014/main" val="10009"/>
                  </a:ext>
                </a:extLst>
              </a:tr>
              <a:tr h="457225">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1" i="0" u="none" strike="noStrike" cap="none" normalizeH="0" baseline="0">
                          <a:ln>
                            <a:noFill/>
                          </a:ln>
                          <a:solidFill>
                            <a:schemeClr val="tx1"/>
                          </a:solidFill>
                          <a:effectLst/>
                          <a:latin typeface="Arial" charset="0"/>
                        </a:rPr>
                        <a:t>H4</a:t>
                      </a:r>
                    </a:p>
                  </a:txBody>
                  <a:tcPr marT="45722" marB="45722" horzOverflow="overflow">
                    <a:lnL cap="flat">
                      <a:noFill/>
                    </a:lnL>
                    <a:lnR>
                      <a:noFill/>
                    </a:lnR>
                    <a:lnT>
                      <a:noFill/>
                    </a:lnT>
                    <a:lnB>
                      <a:noFill/>
                    </a:lnB>
                    <a:lnTlToBr>
                      <a:noFill/>
                    </a:lnTlToBr>
                    <a:lnBlToTr>
                      <a:noFill/>
                    </a:lnBlToTr>
                    <a:solidFill>
                      <a:schemeClr val="hlink"/>
                    </a:solid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1" i="0" u="none" strike="noStrike" cap="none" normalizeH="0" baseline="0">
                          <a:ln>
                            <a:noFill/>
                          </a:ln>
                          <a:solidFill>
                            <a:schemeClr val="tx1"/>
                          </a:solidFill>
                          <a:effectLst/>
                          <a:latin typeface="Arial" charset="0"/>
                        </a:rPr>
                        <a:t>22</a:t>
                      </a:r>
                    </a:p>
                  </a:txBody>
                  <a:tcPr marT="45722" marB="45722" horzOverflow="overflow">
                    <a:lnL>
                      <a:noFill/>
                    </a:lnL>
                    <a:lnR>
                      <a:noFill/>
                    </a:lnR>
                    <a:lnT>
                      <a:noFill/>
                    </a:lnT>
                    <a:lnB>
                      <a:noFill/>
                    </a:lnB>
                    <a:lnTlToBr>
                      <a:noFill/>
                    </a:lnTlToBr>
                    <a:lnBlToTr>
                      <a:noFill/>
                    </a:lnBlToTr>
                    <a:solidFill>
                      <a:schemeClr val="hlink"/>
                    </a:solid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1" i="0" u="none" strike="noStrike" cap="none" normalizeH="0" baseline="0">
                          <a:ln>
                            <a:noFill/>
                          </a:ln>
                          <a:solidFill>
                            <a:schemeClr val="tx1"/>
                          </a:solidFill>
                          <a:effectLst/>
                          <a:latin typeface="Arial" charset="0"/>
                        </a:rPr>
                        <a:t>40</a:t>
                      </a:r>
                    </a:p>
                  </a:txBody>
                  <a:tcPr marT="45722" marB="45722" horzOverflow="overflow">
                    <a:lnL>
                      <a:noFill/>
                    </a:lnL>
                    <a:lnR>
                      <a:noFill/>
                    </a:lnR>
                    <a:lnT>
                      <a:noFill/>
                    </a:lnT>
                    <a:lnB>
                      <a:noFill/>
                    </a:lnB>
                    <a:lnTlToBr>
                      <a:noFill/>
                    </a:lnTlToBr>
                    <a:lnBlToTr>
                      <a:noFill/>
                    </a:lnBlToTr>
                    <a:solidFill>
                      <a:schemeClr val="hlink"/>
                    </a:solid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1" i="0" u="none" strike="noStrike" cap="none" normalizeH="0" baseline="0">
                          <a:ln>
                            <a:noFill/>
                          </a:ln>
                          <a:solidFill>
                            <a:schemeClr val="tx1"/>
                          </a:solidFill>
                          <a:effectLst/>
                          <a:latin typeface="Arial" charset="0"/>
                        </a:rPr>
                        <a:t>0.55</a:t>
                      </a:r>
                    </a:p>
                  </a:txBody>
                  <a:tcPr marT="45722" marB="45722" horzOverflow="overflow">
                    <a:lnL>
                      <a:noFill/>
                    </a:lnL>
                    <a:lnR>
                      <a:noFill/>
                    </a:lnR>
                    <a:lnT>
                      <a:noFill/>
                    </a:lnT>
                    <a:lnB>
                      <a:noFill/>
                    </a:lnB>
                    <a:lnTlToBr>
                      <a:noFill/>
                    </a:lnTlToBr>
                    <a:lnBlToTr>
                      <a:noFill/>
                    </a:lnBlToTr>
                    <a:solidFill>
                      <a:schemeClr val="hlink"/>
                    </a:solid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22" marB="45722" horzOverflow="overflow">
                    <a:lnL>
                      <a:noFill/>
                    </a:lnL>
                    <a:lnR>
                      <a:noFill/>
                    </a:lnR>
                    <a:lnT>
                      <a:noFill/>
                    </a:lnT>
                    <a:lnB>
                      <a:noFill/>
                    </a:lnB>
                    <a:lnTlToBr>
                      <a:noFill/>
                    </a:lnTlToBr>
                    <a:lnBlToTr>
                      <a:noFill/>
                    </a:lnBlToTr>
                    <a:pattFill prst="pct5">
                      <a:fgClr>
                        <a:schemeClr val="folHlink"/>
                      </a:fgClr>
                      <a:bgClr>
                        <a:schemeClr val="bg1"/>
                      </a:bgClr>
                    </a:patt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22" marB="45722" horzOverflow="overflow">
                    <a:lnL>
                      <a:noFill/>
                    </a:lnL>
                    <a:lnR cap="flat">
                      <a:noFill/>
                    </a:lnR>
                    <a:lnT>
                      <a:noFill/>
                    </a:lnT>
                    <a:lnB>
                      <a:noFill/>
                    </a:lnB>
                    <a:lnTlToBr>
                      <a:noFill/>
                    </a:lnTlToBr>
                    <a:lnBlToTr>
                      <a:noFill/>
                    </a:lnBlToTr>
                    <a:pattFill prst="pct5">
                      <a:fgClr>
                        <a:schemeClr val="folHlink"/>
                      </a:fgClr>
                      <a:bgClr>
                        <a:schemeClr val="bg1"/>
                      </a:bgClr>
                    </a:pattFill>
                  </a:tcPr>
                </a:tc>
                <a:extLst>
                  <a:ext uri="{0D108BD9-81ED-4DB2-BD59-A6C34878D82A}">
                    <a16:rowId xmlns:a16="http://schemas.microsoft.com/office/drawing/2014/main" val="10010"/>
                  </a:ext>
                </a:extLst>
              </a:tr>
              <a:tr h="518188">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1" i="0" u="none" strike="noStrike" cap="none" normalizeH="0" baseline="0">
                          <a:ln>
                            <a:noFill/>
                          </a:ln>
                          <a:solidFill>
                            <a:schemeClr val="tx1"/>
                          </a:solidFill>
                          <a:effectLst/>
                          <a:latin typeface="Arial" charset="0"/>
                        </a:rPr>
                        <a:t>H5</a:t>
                      </a:r>
                    </a:p>
                  </a:txBody>
                  <a:tcPr marT="45722" marB="45722" horzOverflow="overflow">
                    <a:lnL cap="flat">
                      <a:noFill/>
                    </a:lnL>
                    <a:lnR>
                      <a:noFill/>
                    </a:lnR>
                    <a:lnT>
                      <a:noFill/>
                    </a:lnT>
                    <a:lnB cap="flat">
                      <a:noFill/>
                    </a:lnB>
                    <a:lnTlToBr>
                      <a:noFill/>
                    </a:lnTlToBr>
                    <a:lnBlToTr>
                      <a:noFill/>
                    </a:lnBlToTr>
                    <a:solidFill>
                      <a:schemeClr val="hlink"/>
                    </a:solid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1" i="0" u="none" strike="noStrike" cap="none" normalizeH="0" baseline="0">
                          <a:ln>
                            <a:noFill/>
                          </a:ln>
                          <a:solidFill>
                            <a:schemeClr val="tx1"/>
                          </a:solidFill>
                          <a:effectLst/>
                          <a:latin typeface="Arial" charset="0"/>
                        </a:rPr>
                        <a:t>45</a:t>
                      </a:r>
                    </a:p>
                  </a:txBody>
                  <a:tcPr marT="45722" marB="45722" horzOverflow="overflow">
                    <a:lnL>
                      <a:noFill/>
                    </a:lnL>
                    <a:lnR>
                      <a:noFill/>
                    </a:lnR>
                    <a:lnT>
                      <a:noFill/>
                    </a:lnT>
                    <a:lnB cap="flat">
                      <a:noFill/>
                    </a:lnB>
                    <a:lnTlToBr>
                      <a:noFill/>
                    </a:lnTlToBr>
                    <a:lnBlToTr>
                      <a:noFill/>
                    </a:lnBlToTr>
                    <a:solidFill>
                      <a:schemeClr val="hlink"/>
                    </a:solid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1" i="0" u="none" strike="noStrike" cap="none" normalizeH="0" baseline="0">
                          <a:ln>
                            <a:noFill/>
                          </a:ln>
                          <a:solidFill>
                            <a:schemeClr val="tx1"/>
                          </a:solidFill>
                          <a:effectLst/>
                          <a:latin typeface="Arial" charset="0"/>
                        </a:rPr>
                        <a:t>60</a:t>
                      </a:r>
                    </a:p>
                  </a:txBody>
                  <a:tcPr marT="45722" marB="45722" horzOverflow="overflow">
                    <a:lnL>
                      <a:noFill/>
                    </a:lnL>
                    <a:lnR>
                      <a:noFill/>
                    </a:lnR>
                    <a:lnT>
                      <a:noFill/>
                    </a:lnT>
                    <a:lnB cap="flat">
                      <a:noFill/>
                    </a:lnB>
                    <a:lnTlToBr>
                      <a:noFill/>
                    </a:lnTlToBr>
                    <a:lnBlToTr>
                      <a:noFill/>
                    </a:lnBlToTr>
                    <a:solidFill>
                      <a:schemeClr val="hlink"/>
                    </a:solid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1" i="0" u="none" strike="noStrike" cap="none" normalizeH="0" baseline="0">
                          <a:ln>
                            <a:noFill/>
                          </a:ln>
                          <a:solidFill>
                            <a:schemeClr val="tx1"/>
                          </a:solidFill>
                          <a:effectLst/>
                          <a:latin typeface="Arial" charset="0"/>
                        </a:rPr>
                        <a:t>0.75</a:t>
                      </a:r>
                    </a:p>
                  </a:txBody>
                  <a:tcPr marT="45722" marB="45722" horzOverflow="overflow">
                    <a:lnL>
                      <a:noFill/>
                    </a:lnL>
                    <a:lnR>
                      <a:noFill/>
                    </a:lnR>
                    <a:lnT>
                      <a:noFill/>
                    </a:lnT>
                    <a:lnB cap="flat">
                      <a:noFill/>
                    </a:lnB>
                    <a:lnTlToBr>
                      <a:noFill/>
                    </a:lnTlToBr>
                    <a:lnBlToTr>
                      <a:noFill/>
                    </a:lnBlToTr>
                    <a:solidFill>
                      <a:schemeClr val="hlink"/>
                    </a:solid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22" marB="45722" horzOverflow="overflow">
                    <a:lnL>
                      <a:noFill/>
                    </a:lnL>
                    <a:lnR>
                      <a:noFill/>
                    </a:lnR>
                    <a:lnT>
                      <a:noFill/>
                    </a:lnT>
                    <a:lnB cap="flat">
                      <a:noFill/>
                    </a:lnB>
                    <a:lnTlToBr>
                      <a:noFill/>
                    </a:lnTlToBr>
                    <a:lnBlToTr>
                      <a:noFill/>
                    </a:lnBlToTr>
                    <a:pattFill prst="pct5">
                      <a:fgClr>
                        <a:schemeClr val="folHlink"/>
                      </a:fgClr>
                      <a:bgClr>
                        <a:schemeClr val="bg1"/>
                      </a:bgClr>
                    </a:patt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22" marB="45722" horzOverflow="overflow">
                    <a:lnL>
                      <a:noFill/>
                    </a:lnL>
                    <a:lnR cap="flat">
                      <a:noFill/>
                    </a:lnR>
                    <a:lnT>
                      <a:noFill/>
                    </a:lnT>
                    <a:lnB cap="flat">
                      <a:noFill/>
                    </a:lnB>
                    <a:lnTlToBr>
                      <a:noFill/>
                    </a:lnTlToBr>
                    <a:lnBlToTr>
                      <a:noFill/>
                    </a:lnBlToTr>
                    <a:pattFill prst="pct5">
                      <a:fgClr>
                        <a:schemeClr val="folHlink"/>
                      </a:fgClr>
                      <a:bgClr>
                        <a:schemeClr val="bg1"/>
                      </a:bgClr>
                    </a:pattFill>
                  </a:tcPr>
                </a:tc>
                <a:extLst>
                  <a:ext uri="{0D108BD9-81ED-4DB2-BD59-A6C34878D82A}">
                    <a16:rowId xmlns:a16="http://schemas.microsoft.com/office/drawing/2014/main" val="10011"/>
                  </a:ext>
                </a:extLst>
              </a:tr>
            </a:tbl>
          </a:graphicData>
        </a:graphic>
      </p:graphicFrame>
      <p:sp>
        <p:nvSpPr>
          <p:cNvPr id="8270" name="Line 104">
            <a:extLst>
              <a:ext uri="{FF2B5EF4-FFF2-40B4-BE49-F238E27FC236}">
                <a16:creationId xmlns:a16="http://schemas.microsoft.com/office/drawing/2014/main" id="{EF100293-DB68-7E45-A58D-D39894F30BF4}"/>
              </a:ext>
            </a:extLst>
          </p:cNvPr>
          <p:cNvSpPr>
            <a:spLocks noChangeShapeType="1"/>
          </p:cNvSpPr>
          <p:nvPr/>
        </p:nvSpPr>
        <p:spPr bwMode="auto">
          <a:xfrm>
            <a:off x="1905000" y="1752600"/>
            <a:ext cx="79248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8271" name="Line 105">
            <a:extLst>
              <a:ext uri="{FF2B5EF4-FFF2-40B4-BE49-F238E27FC236}">
                <a16:creationId xmlns:a16="http://schemas.microsoft.com/office/drawing/2014/main" id="{CD07CC47-6522-EF47-ADC6-737C4EA2A69F}"/>
              </a:ext>
            </a:extLst>
          </p:cNvPr>
          <p:cNvSpPr>
            <a:spLocks noChangeShapeType="1"/>
          </p:cNvSpPr>
          <p:nvPr/>
        </p:nvSpPr>
        <p:spPr bwMode="auto">
          <a:xfrm>
            <a:off x="1981200" y="914400"/>
            <a:ext cx="82296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8272" name="Line 106">
            <a:extLst>
              <a:ext uri="{FF2B5EF4-FFF2-40B4-BE49-F238E27FC236}">
                <a16:creationId xmlns:a16="http://schemas.microsoft.com/office/drawing/2014/main" id="{B9E53492-E463-9744-BAFB-4D8D31414860}"/>
              </a:ext>
            </a:extLst>
          </p:cNvPr>
          <p:cNvSpPr>
            <a:spLocks noChangeShapeType="1"/>
          </p:cNvSpPr>
          <p:nvPr/>
        </p:nvSpPr>
        <p:spPr bwMode="auto">
          <a:xfrm>
            <a:off x="1773529" y="3837361"/>
            <a:ext cx="8153400" cy="0"/>
          </a:xfrm>
          <a:prstGeom prst="line">
            <a:avLst/>
          </a:prstGeom>
          <a:noFill/>
          <a:ln w="19050">
            <a:solidFill>
              <a:srgbClr val="990033"/>
            </a:solidFill>
            <a:prstDash val="dashDot"/>
            <a:round/>
            <a:headEnd/>
            <a:tailEnd/>
          </a:ln>
          <a:extLst>
            <a:ext uri="{909E8E84-426E-40DD-AFC4-6F175D3DCCD1}">
              <a14:hiddenFill xmlns:a14="http://schemas.microsoft.com/office/drawing/2010/main">
                <a:noFill/>
              </a14:hiddenFill>
            </a:ext>
          </a:extLst>
        </p:spPr>
        <p:txBody>
          <a:bodyPr/>
          <a:lstStyle/>
          <a:p>
            <a:endParaRPr lang="en-MX"/>
          </a:p>
        </p:txBody>
      </p:sp>
      <p:sp>
        <p:nvSpPr>
          <p:cNvPr id="8273" name="Text Box 107">
            <a:extLst>
              <a:ext uri="{FF2B5EF4-FFF2-40B4-BE49-F238E27FC236}">
                <a16:creationId xmlns:a16="http://schemas.microsoft.com/office/drawing/2014/main" id="{00387560-34EA-EC4D-887D-6BFC6C4C5306}"/>
              </a:ext>
            </a:extLst>
          </p:cNvPr>
          <p:cNvSpPr txBox="1">
            <a:spLocks noChangeArrowheads="1"/>
          </p:cNvSpPr>
          <p:nvPr/>
        </p:nvSpPr>
        <p:spPr bwMode="auto">
          <a:xfrm>
            <a:off x="7543801" y="4873625"/>
            <a:ext cx="2803525" cy="1320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a:t>Budget $180</a:t>
            </a:r>
            <a:r>
              <a:rPr lang="en-US" altLang="en-MX" b="0"/>
              <a:t>:</a:t>
            </a:r>
          </a:p>
          <a:p>
            <a:r>
              <a:rPr lang="en-US" altLang="en-MX" b="0"/>
              <a:t>Best we can do </a:t>
            </a:r>
            <a:r>
              <a:rPr lang="en-US" altLang="en-MX" b="0" i="1"/>
              <a:t>without</a:t>
            </a:r>
          </a:p>
          <a:p>
            <a:r>
              <a:rPr lang="en-US" altLang="en-MX" b="0"/>
              <a:t>Program H is D,E,F,C,</a:t>
            </a:r>
          </a:p>
          <a:p>
            <a:r>
              <a:rPr lang="en-US" altLang="en-MX" b="0"/>
              <a:t>and (24/27)A (=261.7).</a:t>
            </a:r>
          </a:p>
        </p:txBody>
      </p:sp>
      <p:sp>
        <p:nvSpPr>
          <p:cNvPr id="1002614" name="Line 118">
            <a:extLst>
              <a:ext uri="{FF2B5EF4-FFF2-40B4-BE49-F238E27FC236}">
                <a16:creationId xmlns:a16="http://schemas.microsoft.com/office/drawing/2014/main" id="{2F246A0F-47FA-0642-99AC-BE00FB6FCEAE}"/>
              </a:ext>
            </a:extLst>
          </p:cNvPr>
          <p:cNvSpPr>
            <a:spLocks noChangeShapeType="1"/>
          </p:cNvSpPr>
          <p:nvPr/>
        </p:nvSpPr>
        <p:spPr bwMode="auto">
          <a:xfrm>
            <a:off x="6096000" y="4495800"/>
            <a:ext cx="990600" cy="2286000"/>
          </a:xfrm>
          <a:prstGeom prst="line">
            <a:avLst/>
          </a:prstGeom>
          <a:noFill/>
          <a:ln w="28575">
            <a:solidFill>
              <a:srgbClr val="990033"/>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1002615" name="Line 119">
            <a:extLst>
              <a:ext uri="{FF2B5EF4-FFF2-40B4-BE49-F238E27FC236}">
                <a16:creationId xmlns:a16="http://schemas.microsoft.com/office/drawing/2014/main" id="{07AF50BE-4550-CF48-8D0B-FF480CADDBF5}"/>
              </a:ext>
            </a:extLst>
          </p:cNvPr>
          <p:cNvSpPr>
            <a:spLocks noChangeShapeType="1"/>
          </p:cNvSpPr>
          <p:nvPr/>
        </p:nvSpPr>
        <p:spPr bwMode="auto">
          <a:xfrm flipH="1">
            <a:off x="6172200" y="4495800"/>
            <a:ext cx="914400" cy="2286000"/>
          </a:xfrm>
          <a:prstGeom prst="line">
            <a:avLst/>
          </a:prstGeom>
          <a:noFill/>
          <a:ln w="28575">
            <a:solidFill>
              <a:srgbClr val="990033"/>
            </a:solidFill>
            <a:round/>
            <a:headEnd/>
            <a:tailEnd/>
          </a:ln>
          <a:extLst>
            <a:ext uri="{909E8E84-426E-40DD-AFC4-6F175D3DCCD1}">
              <a14:hiddenFill xmlns:a14="http://schemas.microsoft.com/office/drawing/2010/main">
                <a:noFill/>
              </a14:hiddenFill>
            </a:ext>
          </a:extLst>
        </p:spPr>
        <p:txBody>
          <a:bodyPr/>
          <a:lstStyle/>
          <a:p>
            <a:endParaRPr lang="en-MX"/>
          </a:p>
        </p:txBody>
      </p:sp>
    </p:spTree>
    <p:extLst>
      <p:ext uri="{BB962C8B-B14F-4D97-AF65-F5344CB8AC3E}">
        <p14:creationId xmlns:p14="http://schemas.microsoft.com/office/powerpoint/2010/main" val="67263631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026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026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6594" name="Rectangle 2">
            <a:extLst>
              <a:ext uri="{FF2B5EF4-FFF2-40B4-BE49-F238E27FC236}">
                <a16:creationId xmlns:a16="http://schemas.microsoft.com/office/drawing/2014/main" id="{4CB2F74C-EABA-814D-AEB1-7E9321682FCD}"/>
              </a:ext>
            </a:extLst>
          </p:cNvPr>
          <p:cNvSpPr>
            <a:spLocks noGrp="1" noChangeArrowheads="1"/>
          </p:cNvSpPr>
          <p:nvPr>
            <p:ph type="title"/>
          </p:nvPr>
        </p:nvSpPr>
        <p:spPr>
          <a:xfrm>
            <a:off x="845389" y="457200"/>
            <a:ext cx="10403456" cy="762000"/>
          </a:xfrm>
        </p:spPr>
        <p:txBody>
          <a:bodyPr/>
          <a:lstStyle/>
          <a:p>
            <a:pPr>
              <a:defRPr/>
            </a:pPr>
            <a:r>
              <a:rPr lang="en-US" dirty="0"/>
              <a:t>Competing Choice Solution</a:t>
            </a:r>
          </a:p>
        </p:txBody>
      </p:sp>
      <p:sp>
        <p:nvSpPr>
          <p:cNvPr id="9219" name="Rectangle 3">
            <a:extLst>
              <a:ext uri="{FF2B5EF4-FFF2-40B4-BE49-F238E27FC236}">
                <a16:creationId xmlns:a16="http://schemas.microsoft.com/office/drawing/2014/main" id="{A8E64D37-1CFF-C946-9D5D-5DF75C9992E8}"/>
              </a:ext>
            </a:extLst>
          </p:cNvPr>
          <p:cNvSpPr>
            <a:spLocks noGrp="1" noChangeArrowheads="1"/>
          </p:cNvSpPr>
          <p:nvPr>
            <p:ph type="body" idx="1"/>
          </p:nvPr>
        </p:nvSpPr>
        <p:spPr>
          <a:xfrm>
            <a:off x="845389" y="1295400"/>
            <a:ext cx="10403456" cy="5334000"/>
          </a:xfrm>
        </p:spPr>
        <p:txBody>
          <a:bodyPr/>
          <a:lstStyle/>
          <a:p>
            <a:r>
              <a:rPr lang="en-US" altLang="en-MX" sz="3000" dirty="0"/>
              <a:t>Arrange the competing programs in increasing order of cost</a:t>
            </a:r>
          </a:p>
          <a:p>
            <a:r>
              <a:rPr lang="en-US" altLang="en-MX" sz="3000" dirty="0"/>
              <a:t>Exclude the strongly dominated options</a:t>
            </a:r>
          </a:p>
          <a:p>
            <a:r>
              <a:rPr lang="en-US" altLang="en-MX" sz="3000" dirty="0"/>
              <a:t>Calculate incremental C/E for remaining options</a:t>
            </a:r>
          </a:p>
          <a:p>
            <a:r>
              <a:rPr lang="en-US" altLang="en-MX" sz="3000" dirty="0"/>
              <a:t>Exclude the weakly dominated options</a:t>
            </a:r>
          </a:p>
          <a:p>
            <a:r>
              <a:rPr lang="en-US" altLang="en-MX" sz="3000" dirty="0"/>
              <a:t>Recalculate incremental C/E for remaining options</a:t>
            </a:r>
          </a:p>
          <a:p>
            <a:r>
              <a:rPr lang="en-US" altLang="en-MX" sz="3000" dirty="0"/>
              <a:t>Repeat until remaining options are in increasing order of C/E</a:t>
            </a:r>
          </a:p>
        </p:txBody>
      </p:sp>
    </p:spTree>
    <p:extLst>
      <p:ext uri="{BB962C8B-B14F-4D97-AF65-F5344CB8AC3E}">
        <p14:creationId xmlns:p14="http://schemas.microsoft.com/office/powerpoint/2010/main" val="252355072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3D3A2808-FAA1-0540-B694-75FFF693DD94}"/>
              </a:ext>
            </a:extLst>
          </p:cNvPr>
          <p:cNvSpPr>
            <a:spLocks noChangeArrowheads="1"/>
          </p:cNvSpPr>
          <p:nvPr/>
        </p:nvSpPr>
        <p:spPr bwMode="auto">
          <a:xfrm>
            <a:off x="2209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10243" name="Rectangle 3">
            <a:extLst>
              <a:ext uri="{FF2B5EF4-FFF2-40B4-BE49-F238E27FC236}">
                <a16:creationId xmlns:a16="http://schemas.microsoft.com/office/drawing/2014/main" id="{E0EF8A00-D685-D144-807F-66A2B26C2C93}"/>
              </a:ext>
            </a:extLst>
          </p:cNvPr>
          <p:cNvSpPr>
            <a:spLocks noChangeArrowheads="1"/>
          </p:cNvSpPr>
          <p:nvPr/>
        </p:nvSpPr>
        <p:spPr bwMode="auto">
          <a:xfrm>
            <a:off x="4648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1007620" name="Rectangle 4">
            <a:extLst>
              <a:ext uri="{FF2B5EF4-FFF2-40B4-BE49-F238E27FC236}">
                <a16:creationId xmlns:a16="http://schemas.microsoft.com/office/drawing/2014/main" id="{0FE10C47-8C0C-D04F-8AA1-360FC2895555}"/>
              </a:ext>
            </a:extLst>
          </p:cNvPr>
          <p:cNvSpPr>
            <a:spLocks noGrp="1" noChangeArrowheads="1"/>
          </p:cNvSpPr>
          <p:nvPr>
            <p:ph type="title"/>
          </p:nvPr>
        </p:nvSpPr>
        <p:spPr>
          <a:xfrm>
            <a:off x="914399" y="152400"/>
            <a:ext cx="10325819" cy="1523999"/>
          </a:xfrm>
        </p:spPr>
        <p:txBody>
          <a:bodyPr>
            <a:normAutofit/>
          </a:bodyPr>
          <a:lstStyle/>
          <a:p>
            <a:pPr>
              <a:defRPr/>
            </a:pPr>
            <a:r>
              <a:rPr lang="en-US" dirty="0"/>
              <a:t>Review: Competing Choice</a:t>
            </a:r>
            <a:br>
              <a:rPr lang="en-US" dirty="0"/>
            </a:br>
            <a:r>
              <a:rPr lang="en-US" dirty="0"/>
              <a:t> Incremental Cost-Effectiveness Analysis</a:t>
            </a:r>
          </a:p>
        </p:txBody>
      </p:sp>
      <p:graphicFrame>
        <p:nvGraphicFramePr>
          <p:cNvPr id="1007621" name="Group 5">
            <a:extLst>
              <a:ext uri="{FF2B5EF4-FFF2-40B4-BE49-F238E27FC236}">
                <a16:creationId xmlns:a16="http://schemas.microsoft.com/office/drawing/2014/main" id="{D9982922-A5E7-BE48-9437-99D6C8946379}"/>
              </a:ext>
            </a:extLst>
          </p:cNvPr>
          <p:cNvGraphicFramePr>
            <a:graphicFrameLocks noGrp="1"/>
          </p:cNvGraphicFramePr>
          <p:nvPr/>
        </p:nvGraphicFramePr>
        <p:xfrm>
          <a:off x="2362200" y="2743201"/>
          <a:ext cx="7467600" cy="3808413"/>
        </p:xfrm>
        <a:graphic>
          <a:graphicData uri="http://schemas.openxmlformats.org/drawingml/2006/table">
            <a:tbl>
              <a:tblPr/>
              <a:tblGrid>
                <a:gridCol w="1268413">
                  <a:extLst>
                    <a:ext uri="{9D8B030D-6E8A-4147-A177-3AD203B41FA5}">
                      <a16:colId xmlns:a16="http://schemas.microsoft.com/office/drawing/2014/main" val="20000"/>
                    </a:ext>
                  </a:extLst>
                </a:gridCol>
                <a:gridCol w="1193800">
                  <a:extLst>
                    <a:ext uri="{9D8B030D-6E8A-4147-A177-3AD203B41FA5}">
                      <a16:colId xmlns:a16="http://schemas.microsoft.com/office/drawing/2014/main" val="20001"/>
                    </a:ext>
                  </a:extLst>
                </a:gridCol>
                <a:gridCol w="1157287">
                  <a:extLst>
                    <a:ext uri="{9D8B030D-6E8A-4147-A177-3AD203B41FA5}">
                      <a16:colId xmlns:a16="http://schemas.microsoft.com/office/drawing/2014/main" val="20002"/>
                    </a:ext>
                  </a:extLst>
                </a:gridCol>
                <a:gridCol w="1035050">
                  <a:extLst>
                    <a:ext uri="{9D8B030D-6E8A-4147-A177-3AD203B41FA5}">
                      <a16:colId xmlns:a16="http://schemas.microsoft.com/office/drawing/2014/main" val="20003"/>
                    </a:ext>
                  </a:extLst>
                </a:gridCol>
                <a:gridCol w="1109663">
                  <a:extLst>
                    <a:ext uri="{9D8B030D-6E8A-4147-A177-3AD203B41FA5}">
                      <a16:colId xmlns:a16="http://schemas.microsoft.com/office/drawing/2014/main" val="20004"/>
                    </a:ext>
                  </a:extLst>
                </a:gridCol>
                <a:gridCol w="812800">
                  <a:extLst>
                    <a:ext uri="{9D8B030D-6E8A-4147-A177-3AD203B41FA5}">
                      <a16:colId xmlns:a16="http://schemas.microsoft.com/office/drawing/2014/main" val="20005"/>
                    </a:ext>
                  </a:extLst>
                </a:gridCol>
                <a:gridCol w="890587">
                  <a:extLst>
                    <a:ext uri="{9D8B030D-6E8A-4147-A177-3AD203B41FA5}">
                      <a16:colId xmlns:a16="http://schemas.microsoft.com/office/drawing/2014/main" val="20006"/>
                    </a:ext>
                  </a:extLst>
                </a:gridCol>
              </a:tblGrid>
              <a:tr h="121761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Program</a:t>
                      </a:r>
                    </a:p>
                  </a:txBody>
                  <a:tcPr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Cost ($)</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Effect</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1" u="none" strike="noStrike" cap="none" normalizeH="0" baseline="0">
                          <a:ln>
                            <a:noFill/>
                          </a:ln>
                          <a:solidFill>
                            <a:schemeClr val="tx1"/>
                          </a:solidFill>
                          <a:effectLst/>
                          <a:latin typeface="Arial" charset="0"/>
                        </a:rPr>
                        <a:t>Avg</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1" u="none" strike="noStrike" cap="none" normalizeH="0" baseline="0">
                          <a:ln>
                            <a:noFill/>
                          </a:ln>
                          <a:solidFill>
                            <a:schemeClr val="tx1"/>
                          </a:solidFill>
                          <a:effectLst/>
                          <a:latin typeface="Arial" charset="0"/>
                        </a:rPr>
                        <a:t>C/E</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Inc.</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Costs</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Inc.</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Eff.</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Inc.</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C/E</a:t>
                      </a:r>
                    </a:p>
                  </a:txBody>
                  <a:tcPr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45561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H4</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22</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460375">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H2</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65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45561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H5</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60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45561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H3</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70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45561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H1</a:t>
                      </a:r>
                    </a:p>
                  </a:txBody>
                  <a:tcPr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60</a:t>
                      </a: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80</a:t>
                      </a: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0288" name="Line 74">
            <a:extLst>
              <a:ext uri="{FF2B5EF4-FFF2-40B4-BE49-F238E27FC236}">
                <a16:creationId xmlns:a16="http://schemas.microsoft.com/office/drawing/2014/main" id="{C2C823ED-B7C9-F44A-AF57-27107CCBE23C}"/>
              </a:ext>
            </a:extLst>
          </p:cNvPr>
          <p:cNvSpPr>
            <a:spLocks noChangeShapeType="1"/>
          </p:cNvSpPr>
          <p:nvPr/>
        </p:nvSpPr>
        <p:spPr bwMode="auto">
          <a:xfrm>
            <a:off x="2057400" y="2667000"/>
            <a:ext cx="80010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10289" name="Line 76">
            <a:extLst>
              <a:ext uri="{FF2B5EF4-FFF2-40B4-BE49-F238E27FC236}">
                <a16:creationId xmlns:a16="http://schemas.microsoft.com/office/drawing/2014/main" id="{5C0208BB-8278-D24A-A2F2-D0FF842C8515}"/>
              </a:ext>
            </a:extLst>
          </p:cNvPr>
          <p:cNvSpPr>
            <a:spLocks noChangeShapeType="1"/>
          </p:cNvSpPr>
          <p:nvPr/>
        </p:nvSpPr>
        <p:spPr bwMode="auto">
          <a:xfrm>
            <a:off x="2057400" y="3886200"/>
            <a:ext cx="80010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10290" name="Line 77">
            <a:extLst>
              <a:ext uri="{FF2B5EF4-FFF2-40B4-BE49-F238E27FC236}">
                <a16:creationId xmlns:a16="http://schemas.microsoft.com/office/drawing/2014/main" id="{A9EB6D07-1175-C648-ABAB-D8CA61C431D5}"/>
              </a:ext>
            </a:extLst>
          </p:cNvPr>
          <p:cNvSpPr>
            <a:spLocks noChangeShapeType="1"/>
          </p:cNvSpPr>
          <p:nvPr/>
        </p:nvSpPr>
        <p:spPr bwMode="auto">
          <a:xfrm>
            <a:off x="6172200" y="2819400"/>
            <a:ext cx="685800" cy="685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10291" name="Line 78">
            <a:extLst>
              <a:ext uri="{FF2B5EF4-FFF2-40B4-BE49-F238E27FC236}">
                <a16:creationId xmlns:a16="http://schemas.microsoft.com/office/drawing/2014/main" id="{89179CDC-2E4A-DA46-9BF3-7D1891C2C97C}"/>
              </a:ext>
            </a:extLst>
          </p:cNvPr>
          <p:cNvSpPr>
            <a:spLocks noChangeShapeType="1"/>
          </p:cNvSpPr>
          <p:nvPr/>
        </p:nvSpPr>
        <p:spPr bwMode="auto">
          <a:xfrm flipV="1">
            <a:off x="6172200" y="2819400"/>
            <a:ext cx="685800" cy="685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10292" name="Text Box 79">
            <a:extLst>
              <a:ext uri="{FF2B5EF4-FFF2-40B4-BE49-F238E27FC236}">
                <a16:creationId xmlns:a16="http://schemas.microsoft.com/office/drawing/2014/main" id="{B9E6329C-BC45-9B45-B0A7-1AD5616A3812}"/>
              </a:ext>
            </a:extLst>
          </p:cNvPr>
          <p:cNvSpPr txBox="1">
            <a:spLocks noChangeArrowheads="1"/>
          </p:cNvSpPr>
          <p:nvPr/>
        </p:nvSpPr>
        <p:spPr bwMode="auto">
          <a:xfrm>
            <a:off x="2209800" y="1676400"/>
            <a:ext cx="7772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a:r>
              <a:rPr lang="en-US" altLang="en-MX" sz="3200" b="0" dirty="0">
                <a:solidFill>
                  <a:srgbClr val="3333FF"/>
                </a:solidFill>
              </a:rPr>
              <a:t>Step 1: Rank in order of increasing costs</a:t>
            </a:r>
          </a:p>
        </p:txBody>
      </p:sp>
    </p:spTree>
    <p:extLst>
      <p:ext uri="{BB962C8B-B14F-4D97-AF65-F5344CB8AC3E}">
        <p14:creationId xmlns:p14="http://schemas.microsoft.com/office/powerpoint/2010/main" val="1009611340"/>
      </p:ext>
    </p:extLst>
  </p:cSld>
  <p:clrMapOvr>
    <a:masterClrMapping/>
  </p:clrMapOvr>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B10BF911-9841-E14F-BAD2-9A914A802366}"/>
              </a:ext>
            </a:extLst>
          </p:cNvPr>
          <p:cNvSpPr>
            <a:spLocks noChangeArrowheads="1"/>
          </p:cNvSpPr>
          <p:nvPr/>
        </p:nvSpPr>
        <p:spPr bwMode="auto">
          <a:xfrm>
            <a:off x="2209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11267" name="Rectangle 3">
            <a:extLst>
              <a:ext uri="{FF2B5EF4-FFF2-40B4-BE49-F238E27FC236}">
                <a16:creationId xmlns:a16="http://schemas.microsoft.com/office/drawing/2014/main" id="{AD5A038D-C7E4-114C-91A2-CEFFB178BE54}"/>
              </a:ext>
            </a:extLst>
          </p:cNvPr>
          <p:cNvSpPr>
            <a:spLocks noChangeArrowheads="1"/>
          </p:cNvSpPr>
          <p:nvPr/>
        </p:nvSpPr>
        <p:spPr bwMode="auto">
          <a:xfrm>
            <a:off x="4648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graphicFrame>
        <p:nvGraphicFramePr>
          <p:cNvPr id="1009669" name="Group 5">
            <a:extLst>
              <a:ext uri="{FF2B5EF4-FFF2-40B4-BE49-F238E27FC236}">
                <a16:creationId xmlns:a16="http://schemas.microsoft.com/office/drawing/2014/main" id="{3B171B59-4725-F244-8BEA-D08C182A989C}"/>
              </a:ext>
            </a:extLst>
          </p:cNvPr>
          <p:cNvGraphicFramePr>
            <a:graphicFrameLocks noGrp="1"/>
          </p:cNvGraphicFramePr>
          <p:nvPr/>
        </p:nvGraphicFramePr>
        <p:xfrm>
          <a:off x="2362200" y="2743201"/>
          <a:ext cx="7467600" cy="3808413"/>
        </p:xfrm>
        <a:graphic>
          <a:graphicData uri="http://schemas.openxmlformats.org/drawingml/2006/table">
            <a:tbl>
              <a:tblPr/>
              <a:tblGrid>
                <a:gridCol w="1268413">
                  <a:extLst>
                    <a:ext uri="{9D8B030D-6E8A-4147-A177-3AD203B41FA5}">
                      <a16:colId xmlns:a16="http://schemas.microsoft.com/office/drawing/2014/main" val="20000"/>
                    </a:ext>
                  </a:extLst>
                </a:gridCol>
                <a:gridCol w="1193800">
                  <a:extLst>
                    <a:ext uri="{9D8B030D-6E8A-4147-A177-3AD203B41FA5}">
                      <a16:colId xmlns:a16="http://schemas.microsoft.com/office/drawing/2014/main" val="20001"/>
                    </a:ext>
                  </a:extLst>
                </a:gridCol>
                <a:gridCol w="1157287">
                  <a:extLst>
                    <a:ext uri="{9D8B030D-6E8A-4147-A177-3AD203B41FA5}">
                      <a16:colId xmlns:a16="http://schemas.microsoft.com/office/drawing/2014/main" val="20002"/>
                    </a:ext>
                  </a:extLst>
                </a:gridCol>
                <a:gridCol w="1035050">
                  <a:extLst>
                    <a:ext uri="{9D8B030D-6E8A-4147-A177-3AD203B41FA5}">
                      <a16:colId xmlns:a16="http://schemas.microsoft.com/office/drawing/2014/main" val="20003"/>
                    </a:ext>
                  </a:extLst>
                </a:gridCol>
                <a:gridCol w="1109663">
                  <a:extLst>
                    <a:ext uri="{9D8B030D-6E8A-4147-A177-3AD203B41FA5}">
                      <a16:colId xmlns:a16="http://schemas.microsoft.com/office/drawing/2014/main" val="20004"/>
                    </a:ext>
                  </a:extLst>
                </a:gridCol>
                <a:gridCol w="812800">
                  <a:extLst>
                    <a:ext uri="{9D8B030D-6E8A-4147-A177-3AD203B41FA5}">
                      <a16:colId xmlns:a16="http://schemas.microsoft.com/office/drawing/2014/main" val="20005"/>
                    </a:ext>
                  </a:extLst>
                </a:gridCol>
                <a:gridCol w="890587">
                  <a:extLst>
                    <a:ext uri="{9D8B030D-6E8A-4147-A177-3AD203B41FA5}">
                      <a16:colId xmlns:a16="http://schemas.microsoft.com/office/drawing/2014/main" val="20006"/>
                    </a:ext>
                  </a:extLst>
                </a:gridCol>
              </a:tblGrid>
              <a:tr h="121761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Program</a:t>
                      </a:r>
                    </a:p>
                  </a:txBody>
                  <a:tcPr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Cost ($)</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Effect</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1" u="none" strike="noStrike" cap="none" normalizeH="0" baseline="0">
                          <a:ln>
                            <a:noFill/>
                          </a:ln>
                          <a:solidFill>
                            <a:schemeClr val="tx1"/>
                          </a:solidFill>
                          <a:effectLst/>
                          <a:latin typeface="Arial" charset="0"/>
                        </a:rPr>
                        <a:t>Avg</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1" u="none" strike="noStrike" cap="none" normalizeH="0" baseline="0">
                          <a:ln>
                            <a:noFill/>
                          </a:ln>
                          <a:solidFill>
                            <a:schemeClr val="tx1"/>
                          </a:solidFill>
                          <a:effectLst/>
                          <a:latin typeface="Arial" charset="0"/>
                        </a:rPr>
                        <a:t>C/E</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Inc.</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Costs</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Inc.</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Eff.</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Inc.</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C/E</a:t>
                      </a:r>
                    </a:p>
                  </a:txBody>
                  <a:tcPr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45561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H4</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22</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460375">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H2</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65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45561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H5</a:t>
                      </a:r>
                    </a:p>
                  </a:txBody>
                  <a:tcPr horzOverflow="overflow">
                    <a:lnL cap="flat">
                      <a:noFill/>
                    </a:lnL>
                    <a:lnR>
                      <a:noFill/>
                    </a:lnR>
                    <a:lnT>
                      <a:noFill/>
                    </a:lnT>
                    <a:lnB>
                      <a:noFill/>
                    </a:lnB>
                    <a:lnTlToBr>
                      <a:noFill/>
                    </a:lnTlToBr>
                    <a:lnBlToTr>
                      <a:noFill/>
                    </a:lnBlToTr>
                    <a:blipFill dpi="0" rotWithShape="1">
                      <a:blip r:embed="rId3"/>
                      <a:srcRect/>
                      <a:tile tx="0" ty="0" sx="100000" sy="100000" flip="none" algn="tl"/>
                    </a:blip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45</a:t>
                      </a:r>
                    </a:p>
                  </a:txBody>
                  <a:tcPr horzOverflow="overflow">
                    <a:lnL>
                      <a:noFill/>
                    </a:lnL>
                    <a:lnR>
                      <a:noFill/>
                    </a:lnR>
                    <a:lnT>
                      <a:noFill/>
                    </a:lnT>
                    <a:lnB>
                      <a:noFill/>
                    </a:lnB>
                    <a:lnTlToBr>
                      <a:noFill/>
                    </a:lnTlToBr>
                    <a:lnBlToTr>
                      <a:noFill/>
                    </a:lnBlToTr>
                    <a:blipFill dpi="0" rotWithShape="1">
                      <a:blip r:embed="rId3"/>
                      <a:srcRect/>
                      <a:tile tx="0" ty="0" sx="100000" sy="100000" flip="none" algn="tl"/>
                    </a:blip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60</a:t>
                      </a:r>
                    </a:p>
                  </a:txBody>
                  <a:tcPr horzOverflow="overflow">
                    <a:lnL>
                      <a:noFill/>
                    </a:lnL>
                    <a:lnR>
                      <a:noFill/>
                    </a:lnR>
                    <a:lnT>
                      <a:noFill/>
                    </a:lnT>
                    <a:lnB>
                      <a:noFill/>
                    </a:lnB>
                    <a:lnTlToBr>
                      <a:noFill/>
                    </a:lnTlToBr>
                    <a:lnBlToTr>
                      <a:noFill/>
                    </a:lnBlToTr>
                    <a:blipFill dpi="0" rotWithShape="1">
                      <a:blip r:embed="rId3"/>
                      <a:srcRect/>
                      <a:tile tx="0" ty="0" sx="100000" sy="100000" flip="none" algn="tl"/>
                    </a:blip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blipFill dpi="0" rotWithShape="1">
                      <a:blip r:embed="rId3"/>
                      <a:srcRect/>
                      <a:tile tx="0" ty="0" sx="100000" sy="100000" flip="none" algn="tl"/>
                    </a:blip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blipFill dpi="0" rotWithShape="1">
                      <a:blip r:embed="rId3"/>
                      <a:srcRect/>
                      <a:tile tx="0" ty="0" sx="100000" sy="100000" flip="none" algn="tl"/>
                    </a:blip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blipFill dpi="0" rotWithShape="1">
                      <a:blip r:embed="rId3"/>
                      <a:srcRect/>
                      <a:tile tx="0" ty="0" sx="100000" sy="100000" flip="none" algn="tl"/>
                    </a:blip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cap="flat">
                      <a:noFill/>
                    </a:lnR>
                    <a:lnT>
                      <a:noFill/>
                    </a:lnT>
                    <a:lnB>
                      <a:noFill/>
                    </a:lnB>
                    <a:lnTlToBr>
                      <a:noFill/>
                    </a:lnTlToBr>
                    <a:lnBlToTr>
                      <a:noFill/>
                    </a:lnBlToTr>
                    <a:blipFill dpi="0" rotWithShape="1">
                      <a:blip r:embed="rId3"/>
                      <a:srcRect/>
                      <a:tile tx="0" ty="0" sx="100000" sy="100000" flip="none" algn="tl"/>
                    </a:blipFill>
                  </a:tcPr>
                </a:tc>
                <a:extLst>
                  <a:ext uri="{0D108BD9-81ED-4DB2-BD59-A6C34878D82A}">
                    <a16:rowId xmlns:a16="http://schemas.microsoft.com/office/drawing/2014/main" val="10003"/>
                  </a:ext>
                </a:extLst>
              </a:tr>
              <a:tr h="45561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H3</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55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70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45561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H1</a:t>
                      </a:r>
                    </a:p>
                  </a:txBody>
                  <a:tcPr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60</a:t>
                      </a: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80</a:t>
                      </a: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1312" name="Line 74">
            <a:extLst>
              <a:ext uri="{FF2B5EF4-FFF2-40B4-BE49-F238E27FC236}">
                <a16:creationId xmlns:a16="http://schemas.microsoft.com/office/drawing/2014/main" id="{94E5AD01-997F-0D4A-8046-A6AB71AEE0DF}"/>
              </a:ext>
            </a:extLst>
          </p:cNvPr>
          <p:cNvSpPr>
            <a:spLocks noChangeShapeType="1"/>
          </p:cNvSpPr>
          <p:nvPr/>
        </p:nvSpPr>
        <p:spPr bwMode="auto">
          <a:xfrm>
            <a:off x="2057400" y="2590800"/>
            <a:ext cx="80010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11313" name="Line 76">
            <a:extLst>
              <a:ext uri="{FF2B5EF4-FFF2-40B4-BE49-F238E27FC236}">
                <a16:creationId xmlns:a16="http://schemas.microsoft.com/office/drawing/2014/main" id="{6B6FE915-7119-D74D-816E-E8BC3D5E0E93}"/>
              </a:ext>
            </a:extLst>
          </p:cNvPr>
          <p:cNvSpPr>
            <a:spLocks noChangeShapeType="1"/>
          </p:cNvSpPr>
          <p:nvPr/>
        </p:nvSpPr>
        <p:spPr bwMode="auto">
          <a:xfrm>
            <a:off x="2057400" y="3810000"/>
            <a:ext cx="80010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11314" name="Line 77">
            <a:extLst>
              <a:ext uri="{FF2B5EF4-FFF2-40B4-BE49-F238E27FC236}">
                <a16:creationId xmlns:a16="http://schemas.microsoft.com/office/drawing/2014/main" id="{B13D01C9-A608-254A-9AF0-719C2406BBC0}"/>
              </a:ext>
            </a:extLst>
          </p:cNvPr>
          <p:cNvSpPr>
            <a:spLocks noChangeShapeType="1"/>
          </p:cNvSpPr>
          <p:nvPr/>
        </p:nvSpPr>
        <p:spPr bwMode="auto">
          <a:xfrm>
            <a:off x="6172200" y="2819400"/>
            <a:ext cx="685800" cy="685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11315" name="Line 78">
            <a:extLst>
              <a:ext uri="{FF2B5EF4-FFF2-40B4-BE49-F238E27FC236}">
                <a16:creationId xmlns:a16="http://schemas.microsoft.com/office/drawing/2014/main" id="{D3341889-AF56-C340-A224-2E95886B1FD6}"/>
              </a:ext>
            </a:extLst>
          </p:cNvPr>
          <p:cNvSpPr>
            <a:spLocks noChangeShapeType="1"/>
          </p:cNvSpPr>
          <p:nvPr/>
        </p:nvSpPr>
        <p:spPr bwMode="auto">
          <a:xfrm flipV="1">
            <a:off x="6172200" y="2819400"/>
            <a:ext cx="685800" cy="685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11316" name="Text Box 79">
            <a:extLst>
              <a:ext uri="{FF2B5EF4-FFF2-40B4-BE49-F238E27FC236}">
                <a16:creationId xmlns:a16="http://schemas.microsoft.com/office/drawing/2014/main" id="{3E311F88-2364-F547-904F-CAE224FA1B1B}"/>
              </a:ext>
            </a:extLst>
          </p:cNvPr>
          <p:cNvSpPr txBox="1">
            <a:spLocks noChangeArrowheads="1"/>
          </p:cNvSpPr>
          <p:nvPr/>
        </p:nvSpPr>
        <p:spPr bwMode="auto">
          <a:xfrm>
            <a:off x="1752600" y="1600200"/>
            <a:ext cx="8686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a:r>
              <a:rPr lang="en-US" altLang="en-MX" sz="3200" b="0" dirty="0">
                <a:solidFill>
                  <a:srgbClr val="3333FF"/>
                </a:solidFill>
              </a:rPr>
              <a:t>Step 2: Check for strongly dominated options</a:t>
            </a:r>
          </a:p>
        </p:txBody>
      </p:sp>
      <p:sp>
        <p:nvSpPr>
          <p:cNvPr id="11317" name="Text Box 80">
            <a:extLst>
              <a:ext uri="{FF2B5EF4-FFF2-40B4-BE49-F238E27FC236}">
                <a16:creationId xmlns:a16="http://schemas.microsoft.com/office/drawing/2014/main" id="{3EB3CC87-6EBC-C64C-8402-1BE2B2CA5654}"/>
              </a:ext>
            </a:extLst>
          </p:cNvPr>
          <p:cNvSpPr txBox="1">
            <a:spLocks noChangeArrowheads="1"/>
          </p:cNvSpPr>
          <p:nvPr/>
        </p:nvSpPr>
        <p:spPr bwMode="auto">
          <a:xfrm>
            <a:off x="6019800" y="6016625"/>
            <a:ext cx="4173538" cy="406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b="0" i="1"/>
              <a:t>H5 eliminated by strong dominance</a:t>
            </a:r>
          </a:p>
        </p:txBody>
      </p:sp>
      <p:sp>
        <p:nvSpPr>
          <p:cNvPr id="11318" name="Line 81">
            <a:extLst>
              <a:ext uri="{FF2B5EF4-FFF2-40B4-BE49-F238E27FC236}">
                <a16:creationId xmlns:a16="http://schemas.microsoft.com/office/drawing/2014/main" id="{EDEEA351-4A4E-3A46-AC0C-26C062FE9972}"/>
              </a:ext>
            </a:extLst>
          </p:cNvPr>
          <p:cNvSpPr>
            <a:spLocks noChangeShapeType="1"/>
          </p:cNvSpPr>
          <p:nvPr/>
        </p:nvSpPr>
        <p:spPr bwMode="auto">
          <a:xfrm flipV="1">
            <a:off x="7391400" y="5410200"/>
            <a:ext cx="3810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MX"/>
          </a:p>
        </p:txBody>
      </p:sp>
      <p:sp>
        <p:nvSpPr>
          <p:cNvPr id="11319" name="Line 82">
            <a:extLst>
              <a:ext uri="{FF2B5EF4-FFF2-40B4-BE49-F238E27FC236}">
                <a16:creationId xmlns:a16="http://schemas.microsoft.com/office/drawing/2014/main" id="{DA6EB05E-D188-1344-AFBB-3071785440C4}"/>
              </a:ext>
            </a:extLst>
          </p:cNvPr>
          <p:cNvSpPr>
            <a:spLocks noChangeShapeType="1"/>
          </p:cNvSpPr>
          <p:nvPr/>
        </p:nvSpPr>
        <p:spPr bwMode="auto">
          <a:xfrm>
            <a:off x="2362200" y="5105400"/>
            <a:ext cx="7467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16" name="Rectangle 4">
            <a:extLst>
              <a:ext uri="{FF2B5EF4-FFF2-40B4-BE49-F238E27FC236}">
                <a16:creationId xmlns:a16="http://schemas.microsoft.com/office/drawing/2014/main" id="{4DF5705B-0096-6244-9FCF-DE5AA14C935D}"/>
              </a:ext>
            </a:extLst>
          </p:cNvPr>
          <p:cNvSpPr>
            <a:spLocks noGrp="1" noChangeArrowheads="1"/>
          </p:cNvSpPr>
          <p:nvPr>
            <p:ph type="title"/>
          </p:nvPr>
        </p:nvSpPr>
        <p:spPr>
          <a:xfrm>
            <a:off x="914399" y="152400"/>
            <a:ext cx="10325819" cy="1523999"/>
          </a:xfrm>
        </p:spPr>
        <p:txBody>
          <a:bodyPr>
            <a:normAutofit/>
          </a:bodyPr>
          <a:lstStyle/>
          <a:p>
            <a:pPr>
              <a:defRPr/>
            </a:pPr>
            <a:r>
              <a:rPr lang="en-US" dirty="0"/>
              <a:t>Review: Competing Choice</a:t>
            </a:r>
            <a:br>
              <a:rPr lang="en-US" dirty="0"/>
            </a:br>
            <a:r>
              <a:rPr lang="en-US" dirty="0"/>
              <a:t> Incremental Cost-Effectiveness Analysis</a:t>
            </a:r>
          </a:p>
        </p:txBody>
      </p:sp>
    </p:spTree>
    <p:extLst>
      <p:ext uri="{BB962C8B-B14F-4D97-AF65-F5344CB8AC3E}">
        <p14:creationId xmlns:p14="http://schemas.microsoft.com/office/powerpoint/2010/main" val="1665127237"/>
      </p:ext>
    </p:extLst>
  </p:cSld>
  <p:clrMapOvr>
    <a:masterClrMapping/>
  </p:clrMapOvr>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58BE9761-3722-CB4B-A84D-25851C10A3F9}"/>
              </a:ext>
            </a:extLst>
          </p:cNvPr>
          <p:cNvSpPr>
            <a:spLocks noChangeArrowheads="1"/>
          </p:cNvSpPr>
          <p:nvPr/>
        </p:nvSpPr>
        <p:spPr bwMode="auto">
          <a:xfrm>
            <a:off x="2209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12291" name="Rectangle 3">
            <a:extLst>
              <a:ext uri="{FF2B5EF4-FFF2-40B4-BE49-F238E27FC236}">
                <a16:creationId xmlns:a16="http://schemas.microsoft.com/office/drawing/2014/main" id="{56FB6590-F59E-684F-98A7-629D5E489742}"/>
              </a:ext>
            </a:extLst>
          </p:cNvPr>
          <p:cNvSpPr>
            <a:spLocks noChangeArrowheads="1"/>
          </p:cNvSpPr>
          <p:nvPr/>
        </p:nvSpPr>
        <p:spPr bwMode="auto">
          <a:xfrm>
            <a:off x="4648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graphicFrame>
        <p:nvGraphicFramePr>
          <p:cNvPr id="1088517" name="Group 5">
            <a:extLst>
              <a:ext uri="{FF2B5EF4-FFF2-40B4-BE49-F238E27FC236}">
                <a16:creationId xmlns:a16="http://schemas.microsoft.com/office/drawing/2014/main" id="{50E17E31-3D21-574D-8E46-0170DE6370DF}"/>
              </a:ext>
            </a:extLst>
          </p:cNvPr>
          <p:cNvGraphicFramePr>
            <a:graphicFrameLocks noGrp="1"/>
          </p:cNvGraphicFramePr>
          <p:nvPr/>
        </p:nvGraphicFramePr>
        <p:xfrm>
          <a:off x="2133600" y="2667001"/>
          <a:ext cx="7924800" cy="3979863"/>
        </p:xfrm>
        <a:graphic>
          <a:graphicData uri="http://schemas.openxmlformats.org/drawingml/2006/table">
            <a:tbl>
              <a:tblPr/>
              <a:tblGrid>
                <a:gridCol w="1524000">
                  <a:extLst>
                    <a:ext uri="{9D8B030D-6E8A-4147-A177-3AD203B41FA5}">
                      <a16:colId xmlns:a16="http://schemas.microsoft.com/office/drawing/2014/main" val="20000"/>
                    </a:ext>
                  </a:extLst>
                </a:gridCol>
                <a:gridCol w="1089025">
                  <a:extLst>
                    <a:ext uri="{9D8B030D-6E8A-4147-A177-3AD203B41FA5}">
                      <a16:colId xmlns:a16="http://schemas.microsoft.com/office/drawing/2014/main" val="20001"/>
                    </a:ext>
                  </a:extLst>
                </a:gridCol>
                <a:gridCol w="1228725">
                  <a:extLst>
                    <a:ext uri="{9D8B030D-6E8A-4147-A177-3AD203B41FA5}">
                      <a16:colId xmlns:a16="http://schemas.microsoft.com/office/drawing/2014/main" val="20002"/>
                    </a:ext>
                  </a:extLst>
                </a:gridCol>
                <a:gridCol w="1098550">
                  <a:extLst>
                    <a:ext uri="{9D8B030D-6E8A-4147-A177-3AD203B41FA5}">
                      <a16:colId xmlns:a16="http://schemas.microsoft.com/office/drawing/2014/main" val="20003"/>
                    </a:ext>
                  </a:extLst>
                </a:gridCol>
                <a:gridCol w="1176338">
                  <a:extLst>
                    <a:ext uri="{9D8B030D-6E8A-4147-A177-3AD203B41FA5}">
                      <a16:colId xmlns:a16="http://schemas.microsoft.com/office/drawing/2014/main" val="20004"/>
                    </a:ext>
                  </a:extLst>
                </a:gridCol>
                <a:gridCol w="863600">
                  <a:extLst>
                    <a:ext uri="{9D8B030D-6E8A-4147-A177-3AD203B41FA5}">
                      <a16:colId xmlns:a16="http://schemas.microsoft.com/office/drawing/2014/main" val="20005"/>
                    </a:ext>
                  </a:extLst>
                </a:gridCol>
                <a:gridCol w="944562">
                  <a:extLst>
                    <a:ext uri="{9D8B030D-6E8A-4147-A177-3AD203B41FA5}">
                      <a16:colId xmlns:a16="http://schemas.microsoft.com/office/drawing/2014/main" val="20006"/>
                    </a:ext>
                  </a:extLst>
                </a:gridCol>
              </a:tblGrid>
              <a:tr h="121761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Program</a:t>
                      </a:r>
                    </a:p>
                  </a:txBody>
                  <a:tcPr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Cost ($)</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Effect</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1" u="none" strike="noStrike" cap="none" normalizeH="0" baseline="0">
                          <a:ln>
                            <a:noFill/>
                          </a:ln>
                          <a:solidFill>
                            <a:schemeClr val="tx1"/>
                          </a:solidFill>
                          <a:effectLst/>
                          <a:latin typeface="Arial" charset="0"/>
                        </a:rPr>
                        <a:t>Avg</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1" u="none" strike="noStrike" cap="none" normalizeH="0" baseline="0">
                          <a:ln>
                            <a:noFill/>
                          </a:ln>
                          <a:solidFill>
                            <a:schemeClr val="tx1"/>
                          </a:solidFill>
                          <a:effectLst/>
                          <a:latin typeface="Arial" charset="0"/>
                        </a:rPr>
                        <a:t>C/E</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Inc.</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Costs</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Inc.</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Eff.</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Inc.</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C/E</a:t>
                      </a:r>
                    </a:p>
                  </a:txBody>
                  <a:tcPr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615950">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H4</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22</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40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0.55</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615950">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H2</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40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65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18</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25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0.72</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615950">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H3</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55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70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3.0</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45561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H1</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60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80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0.5</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45561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2336" name="Line 74">
            <a:extLst>
              <a:ext uri="{FF2B5EF4-FFF2-40B4-BE49-F238E27FC236}">
                <a16:creationId xmlns:a16="http://schemas.microsoft.com/office/drawing/2014/main" id="{F427AD48-0C91-6E4E-A896-886A5A62CAD6}"/>
              </a:ext>
            </a:extLst>
          </p:cNvPr>
          <p:cNvSpPr>
            <a:spLocks noChangeShapeType="1"/>
          </p:cNvSpPr>
          <p:nvPr/>
        </p:nvSpPr>
        <p:spPr bwMode="auto">
          <a:xfrm>
            <a:off x="2057400" y="2438400"/>
            <a:ext cx="80010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12337" name="Text Box 76">
            <a:extLst>
              <a:ext uri="{FF2B5EF4-FFF2-40B4-BE49-F238E27FC236}">
                <a16:creationId xmlns:a16="http://schemas.microsoft.com/office/drawing/2014/main" id="{903563E6-6591-AE48-9BFD-CB1DD2DB86DC}"/>
              </a:ext>
            </a:extLst>
          </p:cNvPr>
          <p:cNvSpPr txBox="1">
            <a:spLocks noChangeArrowheads="1"/>
          </p:cNvSpPr>
          <p:nvPr/>
        </p:nvSpPr>
        <p:spPr bwMode="auto">
          <a:xfrm>
            <a:off x="2209800" y="1600200"/>
            <a:ext cx="7772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a:r>
              <a:rPr lang="en-US" altLang="en-MX" sz="3200" b="0">
                <a:solidFill>
                  <a:srgbClr val="3333FF"/>
                </a:solidFill>
              </a:rPr>
              <a:t>Step 3: Calculate incremental CE ratios</a:t>
            </a:r>
          </a:p>
        </p:txBody>
      </p:sp>
      <p:sp>
        <p:nvSpPr>
          <p:cNvPr id="12338" name="Line 77">
            <a:extLst>
              <a:ext uri="{FF2B5EF4-FFF2-40B4-BE49-F238E27FC236}">
                <a16:creationId xmlns:a16="http://schemas.microsoft.com/office/drawing/2014/main" id="{AA236ED9-634E-1B46-928D-D603762C18C6}"/>
              </a:ext>
            </a:extLst>
          </p:cNvPr>
          <p:cNvSpPr>
            <a:spLocks noChangeShapeType="1"/>
          </p:cNvSpPr>
          <p:nvPr/>
        </p:nvSpPr>
        <p:spPr bwMode="auto">
          <a:xfrm>
            <a:off x="2057400" y="3657600"/>
            <a:ext cx="80010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12339" name="Line 78">
            <a:extLst>
              <a:ext uri="{FF2B5EF4-FFF2-40B4-BE49-F238E27FC236}">
                <a16:creationId xmlns:a16="http://schemas.microsoft.com/office/drawing/2014/main" id="{9CAA9719-1423-BD45-99D1-D64EBBEDF66E}"/>
              </a:ext>
            </a:extLst>
          </p:cNvPr>
          <p:cNvSpPr>
            <a:spLocks noChangeShapeType="1"/>
          </p:cNvSpPr>
          <p:nvPr/>
        </p:nvSpPr>
        <p:spPr bwMode="auto">
          <a:xfrm>
            <a:off x="6172200" y="2819400"/>
            <a:ext cx="685800" cy="685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12340" name="Line 79">
            <a:extLst>
              <a:ext uri="{FF2B5EF4-FFF2-40B4-BE49-F238E27FC236}">
                <a16:creationId xmlns:a16="http://schemas.microsoft.com/office/drawing/2014/main" id="{E0E594E2-CF84-B248-A2B9-075474269B19}"/>
              </a:ext>
            </a:extLst>
          </p:cNvPr>
          <p:cNvSpPr>
            <a:spLocks noChangeShapeType="1"/>
          </p:cNvSpPr>
          <p:nvPr/>
        </p:nvSpPr>
        <p:spPr bwMode="auto">
          <a:xfrm flipV="1">
            <a:off x="6172200" y="2819400"/>
            <a:ext cx="685800" cy="685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16" name="Rectangle 4">
            <a:extLst>
              <a:ext uri="{FF2B5EF4-FFF2-40B4-BE49-F238E27FC236}">
                <a16:creationId xmlns:a16="http://schemas.microsoft.com/office/drawing/2014/main" id="{1C2580E7-00F6-AD42-9103-2D85AAE09E47}"/>
              </a:ext>
            </a:extLst>
          </p:cNvPr>
          <p:cNvSpPr>
            <a:spLocks noGrp="1" noChangeArrowheads="1"/>
          </p:cNvSpPr>
          <p:nvPr>
            <p:ph type="title"/>
          </p:nvPr>
        </p:nvSpPr>
        <p:spPr>
          <a:xfrm>
            <a:off x="914399" y="152400"/>
            <a:ext cx="10325819" cy="1523999"/>
          </a:xfrm>
        </p:spPr>
        <p:txBody>
          <a:bodyPr>
            <a:normAutofit/>
          </a:bodyPr>
          <a:lstStyle/>
          <a:p>
            <a:pPr>
              <a:defRPr/>
            </a:pPr>
            <a:r>
              <a:rPr lang="en-US" dirty="0"/>
              <a:t>Review: Competing Choice</a:t>
            </a:r>
            <a:br>
              <a:rPr lang="en-US" dirty="0"/>
            </a:br>
            <a:r>
              <a:rPr lang="en-US" dirty="0"/>
              <a:t> Incremental Cost-Effectiveness Analysis</a:t>
            </a:r>
          </a:p>
        </p:txBody>
      </p:sp>
    </p:spTree>
    <p:extLst>
      <p:ext uri="{BB962C8B-B14F-4D97-AF65-F5344CB8AC3E}">
        <p14:creationId xmlns:p14="http://schemas.microsoft.com/office/powerpoint/2010/main" val="3611214011"/>
      </p:ext>
    </p:extLst>
  </p:cSld>
  <p:clrMapOvr>
    <a:masterClrMapping/>
  </p:clrMapOvr>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38ECE5B3-7330-C449-B814-75A74365533C}"/>
              </a:ext>
            </a:extLst>
          </p:cNvPr>
          <p:cNvSpPr>
            <a:spLocks noChangeArrowheads="1"/>
          </p:cNvSpPr>
          <p:nvPr/>
        </p:nvSpPr>
        <p:spPr bwMode="auto">
          <a:xfrm>
            <a:off x="2209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13315" name="Rectangle 3">
            <a:extLst>
              <a:ext uri="{FF2B5EF4-FFF2-40B4-BE49-F238E27FC236}">
                <a16:creationId xmlns:a16="http://schemas.microsoft.com/office/drawing/2014/main" id="{D19CED50-B6EE-8F48-871B-AFBD8687D81E}"/>
              </a:ext>
            </a:extLst>
          </p:cNvPr>
          <p:cNvSpPr>
            <a:spLocks noChangeArrowheads="1"/>
          </p:cNvSpPr>
          <p:nvPr/>
        </p:nvSpPr>
        <p:spPr bwMode="auto">
          <a:xfrm>
            <a:off x="4648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graphicFrame>
        <p:nvGraphicFramePr>
          <p:cNvPr id="1011799" name="Group 87">
            <a:extLst>
              <a:ext uri="{FF2B5EF4-FFF2-40B4-BE49-F238E27FC236}">
                <a16:creationId xmlns:a16="http://schemas.microsoft.com/office/drawing/2014/main" id="{0A4EFFAE-E316-AF4A-9FD8-0714DDF898E2}"/>
              </a:ext>
            </a:extLst>
          </p:cNvPr>
          <p:cNvGraphicFramePr>
            <a:graphicFrameLocks noGrp="1"/>
          </p:cNvGraphicFramePr>
          <p:nvPr/>
        </p:nvGraphicFramePr>
        <p:xfrm>
          <a:off x="2133600" y="2667001"/>
          <a:ext cx="7924800" cy="3979863"/>
        </p:xfrm>
        <a:graphic>
          <a:graphicData uri="http://schemas.openxmlformats.org/drawingml/2006/table">
            <a:tbl>
              <a:tblPr/>
              <a:tblGrid>
                <a:gridCol w="1524000">
                  <a:extLst>
                    <a:ext uri="{9D8B030D-6E8A-4147-A177-3AD203B41FA5}">
                      <a16:colId xmlns:a16="http://schemas.microsoft.com/office/drawing/2014/main" val="20000"/>
                    </a:ext>
                  </a:extLst>
                </a:gridCol>
                <a:gridCol w="1089025">
                  <a:extLst>
                    <a:ext uri="{9D8B030D-6E8A-4147-A177-3AD203B41FA5}">
                      <a16:colId xmlns:a16="http://schemas.microsoft.com/office/drawing/2014/main" val="20001"/>
                    </a:ext>
                  </a:extLst>
                </a:gridCol>
                <a:gridCol w="1228725">
                  <a:extLst>
                    <a:ext uri="{9D8B030D-6E8A-4147-A177-3AD203B41FA5}">
                      <a16:colId xmlns:a16="http://schemas.microsoft.com/office/drawing/2014/main" val="20002"/>
                    </a:ext>
                  </a:extLst>
                </a:gridCol>
                <a:gridCol w="1098550">
                  <a:extLst>
                    <a:ext uri="{9D8B030D-6E8A-4147-A177-3AD203B41FA5}">
                      <a16:colId xmlns:a16="http://schemas.microsoft.com/office/drawing/2014/main" val="20003"/>
                    </a:ext>
                  </a:extLst>
                </a:gridCol>
                <a:gridCol w="1176338">
                  <a:extLst>
                    <a:ext uri="{9D8B030D-6E8A-4147-A177-3AD203B41FA5}">
                      <a16:colId xmlns:a16="http://schemas.microsoft.com/office/drawing/2014/main" val="20004"/>
                    </a:ext>
                  </a:extLst>
                </a:gridCol>
                <a:gridCol w="863600">
                  <a:extLst>
                    <a:ext uri="{9D8B030D-6E8A-4147-A177-3AD203B41FA5}">
                      <a16:colId xmlns:a16="http://schemas.microsoft.com/office/drawing/2014/main" val="20005"/>
                    </a:ext>
                  </a:extLst>
                </a:gridCol>
                <a:gridCol w="944562">
                  <a:extLst>
                    <a:ext uri="{9D8B030D-6E8A-4147-A177-3AD203B41FA5}">
                      <a16:colId xmlns:a16="http://schemas.microsoft.com/office/drawing/2014/main" val="20006"/>
                    </a:ext>
                  </a:extLst>
                </a:gridCol>
              </a:tblGrid>
              <a:tr h="121761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Program</a:t>
                      </a:r>
                    </a:p>
                  </a:txBody>
                  <a:tcPr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Cost ($)</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Effect</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1" u="none" strike="noStrike" cap="none" normalizeH="0" baseline="0">
                          <a:ln>
                            <a:noFill/>
                          </a:ln>
                          <a:solidFill>
                            <a:schemeClr val="tx1"/>
                          </a:solidFill>
                          <a:effectLst/>
                          <a:latin typeface="Arial" charset="0"/>
                        </a:rPr>
                        <a:t>Avg</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1" u="none" strike="noStrike" cap="none" normalizeH="0" baseline="0">
                          <a:ln>
                            <a:noFill/>
                          </a:ln>
                          <a:solidFill>
                            <a:schemeClr val="tx1"/>
                          </a:solidFill>
                          <a:effectLst/>
                          <a:latin typeface="Arial" charset="0"/>
                        </a:rPr>
                        <a:t>C/E</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Inc.</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Costs</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Inc.</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Eff.</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Inc.</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C/E</a:t>
                      </a:r>
                    </a:p>
                  </a:txBody>
                  <a:tcPr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615950">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H4</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22</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40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0.55</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615950">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H2</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40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65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18</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25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0.72</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615950">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H3</a:t>
                      </a:r>
                    </a:p>
                  </a:txBody>
                  <a:tcPr horzOverflow="overflow">
                    <a:lnL cap="flat">
                      <a:noFill/>
                    </a:lnL>
                    <a:lnR>
                      <a:noFill/>
                    </a:lnR>
                    <a:lnT>
                      <a:noFill/>
                    </a:lnT>
                    <a:lnB>
                      <a:noFill/>
                    </a:lnB>
                    <a:lnTlToBr>
                      <a:noFill/>
                    </a:lnTlToBr>
                    <a:lnBlToTr>
                      <a:noFill/>
                    </a:lnBlToTr>
                    <a:blipFill dpi="0" rotWithShape="0">
                      <a:blip r:embed="rId3"/>
                      <a:srcRect/>
                      <a:tile tx="0" ty="0" sx="100000" sy="100000" flip="none" algn="tl"/>
                    </a:blip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55</a:t>
                      </a:r>
                    </a:p>
                  </a:txBody>
                  <a:tcPr horzOverflow="overflow">
                    <a:lnL>
                      <a:noFill/>
                    </a:lnL>
                    <a:lnR>
                      <a:noFill/>
                    </a:lnR>
                    <a:lnT>
                      <a:noFill/>
                    </a:lnT>
                    <a:lnB>
                      <a:noFill/>
                    </a:lnB>
                    <a:lnTlToBr>
                      <a:noFill/>
                    </a:lnTlToBr>
                    <a:lnBlToTr>
                      <a:noFill/>
                    </a:lnBlToTr>
                    <a:blipFill dpi="0" rotWithShape="0">
                      <a:blip r:embed="rId3"/>
                      <a:srcRect/>
                      <a:tile tx="0" ty="0" sx="100000" sy="100000" flip="none" algn="tl"/>
                    </a:blip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70</a:t>
                      </a:r>
                    </a:p>
                  </a:txBody>
                  <a:tcPr horzOverflow="overflow">
                    <a:lnL>
                      <a:noFill/>
                    </a:lnL>
                    <a:lnR>
                      <a:noFill/>
                    </a:lnR>
                    <a:lnT>
                      <a:noFill/>
                    </a:lnT>
                    <a:lnB>
                      <a:noFill/>
                    </a:lnB>
                    <a:lnTlToBr>
                      <a:noFill/>
                    </a:lnTlToBr>
                    <a:lnBlToTr>
                      <a:noFill/>
                    </a:lnBlToTr>
                    <a:blipFill dpi="0" rotWithShape="0">
                      <a:blip r:embed="rId3"/>
                      <a:srcRect/>
                      <a:tile tx="0" ty="0" sx="100000" sy="100000" flip="none" algn="tl"/>
                    </a:blip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blipFill dpi="0" rotWithShape="0">
                      <a:blip r:embed="rId3"/>
                      <a:srcRect/>
                      <a:tile tx="0" ty="0" sx="100000" sy="100000" flip="none" algn="tl"/>
                    </a:blip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15</a:t>
                      </a:r>
                    </a:p>
                  </a:txBody>
                  <a:tcPr horzOverflow="overflow">
                    <a:lnL>
                      <a:noFill/>
                    </a:lnL>
                    <a:lnR>
                      <a:noFill/>
                    </a:lnR>
                    <a:lnT>
                      <a:noFill/>
                    </a:lnT>
                    <a:lnB>
                      <a:noFill/>
                    </a:lnB>
                    <a:lnTlToBr>
                      <a:noFill/>
                    </a:lnTlToBr>
                    <a:lnBlToTr>
                      <a:noFill/>
                    </a:lnBlToTr>
                    <a:blipFill dpi="0" rotWithShape="0">
                      <a:blip r:embed="rId3"/>
                      <a:srcRect/>
                      <a:tile tx="0" ty="0" sx="100000" sy="100000" flip="none" algn="tl"/>
                    </a:blip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5</a:t>
                      </a:r>
                    </a:p>
                  </a:txBody>
                  <a:tcPr horzOverflow="overflow">
                    <a:lnL>
                      <a:noFill/>
                    </a:lnL>
                    <a:lnR>
                      <a:noFill/>
                    </a:lnR>
                    <a:lnT>
                      <a:noFill/>
                    </a:lnT>
                    <a:lnB>
                      <a:noFill/>
                    </a:lnB>
                    <a:lnTlToBr>
                      <a:noFill/>
                    </a:lnTlToBr>
                    <a:lnBlToTr>
                      <a:noFill/>
                    </a:lnBlToTr>
                    <a:blipFill dpi="0" rotWithShape="0">
                      <a:blip r:embed="rId3"/>
                      <a:srcRect/>
                      <a:tile tx="0" ty="0" sx="100000" sy="100000" flip="none" algn="tl"/>
                    </a:blip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3.0</a:t>
                      </a:r>
                    </a:p>
                  </a:txBody>
                  <a:tcPr horzOverflow="overflow">
                    <a:lnL>
                      <a:noFill/>
                    </a:lnL>
                    <a:lnR cap="flat">
                      <a:noFill/>
                    </a:lnR>
                    <a:lnT>
                      <a:noFill/>
                    </a:lnT>
                    <a:lnB>
                      <a:noFill/>
                    </a:lnB>
                    <a:lnTlToBr>
                      <a:noFill/>
                    </a:lnTlToBr>
                    <a:lnBlToTr>
                      <a:noFill/>
                    </a:lnBlToTr>
                    <a:blipFill dpi="0" rotWithShape="0">
                      <a:blip r:embed="rId3"/>
                      <a:srcRect/>
                      <a:tile tx="0" ty="0" sx="100000" sy="100000" flip="none" algn="tl"/>
                    </a:blipFill>
                  </a:tcPr>
                </a:tc>
                <a:extLst>
                  <a:ext uri="{0D108BD9-81ED-4DB2-BD59-A6C34878D82A}">
                    <a16:rowId xmlns:a16="http://schemas.microsoft.com/office/drawing/2014/main" val="10003"/>
                  </a:ext>
                </a:extLst>
              </a:tr>
              <a:tr h="45561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H1</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60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80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0.5</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45561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3360" name="Line 74">
            <a:extLst>
              <a:ext uri="{FF2B5EF4-FFF2-40B4-BE49-F238E27FC236}">
                <a16:creationId xmlns:a16="http://schemas.microsoft.com/office/drawing/2014/main" id="{F3D09EAF-2056-9949-A05C-33162278CFD9}"/>
              </a:ext>
            </a:extLst>
          </p:cNvPr>
          <p:cNvSpPr>
            <a:spLocks noChangeShapeType="1"/>
          </p:cNvSpPr>
          <p:nvPr/>
        </p:nvSpPr>
        <p:spPr bwMode="auto">
          <a:xfrm>
            <a:off x="2057400" y="2514600"/>
            <a:ext cx="80010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13361" name="Text Box 76">
            <a:extLst>
              <a:ext uri="{FF2B5EF4-FFF2-40B4-BE49-F238E27FC236}">
                <a16:creationId xmlns:a16="http://schemas.microsoft.com/office/drawing/2014/main" id="{EC5406E9-92D7-824F-A533-73973C66D12A}"/>
              </a:ext>
            </a:extLst>
          </p:cNvPr>
          <p:cNvSpPr txBox="1">
            <a:spLocks noChangeArrowheads="1"/>
          </p:cNvSpPr>
          <p:nvPr/>
        </p:nvSpPr>
        <p:spPr bwMode="auto">
          <a:xfrm>
            <a:off x="2057400" y="1600200"/>
            <a:ext cx="8229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a:r>
              <a:rPr lang="en-US" altLang="en-MX" sz="3200" b="0">
                <a:solidFill>
                  <a:srgbClr val="3333FF"/>
                </a:solidFill>
              </a:rPr>
              <a:t>Step 4: Check for weakly dominated options</a:t>
            </a:r>
          </a:p>
        </p:txBody>
      </p:sp>
      <p:sp>
        <p:nvSpPr>
          <p:cNvPr id="13362" name="Line 77">
            <a:extLst>
              <a:ext uri="{FF2B5EF4-FFF2-40B4-BE49-F238E27FC236}">
                <a16:creationId xmlns:a16="http://schemas.microsoft.com/office/drawing/2014/main" id="{F8082908-B228-BA4D-9458-0450FEFC0E08}"/>
              </a:ext>
            </a:extLst>
          </p:cNvPr>
          <p:cNvSpPr>
            <a:spLocks noChangeShapeType="1"/>
          </p:cNvSpPr>
          <p:nvPr/>
        </p:nvSpPr>
        <p:spPr bwMode="auto">
          <a:xfrm>
            <a:off x="2057400" y="3733800"/>
            <a:ext cx="80010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13363" name="Line 78">
            <a:extLst>
              <a:ext uri="{FF2B5EF4-FFF2-40B4-BE49-F238E27FC236}">
                <a16:creationId xmlns:a16="http://schemas.microsoft.com/office/drawing/2014/main" id="{10FC72AB-B6A7-E34A-AFB8-E58530BBCF20}"/>
              </a:ext>
            </a:extLst>
          </p:cNvPr>
          <p:cNvSpPr>
            <a:spLocks noChangeShapeType="1"/>
          </p:cNvSpPr>
          <p:nvPr/>
        </p:nvSpPr>
        <p:spPr bwMode="auto">
          <a:xfrm>
            <a:off x="6172200" y="2819400"/>
            <a:ext cx="685800" cy="685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13364" name="Line 79">
            <a:extLst>
              <a:ext uri="{FF2B5EF4-FFF2-40B4-BE49-F238E27FC236}">
                <a16:creationId xmlns:a16="http://schemas.microsoft.com/office/drawing/2014/main" id="{74439CC5-78FA-6048-B28E-4C1400DEBE46}"/>
              </a:ext>
            </a:extLst>
          </p:cNvPr>
          <p:cNvSpPr>
            <a:spLocks noChangeShapeType="1"/>
          </p:cNvSpPr>
          <p:nvPr/>
        </p:nvSpPr>
        <p:spPr bwMode="auto">
          <a:xfrm flipV="1">
            <a:off x="6172200" y="2819400"/>
            <a:ext cx="685800" cy="685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13365" name="Line 88">
            <a:extLst>
              <a:ext uri="{FF2B5EF4-FFF2-40B4-BE49-F238E27FC236}">
                <a16:creationId xmlns:a16="http://schemas.microsoft.com/office/drawing/2014/main" id="{D0BA84EF-8BDD-244A-9769-D804F4CD88BD}"/>
              </a:ext>
            </a:extLst>
          </p:cNvPr>
          <p:cNvSpPr>
            <a:spLocks noChangeShapeType="1"/>
          </p:cNvSpPr>
          <p:nvPr/>
        </p:nvSpPr>
        <p:spPr bwMode="auto">
          <a:xfrm>
            <a:off x="2133600" y="5410200"/>
            <a:ext cx="7924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13366" name="Text Box 89">
            <a:extLst>
              <a:ext uri="{FF2B5EF4-FFF2-40B4-BE49-F238E27FC236}">
                <a16:creationId xmlns:a16="http://schemas.microsoft.com/office/drawing/2014/main" id="{2D138924-EC3F-D24A-8A5E-65245CED493F}"/>
              </a:ext>
            </a:extLst>
          </p:cNvPr>
          <p:cNvSpPr txBox="1">
            <a:spLocks noChangeArrowheads="1"/>
          </p:cNvSpPr>
          <p:nvPr/>
        </p:nvSpPr>
        <p:spPr bwMode="auto">
          <a:xfrm>
            <a:off x="1981201" y="6248400"/>
            <a:ext cx="4062413" cy="406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b="0" i="1"/>
              <a:t>H3 eliminated by weak dominance</a:t>
            </a:r>
          </a:p>
        </p:txBody>
      </p:sp>
      <p:sp>
        <p:nvSpPr>
          <p:cNvPr id="13367" name="Line 90">
            <a:extLst>
              <a:ext uri="{FF2B5EF4-FFF2-40B4-BE49-F238E27FC236}">
                <a16:creationId xmlns:a16="http://schemas.microsoft.com/office/drawing/2014/main" id="{4977C047-9FC0-EA47-8A6B-1C243EAB4446}"/>
              </a:ext>
            </a:extLst>
          </p:cNvPr>
          <p:cNvSpPr>
            <a:spLocks noChangeShapeType="1"/>
          </p:cNvSpPr>
          <p:nvPr/>
        </p:nvSpPr>
        <p:spPr bwMode="auto">
          <a:xfrm flipV="1">
            <a:off x="3200400" y="5638800"/>
            <a:ext cx="3810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MX"/>
          </a:p>
        </p:txBody>
      </p:sp>
      <p:sp>
        <p:nvSpPr>
          <p:cNvPr id="16" name="Rectangle 4">
            <a:extLst>
              <a:ext uri="{FF2B5EF4-FFF2-40B4-BE49-F238E27FC236}">
                <a16:creationId xmlns:a16="http://schemas.microsoft.com/office/drawing/2014/main" id="{AB1A4708-32B0-A848-AB26-B88E187505FC}"/>
              </a:ext>
            </a:extLst>
          </p:cNvPr>
          <p:cNvSpPr>
            <a:spLocks noGrp="1" noChangeArrowheads="1"/>
          </p:cNvSpPr>
          <p:nvPr>
            <p:ph type="title"/>
          </p:nvPr>
        </p:nvSpPr>
        <p:spPr>
          <a:xfrm>
            <a:off x="914399" y="152400"/>
            <a:ext cx="10325819" cy="1523999"/>
          </a:xfrm>
        </p:spPr>
        <p:txBody>
          <a:bodyPr>
            <a:normAutofit/>
          </a:bodyPr>
          <a:lstStyle/>
          <a:p>
            <a:pPr>
              <a:defRPr/>
            </a:pPr>
            <a:r>
              <a:rPr lang="en-US" dirty="0"/>
              <a:t>Review: Competing Choice</a:t>
            </a:r>
            <a:br>
              <a:rPr lang="en-US" dirty="0"/>
            </a:br>
            <a:r>
              <a:rPr lang="en-US" dirty="0"/>
              <a:t> Incremental Cost-Effectiveness Analysis</a:t>
            </a:r>
          </a:p>
        </p:txBody>
      </p:sp>
    </p:spTree>
    <p:extLst>
      <p:ext uri="{BB962C8B-B14F-4D97-AF65-F5344CB8AC3E}">
        <p14:creationId xmlns:p14="http://schemas.microsoft.com/office/powerpoint/2010/main" val="1080407651"/>
      </p:ext>
    </p:extLst>
  </p:cSld>
  <p:clrMapOvr>
    <a:masterClrMapping/>
  </p:clrMapOvr>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B41F8633-5B15-C943-945B-FC09A7199315}"/>
              </a:ext>
            </a:extLst>
          </p:cNvPr>
          <p:cNvSpPr>
            <a:spLocks noChangeArrowheads="1"/>
          </p:cNvSpPr>
          <p:nvPr/>
        </p:nvSpPr>
        <p:spPr bwMode="auto">
          <a:xfrm>
            <a:off x="2209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graphicFrame>
        <p:nvGraphicFramePr>
          <p:cNvPr id="1015878" name="Group 70">
            <a:extLst>
              <a:ext uri="{FF2B5EF4-FFF2-40B4-BE49-F238E27FC236}">
                <a16:creationId xmlns:a16="http://schemas.microsoft.com/office/drawing/2014/main" id="{87F68771-D9B6-C74B-8700-D97DAE73ADB4}"/>
              </a:ext>
            </a:extLst>
          </p:cNvPr>
          <p:cNvGraphicFramePr>
            <a:graphicFrameLocks noGrp="1"/>
          </p:cNvGraphicFramePr>
          <p:nvPr/>
        </p:nvGraphicFramePr>
        <p:xfrm>
          <a:off x="2362200" y="2743200"/>
          <a:ext cx="7467600" cy="3583064"/>
        </p:xfrm>
        <a:graphic>
          <a:graphicData uri="http://schemas.openxmlformats.org/drawingml/2006/table">
            <a:tbl>
              <a:tblPr/>
              <a:tblGrid>
                <a:gridCol w="1268413">
                  <a:extLst>
                    <a:ext uri="{9D8B030D-6E8A-4147-A177-3AD203B41FA5}">
                      <a16:colId xmlns:a16="http://schemas.microsoft.com/office/drawing/2014/main" val="20000"/>
                    </a:ext>
                  </a:extLst>
                </a:gridCol>
                <a:gridCol w="1193800">
                  <a:extLst>
                    <a:ext uri="{9D8B030D-6E8A-4147-A177-3AD203B41FA5}">
                      <a16:colId xmlns:a16="http://schemas.microsoft.com/office/drawing/2014/main" val="20001"/>
                    </a:ext>
                  </a:extLst>
                </a:gridCol>
                <a:gridCol w="1157287">
                  <a:extLst>
                    <a:ext uri="{9D8B030D-6E8A-4147-A177-3AD203B41FA5}">
                      <a16:colId xmlns:a16="http://schemas.microsoft.com/office/drawing/2014/main" val="20002"/>
                    </a:ext>
                  </a:extLst>
                </a:gridCol>
                <a:gridCol w="1035050">
                  <a:extLst>
                    <a:ext uri="{9D8B030D-6E8A-4147-A177-3AD203B41FA5}">
                      <a16:colId xmlns:a16="http://schemas.microsoft.com/office/drawing/2014/main" val="20003"/>
                    </a:ext>
                  </a:extLst>
                </a:gridCol>
                <a:gridCol w="1109663">
                  <a:extLst>
                    <a:ext uri="{9D8B030D-6E8A-4147-A177-3AD203B41FA5}">
                      <a16:colId xmlns:a16="http://schemas.microsoft.com/office/drawing/2014/main" val="20004"/>
                    </a:ext>
                  </a:extLst>
                </a:gridCol>
                <a:gridCol w="812800">
                  <a:extLst>
                    <a:ext uri="{9D8B030D-6E8A-4147-A177-3AD203B41FA5}">
                      <a16:colId xmlns:a16="http://schemas.microsoft.com/office/drawing/2014/main" val="20005"/>
                    </a:ext>
                  </a:extLst>
                </a:gridCol>
                <a:gridCol w="890587">
                  <a:extLst>
                    <a:ext uri="{9D8B030D-6E8A-4147-A177-3AD203B41FA5}">
                      <a16:colId xmlns:a16="http://schemas.microsoft.com/office/drawing/2014/main" val="20006"/>
                    </a:ext>
                  </a:extLst>
                </a:gridCol>
              </a:tblGrid>
              <a:tr h="1217397">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Program</a:t>
                      </a:r>
                    </a:p>
                  </a:txBody>
                  <a:tcPr marT="45712" marB="45712"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Cost ($)</a:t>
                      </a:r>
                    </a:p>
                  </a:txBody>
                  <a:tcPr marT="45712" marB="45712"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Effect</a:t>
                      </a:r>
                    </a:p>
                  </a:txBody>
                  <a:tcPr marT="45712" marB="45712"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1" u="none" strike="noStrike" cap="none" normalizeH="0" baseline="0">
                          <a:ln>
                            <a:noFill/>
                          </a:ln>
                          <a:solidFill>
                            <a:schemeClr val="tx1"/>
                          </a:solidFill>
                          <a:effectLst/>
                          <a:latin typeface="Arial" charset="0"/>
                        </a:rPr>
                        <a:t>Avg</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1" u="none" strike="noStrike" cap="none" normalizeH="0" baseline="0">
                          <a:ln>
                            <a:noFill/>
                          </a:ln>
                          <a:solidFill>
                            <a:schemeClr val="tx1"/>
                          </a:solidFill>
                          <a:effectLst/>
                          <a:latin typeface="Arial" charset="0"/>
                        </a:rPr>
                        <a:t>C/E</a:t>
                      </a:r>
                    </a:p>
                  </a:txBody>
                  <a:tcPr marT="45712" marB="45712"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Inc.</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Costs</a:t>
                      </a:r>
                    </a:p>
                  </a:txBody>
                  <a:tcPr marT="45712" marB="45712"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Inc.</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Eff.</a:t>
                      </a:r>
                    </a:p>
                  </a:txBody>
                  <a:tcPr marT="45712" marB="45712"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Inc.</a:t>
                      </a:r>
                    </a:p>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C/E</a:t>
                      </a:r>
                    </a:p>
                  </a:txBody>
                  <a:tcPr marT="45712" marB="45712"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615841">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H4</a:t>
                      </a:r>
                    </a:p>
                  </a:txBody>
                  <a:tcPr marT="45712" marB="45712"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22</a:t>
                      </a:r>
                    </a:p>
                  </a:txBody>
                  <a:tcPr marT="45712" marB="4571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40</a:t>
                      </a:r>
                    </a:p>
                  </a:txBody>
                  <a:tcPr marT="45712" marB="4571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2" marB="4571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2" marB="4571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2" marB="4571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1" i="0" u="none" strike="noStrike" cap="none" normalizeH="0" baseline="0">
                          <a:ln>
                            <a:noFill/>
                          </a:ln>
                          <a:solidFill>
                            <a:schemeClr val="tx1"/>
                          </a:solidFill>
                          <a:effectLst/>
                          <a:latin typeface="Arial" charset="0"/>
                        </a:rPr>
                        <a:t>0.55</a:t>
                      </a:r>
                    </a:p>
                  </a:txBody>
                  <a:tcPr marT="45712" marB="45712" horzOverflow="overflow">
                    <a:lnL>
                      <a:noFill/>
                    </a:lnL>
                    <a:lnR cap="flat">
                      <a:noFill/>
                    </a:lnR>
                    <a:lnT>
                      <a:noFill/>
                    </a:lnT>
                    <a:lnB>
                      <a:noFill/>
                    </a:lnB>
                    <a:lnTlToBr>
                      <a:noFill/>
                    </a:lnTlToBr>
                    <a:lnBlToTr>
                      <a:noFill/>
                    </a:lnBlToTr>
                    <a:pattFill prst="ltDnDiag">
                      <a:fgClr>
                        <a:srgbClr val="B2B2B2"/>
                      </a:fgClr>
                      <a:bgClr>
                        <a:srgbClr val="FFFFFF"/>
                      </a:bgClr>
                    </a:pattFill>
                  </a:tcPr>
                </a:tc>
                <a:extLst>
                  <a:ext uri="{0D108BD9-81ED-4DB2-BD59-A6C34878D82A}">
                    <a16:rowId xmlns:a16="http://schemas.microsoft.com/office/drawing/2014/main" val="10001"/>
                  </a:ext>
                </a:extLst>
              </a:tr>
              <a:tr h="615841">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H2</a:t>
                      </a:r>
                    </a:p>
                  </a:txBody>
                  <a:tcPr marT="45712" marB="45712"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40</a:t>
                      </a:r>
                    </a:p>
                  </a:txBody>
                  <a:tcPr marT="45712" marB="4571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65</a:t>
                      </a:r>
                    </a:p>
                  </a:txBody>
                  <a:tcPr marT="45712" marB="4571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2" marB="4571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18</a:t>
                      </a:r>
                    </a:p>
                  </a:txBody>
                  <a:tcPr marT="45712" marB="4571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25</a:t>
                      </a:r>
                    </a:p>
                  </a:txBody>
                  <a:tcPr marT="45712" marB="4571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1" i="0" u="none" strike="noStrike" cap="none" normalizeH="0" baseline="0">
                          <a:ln>
                            <a:noFill/>
                          </a:ln>
                          <a:solidFill>
                            <a:schemeClr val="tx1"/>
                          </a:solidFill>
                          <a:effectLst/>
                          <a:latin typeface="Arial" charset="0"/>
                        </a:rPr>
                        <a:t>0.72</a:t>
                      </a:r>
                    </a:p>
                  </a:txBody>
                  <a:tcPr marT="45712" marB="45712" horzOverflow="overflow">
                    <a:lnL>
                      <a:noFill/>
                    </a:lnL>
                    <a:lnR cap="flat">
                      <a:noFill/>
                    </a:lnR>
                    <a:lnT>
                      <a:noFill/>
                    </a:lnT>
                    <a:lnB>
                      <a:noFill/>
                    </a:lnB>
                    <a:lnTlToBr>
                      <a:noFill/>
                    </a:lnTlToBr>
                    <a:lnBlToTr>
                      <a:noFill/>
                    </a:lnBlToTr>
                    <a:pattFill prst="ltDnDiag">
                      <a:fgClr>
                        <a:srgbClr val="B2B2B2"/>
                      </a:fgClr>
                      <a:bgClr>
                        <a:srgbClr val="FFFFFF"/>
                      </a:bgClr>
                    </a:pattFill>
                  </a:tcPr>
                </a:tc>
                <a:extLst>
                  <a:ext uri="{0D108BD9-81ED-4DB2-BD59-A6C34878D82A}">
                    <a16:rowId xmlns:a16="http://schemas.microsoft.com/office/drawing/2014/main" val="10002"/>
                  </a:ext>
                </a:extLst>
              </a:tr>
              <a:tr h="615841">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H1</a:t>
                      </a:r>
                    </a:p>
                  </a:txBody>
                  <a:tcPr marT="45712" marB="45712"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60</a:t>
                      </a:r>
                    </a:p>
                  </a:txBody>
                  <a:tcPr marT="45712" marB="4571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80</a:t>
                      </a:r>
                    </a:p>
                  </a:txBody>
                  <a:tcPr marT="45712" marB="4571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2" marB="4571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a:t>
                      </a:r>
                    </a:p>
                  </a:txBody>
                  <a:tcPr marT="45712" marB="4571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15</a:t>
                      </a:r>
                    </a:p>
                  </a:txBody>
                  <a:tcPr marT="45712" marB="45712"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800" b="1" i="0" u="none" strike="noStrike" cap="none" normalizeH="0" baseline="0">
                          <a:ln>
                            <a:noFill/>
                          </a:ln>
                          <a:solidFill>
                            <a:schemeClr val="tx1"/>
                          </a:solidFill>
                          <a:effectLst/>
                          <a:latin typeface="Arial" charset="0"/>
                        </a:rPr>
                        <a:t>1.33</a:t>
                      </a:r>
                    </a:p>
                  </a:txBody>
                  <a:tcPr marT="45712" marB="45712" horzOverflow="overflow">
                    <a:lnL>
                      <a:noFill/>
                    </a:lnL>
                    <a:lnR cap="flat">
                      <a:noFill/>
                    </a:lnR>
                    <a:lnT>
                      <a:noFill/>
                    </a:lnT>
                    <a:lnB>
                      <a:noFill/>
                    </a:lnB>
                    <a:lnTlToBr>
                      <a:noFill/>
                    </a:lnTlToBr>
                    <a:lnBlToTr>
                      <a:noFill/>
                    </a:lnBlToTr>
                    <a:pattFill prst="ltDnDiag">
                      <a:fgClr>
                        <a:srgbClr val="B2B2B2"/>
                      </a:fgClr>
                      <a:bgClr>
                        <a:srgbClr val="FFFFFF"/>
                      </a:bgClr>
                    </a:pattFill>
                  </a:tcPr>
                </a:tc>
                <a:extLst>
                  <a:ext uri="{0D108BD9-81ED-4DB2-BD59-A6C34878D82A}">
                    <a16:rowId xmlns:a16="http://schemas.microsoft.com/office/drawing/2014/main" val="10003"/>
                  </a:ext>
                </a:extLst>
              </a:tr>
              <a:tr h="518068">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2" marB="45712"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2" marB="45712"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2" marB="45712"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2" marB="45712"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2" marB="45712"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2" marB="45712"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2" marB="45712"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4376" name="Line 62">
            <a:extLst>
              <a:ext uri="{FF2B5EF4-FFF2-40B4-BE49-F238E27FC236}">
                <a16:creationId xmlns:a16="http://schemas.microsoft.com/office/drawing/2014/main" id="{B7882E8E-F5F8-CA41-BFC8-4A0D5C36D94C}"/>
              </a:ext>
            </a:extLst>
          </p:cNvPr>
          <p:cNvSpPr>
            <a:spLocks noChangeShapeType="1"/>
          </p:cNvSpPr>
          <p:nvPr/>
        </p:nvSpPr>
        <p:spPr bwMode="auto">
          <a:xfrm>
            <a:off x="2057400" y="2590800"/>
            <a:ext cx="80010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14377" name="Text Box 64">
            <a:extLst>
              <a:ext uri="{FF2B5EF4-FFF2-40B4-BE49-F238E27FC236}">
                <a16:creationId xmlns:a16="http://schemas.microsoft.com/office/drawing/2014/main" id="{49AB7E90-BC17-B848-A406-5703A5E5F3BE}"/>
              </a:ext>
            </a:extLst>
          </p:cNvPr>
          <p:cNvSpPr txBox="1">
            <a:spLocks noChangeArrowheads="1"/>
          </p:cNvSpPr>
          <p:nvPr/>
        </p:nvSpPr>
        <p:spPr bwMode="auto">
          <a:xfrm>
            <a:off x="1981200" y="1673225"/>
            <a:ext cx="8229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a:r>
              <a:rPr lang="en-US" altLang="en-MX" sz="3200" b="0">
                <a:solidFill>
                  <a:srgbClr val="3333FF"/>
                </a:solidFill>
              </a:rPr>
              <a:t>Step 5: Recalculate incremental CE ratios</a:t>
            </a:r>
          </a:p>
        </p:txBody>
      </p:sp>
      <p:sp>
        <p:nvSpPr>
          <p:cNvPr id="14378" name="Line 65">
            <a:extLst>
              <a:ext uri="{FF2B5EF4-FFF2-40B4-BE49-F238E27FC236}">
                <a16:creationId xmlns:a16="http://schemas.microsoft.com/office/drawing/2014/main" id="{E628BB69-EE2F-8841-B4D5-D6398B3032A8}"/>
              </a:ext>
            </a:extLst>
          </p:cNvPr>
          <p:cNvSpPr>
            <a:spLocks noChangeShapeType="1"/>
          </p:cNvSpPr>
          <p:nvPr/>
        </p:nvSpPr>
        <p:spPr bwMode="auto">
          <a:xfrm>
            <a:off x="2057400" y="3810000"/>
            <a:ext cx="80010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14379" name="Text Box 66">
            <a:extLst>
              <a:ext uri="{FF2B5EF4-FFF2-40B4-BE49-F238E27FC236}">
                <a16:creationId xmlns:a16="http://schemas.microsoft.com/office/drawing/2014/main" id="{633587C1-48C8-044B-9850-E88ECD951F56}"/>
              </a:ext>
            </a:extLst>
          </p:cNvPr>
          <p:cNvSpPr txBox="1">
            <a:spLocks noChangeArrowheads="1"/>
          </p:cNvSpPr>
          <p:nvPr/>
        </p:nvSpPr>
        <p:spPr bwMode="auto">
          <a:xfrm>
            <a:off x="2286000" y="6172200"/>
            <a:ext cx="7162800" cy="406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b="0"/>
              <a:t>Ratios to compare to the CE threshold in the shopping spree!</a:t>
            </a:r>
          </a:p>
        </p:txBody>
      </p:sp>
      <p:sp>
        <p:nvSpPr>
          <p:cNvPr id="14380" name="Line 67">
            <a:extLst>
              <a:ext uri="{FF2B5EF4-FFF2-40B4-BE49-F238E27FC236}">
                <a16:creationId xmlns:a16="http://schemas.microsoft.com/office/drawing/2014/main" id="{93BF2BC5-043A-014F-8809-AA72D586EE06}"/>
              </a:ext>
            </a:extLst>
          </p:cNvPr>
          <p:cNvSpPr>
            <a:spLocks noChangeShapeType="1"/>
          </p:cNvSpPr>
          <p:nvPr/>
        </p:nvSpPr>
        <p:spPr bwMode="auto">
          <a:xfrm flipV="1">
            <a:off x="8382000" y="5715000"/>
            <a:ext cx="7620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MX"/>
          </a:p>
        </p:txBody>
      </p:sp>
      <p:sp>
        <p:nvSpPr>
          <p:cNvPr id="14381" name="Line 68">
            <a:extLst>
              <a:ext uri="{FF2B5EF4-FFF2-40B4-BE49-F238E27FC236}">
                <a16:creationId xmlns:a16="http://schemas.microsoft.com/office/drawing/2014/main" id="{15475555-E62E-BE47-976A-F920428D6039}"/>
              </a:ext>
            </a:extLst>
          </p:cNvPr>
          <p:cNvSpPr>
            <a:spLocks noChangeShapeType="1"/>
          </p:cNvSpPr>
          <p:nvPr/>
        </p:nvSpPr>
        <p:spPr bwMode="auto">
          <a:xfrm>
            <a:off x="6172200" y="2819400"/>
            <a:ext cx="685800" cy="685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14382" name="Line 69">
            <a:extLst>
              <a:ext uri="{FF2B5EF4-FFF2-40B4-BE49-F238E27FC236}">
                <a16:creationId xmlns:a16="http://schemas.microsoft.com/office/drawing/2014/main" id="{314CE327-CF33-ED46-8FE7-9F27981626AD}"/>
              </a:ext>
            </a:extLst>
          </p:cNvPr>
          <p:cNvSpPr>
            <a:spLocks noChangeShapeType="1"/>
          </p:cNvSpPr>
          <p:nvPr/>
        </p:nvSpPr>
        <p:spPr bwMode="auto">
          <a:xfrm flipV="1">
            <a:off x="6172200" y="2819400"/>
            <a:ext cx="685800" cy="685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14" name="Rectangle 4">
            <a:extLst>
              <a:ext uri="{FF2B5EF4-FFF2-40B4-BE49-F238E27FC236}">
                <a16:creationId xmlns:a16="http://schemas.microsoft.com/office/drawing/2014/main" id="{39331A19-5835-5345-BBE4-5D776F3BAE7F}"/>
              </a:ext>
            </a:extLst>
          </p:cNvPr>
          <p:cNvSpPr>
            <a:spLocks noGrp="1" noChangeArrowheads="1"/>
          </p:cNvSpPr>
          <p:nvPr>
            <p:ph type="title"/>
          </p:nvPr>
        </p:nvSpPr>
        <p:spPr>
          <a:xfrm>
            <a:off x="914399" y="152400"/>
            <a:ext cx="10325819" cy="1523999"/>
          </a:xfrm>
        </p:spPr>
        <p:txBody>
          <a:bodyPr>
            <a:normAutofit/>
          </a:bodyPr>
          <a:lstStyle/>
          <a:p>
            <a:pPr>
              <a:defRPr/>
            </a:pPr>
            <a:r>
              <a:rPr lang="en-US" dirty="0"/>
              <a:t>Review: Competing Choice</a:t>
            </a:r>
            <a:br>
              <a:rPr lang="en-US" dirty="0"/>
            </a:br>
            <a:r>
              <a:rPr lang="en-US" dirty="0"/>
              <a:t> Incremental Cost-Effectiveness Analysis</a:t>
            </a:r>
          </a:p>
        </p:txBody>
      </p:sp>
    </p:spTree>
    <p:extLst>
      <p:ext uri="{BB962C8B-B14F-4D97-AF65-F5344CB8AC3E}">
        <p14:creationId xmlns:p14="http://schemas.microsoft.com/office/powerpoint/2010/main" val="1381908023"/>
      </p:ext>
    </p:extLst>
  </p:cSld>
  <p:clrMapOvr>
    <a:masterClrMapping/>
  </p:clrMapOvr>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8953BF8A-00AD-7A47-82C2-C4CB411F9CD2}"/>
              </a:ext>
            </a:extLst>
          </p:cNvPr>
          <p:cNvSpPr>
            <a:spLocks noChangeArrowheads="1"/>
          </p:cNvSpPr>
          <p:nvPr/>
        </p:nvSpPr>
        <p:spPr bwMode="auto">
          <a:xfrm>
            <a:off x="2209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15363" name="Rectangle 3">
            <a:extLst>
              <a:ext uri="{FF2B5EF4-FFF2-40B4-BE49-F238E27FC236}">
                <a16:creationId xmlns:a16="http://schemas.microsoft.com/office/drawing/2014/main" id="{925C224D-F2FF-C84C-A71C-5CEF2D6AF825}"/>
              </a:ext>
            </a:extLst>
          </p:cNvPr>
          <p:cNvSpPr>
            <a:spLocks noChangeArrowheads="1"/>
          </p:cNvSpPr>
          <p:nvPr/>
        </p:nvSpPr>
        <p:spPr bwMode="auto">
          <a:xfrm>
            <a:off x="4648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1086468" name="Rectangle 4">
            <a:extLst>
              <a:ext uri="{FF2B5EF4-FFF2-40B4-BE49-F238E27FC236}">
                <a16:creationId xmlns:a16="http://schemas.microsoft.com/office/drawing/2014/main" id="{33F9A123-C536-6D43-A51A-79F5D2F91A0A}"/>
              </a:ext>
            </a:extLst>
          </p:cNvPr>
          <p:cNvSpPr>
            <a:spLocks noGrp="1" noChangeArrowheads="1"/>
          </p:cNvSpPr>
          <p:nvPr>
            <p:ph type="title"/>
          </p:nvPr>
        </p:nvSpPr>
        <p:spPr>
          <a:xfrm>
            <a:off x="767751" y="304800"/>
            <a:ext cx="10532853" cy="990600"/>
          </a:xfrm>
        </p:spPr>
        <p:txBody>
          <a:bodyPr/>
          <a:lstStyle/>
          <a:p>
            <a:pPr>
              <a:defRPr/>
            </a:pPr>
            <a:r>
              <a:rPr lang="en-US" dirty="0"/>
              <a:t>Review: The Right Way</a:t>
            </a:r>
            <a:endParaRPr lang="en-US" sz="3600" dirty="0"/>
          </a:p>
        </p:txBody>
      </p:sp>
      <p:graphicFrame>
        <p:nvGraphicFramePr>
          <p:cNvPr id="1086548" name="Group 84">
            <a:extLst>
              <a:ext uri="{FF2B5EF4-FFF2-40B4-BE49-F238E27FC236}">
                <a16:creationId xmlns:a16="http://schemas.microsoft.com/office/drawing/2014/main" id="{3583559C-726E-D947-88C8-CC6537F42963}"/>
              </a:ext>
            </a:extLst>
          </p:cNvPr>
          <p:cNvGraphicFramePr>
            <a:graphicFrameLocks noGrp="1"/>
          </p:cNvGraphicFramePr>
          <p:nvPr/>
        </p:nvGraphicFramePr>
        <p:xfrm>
          <a:off x="1981200" y="1371601"/>
          <a:ext cx="8305800" cy="4104029"/>
        </p:xfrm>
        <a:graphic>
          <a:graphicData uri="http://schemas.openxmlformats.org/drawingml/2006/table">
            <a:tbl>
              <a:tblPr/>
              <a:tblGrid>
                <a:gridCol w="1447800">
                  <a:extLst>
                    <a:ext uri="{9D8B030D-6E8A-4147-A177-3AD203B41FA5}">
                      <a16:colId xmlns:a16="http://schemas.microsoft.com/office/drawing/2014/main" val="20000"/>
                    </a:ext>
                  </a:extLst>
                </a:gridCol>
                <a:gridCol w="1138238">
                  <a:extLst>
                    <a:ext uri="{9D8B030D-6E8A-4147-A177-3AD203B41FA5}">
                      <a16:colId xmlns:a16="http://schemas.microsoft.com/office/drawing/2014/main" val="20001"/>
                    </a:ext>
                  </a:extLst>
                </a:gridCol>
                <a:gridCol w="1217612">
                  <a:extLst>
                    <a:ext uri="{9D8B030D-6E8A-4147-A177-3AD203B41FA5}">
                      <a16:colId xmlns:a16="http://schemas.microsoft.com/office/drawing/2014/main" val="20002"/>
                    </a:ext>
                  </a:extLst>
                </a:gridCol>
                <a:gridCol w="1163638">
                  <a:extLst>
                    <a:ext uri="{9D8B030D-6E8A-4147-A177-3AD203B41FA5}">
                      <a16:colId xmlns:a16="http://schemas.microsoft.com/office/drawing/2014/main" val="20003"/>
                    </a:ext>
                  </a:extLst>
                </a:gridCol>
                <a:gridCol w="361950">
                  <a:extLst>
                    <a:ext uri="{9D8B030D-6E8A-4147-A177-3AD203B41FA5}">
                      <a16:colId xmlns:a16="http://schemas.microsoft.com/office/drawing/2014/main" val="20004"/>
                    </a:ext>
                  </a:extLst>
                </a:gridCol>
                <a:gridCol w="1268412">
                  <a:extLst>
                    <a:ext uri="{9D8B030D-6E8A-4147-A177-3AD203B41FA5}">
                      <a16:colId xmlns:a16="http://schemas.microsoft.com/office/drawing/2014/main" val="20005"/>
                    </a:ext>
                  </a:extLst>
                </a:gridCol>
                <a:gridCol w="263525">
                  <a:extLst>
                    <a:ext uri="{9D8B030D-6E8A-4147-A177-3AD203B41FA5}">
                      <a16:colId xmlns:a16="http://schemas.microsoft.com/office/drawing/2014/main" val="20006"/>
                    </a:ext>
                  </a:extLst>
                </a:gridCol>
                <a:gridCol w="1444625">
                  <a:extLst>
                    <a:ext uri="{9D8B030D-6E8A-4147-A177-3AD203B41FA5}">
                      <a16:colId xmlns:a16="http://schemas.microsoft.com/office/drawing/2014/main" val="20007"/>
                    </a:ext>
                  </a:extLst>
                </a:gridCol>
              </a:tblGrid>
              <a:tr h="822832">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Program</a:t>
                      </a:r>
                    </a:p>
                  </a:txBody>
                  <a:tcPr marT="45713" marB="45713"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Cost ($)</a:t>
                      </a:r>
                    </a:p>
                  </a:txBody>
                  <a:tcPr marT="45713" marB="45713"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Effect</a:t>
                      </a:r>
                    </a:p>
                  </a:txBody>
                  <a:tcPr marT="45713" marB="45713"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C/E</a:t>
                      </a:r>
                    </a:p>
                  </a:txBody>
                  <a:tcPr marT="45713" marB="45713" horzOverflow="overflow">
                    <a:lnL>
                      <a:noFill/>
                    </a:lnL>
                    <a:lnR>
                      <a:noFill/>
                    </a:lnR>
                    <a:lnT cap="fla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Cum. Cost</a:t>
                      </a:r>
                    </a:p>
                  </a:txBody>
                  <a:tcPr marT="45713" marB="45713" horzOverflow="overflow">
                    <a:lnL>
                      <a:noFill/>
                    </a:lnL>
                    <a:lnR>
                      <a:noFill/>
                    </a:lnR>
                    <a:lnT cap="fla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Cum. Effect</a:t>
                      </a:r>
                    </a:p>
                  </a:txBody>
                  <a:tcPr marT="45713" marB="45713" horzOverflow="overflow">
                    <a:lnL>
                      <a:noFill/>
                    </a:lnL>
                    <a:lnR cap="flat">
                      <a:noFill/>
                    </a:lnR>
                    <a:lnT cap="flat">
                      <a:noFill/>
                    </a:lnT>
                    <a:lnB>
                      <a:noFill/>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457129">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D</a:t>
                      </a:r>
                    </a:p>
                  </a:txBody>
                  <a:tcPr marT="45713" marB="4571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20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40</a:t>
                      </a:r>
                    </a:p>
                  </a:txBody>
                  <a:tcPr marT="45713" marB="45713"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0.5</a:t>
                      </a:r>
                    </a:p>
                  </a:txBody>
                  <a:tcPr marT="45713" marB="45713"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20</a:t>
                      </a:r>
                    </a:p>
                  </a:txBody>
                  <a:tcPr marT="45713" marB="45713"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40</a:t>
                      </a:r>
                    </a:p>
                  </a:txBody>
                  <a:tcPr marT="45713" marB="4571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457129">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E</a:t>
                      </a:r>
                    </a:p>
                  </a:txBody>
                  <a:tcPr marT="45713" marB="4571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30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50</a:t>
                      </a:r>
                    </a:p>
                  </a:txBody>
                  <a:tcPr marT="45713" marB="45713"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0.6</a:t>
                      </a:r>
                    </a:p>
                  </a:txBody>
                  <a:tcPr marT="45713" marB="45713"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50</a:t>
                      </a:r>
                    </a:p>
                  </a:txBody>
                  <a:tcPr marT="45713" marB="45713"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90</a:t>
                      </a:r>
                    </a:p>
                  </a:txBody>
                  <a:tcPr marT="45713" marB="4571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457129">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F</a:t>
                      </a:r>
                    </a:p>
                  </a:txBody>
                  <a:tcPr marT="45713" marB="4571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50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75</a:t>
                      </a:r>
                    </a:p>
                  </a:txBody>
                  <a:tcPr marT="45713" marB="45713"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0.667</a:t>
                      </a:r>
                    </a:p>
                  </a:txBody>
                  <a:tcPr marT="45713" marB="45713"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100</a:t>
                      </a:r>
                    </a:p>
                  </a:txBody>
                  <a:tcPr marT="45713" marB="45713"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165</a:t>
                      </a:r>
                    </a:p>
                  </a:txBody>
                  <a:tcPr marT="45713" marB="4571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458717">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rgbClr val="990033"/>
                          </a:solidFill>
                          <a:effectLst/>
                          <a:latin typeface="Arial" charset="0"/>
                        </a:rPr>
                        <a:t>H2</a:t>
                      </a:r>
                    </a:p>
                  </a:txBody>
                  <a:tcPr marT="45713" marB="4571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rgbClr val="990033"/>
                          </a:solidFill>
                          <a:effectLst/>
                          <a:latin typeface="Arial" charset="0"/>
                        </a:rPr>
                        <a:t>40</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rgbClr val="990033"/>
                          </a:solidFill>
                          <a:effectLst/>
                          <a:latin typeface="Arial" charset="0"/>
                        </a:rPr>
                        <a:t>65</a:t>
                      </a:r>
                    </a:p>
                  </a:txBody>
                  <a:tcPr marT="45713" marB="45713"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rgbClr val="990033"/>
                          </a:solidFill>
                          <a:effectLst/>
                          <a:latin typeface="Arial" charset="0"/>
                        </a:rPr>
                        <a:t>0.72</a:t>
                      </a:r>
                    </a:p>
                  </a:txBody>
                  <a:tcPr marT="45713" marB="45713"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rgbClr val="990033"/>
                          </a:solidFill>
                          <a:effectLst/>
                          <a:latin typeface="Arial" charset="0"/>
                        </a:rPr>
                        <a:t>140</a:t>
                      </a:r>
                    </a:p>
                  </a:txBody>
                  <a:tcPr marT="45713" marB="45713"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rgbClr val="990033"/>
                          </a:solidFill>
                          <a:effectLst/>
                          <a:latin typeface="Arial" charset="0"/>
                        </a:rPr>
                        <a:t>230</a:t>
                      </a:r>
                    </a:p>
                  </a:txBody>
                  <a:tcPr marT="45713" marB="4571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458717">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a:t>
                      </a:r>
                    </a:p>
                  </a:txBody>
                  <a:tcPr marT="45713" marB="4571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56</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70</a:t>
                      </a:r>
                    </a:p>
                  </a:txBody>
                  <a:tcPr marT="45713" marB="45713"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0.8</a:t>
                      </a:r>
                    </a:p>
                  </a:txBody>
                  <a:tcPr marT="45713" marB="45713"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196</a:t>
                      </a:r>
                    </a:p>
                  </a:txBody>
                  <a:tcPr marT="45713" marB="45713"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300</a:t>
                      </a:r>
                    </a:p>
                  </a:txBody>
                  <a:tcPr marT="45713" marB="4571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457129">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A</a:t>
                      </a:r>
                    </a:p>
                  </a:txBody>
                  <a:tcPr marT="45713" marB="4571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27</a:t>
                      </a:r>
                    </a:p>
                  </a:txBody>
                  <a:tcPr marT="45713" marB="4571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30</a:t>
                      </a:r>
                    </a:p>
                  </a:txBody>
                  <a:tcPr marT="45713" marB="45713"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0.9</a:t>
                      </a:r>
                    </a:p>
                  </a:txBody>
                  <a:tcPr marT="45713" marB="45713"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3" marB="45713"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3" marB="4571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534905">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B</a:t>
                      </a:r>
                    </a:p>
                  </a:txBody>
                  <a:tcPr marT="45713" marB="45713"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30</a:t>
                      </a:r>
                    </a:p>
                  </a:txBody>
                  <a:tcPr marT="45713" marB="45713"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20</a:t>
                      </a:r>
                    </a:p>
                  </a:txBody>
                  <a:tcPr marT="45713" marB="45713" horzOverflow="overflow">
                    <a:lnL>
                      <a:noFill/>
                    </a:lnL>
                    <a:lnR>
                      <a:noFill/>
                    </a:lnR>
                    <a:lnT>
                      <a:noFill/>
                    </a:lnT>
                    <a:lnB cap="flat">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1.5</a:t>
                      </a:r>
                    </a:p>
                  </a:txBody>
                  <a:tcPr marT="45713" marB="45713" horzOverflow="overflow">
                    <a:lnL>
                      <a:noFill/>
                    </a:lnL>
                    <a:lnR>
                      <a:noFill/>
                    </a:lnR>
                    <a:lnT>
                      <a:noFill/>
                    </a:lnT>
                    <a:lnB cap="flat">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3" marB="45713" horzOverflow="overflow">
                    <a:lnL>
                      <a:noFill/>
                    </a:lnL>
                    <a:lnR>
                      <a:noFill/>
                    </a:lnR>
                    <a:lnT>
                      <a:noFill/>
                    </a:lnT>
                    <a:lnB cap="flat">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3" marB="45713"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7"/>
                  </a:ext>
                </a:extLst>
              </a:tr>
            </a:tbl>
          </a:graphicData>
        </a:graphic>
      </p:graphicFrame>
      <p:sp>
        <p:nvSpPr>
          <p:cNvPr id="15414" name="Line 78">
            <a:extLst>
              <a:ext uri="{FF2B5EF4-FFF2-40B4-BE49-F238E27FC236}">
                <a16:creationId xmlns:a16="http://schemas.microsoft.com/office/drawing/2014/main" id="{02C91C0D-BF7C-BE40-992F-302BB7D2E39C}"/>
              </a:ext>
            </a:extLst>
          </p:cNvPr>
          <p:cNvSpPr>
            <a:spLocks noChangeShapeType="1"/>
          </p:cNvSpPr>
          <p:nvPr/>
        </p:nvSpPr>
        <p:spPr bwMode="auto">
          <a:xfrm>
            <a:off x="1981200" y="2209800"/>
            <a:ext cx="81534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15415" name="Line 79">
            <a:extLst>
              <a:ext uri="{FF2B5EF4-FFF2-40B4-BE49-F238E27FC236}">
                <a16:creationId xmlns:a16="http://schemas.microsoft.com/office/drawing/2014/main" id="{F19C8ADB-C8A9-7547-B0F3-2AC4B975C3A6}"/>
              </a:ext>
            </a:extLst>
          </p:cNvPr>
          <p:cNvSpPr>
            <a:spLocks noChangeShapeType="1"/>
          </p:cNvSpPr>
          <p:nvPr/>
        </p:nvSpPr>
        <p:spPr bwMode="auto">
          <a:xfrm>
            <a:off x="1981200" y="1295400"/>
            <a:ext cx="82296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15416" name="Text Box 80">
            <a:extLst>
              <a:ext uri="{FF2B5EF4-FFF2-40B4-BE49-F238E27FC236}">
                <a16:creationId xmlns:a16="http://schemas.microsoft.com/office/drawing/2014/main" id="{30373DBF-737C-734A-878C-A83611A6E35F}"/>
              </a:ext>
            </a:extLst>
          </p:cNvPr>
          <p:cNvSpPr txBox="1">
            <a:spLocks noChangeArrowheads="1"/>
          </p:cNvSpPr>
          <p:nvPr/>
        </p:nvSpPr>
        <p:spPr bwMode="auto">
          <a:xfrm>
            <a:off x="2438400" y="5562600"/>
            <a:ext cx="7239000" cy="8318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2400" b="0">
                <a:solidFill>
                  <a:srgbClr val="990033"/>
                </a:solidFill>
              </a:rPr>
              <a:t>Maximum benefit is obtained by implementing D,E,H2,F,(40/56)C </a:t>
            </a:r>
            <a:r>
              <a:rPr lang="en-US" altLang="en-MX" sz="2400">
                <a:solidFill>
                  <a:srgbClr val="990033"/>
                </a:solidFill>
              </a:rPr>
              <a:t>= 280</a:t>
            </a:r>
            <a:r>
              <a:rPr lang="en-US" altLang="en-MX" sz="2400" b="0">
                <a:solidFill>
                  <a:srgbClr val="990033"/>
                </a:solidFill>
              </a:rPr>
              <a:t>.</a:t>
            </a:r>
          </a:p>
        </p:txBody>
      </p:sp>
      <p:sp>
        <p:nvSpPr>
          <p:cNvPr id="15417" name="Line 81">
            <a:extLst>
              <a:ext uri="{FF2B5EF4-FFF2-40B4-BE49-F238E27FC236}">
                <a16:creationId xmlns:a16="http://schemas.microsoft.com/office/drawing/2014/main" id="{1A4BD213-7377-A643-BA70-333CE5A4787B}"/>
              </a:ext>
            </a:extLst>
          </p:cNvPr>
          <p:cNvSpPr>
            <a:spLocks noChangeShapeType="1"/>
          </p:cNvSpPr>
          <p:nvPr/>
        </p:nvSpPr>
        <p:spPr bwMode="auto">
          <a:xfrm>
            <a:off x="1981200" y="4306478"/>
            <a:ext cx="8001000" cy="0"/>
          </a:xfrm>
          <a:prstGeom prst="line">
            <a:avLst/>
          </a:prstGeom>
          <a:noFill/>
          <a:ln w="28575">
            <a:solidFill>
              <a:srgbClr val="000000"/>
            </a:solidFill>
            <a:prstDash val="dashDot"/>
            <a:round/>
            <a:headEnd/>
            <a:tailEnd/>
          </a:ln>
          <a:extLst>
            <a:ext uri="{909E8E84-426E-40DD-AFC4-6F175D3DCCD1}">
              <a14:hiddenFill xmlns:a14="http://schemas.microsoft.com/office/drawing/2010/main">
                <a:noFill/>
              </a14:hiddenFill>
            </a:ext>
          </a:extLst>
        </p:spPr>
        <p:txBody>
          <a:bodyPr/>
          <a:lstStyle/>
          <a:p>
            <a:endParaRPr lang="en-MX"/>
          </a:p>
        </p:txBody>
      </p:sp>
    </p:spTree>
    <p:extLst>
      <p:ext uri="{BB962C8B-B14F-4D97-AF65-F5344CB8AC3E}">
        <p14:creationId xmlns:p14="http://schemas.microsoft.com/office/powerpoint/2010/main" val="2981411098"/>
      </p:ext>
    </p:extLst>
  </p:cSld>
  <p:clrMapOvr>
    <a:masterClrMapping/>
  </p:clrMapOvr>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BE410911-7F0F-BB4F-85F2-6A8562185487}"/>
              </a:ext>
            </a:extLst>
          </p:cNvPr>
          <p:cNvSpPr>
            <a:spLocks noChangeArrowheads="1"/>
          </p:cNvSpPr>
          <p:nvPr/>
        </p:nvSpPr>
        <p:spPr bwMode="auto">
          <a:xfrm>
            <a:off x="2209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16387" name="Rectangle 3">
            <a:extLst>
              <a:ext uri="{FF2B5EF4-FFF2-40B4-BE49-F238E27FC236}">
                <a16:creationId xmlns:a16="http://schemas.microsoft.com/office/drawing/2014/main" id="{57697CE8-5983-554C-B4CC-D1BC3ADDADD4}"/>
              </a:ext>
            </a:extLst>
          </p:cNvPr>
          <p:cNvSpPr>
            <a:spLocks noChangeArrowheads="1"/>
          </p:cNvSpPr>
          <p:nvPr/>
        </p:nvSpPr>
        <p:spPr bwMode="auto">
          <a:xfrm>
            <a:off x="4648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1095684" name="Rectangle 4">
            <a:extLst>
              <a:ext uri="{FF2B5EF4-FFF2-40B4-BE49-F238E27FC236}">
                <a16:creationId xmlns:a16="http://schemas.microsoft.com/office/drawing/2014/main" id="{D4CE80FF-71EB-8F42-9862-AB14CB986EC4}"/>
              </a:ext>
            </a:extLst>
          </p:cNvPr>
          <p:cNvSpPr>
            <a:spLocks noGrp="1" noChangeArrowheads="1"/>
          </p:cNvSpPr>
          <p:nvPr>
            <p:ph type="title"/>
          </p:nvPr>
        </p:nvSpPr>
        <p:spPr>
          <a:xfrm>
            <a:off x="776377" y="228600"/>
            <a:ext cx="10472468" cy="990600"/>
          </a:xfrm>
        </p:spPr>
        <p:txBody>
          <a:bodyPr/>
          <a:lstStyle/>
          <a:p>
            <a:pPr>
              <a:defRPr/>
            </a:pPr>
            <a:r>
              <a:rPr lang="en-US" dirty="0"/>
              <a:t>Review: The Right Way</a:t>
            </a:r>
            <a:endParaRPr lang="en-US" sz="3600" dirty="0"/>
          </a:p>
        </p:txBody>
      </p:sp>
      <p:graphicFrame>
        <p:nvGraphicFramePr>
          <p:cNvPr id="1095782" name="Group 102">
            <a:extLst>
              <a:ext uri="{FF2B5EF4-FFF2-40B4-BE49-F238E27FC236}">
                <a16:creationId xmlns:a16="http://schemas.microsoft.com/office/drawing/2014/main" id="{BCB1D180-C622-8641-A17E-33A1E5E6CA1F}"/>
              </a:ext>
            </a:extLst>
          </p:cNvPr>
          <p:cNvGraphicFramePr>
            <a:graphicFrameLocks noGrp="1"/>
          </p:cNvGraphicFramePr>
          <p:nvPr/>
        </p:nvGraphicFramePr>
        <p:xfrm>
          <a:off x="1981200" y="1295400"/>
          <a:ext cx="8153400" cy="5093061"/>
        </p:xfrm>
        <a:graphic>
          <a:graphicData uri="http://schemas.openxmlformats.org/drawingml/2006/table">
            <a:tbl>
              <a:tblPr/>
              <a:tblGrid>
                <a:gridCol w="1524000">
                  <a:extLst>
                    <a:ext uri="{9D8B030D-6E8A-4147-A177-3AD203B41FA5}">
                      <a16:colId xmlns:a16="http://schemas.microsoft.com/office/drawing/2014/main" val="20000"/>
                    </a:ext>
                  </a:extLst>
                </a:gridCol>
                <a:gridCol w="1014413">
                  <a:extLst>
                    <a:ext uri="{9D8B030D-6E8A-4147-A177-3AD203B41FA5}">
                      <a16:colId xmlns:a16="http://schemas.microsoft.com/office/drawing/2014/main" val="20001"/>
                    </a:ext>
                  </a:extLst>
                </a:gridCol>
                <a:gridCol w="1195387">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354013">
                  <a:extLst>
                    <a:ext uri="{9D8B030D-6E8A-4147-A177-3AD203B41FA5}">
                      <a16:colId xmlns:a16="http://schemas.microsoft.com/office/drawing/2014/main" val="20004"/>
                    </a:ext>
                  </a:extLst>
                </a:gridCol>
                <a:gridCol w="1246187">
                  <a:extLst>
                    <a:ext uri="{9D8B030D-6E8A-4147-A177-3AD203B41FA5}">
                      <a16:colId xmlns:a16="http://schemas.microsoft.com/office/drawing/2014/main" val="20005"/>
                    </a:ext>
                  </a:extLst>
                </a:gridCol>
                <a:gridCol w="258763">
                  <a:extLst>
                    <a:ext uri="{9D8B030D-6E8A-4147-A177-3AD203B41FA5}">
                      <a16:colId xmlns:a16="http://schemas.microsoft.com/office/drawing/2014/main" val="20006"/>
                    </a:ext>
                  </a:extLst>
                </a:gridCol>
                <a:gridCol w="1417637">
                  <a:extLst>
                    <a:ext uri="{9D8B030D-6E8A-4147-A177-3AD203B41FA5}">
                      <a16:colId xmlns:a16="http://schemas.microsoft.com/office/drawing/2014/main" val="20007"/>
                    </a:ext>
                  </a:extLst>
                </a:gridCol>
              </a:tblGrid>
              <a:tr h="822857">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Program</a:t>
                      </a:r>
                    </a:p>
                  </a:txBody>
                  <a:tcPr marT="45714" marB="45714"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Cost ($)</a:t>
                      </a:r>
                    </a:p>
                  </a:txBody>
                  <a:tcPr marT="45714" marB="45714"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Effect</a:t>
                      </a:r>
                    </a:p>
                  </a:txBody>
                  <a:tcPr marT="45714" marB="45714"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C/E</a:t>
                      </a:r>
                    </a:p>
                  </a:txBody>
                  <a:tcPr marT="45714" marB="45714" horzOverflow="overflow">
                    <a:lnL>
                      <a:noFill/>
                    </a:lnL>
                    <a:lnR>
                      <a:noFill/>
                    </a:lnR>
                    <a:lnT cap="fla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Cum. Cost</a:t>
                      </a:r>
                    </a:p>
                  </a:txBody>
                  <a:tcPr marT="45714" marB="45714" horzOverflow="overflow">
                    <a:lnL>
                      <a:noFill/>
                    </a:lnL>
                    <a:lnR>
                      <a:noFill/>
                    </a:lnR>
                    <a:lnT cap="fla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Cum. Effect</a:t>
                      </a:r>
                    </a:p>
                  </a:txBody>
                  <a:tcPr marT="45714" marB="45714" horzOverflow="overflow">
                    <a:lnL>
                      <a:noFill/>
                    </a:lnL>
                    <a:lnR cap="flat">
                      <a:noFill/>
                    </a:lnR>
                    <a:lnT cap="flat">
                      <a:noFill/>
                    </a:lnT>
                    <a:lnB>
                      <a:noFill/>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45714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D</a:t>
                      </a:r>
                    </a:p>
                  </a:txBody>
                  <a:tcPr marT="45714" marB="45714"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20</a:t>
                      </a:r>
                    </a:p>
                  </a:txBody>
                  <a:tcPr marT="45714" marB="45714"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40</a:t>
                      </a:r>
                    </a:p>
                  </a:txBody>
                  <a:tcPr marT="45714" marB="45714"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0.5</a:t>
                      </a: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20</a:t>
                      </a: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40</a:t>
                      </a:r>
                    </a:p>
                  </a:txBody>
                  <a:tcPr marT="45714" marB="45714"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45714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rgbClr val="990033"/>
                          </a:solidFill>
                          <a:effectLst/>
                          <a:latin typeface="Arial" charset="0"/>
                        </a:rPr>
                        <a:t>H4</a:t>
                      </a:r>
                    </a:p>
                  </a:txBody>
                  <a:tcPr marT="45714" marB="45714"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rgbClr val="990033"/>
                          </a:solidFill>
                          <a:effectLst/>
                          <a:latin typeface="Arial" charset="0"/>
                        </a:rPr>
                        <a:t>22</a:t>
                      </a:r>
                    </a:p>
                  </a:txBody>
                  <a:tcPr marT="45714" marB="45714"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rgbClr val="990033"/>
                          </a:solidFill>
                          <a:effectLst/>
                          <a:latin typeface="Arial" charset="0"/>
                        </a:rPr>
                        <a:t>40</a:t>
                      </a:r>
                    </a:p>
                  </a:txBody>
                  <a:tcPr marT="45714" marB="45714"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rgbClr val="990033"/>
                          </a:solidFill>
                          <a:effectLst/>
                          <a:latin typeface="Arial" charset="0"/>
                        </a:rPr>
                        <a:t>0.55</a:t>
                      </a: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rgbClr val="990033"/>
                          </a:solidFill>
                          <a:effectLst/>
                          <a:latin typeface="Arial" charset="0"/>
                        </a:rPr>
                        <a:t>42</a:t>
                      </a: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rgbClr val="990033"/>
                          </a:solidFill>
                          <a:effectLst/>
                          <a:latin typeface="Arial" charset="0"/>
                        </a:rPr>
                        <a:t>80</a:t>
                      </a:r>
                    </a:p>
                  </a:txBody>
                  <a:tcPr marT="45714" marB="45714"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458731">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E</a:t>
                      </a:r>
                    </a:p>
                  </a:txBody>
                  <a:tcPr marT="45714" marB="45714"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30</a:t>
                      </a:r>
                    </a:p>
                  </a:txBody>
                  <a:tcPr marT="45714" marB="45714"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50</a:t>
                      </a:r>
                    </a:p>
                  </a:txBody>
                  <a:tcPr marT="45714" marB="45714"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0.6</a:t>
                      </a: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72</a:t>
                      </a: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130</a:t>
                      </a:r>
                    </a:p>
                  </a:txBody>
                  <a:tcPr marT="45714" marB="45714"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3333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F</a:t>
                      </a:r>
                    </a:p>
                  </a:txBody>
                  <a:tcPr marT="45714" marB="45714"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50</a:t>
                      </a:r>
                    </a:p>
                  </a:txBody>
                  <a:tcPr marT="45714" marB="45714"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75</a:t>
                      </a:r>
                    </a:p>
                  </a:txBody>
                  <a:tcPr marT="45714" marB="45714"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0.667</a:t>
                      </a: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122</a:t>
                      </a: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205</a:t>
                      </a:r>
                    </a:p>
                  </a:txBody>
                  <a:tcPr marT="45714" marB="45714"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45714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rgbClr val="990033"/>
                          </a:solidFill>
                          <a:effectLst/>
                          <a:latin typeface="Arial" charset="0"/>
                        </a:rPr>
                        <a:t>H2</a:t>
                      </a:r>
                      <a:r>
                        <a:rPr kumimoji="0" lang="en-US" sz="2400" b="0" i="0" u="none" strike="noStrike" cap="none" normalizeH="0" baseline="0">
                          <a:ln>
                            <a:noFill/>
                          </a:ln>
                          <a:solidFill>
                            <a:srgbClr val="990033"/>
                          </a:solidFill>
                          <a:effectLst/>
                          <a:latin typeface="Arial" charset="0"/>
                          <a:cs typeface="Arial" charset="0"/>
                        </a:rPr>
                        <a:t>→</a:t>
                      </a:r>
                      <a:r>
                        <a:rPr kumimoji="0" lang="en-US" sz="2400" b="0" i="0" u="none" strike="noStrike" cap="none" normalizeH="0" baseline="0">
                          <a:ln>
                            <a:noFill/>
                          </a:ln>
                          <a:solidFill>
                            <a:srgbClr val="990033"/>
                          </a:solidFill>
                          <a:effectLst/>
                          <a:latin typeface="Arial" charset="0"/>
                        </a:rPr>
                        <a:t>H4</a:t>
                      </a:r>
                    </a:p>
                  </a:txBody>
                  <a:tcPr marT="45714" marB="45714"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rgbClr val="990033"/>
                          </a:solidFill>
                          <a:effectLst/>
                          <a:latin typeface="Arial" charset="0"/>
                        </a:rPr>
                        <a:t>18</a:t>
                      </a:r>
                    </a:p>
                  </a:txBody>
                  <a:tcPr marT="45714" marB="45714"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rgbClr val="990033"/>
                          </a:solidFill>
                          <a:effectLst/>
                          <a:latin typeface="Arial" charset="0"/>
                        </a:rPr>
                        <a:t>25</a:t>
                      </a:r>
                    </a:p>
                  </a:txBody>
                  <a:tcPr marT="45714" marB="45714"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rgbClr val="990033"/>
                          </a:solidFill>
                          <a:effectLst/>
                          <a:latin typeface="Arial" charset="0"/>
                        </a:rPr>
                        <a:t>0.72</a:t>
                      </a: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rgbClr val="990033"/>
                          </a:solidFill>
                          <a:effectLst/>
                          <a:latin typeface="Arial" charset="0"/>
                        </a:rPr>
                        <a:t>140</a:t>
                      </a: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rgbClr val="990033"/>
                          </a:solidFill>
                          <a:effectLst/>
                          <a:latin typeface="Arial" charset="0"/>
                        </a:rPr>
                        <a:t>230</a:t>
                      </a:r>
                    </a:p>
                  </a:txBody>
                  <a:tcPr marT="45714" marB="45714"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534921">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a:t>
                      </a:r>
                    </a:p>
                  </a:txBody>
                  <a:tcPr marT="45714" marB="45714"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56</a:t>
                      </a:r>
                    </a:p>
                  </a:txBody>
                  <a:tcPr marT="45714" marB="45714"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70</a:t>
                      </a:r>
                    </a:p>
                  </a:txBody>
                  <a:tcPr marT="45714" marB="45714"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0.8</a:t>
                      </a: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196</a:t>
                      </a: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300</a:t>
                      </a:r>
                    </a:p>
                  </a:txBody>
                  <a:tcPr marT="45714" marB="45714"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45714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A</a:t>
                      </a:r>
                    </a:p>
                  </a:txBody>
                  <a:tcPr marT="45714" marB="45714"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27</a:t>
                      </a:r>
                    </a:p>
                  </a:txBody>
                  <a:tcPr marT="45714" marB="45714"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30</a:t>
                      </a:r>
                    </a:p>
                  </a:txBody>
                  <a:tcPr marT="45714" marB="45714"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0.9</a:t>
                      </a: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223</a:t>
                      </a: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330</a:t>
                      </a:r>
                    </a:p>
                  </a:txBody>
                  <a:tcPr marT="45714" marB="45714"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7"/>
                  </a:ext>
                </a:extLst>
              </a:tr>
              <a:tr h="45714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rgbClr val="990033"/>
                          </a:solidFill>
                          <a:effectLst/>
                          <a:latin typeface="Arial" charset="0"/>
                        </a:rPr>
                        <a:t>H1</a:t>
                      </a:r>
                      <a:r>
                        <a:rPr kumimoji="0" lang="en-US" sz="2400" b="0" i="0" u="none" strike="noStrike" cap="none" normalizeH="0" baseline="0">
                          <a:ln>
                            <a:noFill/>
                          </a:ln>
                          <a:solidFill>
                            <a:srgbClr val="990033"/>
                          </a:solidFill>
                          <a:effectLst/>
                          <a:latin typeface="Arial" charset="0"/>
                          <a:cs typeface="Arial" charset="0"/>
                        </a:rPr>
                        <a:t>→</a:t>
                      </a:r>
                      <a:r>
                        <a:rPr kumimoji="0" lang="en-US" sz="2400" b="0" i="0" u="none" strike="noStrike" cap="none" normalizeH="0" baseline="0">
                          <a:ln>
                            <a:noFill/>
                          </a:ln>
                          <a:solidFill>
                            <a:srgbClr val="990033"/>
                          </a:solidFill>
                          <a:effectLst/>
                          <a:latin typeface="Arial" charset="0"/>
                        </a:rPr>
                        <a:t>H2</a:t>
                      </a:r>
                    </a:p>
                  </a:txBody>
                  <a:tcPr marT="45714" marB="45714"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rgbClr val="990033"/>
                          </a:solidFill>
                          <a:effectLst/>
                          <a:latin typeface="Arial" charset="0"/>
                        </a:rPr>
                        <a:t>20</a:t>
                      </a:r>
                    </a:p>
                  </a:txBody>
                  <a:tcPr marT="45714" marB="45714"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rgbClr val="990033"/>
                          </a:solidFill>
                          <a:effectLst/>
                          <a:latin typeface="Arial" charset="0"/>
                        </a:rPr>
                        <a:t>15</a:t>
                      </a:r>
                    </a:p>
                  </a:txBody>
                  <a:tcPr marT="45714" marB="45714"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rgbClr val="990033"/>
                          </a:solidFill>
                          <a:effectLst/>
                          <a:latin typeface="Arial" charset="0"/>
                        </a:rPr>
                        <a:t>1.33</a:t>
                      </a: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rgbClr val="990033"/>
                          </a:solidFill>
                          <a:effectLst/>
                          <a:latin typeface="Arial" charset="0"/>
                        </a:rPr>
                        <a:t>243</a:t>
                      </a: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rgbClr val="990033"/>
                          </a:solidFill>
                          <a:effectLst/>
                          <a:latin typeface="Arial" charset="0"/>
                        </a:rPr>
                        <a:t>345</a:t>
                      </a:r>
                    </a:p>
                  </a:txBody>
                  <a:tcPr marT="45714" marB="45714"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8"/>
                  </a:ext>
                </a:extLst>
              </a:tr>
              <a:tr h="45714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B</a:t>
                      </a:r>
                    </a:p>
                  </a:txBody>
                  <a:tcPr marT="45714" marB="45714"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30</a:t>
                      </a:r>
                    </a:p>
                  </a:txBody>
                  <a:tcPr marT="45714" marB="45714"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20</a:t>
                      </a:r>
                    </a:p>
                  </a:txBody>
                  <a:tcPr marT="45714" marB="45714" horzOverflow="overflow">
                    <a:lnL>
                      <a:noFill/>
                    </a:lnL>
                    <a:lnR>
                      <a:noFill/>
                    </a:lnR>
                    <a:lnT>
                      <a:noFill/>
                    </a:lnT>
                    <a:lnB cap="flat">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1.5</a:t>
                      </a:r>
                    </a:p>
                  </a:txBody>
                  <a:tcPr marT="45714" marB="45714" horzOverflow="overflow">
                    <a:lnL>
                      <a:noFill/>
                    </a:lnL>
                    <a:lnR>
                      <a:noFill/>
                    </a:lnR>
                    <a:lnT>
                      <a:noFill/>
                    </a:lnT>
                    <a:lnB cap="flat">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273</a:t>
                      </a:r>
                    </a:p>
                  </a:txBody>
                  <a:tcPr marT="45714" marB="45714" horzOverflow="overflow">
                    <a:lnL>
                      <a:noFill/>
                    </a:lnL>
                    <a:lnR>
                      <a:noFill/>
                    </a:lnR>
                    <a:lnT>
                      <a:noFill/>
                    </a:lnT>
                    <a:lnB cap="flat">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365</a:t>
                      </a:r>
                    </a:p>
                  </a:txBody>
                  <a:tcPr marT="45714" marB="45714"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9"/>
                  </a:ext>
                </a:extLst>
              </a:tr>
            </a:tbl>
          </a:graphicData>
        </a:graphic>
      </p:graphicFrame>
      <p:sp>
        <p:nvSpPr>
          <p:cNvPr id="16450" name="Line 92">
            <a:extLst>
              <a:ext uri="{FF2B5EF4-FFF2-40B4-BE49-F238E27FC236}">
                <a16:creationId xmlns:a16="http://schemas.microsoft.com/office/drawing/2014/main" id="{125560C3-0254-D541-BF85-91B29B73EA24}"/>
              </a:ext>
            </a:extLst>
          </p:cNvPr>
          <p:cNvSpPr>
            <a:spLocks noChangeShapeType="1"/>
          </p:cNvSpPr>
          <p:nvPr/>
        </p:nvSpPr>
        <p:spPr bwMode="auto">
          <a:xfrm>
            <a:off x="2057400" y="2133600"/>
            <a:ext cx="79248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16451" name="Line 93">
            <a:extLst>
              <a:ext uri="{FF2B5EF4-FFF2-40B4-BE49-F238E27FC236}">
                <a16:creationId xmlns:a16="http://schemas.microsoft.com/office/drawing/2014/main" id="{A814F982-8A83-4049-9439-79BDA55CC8DC}"/>
              </a:ext>
            </a:extLst>
          </p:cNvPr>
          <p:cNvSpPr>
            <a:spLocks noChangeShapeType="1"/>
          </p:cNvSpPr>
          <p:nvPr/>
        </p:nvSpPr>
        <p:spPr bwMode="auto">
          <a:xfrm>
            <a:off x="2133600" y="1219200"/>
            <a:ext cx="80772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16452" name="Line 99">
            <a:extLst>
              <a:ext uri="{FF2B5EF4-FFF2-40B4-BE49-F238E27FC236}">
                <a16:creationId xmlns:a16="http://schemas.microsoft.com/office/drawing/2014/main" id="{524E7215-7FEA-B342-9C13-EE9BB541D65A}"/>
              </a:ext>
            </a:extLst>
          </p:cNvPr>
          <p:cNvSpPr>
            <a:spLocks noChangeShapeType="1"/>
          </p:cNvSpPr>
          <p:nvPr/>
        </p:nvSpPr>
        <p:spPr bwMode="auto">
          <a:xfrm>
            <a:off x="1981200" y="4953000"/>
            <a:ext cx="8001000" cy="0"/>
          </a:xfrm>
          <a:prstGeom prst="line">
            <a:avLst/>
          </a:prstGeom>
          <a:noFill/>
          <a:ln w="28575">
            <a:solidFill>
              <a:srgbClr val="000000"/>
            </a:solidFill>
            <a:prstDash val="dashDot"/>
            <a:round/>
            <a:headEnd/>
            <a:tailEnd/>
          </a:ln>
          <a:extLst>
            <a:ext uri="{909E8E84-426E-40DD-AFC4-6F175D3DCCD1}">
              <a14:hiddenFill xmlns:a14="http://schemas.microsoft.com/office/drawing/2010/main">
                <a:noFill/>
              </a14:hiddenFill>
            </a:ext>
          </a:extLst>
        </p:spPr>
        <p:txBody>
          <a:bodyPr/>
          <a:lstStyle/>
          <a:p>
            <a:endParaRPr lang="en-MX"/>
          </a:p>
        </p:txBody>
      </p:sp>
    </p:spTree>
    <p:extLst>
      <p:ext uri="{BB962C8B-B14F-4D97-AF65-F5344CB8AC3E}">
        <p14:creationId xmlns:p14="http://schemas.microsoft.com/office/powerpoint/2010/main" val="237017135"/>
      </p:ext>
    </p:extLst>
  </p:cSld>
  <p:clrMapOvr>
    <a:masterClrMapping/>
  </p:clrMapOvr>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02" name="Rectangle 2">
            <a:extLst>
              <a:ext uri="{FF2B5EF4-FFF2-40B4-BE49-F238E27FC236}">
                <a16:creationId xmlns:a16="http://schemas.microsoft.com/office/drawing/2014/main" id="{5B4523FD-C4FD-0947-A3EE-8AD78345E321}"/>
              </a:ext>
            </a:extLst>
          </p:cNvPr>
          <p:cNvSpPr>
            <a:spLocks noGrp="1" noChangeArrowheads="1"/>
          </p:cNvSpPr>
          <p:nvPr>
            <p:ph type="title"/>
          </p:nvPr>
        </p:nvSpPr>
        <p:spPr>
          <a:xfrm>
            <a:off x="877615" y="381000"/>
            <a:ext cx="10288829" cy="1143000"/>
          </a:xfrm>
        </p:spPr>
        <p:txBody>
          <a:bodyPr>
            <a:normAutofit/>
          </a:bodyPr>
          <a:lstStyle/>
          <a:p>
            <a:pPr>
              <a:defRPr/>
            </a:pPr>
            <a:r>
              <a:rPr lang="en-US" dirty="0"/>
              <a:t>Review: Results of Competing Choice</a:t>
            </a:r>
          </a:p>
        </p:txBody>
      </p:sp>
      <p:sp>
        <p:nvSpPr>
          <p:cNvPr id="17411" name="Line 3">
            <a:extLst>
              <a:ext uri="{FF2B5EF4-FFF2-40B4-BE49-F238E27FC236}">
                <a16:creationId xmlns:a16="http://schemas.microsoft.com/office/drawing/2014/main" id="{6632A756-4812-4444-B563-3BB80A88C638}"/>
              </a:ext>
            </a:extLst>
          </p:cNvPr>
          <p:cNvSpPr>
            <a:spLocks noChangeShapeType="1"/>
          </p:cNvSpPr>
          <p:nvPr/>
        </p:nvSpPr>
        <p:spPr bwMode="auto">
          <a:xfrm flipV="1">
            <a:off x="2989264" y="4441826"/>
            <a:ext cx="2014537" cy="1065213"/>
          </a:xfrm>
          <a:prstGeom prst="line">
            <a:avLst/>
          </a:prstGeom>
          <a:noFill/>
          <a:ln w="17463">
            <a:solidFill>
              <a:srgbClr val="C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17412" name="Line 4">
            <a:extLst>
              <a:ext uri="{FF2B5EF4-FFF2-40B4-BE49-F238E27FC236}">
                <a16:creationId xmlns:a16="http://schemas.microsoft.com/office/drawing/2014/main" id="{255C03F7-206E-BB43-982E-E09B5B741432}"/>
              </a:ext>
            </a:extLst>
          </p:cNvPr>
          <p:cNvSpPr>
            <a:spLocks noChangeShapeType="1"/>
          </p:cNvSpPr>
          <p:nvPr/>
        </p:nvSpPr>
        <p:spPr bwMode="auto">
          <a:xfrm flipV="1">
            <a:off x="5003800" y="3571875"/>
            <a:ext cx="1258888" cy="869950"/>
          </a:xfrm>
          <a:prstGeom prst="line">
            <a:avLst/>
          </a:prstGeom>
          <a:noFill/>
          <a:ln w="17463">
            <a:solidFill>
              <a:srgbClr val="C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17413" name="Line 5">
            <a:extLst>
              <a:ext uri="{FF2B5EF4-FFF2-40B4-BE49-F238E27FC236}">
                <a16:creationId xmlns:a16="http://schemas.microsoft.com/office/drawing/2014/main" id="{883A2160-4524-C04D-B78E-2FD1AABD4530}"/>
              </a:ext>
            </a:extLst>
          </p:cNvPr>
          <p:cNvSpPr>
            <a:spLocks noChangeShapeType="1"/>
          </p:cNvSpPr>
          <p:nvPr/>
        </p:nvSpPr>
        <p:spPr bwMode="auto">
          <a:xfrm flipV="1">
            <a:off x="6262688" y="2603501"/>
            <a:ext cx="755650" cy="968375"/>
          </a:xfrm>
          <a:prstGeom prst="line">
            <a:avLst/>
          </a:prstGeom>
          <a:noFill/>
          <a:ln w="17463">
            <a:solidFill>
              <a:srgbClr val="C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17414" name="Rectangle 6">
            <a:extLst>
              <a:ext uri="{FF2B5EF4-FFF2-40B4-BE49-F238E27FC236}">
                <a16:creationId xmlns:a16="http://schemas.microsoft.com/office/drawing/2014/main" id="{11E84EB0-5740-0346-8310-0E576A8F5E1F}"/>
              </a:ext>
            </a:extLst>
          </p:cNvPr>
          <p:cNvSpPr>
            <a:spLocks noChangeArrowheads="1"/>
          </p:cNvSpPr>
          <p:nvPr/>
        </p:nvSpPr>
        <p:spPr bwMode="auto">
          <a:xfrm>
            <a:off x="4973639" y="4397375"/>
            <a:ext cx="53975" cy="57150"/>
          </a:xfrm>
          <a:prstGeom prst="rect">
            <a:avLst/>
          </a:prstGeom>
          <a:solidFill>
            <a:srgbClr val="FFFFFF"/>
          </a:solidFill>
          <a:ln w="33338">
            <a:solidFill>
              <a:srgbClr val="C00000"/>
            </a:solidFill>
            <a:miter lim="800000"/>
            <a:headEnd/>
            <a:tailEnd/>
          </a:ln>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17415" name="Rectangle 7">
            <a:extLst>
              <a:ext uri="{FF2B5EF4-FFF2-40B4-BE49-F238E27FC236}">
                <a16:creationId xmlns:a16="http://schemas.microsoft.com/office/drawing/2014/main" id="{BE81577B-68C5-434B-B49A-BA04E4078420}"/>
              </a:ext>
            </a:extLst>
          </p:cNvPr>
          <p:cNvSpPr>
            <a:spLocks noChangeArrowheads="1"/>
          </p:cNvSpPr>
          <p:nvPr/>
        </p:nvSpPr>
        <p:spPr bwMode="auto">
          <a:xfrm>
            <a:off x="6229350" y="3529014"/>
            <a:ext cx="50800" cy="53975"/>
          </a:xfrm>
          <a:prstGeom prst="rect">
            <a:avLst/>
          </a:prstGeom>
          <a:solidFill>
            <a:srgbClr val="FFFFFF"/>
          </a:solidFill>
          <a:ln w="33338">
            <a:solidFill>
              <a:srgbClr val="C00000"/>
            </a:solidFill>
            <a:miter lim="800000"/>
            <a:headEnd/>
            <a:tailEnd/>
          </a:ln>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17416" name="Rectangle 8">
            <a:extLst>
              <a:ext uri="{FF2B5EF4-FFF2-40B4-BE49-F238E27FC236}">
                <a16:creationId xmlns:a16="http://schemas.microsoft.com/office/drawing/2014/main" id="{1271C429-6622-AB42-B919-BAFF993B68F5}"/>
              </a:ext>
            </a:extLst>
          </p:cNvPr>
          <p:cNvSpPr>
            <a:spLocks noChangeArrowheads="1"/>
          </p:cNvSpPr>
          <p:nvPr/>
        </p:nvSpPr>
        <p:spPr bwMode="auto">
          <a:xfrm>
            <a:off x="6980238" y="2565400"/>
            <a:ext cx="49212" cy="57150"/>
          </a:xfrm>
          <a:prstGeom prst="rect">
            <a:avLst/>
          </a:prstGeom>
          <a:solidFill>
            <a:srgbClr val="FFFFFF"/>
          </a:solidFill>
          <a:ln w="33338">
            <a:solidFill>
              <a:srgbClr val="C00000"/>
            </a:solidFill>
            <a:miter lim="800000"/>
            <a:headEnd/>
            <a:tailEnd/>
          </a:ln>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17417" name="Line 9">
            <a:extLst>
              <a:ext uri="{FF2B5EF4-FFF2-40B4-BE49-F238E27FC236}">
                <a16:creationId xmlns:a16="http://schemas.microsoft.com/office/drawing/2014/main" id="{0D8F38D2-7EA2-EB4D-884E-4A9637558914}"/>
              </a:ext>
            </a:extLst>
          </p:cNvPr>
          <p:cNvSpPr>
            <a:spLocks noChangeShapeType="1"/>
          </p:cNvSpPr>
          <p:nvPr/>
        </p:nvSpPr>
        <p:spPr bwMode="auto">
          <a:xfrm>
            <a:off x="2989264" y="5507039"/>
            <a:ext cx="5037137" cy="1587"/>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17418" name="Line 10">
            <a:extLst>
              <a:ext uri="{FF2B5EF4-FFF2-40B4-BE49-F238E27FC236}">
                <a16:creationId xmlns:a16="http://schemas.microsoft.com/office/drawing/2014/main" id="{73E47450-0775-074B-B1A5-86CCA0EFF95A}"/>
              </a:ext>
            </a:extLst>
          </p:cNvPr>
          <p:cNvSpPr>
            <a:spLocks noChangeShapeType="1"/>
          </p:cNvSpPr>
          <p:nvPr/>
        </p:nvSpPr>
        <p:spPr bwMode="auto">
          <a:xfrm>
            <a:off x="2989264" y="5507039"/>
            <a:ext cx="1587" cy="98425"/>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17419" name="Rectangle 11">
            <a:extLst>
              <a:ext uri="{FF2B5EF4-FFF2-40B4-BE49-F238E27FC236}">
                <a16:creationId xmlns:a16="http://schemas.microsoft.com/office/drawing/2014/main" id="{398777B1-050F-1E42-9AA8-46E9CBB700D0}"/>
              </a:ext>
            </a:extLst>
          </p:cNvPr>
          <p:cNvSpPr>
            <a:spLocks noChangeArrowheads="1"/>
          </p:cNvSpPr>
          <p:nvPr/>
        </p:nvSpPr>
        <p:spPr bwMode="auto">
          <a:xfrm>
            <a:off x="2862263" y="5641976"/>
            <a:ext cx="1426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b="0">
                <a:solidFill>
                  <a:srgbClr val="000000"/>
                </a:solidFill>
              </a:rPr>
              <a:t>0</a:t>
            </a:r>
            <a:endParaRPr lang="en-US" altLang="en-MX" sz="2400" b="0"/>
          </a:p>
        </p:txBody>
      </p:sp>
      <p:sp>
        <p:nvSpPr>
          <p:cNvPr id="17420" name="Line 12">
            <a:extLst>
              <a:ext uri="{FF2B5EF4-FFF2-40B4-BE49-F238E27FC236}">
                <a16:creationId xmlns:a16="http://schemas.microsoft.com/office/drawing/2014/main" id="{06C4F3FA-6B01-784B-B50C-98E904D0A253}"/>
              </a:ext>
            </a:extLst>
          </p:cNvPr>
          <p:cNvSpPr>
            <a:spLocks noChangeShapeType="1"/>
          </p:cNvSpPr>
          <p:nvPr/>
        </p:nvSpPr>
        <p:spPr bwMode="auto">
          <a:xfrm>
            <a:off x="4248150" y="5507039"/>
            <a:ext cx="1588" cy="98425"/>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17421" name="Rectangle 13">
            <a:extLst>
              <a:ext uri="{FF2B5EF4-FFF2-40B4-BE49-F238E27FC236}">
                <a16:creationId xmlns:a16="http://schemas.microsoft.com/office/drawing/2014/main" id="{5FA6CF12-3855-BC43-B454-8FDBD31D2A05}"/>
              </a:ext>
            </a:extLst>
          </p:cNvPr>
          <p:cNvSpPr>
            <a:spLocks noChangeArrowheads="1"/>
          </p:cNvSpPr>
          <p:nvPr/>
        </p:nvSpPr>
        <p:spPr bwMode="auto">
          <a:xfrm>
            <a:off x="4051301" y="5641975"/>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b="0">
                <a:solidFill>
                  <a:srgbClr val="000000"/>
                </a:solidFill>
              </a:rPr>
              <a:t>25</a:t>
            </a:r>
            <a:endParaRPr lang="en-US" altLang="en-MX" sz="2400" b="0"/>
          </a:p>
        </p:txBody>
      </p:sp>
      <p:sp>
        <p:nvSpPr>
          <p:cNvPr id="17422" name="Line 14">
            <a:extLst>
              <a:ext uri="{FF2B5EF4-FFF2-40B4-BE49-F238E27FC236}">
                <a16:creationId xmlns:a16="http://schemas.microsoft.com/office/drawing/2014/main" id="{96EADBF1-DB04-B04F-AC38-D63A05FFD239}"/>
              </a:ext>
            </a:extLst>
          </p:cNvPr>
          <p:cNvSpPr>
            <a:spLocks noChangeShapeType="1"/>
          </p:cNvSpPr>
          <p:nvPr/>
        </p:nvSpPr>
        <p:spPr bwMode="auto">
          <a:xfrm>
            <a:off x="5507039" y="5507039"/>
            <a:ext cx="3175" cy="98425"/>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17423" name="Rectangle 15">
            <a:extLst>
              <a:ext uri="{FF2B5EF4-FFF2-40B4-BE49-F238E27FC236}">
                <a16:creationId xmlns:a16="http://schemas.microsoft.com/office/drawing/2014/main" id="{2B5D01FB-C820-A04D-866B-BF84EEA01774}"/>
              </a:ext>
            </a:extLst>
          </p:cNvPr>
          <p:cNvSpPr>
            <a:spLocks noChangeArrowheads="1"/>
          </p:cNvSpPr>
          <p:nvPr/>
        </p:nvSpPr>
        <p:spPr bwMode="auto">
          <a:xfrm>
            <a:off x="5310189" y="5641975"/>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b="0">
                <a:solidFill>
                  <a:srgbClr val="000000"/>
                </a:solidFill>
              </a:rPr>
              <a:t>50</a:t>
            </a:r>
            <a:endParaRPr lang="en-US" altLang="en-MX" sz="2400" b="0"/>
          </a:p>
        </p:txBody>
      </p:sp>
      <p:sp>
        <p:nvSpPr>
          <p:cNvPr id="17424" name="Line 16">
            <a:extLst>
              <a:ext uri="{FF2B5EF4-FFF2-40B4-BE49-F238E27FC236}">
                <a16:creationId xmlns:a16="http://schemas.microsoft.com/office/drawing/2014/main" id="{2BD979A5-9A21-7849-8B61-61483BC746B5}"/>
              </a:ext>
            </a:extLst>
          </p:cNvPr>
          <p:cNvSpPr>
            <a:spLocks noChangeShapeType="1"/>
          </p:cNvSpPr>
          <p:nvPr/>
        </p:nvSpPr>
        <p:spPr bwMode="auto">
          <a:xfrm>
            <a:off x="6767514" y="5507039"/>
            <a:ext cx="1587" cy="98425"/>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17425" name="Rectangle 17">
            <a:extLst>
              <a:ext uri="{FF2B5EF4-FFF2-40B4-BE49-F238E27FC236}">
                <a16:creationId xmlns:a16="http://schemas.microsoft.com/office/drawing/2014/main" id="{76F6BFDB-A579-B649-A33B-AEB881C5B158}"/>
              </a:ext>
            </a:extLst>
          </p:cNvPr>
          <p:cNvSpPr>
            <a:spLocks noChangeArrowheads="1"/>
          </p:cNvSpPr>
          <p:nvPr/>
        </p:nvSpPr>
        <p:spPr bwMode="auto">
          <a:xfrm>
            <a:off x="6570664" y="5641975"/>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b="0">
                <a:solidFill>
                  <a:srgbClr val="000000"/>
                </a:solidFill>
              </a:rPr>
              <a:t>75</a:t>
            </a:r>
            <a:endParaRPr lang="en-US" altLang="en-MX" sz="2400" b="0"/>
          </a:p>
        </p:txBody>
      </p:sp>
      <p:sp>
        <p:nvSpPr>
          <p:cNvPr id="17426" name="Line 18">
            <a:extLst>
              <a:ext uri="{FF2B5EF4-FFF2-40B4-BE49-F238E27FC236}">
                <a16:creationId xmlns:a16="http://schemas.microsoft.com/office/drawing/2014/main" id="{ECD91443-7AEE-1F49-A66E-EF6AC72C86CB}"/>
              </a:ext>
            </a:extLst>
          </p:cNvPr>
          <p:cNvSpPr>
            <a:spLocks noChangeShapeType="1"/>
          </p:cNvSpPr>
          <p:nvPr/>
        </p:nvSpPr>
        <p:spPr bwMode="auto">
          <a:xfrm>
            <a:off x="8026400" y="5507039"/>
            <a:ext cx="1588" cy="98425"/>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17427" name="Rectangle 19">
            <a:extLst>
              <a:ext uri="{FF2B5EF4-FFF2-40B4-BE49-F238E27FC236}">
                <a16:creationId xmlns:a16="http://schemas.microsoft.com/office/drawing/2014/main" id="{30C9FCE4-EC9D-AF41-950B-5259CD089FA1}"/>
              </a:ext>
            </a:extLst>
          </p:cNvPr>
          <p:cNvSpPr>
            <a:spLocks noChangeArrowheads="1"/>
          </p:cNvSpPr>
          <p:nvPr/>
        </p:nvSpPr>
        <p:spPr bwMode="auto">
          <a:xfrm>
            <a:off x="7758113" y="5641976"/>
            <a:ext cx="42800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b="0">
                <a:solidFill>
                  <a:srgbClr val="000000"/>
                </a:solidFill>
              </a:rPr>
              <a:t>100</a:t>
            </a:r>
            <a:endParaRPr lang="en-US" altLang="en-MX" sz="2400" b="0"/>
          </a:p>
        </p:txBody>
      </p:sp>
      <p:sp>
        <p:nvSpPr>
          <p:cNvPr id="17428" name="Line 20">
            <a:extLst>
              <a:ext uri="{FF2B5EF4-FFF2-40B4-BE49-F238E27FC236}">
                <a16:creationId xmlns:a16="http://schemas.microsoft.com/office/drawing/2014/main" id="{A743F9F1-6D05-9A40-8472-7DD0FA3A0327}"/>
              </a:ext>
            </a:extLst>
          </p:cNvPr>
          <p:cNvSpPr>
            <a:spLocks noChangeShapeType="1"/>
          </p:cNvSpPr>
          <p:nvPr/>
        </p:nvSpPr>
        <p:spPr bwMode="auto">
          <a:xfrm flipV="1">
            <a:off x="2989264" y="1878014"/>
            <a:ext cx="1587" cy="3629025"/>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17429" name="Line 21">
            <a:extLst>
              <a:ext uri="{FF2B5EF4-FFF2-40B4-BE49-F238E27FC236}">
                <a16:creationId xmlns:a16="http://schemas.microsoft.com/office/drawing/2014/main" id="{F70E9015-CCF4-BF43-93F7-C12D5F736FD7}"/>
              </a:ext>
            </a:extLst>
          </p:cNvPr>
          <p:cNvSpPr>
            <a:spLocks noChangeShapeType="1"/>
          </p:cNvSpPr>
          <p:nvPr/>
        </p:nvSpPr>
        <p:spPr bwMode="auto">
          <a:xfrm flipH="1">
            <a:off x="2897189" y="5507039"/>
            <a:ext cx="92075" cy="1587"/>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17430" name="Rectangle 22">
            <a:extLst>
              <a:ext uri="{FF2B5EF4-FFF2-40B4-BE49-F238E27FC236}">
                <a16:creationId xmlns:a16="http://schemas.microsoft.com/office/drawing/2014/main" id="{8EF87DFB-273A-9D42-9B5F-40E5E9C3F2CA}"/>
              </a:ext>
            </a:extLst>
          </p:cNvPr>
          <p:cNvSpPr>
            <a:spLocks noChangeArrowheads="1"/>
          </p:cNvSpPr>
          <p:nvPr/>
        </p:nvSpPr>
        <p:spPr bwMode="auto">
          <a:xfrm>
            <a:off x="2609850" y="5360988"/>
            <a:ext cx="1412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b="0">
                <a:solidFill>
                  <a:srgbClr val="000000"/>
                </a:solidFill>
              </a:rPr>
              <a:t>0</a:t>
            </a:r>
            <a:endParaRPr lang="en-US" altLang="en-MX" sz="2400" b="0"/>
          </a:p>
        </p:txBody>
      </p:sp>
      <p:sp>
        <p:nvSpPr>
          <p:cNvPr id="17431" name="Line 23">
            <a:extLst>
              <a:ext uri="{FF2B5EF4-FFF2-40B4-BE49-F238E27FC236}">
                <a16:creationId xmlns:a16="http://schemas.microsoft.com/office/drawing/2014/main" id="{59B78314-D87A-C34A-81D8-11D3E95C3D2F}"/>
              </a:ext>
            </a:extLst>
          </p:cNvPr>
          <p:cNvSpPr>
            <a:spLocks noChangeShapeType="1"/>
          </p:cNvSpPr>
          <p:nvPr/>
        </p:nvSpPr>
        <p:spPr bwMode="auto">
          <a:xfrm flipH="1">
            <a:off x="2897189" y="4297364"/>
            <a:ext cx="92075" cy="1587"/>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17432" name="Rectangle 24">
            <a:extLst>
              <a:ext uri="{FF2B5EF4-FFF2-40B4-BE49-F238E27FC236}">
                <a16:creationId xmlns:a16="http://schemas.microsoft.com/office/drawing/2014/main" id="{DD043F8A-0A1B-4440-8A84-47322E18A938}"/>
              </a:ext>
            </a:extLst>
          </p:cNvPr>
          <p:cNvSpPr>
            <a:spLocks noChangeArrowheads="1"/>
          </p:cNvSpPr>
          <p:nvPr/>
        </p:nvSpPr>
        <p:spPr bwMode="auto">
          <a:xfrm>
            <a:off x="2468564" y="4151313"/>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b="0">
                <a:solidFill>
                  <a:srgbClr val="000000"/>
                </a:solidFill>
              </a:rPr>
              <a:t>25</a:t>
            </a:r>
            <a:endParaRPr lang="en-US" altLang="en-MX" sz="2400" b="0"/>
          </a:p>
        </p:txBody>
      </p:sp>
      <p:sp>
        <p:nvSpPr>
          <p:cNvPr id="17433" name="Line 25">
            <a:extLst>
              <a:ext uri="{FF2B5EF4-FFF2-40B4-BE49-F238E27FC236}">
                <a16:creationId xmlns:a16="http://schemas.microsoft.com/office/drawing/2014/main" id="{D3FC3F06-0CC4-3140-8CDF-EEE5BEFD076A}"/>
              </a:ext>
            </a:extLst>
          </p:cNvPr>
          <p:cNvSpPr>
            <a:spLocks noChangeShapeType="1"/>
          </p:cNvSpPr>
          <p:nvPr/>
        </p:nvSpPr>
        <p:spPr bwMode="auto">
          <a:xfrm flipH="1">
            <a:off x="2897189" y="3087689"/>
            <a:ext cx="92075" cy="1587"/>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17434" name="Rectangle 26">
            <a:extLst>
              <a:ext uri="{FF2B5EF4-FFF2-40B4-BE49-F238E27FC236}">
                <a16:creationId xmlns:a16="http://schemas.microsoft.com/office/drawing/2014/main" id="{5E751A79-BA88-6B4B-966A-D54DF8F1C833}"/>
              </a:ext>
            </a:extLst>
          </p:cNvPr>
          <p:cNvSpPr>
            <a:spLocks noChangeArrowheads="1"/>
          </p:cNvSpPr>
          <p:nvPr/>
        </p:nvSpPr>
        <p:spPr bwMode="auto">
          <a:xfrm>
            <a:off x="2468564" y="2943225"/>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b="0">
                <a:solidFill>
                  <a:srgbClr val="000000"/>
                </a:solidFill>
              </a:rPr>
              <a:t>50</a:t>
            </a:r>
            <a:endParaRPr lang="en-US" altLang="en-MX" sz="2400" b="0"/>
          </a:p>
        </p:txBody>
      </p:sp>
      <p:sp>
        <p:nvSpPr>
          <p:cNvPr id="17435" name="Line 27">
            <a:extLst>
              <a:ext uri="{FF2B5EF4-FFF2-40B4-BE49-F238E27FC236}">
                <a16:creationId xmlns:a16="http://schemas.microsoft.com/office/drawing/2014/main" id="{5CD80B57-9CF4-7844-B36B-65FA795520B6}"/>
              </a:ext>
            </a:extLst>
          </p:cNvPr>
          <p:cNvSpPr>
            <a:spLocks noChangeShapeType="1"/>
          </p:cNvSpPr>
          <p:nvPr/>
        </p:nvSpPr>
        <p:spPr bwMode="auto">
          <a:xfrm flipH="1">
            <a:off x="2897189" y="1878014"/>
            <a:ext cx="92075" cy="1587"/>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17436" name="Rectangle 28">
            <a:extLst>
              <a:ext uri="{FF2B5EF4-FFF2-40B4-BE49-F238E27FC236}">
                <a16:creationId xmlns:a16="http://schemas.microsoft.com/office/drawing/2014/main" id="{C6E3E5D9-02C5-184A-8410-CFAF8B3A6DFE}"/>
              </a:ext>
            </a:extLst>
          </p:cNvPr>
          <p:cNvSpPr>
            <a:spLocks noChangeArrowheads="1"/>
          </p:cNvSpPr>
          <p:nvPr/>
        </p:nvSpPr>
        <p:spPr bwMode="auto">
          <a:xfrm>
            <a:off x="2468564" y="1733550"/>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b="0">
                <a:solidFill>
                  <a:srgbClr val="000000"/>
                </a:solidFill>
              </a:rPr>
              <a:t>75</a:t>
            </a:r>
            <a:endParaRPr lang="en-US" altLang="en-MX" sz="2400" b="0"/>
          </a:p>
        </p:txBody>
      </p:sp>
      <p:sp>
        <p:nvSpPr>
          <p:cNvPr id="17437" name="Rectangle 29">
            <a:extLst>
              <a:ext uri="{FF2B5EF4-FFF2-40B4-BE49-F238E27FC236}">
                <a16:creationId xmlns:a16="http://schemas.microsoft.com/office/drawing/2014/main" id="{54D8BE3D-C5E2-AD49-AEF7-80435F53D2C3}"/>
              </a:ext>
            </a:extLst>
          </p:cNvPr>
          <p:cNvSpPr>
            <a:spLocks noChangeArrowheads="1"/>
          </p:cNvSpPr>
          <p:nvPr/>
        </p:nvSpPr>
        <p:spPr bwMode="auto">
          <a:xfrm>
            <a:off x="7772401" y="4648200"/>
            <a:ext cx="244060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2400" b="0">
                <a:solidFill>
                  <a:srgbClr val="000000"/>
                </a:solidFill>
              </a:rPr>
              <a:t>“Efficient Frontier”</a:t>
            </a:r>
            <a:endParaRPr lang="en-US" altLang="en-MX" sz="2400" b="0"/>
          </a:p>
        </p:txBody>
      </p:sp>
      <p:sp>
        <p:nvSpPr>
          <p:cNvPr id="17438" name="Line 30">
            <a:extLst>
              <a:ext uri="{FF2B5EF4-FFF2-40B4-BE49-F238E27FC236}">
                <a16:creationId xmlns:a16="http://schemas.microsoft.com/office/drawing/2014/main" id="{8AA9521D-E88E-A041-9BE2-678EED43BAF3}"/>
              </a:ext>
            </a:extLst>
          </p:cNvPr>
          <p:cNvSpPr>
            <a:spLocks noChangeShapeType="1"/>
          </p:cNvSpPr>
          <p:nvPr/>
        </p:nvSpPr>
        <p:spPr bwMode="auto">
          <a:xfrm>
            <a:off x="7105651" y="4830764"/>
            <a:ext cx="493713" cy="1587"/>
          </a:xfrm>
          <a:prstGeom prst="line">
            <a:avLst/>
          </a:prstGeom>
          <a:noFill/>
          <a:ln w="17463">
            <a:solidFill>
              <a:srgbClr val="C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17439" name="Rectangle 31">
            <a:extLst>
              <a:ext uri="{FF2B5EF4-FFF2-40B4-BE49-F238E27FC236}">
                <a16:creationId xmlns:a16="http://schemas.microsoft.com/office/drawing/2014/main" id="{86A0EF2D-9A55-DF4E-B2FA-682DA06E48E4}"/>
              </a:ext>
            </a:extLst>
          </p:cNvPr>
          <p:cNvSpPr>
            <a:spLocks noChangeArrowheads="1"/>
          </p:cNvSpPr>
          <p:nvPr/>
        </p:nvSpPr>
        <p:spPr bwMode="auto">
          <a:xfrm>
            <a:off x="7315200" y="4800601"/>
            <a:ext cx="50800" cy="55563"/>
          </a:xfrm>
          <a:prstGeom prst="rect">
            <a:avLst/>
          </a:prstGeom>
          <a:solidFill>
            <a:srgbClr val="FFFFFF"/>
          </a:solidFill>
          <a:ln w="33338">
            <a:solidFill>
              <a:srgbClr val="C00000"/>
            </a:solidFill>
            <a:miter lim="800000"/>
            <a:headEnd/>
            <a:tailEnd/>
          </a:ln>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17440" name="Rectangle 32">
            <a:extLst>
              <a:ext uri="{FF2B5EF4-FFF2-40B4-BE49-F238E27FC236}">
                <a16:creationId xmlns:a16="http://schemas.microsoft.com/office/drawing/2014/main" id="{63336982-0A53-FB44-A93E-DE67AF779CD3}"/>
              </a:ext>
            </a:extLst>
          </p:cNvPr>
          <p:cNvSpPr>
            <a:spLocks noChangeArrowheads="1"/>
          </p:cNvSpPr>
          <p:nvPr/>
        </p:nvSpPr>
        <p:spPr bwMode="auto">
          <a:xfrm>
            <a:off x="5181600" y="6096000"/>
            <a:ext cx="9585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2400" b="0">
                <a:solidFill>
                  <a:srgbClr val="000000"/>
                </a:solidFill>
              </a:rPr>
              <a:t>Benefit</a:t>
            </a:r>
            <a:endParaRPr lang="en-US" altLang="en-MX" sz="2400" b="0"/>
          </a:p>
        </p:txBody>
      </p:sp>
      <p:sp>
        <p:nvSpPr>
          <p:cNvPr id="17441" name="Rectangle 33">
            <a:extLst>
              <a:ext uri="{FF2B5EF4-FFF2-40B4-BE49-F238E27FC236}">
                <a16:creationId xmlns:a16="http://schemas.microsoft.com/office/drawing/2014/main" id="{6D9D9B19-8292-B045-B5DD-F58BD057D6D7}"/>
              </a:ext>
            </a:extLst>
          </p:cNvPr>
          <p:cNvSpPr>
            <a:spLocks noChangeArrowheads="1"/>
          </p:cNvSpPr>
          <p:nvPr/>
        </p:nvSpPr>
        <p:spPr bwMode="auto">
          <a:xfrm rot="16200000">
            <a:off x="1770970" y="3427691"/>
            <a:ext cx="6331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2400" b="0">
                <a:solidFill>
                  <a:srgbClr val="000000"/>
                </a:solidFill>
              </a:rPr>
              <a:t>Cost</a:t>
            </a:r>
            <a:endParaRPr lang="en-US" altLang="en-MX" sz="2400" b="0"/>
          </a:p>
        </p:txBody>
      </p:sp>
      <p:sp>
        <p:nvSpPr>
          <p:cNvPr id="17442" name="Text Box 34">
            <a:extLst>
              <a:ext uri="{FF2B5EF4-FFF2-40B4-BE49-F238E27FC236}">
                <a16:creationId xmlns:a16="http://schemas.microsoft.com/office/drawing/2014/main" id="{112E83C0-4B01-9849-9CEB-6D5F79C21066}"/>
              </a:ext>
            </a:extLst>
          </p:cNvPr>
          <p:cNvSpPr txBox="1">
            <a:spLocks noChangeArrowheads="1"/>
          </p:cNvSpPr>
          <p:nvPr/>
        </p:nvSpPr>
        <p:spPr bwMode="auto">
          <a:xfrm>
            <a:off x="5029201" y="4341813"/>
            <a:ext cx="574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2400" b="0"/>
              <a:t>H4</a:t>
            </a:r>
          </a:p>
        </p:txBody>
      </p:sp>
      <p:sp>
        <p:nvSpPr>
          <p:cNvPr id="17443" name="Text Box 35">
            <a:extLst>
              <a:ext uri="{FF2B5EF4-FFF2-40B4-BE49-F238E27FC236}">
                <a16:creationId xmlns:a16="http://schemas.microsoft.com/office/drawing/2014/main" id="{5FAA4028-209A-F146-BB9E-D6216E7AADCE}"/>
              </a:ext>
            </a:extLst>
          </p:cNvPr>
          <p:cNvSpPr txBox="1">
            <a:spLocks noChangeArrowheads="1"/>
          </p:cNvSpPr>
          <p:nvPr/>
        </p:nvSpPr>
        <p:spPr bwMode="auto">
          <a:xfrm>
            <a:off x="6324601" y="3351213"/>
            <a:ext cx="574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2400" b="0"/>
              <a:t>H2</a:t>
            </a:r>
          </a:p>
        </p:txBody>
      </p:sp>
      <p:sp>
        <p:nvSpPr>
          <p:cNvPr id="17444" name="Text Box 36">
            <a:extLst>
              <a:ext uri="{FF2B5EF4-FFF2-40B4-BE49-F238E27FC236}">
                <a16:creationId xmlns:a16="http://schemas.microsoft.com/office/drawing/2014/main" id="{DA2C08DB-CD14-9C42-B547-04650960A556}"/>
              </a:ext>
            </a:extLst>
          </p:cNvPr>
          <p:cNvSpPr txBox="1">
            <a:spLocks noChangeArrowheads="1"/>
          </p:cNvSpPr>
          <p:nvPr/>
        </p:nvSpPr>
        <p:spPr bwMode="auto">
          <a:xfrm>
            <a:off x="7086601" y="2132013"/>
            <a:ext cx="574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2400" b="0"/>
              <a:t>H1</a:t>
            </a:r>
          </a:p>
        </p:txBody>
      </p:sp>
      <p:sp>
        <p:nvSpPr>
          <p:cNvPr id="17445" name="Rectangle 38">
            <a:extLst>
              <a:ext uri="{FF2B5EF4-FFF2-40B4-BE49-F238E27FC236}">
                <a16:creationId xmlns:a16="http://schemas.microsoft.com/office/drawing/2014/main" id="{4A904B9F-3A84-D642-9EF5-64A44B55AF75}"/>
              </a:ext>
            </a:extLst>
          </p:cNvPr>
          <p:cNvSpPr>
            <a:spLocks noChangeArrowheads="1"/>
          </p:cNvSpPr>
          <p:nvPr/>
        </p:nvSpPr>
        <p:spPr bwMode="auto">
          <a:xfrm>
            <a:off x="5867400" y="3200400"/>
            <a:ext cx="52388" cy="57150"/>
          </a:xfrm>
          <a:prstGeom prst="rect">
            <a:avLst/>
          </a:prstGeom>
          <a:solidFill>
            <a:srgbClr val="FFFFFF"/>
          </a:solidFill>
          <a:ln w="33338">
            <a:solidFill>
              <a:srgbClr val="C00000"/>
            </a:solidFill>
            <a:miter lim="800000"/>
            <a:headEnd/>
            <a:tailEnd/>
          </a:ln>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17446" name="Rectangle 39">
            <a:extLst>
              <a:ext uri="{FF2B5EF4-FFF2-40B4-BE49-F238E27FC236}">
                <a16:creationId xmlns:a16="http://schemas.microsoft.com/office/drawing/2014/main" id="{8FD3ACA4-A8F5-864A-A724-70FD5558A66C}"/>
              </a:ext>
            </a:extLst>
          </p:cNvPr>
          <p:cNvSpPr>
            <a:spLocks noChangeArrowheads="1"/>
          </p:cNvSpPr>
          <p:nvPr/>
        </p:nvSpPr>
        <p:spPr bwMode="auto">
          <a:xfrm>
            <a:off x="6400800" y="2743200"/>
            <a:ext cx="52388" cy="57150"/>
          </a:xfrm>
          <a:prstGeom prst="rect">
            <a:avLst/>
          </a:prstGeom>
          <a:solidFill>
            <a:srgbClr val="FFFFFF"/>
          </a:solidFill>
          <a:ln w="33338">
            <a:solidFill>
              <a:srgbClr val="C00000"/>
            </a:solidFill>
            <a:miter lim="800000"/>
            <a:headEnd/>
            <a:tailEnd/>
          </a:ln>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17447" name="Text Box 40">
            <a:extLst>
              <a:ext uri="{FF2B5EF4-FFF2-40B4-BE49-F238E27FC236}">
                <a16:creationId xmlns:a16="http://schemas.microsoft.com/office/drawing/2014/main" id="{A4C2DF21-3017-C94D-A907-40E3B81522DD}"/>
              </a:ext>
            </a:extLst>
          </p:cNvPr>
          <p:cNvSpPr txBox="1">
            <a:spLocks noChangeArrowheads="1"/>
          </p:cNvSpPr>
          <p:nvPr/>
        </p:nvSpPr>
        <p:spPr bwMode="auto">
          <a:xfrm>
            <a:off x="5867401" y="2436813"/>
            <a:ext cx="574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2400" b="0"/>
              <a:t>H3</a:t>
            </a:r>
          </a:p>
        </p:txBody>
      </p:sp>
      <p:sp>
        <p:nvSpPr>
          <p:cNvPr id="17448" name="Text Box 41">
            <a:extLst>
              <a:ext uri="{FF2B5EF4-FFF2-40B4-BE49-F238E27FC236}">
                <a16:creationId xmlns:a16="http://schemas.microsoft.com/office/drawing/2014/main" id="{0C6451FB-A613-304F-87B0-385ABEC435DE}"/>
              </a:ext>
            </a:extLst>
          </p:cNvPr>
          <p:cNvSpPr txBox="1">
            <a:spLocks noChangeArrowheads="1"/>
          </p:cNvSpPr>
          <p:nvPr/>
        </p:nvSpPr>
        <p:spPr bwMode="auto">
          <a:xfrm>
            <a:off x="5257801" y="2970213"/>
            <a:ext cx="574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2400" b="0"/>
              <a:t>H5</a:t>
            </a:r>
          </a:p>
        </p:txBody>
      </p:sp>
      <p:sp>
        <p:nvSpPr>
          <p:cNvPr id="17449" name="Text Box 42">
            <a:extLst>
              <a:ext uri="{FF2B5EF4-FFF2-40B4-BE49-F238E27FC236}">
                <a16:creationId xmlns:a16="http://schemas.microsoft.com/office/drawing/2014/main" id="{391B18B7-2334-8B4B-B07C-25346C030081}"/>
              </a:ext>
            </a:extLst>
          </p:cNvPr>
          <p:cNvSpPr txBox="1">
            <a:spLocks noChangeArrowheads="1"/>
          </p:cNvSpPr>
          <p:nvPr/>
        </p:nvSpPr>
        <p:spPr bwMode="auto">
          <a:xfrm>
            <a:off x="4419601" y="1749426"/>
            <a:ext cx="26130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b="0"/>
              <a:t>H3 weakly dominated</a:t>
            </a:r>
          </a:p>
        </p:txBody>
      </p:sp>
      <p:sp>
        <p:nvSpPr>
          <p:cNvPr id="17450" name="Text Box 43">
            <a:extLst>
              <a:ext uri="{FF2B5EF4-FFF2-40B4-BE49-F238E27FC236}">
                <a16:creationId xmlns:a16="http://schemas.microsoft.com/office/drawing/2014/main" id="{2A576D16-2147-6242-8C75-9CFDBD0792B4}"/>
              </a:ext>
            </a:extLst>
          </p:cNvPr>
          <p:cNvSpPr txBox="1">
            <a:spLocks noChangeArrowheads="1"/>
          </p:cNvSpPr>
          <p:nvPr/>
        </p:nvSpPr>
        <p:spPr bwMode="auto">
          <a:xfrm>
            <a:off x="3048001" y="3581401"/>
            <a:ext cx="253206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b="0"/>
              <a:t>H5 strongly dominated</a:t>
            </a:r>
          </a:p>
        </p:txBody>
      </p:sp>
      <p:sp>
        <p:nvSpPr>
          <p:cNvPr id="17451" name="Line 44">
            <a:extLst>
              <a:ext uri="{FF2B5EF4-FFF2-40B4-BE49-F238E27FC236}">
                <a16:creationId xmlns:a16="http://schemas.microsoft.com/office/drawing/2014/main" id="{C0CF695C-E0D4-5244-87A2-6720E87CE03D}"/>
              </a:ext>
            </a:extLst>
          </p:cNvPr>
          <p:cNvSpPr>
            <a:spLocks noChangeShapeType="1"/>
          </p:cNvSpPr>
          <p:nvPr/>
        </p:nvSpPr>
        <p:spPr bwMode="auto">
          <a:xfrm flipV="1">
            <a:off x="4495800" y="3200400"/>
            <a:ext cx="7620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MX"/>
          </a:p>
        </p:txBody>
      </p:sp>
      <p:sp>
        <p:nvSpPr>
          <p:cNvPr id="17452" name="Line 45">
            <a:extLst>
              <a:ext uri="{FF2B5EF4-FFF2-40B4-BE49-F238E27FC236}">
                <a16:creationId xmlns:a16="http://schemas.microsoft.com/office/drawing/2014/main" id="{B67050C3-E389-2A45-BC06-D53EBD0C8401}"/>
              </a:ext>
            </a:extLst>
          </p:cNvPr>
          <p:cNvSpPr>
            <a:spLocks noChangeShapeType="1"/>
          </p:cNvSpPr>
          <p:nvPr/>
        </p:nvSpPr>
        <p:spPr bwMode="auto">
          <a:xfrm>
            <a:off x="5410200" y="2286000"/>
            <a:ext cx="53340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MX"/>
          </a:p>
        </p:txBody>
      </p:sp>
      <p:sp>
        <p:nvSpPr>
          <p:cNvPr id="17453" name="Line 46">
            <a:extLst>
              <a:ext uri="{FF2B5EF4-FFF2-40B4-BE49-F238E27FC236}">
                <a16:creationId xmlns:a16="http://schemas.microsoft.com/office/drawing/2014/main" id="{7BC8840F-97E6-DD40-BFC7-BBFFBDA68017}"/>
              </a:ext>
            </a:extLst>
          </p:cNvPr>
          <p:cNvSpPr>
            <a:spLocks noChangeShapeType="1"/>
          </p:cNvSpPr>
          <p:nvPr/>
        </p:nvSpPr>
        <p:spPr bwMode="auto">
          <a:xfrm flipH="1">
            <a:off x="6400800" y="2590800"/>
            <a:ext cx="609600" cy="1524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MX"/>
          </a:p>
        </p:txBody>
      </p:sp>
      <p:sp>
        <p:nvSpPr>
          <p:cNvPr id="17454" name="Line 47">
            <a:extLst>
              <a:ext uri="{FF2B5EF4-FFF2-40B4-BE49-F238E27FC236}">
                <a16:creationId xmlns:a16="http://schemas.microsoft.com/office/drawing/2014/main" id="{FDD69803-B571-7447-9F5F-D024A86B62C7}"/>
              </a:ext>
            </a:extLst>
          </p:cNvPr>
          <p:cNvSpPr>
            <a:spLocks noChangeShapeType="1"/>
          </p:cNvSpPr>
          <p:nvPr/>
        </p:nvSpPr>
        <p:spPr bwMode="auto">
          <a:xfrm flipV="1">
            <a:off x="6248400" y="2743200"/>
            <a:ext cx="152400" cy="7620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MX"/>
          </a:p>
        </p:txBody>
      </p:sp>
    </p:spTree>
    <p:extLst>
      <p:ext uri="{BB962C8B-B14F-4D97-AF65-F5344CB8AC3E}">
        <p14:creationId xmlns:p14="http://schemas.microsoft.com/office/powerpoint/2010/main" val="268237659"/>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5DEC45EC-0163-D241-A5AF-DAF8BC6601C6}"/>
              </a:ext>
            </a:extLst>
          </p:cNvPr>
          <p:cNvSpPr>
            <a:spLocks noChangeArrowheads="1"/>
          </p:cNvSpPr>
          <p:nvPr/>
        </p:nvSpPr>
        <p:spPr bwMode="auto">
          <a:xfrm>
            <a:off x="2209800" y="642092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18435" name="Rectangle 3">
            <a:extLst>
              <a:ext uri="{FF2B5EF4-FFF2-40B4-BE49-F238E27FC236}">
                <a16:creationId xmlns:a16="http://schemas.microsoft.com/office/drawing/2014/main" id="{D2A4FE42-9FBC-DC42-B34E-60D09B248A6B}"/>
              </a:ext>
            </a:extLst>
          </p:cNvPr>
          <p:cNvSpPr>
            <a:spLocks noChangeArrowheads="1"/>
          </p:cNvSpPr>
          <p:nvPr/>
        </p:nvSpPr>
        <p:spPr bwMode="auto">
          <a:xfrm>
            <a:off x="4648200" y="642092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1026052" name="Rectangle 4">
            <a:extLst>
              <a:ext uri="{FF2B5EF4-FFF2-40B4-BE49-F238E27FC236}">
                <a16:creationId xmlns:a16="http://schemas.microsoft.com/office/drawing/2014/main" id="{357307C7-22D1-5843-906C-B962D43AD6FB}"/>
              </a:ext>
            </a:extLst>
          </p:cNvPr>
          <p:cNvSpPr>
            <a:spLocks noGrp="1" noChangeArrowheads="1"/>
          </p:cNvSpPr>
          <p:nvPr>
            <p:ph type="title"/>
          </p:nvPr>
        </p:nvSpPr>
        <p:spPr>
          <a:xfrm>
            <a:off x="888521" y="-1"/>
            <a:ext cx="10386204" cy="1357643"/>
          </a:xfrm>
        </p:spPr>
        <p:txBody>
          <a:bodyPr>
            <a:normAutofit/>
          </a:bodyPr>
          <a:lstStyle/>
          <a:p>
            <a:pPr>
              <a:defRPr/>
            </a:pPr>
            <a:r>
              <a:rPr lang="en-US" dirty="0">
                <a:solidFill>
                  <a:schemeClr val="accent2"/>
                </a:solidFill>
              </a:rPr>
              <a:t>Another Example: Program A</a:t>
            </a:r>
            <a:br>
              <a:rPr lang="en-US" dirty="0">
                <a:solidFill>
                  <a:schemeClr val="accent2"/>
                </a:solidFill>
              </a:rPr>
            </a:br>
            <a:r>
              <a:rPr lang="en-US" dirty="0"/>
              <a:t>Incremental Cost-Effectiveness</a:t>
            </a:r>
          </a:p>
        </p:txBody>
      </p:sp>
      <p:graphicFrame>
        <p:nvGraphicFramePr>
          <p:cNvPr id="1026152" name="Group 104">
            <a:extLst>
              <a:ext uri="{FF2B5EF4-FFF2-40B4-BE49-F238E27FC236}">
                <a16:creationId xmlns:a16="http://schemas.microsoft.com/office/drawing/2014/main" id="{BE7D41A5-6CA0-A245-BD43-130101F47133}"/>
              </a:ext>
            </a:extLst>
          </p:cNvPr>
          <p:cNvGraphicFramePr>
            <a:graphicFrameLocks noGrp="1"/>
          </p:cNvGraphicFramePr>
          <p:nvPr/>
        </p:nvGraphicFramePr>
        <p:xfrm>
          <a:off x="1981200" y="1467921"/>
          <a:ext cx="8153400" cy="5015242"/>
        </p:xfrm>
        <a:graphic>
          <a:graphicData uri="http://schemas.openxmlformats.org/drawingml/2006/table">
            <a:tbl>
              <a:tblPr/>
              <a:tblGrid>
                <a:gridCol w="14478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182563">
                  <a:extLst>
                    <a:ext uri="{9D8B030D-6E8A-4147-A177-3AD203B41FA5}">
                      <a16:colId xmlns:a16="http://schemas.microsoft.com/office/drawing/2014/main" val="20004"/>
                    </a:ext>
                  </a:extLst>
                </a:gridCol>
                <a:gridCol w="1112837">
                  <a:extLst>
                    <a:ext uri="{9D8B030D-6E8A-4147-A177-3AD203B41FA5}">
                      <a16:colId xmlns:a16="http://schemas.microsoft.com/office/drawing/2014/main" val="20005"/>
                    </a:ext>
                  </a:extLst>
                </a:gridCol>
                <a:gridCol w="258763">
                  <a:extLst>
                    <a:ext uri="{9D8B030D-6E8A-4147-A177-3AD203B41FA5}">
                      <a16:colId xmlns:a16="http://schemas.microsoft.com/office/drawing/2014/main" val="20006"/>
                    </a:ext>
                  </a:extLst>
                </a:gridCol>
                <a:gridCol w="1417637">
                  <a:extLst>
                    <a:ext uri="{9D8B030D-6E8A-4147-A177-3AD203B41FA5}">
                      <a16:colId xmlns:a16="http://schemas.microsoft.com/office/drawing/2014/main" val="20007"/>
                    </a:ext>
                  </a:extLst>
                </a:gridCol>
              </a:tblGrid>
              <a:tr h="615872">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dirty="0">
                          <a:ln>
                            <a:noFill/>
                          </a:ln>
                          <a:solidFill>
                            <a:schemeClr val="tx1"/>
                          </a:solidFill>
                          <a:effectLst/>
                          <a:latin typeface="Arial" charset="0"/>
                        </a:rPr>
                        <a:t>Program</a:t>
                      </a:r>
                    </a:p>
                  </a:txBody>
                  <a:tcPr marT="45714" marB="45714"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Cost ($)</a:t>
                      </a:r>
                    </a:p>
                  </a:txBody>
                  <a:tcPr marT="45714" marB="45714"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Effect</a:t>
                      </a:r>
                    </a:p>
                  </a:txBody>
                  <a:tcPr marT="45714" marB="45714"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Symbol" pitchFamily="18" charset="2"/>
                        </a:rPr>
                        <a:t>D</a:t>
                      </a:r>
                      <a:r>
                        <a:rPr kumimoji="0" lang="en-US" sz="2400" b="0" i="0" u="none" strike="noStrike" cap="none" normalizeH="0" baseline="0">
                          <a:ln>
                            <a:noFill/>
                          </a:ln>
                          <a:solidFill>
                            <a:schemeClr val="tx1"/>
                          </a:solidFill>
                          <a:effectLst/>
                          <a:latin typeface="Arial" charset="0"/>
                        </a:rPr>
                        <a:t>C</a:t>
                      </a:r>
                    </a:p>
                  </a:txBody>
                  <a:tcPr marT="45714" marB="45714" horzOverflow="overflow">
                    <a:lnL>
                      <a:noFill/>
                    </a:lnL>
                    <a:lnR>
                      <a:noFill/>
                    </a:lnR>
                    <a:lnT cap="fla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Symbol" pitchFamily="18" charset="2"/>
                        </a:rPr>
                        <a:t>D</a:t>
                      </a:r>
                      <a:r>
                        <a:rPr kumimoji="0" lang="en-US" sz="2400" b="0" i="0" u="none" strike="noStrike" cap="none" normalizeH="0" baseline="0">
                          <a:ln>
                            <a:noFill/>
                          </a:ln>
                          <a:solidFill>
                            <a:schemeClr val="tx1"/>
                          </a:solidFill>
                          <a:effectLst/>
                          <a:latin typeface="Arial" charset="0"/>
                        </a:rPr>
                        <a:t>E</a:t>
                      </a:r>
                    </a:p>
                  </a:txBody>
                  <a:tcPr marT="45714" marB="45714" horzOverflow="overflow">
                    <a:lnL>
                      <a:noFill/>
                    </a:lnL>
                    <a:lnR>
                      <a:noFill/>
                    </a:lnR>
                    <a:lnT cap="fla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Incr. CE</a:t>
                      </a:r>
                    </a:p>
                  </a:txBody>
                  <a:tcPr marT="45714" marB="45714" horzOverflow="overflow">
                    <a:lnL>
                      <a:noFill/>
                    </a:lnL>
                    <a:lnR cap="flat">
                      <a:noFill/>
                    </a:lnR>
                    <a:lnT cap="flat">
                      <a:noFill/>
                    </a:lnT>
                    <a:lnB>
                      <a:noFill/>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603174">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dirty="0">
                          <a:ln>
                            <a:noFill/>
                          </a:ln>
                          <a:solidFill>
                            <a:schemeClr val="tx1"/>
                          </a:solidFill>
                          <a:effectLst/>
                          <a:latin typeface="Arial" charset="0"/>
                        </a:rPr>
                        <a:t>Nothing</a:t>
                      </a:r>
                    </a:p>
                  </a:txBody>
                  <a:tcPr marT="45714" marB="45714"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dirty="0">
                          <a:ln>
                            <a:noFill/>
                          </a:ln>
                          <a:solidFill>
                            <a:schemeClr val="tx1"/>
                          </a:solidFill>
                          <a:effectLst/>
                          <a:latin typeface="Arial" charset="0"/>
                        </a:rPr>
                        <a:t>0</a:t>
                      </a:r>
                    </a:p>
                  </a:txBody>
                  <a:tcPr marT="45714" marB="45714"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dirty="0">
                          <a:ln>
                            <a:noFill/>
                          </a:ln>
                          <a:solidFill>
                            <a:schemeClr val="tx1"/>
                          </a:solidFill>
                          <a:effectLst/>
                          <a:latin typeface="Arial" charset="0"/>
                        </a:rPr>
                        <a:t>0</a:t>
                      </a:r>
                    </a:p>
                  </a:txBody>
                  <a:tcPr marT="45714" marB="45714"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dirty="0">
                        <a:ln>
                          <a:noFill/>
                        </a:ln>
                        <a:solidFill>
                          <a:schemeClr val="tx1"/>
                        </a:solidFill>
                        <a:effectLst/>
                        <a:latin typeface="Arial" charset="0"/>
                      </a:endParaRP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dirty="0">
                        <a:ln>
                          <a:noFill/>
                        </a:ln>
                        <a:solidFill>
                          <a:schemeClr val="tx1"/>
                        </a:solidFill>
                        <a:effectLst/>
                        <a:latin typeface="Arial" charset="0"/>
                      </a:endParaRP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dirty="0">
                        <a:ln>
                          <a:noFill/>
                        </a:ln>
                        <a:solidFill>
                          <a:schemeClr val="tx1"/>
                        </a:solidFill>
                        <a:effectLst/>
                        <a:latin typeface="Arial" charset="0"/>
                      </a:endParaRPr>
                    </a:p>
                  </a:txBody>
                  <a:tcPr marT="45714" marB="45714"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457142">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dirty="0">
                          <a:ln>
                            <a:noFill/>
                          </a:ln>
                          <a:solidFill>
                            <a:schemeClr val="tx1"/>
                          </a:solidFill>
                          <a:effectLst/>
                          <a:latin typeface="Arial" charset="0"/>
                        </a:rPr>
                        <a:t>A2</a:t>
                      </a:r>
                    </a:p>
                  </a:txBody>
                  <a:tcPr marT="45714" marB="45714"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500</a:t>
                      </a:r>
                    </a:p>
                  </a:txBody>
                  <a:tcPr marT="45714" marB="45714"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dirty="0">
                          <a:ln>
                            <a:noFill/>
                          </a:ln>
                          <a:solidFill>
                            <a:schemeClr val="tx1"/>
                          </a:solidFill>
                          <a:effectLst/>
                          <a:latin typeface="Arial" charset="0"/>
                        </a:rPr>
                        <a:t>7.0</a:t>
                      </a:r>
                    </a:p>
                  </a:txBody>
                  <a:tcPr marT="45714" marB="45714"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4" marB="45714"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457142">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A3</a:t>
                      </a:r>
                    </a:p>
                  </a:txBody>
                  <a:tcPr marT="45714" marB="45714"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1000</a:t>
                      </a:r>
                    </a:p>
                  </a:txBody>
                  <a:tcPr marT="45714" marB="45714"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8.5</a:t>
                      </a:r>
                    </a:p>
                  </a:txBody>
                  <a:tcPr marT="45714" marB="45714"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4" marB="45714"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457142">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A4</a:t>
                      </a:r>
                    </a:p>
                  </a:txBody>
                  <a:tcPr marT="45714" marB="45714"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1100</a:t>
                      </a:r>
                    </a:p>
                  </a:txBody>
                  <a:tcPr marT="45714" marB="45714"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6.0</a:t>
                      </a:r>
                    </a:p>
                  </a:txBody>
                  <a:tcPr marT="45714" marB="45714"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4" marB="45714"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457142">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A5</a:t>
                      </a:r>
                    </a:p>
                  </a:txBody>
                  <a:tcPr marT="45714" marB="45714"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1600</a:t>
                      </a:r>
                    </a:p>
                  </a:txBody>
                  <a:tcPr marT="45714" marB="45714"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8.8</a:t>
                      </a:r>
                    </a:p>
                  </a:txBody>
                  <a:tcPr marT="45714" marB="45714"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dirty="0">
                        <a:ln>
                          <a:noFill/>
                        </a:ln>
                        <a:solidFill>
                          <a:schemeClr val="tx1"/>
                        </a:solidFill>
                        <a:effectLst/>
                        <a:latin typeface="Arial" charset="0"/>
                      </a:endParaRP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4" marB="45714"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534920">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A6</a:t>
                      </a:r>
                    </a:p>
                  </a:txBody>
                  <a:tcPr marT="45714" marB="45714"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2000</a:t>
                      </a:r>
                    </a:p>
                  </a:txBody>
                  <a:tcPr marT="45714" marB="45714"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9.6</a:t>
                      </a:r>
                    </a:p>
                  </a:txBody>
                  <a:tcPr marT="45714" marB="45714"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dirty="0">
                        <a:ln>
                          <a:noFill/>
                        </a:ln>
                        <a:solidFill>
                          <a:schemeClr val="tx1"/>
                        </a:solidFill>
                        <a:effectLst/>
                        <a:latin typeface="Arial" charset="0"/>
                      </a:endParaRP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4" marB="45714"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457142">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A7</a:t>
                      </a:r>
                    </a:p>
                  </a:txBody>
                  <a:tcPr marT="45714" marB="45714" horzOverflow="overflow">
                    <a:lnL cap="flat">
                      <a:noFill/>
                    </a:lnL>
                    <a:lnR>
                      <a:noFill/>
                    </a:lnR>
                    <a:lnT>
                      <a:noFill/>
                    </a:lnT>
                    <a:lnB>
                      <a:noFill/>
                    </a:lnB>
                    <a:lnTlToBr>
                      <a:noFill/>
                    </a:lnTlToBr>
                    <a:lnBlToTr>
                      <a:noFill/>
                    </a:lnBlToTr>
                    <a:pattFill prst="pct5">
                      <a:fgClr>
                        <a:schemeClr val="folHlink"/>
                      </a:fgClr>
                      <a:bgClr>
                        <a:schemeClr val="bg1"/>
                      </a:bgClr>
                    </a:patt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3000</a:t>
                      </a:r>
                    </a:p>
                  </a:txBody>
                  <a:tcPr marT="45714" marB="45714" horzOverflow="overflow">
                    <a:lnL>
                      <a:noFill/>
                    </a:lnL>
                    <a:lnR>
                      <a:noFill/>
                    </a:lnR>
                    <a:lnT>
                      <a:noFill/>
                    </a:lnT>
                    <a:lnB>
                      <a:noFill/>
                    </a:lnB>
                    <a:lnTlToBr>
                      <a:noFill/>
                    </a:lnTlToBr>
                    <a:lnBlToTr>
                      <a:noFill/>
                    </a:lnBlToTr>
                    <a:pattFill prst="pct5">
                      <a:fgClr>
                        <a:schemeClr val="folHlink"/>
                      </a:fgClr>
                      <a:bgClr>
                        <a:schemeClr val="bg1"/>
                      </a:bgClr>
                    </a:patt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10.25</a:t>
                      </a:r>
                    </a:p>
                  </a:txBody>
                  <a:tcPr marT="45714" marB="45714" horzOverflow="overflow">
                    <a:lnL>
                      <a:noFill/>
                    </a:lnL>
                    <a:lnR>
                      <a:noFill/>
                    </a:lnR>
                    <a:lnT>
                      <a:noFill/>
                    </a:lnT>
                    <a:lnB>
                      <a:noFill/>
                    </a:lnB>
                    <a:lnTlToBr>
                      <a:noFill/>
                    </a:lnTlToBr>
                    <a:lnBlToTr>
                      <a:noFill/>
                    </a:lnBlToTr>
                    <a:pattFill prst="pct5">
                      <a:fgClr>
                        <a:schemeClr val="folHlink"/>
                      </a:fgClr>
                      <a:bgClr>
                        <a:schemeClr val="bg1"/>
                      </a:bgClr>
                    </a:patt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4" marB="45714" horzOverflow="overflow">
                    <a:lnL>
                      <a:noFill/>
                    </a:lnL>
                    <a:lnR>
                      <a:noFill/>
                    </a:lnR>
                    <a:lnT>
                      <a:noFill/>
                    </a:lnT>
                    <a:lnB>
                      <a:noFill/>
                    </a:lnB>
                    <a:lnTlToBr>
                      <a:noFill/>
                    </a:lnTlToBr>
                    <a:lnBlToTr>
                      <a:noFill/>
                    </a:lnBlToTr>
                    <a:pattFill prst="pct5">
                      <a:fgClr>
                        <a:schemeClr val="folHlink"/>
                      </a:fgClr>
                      <a:bgClr>
                        <a:schemeClr val="bg1"/>
                      </a:bgClr>
                    </a:patt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4" marB="45714" horzOverflow="overflow">
                    <a:lnL>
                      <a:noFill/>
                    </a:lnL>
                    <a:lnR>
                      <a:noFill/>
                    </a:lnR>
                    <a:lnT>
                      <a:noFill/>
                    </a:lnT>
                    <a:lnB>
                      <a:noFill/>
                    </a:lnB>
                    <a:lnTlToBr>
                      <a:noFill/>
                    </a:lnTlToBr>
                    <a:lnBlToTr>
                      <a:noFill/>
                    </a:lnBlToTr>
                    <a:pattFill prst="pct5">
                      <a:fgClr>
                        <a:schemeClr val="folHlink"/>
                      </a:fgClr>
                      <a:bgClr>
                        <a:schemeClr val="bg1"/>
                      </a:bgClr>
                    </a:patt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4" marB="45714" horzOverflow="overflow">
                    <a:lnL>
                      <a:noFill/>
                    </a:lnL>
                    <a:lnR cap="flat">
                      <a:noFill/>
                    </a:lnR>
                    <a:lnT>
                      <a:noFill/>
                    </a:lnT>
                    <a:lnB>
                      <a:noFill/>
                    </a:lnB>
                    <a:lnTlToBr>
                      <a:noFill/>
                    </a:lnTlToBr>
                    <a:lnBlToTr>
                      <a:noFill/>
                    </a:lnBlToTr>
                    <a:pattFill prst="pct5">
                      <a:fgClr>
                        <a:schemeClr val="folHlink"/>
                      </a:fgClr>
                      <a:bgClr>
                        <a:schemeClr val="bg1"/>
                      </a:bgClr>
                    </a:pattFill>
                  </a:tcPr>
                </a:tc>
                <a:extLst>
                  <a:ext uri="{0D108BD9-81ED-4DB2-BD59-A6C34878D82A}">
                    <a16:rowId xmlns:a16="http://schemas.microsoft.com/office/drawing/2014/main" val="10007"/>
                  </a:ext>
                </a:extLst>
              </a:tr>
              <a:tr h="457142">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A8</a:t>
                      </a:r>
                    </a:p>
                  </a:txBody>
                  <a:tcPr marT="45714" marB="45714" horzOverflow="overflow">
                    <a:lnL cap="flat">
                      <a:noFill/>
                    </a:lnL>
                    <a:lnR>
                      <a:noFill/>
                    </a:lnR>
                    <a:lnT>
                      <a:noFill/>
                    </a:lnT>
                    <a:lnB>
                      <a:noFill/>
                    </a:lnB>
                    <a:lnTlToBr>
                      <a:noFill/>
                    </a:lnTlToBr>
                    <a:lnBlToTr>
                      <a:noFill/>
                    </a:lnBlToTr>
                    <a:pattFill prst="pct5">
                      <a:fgClr>
                        <a:schemeClr val="folHlink"/>
                      </a:fgClr>
                      <a:bgClr>
                        <a:schemeClr val="bg1"/>
                      </a:bgClr>
                    </a:patt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4500</a:t>
                      </a:r>
                    </a:p>
                  </a:txBody>
                  <a:tcPr marT="45714" marB="45714" horzOverflow="overflow">
                    <a:lnL>
                      <a:noFill/>
                    </a:lnL>
                    <a:lnR>
                      <a:noFill/>
                    </a:lnR>
                    <a:lnT>
                      <a:noFill/>
                    </a:lnT>
                    <a:lnB>
                      <a:noFill/>
                    </a:lnB>
                    <a:lnTlToBr>
                      <a:noFill/>
                    </a:lnTlToBr>
                    <a:lnBlToTr>
                      <a:noFill/>
                    </a:lnBlToTr>
                    <a:pattFill prst="pct5">
                      <a:fgClr>
                        <a:schemeClr val="folHlink"/>
                      </a:fgClr>
                      <a:bgClr>
                        <a:schemeClr val="bg1"/>
                      </a:bgClr>
                    </a:patt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10.45</a:t>
                      </a:r>
                    </a:p>
                  </a:txBody>
                  <a:tcPr marT="45714" marB="45714" horzOverflow="overflow">
                    <a:lnL>
                      <a:noFill/>
                    </a:lnL>
                    <a:lnR>
                      <a:noFill/>
                    </a:lnR>
                    <a:lnT>
                      <a:noFill/>
                    </a:lnT>
                    <a:lnB>
                      <a:noFill/>
                    </a:lnB>
                    <a:lnTlToBr>
                      <a:noFill/>
                    </a:lnTlToBr>
                    <a:lnBlToTr>
                      <a:noFill/>
                    </a:lnBlToTr>
                    <a:pattFill prst="pct5">
                      <a:fgClr>
                        <a:schemeClr val="folHlink"/>
                      </a:fgClr>
                      <a:bgClr>
                        <a:schemeClr val="bg1"/>
                      </a:bgClr>
                    </a:patt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4" marB="45714" horzOverflow="overflow">
                    <a:lnL>
                      <a:noFill/>
                    </a:lnL>
                    <a:lnR>
                      <a:noFill/>
                    </a:lnR>
                    <a:lnT>
                      <a:noFill/>
                    </a:lnT>
                    <a:lnB>
                      <a:noFill/>
                    </a:lnB>
                    <a:lnTlToBr>
                      <a:noFill/>
                    </a:lnTlToBr>
                    <a:lnBlToTr>
                      <a:noFill/>
                    </a:lnBlToTr>
                    <a:pattFill prst="pct5">
                      <a:fgClr>
                        <a:schemeClr val="folHlink"/>
                      </a:fgClr>
                      <a:bgClr>
                        <a:schemeClr val="bg1"/>
                      </a:bgClr>
                    </a:patt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4" marB="45714" horzOverflow="overflow">
                    <a:lnL>
                      <a:noFill/>
                    </a:lnL>
                    <a:lnR>
                      <a:noFill/>
                    </a:lnR>
                    <a:lnT>
                      <a:noFill/>
                    </a:lnT>
                    <a:lnB>
                      <a:noFill/>
                    </a:lnB>
                    <a:lnTlToBr>
                      <a:noFill/>
                    </a:lnTlToBr>
                    <a:lnBlToTr>
                      <a:noFill/>
                    </a:lnBlToTr>
                    <a:pattFill prst="pct5">
                      <a:fgClr>
                        <a:schemeClr val="folHlink"/>
                      </a:fgClr>
                      <a:bgClr>
                        <a:schemeClr val="bg1"/>
                      </a:bgClr>
                    </a:patt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4" marB="45714" horzOverflow="overflow">
                    <a:lnL>
                      <a:noFill/>
                    </a:lnL>
                    <a:lnR cap="flat">
                      <a:noFill/>
                    </a:lnR>
                    <a:lnT>
                      <a:noFill/>
                    </a:lnT>
                    <a:lnB>
                      <a:noFill/>
                    </a:lnB>
                    <a:lnTlToBr>
                      <a:noFill/>
                    </a:lnTlToBr>
                    <a:lnBlToTr>
                      <a:noFill/>
                    </a:lnBlToTr>
                    <a:pattFill prst="pct5">
                      <a:fgClr>
                        <a:schemeClr val="folHlink"/>
                      </a:fgClr>
                      <a:bgClr>
                        <a:schemeClr val="bg1"/>
                      </a:bgClr>
                    </a:pattFill>
                  </a:tcPr>
                </a:tc>
                <a:extLst>
                  <a:ext uri="{0D108BD9-81ED-4DB2-BD59-A6C34878D82A}">
                    <a16:rowId xmlns:a16="http://schemas.microsoft.com/office/drawing/2014/main" val="10008"/>
                  </a:ext>
                </a:extLst>
              </a:tr>
              <a:tr h="518094">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endParaRPr kumimoji="0" lang="en-US" sz="2800" b="1" i="0" u="none" strike="noStrike" cap="none" normalizeH="0" baseline="0">
                        <a:ln>
                          <a:noFill/>
                        </a:ln>
                        <a:solidFill>
                          <a:schemeClr val="tx1"/>
                        </a:solidFill>
                        <a:effectLst/>
                        <a:latin typeface="Arial" charset="0"/>
                      </a:endParaRPr>
                    </a:p>
                  </a:txBody>
                  <a:tcPr marT="45714" marB="45714" horzOverflow="overflow">
                    <a:lnL cap="flat">
                      <a:noFill/>
                    </a:lnL>
                    <a:lnR>
                      <a:noFill/>
                    </a:lnR>
                    <a:lnT>
                      <a:noFill/>
                    </a:lnT>
                    <a:lnB cap="flat">
                      <a:noFill/>
                    </a:lnB>
                    <a:lnTlToBr>
                      <a:noFill/>
                    </a:lnTlToBr>
                    <a:lnBlToTr>
                      <a:noFill/>
                    </a:lnBlToTr>
                    <a:pattFill prst="pct5">
                      <a:fgClr>
                        <a:schemeClr val="folHlink"/>
                      </a:fgClr>
                      <a:bgClr>
                        <a:schemeClr val="bg1"/>
                      </a:bgClr>
                    </a:patt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1" i="0" u="none" strike="noStrike" cap="none" normalizeH="0" baseline="0" dirty="0">
                        <a:ln>
                          <a:noFill/>
                        </a:ln>
                        <a:solidFill>
                          <a:schemeClr val="tx1"/>
                        </a:solidFill>
                        <a:effectLst/>
                        <a:latin typeface="Arial" charset="0"/>
                      </a:endParaRPr>
                    </a:p>
                  </a:txBody>
                  <a:tcPr marT="45714" marB="45714" horzOverflow="overflow">
                    <a:lnL>
                      <a:noFill/>
                    </a:lnL>
                    <a:lnR>
                      <a:noFill/>
                    </a:lnR>
                    <a:lnT>
                      <a:noFill/>
                    </a:lnT>
                    <a:lnB cap="flat">
                      <a:noFill/>
                    </a:lnB>
                    <a:lnTlToBr>
                      <a:noFill/>
                    </a:lnTlToBr>
                    <a:lnBlToTr>
                      <a:noFill/>
                    </a:lnBlToTr>
                    <a:pattFill prst="pct5">
                      <a:fgClr>
                        <a:schemeClr val="folHlink"/>
                      </a:fgClr>
                      <a:bgClr>
                        <a:schemeClr val="bg1"/>
                      </a:bgClr>
                    </a:patt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1" i="0" u="none" strike="noStrike" cap="none" normalizeH="0" baseline="0">
                        <a:ln>
                          <a:noFill/>
                        </a:ln>
                        <a:solidFill>
                          <a:schemeClr val="tx1"/>
                        </a:solidFill>
                        <a:effectLst/>
                        <a:latin typeface="Arial" charset="0"/>
                      </a:endParaRPr>
                    </a:p>
                  </a:txBody>
                  <a:tcPr marT="45714" marB="45714" horzOverflow="overflow">
                    <a:lnL>
                      <a:noFill/>
                    </a:lnL>
                    <a:lnR>
                      <a:noFill/>
                    </a:lnR>
                    <a:lnT>
                      <a:noFill/>
                    </a:lnT>
                    <a:lnB cap="flat">
                      <a:noFill/>
                    </a:lnB>
                    <a:lnTlToBr>
                      <a:noFill/>
                    </a:lnTlToBr>
                    <a:lnBlToTr>
                      <a:noFill/>
                    </a:lnBlToTr>
                    <a:pattFill prst="pct5">
                      <a:fgClr>
                        <a:schemeClr val="folHlink"/>
                      </a:fgClr>
                      <a:bgClr>
                        <a:schemeClr val="bg1"/>
                      </a:bgClr>
                    </a:patt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1" i="0" u="none" strike="noStrike" cap="none" normalizeH="0" baseline="0">
                        <a:ln>
                          <a:noFill/>
                        </a:ln>
                        <a:solidFill>
                          <a:schemeClr val="tx1"/>
                        </a:solidFill>
                        <a:effectLst/>
                        <a:latin typeface="Arial" charset="0"/>
                      </a:endParaRPr>
                    </a:p>
                  </a:txBody>
                  <a:tcPr marT="45714" marB="45714" horzOverflow="overflow">
                    <a:lnL>
                      <a:noFill/>
                    </a:lnL>
                    <a:lnR>
                      <a:noFill/>
                    </a:lnR>
                    <a:lnT>
                      <a:noFill/>
                    </a:lnT>
                    <a:lnB cap="flat">
                      <a:noFill/>
                    </a:lnB>
                    <a:lnTlToBr>
                      <a:noFill/>
                    </a:lnTlToBr>
                    <a:lnBlToTr>
                      <a:noFill/>
                    </a:lnBlToTr>
                    <a:pattFill prst="pct5">
                      <a:fgClr>
                        <a:schemeClr val="folHlink"/>
                      </a:fgClr>
                      <a:bgClr>
                        <a:schemeClr val="bg1"/>
                      </a:bgClr>
                    </a:patt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4" marB="45714" horzOverflow="overflow">
                    <a:lnL>
                      <a:noFill/>
                    </a:lnL>
                    <a:lnR>
                      <a:noFill/>
                    </a:lnR>
                    <a:lnT>
                      <a:noFill/>
                    </a:lnT>
                    <a:lnB cap="flat">
                      <a:noFill/>
                    </a:lnB>
                    <a:lnTlToBr>
                      <a:noFill/>
                    </a:lnTlToBr>
                    <a:lnBlToTr>
                      <a:noFill/>
                    </a:lnBlToTr>
                    <a:pattFill prst="pct5">
                      <a:fgClr>
                        <a:schemeClr val="folHlink"/>
                      </a:fgClr>
                      <a:bgClr>
                        <a:schemeClr val="bg1"/>
                      </a:bgClr>
                    </a:patt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dirty="0">
                        <a:ln>
                          <a:noFill/>
                        </a:ln>
                        <a:solidFill>
                          <a:schemeClr val="tx1"/>
                        </a:solidFill>
                        <a:effectLst/>
                        <a:latin typeface="Arial" charset="0"/>
                      </a:endParaRPr>
                    </a:p>
                  </a:txBody>
                  <a:tcPr marT="45714" marB="45714" horzOverflow="overflow">
                    <a:lnL>
                      <a:noFill/>
                    </a:lnL>
                    <a:lnR cap="flat">
                      <a:noFill/>
                    </a:lnR>
                    <a:lnT>
                      <a:noFill/>
                    </a:lnT>
                    <a:lnB cap="flat">
                      <a:noFill/>
                    </a:lnB>
                    <a:lnTlToBr>
                      <a:noFill/>
                    </a:lnTlToBr>
                    <a:lnBlToTr>
                      <a:noFill/>
                    </a:lnBlToTr>
                    <a:pattFill prst="pct5">
                      <a:fgClr>
                        <a:schemeClr val="folHlink"/>
                      </a:fgClr>
                      <a:bgClr>
                        <a:schemeClr val="bg1"/>
                      </a:bgClr>
                    </a:pattFill>
                  </a:tcPr>
                </a:tc>
                <a:extLst>
                  <a:ext uri="{0D108BD9-81ED-4DB2-BD59-A6C34878D82A}">
                    <a16:rowId xmlns:a16="http://schemas.microsoft.com/office/drawing/2014/main" val="10009"/>
                  </a:ext>
                </a:extLst>
              </a:tr>
            </a:tbl>
          </a:graphicData>
        </a:graphic>
      </p:graphicFrame>
      <p:sp>
        <p:nvSpPr>
          <p:cNvPr id="18498" name="Line 92">
            <a:extLst>
              <a:ext uri="{FF2B5EF4-FFF2-40B4-BE49-F238E27FC236}">
                <a16:creationId xmlns:a16="http://schemas.microsoft.com/office/drawing/2014/main" id="{B8234C37-67C2-BA40-BDCB-2B712D327D0E}"/>
              </a:ext>
            </a:extLst>
          </p:cNvPr>
          <p:cNvSpPr>
            <a:spLocks noChangeShapeType="1"/>
          </p:cNvSpPr>
          <p:nvPr/>
        </p:nvSpPr>
        <p:spPr bwMode="auto">
          <a:xfrm>
            <a:off x="2057400" y="1925120"/>
            <a:ext cx="80772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18499" name="Line 93">
            <a:extLst>
              <a:ext uri="{FF2B5EF4-FFF2-40B4-BE49-F238E27FC236}">
                <a16:creationId xmlns:a16="http://schemas.microsoft.com/office/drawing/2014/main" id="{7CB444AE-AF4E-0347-A561-462D9882E6D9}"/>
              </a:ext>
            </a:extLst>
          </p:cNvPr>
          <p:cNvSpPr>
            <a:spLocks noChangeShapeType="1"/>
          </p:cNvSpPr>
          <p:nvPr/>
        </p:nvSpPr>
        <p:spPr bwMode="auto">
          <a:xfrm>
            <a:off x="2133600" y="1391720"/>
            <a:ext cx="80772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1026153" name="Line 105">
            <a:extLst>
              <a:ext uri="{FF2B5EF4-FFF2-40B4-BE49-F238E27FC236}">
                <a16:creationId xmlns:a16="http://schemas.microsoft.com/office/drawing/2014/main" id="{08DCE3CD-2F6B-6249-A82B-7A1E746C9841}"/>
              </a:ext>
            </a:extLst>
          </p:cNvPr>
          <p:cNvSpPr>
            <a:spLocks noChangeShapeType="1"/>
          </p:cNvSpPr>
          <p:nvPr/>
        </p:nvSpPr>
        <p:spPr bwMode="auto">
          <a:xfrm>
            <a:off x="2057400" y="3830120"/>
            <a:ext cx="4495800" cy="0"/>
          </a:xfrm>
          <a:prstGeom prst="line">
            <a:avLst/>
          </a:prstGeom>
          <a:noFill/>
          <a:ln w="19050">
            <a:solidFill>
              <a:srgbClr val="990033"/>
            </a:solidFill>
            <a:round/>
            <a:headEnd/>
            <a:tailEnd type="triangle" w="med" len="med"/>
          </a:ln>
          <a:extLst>
            <a:ext uri="{909E8E84-426E-40DD-AFC4-6F175D3DCCD1}">
              <a14:hiddenFill xmlns:a14="http://schemas.microsoft.com/office/drawing/2010/main">
                <a:noFill/>
              </a14:hiddenFill>
            </a:ext>
          </a:extLst>
        </p:spPr>
        <p:txBody>
          <a:bodyPr/>
          <a:lstStyle/>
          <a:p>
            <a:endParaRPr lang="en-MX"/>
          </a:p>
        </p:txBody>
      </p:sp>
      <p:sp>
        <p:nvSpPr>
          <p:cNvPr id="1026154" name="Text Box 106">
            <a:extLst>
              <a:ext uri="{FF2B5EF4-FFF2-40B4-BE49-F238E27FC236}">
                <a16:creationId xmlns:a16="http://schemas.microsoft.com/office/drawing/2014/main" id="{834BF781-56E9-9341-ADBB-3AE61BECE7C3}"/>
              </a:ext>
            </a:extLst>
          </p:cNvPr>
          <p:cNvSpPr txBox="1">
            <a:spLocks noChangeArrowheads="1"/>
          </p:cNvSpPr>
          <p:nvPr/>
        </p:nvSpPr>
        <p:spPr bwMode="auto">
          <a:xfrm>
            <a:off x="6629401" y="3601521"/>
            <a:ext cx="1497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a:solidFill>
                  <a:srgbClr val="990033"/>
                </a:solidFill>
              </a:rPr>
              <a:t>Dominated</a:t>
            </a:r>
          </a:p>
        </p:txBody>
      </p:sp>
    </p:spTree>
    <p:extLst>
      <p:ext uri="{BB962C8B-B14F-4D97-AF65-F5344CB8AC3E}">
        <p14:creationId xmlns:p14="http://schemas.microsoft.com/office/powerpoint/2010/main" val="379371520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2615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261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154" grpId="0"/>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611C24AE-14A4-E345-B09A-782C4AF53FA2}"/>
              </a:ext>
            </a:extLst>
          </p:cNvPr>
          <p:cNvSpPr>
            <a:spLocks noChangeArrowheads="1"/>
          </p:cNvSpPr>
          <p:nvPr/>
        </p:nvSpPr>
        <p:spPr bwMode="auto">
          <a:xfrm>
            <a:off x="2209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19459" name="Rectangle 3">
            <a:extLst>
              <a:ext uri="{FF2B5EF4-FFF2-40B4-BE49-F238E27FC236}">
                <a16:creationId xmlns:a16="http://schemas.microsoft.com/office/drawing/2014/main" id="{F8DC6E96-2AC3-3240-B7DB-1D5FC2944393}"/>
              </a:ext>
            </a:extLst>
          </p:cNvPr>
          <p:cNvSpPr>
            <a:spLocks noChangeArrowheads="1"/>
          </p:cNvSpPr>
          <p:nvPr/>
        </p:nvSpPr>
        <p:spPr bwMode="auto">
          <a:xfrm>
            <a:off x="4648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graphicFrame>
        <p:nvGraphicFramePr>
          <p:cNvPr id="1084421" name="Group 5">
            <a:extLst>
              <a:ext uri="{FF2B5EF4-FFF2-40B4-BE49-F238E27FC236}">
                <a16:creationId xmlns:a16="http://schemas.microsoft.com/office/drawing/2014/main" id="{506507AF-9A13-4D4D-8E3F-279C5EA6F07B}"/>
              </a:ext>
            </a:extLst>
          </p:cNvPr>
          <p:cNvGraphicFramePr>
            <a:graphicFrameLocks noGrp="1"/>
          </p:cNvGraphicFramePr>
          <p:nvPr/>
        </p:nvGraphicFramePr>
        <p:xfrm>
          <a:off x="1981200" y="1467921"/>
          <a:ext cx="8153400" cy="5015242"/>
        </p:xfrm>
        <a:graphic>
          <a:graphicData uri="http://schemas.openxmlformats.org/drawingml/2006/table">
            <a:tbl>
              <a:tblPr/>
              <a:tblGrid>
                <a:gridCol w="14478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182563">
                  <a:extLst>
                    <a:ext uri="{9D8B030D-6E8A-4147-A177-3AD203B41FA5}">
                      <a16:colId xmlns:a16="http://schemas.microsoft.com/office/drawing/2014/main" val="20004"/>
                    </a:ext>
                  </a:extLst>
                </a:gridCol>
                <a:gridCol w="1112837">
                  <a:extLst>
                    <a:ext uri="{9D8B030D-6E8A-4147-A177-3AD203B41FA5}">
                      <a16:colId xmlns:a16="http://schemas.microsoft.com/office/drawing/2014/main" val="20005"/>
                    </a:ext>
                  </a:extLst>
                </a:gridCol>
                <a:gridCol w="258763">
                  <a:extLst>
                    <a:ext uri="{9D8B030D-6E8A-4147-A177-3AD203B41FA5}">
                      <a16:colId xmlns:a16="http://schemas.microsoft.com/office/drawing/2014/main" val="20006"/>
                    </a:ext>
                  </a:extLst>
                </a:gridCol>
                <a:gridCol w="1417637">
                  <a:extLst>
                    <a:ext uri="{9D8B030D-6E8A-4147-A177-3AD203B41FA5}">
                      <a16:colId xmlns:a16="http://schemas.microsoft.com/office/drawing/2014/main" val="20007"/>
                    </a:ext>
                  </a:extLst>
                </a:gridCol>
              </a:tblGrid>
              <a:tr h="615872">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dirty="0">
                          <a:ln>
                            <a:noFill/>
                          </a:ln>
                          <a:solidFill>
                            <a:schemeClr val="tx1"/>
                          </a:solidFill>
                          <a:effectLst/>
                          <a:latin typeface="Arial" charset="0"/>
                        </a:rPr>
                        <a:t>Program</a:t>
                      </a:r>
                    </a:p>
                  </a:txBody>
                  <a:tcPr marT="45714" marB="45714"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Cost ($)</a:t>
                      </a:r>
                    </a:p>
                  </a:txBody>
                  <a:tcPr marT="45714" marB="45714"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Effect</a:t>
                      </a:r>
                    </a:p>
                  </a:txBody>
                  <a:tcPr marT="45714" marB="45714"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Symbol" pitchFamily="18" charset="2"/>
                        </a:rPr>
                        <a:t>D</a:t>
                      </a:r>
                      <a:r>
                        <a:rPr kumimoji="0" lang="en-US" sz="2400" b="0" i="0" u="none" strike="noStrike" cap="none" normalizeH="0" baseline="0">
                          <a:ln>
                            <a:noFill/>
                          </a:ln>
                          <a:solidFill>
                            <a:schemeClr val="tx1"/>
                          </a:solidFill>
                          <a:effectLst/>
                          <a:latin typeface="Arial" charset="0"/>
                        </a:rPr>
                        <a:t>C</a:t>
                      </a:r>
                    </a:p>
                  </a:txBody>
                  <a:tcPr marT="45714" marB="45714" horzOverflow="overflow">
                    <a:lnL>
                      <a:noFill/>
                    </a:lnL>
                    <a:lnR>
                      <a:noFill/>
                    </a:lnR>
                    <a:lnT cap="flat">
                      <a:noFill/>
                    </a:lnT>
                    <a:lnB>
                      <a:noFill/>
                    </a:lnB>
                    <a:lnTlToBr>
                      <a:noFill/>
                    </a:lnTlToBr>
                    <a:lnBlToTr>
                      <a:noFill/>
                    </a:lnBlToTr>
                    <a:noFill/>
                  </a:tcPr>
                </a:tc>
                <a:tc gridSpan="2">
                  <a:txBody>
                    <a:bodyPr/>
                    <a:lstStyle/>
                    <a:p>
                      <a:pPr marL="22860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Symbol" pitchFamily="18" charset="2"/>
                        </a:rPr>
                        <a:t>D</a:t>
                      </a:r>
                      <a:r>
                        <a:rPr kumimoji="0" lang="en-US" sz="2400" b="0" i="0" u="none" strike="noStrike" cap="none" normalizeH="0" baseline="0">
                          <a:ln>
                            <a:noFill/>
                          </a:ln>
                          <a:solidFill>
                            <a:schemeClr val="tx1"/>
                          </a:solidFill>
                          <a:effectLst/>
                          <a:latin typeface="Arial" charset="0"/>
                        </a:rPr>
                        <a:t>E</a:t>
                      </a:r>
                    </a:p>
                  </a:txBody>
                  <a:tcPr marT="45714" marB="45714" horzOverflow="overflow">
                    <a:lnL>
                      <a:noFill/>
                    </a:lnL>
                    <a:lnR>
                      <a:noFill/>
                    </a:lnR>
                    <a:lnT cap="flat">
                      <a:noFill/>
                    </a:lnT>
                    <a:lnB>
                      <a:noFill/>
                    </a:lnB>
                    <a:lnTlToBr>
                      <a:noFill/>
                    </a:lnTlToBr>
                    <a:lnBlToTr>
                      <a:noFill/>
                    </a:lnBlToTr>
                    <a:noFill/>
                  </a:tcPr>
                </a:tc>
                <a:tc hMerge="1">
                  <a:txBody>
                    <a:bodyPr/>
                    <a:lstStyle/>
                    <a:p>
                      <a:endParaRPr lang="en-US"/>
                    </a:p>
                  </a:txBody>
                  <a:tcPr/>
                </a:tc>
                <a:tc gridSpan="2">
                  <a:txBody>
                    <a:bodyPr/>
                    <a:lstStyle/>
                    <a:p>
                      <a:pPr marL="22860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Incr. CE</a:t>
                      </a:r>
                    </a:p>
                  </a:txBody>
                  <a:tcPr marT="45714" marB="45714" horzOverflow="overflow">
                    <a:lnL>
                      <a:noFill/>
                    </a:lnL>
                    <a:lnR cap="flat">
                      <a:noFill/>
                    </a:lnR>
                    <a:lnT cap="flat">
                      <a:noFill/>
                    </a:lnT>
                    <a:lnB>
                      <a:noFill/>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603174">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dirty="0">
                          <a:ln>
                            <a:noFill/>
                          </a:ln>
                          <a:solidFill>
                            <a:schemeClr val="tx1"/>
                          </a:solidFill>
                          <a:effectLst/>
                          <a:latin typeface="Arial" charset="0"/>
                        </a:rPr>
                        <a:t>Nothing</a:t>
                      </a:r>
                    </a:p>
                  </a:txBody>
                  <a:tcPr marT="45714" marB="45714"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dirty="0">
                          <a:ln>
                            <a:noFill/>
                          </a:ln>
                          <a:solidFill>
                            <a:schemeClr val="tx1"/>
                          </a:solidFill>
                          <a:effectLst/>
                          <a:latin typeface="Arial" charset="0"/>
                        </a:rPr>
                        <a:t>0</a:t>
                      </a:r>
                    </a:p>
                  </a:txBody>
                  <a:tcPr marT="45714" marB="45714"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dirty="0">
                          <a:ln>
                            <a:noFill/>
                          </a:ln>
                          <a:solidFill>
                            <a:schemeClr val="tx1"/>
                          </a:solidFill>
                          <a:effectLst/>
                          <a:latin typeface="Arial" charset="0"/>
                        </a:rPr>
                        <a:t>0</a:t>
                      </a:r>
                    </a:p>
                  </a:txBody>
                  <a:tcPr marT="45714" marB="45714"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dirty="0">
                        <a:ln>
                          <a:noFill/>
                        </a:ln>
                        <a:solidFill>
                          <a:schemeClr val="tx1"/>
                        </a:solidFill>
                        <a:effectLst/>
                        <a:latin typeface="Arial" charset="0"/>
                      </a:endParaRP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dirty="0">
                        <a:ln>
                          <a:noFill/>
                        </a:ln>
                        <a:solidFill>
                          <a:schemeClr val="tx1"/>
                        </a:solidFill>
                        <a:effectLst/>
                        <a:latin typeface="Arial" charset="0"/>
                      </a:endParaRP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dirty="0">
                        <a:ln>
                          <a:noFill/>
                        </a:ln>
                        <a:solidFill>
                          <a:schemeClr val="tx1"/>
                        </a:solidFill>
                        <a:effectLst/>
                        <a:latin typeface="Arial" charset="0"/>
                      </a:endParaRPr>
                    </a:p>
                  </a:txBody>
                  <a:tcPr marT="45714" marB="45714"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457142">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A2</a:t>
                      </a:r>
                    </a:p>
                  </a:txBody>
                  <a:tcPr marT="45714" marB="45714"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500</a:t>
                      </a:r>
                    </a:p>
                  </a:txBody>
                  <a:tcPr marT="45714" marB="45714"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7.0</a:t>
                      </a:r>
                    </a:p>
                  </a:txBody>
                  <a:tcPr marT="45714" marB="45714"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500</a:t>
                      </a: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7.0</a:t>
                      </a: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71</a:t>
                      </a:r>
                    </a:p>
                  </a:txBody>
                  <a:tcPr marT="45714" marB="45714"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457142">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A3</a:t>
                      </a:r>
                    </a:p>
                  </a:txBody>
                  <a:tcPr marT="45714" marB="45714"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1000</a:t>
                      </a:r>
                    </a:p>
                  </a:txBody>
                  <a:tcPr marT="45714" marB="45714"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8.5</a:t>
                      </a:r>
                    </a:p>
                  </a:txBody>
                  <a:tcPr marT="45714" marB="45714"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500</a:t>
                      </a: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1.5</a:t>
                      </a: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333</a:t>
                      </a:r>
                    </a:p>
                  </a:txBody>
                  <a:tcPr marT="45714" marB="45714"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457142">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A5</a:t>
                      </a:r>
                    </a:p>
                  </a:txBody>
                  <a:tcPr marT="45714" marB="45714"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1600</a:t>
                      </a:r>
                    </a:p>
                  </a:txBody>
                  <a:tcPr marT="45714" marB="45714"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8.8</a:t>
                      </a:r>
                    </a:p>
                  </a:txBody>
                  <a:tcPr marT="45714" marB="45714"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600</a:t>
                      </a: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0.3</a:t>
                      </a: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2000</a:t>
                      </a:r>
                    </a:p>
                  </a:txBody>
                  <a:tcPr marT="45714" marB="45714"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457142">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A6</a:t>
                      </a:r>
                    </a:p>
                  </a:txBody>
                  <a:tcPr marT="45714" marB="45714"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2000</a:t>
                      </a:r>
                    </a:p>
                  </a:txBody>
                  <a:tcPr marT="45714" marB="45714"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9.6</a:t>
                      </a:r>
                    </a:p>
                  </a:txBody>
                  <a:tcPr marT="45714" marB="45714"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400</a:t>
                      </a: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0.8</a:t>
                      </a: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500</a:t>
                      </a:r>
                    </a:p>
                  </a:txBody>
                  <a:tcPr marT="45714" marB="45714"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534920">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A7</a:t>
                      </a:r>
                    </a:p>
                  </a:txBody>
                  <a:tcPr marT="45714" marB="45714"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3000</a:t>
                      </a:r>
                    </a:p>
                  </a:txBody>
                  <a:tcPr marT="45714" marB="45714"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10.25</a:t>
                      </a:r>
                    </a:p>
                  </a:txBody>
                  <a:tcPr marT="45714" marB="45714"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1000</a:t>
                      </a: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0.65</a:t>
                      </a: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1538</a:t>
                      </a:r>
                    </a:p>
                  </a:txBody>
                  <a:tcPr marT="45714" marB="45714"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457142">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A8</a:t>
                      </a:r>
                    </a:p>
                  </a:txBody>
                  <a:tcPr marT="45714" marB="45714" horzOverflow="overflow">
                    <a:lnL cap="flat">
                      <a:noFill/>
                    </a:lnL>
                    <a:lnR>
                      <a:noFill/>
                    </a:lnR>
                    <a:lnT>
                      <a:noFill/>
                    </a:lnT>
                    <a:lnB>
                      <a:noFill/>
                    </a:lnB>
                    <a:lnTlToBr>
                      <a:noFill/>
                    </a:lnTlToBr>
                    <a:lnBlToTr>
                      <a:noFill/>
                    </a:lnBlToTr>
                    <a:pattFill prst="pct5">
                      <a:fgClr>
                        <a:schemeClr val="folHlink"/>
                      </a:fgClr>
                      <a:bgClr>
                        <a:schemeClr val="bg1"/>
                      </a:bgClr>
                    </a:patt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4500</a:t>
                      </a:r>
                    </a:p>
                  </a:txBody>
                  <a:tcPr marT="45714" marB="45714" horzOverflow="overflow">
                    <a:lnL>
                      <a:noFill/>
                    </a:lnL>
                    <a:lnR>
                      <a:noFill/>
                    </a:lnR>
                    <a:lnT>
                      <a:noFill/>
                    </a:lnT>
                    <a:lnB>
                      <a:noFill/>
                    </a:lnB>
                    <a:lnTlToBr>
                      <a:noFill/>
                    </a:lnTlToBr>
                    <a:lnBlToTr>
                      <a:noFill/>
                    </a:lnBlToTr>
                    <a:pattFill prst="pct5">
                      <a:fgClr>
                        <a:schemeClr val="folHlink"/>
                      </a:fgClr>
                      <a:bgClr>
                        <a:schemeClr val="bg1"/>
                      </a:bgClr>
                    </a:patt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10.45</a:t>
                      </a:r>
                    </a:p>
                  </a:txBody>
                  <a:tcPr marT="45714" marB="45714" horzOverflow="overflow">
                    <a:lnL>
                      <a:noFill/>
                    </a:lnL>
                    <a:lnR>
                      <a:noFill/>
                    </a:lnR>
                    <a:lnT>
                      <a:noFill/>
                    </a:lnT>
                    <a:lnB>
                      <a:noFill/>
                    </a:lnB>
                    <a:lnTlToBr>
                      <a:noFill/>
                    </a:lnTlToBr>
                    <a:lnBlToTr>
                      <a:noFill/>
                    </a:lnBlToTr>
                    <a:pattFill prst="pct5">
                      <a:fgClr>
                        <a:schemeClr val="folHlink"/>
                      </a:fgClr>
                      <a:bgClr>
                        <a:schemeClr val="bg1"/>
                      </a:bgClr>
                    </a:patt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1500</a:t>
                      </a:r>
                    </a:p>
                  </a:txBody>
                  <a:tcPr marT="45714" marB="45714" horzOverflow="overflow">
                    <a:lnL>
                      <a:noFill/>
                    </a:lnL>
                    <a:lnR>
                      <a:noFill/>
                    </a:lnR>
                    <a:lnT>
                      <a:noFill/>
                    </a:lnT>
                    <a:lnB>
                      <a:noFill/>
                    </a:lnB>
                    <a:lnTlToBr>
                      <a:noFill/>
                    </a:lnTlToBr>
                    <a:lnBlToTr>
                      <a:noFill/>
                    </a:lnBlToTr>
                    <a:pattFill prst="pct5">
                      <a:fgClr>
                        <a:schemeClr val="folHlink"/>
                      </a:fgClr>
                      <a:bgClr>
                        <a:schemeClr val="bg1"/>
                      </a:bgClr>
                    </a:patt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0.20</a:t>
                      </a:r>
                    </a:p>
                  </a:txBody>
                  <a:tcPr marT="45714" marB="45714" horzOverflow="overflow">
                    <a:lnL>
                      <a:noFill/>
                    </a:lnL>
                    <a:lnR>
                      <a:noFill/>
                    </a:lnR>
                    <a:lnT>
                      <a:noFill/>
                    </a:lnT>
                    <a:lnB>
                      <a:noFill/>
                    </a:lnB>
                    <a:lnTlToBr>
                      <a:noFill/>
                    </a:lnTlToBr>
                    <a:lnBlToTr>
                      <a:noFill/>
                    </a:lnBlToTr>
                    <a:pattFill prst="pct5">
                      <a:fgClr>
                        <a:schemeClr val="folHlink"/>
                      </a:fgClr>
                      <a:bgClr>
                        <a:schemeClr val="bg1"/>
                      </a:bgClr>
                    </a:patt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7500</a:t>
                      </a:r>
                    </a:p>
                  </a:txBody>
                  <a:tcPr marT="45714" marB="45714" horzOverflow="overflow">
                    <a:lnL>
                      <a:noFill/>
                    </a:lnL>
                    <a:lnR cap="flat">
                      <a:noFill/>
                    </a:lnR>
                    <a:lnT>
                      <a:noFill/>
                    </a:lnT>
                    <a:lnB>
                      <a:noFill/>
                    </a:lnB>
                    <a:lnTlToBr>
                      <a:noFill/>
                    </a:lnTlToBr>
                    <a:lnBlToTr>
                      <a:noFill/>
                    </a:lnBlToTr>
                    <a:pattFill prst="pct5">
                      <a:fgClr>
                        <a:schemeClr val="folHlink"/>
                      </a:fgClr>
                      <a:bgClr>
                        <a:schemeClr val="bg1"/>
                      </a:bgClr>
                    </a:pattFill>
                  </a:tcPr>
                </a:tc>
                <a:extLst>
                  <a:ext uri="{0D108BD9-81ED-4DB2-BD59-A6C34878D82A}">
                    <a16:rowId xmlns:a16="http://schemas.microsoft.com/office/drawing/2014/main" val="10007"/>
                  </a:ext>
                </a:extLst>
              </a:tr>
              <a:tr h="457142">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4" marB="45714" horzOverflow="overflow">
                    <a:lnL cap="flat">
                      <a:noFill/>
                    </a:lnL>
                    <a:lnR>
                      <a:noFill/>
                    </a:lnR>
                    <a:lnT>
                      <a:noFill/>
                    </a:lnT>
                    <a:lnB>
                      <a:noFill/>
                    </a:lnB>
                    <a:lnTlToBr>
                      <a:noFill/>
                    </a:lnTlToBr>
                    <a:lnBlToTr>
                      <a:noFill/>
                    </a:lnBlToTr>
                    <a:pattFill prst="pct5">
                      <a:fgClr>
                        <a:schemeClr val="folHlink"/>
                      </a:fgClr>
                      <a:bgClr>
                        <a:schemeClr val="bg1"/>
                      </a:bgClr>
                    </a:patt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4" marB="45714" horzOverflow="overflow">
                    <a:lnL>
                      <a:noFill/>
                    </a:lnL>
                    <a:lnR>
                      <a:noFill/>
                    </a:lnR>
                    <a:lnT>
                      <a:noFill/>
                    </a:lnT>
                    <a:lnB>
                      <a:noFill/>
                    </a:lnB>
                    <a:lnTlToBr>
                      <a:noFill/>
                    </a:lnTlToBr>
                    <a:lnBlToTr>
                      <a:noFill/>
                    </a:lnBlToTr>
                    <a:pattFill prst="pct5">
                      <a:fgClr>
                        <a:schemeClr val="folHlink"/>
                      </a:fgClr>
                      <a:bgClr>
                        <a:schemeClr val="bg1"/>
                      </a:bgClr>
                    </a:patt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4" marB="45714" horzOverflow="overflow">
                    <a:lnL>
                      <a:noFill/>
                    </a:lnL>
                    <a:lnR>
                      <a:noFill/>
                    </a:lnR>
                    <a:lnT>
                      <a:noFill/>
                    </a:lnT>
                    <a:lnB>
                      <a:noFill/>
                    </a:lnB>
                    <a:lnTlToBr>
                      <a:noFill/>
                    </a:lnTlToBr>
                    <a:lnBlToTr>
                      <a:noFill/>
                    </a:lnBlToTr>
                    <a:pattFill prst="pct5">
                      <a:fgClr>
                        <a:schemeClr val="folHlink"/>
                      </a:fgClr>
                      <a:bgClr>
                        <a:schemeClr val="bg1"/>
                      </a:bgClr>
                    </a:patt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4" marB="45714" horzOverflow="overflow">
                    <a:lnL>
                      <a:noFill/>
                    </a:lnL>
                    <a:lnR>
                      <a:noFill/>
                    </a:lnR>
                    <a:lnT>
                      <a:noFill/>
                    </a:lnT>
                    <a:lnB>
                      <a:noFill/>
                    </a:lnB>
                    <a:lnTlToBr>
                      <a:noFill/>
                    </a:lnTlToBr>
                    <a:lnBlToTr>
                      <a:noFill/>
                    </a:lnBlToTr>
                    <a:pattFill prst="pct5">
                      <a:fgClr>
                        <a:schemeClr val="folHlink"/>
                      </a:fgClr>
                      <a:bgClr>
                        <a:schemeClr val="bg1"/>
                      </a:bgClr>
                    </a:patt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4" marB="45714" horzOverflow="overflow">
                    <a:lnL>
                      <a:noFill/>
                    </a:lnL>
                    <a:lnR>
                      <a:noFill/>
                    </a:lnR>
                    <a:lnT>
                      <a:noFill/>
                    </a:lnT>
                    <a:lnB>
                      <a:noFill/>
                    </a:lnB>
                    <a:lnTlToBr>
                      <a:noFill/>
                    </a:lnTlToBr>
                    <a:lnBlToTr>
                      <a:noFill/>
                    </a:lnBlToTr>
                    <a:pattFill prst="pct5">
                      <a:fgClr>
                        <a:schemeClr val="folHlink"/>
                      </a:fgClr>
                      <a:bgClr>
                        <a:schemeClr val="bg1"/>
                      </a:bgClr>
                    </a:patt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4" marB="45714" horzOverflow="overflow">
                    <a:lnL>
                      <a:noFill/>
                    </a:lnL>
                    <a:lnR cap="flat">
                      <a:noFill/>
                    </a:lnR>
                    <a:lnT>
                      <a:noFill/>
                    </a:lnT>
                    <a:lnB>
                      <a:noFill/>
                    </a:lnB>
                    <a:lnTlToBr>
                      <a:noFill/>
                    </a:lnTlToBr>
                    <a:lnBlToTr>
                      <a:noFill/>
                    </a:lnBlToTr>
                    <a:pattFill prst="pct5">
                      <a:fgClr>
                        <a:schemeClr val="folHlink"/>
                      </a:fgClr>
                      <a:bgClr>
                        <a:schemeClr val="bg1"/>
                      </a:bgClr>
                    </a:pattFill>
                  </a:tcPr>
                </a:tc>
                <a:extLst>
                  <a:ext uri="{0D108BD9-81ED-4DB2-BD59-A6C34878D82A}">
                    <a16:rowId xmlns:a16="http://schemas.microsoft.com/office/drawing/2014/main" val="10008"/>
                  </a:ext>
                </a:extLst>
              </a:tr>
              <a:tr h="518094">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endParaRPr kumimoji="0" lang="en-US" sz="2800" b="1" i="0" u="none" strike="noStrike" cap="none" normalizeH="0" baseline="0">
                        <a:ln>
                          <a:noFill/>
                        </a:ln>
                        <a:solidFill>
                          <a:schemeClr val="tx1"/>
                        </a:solidFill>
                        <a:effectLst/>
                        <a:latin typeface="Arial" charset="0"/>
                      </a:endParaRPr>
                    </a:p>
                  </a:txBody>
                  <a:tcPr marT="45714" marB="45714" horzOverflow="overflow">
                    <a:lnL cap="flat">
                      <a:noFill/>
                    </a:lnL>
                    <a:lnR>
                      <a:noFill/>
                    </a:lnR>
                    <a:lnT>
                      <a:noFill/>
                    </a:lnT>
                    <a:lnB cap="flat">
                      <a:noFill/>
                    </a:lnB>
                    <a:lnTlToBr>
                      <a:noFill/>
                    </a:lnTlToBr>
                    <a:lnBlToTr>
                      <a:noFill/>
                    </a:lnBlToTr>
                    <a:pattFill prst="pct5">
                      <a:fgClr>
                        <a:schemeClr val="folHlink"/>
                      </a:fgClr>
                      <a:bgClr>
                        <a:schemeClr val="bg1"/>
                      </a:bgClr>
                    </a:patt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1" i="0" u="none" strike="noStrike" cap="none" normalizeH="0" baseline="0">
                        <a:ln>
                          <a:noFill/>
                        </a:ln>
                        <a:solidFill>
                          <a:schemeClr val="tx1"/>
                        </a:solidFill>
                        <a:effectLst/>
                        <a:latin typeface="Arial" charset="0"/>
                      </a:endParaRPr>
                    </a:p>
                  </a:txBody>
                  <a:tcPr marT="45714" marB="45714" horzOverflow="overflow">
                    <a:lnL>
                      <a:noFill/>
                    </a:lnL>
                    <a:lnR>
                      <a:noFill/>
                    </a:lnR>
                    <a:lnT>
                      <a:noFill/>
                    </a:lnT>
                    <a:lnB cap="flat">
                      <a:noFill/>
                    </a:lnB>
                    <a:lnTlToBr>
                      <a:noFill/>
                    </a:lnTlToBr>
                    <a:lnBlToTr>
                      <a:noFill/>
                    </a:lnBlToTr>
                    <a:pattFill prst="pct5">
                      <a:fgClr>
                        <a:schemeClr val="folHlink"/>
                      </a:fgClr>
                      <a:bgClr>
                        <a:schemeClr val="bg1"/>
                      </a:bgClr>
                    </a:patt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1" i="0" u="none" strike="noStrike" cap="none" normalizeH="0" baseline="0">
                        <a:ln>
                          <a:noFill/>
                        </a:ln>
                        <a:solidFill>
                          <a:schemeClr val="tx1"/>
                        </a:solidFill>
                        <a:effectLst/>
                        <a:latin typeface="Arial" charset="0"/>
                      </a:endParaRPr>
                    </a:p>
                  </a:txBody>
                  <a:tcPr marT="45714" marB="45714" horzOverflow="overflow">
                    <a:lnL>
                      <a:noFill/>
                    </a:lnL>
                    <a:lnR>
                      <a:noFill/>
                    </a:lnR>
                    <a:lnT>
                      <a:noFill/>
                    </a:lnT>
                    <a:lnB cap="flat">
                      <a:noFill/>
                    </a:lnB>
                    <a:lnTlToBr>
                      <a:noFill/>
                    </a:lnTlToBr>
                    <a:lnBlToTr>
                      <a:noFill/>
                    </a:lnBlToTr>
                    <a:pattFill prst="pct5">
                      <a:fgClr>
                        <a:schemeClr val="folHlink"/>
                      </a:fgClr>
                      <a:bgClr>
                        <a:schemeClr val="bg1"/>
                      </a:bgClr>
                    </a:patt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1" i="0" u="none" strike="noStrike" cap="none" normalizeH="0" baseline="0">
                        <a:ln>
                          <a:noFill/>
                        </a:ln>
                        <a:solidFill>
                          <a:schemeClr val="tx1"/>
                        </a:solidFill>
                        <a:effectLst/>
                        <a:latin typeface="Arial" charset="0"/>
                      </a:endParaRPr>
                    </a:p>
                  </a:txBody>
                  <a:tcPr marT="45714" marB="45714" horzOverflow="overflow">
                    <a:lnL>
                      <a:noFill/>
                    </a:lnL>
                    <a:lnR>
                      <a:noFill/>
                    </a:lnR>
                    <a:lnT>
                      <a:noFill/>
                    </a:lnT>
                    <a:lnB cap="flat">
                      <a:noFill/>
                    </a:lnB>
                    <a:lnTlToBr>
                      <a:noFill/>
                    </a:lnTlToBr>
                    <a:lnBlToTr>
                      <a:noFill/>
                    </a:lnBlToTr>
                    <a:pattFill prst="pct5">
                      <a:fgClr>
                        <a:schemeClr val="folHlink"/>
                      </a:fgClr>
                      <a:bgClr>
                        <a:schemeClr val="bg1"/>
                      </a:bgClr>
                    </a:patt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4" marB="45714" horzOverflow="overflow">
                    <a:lnL>
                      <a:noFill/>
                    </a:lnL>
                    <a:lnR>
                      <a:noFill/>
                    </a:lnR>
                    <a:lnT>
                      <a:noFill/>
                    </a:lnT>
                    <a:lnB cap="flat">
                      <a:noFill/>
                    </a:lnB>
                    <a:lnTlToBr>
                      <a:noFill/>
                    </a:lnTlToBr>
                    <a:lnBlToTr>
                      <a:noFill/>
                    </a:lnBlToTr>
                    <a:pattFill prst="pct5">
                      <a:fgClr>
                        <a:schemeClr val="folHlink"/>
                      </a:fgClr>
                      <a:bgClr>
                        <a:schemeClr val="bg1"/>
                      </a:bgClr>
                    </a:patt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4" marB="45714" horzOverflow="overflow">
                    <a:lnL>
                      <a:noFill/>
                    </a:lnL>
                    <a:lnR cap="flat">
                      <a:noFill/>
                    </a:lnR>
                    <a:lnT>
                      <a:noFill/>
                    </a:lnT>
                    <a:lnB cap="flat">
                      <a:noFill/>
                    </a:lnB>
                    <a:lnTlToBr>
                      <a:noFill/>
                    </a:lnTlToBr>
                    <a:lnBlToTr>
                      <a:noFill/>
                    </a:lnBlToTr>
                    <a:pattFill prst="pct5">
                      <a:fgClr>
                        <a:schemeClr val="folHlink"/>
                      </a:fgClr>
                      <a:bgClr>
                        <a:schemeClr val="bg1"/>
                      </a:bgClr>
                    </a:pattFill>
                  </a:tcPr>
                </a:tc>
                <a:extLst>
                  <a:ext uri="{0D108BD9-81ED-4DB2-BD59-A6C34878D82A}">
                    <a16:rowId xmlns:a16="http://schemas.microsoft.com/office/drawing/2014/main" val="10009"/>
                  </a:ext>
                </a:extLst>
              </a:tr>
            </a:tbl>
          </a:graphicData>
        </a:graphic>
      </p:graphicFrame>
      <p:sp>
        <p:nvSpPr>
          <p:cNvPr id="19522" name="Line 92">
            <a:extLst>
              <a:ext uri="{FF2B5EF4-FFF2-40B4-BE49-F238E27FC236}">
                <a16:creationId xmlns:a16="http://schemas.microsoft.com/office/drawing/2014/main" id="{89175B92-F4CC-8141-9B02-A453BBC31575}"/>
              </a:ext>
            </a:extLst>
          </p:cNvPr>
          <p:cNvSpPr>
            <a:spLocks noChangeShapeType="1"/>
          </p:cNvSpPr>
          <p:nvPr/>
        </p:nvSpPr>
        <p:spPr bwMode="auto">
          <a:xfrm>
            <a:off x="2057400" y="1925120"/>
            <a:ext cx="80772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19523" name="Line 93">
            <a:extLst>
              <a:ext uri="{FF2B5EF4-FFF2-40B4-BE49-F238E27FC236}">
                <a16:creationId xmlns:a16="http://schemas.microsoft.com/office/drawing/2014/main" id="{BDDB2600-0ABD-A942-AC3C-BCE8FA497FB6}"/>
              </a:ext>
            </a:extLst>
          </p:cNvPr>
          <p:cNvSpPr>
            <a:spLocks noChangeShapeType="1"/>
          </p:cNvSpPr>
          <p:nvPr/>
        </p:nvSpPr>
        <p:spPr bwMode="auto">
          <a:xfrm>
            <a:off x="2133600" y="1391720"/>
            <a:ext cx="80772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10" name="Rectangle 4">
            <a:extLst>
              <a:ext uri="{FF2B5EF4-FFF2-40B4-BE49-F238E27FC236}">
                <a16:creationId xmlns:a16="http://schemas.microsoft.com/office/drawing/2014/main" id="{485EB1B6-BEB7-464B-A69A-03C1BFCD0FCC}"/>
              </a:ext>
            </a:extLst>
          </p:cNvPr>
          <p:cNvSpPr>
            <a:spLocks noGrp="1" noChangeArrowheads="1"/>
          </p:cNvSpPr>
          <p:nvPr>
            <p:ph type="title"/>
          </p:nvPr>
        </p:nvSpPr>
        <p:spPr>
          <a:xfrm>
            <a:off x="888521" y="-1"/>
            <a:ext cx="10386204" cy="1357643"/>
          </a:xfrm>
        </p:spPr>
        <p:txBody>
          <a:bodyPr>
            <a:normAutofit/>
          </a:bodyPr>
          <a:lstStyle/>
          <a:p>
            <a:pPr>
              <a:defRPr/>
            </a:pPr>
            <a:r>
              <a:rPr lang="en-US" dirty="0">
                <a:solidFill>
                  <a:schemeClr val="accent2"/>
                </a:solidFill>
              </a:rPr>
              <a:t>Another Example: Program A</a:t>
            </a:r>
            <a:br>
              <a:rPr lang="en-US" dirty="0">
                <a:solidFill>
                  <a:schemeClr val="accent2"/>
                </a:solidFill>
              </a:rPr>
            </a:br>
            <a:r>
              <a:rPr lang="en-US" dirty="0"/>
              <a:t>Incremental Cost-Effectiveness</a:t>
            </a:r>
          </a:p>
        </p:txBody>
      </p:sp>
    </p:spTree>
    <p:extLst>
      <p:ext uri="{BB962C8B-B14F-4D97-AF65-F5344CB8AC3E}">
        <p14:creationId xmlns:p14="http://schemas.microsoft.com/office/powerpoint/2010/main" val="2038663555"/>
      </p:ext>
    </p:extLst>
  </p:cSld>
  <p:clrMapOvr>
    <a:masterClrMapping/>
  </p:clrMapOvr>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7E399BFC-9F4B-254A-9F0B-DC886DD1884D}"/>
              </a:ext>
            </a:extLst>
          </p:cNvPr>
          <p:cNvSpPr>
            <a:spLocks noChangeArrowheads="1"/>
          </p:cNvSpPr>
          <p:nvPr/>
        </p:nvSpPr>
        <p:spPr bwMode="auto">
          <a:xfrm>
            <a:off x="2209800" y="642092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20483" name="Rectangle 3">
            <a:extLst>
              <a:ext uri="{FF2B5EF4-FFF2-40B4-BE49-F238E27FC236}">
                <a16:creationId xmlns:a16="http://schemas.microsoft.com/office/drawing/2014/main" id="{32B50289-1979-AF4C-BFCC-6FA6EB7A6E6A}"/>
              </a:ext>
            </a:extLst>
          </p:cNvPr>
          <p:cNvSpPr>
            <a:spLocks noChangeArrowheads="1"/>
          </p:cNvSpPr>
          <p:nvPr/>
        </p:nvSpPr>
        <p:spPr bwMode="auto">
          <a:xfrm>
            <a:off x="4648200" y="642092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graphicFrame>
        <p:nvGraphicFramePr>
          <p:cNvPr id="1099873" name="Group 97">
            <a:extLst>
              <a:ext uri="{FF2B5EF4-FFF2-40B4-BE49-F238E27FC236}">
                <a16:creationId xmlns:a16="http://schemas.microsoft.com/office/drawing/2014/main" id="{2994995A-B8C4-3248-B70E-857650CB98C2}"/>
              </a:ext>
            </a:extLst>
          </p:cNvPr>
          <p:cNvGraphicFramePr>
            <a:graphicFrameLocks noGrp="1"/>
          </p:cNvGraphicFramePr>
          <p:nvPr/>
        </p:nvGraphicFramePr>
        <p:xfrm>
          <a:off x="1981200" y="1467921"/>
          <a:ext cx="8153400" cy="5015242"/>
        </p:xfrm>
        <a:graphic>
          <a:graphicData uri="http://schemas.openxmlformats.org/drawingml/2006/table">
            <a:tbl>
              <a:tblPr/>
              <a:tblGrid>
                <a:gridCol w="14478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gridCol w="182563">
                  <a:extLst>
                    <a:ext uri="{9D8B030D-6E8A-4147-A177-3AD203B41FA5}">
                      <a16:colId xmlns:a16="http://schemas.microsoft.com/office/drawing/2014/main" val="20004"/>
                    </a:ext>
                  </a:extLst>
                </a:gridCol>
                <a:gridCol w="960437">
                  <a:extLst>
                    <a:ext uri="{9D8B030D-6E8A-4147-A177-3AD203B41FA5}">
                      <a16:colId xmlns:a16="http://schemas.microsoft.com/office/drawing/2014/main" val="20005"/>
                    </a:ext>
                  </a:extLst>
                </a:gridCol>
                <a:gridCol w="258763">
                  <a:extLst>
                    <a:ext uri="{9D8B030D-6E8A-4147-A177-3AD203B41FA5}">
                      <a16:colId xmlns:a16="http://schemas.microsoft.com/office/drawing/2014/main" val="20006"/>
                    </a:ext>
                  </a:extLst>
                </a:gridCol>
                <a:gridCol w="1417637">
                  <a:extLst>
                    <a:ext uri="{9D8B030D-6E8A-4147-A177-3AD203B41FA5}">
                      <a16:colId xmlns:a16="http://schemas.microsoft.com/office/drawing/2014/main" val="20007"/>
                    </a:ext>
                  </a:extLst>
                </a:gridCol>
              </a:tblGrid>
              <a:tr h="615872">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dirty="0">
                          <a:ln>
                            <a:noFill/>
                          </a:ln>
                          <a:solidFill>
                            <a:schemeClr val="tx1"/>
                          </a:solidFill>
                          <a:effectLst/>
                          <a:latin typeface="Arial" charset="0"/>
                        </a:rPr>
                        <a:t>Program</a:t>
                      </a:r>
                    </a:p>
                  </a:txBody>
                  <a:tcPr marT="45714" marB="45714"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Cost ($)</a:t>
                      </a:r>
                    </a:p>
                  </a:txBody>
                  <a:tcPr marT="45714" marB="45714"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Effect</a:t>
                      </a:r>
                    </a:p>
                  </a:txBody>
                  <a:tcPr marT="45714" marB="45714"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Symbol" pitchFamily="18" charset="2"/>
                        </a:rPr>
                        <a:t>D</a:t>
                      </a:r>
                      <a:r>
                        <a:rPr kumimoji="0" lang="en-US" sz="2400" b="0" i="0" u="none" strike="noStrike" cap="none" normalizeH="0" baseline="0">
                          <a:ln>
                            <a:noFill/>
                          </a:ln>
                          <a:solidFill>
                            <a:schemeClr val="tx1"/>
                          </a:solidFill>
                          <a:effectLst/>
                          <a:latin typeface="Arial" charset="0"/>
                        </a:rPr>
                        <a:t>C</a:t>
                      </a:r>
                    </a:p>
                  </a:txBody>
                  <a:tcPr marT="45714" marB="45714" horzOverflow="overflow">
                    <a:lnL>
                      <a:noFill/>
                    </a:lnL>
                    <a:lnR>
                      <a:noFill/>
                    </a:lnR>
                    <a:lnT cap="flat">
                      <a:noFill/>
                    </a:lnT>
                    <a:lnB>
                      <a:noFill/>
                    </a:lnB>
                    <a:lnTlToBr>
                      <a:noFill/>
                    </a:lnTlToBr>
                    <a:lnBlToTr>
                      <a:noFill/>
                    </a:lnBlToTr>
                    <a:noFill/>
                  </a:tcPr>
                </a:tc>
                <a:tc gridSpan="2">
                  <a:txBody>
                    <a:bodyPr/>
                    <a:lstStyle/>
                    <a:p>
                      <a:pPr marL="22860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Symbol" pitchFamily="18" charset="2"/>
                        </a:rPr>
                        <a:t>D</a:t>
                      </a:r>
                      <a:r>
                        <a:rPr kumimoji="0" lang="en-US" sz="2400" b="0" i="0" u="none" strike="noStrike" cap="none" normalizeH="0" baseline="0">
                          <a:ln>
                            <a:noFill/>
                          </a:ln>
                          <a:solidFill>
                            <a:schemeClr val="tx1"/>
                          </a:solidFill>
                          <a:effectLst/>
                          <a:latin typeface="Arial" charset="0"/>
                        </a:rPr>
                        <a:t>E</a:t>
                      </a:r>
                    </a:p>
                  </a:txBody>
                  <a:tcPr marT="45714" marB="45714" horzOverflow="overflow">
                    <a:lnL>
                      <a:noFill/>
                    </a:lnL>
                    <a:lnR>
                      <a:noFill/>
                    </a:lnR>
                    <a:lnT cap="flat">
                      <a:noFill/>
                    </a:lnT>
                    <a:lnB>
                      <a:noFill/>
                    </a:lnB>
                    <a:lnTlToBr>
                      <a:noFill/>
                    </a:lnTlToBr>
                    <a:lnBlToTr>
                      <a:noFill/>
                    </a:lnBlToTr>
                    <a:noFill/>
                  </a:tcPr>
                </a:tc>
                <a:tc hMerge="1">
                  <a:txBody>
                    <a:bodyPr/>
                    <a:lstStyle/>
                    <a:p>
                      <a:endParaRPr lang="en-US"/>
                    </a:p>
                  </a:txBody>
                  <a:tcPr/>
                </a:tc>
                <a:tc gridSpan="2">
                  <a:txBody>
                    <a:bodyPr/>
                    <a:lstStyle/>
                    <a:p>
                      <a:pPr marL="22860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Incr. CE</a:t>
                      </a:r>
                    </a:p>
                  </a:txBody>
                  <a:tcPr marT="45714" marB="45714" horzOverflow="overflow">
                    <a:lnL>
                      <a:noFill/>
                    </a:lnL>
                    <a:lnR cap="flat">
                      <a:noFill/>
                    </a:lnR>
                    <a:lnT cap="flat">
                      <a:noFill/>
                    </a:lnT>
                    <a:lnB>
                      <a:noFill/>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603174">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dirty="0">
                          <a:ln>
                            <a:noFill/>
                          </a:ln>
                          <a:solidFill>
                            <a:schemeClr val="tx1"/>
                          </a:solidFill>
                          <a:effectLst/>
                          <a:latin typeface="Arial" charset="0"/>
                        </a:rPr>
                        <a:t>Nothing</a:t>
                      </a:r>
                    </a:p>
                  </a:txBody>
                  <a:tcPr marT="45714" marB="45714"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dirty="0">
                          <a:ln>
                            <a:noFill/>
                          </a:ln>
                          <a:solidFill>
                            <a:schemeClr val="tx1"/>
                          </a:solidFill>
                          <a:effectLst/>
                          <a:latin typeface="Arial" charset="0"/>
                        </a:rPr>
                        <a:t>0</a:t>
                      </a:r>
                    </a:p>
                  </a:txBody>
                  <a:tcPr marT="45714" marB="45714"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dirty="0">
                          <a:ln>
                            <a:noFill/>
                          </a:ln>
                          <a:solidFill>
                            <a:schemeClr val="tx1"/>
                          </a:solidFill>
                          <a:effectLst/>
                          <a:latin typeface="Arial" charset="0"/>
                        </a:rPr>
                        <a:t>0</a:t>
                      </a:r>
                    </a:p>
                  </a:txBody>
                  <a:tcPr marT="45714" marB="45714"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dirty="0">
                        <a:ln>
                          <a:noFill/>
                        </a:ln>
                        <a:solidFill>
                          <a:schemeClr val="tx1"/>
                        </a:solidFill>
                        <a:effectLst/>
                        <a:latin typeface="Arial" charset="0"/>
                      </a:endParaRP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dirty="0">
                        <a:ln>
                          <a:noFill/>
                        </a:ln>
                        <a:solidFill>
                          <a:schemeClr val="tx1"/>
                        </a:solidFill>
                        <a:effectLst/>
                        <a:latin typeface="Arial" charset="0"/>
                      </a:endParaRP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dirty="0">
                        <a:ln>
                          <a:noFill/>
                        </a:ln>
                        <a:solidFill>
                          <a:schemeClr val="tx1"/>
                        </a:solidFill>
                        <a:effectLst/>
                        <a:latin typeface="Arial" charset="0"/>
                      </a:endParaRPr>
                    </a:p>
                  </a:txBody>
                  <a:tcPr marT="45714" marB="45714"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457142">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dirty="0">
                          <a:ln>
                            <a:noFill/>
                          </a:ln>
                          <a:solidFill>
                            <a:schemeClr val="tx1"/>
                          </a:solidFill>
                          <a:effectLst/>
                          <a:latin typeface="Arial" charset="0"/>
                        </a:rPr>
                        <a:t>A2</a:t>
                      </a:r>
                    </a:p>
                  </a:txBody>
                  <a:tcPr marT="45714" marB="45714"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500</a:t>
                      </a:r>
                    </a:p>
                  </a:txBody>
                  <a:tcPr marT="45714" marB="45714"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7.0</a:t>
                      </a:r>
                    </a:p>
                  </a:txBody>
                  <a:tcPr marT="45714" marB="45714"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500</a:t>
                      </a: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7.0</a:t>
                      </a: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71</a:t>
                      </a:r>
                    </a:p>
                  </a:txBody>
                  <a:tcPr marT="45714" marB="45714"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457142">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A3</a:t>
                      </a:r>
                    </a:p>
                  </a:txBody>
                  <a:tcPr marT="45714" marB="45714"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1000</a:t>
                      </a:r>
                    </a:p>
                  </a:txBody>
                  <a:tcPr marT="45714" marB="45714"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8.5</a:t>
                      </a:r>
                    </a:p>
                  </a:txBody>
                  <a:tcPr marT="45714" marB="45714"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500</a:t>
                      </a: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1.5</a:t>
                      </a: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333</a:t>
                      </a:r>
                    </a:p>
                  </a:txBody>
                  <a:tcPr marT="45714" marB="45714"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457142">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A5</a:t>
                      </a:r>
                    </a:p>
                  </a:txBody>
                  <a:tcPr marT="45714" marB="45714"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1600</a:t>
                      </a:r>
                    </a:p>
                  </a:txBody>
                  <a:tcPr marT="45714" marB="45714"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8.8</a:t>
                      </a:r>
                    </a:p>
                  </a:txBody>
                  <a:tcPr marT="45714" marB="45714"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600</a:t>
                      </a: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0.3</a:t>
                      </a: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2000</a:t>
                      </a:r>
                    </a:p>
                  </a:txBody>
                  <a:tcPr marT="45714" marB="45714"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457142">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A6</a:t>
                      </a:r>
                    </a:p>
                  </a:txBody>
                  <a:tcPr marT="45714" marB="45714"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2000</a:t>
                      </a:r>
                    </a:p>
                  </a:txBody>
                  <a:tcPr marT="45714" marB="45714"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9.6</a:t>
                      </a:r>
                    </a:p>
                  </a:txBody>
                  <a:tcPr marT="45714" marB="45714"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1000*</a:t>
                      </a: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1.1*</a:t>
                      </a: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909*</a:t>
                      </a:r>
                    </a:p>
                  </a:txBody>
                  <a:tcPr marT="45714" marB="45714"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534920">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A7</a:t>
                      </a:r>
                    </a:p>
                  </a:txBody>
                  <a:tcPr marT="45714" marB="45714"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3000</a:t>
                      </a:r>
                    </a:p>
                  </a:txBody>
                  <a:tcPr marT="45714" marB="45714"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10.25</a:t>
                      </a:r>
                    </a:p>
                  </a:txBody>
                  <a:tcPr marT="45714" marB="45714"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1000</a:t>
                      </a: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0.65</a:t>
                      </a:r>
                    </a:p>
                  </a:txBody>
                  <a:tcPr marT="45714" marB="45714"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1538</a:t>
                      </a:r>
                    </a:p>
                  </a:txBody>
                  <a:tcPr marT="45714" marB="45714"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457142">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A8</a:t>
                      </a:r>
                    </a:p>
                  </a:txBody>
                  <a:tcPr marT="45714" marB="45714" horzOverflow="overflow">
                    <a:lnL cap="flat">
                      <a:noFill/>
                    </a:lnL>
                    <a:lnR>
                      <a:noFill/>
                    </a:lnR>
                    <a:lnT>
                      <a:noFill/>
                    </a:lnT>
                    <a:lnB>
                      <a:noFill/>
                    </a:lnB>
                    <a:lnTlToBr>
                      <a:noFill/>
                    </a:lnTlToBr>
                    <a:lnBlToTr>
                      <a:noFill/>
                    </a:lnBlToTr>
                    <a:pattFill prst="pct5">
                      <a:fgClr>
                        <a:schemeClr val="folHlink"/>
                      </a:fgClr>
                      <a:bgClr>
                        <a:schemeClr val="bg1"/>
                      </a:bgClr>
                    </a:patt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4500</a:t>
                      </a:r>
                    </a:p>
                  </a:txBody>
                  <a:tcPr marT="45714" marB="45714" horzOverflow="overflow">
                    <a:lnL>
                      <a:noFill/>
                    </a:lnL>
                    <a:lnR>
                      <a:noFill/>
                    </a:lnR>
                    <a:lnT>
                      <a:noFill/>
                    </a:lnT>
                    <a:lnB>
                      <a:noFill/>
                    </a:lnB>
                    <a:lnTlToBr>
                      <a:noFill/>
                    </a:lnTlToBr>
                    <a:lnBlToTr>
                      <a:noFill/>
                    </a:lnBlToTr>
                    <a:pattFill prst="pct5">
                      <a:fgClr>
                        <a:schemeClr val="folHlink"/>
                      </a:fgClr>
                      <a:bgClr>
                        <a:schemeClr val="bg1"/>
                      </a:bgClr>
                    </a:patt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10.45</a:t>
                      </a:r>
                    </a:p>
                  </a:txBody>
                  <a:tcPr marT="45714" marB="45714" horzOverflow="overflow">
                    <a:lnL>
                      <a:noFill/>
                    </a:lnL>
                    <a:lnR>
                      <a:noFill/>
                    </a:lnR>
                    <a:lnT>
                      <a:noFill/>
                    </a:lnT>
                    <a:lnB>
                      <a:noFill/>
                    </a:lnB>
                    <a:lnTlToBr>
                      <a:noFill/>
                    </a:lnTlToBr>
                    <a:lnBlToTr>
                      <a:noFill/>
                    </a:lnBlToTr>
                    <a:pattFill prst="pct5">
                      <a:fgClr>
                        <a:schemeClr val="folHlink"/>
                      </a:fgClr>
                      <a:bgClr>
                        <a:schemeClr val="bg1"/>
                      </a:bgClr>
                    </a:patt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1500</a:t>
                      </a:r>
                    </a:p>
                  </a:txBody>
                  <a:tcPr marT="45714" marB="45714" horzOverflow="overflow">
                    <a:lnL>
                      <a:noFill/>
                    </a:lnL>
                    <a:lnR>
                      <a:noFill/>
                    </a:lnR>
                    <a:lnT>
                      <a:noFill/>
                    </a:lnT>
                    <a:lnB>
                      <a:noFill/>
                    </a:lnB>
                    <a:lnTlToBr>
                      <a:noFill/>
                    </a:lnTlToBr>
                    <a:lnBlToTr>
                      <a:noFill/>
                    </a:lnBlToTr>
                    <a:pattFill prst="pct5">
                      <a:fgClr>
                        <a:schemeClr val="folHlink"/>
                      </a:fgClr>
                      <a:bgClr>
                        <a:schemeClr val="bg1"/>
                      </a:bgClr>
                    </a:patt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0.20</a:t>
                      </a:r>
                    </a:p>
                  </a:txBody>
                  <a:tcPr marT="45714" marB="45714" horzOverflow="overflow">
                    <a:lnL>
                      <a:noFill/>
                    </a:lnL>
                    <a:lnR>
                      <a:noFill/>
                    </a:lnR>
                    <a:lnT>
                      <a:noFill/>
                    </a:lnT>
                    <a:lnB>
                      <a:noFill/>
                    </a:lnB>
                    <a:lnTlToBr>
                      <a:noFill/>
                    </a:lnTlToBr>
                    <a:lnBlToTr>
                      <a:noFill/>
                    </a:lnBlToTr>
                    <a:pattFill prst="pct5">
                      <a:fgClr>
                        <a:schemeClr val="folHlink"/>
                      </a:fgClr>
                      <a:bgClr>
                        <a:schemeClr val="bg1"/>
                      </a:bgClr>
                    </a:patt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7500</a:t>
                      </a:r>
                    </a:p>
                  </a:txBody>
                  <a:tcPr marT="45714" marB="45714" horzOverflow="overflow">
                    <a:lnL>
                      <a:noFill/>
                    </a:lnL>
                    <a:lnR cap="flat">
                      <a:noFill/>
                    </a:lnR>
                    <a:lnT>
                      <a:noFill/>
                    </a:lnT>
                    <a:lnB>
                      <a:noFill/>
                    </a:lnB>
                    <a:lnTlToBr>
                      <a:noFill/>
                    </a:lnTlToBr>
                    <a:lnBlToTr>
                      <a:noFill/>
                    </a:lnBlToTr>
                    <a:pattFill prst="pct5">
                      <a:fgClr>
                        <a:schemeClr val="folHlink"/>
                      </a:fgClr>
                      <a:bgClr>
                        <a:schemeClr val="bg1"/>
                      </a:bgClr>
                    </a:pattFill>
                  </a:tcPr>
                </a:tc>
                <a:extLst>
                  <a:ext uri="{0D108BD9-81ED-4DB2-BD59-A6C34878D82A}">
                    <a16:rowId xmlns:a16="http://schemas.microsoft.com/office/drawing/2014/main" val="10007"/>
                  </a:ext>
                </a:extLst>
              </a:tr>
              <a:tr h="457142">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4" marB="45714" horzOverflow="overflow">
                    <a:lnL cap="flat">
                      <a:noFill/>
                    </a:lnL>
                    <a:lnR>
                      <a:noFill/>
                    </a:lnR>
                    <a:lnT>
                      <a:noFill/>
                    </a:lnT>
                    <a:lnB>
                      <a:noFill/>
                    </a:lnB>
                    <a:lnTlToBr>
                      <a:noFill/>
                    </a:lnTlToBr>
                    <a:lnBlToTr>
                      <a:noFill/>
                    </a:lnBlToTr>
                    <a:pattFill prst="pct5">
                      <a:fgClr>
                        <a:schemeClr val="folHlink"/>
                      </a:fgClr>
                      <a:bgClr>
                        <a:schemeClr val="bg1"/>
                      </a:bgClr>
                    </a:patt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4" marB="45714" horzOverflow="overflow">
                    <a:lnL>
                      <a:noFill/>
                    </a:lnL>
                    <a:lnR>
                      <a:noFill/>
                    </a:lnR>
                    <a:lnT>
                      <a:noFill/>
                    </a:lnT>
                    <a:lnB>
                      <a:noFill/>
                    </a:lnB>
                    <a:lnTlToBr>
                      <a:noFill/>
                    </a:lnTlToBr>
                    <a:lnBlToTr>
                      <a:noFill/>
                    </a:lnBlToTr>
                    <a:pattFill prst="pct5">
                      <a:fgClr>
                        <a:schemeClr val="folHlink"/>
                      </a:fgClr>
                      <a:bgClr>
                        <a:schemeClr val="bg1"/>
                      </a:bgClr>
                    </a:patt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4" marB="45714" horzOverflow="overflow">
                    <a:lnL>
                      <a:noFill/>
                    </a:lnL>
                    <a:lnR>
                      <a:noFill/>
                    </a:lnR>
                    <a:lnT>
                      <a:noFill/>
                    </a:lnT>
                    <a:lnB>
                      <a:noFill/>
                    </a:lnB>
                    <a:lnTlToBr>
                      <a:noFill/>
                    </a:lnTlToBr>
                    <a:lnBlToTr>
                      <a:noFill/>
                    </a:lnBlToTr>
                    <a:pattFill prst="pct5">
                      <a:fgClr>
                        <a:schemeClr val="folHlink"/>
                      </a:fgClr>
                      <a:bgClr>
                        <a:schemeClr val="bg1"/>
                      </a:bgClr>
                    </a:patt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4" marB="45714" horzOverflow="overflow">
                    <a:lnL>
                      <a:noFill/>
                    </a:lnL>
                    <a:lnR>
                      <a:noFill/>
                    </a:lnR>
                    <a:lnT>
                      <a:noFill/>
                    </a:lnT>
                    <a:lnB>
                      <a:noFill/>
                    </a:lnB>
                    <a:lnTlToBr>
                      <a:noFill/>
                    </a:lnTlToBr>
                    <a:lnBlToTr>
                      <a:noFill/>
                    </a:lnBlToTr>
                    <a:pattFill prst="pct5">
                      <a:fgClr>
                        <a:schemeClr val="folHlink"/>
                      </a:fgClr>
                      <a:bgClr>
                        <a:schemeClr val="bg1"/>
                      </a:bgClr>
                    </a:patt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4" marB="45714" horzOverflow="overflow">
                    <a:lnL>
                      <a:noFill/>
                    </a:lnL>
                    <a:lnR>
                      <a:noFill/>
                    </a:lnR>
                    <a:lnT>
                      <a:noFill/>
                    </a:lnT>
                    <a:lnB>
                      <a:noFill/>
                    </a:lnB>
                    <a:lnTlToBr>
                      <a:noFill/>
                    </a:lnTlToBr>
                    <a:lnBlToTr>
                      <a:noFill/>
                    </a:lnBlToTr>
                    <a:pattFill prst="pct5">
                      <a:fgClr>
                        <a:schemeClr val="folHlink"/>
                      </a:fgClr>
                      <a:bgClr>
                        <a:schemeClr val="bg1"/>
                      </a:bgClr>
                    </a:patt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4" marB="45714" horzOverflow="overflow">
                    <a:lnL>
                      <a:noFill/>
                    </a:lnL>
                    <a:lnR cap="flat">
                      <a:noFill/>
                    </a:lnR>
                    <a:lnT>
                      <a:noFill/>
                    </a:lnT>
                    <a:lnB>
                      <a:noFill/>
                    </a:lnB>
                    <a:lnTlToBr>
                      <a:noFill/>
                    </a:lnTlToBr>
                    <a:lnBlToTr>
                      <a:noFill/>
                    </a:lnBlToTr>
                    <a:pattFill prst="pct5">
                      <a:fgClr>
                        <a:schemeClr val="folHlink"/>
                      </a:fgClr>
                      <a:bgClr>
                        <a:schemeClr val="bg1"/>
                      </a:bgClr>
                    </a:pattFill>
                  </a:tcPr>
                </a:tc>
                <a:extLst>
                  <a:ext uri="{0D108BD9-81ED-4DB2-BD59-A6C34878D82A}">
                    <a16:rowId xmlns:a16="http://schemas.microsoft.com/office/drawing/2014/main" val="10008"/>
                  </a:ext>
                </a:extLst>
              </a:tr>
              <a:tr h="518094">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endParaRPr kumimoji="0" lang="en-US" sz="2800" b="1" i="0" u="none" strike="noStrike" cap="none" normalizeH="0" baseline="0">
                        <a:ln>
                          <a:noFill/>
                        </a:ln>
                        <a:solidFill>
                          <a:schemeClr val="tx1"/>
                        </a:solidFill>
                        <a:effectLst/>
                        <a:latin typeface="Arial" charset="0"/>
                      </a:endParaRPr>
                    </a:p>
                  </a:txBody>
                  <a:tcPr marT="45714" marB="45714" horzOverflow="overflow">
                    <a:lnL cap="flat">
                      <a:noFill/>
                    </a:lnL>
                    <a:lnR>
                      <a:noFill/>
                    </a:lnR>
                    <a:lnT>
                      <a:noFill/>
                    </a:lnT>
                    <a:lnB cap="flat">
                      <a:noFill/>
                    </a:lnB>
                    <a:lnTlToBr>
                      <a:noFill/>
                    </a:lnTlToBr>
                    <a:lnBlToTr>
                      <a:noFill/>
                    </a:lnBlToTr>
                    <a:pattFill prst="pct5">
                      <a:fgClr>
                        <a:schemeClr val="folHlink"/>
                      </a:fgClr>
                      <a:bgClr>
                        <a:schemeClr val="bg1"/>
                      </a:bgClr>
                    </a:patt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1" i="0" u="none" strike="noStrike" cap="none" normalizeH="0" baseline="0">
                        <a:ln>
                          <a:noFill/>
                        </a:ln>
                        <a:solidFill>
                          <a:schemeClr val="tx1"/>
                        </a:solidFill>
                        <a:effectLst/>
                        <a:latin typeface="Arial" charset="0"/>
                      </a:endParaRPr>
                    </a:p>
                  </a:txBody>
                  <a:tcPr marT="45714" marB="45714" horzOverflow="overflow">
                    <a:lnL>
                      <a:noFill/>
                    </a:lnL>
                    <a:lnR>
                      <a:noFill/>
                    </a:lnR>
                    <a:lnT>
                      <a:noFill/>
                    </a:lnT>
                    <a:lnB cap="flat">
                      <a:noFill/>
                    </a:lnB>
                    <a:lnTlToBr>
                      <a:noFill/>
                    </a:lnTlToBr>
                    <a:lnBlToTr>
                      <a:noFill/>
                    </a:lnBlToTr>
                    <a:pattFill prst="pct5">
                      <a:fgClr>
                        <a:schemeClr val="folHlink"/>
                      </a:fgClr>
                      <a:bgClr>
                        <a:schemeClr val="bg1"/>
                      </a:bgClr>
                    </a:patt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1" i="0" u="none" strike="noStrike" cap="none" normalizeH="0" baseline="0" dirty="0">
                        <a:ln>
                          <a:noFill/>
                        </a:ln>
                        <a:solidFill>
                          <a:schemeClr val="tx1"/>
                        </a:solidFill>
                        <a:effectLst/>
                        <a:latin typeface="Arial" charset="0"/>
                      </a:endParaRPr>
                    </a:p>
                  </a:txBody>
                  <a:tcPr marT="45714" marB="45714" horzOverflow="overflow">
                    <a:lnL>
                      <a:noFill/>
                    </a:lnL>
                    <a:lnR>
                      <a:noFill/>
                    </a:lnR>
                    <a:lnT>
                      <a:noFill/>
                    </a:lnT>
                    <a:lnB cap="flat">
                      <a:noFill/>
                    </a:lnB>
                    <a:lnTlToBr>
                      <a:noFill/>
                    </a:lnTlToBr>
                    <a:lnBlToTr>
                      <a:noFill/>
                    </a:lnBlToTr>
                    <a:pattFill prst="pct5">
                      <a:fgClr>
                        <a:schemeClr val="folHlink"/>
                      </a:fgClr>
                      <a:bgClr>
                        <a:schemeClr val="bg1"/>
                      </a:bgClr>
                    </a:patt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1" i="0" u="none" strike="noStrike" cap="none" normalizeH="0" baseline="0">
                        <a:ln>
                          <a:noFill/>
                        </a:ln>
                        <a:solidFill>
                          <a:schemeClr val="tx1"/>
                        </a:solidFill>
                        <a:effectLst/>
                        <a:latin typeface="Arial" charset="0"/>
                      </a:endParaRPr>
                    </a:p>
                  </a:txBody>
                  <a:tcPr marT="45714" marB="45714" horzOverflow="overflow">
                    <a:lnL>
                      <a:noFill/>
                    </a:lnL>
                    <a:lnR>
                      <a:noFill/>
                    </a:lnR>
                    <a:lnT>
                      <a:noFill/>
                    </a:lnT>
                    <a:lnB cap="flat">
                      <a:noFill/>
                    </a:lnB>
                    <a:lnTlToBr>
                      <a:noFill/>
                    </a:lnTlToBr>
                    <a:lnBlToTr>
                      <a:noFill/>
                    </a:lnBlToTr>
                    <a:pattFill prst="pct5">
                      <a:fgClr>
                        <a:schemeClr val="folHlink"/>
                      </a:fgClr>
                      <a:bgClr>
                        <a:schemeClr val="bg1"/>
                      </a:bgClr>
                    </a:patt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4" marB="45714" horzOverflow="overflow">
                    <a:lnL>
                      <a:noFill/>
                    </a:lnL>
                    <a:lnR>
                      <a:noFill/>
                    </a:lnR>
                    <a:lnT>
                      <a:noFill/>
                    </a:lnT>
                    <a:lnB cap="flat">
                      <a:noFill/>
                    </a:lnB>
                    <a:lnTlToBr>
                      <a:noFill/>
                    </a:lnTlToBr>
                    <a:lnBlToTr>
                      <a:noFill/>
                    </a:lnBlToTr>
                    <a:pattFill prst="pct5">
                      <a:fgClr>
                        <a:schemeClr val="folHlink"/>
                      </a:fgClr>
                      <a:bgClr>
                        <a:schemeClr val="bg1"/>
                      </a:bgClr>
                    </a:patt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dirty="0">
                        <a:ln>
                          <a:noFill/>
                        </a:ln>
                        <a:solidFill>
                          <a:schemeClr val="tx1"/>
                        </a:solidFill>
                        <a:effectLst/>
                        <a:latin typeface="Arial" charset="0"/>
                      </a:endParaRPr>
                    </a:p>
                  </a:txBody>
                  <a:tcPr marT="45714" marB="45714" horzOverflow="overflow">
                    <a:lnL>
                      <a:noFill/>
                    </a:lnL>
                    <a:lnR cap="flat">
                      <a:noFill/>
                    </a:lnR>
                    <a:lnT>
                      <a:noFill/>
                    </a:lnT>
                    <a:lnB cap="flat">
                      <a:noFill/>
                    </a:lnB>
                    <a:lnTlToBr>
                      <a:noFill/>
                    </a:lnTlToBr>
                    <a:lnBlToTr>
                      <a:noFill/>
                    </a:lnBlToTr>
                    <a:pattFill prst="pct5">
                      <a:fgClr>
                        <a:schemeClr val="folHlink"/>
                      </a:fgClr>
                      <a:bgClr>
                        <a:schemeClr val="bg1"/>
                      </a:bgClr>
                    </a:pattFill>
                  </a:tcPr>
                </a:tc>
                <a:extLst>
                  <a:ext uri="{0D108BD9-81ED-4DB2-BD59-A6C34878D82A}">
                    <a16:rowId xmlns:a16="http://schemas.microsoft.com/office/drawing/2014/main" val="10009"/>
                  </a:ext>
                </a:extLst>
              </a:tr>
            </a:tbl>
          </a:graphicData>
        </a:graphic>
      </p:graphicFrame>
      <p:sp>
        <p:nvSpPr>
          <p:cNvPr id="20546" name="Line 92">
            <a:extLst>
              <a:ext uri="{FF2B5EF4-FFF2-40B4-BE49-F238E27FC236}">
                <a16:creationId xmlns:a16="http://schemas.microsoft.com/office/drawing/2014/main" id="{7C41C0A9-C50C-E643-88B7-E141F76F5841}"/>
              </a:ext>
            </a:extLst>
          </p:cNvPr>
          <p:cNvSpPr>
            <a:spLocks noChangeShapeType="1"/>
          </p:cNvSpPr>
          <p:nvPr/>
        </p:nvSpPr>
        <p:spPr bwMode="auto">
          <a:xfrm>
            <a:off x="2057400" y="1925120"/>
            <a:ext cx="80772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20547" name="Line 93">
            <a:extLst>
              <a:ext uri="{FF2B5EF4-FFF2-40B4-BE49-F238E27FC236}">
                <a16:creationId xmlns:a16="http://schemas.microsoft.com/office/drawing/2014/main" id="{4DF98B75-CC69-294D-AF0A-4118122FA482}"/>
              </a:ext>
            </a:extLst>
          </p:cNvPr>
          <p:cNvSpPr>
            <a:spLocks noChangeShapeType="1"/>
          </p:cNvSpPr>
          <p:nvPr/>
        </p:nvSpPr>
        <p:spPr bwMode="auto">
          <a:xfrm>
            <a:off x="2133600" y="1391720"/>
            <a:ext cx="80772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20548" name="Line 94">
            <a:extLst>
              <a:ext uri="{FF2B5EF4-FFF2-40B4-BE49-F238E27FC236}">
                <a16:creationId xmlns:a16="http://schemas.microsoft.com/office/drawing/2014/main" id="{BD185385-F41B-D84F-873C-CFE8BC98BEFB}"/>
              </a:ext>
            </a:extLst>
          </p:cNvPr>
          <p:cNvSpPr>
            <a:spLocks noChangeShapeType="1"/>
          </p:cNvSpPr>
          <p:nvPr/>
        </p:nvSpPr>
        <p:spPr bwMode="auto">
          <a:xfrm>
            <a:off x="2057400" y="3830120"/>
            <a:ext cx="7848600" cy="0"/>
          </a:xfrm>
          <a:prstGeom prst="line">
            <a:avLst/>
          </a:prstGeom>
          <a:noFill/>
          <a:ln w="19050">
            <a:solidFill>
              <a:srgbClr val="990033"/>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20549" name="Text Box 98">
            <a:extLst>
              <a:ext uri="{FF2B5EF4-FFF2-40B4-BE49-F238E27FC236}">
                <a16:creationId xmlns:a16="http://schemas.microsoft.com/office/drawing/2014/main" id="{898C5296-3B37-0E49-BFD1-2E956C820178}"/>
              </a:ext>
            </a:extLst>
          </p:cNvPr>
          <p:cNvSpPr txBox="1">
            <a:spLocks noChangeArrowheads="1"/>
          </p:cNvSpPr>
          <p:nvPr/>
        </p:nvSpPr>
        <p:spPr bwMode="auto">
          <a:xfrm>
            <a:off x="2438400" y="5763695"/>
            <a:ext cx="2152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2400" b="0"/>
              <a:t>* Recalculated</a:t>
            </a:r>
          </a:p>
        </p:txBody>
      </p:sp>
      <p:sp>
        <p:nvSpPr>
          <p:cNvPr id="12" name="Rectangle 4">
            <a:extLst>
              <a:ext uri="{FF2B5EF4-FFF2-40B4-BE49-F238E27FC236}">
                <a16:creationId xmlns:a16="http://schemas.microsoft.com/office/drawing/2014/main" id="{32ACF8BB-B7FC-1D45-A502-A7B2E62A0221}"/>
              </a:ext>
            </a:extLst>
          </p:cNvPr>
          <p:cNvSpPr>
            <a:spLocks noGrp="1" noChangeArrowheads="1"/>
          </p:cNvSpPr>
          <p:nvPr>
            <p:ph type="title"/>
          </p:nvPr>
        </p:nvSpPr>
        <p:spPr>
          <a:xfrm>
            <a:off x="888521" y="-1"/>
            <a:ext cx="10386204" cy="1357643"/>
          </a:xfrm>
        </p:spPr>
        <p:txBody>
          <a:bodyPr>
            <a:normAutofit/>
          </a:bodyPr>
          <a:lstStyle/>
          <a:p>
            <a:pPr>
              <a:defRPr/>
            </a:pPr>
            <a:r>
              <a:rPr lang="en-US" dirty="0">
                <a:solidFill>
                  <a:schemeClr val="accent2"/>
                </a:solidFill>
              </a:rPr>
              <a:t>Another Example: Program A</a:t>
            </a:r>
            <a:br>
              <a:rPr lang="en-US" dirty="0">
                <a:solidFill>
                  <a:schemeClr val="accent2"/>
                </a:solidFill>
              </a:rPr>
            </a:br>
            <a:r>
              <a:rPr lang="en-US" dirty="0"/>
              <a:t>Incremental Cost-Effectiveness</a:t>
            </a:r>
          </a:p>
        </p:txBody>
      </p:sp>
    </p:spTree>
    <p:extLst>
      <p:ext uri="{BB962C8B-B14F-4D97-AF65-F5344CB8AC3E}">
        <p14:creationId xmlns:p14="http://schemas.microsoft.com/office/powerpoint/2010/main" val="2857763819"/>
      </p:ext>
    </p:extLst>
  </p:cSld>
  <p:clrMapOvr>
    <a:masterClrMapping/>
  </p:clrMapOvr>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B4177CB0-00D4-D048-B991-A25B73D5CA6F}"/>
              </a:ext>
            </a:extLst>
          </p:cNvPr>
          <p:cNvSpPr>
            <a:spLocks noChangeArrowheads="1"/>
          </p:cNvSpPr>
          <p:nvPr/>
        </p:nvSpPr>
        <p:spPr bwMode="auto">
          <a:xfrm>
            <a:off x="2209800" y="642092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21507" name="Rectangle 3">
            <a:extLst>
              <a:ext uri="{FF2B5EF4-FFF2-40B4-BE49-F238E27FC236}">
                <a16:creationId xmlns:a16="http://schemas.microsoft.com/office/drawing/2014/main" id="{948E2A62-6B8A-4149-8C94-3B652AC27A86}"/>
              </a:ext>
            </a:extLst>
          </p:cNvPr>
          <p:cNvSpPr>
            <a:spLocks noChangeArrowheads="1"/>
          </p:cNvSpPr>
          <p:nvPr/>
        </p:nvSpPr>
        <p:spPr bwMode="auto">
          <a:xfrm>
            <a:off x="4648200" y="642092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graphicFrame>
        <p:nvGraphicFramePr>
          <p:cNvPr id="1030248" name="Group 104">
            <a:extLst>
              <a:ext uri="{FF2B5EF4-FFF2-40B4-BE49-F238E27FC236}">
                <a16:creationId xmlns:a16="http://schemas.microsoft.com/office/drawing/2014/main" id="{4685E874-0E75-C041-83A7-4156ABC04D1D}"/>
              </a:ext>
            </a:extLst>
          </p:cNvPr>
          <p:cNvGraphicFramePr>
            <a:graphicFrameLocks noGrp="1"/>
          </p:cNvGraphicFramePr>
          <p:nvPr/>
        </p:nvGraphicFramePr>
        <p:xfrm>
          <a:off x="1981200" y="1467920"/>
          <a:ext cx="8153400" cy="5150017"/>
        </p:xfrm>
        <a:graphic>
          <a:graphicData uri="http://schemas.openxmlformats.org/drawingml/2006/table">
            <a:tbl>
              <a:tblPr/>
              <a:tblGrid>
                <a:gridCol w="14478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gridCol w="944563">
                  <a:extLst>
                    <a:ext uri="{9D8B030D-6E8A-4147-A177-3AD203B41FA5}">
                      <a16:colId xmlns:a16="http://schemas.microsoft.com/office/drawing/2014/main" val="20003"/>
                    </a:ext>
                  </a:extLst>
                </a:gridCol>
                <a:gridCol w="1112837">
                  <a:extLst>
                    <a:ext uri="{9D8B030D-6E8A-4147-A177-3AD203B41FA5}">
                      <a16:colId xmlns:a16="http://schemas.microsoft.com/office/drawing/2014/main" val="20004"/>
                    </a:ext>
                  </a:extLst>
                </a:gridCol>
                <a:gridCol w="258763">
                  <a:extLst>
                    <a:ext uri="{9D8B030D-6E8A-4147-A177-3AD203B41FA5}">
                      <a16:colId xmlns:a16="http://schemas.microsoft.com/office/drawing/2014/main" val="20005"/>
                    </a:ext>
                  </a:extLst>
                </a:gridCol>
                <a:gridCol w="1417637">
                  <a:extLst>
                    <a:ext uri="{9D8B030D-6E8A-4147-A177-3AD203B41FA5}">
                      <a16:colId xmlns:a16="http://schemas.microsoft.com/office/drawing/2014/main" val="20006"/>
                    </a:ext>
                  </a:extLst>
                </a:gridCol>
              </a:tblGrid>
              <a:tr h="615912">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Program</a:t>
                      </a:r>
                    </a:p>
                  </a:txBody>
                  <a:tcPr marT="45717" marB="45717"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Cost ($)</a:t>
                      </a:r>
                    </a:p>
                  </a:txBody>
                  <a:tcPr marT="45717" marB="45717"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Effect</a:t>
                      </a:r>
                    </a:p>
                  </a:txBody>
                  <a:tcPr marT="45717" marB="45717"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Symbol" pitchFamily="18" charset="2"/>
                        </a:rPr>
                        <a:t>D</a:t>
                      </a:r>
                      <a:r>
                        <a:rPr kumimoji="0" lang="en-US" sz="2400" b="0" i="0" u="none" strike="noStrike" cap="none" normalizeH="0" baseline="0">
                          <a:ln>
                            <a:noFill/>
                          </a:ln>
                          <a:solidFill>
                            <a:schemeClr val="tx1"/>
                          </a:solidFill>
                          <a:effectLst/>
                          <a:latin typeface="Arial" charset="0"/>
                        </a:rPr>
                        <a:t>C</a:t>
                      </a:r>
                    </a:p>
                  </a:txBody>
                  <a:tcPr marT="45717" marB="45717"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Symbol" pitchFamily="18" charset="2"/>
                        </a:rPr>
                        <a:t>D</a:t>
                      </a:r>
                      <a:r>
                        <a:rPr kumimoji="0" lang="en-US" sz="2400" b="0" i="0" u="none" strike="noStrike" cap="none" normalizeH="0" baseline="0">
                          <a:ln>
                            <a:noFill/>
                          </a:ln>
                          <a:solidFill>
                            <a:schemeClr val="tx1"/>
                          </a:solidFill>
                          <a:effectLst/>
                          <a:latin typeface="Arial" charset="0"/>
                        </a:rPr>
                        <a:t>E</a:t>
                      </a:r>
                    </a:p>
                  </a:txBody>
                  <a:tcPr marT="45717" marB="45717" horzOverflow="overflow">
                    <a:lnL>
                      <a:noFill/>
                    </a:lnL>
                    <a:lnR>
                      <a:noFill/>
                    </a:lnR>
                    <a:lnT cap="fla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Incr. CE</a:t>
                      </a:r>
                    </a:p>
                  </a:txBody>
                  <a:tcPr marT="45717" marB="45717" horzOverflow="overflow">
                    <a:lnL>
                      <a:noFill/>
                    </a:lnL>
                    <a:lnR cap="flat">
                      <a:noFill/>
                    </a:lnR>
                    <a:lnT cap="flat">
                      <a:noFill/>
                    </a:lnT>
                    <a:lnB>
                      <a:noFill/>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615912">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Nothing</a:t>
                      </a:r>
                    </a:p>
                  </a:txBody>
                  <a:tcPr marT="45717" marB="45717"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0</a:t>
                      </a:r>
                    </a:p>
                  </a:txBody>
                  <a:tcPr marT="45717" marB="45717"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0</a:t>
                      </a:r>
                    </a:p>
                  </a:txBody>
                  <a:tcPr marT="45717" marB="45717"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7" marB="45717"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7" marB="45717"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7" marB="45717"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457172">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B2</a:t>
                      </a:r>
                    </a:p>
                  </a:txBody>
                  <a:tcPr marT="45717" marB="45717"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1200</a:t>
                      </a:r>
                    </a:p>
                  </a:txBody>
                  <a:tcPr marT="45717" marB="45717"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4.0</a:t>
                      </a:r>
                    </a:p>
                  </a:txBody>
                  <a:tcPr marT="45717" marB="45717"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1200</a:t>
                      </a:r>
                    </a:p>
                  </a:txBody>
                  <a:tcPr marT="45717" marB="45717"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4.0</a:t>
                      </a:r>
                    </a:p>
                  </a:txBody>
                  <a:tcPr marT="45717" marB="45717"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300</a:t>
                      </a:r>
                    </a:p>
                  </a:txBody>
                  <a:tcPr marT="45717" marB="45717"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457172">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B4</a:t>
                      </a:r>
                    </a:p>
                  </a:txBody>
                  <a:tcPr marT="45717" marB="45717"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2400</a:t>
                      </a:r>
                    </a:p>
                  </a:txBody>
                  <a:tcPr marT="45717" marB="45717"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4.8</a:t>
                      </a:r>
                    </a:p>
                  </a:txBody>
                  <a:tcPr marT="45717" marB="45717"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1200</a:t>
                      </a:r>
                    </a:p>
                  </a:txBody>
                  <a:tcPr marT="45717" marB="45717"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0.8</a:t>
                      </a:r>
                    </a:p>
                  </a:txBody>
                  <a:tcPr marT="45717" marB="45717"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1493</a:t>
                      </a:r>
                    </a:p>
                  </a:txBody>
                  <a:tcPr marT="45717" marB="45717"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457172">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B5</a:t>
                      </a:r>
                    </a:p>
                  </a:txBody>
                  <a:tcPr marT="45717" marB="45717"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3600</a:t>
                      </a:r>
                    </a:p>
                  </a:txBody>
                  <a:tcPr marT="45717" marB="45717"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5.1</a:t>
                      </a:r>
                    </a:p>
                  </a:txBody>
                  <a:tcPr marT="45717" marB="45717"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1200</a:t>
                      </a:r>
                    </a:p>
                  </a:txBody>
                  <a:tcPr marT="45717" marB="45717"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0.3</a:t>
                      </a:r>
                    </a:p>
                  </a:txBody>
                  <a:tcPr marT="45717" marB="45717"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4000</a:t>
                      </a:r>
                    </a:p>
                  </a:txBody>
                  <a:tcPr marT="45717" marB="45717"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457172">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7" marB="45717"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7" marB="45717"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7" marB="45717"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7" marB="45717"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7" marB="45717"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7" marB="45717"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534955">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7" marB="45717"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7" marB="45717"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7" marB="45717"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7" marB="45717"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7" marB="45717"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17" marB="45717"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518128">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7" marB="45717" horzOverflow="overflow">
                    <a:lnL cap="flat">
                      <a:noFill/>
                    </a:lnL>
                    <a:lnR>
                      <a:noFill/>
                    </a:lnR>
                    <a:lnT>
                      <a:noFill/>
                    </a:lnT>
                    <a:lnB>
                      <a:noFill/>
                    </a:lnB>
                    <a:lnTlToBr>
                      <a:noFill/>
                    </a:lnTlToBr>
                    <a:lnBlToTr>
                      <a:noFill/>
                    </a:lnBlToTr>
                    <a:pattFill prst="pct5">
                      <a:fgClr>
                        <a:schemeClr val="folHlink"/>
                      </a:fgClr>
                      <a:bgClr>
                        <a:schemeClr val="bg1"/>
                      </a:bgClr>
                    </a:patt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7" marB="45717" horzOverflow="overflow">
                    <a:lnL>
                      <a:noFill/>
                    </a:lnL>
                    <a:lnR>
                      <a:noFill/>
                    </a:lnR>
                    <a:lnT>
                      <a:noFill/>
                    </a:lnT>
                    <a:lnB>
                      <a:noFill/>
                    </a:lnB>
                    <a:lnTlToBr>
                      <a:noFill/>
                    </a:lnTlToBr>
                    <a:lnBlToTr>
                      <a:noFill/>
                    </a:lnBlToTr>
                    <a:pattFill prst="pct5">
                      <a:fgClr>
                        <a:schemeClr val="folHlink"/>
                      </a:fgClr>
                      <a:bgClr>
                        <a:schemeClr val="bg1"/>
                      </a:bgClr>
                    </a:patt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7" marB="45717" horzOverflow="overflow">
                    <a:lnL>
                      <a:noFill/>
                    </a:lnL>
                    <a:lnR>
                      <a:noFill/>
                    </a:lnR>
                    <a:lnT>
                      <a:noFill/>
                    </a:lnT>
                    <a:lnB>
                      <a:noFill/>
                    </a:lnB>
                    <a:lnTlToBr>
                      <a:noFill/>
                    </a:lnTlToBr>
                    <a:lnBlToTr>
                      <a:noFill/>
                    </a:lnBlToTr>
                    <a:pattFill prst="pct5">
                      <a:fgClr>
                        <a:schemeClr val="folHlink"/>
                      </a:fgClr>
                      <a:bgClr>
                        <a:schemeClr val="bg1"/>
                      </a:bgClr>
                    </a:patt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7" marB="45717" horzOverflow="overflow">
                    <a:lnL>
                      <a:noFill/>
                    </a:lnL>
                    <a:lnR>
                      <a:noFill/>
                    </a:lnR>
                    <a:lnT>
                      <a:noFill/>
                    </a:lnT>
                    <a:lnB>
                      <a:noFill/>
                    </a:lnB>
                    <a:lnTlToBr>
                      <a:noFill/>
                    </a:lnTlToBr>
                    <a:lnBlToTr>
                      <a:noFill/>
                    </a:lnBlToTr>
                    <a:pattFill prst="pct5">
                      <a:fgClr>
                        <a:schemeClr val="folHlink"/>
                      </a:fgClr>
                      <a:bgClr>
                        <a:schemeClr val="bg1"/>
                      </a:bgClr>
                    </a:patt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7" marB="45717" horzOverflow="overflow">
                    <a:lnL>
                      <a:noFill/>
                    </a:lnL>
                    <a:lnR>
                      <a:noFill/>
                    </a:lnR>
                    <a:lnT>
                      <a:noFill/>
                    </a:lnT>
                    <a:lnB>
                      <a:noFill/>
                    </a:lnB>
                    <a:lnTlToBr>
                      <a:noFill/>
                    </a:lnTlToBr>
                    <a:lnBlToTr>
                      <a:noFill/>
                    </a:lnBlToTr>
                    <a:pattFill prst="pct5">
                      <a:fgClr>
                        <a:schemeClr val="folHlink"/>
                      </a:fgClr>
                      <a:bgClr>
                        <a:schemeClr val="bg1"/>
                      </a:bgClr>
                    </a:patt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7" marB="45717" horzOverflow="overflow">
                    <a:lnL>
                      <a:noFill/>
                    </a:lnL>
                    <a:lnR cap="flat">
                      <a:noFill/>
                    </a:lnR>
                    <a:lnT>
                      <a:noFill/>
                    </a:lnT>
                    <a:lnB>
                      <a:noFill/>
                    </a:lnB>
                    <a:lnTlToBr>
                      <a:noFill/>
                    </a:lnTlToBr>
                    <a:lnBlToTr>
                      <a:noFill/>
                    </a:lnBlToTr>
                    <a:pattFill prst="pct5">
                      <a:fgClr>
                        <a:schemeClr val="folHlink"/>
                      </a:fgClr>
                      <a:bgClr>
                        <a:schemeClr val="bg1"/>
                      </a:bgClr>
                    </a:pattFill>
                  </a:tcPr>
                </a:tc>
                <a:extLst>
                  <a:ext uri="{0D108BD9-81ED-4DB2-BD59-A6C34878D82A}">
                    <a16:rowId xmlns:a16="http://schemas.microsoft.com/office/drawing/2014/main" val="10007"/>
                  </a:ext>
                </a:extLst>
              </a:tr>
              <a:tr h="518128">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7" marB="45717" horzOverflow="overflow">
                    <a:lnL cap="flat">
                      <a:noFill/>
                    </a:lnL>
                    <a:lnR>
                      <a:noFill/>
                    </a:lnR>
                    <a:lnT>
                      <a:noFill/>
                    </a:lnT>
                    <a:lnB>
                      <a:noFill/>
                    </a:lnB>
                    <a:lnTlToBr>
                      <a:noFill/>
                    </a:lnTlToBr>
                    <a:lnBlToTr>
                      <a:noFill/>
                    </a:lnBlToTr>
                    <a:pattFill prst="pct5">
                      <a:fgClr>
                        <a:schemeClr val="folHlink"/>
                      </a:fgClr>
                      <a:bgClr>
                        <a:schemeClr val="bg1"/>
                      </a:bgClr>
                    </a:patt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7" marB="45717" horzOverflow="overflow">
                    <a:lnL>
                      <a:noFill/>
                    </a:lnL>
                    <a:lnR>
                      <a:noFill/>
                    </a:lnR>
                    <a:lnT>
                      <a:noFill/>
                    </a:lnT>
                    <a:lnB>
                      <a:noFill/>
                    </a:lnB>
                    <a:lnTlToBr>
                      <a:noFill/>
                    </a:lnTlToBr>
                    <a:lnBlToTr>
                      <a:noFill/>
                    </a:lnBlToTr>
                    <a:pattFill prst="pct5">
                      <a:fgClr>
                        <a:schemeClr val="folHlink"/>
                      </a:fgClr>
                      <a:bgClr>
                        <a:schemeClr val="bg1"/>
                      </a:bgClr>
                    </a:patt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7" marB="45717" horzOverflow="overflow">
                    <a:lnL>
                      <a:noFill/>
                    </a:lnL>
                    <a:lnR>
                      <a:noFill/>
                    </a:lnR>
                    <a:lnT>
                      <a:noFill/>
                    </a:lnT>
                    <a:lnB>
                      <a:noFill/>
                    </a:lnB>
                    <a:lnTlToBr>
                      <a:noFill/>
                    </a:lnTlToBr>
                    <a:lnBlToTr>
                      <a:noFill/>
                    </a:lnBlToTr>
                    <a:pattFill prst="pct5">
                      <a:fgClr>
                        <a:schemeClr val="folHlink"/>
                      </a:fgClr>
                      <a:bgClr>
                        <a:schemeClr val="bg1"/>
                      </a:bgClr>
                    </a:patt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7" marB="45717" horzOverflow="overflow">
                    <a:lnL>
                      <a:noFill/>
                    </a:lnL>
                    <a:lnR>
                      <a:noFill/>
                    </a:lnR>
                    <a:lnT>
                      <a:noFill/>
                    </a:lnT>
                    <a:lnB>
                      <a:noFill/>
                    </a:lnB>
                    <a:lnTlToBr>
                      <a:noFill/>
                    </a:lnTlToBr>
                    <a:lnBlToTr>
                      <a:noFill/>
                    </a:lnBlToTr>
                    <a:pattFill prst="pct5">
                      <a:fgClr>
                        <a:schemeClr val="folHlink"/>
                      </a:fgClr>
                      <a:bgClr>
                        <a:schemeClr val="bg1"/>
                      </a:bgClr>
                    </a:patt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7" marB="45717" horzOverflow="overflow">
                    <a:lnL>
                      <a:noFill/>
                    </a:lnL>
                    <a:lnR>
                      <a:noFill/>
                    </a:lnR>
                    <a:lnT>
                      <a:noFill/>
                    </a:lnT>
                    <a:lnB>
                      <a:noFill/>
                    </a:lnB>
                    <a:lnTlToBr>
                      <a:noFill/>
                    </a:lnTlToBr>
                    <a:lnBlToTr>
                      <a:noFill/>
                    </a:lnBlToTr>
                    <a:pattFill prst="pct5">
                      <a:fgClr>
                        <a:schemeClr val="folHlink"/>
                      </a:fgClr>
                      <a:bgClr>
                        <a:schemeClr val="bg1"/>
                      </a:bgClr>
                    </a:patt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7" marB="45717" horzOverflow="overflow">
                    <a:lnL>
                      <a:noFill/>
                    </a:lnL>
                    <a:lnR cap="flat">
                      <a:noFill/>
                    </a:lnR>
                    <a:lnT>
                      <a:noFill/>
                    </a:lnT>
                    <a:lnB>
                      <a:noFill/>
                    </a:lnB>
                    <a:lnTlToBr>
                      <a:noFill/>
                    </a:lnTlToBr>
                    <a:lnBlToTr>
                      <a:noFill/>
                    </a:lnBlToTr>
                    <a:pattFill prst="pct5">
                      <a:fgClr>
                        <a:schemeClr val="folHlink"/>
                      </a:fgClr>
                      <a:bgClr>
                        <a:schemeClr val="bg1"/>
                      </a:bgClr>
                    </a:pattFill>
                  </a:tcPr>
                </a:tc>
                <a:extLst>
                  <a:ext uri="{0D108BD9-81ED-4DB2-BD59-A6C34878D82A}">
                    <a16:rowId xmlns:a16="http://schemas.microsoft.com/office/drawing/2014/main" val="10008"/>
                  </a:ext>
                </a:extLst>
              </a:tr>
              <a:tr h="518128">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endParaRPr kumimoji="0" lang="en-US" sz="2800" b="1" i="0" u="none" strike="noStrike" cap="none" normalizeH="0" baseline="0">
                        <a:ln>
                          <a:noFill/>
                        </a:ln>
                        <a:solidFill>
                          <a:schemeClr val="tx1"/>
                        </a:solidFill>
                        <a:effectLst/>
                        <a:latin typeface="Arial" charset="0"/>
                      </a:endParaRPr>
                    </a:p>
                  </a:txBody>
                  <a:tcPr marT="45717" marB="45717" horzOverflow="overflow">
                    <a:lnL cap="flat">
                      <a:noFill/>
                    </a:lnL>
                    <a:lnR>
                      <a:noFill/>
                    </a:lnR>
                    <a:lnT>
                      <a:noFill/>
                    </a:lnT>
                    <a:lnB cap="flat">
                      <a:noFill/>
                    </a:lnB>
                    <a:lnTlToBr>
                      <a:noFill/>
                    </a:lnTlToBr>
                    <a:lnBlToTr>
                      <a:noFill/>
                    </a:lnBlToTr>
                    <a:pattFill prst="pct5">
                      <a:fgClr>
                        <a:schemeClr val="folHlink"/>
                      </a:fgClr>
                      <a:bgClr>
                        <a:schemeClr val="bg1"/>
                      </a:bgClr>
                    </a:patt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1" i="0" u="none" strike="noStrike" cap="none" normalizeH="0" baseline="0">
                        <a:ln>
                          <a:noFill/>
                        </a:ln>
                        <a:solidFill>
                          <a:schemeClr val="tx1"/>
                        </a:solidFill>
                        <a:effectLst/>
                        <a:latin typeface="Arial" charset="0"/>
                      </a:endParaRPr>
                    </a:p>
                  </a:txBody>
                  <a:tcPr marT="45717" marB="45717" horzOverflow="overflow">
                    <a:lnL>
                      <a:noFill/>
                    </a:lnL>
                    <a:lnR>
                      <a:noFill/>
                    </a:lnR>
                    <a:lnT>
                      <a:noFill/>
                    </a:lnT>
                    <a:lnB cap="flat">
                      <a:noFill/>
                    </a:lnB>
                    <a:lnTlToBr>
                      <a:noFill/>
                    </a:lnTlToBr>
                    <a:lnBlToTr>
                      <a:noFill/>
                    </a:lnBlToTr>
                    <a:pattFill prst="pct5">
                      <a:fgClr>
                        <a:schemeClr val="folHlink"/>
                      </a:fgClr>
                      <a:bgClr>
                        <a:schemeClr val="bg1"/>
                      </a:bgClr>
                    </a:patt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1" i="0" u="none" strike="noStrike" cap="none" normalizeH="0" baseline="0">
                        <a:ln>
                          <a:noFill/>
                        </a:ln>
                        <a:solidFill>
                          <a:schemeClr val="tx1"/>
                        </a:solidFill>
                        <a:effectLst/>
                        <a:latin typeface="Arial" charset="0"/>
                      </a:endParaRPr>
                    </a:p>
                  </a:txBody>
                  <a:tcPr marT="45717" marB="45717" horzOverflow="overflow">
                    <a:lnL>
                      <a:noFill/>
                    </a:lnL>
                    <a:lnR>
                      <a:noFill/>
                    </a:lnR>
                    <a:lnT>
                      <a:noFill/>
                    </a:lnT>
                    <a:lnB cap="flat">
                      <a:noFill/>
                    </a:lnB>
                    <a:lnTlToBr>
                      <a:noFill/>
                    </a:lnTlToBr>
                    <a:lnBlToTr>
                      <a:noFill/>
                    </a:lnBlToTr>
                    <a:pattFill prst="pct5">
                      <a:fgClr>
                        <a:schemeClr val="folHlink"/>
                      </a:fgClr>
                      <a:bgClr>
                        <a:schemeClr val="bg1"/>
                      </a:bgClr>
                    </a:patt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1" i="0" u="none" strike="noStrike" cap="none" normalizeH="0" baseline="0">
                        <a:ln>
                          <a:noFill/>
                        </a:ln>
                        <a:solidFill>
                          <a:schemeClr val="tx1"/>
                        </a:solidFill>
                        <a:effectLst/>
                        <a:latin typeface="Arial" charset="0"/>
                      </a:endParaRPr>
                    </a:p>
                  </a:txBody>
                  <a:tcPr marT="45717" marB="45717" horzOverflow="overflow">
                    <a:lnL>
                      <a:noFill/>
                    </a:lnL>
                    <a:lnR>
                      <a:noFill/>
                    </a:lnR>
                    <a:lnT>
                      <a:noFill/>
                    </a:lnT>
                    <a:lnB cap="flat">
                      <a:noFill/>
                    </a:lnB>
                    <a:lnTlToBr>
                      <a:noFill/>
                    </a:lnTlToBr>
                    <a:lnBlToTr>
                      <a:noFill/>
                    </a:lnBlToTr>
                    <a:pattFill prst="pct5">
                      <a:fgClr>
                        <a:schemeClr val="folHlink"/>
                      </a:fgClr>
                      <a:bgClr>
                        <a:schemeClr val="bg1"/>
                      </a:bgClr>
                    </a:patt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7" marB="45717" horzOverflow="overflow">
                    <a:lnL>
                      <a:noFill/>
                    </a:lnL>
                    <a:lnR>
                      <a:noFill/>
                    </a:lnR>
                    <a:lnT>
                      <a:noFill/>
                    </a:lnT>
                    <a:lnB cap="flat">
                      <a:noFill/>
                    </a:lnB>
                    <a:lnTlToBr>
                      <a:noFill/>
                    </a:lnTlToBr>
                    <a:lnBlToTr>
                      <a:noFill/>
                    </a:lnBlToTr>
                    <a:pattFill prst="pct5">
                      <a:fgClr>
                        <a:schemeClr val="folHlink"/>
                      </a:fgClr>
                      <a:bgClr>
                        <a:schemeClr val="bg1"/>
                      </a:bgClr>
                    </a:patt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17" marB="45717" horzOverflow="overflow">
                    <a:lnL>
                      <a:noFill/>
                    </a:lnL>
                    <a:lnR cap="flat">
                      <a:noFill/>
                    </a:lnR>
                    <a:lnT>
                      <a:noFill/>
                    </a:lnT>
                    <a:lnB cap="flat">
                      <a:noFill/>
                    </a:lnB>
                    <a:lnTlToBr>
                      <a:noFill/>
                    </a:lnTlToBr>
                    <a:lnBlToTr>
                      <a:noFill/>
                    </a:lnBlToTr>
                    <a:pattFill prst="pct5">
                      <a:fgClr>
                        <a:schemeClr val="folHlink"/>
                      </a:fgClr>
                      <a:bgClr>
                        <a:schemeClr val="bg1"/>
                      </a:bgClr>
                    </a:pattFill>
                  </a:tcPr>
                </a:tc>
                <a:extLst>
                  <a:ext uri="{0D108BD9-81ED-4DB2-BD59-A6C34878D82A}">
                    <a16:rowId xmlns:a16="http://schemas.microsoft.com/office/drawing/2014/main" val="10009"/>
                  </a:ext>
                </a:extLst>
              </a:tr>
            </a:tbl>
          </a:graphicData>
        </a:graphic>
      </p:graphicFrame>
      <p:sp>
        <p:nvSpPr>
          <p:cNvPr id="21570" name="Line 92">
            <a:extLst>
              <a:ext uri="{FF2B5EF4-FFF2-40B4-BE49-F238E27FC236}">
                <a16:creationId xmlns:a16="http://schemas.microsoft.com/office/drawing/2014/main" id="{CD116822-A72D-DF4E-B4E5-B22A267AD171}"/>
              </a:ext>
            </a:extLst>
          </p:cNvPr>
          <p:cNvSpPr>
            <a:spLocks noChangeShapeType="1"/>
          </p:cNvSpPr>
          <p:nvPr/>
        </p:nvSpPr>
        <p:spPr bwMode="auto">
          <a:xfrm>
            <a:off x="2133600" y="1925120"/>
            <a:ext cx="79248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21571" name="Line 93">
            <a:extLst>
              <a:ext uri="{FF2B5EF4-FFF2-40B4-BE49-F238E27FC236}">
                <a16:creationId xmlns:a16="http://schemas.microsoft.com/office/drawing/2014/main" id="{FE0A056F-B27A-5D41-BF29-578C4AE318A8}"/>
              </a:ext>
            </a:extLst>
          </p:cNvPr>
          <p:cNvSpPr>
            <a:spLocks noChangeShapeType="1"/>
          </p:cNvSpPr>
          <p:nvPr/>
        </p:nvSpPr>
        <p:spPr bwMode="auto">
          <a:xfrm>
            <a:off x="2133600" y="1391720"/>
            <a:ext cx="80772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10" name="Rectangle 4">
            <a:extLst>
              <a:ext uri="{FF2B5EF4-FFF2-40B4-BE49-F238E27FC236}">
                <a16:creationId xmlns:a16="http://schemas.microsoft.com/office/drawing/2014/main" id="{60606947-C196-1548-93CB-F20BF77D15A2}"/>
              </a:ext>
            </a:extLst>
          </p:cNvPr>
          <p:cNvSpPr>
            <a:spLocks noGrp="1" noChangeArrowheads="1"/>
          </p:cNvSpPr>
          <p:nvPr>
            <p:ph type="title"/>
          </p:nvPr>
        </p:nvSpPr>
        <p:spPr>
          <a:xfrm>
            <a:off x="888521" y="-1"/>
            <a:ext cx="10386204" cy="1357643"/>
          </a:xfrm>
        </p:spPr>
        <p:txBody>
          <a:bodyPr>
            <a:normAutofit/>
          </a:bodyPr>
          <a:lstStyle/>
          <a:p>
            <a:pPr>
              <a:defRPr/>
            </a:pPr>
            <a:r>
              <a:rPr lang="en-US" dirty="0">
                <a:solidFill>
                  <a:schemeClr val="accent2"/>
                </a:solidFill>
              </a:rPr>
              <a:t>Another Example: Program B</a:t>
            </a:r>
            <a:br>
              <a:rPr lang="en-US" dirty="0">
                <a:solidFill>
                  <a:schemeClr val="accent2"/>
                </a:solidFill>
              </a:rPr>
            </a:br>
            <a:r>
              <a:rPr lang="en-US" dirty="0"/>
              <a:t>Incremental Cost-Effectiveness</a:t>
            </a:r>
          </a:p>
        </p:txBody>
      </p:sp>
    </p:spTree>
    <p:extLst>
      <p:ext uri="{BB962C8B-B14F-4D97-AF65-F5344CB8AC3E}">
        <p14:creationId xmlns:p14="http://schemas.microsoft.com/office/powerpoint/2010/main" val="3116603718"/>
      </p:ext>
    </p:extLst>
  </p:cSld>
  <p:clrMapOvr>
    <a:masterClrMapping/>
  </p:clrMapOvr>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42" name="Rectangle 2">
            <a:extLst>
              <a:ext uri="{FF2B5EF4-FFF2-40B4-BE49-F238E27FC236}">
                <a16:creationId xmlns:a16="http://schemas.microsoft.com/office/drawing/2014/main" id="{BD0B8A1D-87D1-7341-AA5E-67EC06AD724B}"/>
              </a:ext>
            </a:extLst>
          </p:cNvPr>
          <p:cNvSpPr>
            <a:spLocks noGrp="1" noChangeArrowheads="1"/>
          </p:cNvSpPr>
          <p:nvPr>
            <p:ph type="title"/>
          </p:nvPr>
        </p:nvSpPr>
        <p:spPr>
          <a:xfrm>
            <a:off x="690113" y="247652"/>
            <a:ext cx="10647273" cy="847724"/>
          </a:xfrm>
        </p:spPr>
        <p:txBody>
          <a:bodyPr>
            <a:normAutofit/>
          </a:bodyPr>
          <a:lstStyle/>
          <a:p>
            <a:pPr>
              <a:defRPr/>
            </a:pPr>
            <a:r>
              <a:rPr lang="en-US" dirty="0"/>
              <a:t>Programs A &amp; B</a:t>
            </a:r>
          </a:p>
        </p:txBody>
      </p:sp>
      <p:sp>
        <p:nvSpPr>
          <p:cNvPr id="22531" name="Line 3">
            <a:extLst>
              <a:ext uri="{FF2B5EF4-FFF2-40B4-BE49-F238E27FC236}">
                <a16:creationId xmlns:a16="http://schemas.microsoft.com/office/drawing/2014/main" id="{2AFFB828-6B64-0349-8BBD-A0B8F7382C8B}"/>
              </a:ext>
            </a:extLst>
          </p:cNvPr>
          <p:cNvSpPr>
            <a:spLocks noChangeShapeType="1"/>
          </p:cNvSpPr>
          <p:nvPr/>
        </p:nvSpPr>
        <p:spPr bwMode="auto">
          <a:xfrm flipV="1">
            <a:off x="2763839" y="3971925"/>
            <a:ext cx="1616075" cy="1600200"/>
          </a:xfrm>
          <a:prstGeom prst="line">
            <a:avLst/>
          </a:prstGeom>
          <a:noFill/>
          <a:ln w="15875">
            <a:solidFill>
              <a:srgbClr val="0000C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22532" name="Line 4">
            <a:extLst>
              <a:ext uri="{FF2B5EF4-FFF2-40B4-BE49-F238E27FC236}">
                <a16:creationId xmlns:a16="http://schemas.microsoft.com/office/drawing/2014/main" id="{C861A486-6A76-2240-8F05-AC4F4EB4B35A}"/>
              </a:ext>
            </a:extLst>
          </p:cNvPr>
          <p:cNvSpPr>
            <a:spLocks noChangeShapeType="1"/>
          </p:cNvSpPr>
          <p:nvPr/>
        </p:nvSpPr>
        <p:spPr bwMode="auto">
          <a:xfrm flipV="1">
            <a:off x="4379913" y="3651251"/>
            <a:ext cx="1619250" cy="320675"/>
          </a:xfrm>
          <a:prstGeom prst="line">
            <a:avLst/>
          </a:prstGeom>
          <a:noFill/>
          <a:ln w="15875">
            <a:solidFill>
              <a:srgbClr val="0000C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22533" name="Line 5">
            <a:extLst>
              <a:ext uri="{FF2B5EF4-FFF2-40B4-BE49-F238E27FC236}">
                <a16:creationId xmlns:a16="http://schemas.microsoft.com/office/drawing/2014/main" id="{28B85EA2-DC37-6A40-9725-371C5510E6A2}"/>
              </a:ext>
            </a:extLst>
          </p:cNvPr>
          <p:cNvSpPr>
            <a:spLocks noChangeShapeType="1"/>
          </p:cNvSpPr>
          <p:nvPr/>
        </p:nvSpPr>
        <p:spPr bwMode="auto">
          <a:xfrm flipV="1">
            <a:off x="5999163" y="3532188"/>
            <a:ext cx="1619250" cy="119062"/>
          </a:xfrm>
          <a:prstGeom prst="line">
            <a:avLst/>
          </a:prstGeom>
          <a:noFill/>
          <a:ln w="15875">
            <a:solidFill>
              <a:srgbClr val="0000C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22534" name="Freeform 6">
            <a:extLst>
              <a:ext uri="{FF2B5EF4-FFF2-40B4-BE49-F238E27FC236}">
                <a16:creationId xmlns:a16="http://schemas.microsoft.com/office/drawing/2014/main" id="{B01C443E-E5C6-F045-8CAD-775E6DCF7F2A}"/>
              </a:ext>
            </a:extLst>
          </p:cNvPr>
          <p:cNvSpPr>
            <a:spLocks/>
          </p:cNvSpPr>
          <p:nvPr/>
        </p:nvSpPr>
        <p:spPr bwMode="auto">
          <a:xfrm>
            <a:off x="2703514" y="5527675"/>
            <a:ext cx="122237" cy="88900"/>
          </a:xfrm>
          <a:custGeom>
            <a:avLst/>
            <a:gdLst>
              <a:gd name="T0" fmla="*/ 95782079 w 78"/>
              <a:gd name="T1" fmla="*/ 0 h 56"/>
              <a:gd name="T2" fmla="*/ 191562592 w 78"/>
              <a:gd name="T3" fmla="*/ 141128761 h 56"/>
              <a:gd name="T4" fmla="*/ 0 w 78"/>
              <a:gd name="T5" fmla="*/ 141128761 h 56"/>
              <a:gd name="T6" fmla="*/ 95782079 w 78"/>
              <a:gd name="T7" fmla="*/ 0 h 56"/>
              <a:gd name="T8" fmla="*/ 0 60000 65536"/>
              <a:gd name="T9" fmla="*/ 0 60000 65536"/>
              <a:gd name="T10" fmla="*/ 0 60000 65536"/>
              <a:gd name="T11" fmla="*/ 0 60000 65536"/>
              <a:gd name="T12" fmla="*/ 0 w 78"/>
              <a:gd name="T13" fmla="*/ 0 h 56"/>
              <a:gd name="T14" fmla="*/ 78 w 78"/>
              <a:gd name="T15" fmla="*/ 56 h 56"/>
            </a:gdLst>
            <a:ahLst/>
            <a:cxnLst>
              <a:cxn ang="T8">
                <a:pos x="T0" y="T1"/>
              </a:cxn>
              <a:cxn ang="T9">
                <a:pos x="T2" y="T3"/>
              </a:cxn>
              <a:cxn ang="T10">
                <a:pos x="T4" y="T5"/>
              </a:cxn>
              <a:cxn ang="T11">
                <a:pos x="T6" y="T7"/>
              </a:cxn>
            </a:cxnLst>
            <a:rect l="T12" t="T13" r="T14" b="T15"/>
            <a:pathLst>
              <a:path w="78" h="56">
                <a:moveTo>
                  <a:pt x="39" y="0"/>
                </a:moveTo>
                <a:lnTo>
                  <a:pt x="78" y="56"/>
                </a:lnTo>
                <a:lnTo>
                  <a:pt x="0" y="56"/>
                </a:lnTo>
                <a:lnTo>
                  <a:pt x="39" y="0"/>
                </a:lnTo>
                <a:close/>
              </a:path>
            </a:pathLst>
          </a:custGeom>
          <a:solidFill>
            <a:srgbClr val="000080"/>
          </a:solidFill>
          <a:ln w="0">
            <a:solidFill>
              <a:srgbClr val="000080"/>
            </a:solidFill>
            <a:prstDash val="solid"/>
            <a:round/>
            <a:headEnd/>
            <a:tailEnd/>
          </a:ln>
        </p:spPr>
        <p:txBody>
          <a:bodyPr/>
          <a:lstStyle/>
          <a:p>
            <a:endParaRPr lang="en-MX"/>
          </a:p>
        </p:txBody>
      </p:sp>
      <p:sp>
        <p:nvSpPr>
          <p:cNvPr id="22535" name="Freeform 7">
            <a:extLst>
              <a:ext uri="{FF2B5EF4-FFF2-40B4-BE49-F238E27FC236}">
                <a16:creationId xmlns:a16="http://schemas.microsoft.com/office/drawing/2014/main" id="{B9B328BE-92EC-C945-9475-1F8E0DF8CFAC}"/>
              </a:ext>
            </a:extLst>
          </p:cNvPr>
          <p:cNvSpPr>
            <a:spLocks/>
          </p:cNvSpPr>
          <p:nvPr/>
        </p:nvSpPr>
        <p:spPr bwMode="auto">
          <a:xfrm>
            <a:off x="4318001" y="3927475"/>
            <a:ext cx="125413" cy="88900"/>
          </a:xfrm>
          <a:custGeom>
            <a:avLst/>
            <a:gdLst>
              <a:gd name="T0" fmla="*/ 100823998 w 78"/>
              <a:gd name="T1" fmla="*/ 0 h 56"/>
              <a:gd name="T2" fmla="*/ 201646389 w 78"/>
              <a:gd name="T3" fmla="*/ 141128761 h 56"/>
              <a:gd name="T4" fmla="*/ 0 w 78"/>
              <a:gd name="T5" fmla="*/ 141128761 h 56"/>
              <a:gd name="T6" fmla="*/ 100823998 w 78"/>
              <a:gd name="T7" fmla="*/ 0 h 56"/>
              <a:gd name="T8" fmla="*/ 0 60000 65536"/>
              <a:gd name="T9" fmla="*/ 0 60000 65536"/>
              <a:gd name="T10" fmla="*/ 0 60000 65536"/>
              <a:gd name="T11" fmla="*/ 0 60000 65536"/>
              <a:gd name="T12" fmla="*/ 0 w 78"/>
              <a:gd name="T13" fmla="*/ 0 h 56"/>
              <a:gd name="T14" fmla="*/ 78 w 78"/>
              <a:gd name="T15" fmla="*/ 56 h 56"/>
            </a:gdLst>
            <a:ahLst/>
            <a:cxnLst>
              <a:cxn ang="T8">
                <a:pos x="T0" y="T1"/>
              </a:cxn>
              <a:cxn ang="T9">
                <a:pos x="T2" y="T3"/>
              </a:cxn>
              <a:cxn ang="T10">
                <a:pos x="T4" y="T5"/>
              </a:cxn>
              <a:cxn ang="T11">
                <a:pos x="T6" y="T7"/>
              </a:cxn>
            </a:cxnLst>
            <a:rect l="T12" t="T13" r="T14" b="T15"/>
            <a:pathLst>
              <a:path w="78" h="56">
                <a:moveTo>
                  <a:pt x="39" y="0"/>
                </a:moveTo>
                <a:lnTo>
                  <a:pt x="78" y="56"/>
                </a:lnTo>
                <a:lnTo>
                  <a:pt x="0" y="56"/>
                </a:lnTo>
                <a:lnTo>
                  <a:pt x="39" y="0"/>
                </a:lnTo>
                <a:close/>
              </a:path>
            </a:pathLst>
          </a:custGeom>
          <a:solidFill>
            <a:srgbClr val="000080"/>
          </a:solidFill>
          <a:ln w="0">
            <a:solidFill>
              <a:srgbClr val="000080"/>
            </a:solidFill>
            <a:prstDash val="solid"/>
            <a:round/>
            <a:headEnd/>
            <a:tailEnd/>
          </a:ln>
        </p:spPr>
        <p:txBody>
          <a:bodyPr/>
          <a:lstStyle/>
          <a:p>
            <a:endParaRPr lang="en-MX"/>
          </a:p>
        </p:txBody>
      </p:sp>
      <p:sp>
        <p:nvSpPr>
          <p:cNvPr id="22536" name="Freeform 8">
            <a:extLst>
              <a:ext uri="{FF2B5EF4-FFF2-40B4-BE49-F238E27FC236}">
                <a16:creationId xmlns:a16="http://schemas.microsoft.com/office/drawing/2014/main" id="{ACD4A913-0795-4147-AFE4-3E3FA0265F85}"/>
              </a:ext>
            </a:extLst>
          </p:cNvPr>
          <p:cNvSpPr>
            <a:spLocks/>
          </p:cNvSpPr>
          <p:nvPr/>
        </p:nvSpPr>
        <p:spPr bwMode="auto">
          <a:xfrm>
            <a:off x="5937250" y="3606800"/>
            <a:ext cx="122238" cy="88900"/>
          </a:xfrm>
          <a:custGeom>
            <a:avLst/>
            <a:gdLst>
              <a:gd name="T0" fmla="*/ 95766316 w 77"/>
              <a:gd name="T1" fmla="*/ 0 h 56"/>
              <a:gd name="T2" fmla="*/ 194053591 w 77"/>
              <a:gd name="T3" fmla="*/ 141128761 h 56"/>
              <a:gd name="T4" fmla="*/ 0 w 77"/>
              <a:gd name="T5" fmla="*/ 141128761 h 56"/>
              <a:gd name="T6" fmla="*/ 95766316 w 77"/>
              <a:gd name="T7" fmla="*/ 0 h 56"/>
              <a:gd name="T8" fmla="*/ 0 60000 65536"/>
              <a:gd name="T9" fmla="*/ 0 60000 65536"/>
              <a:gd name="T10" fmla="*/ 0 60000 65536"/>
              <a:gd name="T11" fmla="*/ 0 60000 65536"/>
              <a:gd name="T12" fmla="*/ 0 w 77"/>
              <a:gd name="T13" fmla="*/ 0 h 56"/>
              <a:gd name="T14" fmla="*/ 77 w 77"/>
              <a:gd name="T15" fmla="*/ 56 h 56"/>
            </a:gdLst>
            <a:ahLst/>
            <a:cxnLst>
              <a:cxn ang="T8">
                <a:pos x="T0" y="T1"/>
              </a:cxn>
              <a:cxn ang="T9">
                <a:pos x="T2" y="T3"/>
              </a:cxn>
              <a:cxn ang="T10">
                <a:pos x="T4" y="T5"/>
              </a:cxn>
              <a:cxn ang="T11">
                <a:pos x="T6" y="T7"/>
              </a:cxn>
            </a:cxnLst>
            <a:rect l="T12" t="T13" r="T14" b="T15"/>
            <a:pathLst>
              <a:path w="77" h="56">
                <a:moveTo>
                  <a:pt x="38" y="0"/>
                </a:moveTo>
                <a:lnTo>
                  <a:pt x="77" y="56"/>
                </a:lnTo>
                <a:lnTo>
                  <a:pt x="0" y="56"/>
                </a:lnTo>
                <a:lnTo>
                  <a:pt x="38" y="0"/>
                </a:lnTo>
                <a:close/>
              </a:path>
            </a:pathLst>
          </a:custGeom>
          <a:solidFill>
            <a:srgbClr val="000080"/>
          </a:solidFill>
          <a:ln w="0">
            <a:solidFill>
              <a:srgbClr val="000080"/>
            </a:solidFill>
            <a:prstDash val="solid"/>
            <a:round/>
            <a:headEnd/>
            <a:tailEnd/>
          </a:ln>
        </p:spPr>
        <p:txBody>
          <a:bodyPr/>
          <a:lstStyle/>
          <a:p>
            <a:endParaRPr lang="en-MX"/>
          </a:p>
        </p:txBody>
      </p:sp>
      <p:sp>
        <p:nvSpPr>
          <p:cNvPr id="22537" name="Freeform 9">
            <a:extLst>
              <a:ext uri="{FF2B5EF4-FFF2-40B4-BE49-F238E27FC236}">
                <a16:creationId xmlns:a16="http://schemas.microsoft.com/office/drawing/2014/main" id="{4AB7F484-9647-A64A-B761-B25082BC4844}"/>
              </a:ext>
            </a:extLst>
          </p:cNvPr>
          <p:cNvSpPr>
            <a:spLocks/>
          </p:cNvSpPr>
          <p:nvPr/>
        </p:nvSpPr>
        <p:spPr bwMode="auto">
          <a:xfrm>
            <a:off x="7554914" y="3487738"/>
            <a:ext cx="123825" cy="88900"/>
          </a:xfrm>
          <a:custGeom>
            <a:avLst/>
            <a:gdLst>
              <a:gd name="T0" fmla="*/ 98286874 w 78"/>
              <a:gd name="T1" fmla="*/ 0 h 56"/>
              <a:gd name="T2" fmla="*/ 196572160 w 78"/>
              <a:gd name="T3" fmla="*/ 141128761 h 56"/>
              <a:gd name="T4" fmla="*/ 0 w 78"/>
              <a:gd name="T5" fmla="*/ 141128761 h 56"/>
              <a:gd name="T6" fmla="*/ 98286874 w 78"/>
              <a:gd name="T7" fmla="*/ 0 h 56"/>
              <a:gd name="T8" fmla="*/ 0 60000 65536"/>
              <a:gd name="T9" fmla="*/ 0 60000 65536"/>
              <a:gd name="T10" fmla="*/ 0 60000 65536"/>
              <a:gd name="T11" fmla="*/ 0 60000 65536"/>
              <a:gd name="T12" fmla="*/ 0 w 78"/>
              <a:gd name="T13" fmla="*/ 0 h 56"/>
              <a:gd name="T14" fmla="*/ 78 w 78"/>
              <a:gd name="T15" fmla="*/ 56 h 56"/>
            </a:gdLst>
            <a:ahLst/>
            <a:cxnLst>
              <a:cxn ang="T8">
                <a:pos x="T0" y="T1"/>
              </a:cxn>
              <a:cxn ang="T9">
                <a:pos x="T2" y="T3"/>
              </a:cxn>
              <a:cxn ang="T10">
                <a:pos x="T4" y="T5"/>
              </a:cxn>
              <a:cxn ang="T11">
                <a:pos x="T6" y="T7"/>
              </a:cxn>
            </a:cxnLst>
            <a:rect l="T12" t="T13" r="T14" b="T15"/>
            <a:pathLst>
              <a:path w="78" h="56">
                <a:moveTo>
                  <a:pt x="39" y="0"/>
                </a:moveTo>
                <a:lnTo>
                  <a:pt x="78" y="56"/>
                </a:lnTo>
                <a:lnTo>
                  <a:pt x="0" y="56"/>
                </a:lnTo>
                <a:lnTo>
                  <a:pt x="39" y="0"/>
                </a:lnTo>
                <a:close/>
              </a:path>
            </a:pathLst>
          </a:custGeom>
          <a:solidFill>
            <a:srgbClr val="000080"/>
          </a:solidFill>
          <a:ln w="0">
            <a:solidFill>
              <a:srgbClr val="000080"/>
            </a:solidFill>
            <a:prstDash val="solid"/>
            <a:round/>
            <a:headEnd/>
            <a:tailEnd/>
          </a:ln>
        </p:spPr>
        <p:txBody>
          <a:bodyPr/>
          <a:lstStyle/>
          <a:p>
            <a:endParaRPr lang="en-MX"/>
          </a:p>
        </p:txBody>
      </p:sp>
      <p:sp>
        <p:nvSpPr>
          <p:cNvPr id="22538" name="Line 10">
            <a:extLst>
              <a:ext uri="{FF2B5EF4-FFF2-40B4-BE49-F238E27FC236}">
                <a16:creationId xmlns:a16="http://schemas.microsoft.com/office/drawing/2014/main" id="{500F2F25-236A-D24D-9844-ACD84E534ABE}"/>
              </a:ext>
            </a:extLst>
          </p:cNvPr>
          <p:cNvSpPr>
            <a:spLocks noChangeShapeType="1"/>
          </p:cNvSpPr>
          <p:nvPr/>
        </p:nvSpPr>
        <p:spPr bwMode="auto">
          <a:xfrm>
            <a:off x="2763839" y="5572125"/>
            <a:ext cx="3175" cy="1588"/>
          </a:xfrm>
          <a:prstGeom prst="line">
            <a:avLst/>
          </a:prstGeom>
          <a:noFill/>
          <a:ln w="15875">
            <a:solidFill>
              <a:srgbClr val="A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22539" name="Line 11">
            <a:extLst>
              <a:ext uri="{FF2B5EF4-FFF2-40B4-BE49-F238E27FC236}">
                <a16:creationId xmlns:a16="http://schemas.microsoft.com/office/drawing/2014/main" id="{DFB26821-96C6-AF49-A71D-C7C2EF1560C1}"/>
              </a:ext>
            </a:extLst>
          </p:cNvPr>
          <p:cNvSpPr>
            <a:spLocks noChangeShapeType="1"/>
          </p:cNvSpPr>
          <p:nvPr/>
        </p:nvSpPr>
        <p:spPr bwMode="auto">
          <a:xfrm flipV="1">
            <a:off x="2763838" y="2770189"/>
            <a:ext cx="671512" cy="2801937"/>
          </a:xfrm>
          <a:prstGeom prst="line">
            <a:avLst/>
          </a:prstGeom>
          <a:noFill/>
          <a:ln w="15875">
            <a:solidFill>
              <a:srgbClr val="A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22540" name="Line 12">
            <a:extLst>
              <a:ext uri="{FF2B5EF4-FFF2-40B4-BE49-F238E27FC236}">
                <a16:creationId xmlns:a16="http://schemas.microsoft.com/office/drawing/2014/main" id="{19197D61-3225-3C47-8C92-78C87B1945C0}"/>
              </a:ext>
            </a:extLst>
          </p:cNvPr>
          <p:cNvSpPr>
            <a:spLocks noChangeShapeType="1"/>
          </p:cNvSpPr>
          <p:nvPr/>
        </p:nvSpPr>
        <p:spPr bwMode="auto">
          <a:xfrm flipV="1">
            <a:off x="3435350" y="2170114"/>
            <a:ext cx="674688" cy="600075"/>
          </a:xfrm>
          <a:prstGeom prst="line">
            <a:avLst/>
          </a:prstGeom>
          <a:noFill/>
          <a:ln w="15875">
            <a:solidFill>
              <a:srgbClr val="A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22541" name="Line 13">
            <a:extLst>
              <a:ext uri="{FF2B5EF4-FFF2-40B4-BE49-F238E27FC236}">
                <a16:creationId xmlns:a16="http://schemas.microsoft.com/office/drawing/2014/main" id="{8557085F-EEFE-F24D-84A5-5CF5BF070F0A}"/>
              </a:ext>
            </a:extLst>
          </p:cNvPr>
          <p:cNvSpPr>
            <a:spLocks noChangeShapeType="1"/>
          </p:cNvSpPr>
          <p:nvPr/>
        </p:nvSpPr>
        <p:spPr bwMode="auto">
          <a:xfrm flipV="1">
            <a:off x="4110039" y="1730375"/>
            <a:ext cx="1349375" cy="439738"/>
          </a:xfrm>
          <a:prstGeom prst="line">
            <a:avLst/>
          </a:prstGeom>
          <a:noFill/>
          <a:ln w="15875">
            <a:solidFill>
              <a:srgbClr val="A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22542" name="Line 14">
            <a:extLst>
              <a:ext uri="{FF2B5EF4-FFF2-40B4-BE49-F238E27FC236}">
                <a16:creationId xmlns:a16="http://schemas.microsoft.com/office/drawing/2014/main" id="{40BB02DB-2547-7946-A337-4F8CECD1E05B}"/>
              </a:ext>
            </a:extLst>
          </p:cNvPr>
          <p:cNvSpPr>
            <a:spLocks noChangeShapeType="1"/>
          </p:cNvSpPr>
          <p:nvPr/>
        </p:nvSpPr>
        <p:spPr bwMode="auto">
          <a:xfrm flipV="1">
            <a:off x="5459413" y="1470025"/>
            <a:ext cx="1346200" cy="260350"/>
          </a:xfrm>
          <a:prstGeom prst="line">
            <a:avLst/>
          </a:prstGeom>
          <a:noFill/>
          <a:ln w="15875">
            <a:solidFill>
              <a:srgbClr val="A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22543" name="Line 15">
            <a:extLst>
              <a:ext uri="{FF2B5EF4-FFF2-40B4-BE49-F238E27FC236}">
                <a16:creationId xmlns:a16="http://schemas.microsoft.com/office/drawing/2014/main" id="{4D352F76-4306-6142-AE69-5A57C352BEFD}"/>
              </a:ext>
            </a:extLst>
          </p:cNvPr>
          <p:cNvSpPr>
            <a:spLocks noChangeShapeType="1"/>
          </p:cNvSpPr>
          <p:nvPr/>
        </p:nvSpPr>
        <p:spPr bwMode="auto">
          <a:xfrm flipV="1">
            <a:off x="6805613" y="1390651"/>
            <a:ext cx="2025650" cy="79375"/>
          </a:xfrm>
          <a:prstGeom prst="line">
            <a:avLst/>
          </a:prstGeom>
          <a:noFill/>
          <a:ln w="15875">
            <a:solidFill>
              <a:srgbClr val="A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22544" name="Oval 16">
            <a:extLst>
              <a:ext uri="{FF2B5EF4-FFF2-40B4-BE49-F238E27FC236}">
                <a16:creationId xmlns:a16="http://schemas.microsoft.com/office/drawing/2014/main" id="{24278706-6E85-2A4C-802F-2D080C0D5A41}"/>
              </a:ext>
            </a:extLst>
          </p:cNvPr>
          <p:cNvSpPr>
            <a:spLocks noChangeArrowheads="1"/>
          </p:cNvSpPr>
          <p:nvPr/>
        </p:nvSpPr>
        <p:spPr bwMode="auto">
          <a:xfrm>
            <a:off x="2705101" y="5522913"/>
            <a:ext cx="112713" cy="82550"/>
          </a:xfrm>
          <a:prstGeom prst="ellipse">
            <a:avLst/>
          </a:prstGeom>
          <a:solidFill>
            <a:srgbClr val="A00000"/>
          </a:solidFill>
          <a:ln w="0">
            <a:solidFill>
              <a:srgbClr val="A00000"/>
            </a:solidFill>
            <a:round/>
            <a:headEnd/>
            <a:tailEnd/>
          </a:ln>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22545" name="Oval 17">
            <a:extLst>
              <a:ext uri="{FF2B5EF4-FFF2-40B4-BE49-F238E27FC236}">
                <a16:creationId xmlns:a16="http://schemas.microsoft.com/office/drawing/2014/main" id="{2622F89A-BD2F-0F41-AB0D-A6EBDC500101}"/>
              </a:ext>
            </a:extLst>
          </p:cNvPr>
          <p:cNvSpPr>
            <a:spLocks noChangeArrowheads="1"/>
          </p:cNvSpPr>
          <p:nvPr/>
        </p:nvSpPr>
        <p:spPr bwMode="auto">
          <a:xfrm>
            <a:off x="3376613" y="2728914"/>
            <a:ext cx="114300" cy="71437"/>
          </a:xfrm>
          <a:prstGeom prst="ellipse">
            <a:avLst/>
          </a:prstGeom>
          <a:solidFill>
            <a:srgbClr val="A00000"/>
          </a:solidFill>
          <a:ln w="0">
            <a:solidFill>
              <a:srgbClr val="A00000"/>
            </a:solidFill>
            <a:round/>
            <a:headEnd/>
            <a:tailEnd/>
          </a:ln>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22546" name="Oval 18">
            <a:extLst>
              <a:ext uri="{FF2B5EF4-FFF2-40B4-BE49-F238E27FC236}">
                <a16:creationId xmlns:a16="http://schemas.microsoft.com/office/drawing/2014/main" id="{2B217C68-6628-1145-8F0E-728165A0C2E5}"/>
              </a:ext>
            </a:extLst>
          </p:cNvPr>
          <p:cNvSpPr>
            <a:spLocks noChangeArrowheads="1"/>
          </p:cNvSpPr>
          <p:nvPr/>
        </p:nvSpPr>
        <p:spPr bwMode="auto">
          <a:xfrm>
            <a:off x="4049714" y="2127251"/>
            <a:ext cx="109537" cy="80963"/>
          </a:xfrm>
          <a:prstGeom prst="ellipse">
            <a:avLst/>
          </a:prstGeom>
          <a:solidFill>
            <a:srgbClr val="A00000"/>
          </a:solidFill>
          <a:ln w="0">
            <a:solidFill>
              <a:srgbClr val="A00000"/>
            </a:solidFill>
            <a:round/>
            <a:headEnd/>
            <a:tailEnd/>
          </a:ln>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22547" name="Oval 19">
            <a:extLst>
              <a:ext uri="{FF2B5EF4-FFF2-40B4-BE49-F238E27FC236}">
                <a16:creationId xmlns:a16="http://schemas.microsoft.com/office/drawing/2014/main" id="{B3562B48-4572-5845-A94F-B310DAF43050}"/>
              </a:ext>
            </a:extLst>
          </p:cNvPr>
          <p:cNvSpPr>
            <a:spLocks noChangeArrowheads="1"/>
          </p:cNvSpPr>
          <p:nvPr/>
        </p:nvSpPr>
        <p:spPr bwMode="auto">
          <a:xfrm>
            <a:off x="5389563" y="1685926"/>
            <a:ext cx="114300" cy="80963"/>
          </a:xfrm>
          <a:prstGeom prst="ellipse">
            <a:avLst/>
          </a:prstGeom>
          <a:solidFill>
            <a:srgbClr val="A00000"/>
          </a:solidFill>
          <a:ln w="0">
            <a:solidFill>
              <a:srgbClr val="A00000"/>
            </a:solidFill>
            <a:round/>
            <a:headEnd/>
            <a:tailEnd/>
          </a:ln>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22548" name="Oval 20">
            <a:extLst>
              <a:ext uri="{FF2B5EF4-FFF2-40B4-BE49-F238E27FC236}">
                <a16:creationId xmlns:a16="http://schemas.microsoft.com/office/drawing/2014/main" id="{DF5C5523-6208-2045-9B3B-B025E747F79E}"/>
              </a:ext>
            </a:extLst>
          </p:cNvPr>
          <p:cNvSpPr>
            <a:spLocks noChangeArrowheads="1"/>
          </p:cNvSpPr>
          <p:nvPr/>
        </p:nvSpPr>
        <p:spPr bwMode="auto">
          <a:xfrm>
            <a:off x="6750051" y="1419225"/>
            <a:ext cx="112713" cy="82550"/>
          </a:xfrm>
          <a:prstGeom prst="ellipse">
            <a:avLst/>
          </a:prstGeom>
          <a:solidFill>
            <a:srgbClr val="A00000"/>
          </a:solidFill>
          <a:ln w="0">
            <a:solidFill>
              <a:srgbClr val="A00000"/>
            </a:solidFill>
            <a:round/>
            <a:headEnd/>
            <a:tailEnd/>
          </a:ln>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22549" name="Oval 21">
            <a:extLst>
              <a:ext uri="{FF2B5EF4-FFF2-40B4-BE49-F238E27FC236}">
                <a16:creationId xmlns:a16="http://schemas.microsoft.com/office/drawing/2014/main" id="{C2A281F8-0402-5640-ACBB-5B803C34D570}"/>
              </a:ext>
            </a:extLst>
          </p:cNvPr>
          <p:cNvSpPr>
            <a:spLocks noChangeArrowheads="1"/>
          </p:cNvSpPr>
          <p:nvPr/>
        </p:nvSpPr>
        <p:spPr bwMode="auto">
          <a:xfrm>
            <a:off x="8763001" y="1349375"/>
            <a:ext cx="112713" cy="69850"/>
          </a:xfrm>
          <a:prstGeom prst="ellipse">
            <a:avLst/>
          </a:prstGeom>
          <a:solidFill>
            <a:srgbClr val="A00000"/>
          </a:solidFill>
          <a:ln w="0">
            <a:solidFill>
              <a:srgbClr val="A00000"/>
            </a:solidFill>
            <a:round/>
            <a:headEnd/>
            <a:tailEnd/>
          </a:ln>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22550" name="Line 22">
            <a:extLst>
              <a:ext uri="{FF2B5EF4-FFF2-40B4-BE49-F238E27FC236}">
                <a16:creationId xmlns:a16="http://schemas.microsoft.com/office/drawing/2014/main" id="{6CAE092A-D6AC-2B48-B7D7-99515377C815}"/>
              </a:ext>
            </a:extLst>
          </p:cNvPr>
          <p:cNvSpPr>
            <a:spLocks noChangeShapeType="1"/>
          </p:cNvSpPr>
          <p:nvPr/>
        </p:nvSpPr>
        <p:spPr bwMode="auto">
          <a:xfrm>
            <a:off x="2763839" y="5572125"/>
            <a:ext cx="6740525" cy="158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22551" name="Line 23">
            <a:extLst>
              <a:ext uri="{FF2B5EF4-FFF2-40B4-BE49-F238E27FC236}">
                <a16:creationId xmlns:a16="http://schemas.microsoft.com/office/drawing/2014/main" id="{4AC83C6D-49DF-7640-A9CE-C1D51BA7AEAC}"/>
              </a:ext>
            </a:extLst>
          </p:cNvPr>
          <p:cNvSpPr>
            <a:spLocks noChangeShapeType="1"/>
          </p:cNvSpPr>
          <p:nvPr/>
        </p:nvSpPr>
        <p:spPr bwMode="auto">
          <a:xfrm>
            <a:off x="2763839" y="5572126"/>
            <a:ext cx="3175" cy="6032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22552" name="Rectangle 24">
            <a:extLst>
              <a:ext uri="{FF2B5EF4-FFF2-40B4-BE49-F238E27FC236}">
                <a16:creationId xmlns:a16="http://schemas.microsoft.com/office/drawing/2014/main" id="{4887B321-3EFB-5941-A425-B301C7C39B5A}"/>
              </a:ext>
            </a:extLst>
          </p:cNvPr>
          <p:cNvSpPr>
            <a:spLocks noChangeArrowheads="1"/>
          </p:cNvSpPr>
          <p:nvPr/>
        </p:nvSpPr>
        <p:spPr bwMode="auto">
          <a:xfrm>
            <a:off x="2681288" y="5656264"/>
            <a:ext cx="127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1800" b="0">
                <a:solidFill>
                  <a:srgbClr val="000000"/>
                </a:solidFill>
              </a:rPr>
              <a:t>0</a:t>
            </a:r>
            <a:endParaRPr lang="en-US" altLang="en-MX" sz="1800" b="0"/>
          </a:p>
        </p:txBody>
      </p:sp>
      <p:sp>
        <p:nvSpPr>
          <p:cNvPr id="22553" name="Line 25">
            <a:extLst>
              <a:ext uri="{FF2B5EF4-FFF2-40B4-BE49-F238E27FC236}">
                <a16:creationId xmlns:a16="http://schemas.microsoft.com/office/drawing/2014/main" id="{E1FE1DB0-44CC-C141-B18B-239596DC0357}"/>
              </a:ext>
            </a:extLst>
          </p:cNvPr>
          <p:cNvSpPr>
            <a:spLocks noChangeShapeType="1"/>
          </p:cNvSpPr>
          <p:nvPr/>
        </p:nvSpPr>
        <p:spPr bwMode="auto">
          <a:xfrm>
            <a:off x="4110039" y="5572126"/>
            <a:ext cx="3175" cy="6032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22554" name="Rectangle 26">
            <a:extLst>
              <a:ext uri="{FF2B5EF4-FFF2-40B4-BE49-F238E27FC236}">
                <a16:creationId xmlns:a16="http://schemas.microsoft.com/office/drawing/2014/main" id="{0EA17425-5925-E244-A6EA-1E7354E7BD40}"/>
              </a:ext>
            </a:extLst>
          </p:cNvPr>
          <p:cNvSpPr>
            <a:spLocks noChangeArrowheads="1"/>
          </p:cNvSpPr>
          <p:nvPr/>
        </p:nvSpPr>
        <p:spPr bwMode="auto">
          <a:xfrm>
            <a:off x="3887788" y="5656264"/>
            <a:ext cx="508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1800" b="0">
                <a:solidFill>
                  <a:srgbClr val="000000"/>
                </a:solidFill>
              </a:rPr>
              <a:t>1000</a:t>
            </a:r>
            <a:endParaRPr lang="en-US" altLang="en-MX" sz="1800" b="0"/>
          </a:p>
        </p:txBody>
      </p:sp>
      <p:sp>
        <p:nvSpPr>
          <p:cNvPr id="22555" name="Line 27">
            <a:extLst>
              <a:ext uri="{FF2B5EF4-FFF2-40B4-BE49-F238E27FC236}">
                <a16:creationId xmlns:a16="http://schemas.microsoft.com/office/drawing/2014/main" id="{840A795C-0146-014C-A4E9-6705DB7881AE}"/>
              </a:ext>
            </a:extLst>
          </p:cNvPr>
          <p:cNvSpPr>
            <a:spLocks noChangeShapeType="1"/>
          </p:cNvSpPr>
          <p:nvPr/>
        </p:nvSpPr>
        <p:spPr bwMode="auto">
          <a:xfrm>
            <a:off x="5459414" y="5572126"/>
            <a:ext cx="1587" cy="6032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22556" name="Rectangle 28">
            <a:extLst>
              <a:ext uri="{FF2B5EF4-FFF2-40B4-BE49-F238E27FC236}">
                <a16:creationId xmlns:a16="http://schemas.microsoft.com/office/drawing/2014/main" id="{C7AC009E-B88C-8543-A87D-FD4A49AE454A}"/>
              </a:ext>
            </a:extLst>
          </p:cNvPr>
          <p:cNvSpPr>
            <a:spLocks noChangeArrowheads="1"/>
          </p:cNvSpPr>
          <p:nvPr/>
        </p:nvSpPr>
        <p:spPr bwMode="auto">
          <a:xfrm>
            <a:off x="5237163" y="5656264"/>
            <a:ext cx="508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1800" b="0">
                <a:solidFill>
                  <a:srgbClr val="000000"/>
                </a:solidFill>
              </a:rPr>
              <a:t>2000</a:t>
            </a:r>
            <a:endParaRPr lang="en-US" altLang="en-MX" sz="1800" b="0"/>
          </a:p>
        </p:txBody>
      </p:sp>
      <p:sp>
        <p:nvSpPr>
          <p:cNvPr id="22557" name="Line 29">
            <a:extLst>
              <a:ext uri="{FF2B5EF4-FFF2-40B4-BE49-F238E27FC236}">
                <a16:creationId xmlns:a16="http://schemas.microsoft.com/office/drawing/2014/main" id="{39DD9430-0B3D-6C45-9E5B-D1E728F62859}"/>
              </a:ext>
            </a:extLst>
          </p:cNvPr>
          <p:cNvSpPr>
            <a:spLocks noChangeShapeType="1"/>
          </p:cNvSpPr>
          <p:nvPr/>
        </p:nvSpPr>
        <p:spPr bwMode="auto">
          <a:xfrm>
            <a:off x="6805614" y="5572126"/>
            <a:ext cx="1587" cy="6032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22558" name="Rectangle 30">
            <a:extLst>
              <a:ext uri="{FF2B5EF4-FFF2-40B4-BE49-F238E27FC236}">
                <a16:creationId xmlns:a16="http://schemas.microsoft.com/office/drawing/2014/main" id="{832F316F-9E49-774F-9FE9-51FA11599571}"/>
              </a:ext>
            </a:extLst>
          </p:cNvPr>
          <p:cNvSpPr>
            <a:spLocks noChangeArrowheads="1"/>
          </p:cNvSpPr>
          <p:nvPr/>
        </p:nvSpPr>
        <p:spPr bwMode="auto">
          <a:xfrm>
            <a:off x="6583363" y="5656264"/>
            <a:ext cx="508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1800" b="0">
                <a:solidFill>
                  <a:srgbClr val="000000"/>
                </a:solidFill>
              </a:rPr>
              <a:t>3000</a:t>
            </a:r>
            <a:endParaRPr lang="en-US" altLang="en-MX" sz="1800" b="0"/>
          </a:p>
        </p:txBody>
      </p:sp>
      <p:sp>
        <p:nvSpPr>
          <p:cNvPr id="22559" name="Line 31">
            <a:extLst>
              <a:ext uri="{FF2B5EF4-FFF2-40B4-BE49-F238E27FC236}">
                <a16:creationId xmlns:a16="http://schemas.microsoft.com/office/drawing/2014/main" id="{BBAC578A-9375-474A-9BC1-3521AA0F2E01}"/>
              </a:ext>
            </a:extLst>
          </p:cNvPr>
          <p:cNvSpPr>
            <a:spLocks noChangeShapeType="1"/>
          </p:cNvSpPr>
          <p:nvPr/>
        </p:nvSpPr>
        <p:spPr bwMode="auto">
          <a:xfrm>
            <a:off x="8154989" y="5572126"/>
            <a:ext cx="3175" cy="6032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22560" name="Rectangle 32">
            <a:extLst>
              <a:ext uri="{FF2B5EF4-FFF2-40B4-BE49-F238E27FC236}">
                <a16:creationId xmlns:a16="http://schemas.microsoft.com/office/drawing/2014/main" id="{7B101968-52BD-864C-B78D-B4204519F91B}"/>
              </a:ext>
            </a:extLst>
          </p:cNvPr>
          <p:cNvSpPr>
            <a:spLocks noChangeArrowheads="1"/>
          </p:cNvSpPr>
          <p:nvPr/>
        </p:nvSpPr>
        <p:spPr bwMode="auto">
          <a:xfrm>
            <a:off x="7932738" y="5656264"/>
            <a:ext cx="508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1800" b="0">
                <a:solidFill>
                  <a:srgbClr val="000000"/>
                </a:solidFill>
              </a:rPr>
              <a:t>4000</a:t>
            </a:r>
            <a:endParaRPr lang="en-US" altLang="en-MX" sz="1800" b="0"/>
          </a:p>
        </p:txBody>
      </p:sp>
      <p:sp>
        <p:nvSpPr>
          <p:cNvPr id="22561" name="Line 33">
            <a:extLst>
              <a:ext uri="{FF2B5EF4-FFF2-40B4-BE49-F238E27FC236}">
                <a16:creationId xmlns:a16="http://schemas.microsoft.com/office/drawing/2014/main" id="{42C20F7E-1F76-A046-89F9-E6FC3C7111D6}"/>
              </a:ext>
            </a:extLst>
          </p:cNvPr>
          <p:cNvSpPr>
            <a:spLocks noChangeShapeType="1"/>
          </p:cNvSpPr>
          <p:nvPr/>
        </p:nvSpPr>
        <p:spPr bwMode="auto">
          <a:xfrm>
            <a:off x="9504364" y="5572126"/>
            <a:ext cx="1587" cy="6032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22562" name="Rectangle 34">
            <a:extLst>
              <a:ext uri="{FF2B5EF4-FFF2-40B4-BE49-F238E27FC236}">
                <a16:creationId xmlns:a16="http://schemas.microsoft.com/office/drawing/2014/main" id="{CD6040A5-F374-E046-9A6B-2D60FE7931BD}"/>
              </a:ext>
            </a:extLst>
          </p:cNvPr>
          <p:cNvSpPr>
            <a:spLocks noChangeArrowheads="1"/>
          </p:cNvSpPr>
          <p:nvPr/>
        </p:nvSpPr>
        <p:spPr bwMode="auto">
          <a:xfrm>
            <a:off x="9282113" y="5656264"/>
            <a:ext cx="508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1800" b="0">
                <a:solidFill>
                  <a:srgbClr val="000000"/>
                </a:solidFill>
              </a:rPr>
              <a:t>5000</a:t>
            </a:r>
            <a:endParaRPr lang="en-US" altLang="en-MX" sz="1800" b="0"/>
          </a:p>
        </p:txBody>
      </p:sp>
      <p:sp>
        <p:nvSpPr>
          <p:cNvPr id="22563" name="Line 35">
            <a:extLst>
              <a:ext uri="{FF2B5EF4-FFF2-40B4-BE49-F238E27FC236}">
                <a16:creationId xmlns:a16="http://schemas.microsoft.com/office/drawing/2014/main" id="{55416209-6F46-144E-A581-2C607D1F9EDF}"/>
              </a:ext>
            </a:extLst>
          </p:cNvPr>
          <p:cNvSpPr>
            <a:spLocks noChangeShapeType="1"/>
          </p:cNvSpPr>
          <p:nvPr/>
        </p:nvSpPr>
        <p:spPr bwMode="auto">
          <a:xfrm flipV="1">
            <a:off x="2763839" y="1168401"/>
            <a:ext cx="3175" cy="440372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22564" name="Line 36">
            <a:extLst>
              <a:ext uri="{FF2B5EF4-FFF2-40B4-BE49-F238E27FC236}">
                <a16:creationId xmlns:a16="http://schemas.microsoft.com/office/drawing/2014/main" id="{DA03C054-A9BC-0840-AFC4-E62FB8FF4A47}"/>
              </a:ext>
            </a:extLst>
          </p:cNvPr>
          <p:cNvSpPr>
            <a:spLocks noChangeShapeType="1"/>
          </p:cNvSpPr>
          <p:nvPr/>
        </p:nvSpPr>
        <p:spPr bwMode="auto">
          <a:xfrm flipH="1">
            <a:off x="2679700" y="5572125"/>
            <a:ext cx="84138" cy="158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22565" name="Rectangle 37">
            <a:extLst>
              <a:ext uri="{FF2B5EF4-FFF2-40B4-BE49-F238E27FC236}">
                <a16:creationId xmlns:a16="http://schemas.microsoft.com/office/drawing/2014/main" id="{E54D5D62-F68A-F241-B435-5C35F3533283}"/>
              </a:ext>
            </a:extLst>
          </p:cNvPr>
          <p:cNvSpPr>
            <a:spLocks noChangeArrowheads="1"/>
          </p:cNvSpPr>
          <p:nvPr/>
        </p:nvSpPr>
        <p:spPr bwMode="auto">
          <a:xfrm>
            <a:off x="2481263" y="5483225"/>
            <a:ext cx="127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1800" b="0">
                <a:solidFill>
                  <a:srgbClr val="000000"/>
                </a:solidFill>
              </a:rPr>
              <a:t>0</a:t>
            </a:r>
            <a:endParaRPr lang="en-US" altLang="en-MX" sz="1800" b="0"/>
          </a:p>
        </p:txBody>
      </p:sp>
      <p:sp>
        <p:nvSpPr>
          <p:cNvPr id="22566" name="Rectangle 38">
            <a:extLst>
              <a:ext uri="{FF2B5EF4-FFF2-40B4-BE49-F238E27FC236}">
                <a16:creationId xmlns:a16="http://schemas.microsoft.com/office/drawing/2014/main" id="{AAF78889-098E-AD40-8BE5-8878D0AD3C72}"/>
              </a:ext>
            </a:extLst>
          </p:cNvPr>
          <p:cNvSpPr>
            <a:spLocks noChangeArrowheads="1"/>
          </p:cNvSpPr>
          <p:nvPr/>
        </p:nvSpPr>
        <p:spPr bwMode="auto">
          <a:xfrm>
            <a:off x="2481263" y="3481389"/>
            <a:ext cx="127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1800" b="0">
                <a:solidFill>
                  <a:srgbClr val="000000"/>
                </a:solidFill>
              </a:rPr>
              <a:t>5</a:t>
            </a:r>
            <a:endParaRPr lang="en-US" altLang="en-MX" sz="1800" b="0"/>
          </a:p>
        </p:txBody>
      </p:sp>
      <p:sp>
        <p:nvSpPr>
          <p:cNvPr id="22567" name="Rectangle 39">
            <a:extLst>
              <a:ext uri="{FF2B5EF4-FFF2-40B4-BE49-F238E27FC236}">
                <a16:creationId xmlns:a16="http://schemas.microsoft.com/office/drawing/2014/main" id="{948A0CE9-320E-654D-835A-29984EEC71F6}"/>
              </a:ext>
            </a:extLst>
          </p:cNvPr>
          <p:cNvSpPr>
            <a:spLocks noChangeArrowheads="1"/>
          </p:cNvSpPr>
          <p:nvPr/>
        </p:nvSpPr>
        <p:spPr bwMode="auto">
          <a:xfrm>
            <a:off x="2389188" y="1481139"/>
            <a:ext cx="254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1800" b="0">
                <a:solidFill>
                  <a:srgbClr val="000000"/>
                </a:solidFill>
              </a:rPr>
              <a:t>10</a:t>
            </a:r>
            <a:endParaRPr lang="en-US" altLang="en-MX" sz="1800" b="0"/>
          </a:p>
        </p:txBody>
      </p:sp>
      <p:sp>
        <p:nvSpPr>
          <p:cNvPr id="22568" name="Line 40">
            <a:extLst>
              <a:ext uri="{FF2B5EF4-FFF2-40B4-BE49-F238E27FC236}">
                <a16:creationId xmlns:a16="http://schemas.microsoft.com/office/drawing/2014/main" id="{352D7763-C323-2A4A-BC96-390FBFE54009}"/>
              </a:ext>
            </a:extLst>
          </p:cNvPr>
          <p:cNvSpPr>
            <a:spLocks noChangeShapeType="1"/>
          </p:cNvSpPr>
          <p:nvPr/>
        </p:nvSpPr>
        <p:spPr bwMode="auto">
          <a:xfrm>
            <a:off x="7700963" y="2528889"/>
            <a:ext cx="450850" cy="1587"/>
          </a:xfrm>
          <a:prstGeom prst="line">
            <a:avLst/>
          </a:prstGeom>
          <a:noFill/>
          <a:ln w="15875">
            <a:solidFill>
              <a:srgbClr val="A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22569" name="Oval 41">
            <a:extLst>
              <a:ext uri="{FF2B5EF4-FFF2-40B4-BE49-F238E27FC236}">
                <a16:creationId xmlns:a16="http://schemas.microsoft.com/office/drawing/2014/main" id="{322EADF0-4F7F-D147-A47D-EFB69ECD28B9}"/>
              </a:ext>
            </a:extLst>
          </p:cNvPr>
          <p:cNvSpPr>
            <a:spLocks noChangeArrowheads="1"/>
          </p:cNvSpPr>
          <p:nvPr/>
        </p:nvSpPr>
        <p:spPr bwMode="auto">
          <a:xfrm>
            <a:off x="7867651" y="2486025"/>
            <a:ext cx="112713" cy="82550"/>
          </a:xfrm>
          <a:prstGeom prst="ellipse">
            <a:avLst/>
          </a:prstGeom>
          <a:solidFill>
            <a:srgbClr val="A00000"/>
          </a:solidFill>
          <a:ln w="0">
            <a:solidFill>
              <a:srgbClr val="A00000"/>
            </a:solidFill>
            <a:round/>
            <a:headEnd/>
            <a:tailEnd/>
          </a:ln>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22570" name="Rectangle 42">
            <a:extLst>
              <a:ext uri="{FF2B5EF4-FFF2-40B4-BE49-F238E27FC236}">
                <a16:creationId xmlns:a16="http://schemas.microsoft.com/office/drawing/2014/main" id="{C44725D8-500B-BC4F-B250-AE81504DFDE1}"/>
              </a:ext>
            </a:extLst>
          </p:cNvPr>
          <p:cNvSpPr>
            <a:spLocks noChangeArrowheads="1"/>
          </p:cNvSpPr>
          <p:nvPr/>
        </p:nvSpPr>
        <p:spPr bwMode="auto">
          <a:xfrm>
            <a:off x="8153400" y="2667000"/>
            <a:ext cx="1212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b="0">
                <a:solidFill>
                  <a:srgbClr val="000000"/>
                </a:solidFill>
              </a:rPr>
              <a:t>Program B</a:t>
            </a:r>
            <a:endParaRPr lang="en-US" altLang="en-MX" b="0"/>
          </a:p>
        </p:txBody>
      </p:sp>
      <p:sp>
        <p:nvSpPr>
          <p:cNvPr id="22571" name="Line 43">
            <a:extLst>
              <a:ext uri="{FF2B5EF4-FFF2-40B4-BE49-F238E27FC236}">
                <a16:creationId xmlns:a16="http://schemas.microsoft.com/office/drawing/2014/main" id="{D44F9C83-023C-1F43-A395-6B52E5A75979}"/>
              </a:ext>
            </a:extLst>
          </p:cNvPr>
          <p:cNvSpPr>
            <a:spLocks noChangeShapeType="1"/>
          </p:cNvSpPr>
          <p:nvPr/>
        </p:nvSpPr>
        <p:spPr bwMode="auto">
          <a:xfrm>
            <a:off x="7700963" y="2784475"/>
            <a:ext cx="450850" cy="1588"/>
          </a:xfrm>
          <a:prstGeom prst="line">
            <a:avLst/>
          </a:prstGeom>
          <a:noFill/>
          <a:ln w="15875">
            <a:solidFill>
              <a:srgbClr val="0000C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22572" name="Freeform 44">
            <a:extLst>
              <a:ext uri="{FF2B5EF4-FFF2-40B4-BE49-F238E27FC236}">
                <a16:creationId xmlns:a16="http://schemas.microsoft.com/office/drawing/2014/main" id="{475A5F9A-1F81-3C4C-92B7-36348E2E146C}"/>
              </a:ext>
            </a:extLst>
          </p:cNvPr>
          <p:cNvSpPr>
            <a:spLocks/>
          </p:cNvSpPr>
          <p:nvPr/>
        </p:nvSpPr>
        <p:spPr bwMode="auto">
          <a:xfrm>
            <a:off x="7862889" y="2740025"/>
            <a:ext cx="123825" cy="90488"/>
          </a:xfrm>
          <a:custGeom>
            <a:avLst/>
            <a:gdLst>
              <a:gd name="T0" fmla="*/ 98286874 w 78"/>
              <a:gd name="T1" fmla="*/ 0 h 57"/>
              <a:gd name="T2" fmla="*/ 196572160 w 78"/>
              <a:gd name="T3" fmla="*/ 143650505 h 57"/>
              <a:gd name="T4" fmla="*/ 0 w 78"/>
              <a:gd name="T5" fmla="*/ 143650505 h 57"/>
              <a:gd name="T6" fmla="*/ 98286874 w 78"/>
              <a:gd name="T7" fmla="*/ 0 h 57"/>
              <a:gd name="T8" fmla="*/ 0 60000 65536"/>
              <a:gd name="T9" fmla="*/ 0 60000 65536"/>
              <a:gd name="T10" fmla="*/ 0 60000 65536"/>
              <a:gd name="T11" fmla="*/ 0 60000 65536"/>
              <a:gd name="T12" fmla="*/ 0 w 78"/>
              <a:gd name="T13" fmla="*/ 0 h 57"/>
              <a:gd name="T14" fmla="*/ 78 w 78"/>
              <a:gd name="T15" fmla="*/ 57 h 57"/>
            </a:gdLst>
            <a:ahLst/>
            <a:cxnLst>
              <a:cxn ang="T8">
                <a:pos x="T0" y="T1"/>
              </a:cxn>
              <a:cxn ang="T9">
                <a:pos x="T2" y="T3"/>
              </a:cxn>
              <a:cxn ang="T10">
                <a:pos x="T4" y="T5"/>
              </a:cxn>
              <a:cxn ang="T11">
                <a:pos x="T6" y="T7"/>
              </a:cxn>
            </a:cxnLst>
            <a:rect l="T12" t="T13" r="T14" b="T15"/>
            <a:pathLst>
              <a:path w="78" h="57">
                <a:moveTo>
                  <a:pt x="39" y="0"/>
                </a:moveTo>
                <a:lnTo>
                  <a:pt x="78" y="57"/>
                </a:lnTo>
                <a:lnTo>
                  <a:pt x="0" y="57"/>
                </a:lnTo>
                <a:lnTo>
                  <a:pt x="39" y="0"/>
                </a:lnTo>
                <a:close/>
              </a:path>
            </a:pathLst>
          </a:custGeom>
          <a:solidFill>
            <a:srgbClr val="000080"/>
          </a:solidFill>
          <a:ln w="0">
            <a:solidFill>
              <a:srgbClr val="000080"/>
            </a:solidFill>
            <a:prstDash val="solid"/>
            <a:round/>
            <a:headEnd/>
            <a:tailEnd/>
          </a:ln>
        </p:spPr>
        <p:txBody>
          <a:bodyPr/>
          <a:lstStyle/>
          <a:p>
            <a:endParaRPr lang="en-MX"/>
          </a:p>
        </p:txBody>
      </p:sp>
      <p:sp>
        <p:nvSpPr>
          <p:cNvPr id="22573" name="Rectangle 45">
            <a:extLst>
              <a:ext uri="{FF2B5EF4-FFF2-40B4-BE49-F238E27FC236}">
                <a16:creationId xmlns:a16="http://schemas.microsoft.com/office/drawing/2014/main" id="{282EFDC3-5253-E741-87B0-C8733F9C9C5E}"/>
              </a:ext>
            </a:extLst>
          </p:cNvPr>
          <p:cNvSpPr>
            <a:spLocks noChangeArrowheads="1"/>
          </p:cNvSpPr>
          <p:nvPr/>
        </p:nvSpPr>
        <p:spPr bwMode="auto">
          <a:xfrm>
            <a:off x="5867400" y="6096000"/>
            <a:ext cx="10948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2400" b="0">
                <a:solidFill>
                  <a:srgbClr val="000000"/>
                </a:solidFill>
              </a:rPr>
              <a:t>Cost ($)</a:t>
            </a:r>
            <a:endParaRPr lang="en-US" altLang="en-MX" sz="2400" b="0"/>
          </a:p>
        </p:txBody>
      </p:sp>
      <p:sp>
        <p:nvSpPr>
          <p:cNvPr id="22574" name="Rectangle 46">
            <a:extLst>
              <a:ext uri="{FF2B5EF4-FFF2-40B4-BE49-F238E27FC236}">
                <a16:creationId xmlns:a16="http://schemas.microsoft.com/office/drawing/2014/main" id="{2D314EB3-FA76-FF46-96F4-B376E8C4D451}"/>
              </a:ext>
            </a:extLst>
          </p:cNvPr>
          <p:cNvSpPr>
            <a:spLocks noChangeArrowheads="1"/>
          </p:cNvSpPr>
          <p:nvPr/>
        </p:nvSpPr>
        <p:spPr bwMode="auto">
          <a:xfrm>
            <a:off x="8153400" y="2362200"/>
            <a:ext cx="1212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b="0">
                <a:solidFill>
                  <a:srgbClr val="000000"/>
                </a:solidFill>
              </a:rPr>
              <a:t>Program A</a:t>
            </a:r>
            <a:endParaRPr lang="en-US" altLang="en-MX" b="0"/>
          </a:p>
        </p:txBody>
      </p:sp>
      <p:sp>
        <p:nvSpPr>
          <p:cNvPr id="22575" name="Rectangle 47">
            <a:extLst>
              <a:ext uri="{FF2B5EF4-FFF2-40B4-BE49-F238E27FC236}">
                <a16:creationId xmlns:a16="http://schemas.microsoft.com/office/drawing/2014/main" id="{002B2147-5274-6A41-9681-7AB2E76AE9BF}"/>
              </a:ext>
            </a:extLst>
          </p:cNvPr>
          <p:cNvSpPr>
            <a:spLocks noChangeArrowheads="1"/>
          </p:cNvSpPr>
          <p:nvPr/>
        </p:nvSpPr>
        <p:spPr bwMode="auto">
          <a:xfrm rot="16126481">
            <a:off x="873288" y="3354666"/>
            <a:ext cx="24285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a:r>
              <a:rPr lang="en-US" altLang="en-MX" sz="2400" b="0">
                <a:solidFill>
                  <a:srgbClr val="000000"/>
                </a:solidFill>
              </a:rPr>
              <a:t>Benefits (QALMs)</a:t>
            </a:r>
            <a:endParaRPr lang="en-US" altLang="en-MX" sz="2400" b="0"/>
          </a:p>
        </p:txBody>
      </p:sp>
      <p:sp>
        <p:nvSpPr>
          <p:cNvPr id="22576" name="Oval 48">
            <a:extLst>
              <a:ext uri="{FF2B5EF4-FFF2-40B4-BE49-F238E27FC236}">
                <a16:creationId xmlns:a16="http://schemas.microsoft.com/office/drawing/2014/main" id="{D6D9AC17-91A0-4040-961D-C118F360446D}"/>
              </a:ext>
            </a:extLst>
          </p:cNvPr>
          <p:cNvSpPr>
            <a:spLocks noChangeArrowheads="1"/>
          </p:cNvSpPr>
          <p:nvPr/>
        </p:nvSpPr>
        <p:spPr bwMode="auto">
          <a:xfrm>
            <a:off x="3886201" y="2971800"/>
            <a:ext cx="112713" cy="71438"/>
          </a:xfrm>
          <a:prstGeom prst="ellipse">
            <a:avLst/>
          </a:prstGeom>
          <a:solidFill>
            <a:srgbClr val="A00000"/>
          </a:solidFill>
          <a:ln w="0">
            <a:solidFill>
              <a:srgbClr val="A00000"/>
            </a:solidFill>
            <a:round/>
            <a:headEnd/>
            <a:tailEnd/>
          </a:ln>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22577" name="Oval 49">
            <a:extLst>
              <a:ext uri="{FF2B5EF4-FFF2-40B4-BE49-F238E27FC236}">
                <a16:creationId xmlns:a16="http://schemas.microsoft.com/office/drawing/2014/main" id="{6EB09A64-0DDD-B64D-8DD6-0C20828E8FE6}"/>
              </a:ext>
            </a:extLst>
          </p:cNvPr>
          <p:cNvSpPr>
            <a:spLocks noChangeArrowheads="1"/>
          </p:cNvSpPr>
          <p:nvPr/>
        </p:nvSpPr>
        <p:spPr bwMode="auto">
          <a:xfrm>
            <a:off x="4800601" y="2057400"/>
            <a:ext cx="112713" cy="71438"/>
          </a:xfrm>
          <a:prstGeom prst="ellipse">
            <a:avLst/>
          </a:prstGeom>
          <a:solidFill>
            <a:srgbClr val="A00000"/>
          </a:solidFill>
          <a:ln w="0">
            <a:solidFill>
              <a:srgbClr val="A00000"/>
            </a:solidFill>
            <a:round/>
            <a:headEnd/>
            <a:tailEnd/>
          </a:ln>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22578" name="Text Box 50">
            <a:extLst>
              <a:ext uri="{FF2B5EF4-FFF2-40B4-BE49-F238E27FC236}">
                <a16:creationId xmlns:a16="http://schemas.microsoft.com/office/drawing/2014/main" id="{E13C1DE6-854E-004B-B872-342DFC410D2E}"/>
              </a:ext>
            </a:extLst>
          </p:cNvPr>
          <p:cNvSpPr txBox="1">
            <a:spLocks noChangeArrowheads="1"/>
          </p:cNvSpPr>
          <p:nvPr/>
        </p:nvSpPr>
        <p:spPr bwMode="auto">
          <a:xfrm>
            <a:off x="4481513" y="3973514"/>
            <a:ext cx="495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b="0"/>
              <a:t>B2</a:t>
            </a:r>
          </a:p>
        </p:txBody>
      </p:sp>
      <p:sp>
        <p:nvSpPr>
          <p:cNvPr id="22579" name="Text Box 51">
            <a:extLst>
              <a:ext uri="{FF2B5EF4-FFF2-40B4-BE49-F238E27FC236}">
                <a16:creationId xmlns:a16="http://schemas.microsoft.com/office/drawing/2014/main" id="{C3A27E46-CC53-D140-965C-F453D5B3E335}"/>
              </a:ext>
            </a:extLst>
          </p:cNvPr>
          <p:cNvSpPr txBox="1">
            <a:spLocks noChangeArrowheads="1"/>
          </p:cNvSpPr>
          <p:nvPr/>
        </p:nvSpPr>
        <p:spPr bwMode="auto">
          <a:xfrm>
            <a:off x="5715000" y="3779839"/>
            <a:ext cx="495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b="0"/>
              <a:t>B4</a:t>
            </a:r>
          </a:p>
        </p:txBody>
      </p:sp>
      <p:sp>
        <p:nvSpPr>
          <p:cNvPr id="22580" name="Text Box 52">
            <a:extLst>
              <a:ext uri="{FF2B5EF4-FFF2-40B4-BE49-F238E27FC236}">
                <a16:creationId xmlns:a16="http://schemas.microsoft.com/office/drawing/2014/main" id="{ED62A50C-26BD-5E46-9DEB-8D0C360F7050}"/>
              </a:ext>
            </a:extLst>
          </p:cNvPr>
          <p:cNvSpPr txBox="1">
            <a:spLocks noChangeArrowheads="1"/>
          </p:cNvSpPr>
          <p:nvPr/>
        </p:nvSpPr>
        <p:spPr bwMode="auto">
          <a:xfrm>
            <a:off x="7467600" y="3627439"/>
            <a:ext cx="495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b="0"/>
              <a:t>B5</a:t>
            </a:r>
          </a:p>
        </p:txBody>
      </p:sp>
      <p:sp>
        <p:nvSpPr>
          <p:cNvPr id="22581" name="Text Box 53">
            <a:extLst>
              <a:ext uri="{FF2B5EF4-FFF2-40B4-BE49-F238E27FC236}">
                <a16:creationId xmlns:a16="http://schemas.microsoft.com/office/drawing/2014/main" id="{005461B9-6DA0-FA4F-8A3B-FA6846EBBE11}"/>
              </a:ext>
            </a:extLst>
          </p:cNvPr>
          <p:cNvSpPr txBox="1">
            <a:spLocks noChangeArrowheads="1"/>
          </p:cNvSpPr>
          <p:nvPr/>
        </p:nvSpPr>
        <p:spPr bwMode="auto">
          <a:xfrm>
            <a:off x="2895600" y="2408239"/>
            <a:ext cx="495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b="0"/>
              <a:t>A2</a:t>
            </a:r>
          </a:p>
        </p:txBody>
      </p:sp>
      <p:sp>
        <p:nvSpPr>
          <p:cNvPr id="22582" name="Text Box 54">
            <a:extLst>
              <a:ext uri="{FF2B5EF4-FFF2-40B4-BE49-F238E27FC236}">
                <a16:creationId xmlns:a16="http://schemas.microsoft.com/office/drawing/2014/main" id="{454B24E1-2EBD-B04E-8169-931B15E771C3}"/>
              </a:ext>
            </a:extLst>
          </p:cNvPr>
          <p:cNvSpPr txBox="1">
            <a:spLocks noChangeArrowheads="1"/>
          </p:cNvSpPr>
          <p:nvPr/>
        </p:nvSpPr>
        <p:spPr bwMode="auto">
          <a:xfrm>
            <a:off x="4038600" y="2816226"/>
            <a:ext cx="495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b="0"/>
              <a:t>A4</a:t>
            </a:r>
          </a:p>
        </p:txBody>
      </p:sp>
      <p:sp>
        <p:nvSpPr>
          <p:cNvPr id="22583" name="Text Box 55">
            <a:extLst>
              <a:ext uri="{FF2B5EF4-FFF2-40B4-BE49-F238E27FC236}">
                <a16:creationId xmlns:a16="http://schemas.microsoft.com/office/drawing/2014/main" id="{B402AD86-BE87-214B-B35C-20DE45AFBA95}"/>
              </a:ext>
            </a:extLst>
          </p:cNvPr>
          <p:cNvSpPr txBox="1">
            <a:spLocks noChangeArrowheads="1"/>
          </p:cNvSpPr>
          <p:nvPr/>
        </p:nvSpPr>
        <p:spPr bwMode="auto">
          <a:xfrm>
            <a:off x="3581400" y="1673226"/>
            <a:ext cx="495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b="0"/>
              <a:t>A3</a:t>
            </a:r>
          </a:p>
        </p:txBody>
      </p:sp>
      <p:sp>
        <p:nvSpPr>
          <p:cNvPr id="22584" name="Text Box 56">
            <a:extLst>
              <a:ext uri="{FF2B5EF4-FFF2-40B4-BE49-F238E27FC236}">
                <a16:creationId xmlns:a16="http://schemas.microsoft.com/office/drawing/2014/main" id="{14437939-0720-BE45-8F7F-AA79A0674A30}"/>
              </a:ext>
            </a:extLst>
          </p:cNvPr>
          <p:cNvSpPr txBox="1">
            <a:spLocks noChangeArrowheads="1"/>
          </p:cNvSpPr>
          <p:nvPr/>
        </p:nvSpPr>
        <p:spPr bwMode="auto">
          <a:xfrm>
            <a:off x="4953000" y="2054226"/>
            <a:ext cx="495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b="0"/>
              <a:t>A5</a:t>
            </a:r>
          </a:p>
        </p:txBody>
      </p:sp>
      <p:sp>
        <p:nvSpPr>
          <p:cNvPr id="22585" name="Text Box 57">
            <a:extLst>
              <a:ext uri="{FF2B5EF4-FFF2-40B4-BE49-F238E27FC236}">
                <a16:creationId xmlns:a16="http://schemas.microsoft.com/office/drawing/2014/main" id="{3EE3E62D-FC00-B54F-9542-C077A81BC203}"/>
              </a:ext>
            </a:extLst>
          </p:cNvPr>
          <p:cNvSpPr txBox="1">
            <a:spLocks noChangeArrowheads="1"/>
          </p:cNvSpPr>
          <p:nvPr/>
        </p:nvSpPr>
        <p:spPr bwMode="auto">
          <a:xfrm>
            <a:off x="5105400" y="1216026"/>
            <a:ext cx="495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b="0"/>
              <a:t>A6</a:t>
            </a:r>
          </a:p>
        </p:txBody>
      </p:sp>
      <p:sp>
        <p:nvSpPr>
          <p:cNvPr id="22586" name="Text Box 58">
            <a:extLst>
              <a:ext uri="{FF2B5EF4-FFF2-40B4-BE49-F238E27FC236}">
                <a16:creationId xmlns:a16="http://schemas.microsoft.com/office/drawing/2014/main" id="{34F4235A-E244-4149-9879-957BFD4B6B46}"/>
              </a:ext>
            </a:extLst>
          </p:cNvPr>
          <p:cNvSpPr txBox="1">
            <a:spLocks noChangeArrowheads="1"/>
          </p:cNvSpPr>
          <p:nvPr/>
        </p:nvSpPr>
        <p:spPr bwMode="auto">
          <a:xfrm>
            <a:off x="6400800" y="987426"/>
            <a:ext cx="495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b="0"/>
              <a:t>A7</a:t>
            </a:r>
          </a:p>
        </p:txBody>
      </p:sp>
      <p:sp>
        <p:nvSpPr>
          <p:cNvPr id="22587" name="Text Box 59">
            <a:extLst>
              <a:ext uri="{FF2B5EF4-FFF2-40B4-BE49-F238E27FC236}">
                <a16:creationId xmlns:a16="http://schemas.microsoft.com/office/drawing/2014/main" id="{8035222C-9723-5549-89CE-BE0FE913850F}"/>
              </a:ext>
            </a:extLst>
          </p:cNvPr>
          <p:cNvSpPr txBox="1">
            <a:spLocks noChangeArrowheads="1"/>
          </p:cNvSpPr>
          <p:nvPr/>
        </p:nvSpPr>
        <p:spPr bwMode="auto">
          <a:xfrm>
            <a:off x="8610600" y="835026"/>
            <a:ext cx="495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b="0"/>
              <a:t>A8</a:t>
            </a:r>
          </a:p>
        </p:txBody>
      </p:sp>
    </p:spTree>
    <p:extLst>
      <p:ext uri="{BB962C8B-B14F-4D97-AF65-F5344CB8AC3E}">
        <p14:creationId xmlns:p14="http://schemas.microsoft.com/office/powerpoint/2010/main" val="247059433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5266" name="Rectangle 2">
            <a:extLst>
              <a:ext uri="{FF2B5EF4-FFF2-40B4-BE49-F238E27FC236}">
                <a16:creationId xmlns:a16="http://schemas.microsoft.com/office/drawing/2014/main" id="{ED9693C3-8EDF-2A43-926B-95EE038AFE5C}"/>
              </a:ext>
            </a:extLst>
          </p:cNvPr>
          <p:cNvSpPr>
            <a:spLocks noGrp="1" noChangeArrowheads="1"/>
          </p:cNvSpPr>
          <p:nvPr>
            <p:ph type="title"/>
          </p:nvPr>
        </p:nvSpPr>
        <p:spPr>
          <a:xfrm>
            <a:off x="914400" y="304800"/>
            <a:ext cx="10394830" cy="1143000"/>
          </a:xfrm>
        </p:spPr>
        <p:txBody>
          <a:bodyPr>
            <a:normAutofit/>
          </a:bodyPr>
          <a:lstStyle/>
          <a:p>
            <a:pPr>
              <a:defRPr/>
            </a:pPr>
            <a:r>
              <a:rPr lang="en-US" dirty="0"/>
              <a:t>Concept: Marginal Return</a:t>
            </a:r>
          </a:p>
        </p:txBody>
      </p:sp>
      <p:sp>
        <p:nvSpPr>
          <p:cNvPr id="23555" name="Rectangle 3">
            <a:extLst>
              <a:ext uri="{FF2B5EF4-FFF2-40B4-BE49-F238E27FC236}">
                <a16:creationId xmlns:a16="http://schemas.microsoft.com/office/drawing/2014/main" id="{DA2B494F-A65E-AE4F-8576-72E7BB753A35}"/>
              </a:ext>
            </a:extLst>
          </p:cNvPr>
          <p:cNvSpPr>
            <a:spLocks noGrp="1" noChangeArrowheads="1"/>
          </p:cNvSpPr>
          <p:nvPr>
            <p:ph type="body" idx="1"/>
          </p:nvPr>
        </p:nvSpPr>
        <p:spPr>
          <a:xfrm>
            <a:off x="914399" y="1600200"/>
            <a:ext cx="10394829" cy="4114800"/>
          </a:xfrm>
        </p:spPr>
        <p:txBody>
          <a:bodyPr/>
          <a:lstStyle/>
          <a:p>
            <a:r>
              <a:rPr lang="en-US" altLang="en-MX" dirty="0"/>
              <a:t>Definition: “Marginal return”</a:t>
            </a:r>
          </a:p>
          <a:p>
            <a:pPr lvl="1"/>
            <a:r>
              <a:rPr lang="en-US" altLang="en-MX" dirty="0"/>
              <a:t>Example: the marginal or incremental return of Program A8 is 0.13 additional quality-adjusted months per $1000. </a:t>
            </a:r>
          </a:p>
          <a:p>
            <a:pPr lvl="1"/>
            <a:r>
              <a:rPr lang="en-US" altLang="en-MX" dirty="0"/>
              <a:t>The inverse of the marginal or incremental return is the incremental cost-effectiveness ratio (A8 = 7,500/QALM)</a:t>
            </a:r>
          </a:p>
          <a:p>
            <a:r>
              <a:rPr lang="en-US" altLang="en-MX" dirty="0"/>
              <a:t>Requirement of “equal marginal returns”</a:t>
            </a:r>
          </a:p>
        </p:txBody>
      </p:sp>
    </p:spTree>
    <p:extLst>
      <p:ext uri="{BB962C8B-B14F-4D97-AF65-F5344CB8AC3E}">
        <p14:creationId xmlns:p14="http://schemas.microsoft.com/office/powerpoint/2010/main" val="200953485"/>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7314" name="Rectangle 2">
            <a:extLst>
              <a:ext uri="{FF2B5EF4-FFF2-40B4-BE49-F238E27FC236}">
                <a16:creationId xmlns:a16="http://schemas.microsoft.com/office/drawing/2014/main" id="{78FA75DD-1DDC-4344-B21B-FE6AE45A9AC1}"/>
              </a:ext>
            </a:extLst>
          </p:cNvPr>
          <p:cNvSpPr>
            <a:spLocks noGrp="1" noChangeArrowheads="1"/>
          </p:cNvSpPr>
          <p:nvPr>
            <p:ph type="title"/>
          </p:nvPr>
        </p:nvSpPr>
        <p:spPr>
          <a:xfrm>
            <a:off x="854015" y="304800"/>
            <a:ext cx="10481094" cy="1143000"/>
          </a:xfrm>
        </p:spPr>
        <p:txBody>
          <a:bodyPr/>
          <a:lstStyle/>
          <a:p>
            <a:pPr>
              <a:defRPr/>
            </a:pPr>
            <a:r>
              <a:rPr lang="en-US" dirty="0"/>
              <a:t>Equal Marginal Returns-1</a:t>
            </a:r>
          </a:p>
        </p:txBody>
      </p:sp>
      <p:sp>
        <p:nvSpPr>
          <p:cNvPr id="24579" name="Rectangle 3">
            <a:extLst>
              <a:ext uri="{FF2B5EF4-FFF2-40B4-BE49-F238E27FC236}">
                <a16:creationId xmlns:a16="http://schemas.microsoft.com/office/drawing/2014/main" id="{5663E626-34C3-9144-B2CB-42D168080C90}"/>
              </a:ext>
            </a:extLst>
          </p:cNvPr>
          <p:cNvSpPr>
            <a:spLocks noGrp="1" noChangeArrowheads="1"/>
          </p:cNvSpPr>
          <p:nvPr>
            <p:ph type="body" idx="1"/>
          </p:nvPr>
        </p:nvSpPr>
        <p:spPr>
          <a:xfrm>
            <a:off x="854015" y="1447800"/>
            <a:ext cx="10481094" cy="4800600"/>
          </a:xfrm>
        </p:spPr>
        <p:txBody>
          <a:bodyPr/>
          <a:lstStyle/>
          <a:p>
            <a:pPr marL="533400" indent="-533400">
              <a:spcAft>
                <a:spcPct val="25000"/>
              </a:spcAft>
              <a:buNone/>
            </a:pPr>
            <a:r>
              <a:rPr lang="en-US" altLang="en-MX" sz="2800" b="1" dirty="0"/>
              <a:t>Example: $4,500 to spend on Disease A and B.</a:t>
            </a:r>
          </a:p>
          <a:p>
            <a:pPr marL="533400" indent="-533400">
              <a:buFontTx/>
              <a:buAutoNum type="arabicPeriod"/>
            </a:pPr>
            <a:r>
              <a:rPr lang="en-US" altLang="en-MX" sz="2800" dirty="0"/>
              <a:t>You spend $4,500 on A8 (Costs = $4,500 and Benefits = 10.45 months)</a:t>
            </a:r>
          </a:p>
          <a:p>
            <a:pPr marL="533400" indent="-533400">
              <a:buFontTx/>
              <a:buAutoNum type="arabicPeriod"/>
            </a:pPr>
            <a:r>
              <a:rPr lang="en-US" altLang="en-MX" sz="2800" dirty="0"/>
              <a:t>What opportunity is missed? (Example: you would miss the opportunity to gain 4 months of effectiveness for a mere $1200 by treating Disease B with B2.</a:t>
            </a:r>
          </a:p>
          <a:p>
            <a:pPr marL="533400" indent="-533400">
              <a:buFontTx/>
              <a:buAutoNum type="arabicPeriod"/>
            </a:pPr>
            <a:r>
              <a:rPr lang="en-US" altLang="en-MX" sz="2800" dirty="0"/>
              <a:t>Replace A8 with A7 and $1,500 will be made available and only 0.2 months lost (marginal effectiveness of A8 compared with A7)</a:t>
            </a:r>
          </a:p>
          <a:p>
            <a:pPr marL="533400" indent="-533400">
              <a:buNone/>
            </a:pPr>
            <a:endParaRPr lang="en-US" altLang="en-MX" sz="2800" dirty="0"/>
          </a:p>
        </p:txBody>
      </p:sp>
    </p:spTree>
    <p:extLst>
      <p:ext uri="{BB962C8B-B14F-4D97-AF65-F5344CB8AC3E}">
        <p14:creationId xmlns:p14="http://schemas.microsoft.com/office/powerpoint/2010/main" val="3964222729"/>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8338" name="Rectangle 2">
            <a:extLst>
              <a:ext uri="{FF2B5EF4-FFF2-40B4-BE49-F238E27FC236}">
                <a16:creationId xmlns:a16="http://schemas.microsoft.com/office/drawing/2014/main" id="{2183F505-A218-6C4A-A696-35DB883DF0FA}"/>
              </a:ext>
            </a:extLst>
          </p:cNvPr>
          <p:cNvSpPr>
            <a:spLocks noGrp="1" noChangeArrowheads="1"/>
          </p:cNvSpPr>
          <p:nvPr>
            <p:ph type="title"/>
          </p:nvPr>
        </p:nvSpPr>
        <p:spPr>
          <a:xfrm>
            <a:off x="793630" y="304800"/>
            <a:ext cx="10351698" cy="914400"/>
          </a:xfrm>
        </p:spPr>
        <p:txBody>
          <a:bodyPr/>
          <a:lstStyle/>
          <a:p>
            <a:pPr>
              <a:defRPr/>
            </a:pPr>
            <a:r>
              <a:rPr lang="en-US" dirty="0"/>
              <a:t>Equal Marginal Returns-2</a:t>
            </a:r>
          </a:p>
        </p:txBody>
      </p:sp>
      <p:sp>
        <p:nvSpPr>
          <p:cNvPr id="25603" name="Rectangle 3">
            <a:extLst>
              <a:ext uri="{FF2B5EF4-FFF2-40B4-BE49-F238E27FC236}">
                <a16:creationId xmlns:a16="http://schemas.microsoft.com/office/drawing/2014/main" id="{E1DE870F-9117-5046-A8BE-F3C1F83BAAB2}"/>
              </a:ext>
            </a:extLst>
          </p:cNvPr>
          <p:cNvSpPr>
            <a:spLocks noGrp="1" noChangeArrowheads="1"/>
          </p:cNvSpPr>
          <p:nvPr>
            <p:ph type="body" idx="1"/>
          </p:nvPr>
        </p:nvSpPr>
        <p:spPr>
          <a:xfrm>
            <a:off x="793629" y="1295400"/>
            <a:ext cx="10351697" cy="3200400"/>
          </a:xfrm>
        </p:spPr>
        <p:txBody>
          <a:bodyPr/>
          <a:lstStyle/>
          <a:p>
            <a:pPr>
              <a:lnSpc>
                <a:spcPct val="90000"/>
              </a:lnSpc>
              <a:buFontTx/>
              <a:buNone/>
            </a:pPr>
            <a:r>
              <a:rPr lang="en-US" altLang="en-MX" sz="2800" dirty="0"/>
              <a:t>4. Spend $1,200 of the $1,500 (leftover after paying for A7) will provide a net gain of 3.8 months (gain 4.0 months from B2 and lose 0.2 months from the original A8; total = 14.25). Can we do even better?</a:t>
            </a:r>
          </a:p>
          <a:p>
            <a:pPr>
              <a:lnSpc>
                <a:spcPct val="90000"/>
              </a:lnSpc>
              <a:buFontTx/>
              <a:buNone/>
            </a:pPr>
            <a:r>
              <a:rPr lang="en-US" altLang="en-MX" sz="2800" dirty="0"/>
              <a:t>5. If you choose A6 instead of A8 you could then choose B4 rather than B2. Now the total benefit would be:</a:t>
            </a:r>
          </a:p>
        </p:txBody>
      </p:sp>
      <p:graphicFrame>
        <p:nvGraphicFramePr>
          <p:cNvPr id="1038374" name="Group 38">
            <a:extLst>
              <a:ext uri="{FF2B5EF4-FFF2-40B4-BE49-F238E27FC236}">
                <a16:creationId xmlns:a16="http://schemas.microsoft.com/office/drawing/2014/main" id="{F4A0B11D-3CC1-F94B-BE47-C9F617A2537E}"/>
              </a:ext>
            </a:extLst>
          </p:cNvPr>
          <p:cNvGraphicFramePr>
            <a:graphicFrameLocks noGrp="1"/>
          </p:cNvGraphicFramePr>
          <p:nvPr/>
        </p:nvGraphicFramePr>
        <p:xfrm>
          <a:off x="4114800" y="4343401"/>
          <a:ext cx="4876800" cy="2073276"/>
        </p:xfrm>
        <a:graphic>
          <a:graphicData uri="http://schemas.openxmlformats.org/drawingml/2006/table">
            <a:tbl>
              <a:tblPr/>
              <a:tblGrid>
                <a:gridCol w="1625600">
                  <a:extLst>
                    <a:ext uri="{9D8B030D-6E8A-4147-A177-3AD203B41FA5}">
                      <a16:colId xmlns:a16="http://schemas.microsoft.com/office/drawing/2014/main" val="20000"/>
                    </a:ext>
                  </a:extLst>
                </a:gridCol>
                <a:gridCol w="1625600">
                  <a:extLst>
                    <a:ext uri="{9D8B030D-6E8A-4147-A177-3AD203B41FA5}">
                      <a16:colId xmlns:a16="http://schemas.microsoft.com/office/drawing/2014/main" val="20001"/>
                    </a:ext>
                  </a:extLst>
                </a:gridCol>
                <a:gridCol w="1625600">
                  <a:extLst>
                    <a:ext uri="{9D8B030D-6E8A-4147-A177-3AD203B41FA5}">
                      <a16:colId xmlns:a16="http://schemas.microsoft.com/office/drawing/2014/main" val="20002"/>
                    </a:ext>
                  </a:extLst>
                </a:gridCol>
              </a:tblGrid>
              <a:tr h="518319">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34" marB="45734" horzOverflow="overflow">
                    <a:lnL cap="flat">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Costs</a:t>
                      </a:r>
                    </a:p>
                  </a:txBody>
                  <a:tcPr marT="45734" marB="45734"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Benefits</a:t>
                      </a:r>
                    </a:p>
                  </a:txBody>
                  <a:tcPr marT="45734" marB="45734" horzOverflow="overflow">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319">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A6</a:t>
                      </a:r>
                    </a:p>
                  </a:txBody>
                  <a:tcPr marT="45734" marB="45734" horzOverflow="overflow">
                    <a:lnL cap="flat">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2,000</a:t>
                      </a:r>
                    </a:p>
                  </a:txBody>
                  <a:tcPr marT="45734" marB="45734"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9.6</a:t>
                      </a:r>
                    </a:p>
                  </a:txBody>
                  <a:tcPr marT="45734" marB="45734" horzOverflow="overflow">
                    <a:lnL>
                      <a:noFill/>
                    </a:lnL>
                    <a:lnR cap="flat">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518319">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B4</a:t>
                      </a:r>
                    </a:p>
                  </a:txBody>
                  <a:tcPr marT="45734" marB="45734" horzOverflow="overflow">
                    <a:lnL cap="flat">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2,400</a:t>
                      </a:r>
                    </a:p>
                  </a:txBody>
                  <a:tcPr marT="45734" marB="45734"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4.8</a:t>
                      </a:r>
                    </a:p>
                  </a:txBody>
                  <a:tcPr marT="45734" marB="45734" horzOverflow="overflow">
                    <a:lnL>
                      <a:noFill/>
                    </a:lnL>
                    <a:lnR cap="flat">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8319">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marT="45734" marB="45734" horzOverflow="overflow">
                    <a:lnL cap="flat">
                      <a:noFill/>
                    </a:lnL>
                    <a:lnR>
                      <a:noFill/>
                    </a:lnR>
                    <a:lnT>
                      <a:noFill/>
                    </a:lnT>
                    <a:lnB cap="flat">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4,400</a:t>
                      </a:r>
                    </a:p>
                  </a:txBody>
                  <a:tcPr marT="45734" marB="45734"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800" b="0" i="0" u="none" strike="noStrike" cap="none" normalizeH="0" baseline="0">
                          <a:ln>
                            <a:noFill/>
                          </a:ln>
                          <a:solidFill>
                            <a:schemeClr val="tx1"/>
                          </a:solidFill>
                          <a:effectLst/>
                          <a:latin typeface="Arial" charset="0"/>
                        </a:rPr>
                        <a:t>14.4</a:t>
                      </a:r>
                    </a:p>
                  </a:txBody>
                  <a:tcPr marT="45734" marB="45734" horzOverflow="overflow">
                    <a:lnL>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5619" name="Text Box 35">
            <a:extLst>
              <a:ext uri="{FF2B5EF4-FFF2-40B4-BE49-F238E27FC236}">
                <a16:creationId xmlns:a16="http://schemas.microsoft.com/office/drawing/2014/main" id="{89EF8185-F506-A94E-906D-6B7C4D551711}"/>
              </a:ext>
            </a:extLst>
          </p:cNvPr>
          <p:cNvSpPr txBox="1">
            <a:spLocks noChangeArrowheads="1"/>
          </p:cNvSpPr>
          <p:nvPr/>
        </p:nvSpPr>
        <p:spPr bwMode="auto">
          <a:xfrm>
            <a:off x="5791200" y="6324600"/>
            <a:ext cx="3581400" cy="376238"/>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1800" b="0"/>
              <a:t>Purchased 38% more benefit</a:t>
            </a:r>
          </a:p>
        </p:txBody>
      </p:sp>
      <p:sp>
        <p:nvSpPr>
          <p:cNvPr id="25620" name="Line 36">
            <a:extLst>
              <a:ext uri="{FF2B5EF4-FFF2-40B4-BE49-F238E27FC236}">
                <a16:creationId xmlns:a16="http://schemas.microsoft.com/office/drawing/2014/main" id="{C1C9AC94-6BCF-F94E-839B-82C3CD8BEEDA}"/>
              </a:ext>
            </a:extLst>
          </p:cNvPr>
          <p:cNvSpPr>
            <a:spLocks noChangeShapeType="1"/>
          </p:cNvSpPr>
          <p:nvPr/>
        </p:nvSpPr>
        <p:spPr bwMode="auto">
          <a:xfrm rot="20276696">
            <a:off x="4724400" y="6096000"/>
            <a:ext cx="1066800" cy="15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MX"/>
          </a:p>
        </p:txBody>
      </p:sp>
      <p:sp>
        <p:nvSpPr>
          <p:cNvPr id="25621" name="Line 37">
            <a:extLst>
              <a:ext uri="{FF2B5EF4-FFF2-40B4-BE49-F238E27FC236}">
                <a16:creationId xmlns:a16="http://schemas.microsoft.com/office/drawing/2014/main" id="{82797F22-3093-8E40-85AE-78BE15DE95E8}"/>
              </a:ext>
            </a:extLst>
          </p:cNvPr>
          <p:cNvSpPr>
            <a:spLocks noChangeShapeType="1"/>
          </p:cNvSpPr>
          <p:nvPr/>
        </p:nvSpPr>
        <p:spPr bwMode="auto">
          <a:xfrm flipV="1">
            <a:off x="7010400" y="5943600"/>
            <a:ext cx="3810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MX"/>
          </a:p>
        </p:txBody>
      </p:sp>
      <p:sp>
        <p:nvSpPr>
          <p:cNvPr id="25622" name="Text Box 34">
            <a:extLst>
              <a:ext uri="{FF2B5EF4-FFF2-40B4-BE49-F238E27FC236}">
                <a16:creationId xmlns:a16="http://schemas.microsoft.com/office/drawing/2014/main" id="{5B618360-C969-1648-ADDE-6FE59B4ECCC8}"/>
              </a:ext>
            </a:extLst>
          </p:cNvPr>
          <p:cNvSpPr txBox="1">
            <a:spLocks noChangeArrowheads="1"/>
          </p:cNvSpPr>
          <p:nvPr/>
        </p:nvSpPr>
        <p:spPr bwMode="auto">
          <a:xfrm>
            <a:off x="3048001" y="6094414"/>
            <a:ext cx="1831975" cy="376237"/>
          </a:xfrm>
          <a:prstGeom prst="rect">
            <a:avLst/>
          </a:prstGeom>
          <a:solidFill>
            <a:schemeClr val="bg1"/>
          </a:solidFill>
          <a:ln w="9525">
            <a:solidFill>
              <a:schemeClr val="accent2"/>
            </a:solidFill>
            <a:miter lim="800000"/>
            <a:headEnd/>
            <a:tailEnd/>
          </a:ln>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1800" b="0"/>
              <a:t>Spent $100 less</a:t>
            </a:r>
          </a:p>
        </p:txBody>
      </p:sp>
    </p:spTree>
    <p:extLst>
      <p:ext uri="{BB962C8B-B14F-4D97-AF65-F5344CB8AC3E}">
        <p14:creationId xmlns:p14="http://schemas.microsoft.com/office/powerpoint/2010/main" val="241933059"/>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9362" name="Rectangle 2">
            <a:extLst>
              <a:ext uri="{FF2B5EF4-FFF2-40B4-BE49-F238E27FC236}">
                <a16:creationId xmlns:a16="http://schemas.microsoft.com/office/drawing/2014/main" id="{340C0B93-1663-104C-BE82-A455CE9FAED1}"/>
              </a:ext>
            </a:extLst>
          </p:cNvPr>
          <p:cNvSpPr>
            <a:spLocks noGrp="1" noChangeArrowheads="1"/>
          </p:cNvSpPr>
          <p:nvPr>
            <p:ph type="title"/>
          </p:nvPr>
        </p:nvSpPr>
        <p:spPr>
          <a:xfrm>
            <a:off x="854015" y="381000"/>
            <a:ext cx="10343072" cy="762000"/>
          </a:xfrm>
        </p:spPr>
        <p:txBody>
          <a:bodyPr/>
          <a:lstStyle/>
          <a:p>
            <a:pPr>
              <a:defRPr/>
            </a:pPr>
            <a:r>
              <a:rPr lang="en-US" dirty="0"/>
              <a:t>Review: General Solution</a:t>
            </a:r>
          </a:p>
        </p:txBody>
      </p:sp>
      <p:sp>
        <p:nvSpPr>
          <p:cNvPr id="26627" name="Rectangle 3">
            <a:extLst>
              <a:ext uri="{FF2B5EF4-FFF2-40B4-BE49-F238E27FC236}">
                <a16:creationId xmlns:a16="http://schemas.microsoft.com/office/drawing/2014/main" id="{953C50BC-78A7-EF4C-8F29-189BFD0EFA5E}"/>
              </a:ext>
            </a:extLst>
          </p:cNvPr>
          <p:cNvSpPr>
            <a:spLocks noGrp="1" noChangeArrowheads="1"/>
          </p:cNvSpPr>
          <p:nvPr>
            <p:ph type="body" idx="1"/>
          </p:nvPr>
        </p:nvSpPr>
        <p:spPr>
          <a:xfrm>
            <a:off x="854015" y="1371599"/>
            <a:ext cx="10343072" cy="5348377"/>
          </a:xfrm>
        </p:spPr>
        <p:txBody>
          <a:bodyPr>
            <a:normAutofit lnSpcReduction="10000"/>
          </a:bodyPr>
          <a:lstStyle/>
          <a:p>
            <a:pPr>
              <a:spcBef>
                <a:spcPct val="5000"/>
              </a:spcBef>
            </a:pPr>
            <a:r>
              <a:rPr lang="en-US" altLang="en-MX" dirty="0"/>
              <a:t>Rule </a:t>
            </a:r>
            <a:r>
              <a:rPr lang="en-US" altLang="en-MX" i="1" dirty="0"/>
              <a:t>out</a:t>
            </a:r>
            <a:r>
              <a:rPr lang="en-US" altLang="en-MX" dirty="0"/>
              <a:t> programs with C&gt;0 and E&lt;0; Rule </a:t>
            </a:r>
            <a:r>
              <a:rPr lang="en-US" altLang="en-MX" i="1" dirty="0"/>
              <a:t>in</a:t>
            </a:r>
            <a:r>
              <a:rPr lang="en-US" altLang="en-MX" dirty="0"/>
              <a:t> programs with C&lt;0 and E&gt;0; adjust budget</a:t>
            </a:r>
          </a:p>
          <a:p>
            <a:pPr>
              <a:spcBef>
                <a:spcPct val="5000"/>
              </a:spcBef>
            </a:pPr>
            <a:r>
              <a:rPr lang="en-US" altLang="en-MX" dirty="0"/>
              <a:t>Rank </a:t>
            </a:r>
            <a:r>
              <a:rPr lang="en-US" altLang="en-MX" i="1" dirty="0"/>
              <a:t>independent</a:t>
            </a:r>
            <a:r>
              <a:rPr lang="en-US" altLang="en-MX" dirty="0"/>
              <a:t> programs in ascending order of C/E</a:t>
            </a:r>
          </a:p>
          <a:p>
            <a:pPr lvl="1">
              <a:spcBef>
                <a:spcPct val="5000"/>
              </a:spcBef>
            </a:pPr>
            <a:r>
              <a:rPr lang="en-US" altLang="en-MX" sz="3200" dirty="0"/>
              <a:t>Determine </a:t>
            </a:r>
            <a:r>
              <a:rPr lang="en-US" altLang="en-MX" sz="3200" i="1" dirty="0"/>
              <a:t>opportunity cost of resources</a:t>
            </a:r>
            <a:r>
              <a:rPr lang="en-US" altLang="en-MX" sz="3200" dirty="0"/>
              <a:t>, i.e., C/E of the last (marginal) program (threshold)</a:t>
            </a:r>
          </a:p>
          <a:p>
            <a:pPr>
              <a:spcBef>
                <a:spcPct val="5000"/>
              </a:spcBef>
            </a:pPr>
            <a:r>
              <a:rPr lang="en-US" altLang="en-MX" dirty="0"/>
              <a:t>Arrange competing programs in increasing order of cost</a:t>
            </a:r>
          </a:p>
          <a:p>
            <a:pPr>
              <a:spcBef>
                <a:spcPct val="5000"/>
              </a:spcBef>
            </a:pPr>
            <a:r>
              <a:rPr lang="en-US" altLang="en-MX" dirty="0"/>
              <a:t>Exclude dominated options, calculate incremental C</a:t>
            </a:r>
            <a:r>
              <a:rPr lang="en-US" altLang="en-MX" baseline="-25000" dirty="0"/>
              <a:t>i</a:t>
            </a:r>
            <a:r>
              <a:rPr lang="en-US" altLang="en-MX" dirty="0"/>
              <a:t>/</a:t>
            </a:r>
            <a:r>
              <a:rPr lang="en-US" altLang="en-MX" dirty="0" err="1"/>
              <a:t>E</a:t>
            </a:r>
            <a:r>
              <a:rPr lang="en-US" altLang="en-MX" baseline="-25000" dirty="0" err="1"/>
              <a:t>i</a:t>
            </a:r>
            <a:r>
              <a:rPr lang="en-US" altLang="en-MX" dirty="0"/>
              <a:t> for remaining options, exclude weakly dominated options, recalculate incremental C</a:t>
            </a:r>
            <a:r>
              <a:rPr lang="en-US" altLang="en-MX" baseline="-25000" dirty="0"/>
              <a:t>i</a:t>
            </a:r>
            <a:r>
              <a:rPr lang="en-US" altLang="en-MX" dirty="0"/>
              <a:t>/</a:t>
            </a:r>
            <a:r>
              <a:rPr lang="en-US" altLang="en-MX" dirty="0" err="1"/>
              <a:t>E</a:t>
            </a:r>
            <a:r>
              <a:rPr lang="en-US" altLang="en-MX" baseline="-25000" dirty="0" err="1"/>
              <a:t>i</a:t>
            </a:r>
            <a:r>
              <a:rPr lang="en-US" altLang="en-MX" dirty="0"/>
              <a:t> </a:t>
            </a:r>
          </a:p>
          <a:p>
            <a:pPr>
              <a:spcBef>
                <a:spcPct val="5000"/>
              </a:spcBef>
            </a:pPr>
            <a:r>
              <a:rPr lang="en-US" altLang="en-MX" dirty="0"/>
              <a:t>Select optimal competing program by comparing C</a:t>
            </a:r>
            <a:r>
              <a:rPr lang="en-US" altLang="en-MX" baseline="-25000" dirty="0"/>
              <a:t>i</a:t>
            </a:r>
            <a:r>
              <a:rPr lang="en-US" altLang="en-MX" dirty="0"/>
              <a:t>/</a:t>
            </a:r>
            <a:r>
              <a:rPr lang="en-US" altLang="en-MX" dirty="0" err="1"/>
              <a:t>E</a:t>
            </a:r>
            <a:r>
              <a:rPr lang="en-US" altLang="en-MX" baseline="-25000" dirty="0" err="1"/>
              <a:t>i</a:t>
            </a:r>
            <a:r>
              <a:rPr lang="en-US" altLang="en-MX" dirty="0"/>
              <a:t> to marginal C/E ratio (threshold) among independent programs</a:t>
            </a:r>
          </a:p>
        </p:txBody>
      </p:sp>
    </p:spTree>
    <p:extLst>
      <p:ext uri="{BB962C8B-B14F-4D97-AF65-F5344CB8AC3E}">
        <p14:creationId xmlns:p14="http://schemas.microsoft.com/office/powerpoint/2010/main" val="1114558113"/>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0866" name="Rectangle 2">
            <a:extLst>
              <a:ext uri="{FF2B5EF4-FFF2-40B4-BE49-F238E27FC236}">
                <a16:creationId xmlns:a16="http://schemas.microsoft.com/office/drawing/2014/main" id="{8B7475DB-E04C-5749-92A0-A7CB079752DD}"/>
              </a:ext>
            </a:extLst>
          </p:cNvPr>
          <p:cNvSpPr>
            <a:spLocks noGrp="1" noChangeArrowheads="1"/>
          </p:cNvSpPr>
          <p:nvPr>
            <p:ph type="title"/>
          </p:nvPr>
        </p:nvSpPr>
        <p:spPr>
          <a:xfrm>
            <a:off x="879894" y="304800"/>
            <a:ext cx="10386204" cy="1143000"/>
          </a:xfrm>
        </p:spPr>
        <p:txBody>
          <a:bodyPr/>
          <a:lstStyle/>
          <a:p>
            <a:pPr>
              <a:defRPr/>
            </a:pPr>
            <a:r>
              <a:rPr lang="en-US" dirty="0"/>
              <a:t>CEA of Testing</a:t>
            </a:r>
            <a:endParaRPr lang="en-US" sz="3200" dirty="0"/>
          </a:p>
        </p:txBody>
      </p:sp>
      <p:sp>
        <p:nvSpPr>
          <p:cNvPr id="27651" name="Rectangle 3">
            <a:extLst>
              <a:ext uri="{FF2B5EF4-FFF2-40B4-BE49-F238E27FC236}">
                <a16:creationId xmlns:a16="http://schemas.microsoft.com/office/drawing/2014/main" id="{A0D4B25F-6D8A-554D-9DBF-E9A1F0E14F6B}"/>
              </a:ext>
            </a:extLst>
          </p:cNvPr>
          <p:cNvSpPr>
            <a:spLocks noGrp="1" noChangeArrowheads="1"/>
          </p:cNvSpPr>
          <p:nvPr>
            <p:ph type="body" idx="1"/>
          </p:nvPr>
        </p:nvSpPr>
        <p:spPr>
          <a:xfrm>
            <a:off x="879894" y="1447800"/>
            <a:ext cx="10386204" cy="5181600"/>
          </a:xfrm>
        </p:spPr>
        <p:txBody>
          <a:bodyPr>
            <a:normAutofit/>
          </a:bodyPr>
          <a:lstStyle/>
          <a:p>
            <a:r>
              <a:rPr lang="en-US" altLang="en-MX" dirty="0"/>
              <a:t>Disease Y is a serious disease for which prompt treatment can greatly reduce mortality. Without treatment, one-year survival with the disease is 80%. With treatment, one-year survival is 90%. Patients who survive the first year are cured and have a normal life span. Treatment costs $20,000.</a:t>
            </a:r>
          </a:p>
          <a:p>
            <a:r>
              <a:rPr lang="en-US" altLang="en-MX" dirty="0"/>
              <a:t>A genetic abnormality is associated with Disease Y. About one of every 100 patients who have this abnormal gene have Disease Y; the others are normal. Of the patients without the disease, but who are nonetheless treated, 1% will die within one year as a result of the risks of treatment.</a:t>
            </a:r>
          </a:p>
        </p:txBody>
      </p:sp>
    </p:spTree>
    <p:extLst>
      <p:ext uri="{BB962C8B-B14F-4D97-AF65-F5344CB8AC3E}">
        <p14:creationId xmlns:p14="http://schemas.microsoft.com/office/powerpoint/2010/main" val="3534577075"/>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1890" name="Rectangle 2">
            <a:extLst>
              <a:ext uri="{FF2B5EF4-FFF2-40B4-BE49-F238E27FC236}">
                <a16:creationId xmlns:a16="http://schemas.microsoft.com/office/drawing/2014/main" id="{36463150-C205-764C-9958-7A892F6DAE7A}"/>
              </a:ext>
            </a:extLst>
          </p:cNvPr>
          <p:cNvSpPr>
            <a:spLocks noGrp="1" noChangeArrowheads="1"/>
          </p:cNvSpPr>
          <p:nvPr>
            <p:ph type="title"/>
          </p:nvPr>
        </p:nvSpPr>
        <p:spPr>
          <a:xfrm>
            <a:off x="810883" y="381000"/>
            <a:ext cx="10455215" cy="1143000"/>
          </a:xfrm>
        </p:spPr>
        <p:txBody>
          <a:bodyPr/>
          <a:lstStyle/>
          <a:p>
            <a:pPr>
              <a:defRPr/>
            </a:pPr>
            <a:r>
              <a:rPr lang="en-US" dirty="0"/>
              <a:t>Two Tests for Disease Y</a:t>
            </a:r>
            <a:endParaRPr lang="en-US" sz="3200" dirty="0"/>
          </a:p>
        </p:txBody>
      </p:sp>
      <p:sp>
        <p:nvSpPr>
          <p:cNvPr id="28675" name="Rectangle 3">
            <a:extLst>
              <a:ext uri="{FF2B5EF4-FFF2-40B4-BE49-F238E27FC236}">
                <a16:creationId xmlns:a16="http://schemas.microsoft.com/office/drawing/2014/main" id="{B615118B-7B3B-A54F-B512-4754BE38F8ED}"/>
              </a:ext>
            </a:extLst>
          </p:cNvPr>
          <p:cNvSpPr>
            <a:spLocks noGrp="1" noChangeArrowheads="1"/>
          </p:cNvSpPr>
          <p:nvPr>
            <p:ph type="body" idx="1"/>
          </p:nvPr>
        </p:nvSpPr>
        <p:spPr>
          <a:xfrm>
            <a:off x="810883" y="1600200"/>
            <a:ext cx="10455215" cy="4495800"/>
          </a:xfrm>
        </p:spPr>
        <p:txBody>
          <a:bodyPr>
            <a:normAutofit/>
          </a:bodyPr>
          <a:lstStyle/>
          <a:p>
            <a:r>
              <a:rPr lang="en-US" altLang="en-MX" dirty="0"/>
              <a:t>Two diagnostic tests are available. Test 1 costs only $20, has a sensitivity of 90% and a specificity of 95%.  Test 2 costs $1000, and can confirm with certainty the presence or absence of disease.</a:t>
            </a:r>
          </a:p>
          <a:p>
            <a:r>
              <a:rPr lang="en-US" altLang="en-MX" dirty="0"/>
              <a:t>The analysis pertains to individuals with the identified genetic abnormality and in whom, therefore, Disease Y is suspected.</a:t>
            </a:r>
          </a:p>
        </p:txBody>
      </p:sp>
    </p:spTree>
    <p:extLst>
      <p:ext uri="{BB962C8B-B14F-4D97-AF65-F5344CB8AC3E}">
        <p14:creationId xmlns:p14="http://schemas.microsoft.com/office/powerpoint/2010/main" val="2875433142"/>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2914" name="Rectangle 2">
            <a:extLst>
              <a:ext uri="{FF2B5EF4-FFF2-40B4-BE49-F238E27FC236}">
                <a16:creationId xmlns:a16="http://schemas.microsoft.com/office/drawing/2014/main" id="{B8AEE5D4-1B7B-EA43-A549-D827EDC30070}"/>
              </a:ext>
            </a:extLst>
          </p:cNvPr>
          <p:cNvSpPr>
            <a:spLocks noGrp="1" noChangeArrowheads="1"/>
          </p:cNvSpPr>
          <p:nvPr>
            <p:ph type="title"/>
          </p:nvPr>
        </p:nvSpPr>
        <p:spPr>
          <a:xfrm>
            <a:off x="828136" y="381000"/>
            <a:ext cx="10472468" cy="1143000"/>
          </a:xfrm>
        </p:spPr>
        <p:txBody>
          <a:bodyPr/>
          <a:lstStyle/>
          <a:p>
            <a:pPr>
              <a:defRPr/>
            </a:pPr>
            <a:r>
              <a:rPr lang="en-US" dirty="0"/>
              <a:t>Testing Strategies</a:t>
            </a:r>
            <a:endParaRPr lang="en-US" sz="3200" dirty="0"/>
          </a:p>
        </p:txBody>
      </p:sp>
      <p:sp>
        <p:nvSpPr>
          <p:cNvPr id="29699" name="Rectangle 3">
            <a:extLst>
              <a:ext uri="{FF2B5EF4-FFF2-40B4-BE49-F238E27FC236}">
                <a16:creationId xmlns:a16="http://schemas.microsoft.com/office/drawing/2014/main" id="{1E22C48D-C870-914A-AE7C-F74EA6477B2F}"/>
              </a:ext>
            </a:extLst>
          </p:cNvPr>
          <p:cNvSpPr>
            <a:spLocks noGrp="1" noChangeArrowheads="1"/>
          </p:cNvSpPr>
          <p:nvPr>
            <p:ph type="body" idx="1"/>
          </p:nvPr>
        </p:nvSpPr>
        <p:spPr>
          <a:xfrm>
            <a:off x="828135" y="1600200"/>
            <a:ext cx="10472467" cy="4724400"/>
          </a:xfrm>
        </p:spPr>
        <p:txBody>
          <a:bodyPr>
            <a:normAutofit/>
          </a:bodyPr>
          <a:lstStyle/>
          <a:p>
            <a:r>
              <a:rPr lang="en-US" altLang="en-MX" dirty="0"/>
              <a:t>Estimate the benefits and cost-effectiveness of “screening” with Test 1, assuming Test 2 is not available to confirm the diagnosis</a:t>
            </a:r>
          </a:p>
          <a:p>
            <a:r>
              <a:rPr lang="en-US" altLang="en-MX" dirty="0"/>
              <a:t>Estimate the clinical benefits and cost-effectiveness of using the more accurate Test 2</a:t>
            </a:r>
          </a:p>
          <a:p>
            <a:pPr lvl="1"/>
            <a:r>
              <a:rPr lang="en-US" altLang="en-MX" dirty="0"/>
              <a:t>Note: Test 2 can be used as a confirmatory test in patients who “screen” positive with Test 1, or can replace Test 1</a:t>
            </a:r>
          </a:p>
          <a:p>
            <a:r>
              <a:rPr lang="en-US" altLang="en-MX" dirty="0"/>
              <a:t>Express results in terms of cost-per-life year saved</a:t>
            </a:r>
          </a:p>
        </p:txBody>
      </p:sp>
    </p:spTree>
    <p:extLst>
      <p:ext uri="{BB962C8B-B14F-4D97-AF65-F5344CB8AC3E}">
        <p14:creationId xmlns:p14="http://schemas.microsoft.com/office/powerpoint/2010/main" val="311674912"/>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3938" name="Rectangle 2">
            <a:extLst>
              <a:ext uri="{FF2B5EF4-FFF2-40B4-BE49-F238E27FC236}">
                <a16:creationId xmlns:a16="http://schemas.microsoft.com/office/drawing/2014/main" id="{1494FCF7-EF9F-A34B-A1A0-01D9143261E3}"/>
              </a:ext>
            </a:extLst>
          </p:cNvPr>
          <p:cNvSpPr>
            <a:spLocks noGrp="1" noChangeArrowheads="1"/>
          </p:cNvSpPr>
          <p:nvPr>
            <p:ph type="title"/>
          </p:nvPr>
        </p:nvSpPr>
        <p:spPr>
          <a:xfrm>
            <a:off x="819509" y="457200"/>
            <a:ext cx="10472468" cy="1143000"/>
          </a:xfrm>
        </p:spPr>
        <p:txBody>
          <a:bodyPr/>
          <a:lstStyle/>
          <a:p>
            <a:pPr>
              <a:defRPr/>
            </a:pPr>
            <a:r>
              <a:rPr lang="en-US" dirty="0"/>
              <a:t>Outcomes</a:t>
            </a:r>
            <a:endParaRPr lang="en-US" sz="3200" dirty="0"/>
          </a:p>
        </p:txBody>
      </p:sp>
      <p:graphicFrame>
        <p:nvGraphicFramePr>
          <p:cNvPr id="1063939" name="Group 3">
            <a:extLst>
              <a:ext uri="{FF2B5EF4-FFF2-40B4-BE49-F238E27FC236}">
                <a16:creationId xmlns:a16="http://schemas.microsoft.com/office/drawing/2014/main" id="{C33B88CE-BDC0-614E-9384-77108678C330}"/>
              </a:ext>
            </a:extLst>
          </p:cNvPr>
          <p:cNvGraphicFramePr>
            <a:graphicFrameLocks noGrp="1"/>
          </p:cNvGraphicFramePr>
          <p:nvPr/>
        </p:nvGraphicFramePr>
        <p:xfrm>
          <a:off x="2209800" y="1981201"/>
          <a:ext cx="7696200" cy="3363913"/>
        </p:xfrm>
        <a:graphic>
          <a:graphicData uri="http://schemas.openxmlformats.org/drawingml/2006/table">
            <a:tbl>
              <a:tblPr/>
              <a:tblGrid>
                <a:gridCol w="3848100">
                  <a:extLst>
                    <a:ext uri="{9D8B030D-6E8A-4147-A177-3AD203B41FA5}">
                      <a16:colId xmlns:a16="http://schemas.microsoft.com/office/drawing/2014/main" val="20000"/>
                    </a:ext>
                  </a:extLst>
                </a:gridCol>
                <a:gridCol w="3848100">
                  <a:extLst>
                    <a:ext uri="{9D8B030D-6E8A-4147-A177-3AD203B41FA5}">
                      <a16:colId xmlns:a16="http://schemas.microsoft.com/office/drawing/2014/main" val="20001"/>
                    </a:ext>
                  </a:extLst>
                </a:gridCol>
              </a:tblGrid>
              <a:tr h="609600">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3200" b="0" i="0" u="none" strike="noStrike" cap="none" normalizeH="0" baseline="0" dirty="0">
                          <a:ln>
                            <a:noFill/>
                          </a:ln>
                          <a:solidFill>
                            <a:schemeClr val="tx1"/>
                          </a:solidFill>
                          <a:effectLst/>
                          <a:latin typeface="Arial" charset="0"/>
                        </a:rPr>
                        <a:t>Outcome</a:t>
                      </a:r>
                    </a:p>
                  </a:txBody>
                  <a:tcPr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3200" b="0" i="0" u="none" strike="noStrike" cap="none" normalizeH="0" baseline="0">
                          <a:ln>
                            <a:noFill/>
                          </a:ln>
                          <a:solidFill>
                            <a:schemeClr val="tx1"/>
                          </a:solidFill>
                          <a:effectLst/>
                          <a:latin typeface="Arial" charset="0"/>
                        </a:rPr>
                        <a:t>One-Year Survival</a:t>
                      </a:r>
                    </a:p>
                  </a:txBody>
                  <a:tcPr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69691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3200" b="0" i="0" u="none" strike="noStrike" cap="none" normalizeH="0" baseline="0">
                          <a:ln>
                            <a:noFill/>
                          </a:ln>
                          <a:solidFill>
                            <a:schemeClr val="tx1"/>
                          </a:solidFill>
                          <a:effectLst/>
                          <a:latin typeface="Arial" charset="0"/>
                        </a:rPr>
                        <a:t>Y+,  no treatment</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3200" b="0" i="0" u="none" strike="noStrike" cap="none" normalizeH="0" baseline="0">
                          <a:ln>
                            <a:noFill/>
                          </a:ln>
                          <a:solidFill>
                            <a:schemeClr val="tx1"/>
                          </a:solidFill>
                          <a:effectLst/>
                          <a:latin typeface="Arial" charset="0"/>
                        </a:rPr>
                        <a:t>0.80</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685800">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3200" b="0" i="0" u="none" strike="noStrike" cap="none" normalizeH="0" baseline="0">
                          <a:ln>
                            <a:noFill/>
                          </a:ln>
                          <a:solidFill>
                            <a:schemeClr val="tx1"/>
                          </a:solidFill>
                          <a:effectLst/>
                          <a:latin typeface="Arial" charset="0"/>
                        </a:rPr>
                        <a:t>Y+,  treatment</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3200" b="0" i="0" u="none" strike="noStrike" cap="none" normalizeH="0" baseline="0">
                          <a:ln>
                            <a:noFill/>
                          </a:ln>
                          <a:solidFill>
                            <a:schemeClr val="tx1"/>
                          </a:solidFill>
                          <a:effectLst/>
                          <a:latin typeface="Arial" charset="0"/>
                        </a:rPr>
                        <a:t>0.90</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609600">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3200" b="0" i="0" u="none" strike="noStrike" cap="none" normalizeH="0" baseline="0">
                          <a:ln>
                            <a:noFill/>
                          </a:ln>
                          <a:solidFill>
                            <a:schemeClr val="tx1"/>
                          </a:solidFill>
                          <a:effectLst/>
                          <a:latin typeface="Arial" charset="0"/>
                        </a:rPr>
                        <a:t>Y-,  no treatment</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3200" b="0" i="0" u="none" strike="noStrike" cap="none" normalizeH="0" baseline="0">
                          <a:ln>
                            <a:noFill/>
                          </a:ln>
                          <a:solidFill>
                            <a:schemeClr val="tx1"/>
                          </a:solidFill>
                          <a:effectLst/>
                          <a:latin typeface="Arial" charset="0"/>
                        </a:rPr>
                        <a:t>1.00</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762000">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3200" b="0" i="0" u="none" strike="noStrike" cap="none" normalizeH="0" baseline="0" dirty="0">
                          <a:ln>
                            <a:noFill/>
                          </a:ln>
                          <a:solidFill>
                            <a:schemeClr val="tx1"/>
                          </a:solidFill>
                          <a:effectLst/>
                          <a:latin typeface="Arial" charset="0"/>
                        </a:rPr>
                        <a:t>Y-,  treatment</a:t>
                      </a:r>
                    </a:p>
                  </a:txBody>
                  <a:tcPr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3200" b="0" i="0" u="none" strike="noStrike" cap="none" normalizeH="0" baseline="0" dirty="0">
                          <a:ln>
                            <a:noFill/>
                          </a:ln>
                          <a:solidFill>
                            <a:schemeClr val="tx1"/>
                          </a:solidFill>
                          <a:effectLst/>
                          <a:latin typeface="Arial" charset="0"/>
                        </a:rPr>
                        <a:t>0.99</a:t>
                      </a:r>
                    </a:p>
                  </a:txBody>
                  <a:tcP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0734" name="Line 28">
            <a:extLst>
              <a:ext uri="{FF2B5EF4-FFF2-40B4-BE49-F238E27FC236}">
                <a16:creationId xmlns:a16="http://schemas.microsoft.com/office/drawing/2014/main" id="{3DF7D139-68B3-E141-8A5F-FEC8821BE404}"/>
              </a:ext>
            </a:extLst>
          </p:cNvPr>
          <p:cNvSpPr>
            <a:spLocks noChangeShapeType="1"/>
          </p:cNvSpPr>
          <p:nvPr/>
        </p:nvSpPr>
        <p:spPr bwMode="auto">
          <a:xfrm>
            <a:off x="2133600" y="2590800"/>
            <a:ext cx="7620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0735" name="Text Box 29">
            <a:extLst>
              <a:ext uri="{FF2B5EF4-FFF2-40B4-BE49-F238E27FC236}">
                <a16:creationId xmlns:a16="http://schemas.microsoft.com/office/drawing/2014/main" id="{1D257959-92FF-0D4A-9ABF-89EE1A5177C8}"/>
              </a:ext>
            </a:extLst>
          </p:cNvPr>
          <p:cNvSpPr txBox="1">
            <a:spLocks noChangeArrowheads="1"/>
          </p:cNvSpPr>
          <p:nvPr/>
        </p:nvSpPr>
        <p:spPr bwMode="auto">
          <a:xfrm>
            <a:off x="2133601" y="5715001"/>
            <a:ext cx="73374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2400" b="0"/>
              <a:t>Assume that the discounted life expectancy is 10 yrs</a:t>
            </a:r>
          </a:p>
          <a:p>
            <a:r>
              <a:rPr lang="en-US" altLang="en-MX" sz="2400" b="0"/>
              <a:t>among survivors.</a:t>
            </a:r>
          </a:p>
        </p:txBody>
      </p:sp>
      <p:sp>
        <p:nvSpPr>
          <p:cNvPr id="30736" name="Line 30">
            <a:extLst>
              <a:ext uri="{FF2B5EF4-FFF2-40B4-BE49-F238E27FC236}">
                <a16:creationId xmlns:a16="http://schemas.microsoft.com/office/drawing/2014/main" id="{77BE3002-9BC1-4540-B9B6-4CD16E1FC901}"/>
              </a:ext>
            </a:extLst>
          </p:cNvPr>
          <p:cNvSpPr>
            <a:spLocks noChangeShapeType="1"/>
          </p:cNvSpPr>
          <p:nvPr/>
        </p:nvSpPr>
        <p:spPr bwMode="auto">
          <a:xfrm>
            <a:off x="2209800" y="1828800"/>
            <a:ext cx="7620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MX"/>
          </a:p>
        </p:txBody>
      </p:sp>
    </p:spTree>
    <p:extLst>
      <p:ext uri="{BB962C8B-B14F-4D97-AF65-F5344CB8AC3E}">
        <p14:creationId xmlns:p14="http://schemas.microsoft.com/office/powerpoint/2010/main" val="2530874483"/>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5986" name="Rectangle 2">
            <a:extLst>
              <a:ext uri="{FF2B5EF4-FFF2-40B4-BE49-F238E27FC236}">
                <a16:creationId xmlns:a16="http://schemas.microsoft.com/office/drawing/2014/main" id="{C4645BEA-77E5-EF4E-8382-BEAEA2D536F7}"/>
              </a:ext>
            </a:extLst>
          </p:cNvPr>
          <p:cNvSpPr>
            <a:spLocks noGrp="1" noChangeArrowheads="1"/>
          </p:cNvSpPr>
          <p:nvPr>
            <p:ph type="title"/>
          </p:nvPr>
        </p:nvSpPr>
        <p:spPr>
          <a:xfrm>
            <a:off x="776377" y="304800"/>
            <a:ext cx="10317193" cy="1143000"/>
          </a:xfrm>
        </p:spPr>
        <p:txBody>
          <a:bodyPr/>
          <a:lstStyle/>
          <a:p>
            <a:pPr>
              <a:defRPr/>
            </a:pPr>
            <a:r>
              <a:rPr lang="en-US" dirty="0"/>
              <a:t>Other Information</a:t>
            </a:r>
            <a:endParaRPr lang="en-US" sz="3200" dirty="0"/>
          </a:p>
        </p:txBody>
      </p:sp>
      <p:graphicFrame>
        <p:nvGraphicFramePr>
          <p:cNvPr id="1065987" name="Group 3">
            <a:extLst>
              <a:ext uri="{FF2B5EF4-FFF2-40B4-BE49-F238E27FC236}">
                <a16:creationId xmlns:a16="http://schemas.microsoft.com/office/drawing/2014/main" id="{4DAE1AAE-5825-394C-B705-3A7F70532201}"/>
              </a:ext>
            </a:extLst>
          </p:cNvPr>
          <p:cNvGraphicFramePr>
            <a:graphicFrameLocks noGrp="1"/>
          </p:cNvGraphicFramePr>
          <p:nvPr/>
        </p:nvGraphicFramePr>
        <p:xfrm>
          <a:off x="2209800" y="1524001"/>
          <a:ext cx="7696200" cy="2956134"/>
        </p:xfrm>
        <a:graphic>
          <a:graphicData uri="http://schemas.openxmlformats.org/drawingml/2006/table">
            <a:tbl>
              <a:tblPr/>
              <a:tblGrid>
                <a:gridCol w="3848100">
                  <a:extLst>
                    <a:ext uri="{9D8B030D-6E8A-4147-A177-3AD203B41FA5}">
                      <a16:colId xmlns:a16="http://schemas.microsoft.com/office/drawing/2014/main" val="20000"/>
                    </a:ext>
                  </a:extLst>
                </a:gridCol>
                <a:gridCol w="3848100">
                  <a:extLst>
                    <a:ext uri="{9D8B030D-6E8A-4147-A177-3AD203B41FA5}">
                      <a16:colId xmlns:a16="http://schemas.microsoft.com/office/drawing/2014/main" val="20001"/>
                    </a:ext>
                  </a:extLst>
                </a:gridCol>
              </a:tblGrid>
              <a:tr h="639694">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3200" b="0" i="1" u="none" strike="noStrike" cap="none" normalizeH="0" baseline="0">
                          <a:ln>
                            <a:noFill/>
                          </a:ln>
                          <a:solidFill>
                            <a:schemeClr val="tx1"/>
                          </a:solidFill>
                          <a:effectLst/>
                          <a:latin typeface="Arial" charset="0"/>
                        </a:rPr>
                        <a:t>Variable</a:t>
                      </a:r>
                    </a:p>
                  </a:txBody>
                  <a:tcPr marT="45715" marB="45715"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3200" b="0" i="1" u="none" strike="noStrike" cap="none" normalizeH="0" baseline="0">
                          <a:ln>
                            <a:noFill/>
                          </a:ln>
                          <a:solidFill>
                            <a:schemeClr val="tx1"/>
                          </a:solidFill>
                          <a:effectLst/>
                          <a:latin typeface="Arial" charset="0"/>
                        </a:rPr>
                        <a:t>Cost</a:t>
                      </a:r>
                    </a:p>
                  </a:txBody>
                  <a:tcPr marT="45715" marB="45715"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579058">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3200" b="0" i="0" u="none" strike="noStrike" cap="none" normalizeH="0" baseline="0">
                          <a:ln>
                            <a:noFill/>
                          </a:ln>
                          <a:solidFill>
                            <a:schemeClr val="tx1"/>
                          </a:solidFill>
                          <a:effectLst/>
                          <a:latin typeface="Arial" charset="0"/>
                        </a:rPr>
                        <a:t>No treatment</a:t>
                      </a:r>
                    </a:p>
                  </a:txBody>
                  <a:tcPr marT="45715" marB="45715"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3200" b="0" i="0" u="none" strike="noStrike" cap="none" normalizeH="0" baseline="0">
                          <a:ln>
                            <a:noFill/>
                          </a:ln>
                          <a:solidFill>
                            <a:schemeClr val="tx1"/>
                          </a:solidFill>
                          <a:effectLst/>
                          <a:latin typeface="Arial" charset="0"/>
                        </a:rPr>
                        <a:t>$0</a:t>
                      </a:r>
                    </a:p>
                  </a:txBody>
                  <a:tcPr marT="45715" marB="45715"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579058">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3200" b="0" i="0" u="none" strike="noStrike" cap="none" normalizeH="0" baseline="0">
                          <a:ln>
                            <a:noFill/>
                          </a:ln>
                          <a:solidFill>
                            <a:schemeClr val="tx1"/>
                          </a:solidFill>
                          <a:effectLst/>
                          <a:latin typeface="Arial" charset="0"/>
                        </a:rPr>
                        <a:t>Treatment</a:t>
                      </a:r>
                    </a:p>
                  </a:txBody>
                  <a:tcPr marT="45715" marB="45715"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3200" b="0" i="0" u="none" strike="noStrike" cap="none" normalizeH="0" baseline="0">
                          <a:ln>
                            <a:noFill/>
                          </a:ln>
                          <a:solidFill>
                            <a:schemeClr val="tx1"/>
                          </a:solidFill>
                          <a:effectLst/>
                          <a:latin typeface="Arial" charset="0"/>
                        </a:rPr>
                        <a:t>$20,000</a:t>
                      </a:r>
                    </a:p>
                  </a:txBody>
                  <a:tcPr marT="45715" marB="45715"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579058">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3200" b="0" i="0" u="none" strike="noStrike" cap="none" normalizeH="0" baseline="0">
                          <a:ln>
                            <a:noFill/>
                          </a:ln>
                          <a:solidFill>
                            <a:schemeClr val="tx1"/>
                          </a:solidFill>
                          <a:effectLst/>
                          <a:latin typeface="Arial" charset="0"/>
                        </a:rPr>
                        <a:t>Test 1</a:t>
                      </a:r>
                    </a:p>
                  </a:txBody>
                  <a:tcPr marT="45715" marB="45715"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3200" b="0" i="0" u="none" strike="noStrike" cap="none" normalizeH="0" baseline="0">
                          <a:ln>
                            <a:noFill/>
                          </a:ln>
                          <a:solidFill>
                            <a:schemeClr val="tx1"/>
                          </a:solidFill>
                          <a:effectLst/>
                          <a:latin typeface="Arial" charset="0"/>
                        </a:rPr>
                        <a:t>$20</a:t>
                      </a:r>
                    </a:p>
                  </a:txBody>
                  <a:tcPr marT="45715" marB="45715"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79058">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3200" b="0" i="0" u="none" strike="noStrike" cap="none" normalizeH="0" baseline="0">
                          <a:ln>
                            <a:noFill/>
                          </a:ln>
                          <a:solidFill>
                            <a:schemeClr val="tx1"/>
                          </a:solidFill>
                          <a:effectLst/>
                          <a:latin typeface="Arial" charset="0"/>
                        </a:rPr>
                        <a:t>Test 2</a:t>
                      </a:r>
                    </a:p>
                  </a:txBody>
                  <a:tcPr marT="45715" marB="45715"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3200" b="0" i="0" u="none" strike="noStrike" cap="none" normalizeH="0" baseline="0">
                          <a:ln>
                            <a:noFill/>
                          </a:ln>
                          <a:solidFill>
                            <a:schemeClr val="tx1"/>
                          </a:solidFill>
                          <a:effectLst/>
                          <a:latin typeface="Arial" charset="0"/>
                        </a:rPr>
                        <a:t>$1,000</a:t>
                      </a:r>
                    </a:p>
                  </a:txBody>
                  <a:tcPr marT="45715" marB="45715"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1758" name="Line 28">
            <a:extLst>
              <a:ext uri="{FF2B5EF4-FFF2-40B4-BE49-F238E27FC236}">
                <a16:creationId xmlns:a16="http://schemas.microsoft.com/office/drawing/2014/main" id="{ABE556ED-CEA4-724E-88E7-36007BAD9246}"/>
              </a:ext>
            </a:extLst>
          </p:cNvPr>
          <p:cNvSpPr>
            <a:spLocks noChangeShapeType="1"/>
          </p:cNvSpPr>
          <p:nvPr/>
        </p:nvSpPr>
        <p:spPr bwMode="auto">
          <a:xfrm>
            <a:off x="2133600" y="2057400"/>
            <a:ext cx="7620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1759" name="Line 29">
            <a:extLst>
              <a:ext uri="{FF2B5EF4-FFF2-40B4-BE49-F238E27FC236}">
                <a16:creationId xmlns:a16="http://schemas.microsoft.com/office/drawing/2014/main" id="{953C03A0-49F6-0145-AB85-6EB0263365FE}"/>
              </a:ext>
            </a:extLst>
          </p:cNvPr>
          <p:cNvSpPr>
            <a:spLocks noChangeShapeType="1"/>
          </p:cNvSpPr>
          <p:nvPr/>
        </p:nvSpPr>
        <p:spPr bwMode="auto">
          <a:xfrm>
            <a:off x="2209800" y="1524000"/>
            <a:ext cx="7467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MX"/>
          </a:p>
        </p:txBody>
      </p:sp>
      <p:graphicFrame>
        <p:nvGraphicFramePr>
          <p:cNvPr id="1066039" name="Group 55">
            <a:extLst>
              <a:ext uri="{FF2B5EF4-FFF2-40B4-BE49-F238E27FC236}">
                <a16:creationId xmlns:a16="http://schemas.microsoft.com/office/drawing/2014/main" id="{23150640-C340-F749-B652-658AFB33ABB5}"/>
              </a:ext>
            </a:extLst>
          </p:cNvPr>
          <p:cNvGraphicFramePr>
            <a:graphicFrameLocks noGrp="1"/>
          </p:cNvGraphicFramePr>
          <p:nvPr/>
        </p:nvGraphicFramePr>
        <p:xfrm>
          <a:off x="2209800" y="4572001"/>
          <a:ext cx="7696200" cy="1737258"/>
        </p:xfrm>
        <a:graphic>
          <a:graphicData uri="http://schemas.openxmlformats.org/drawingml/2006/table">
            <a:tbl>
              <a:tblPr/>
              <a:tblGrid>
                <a:gridCol w="2565400">
                  <a:extLst>
                    <a:ext uri="{9D8B030D-6E8A-4147-A177-3AD203B41FA5}">
                      <a16:colId xmlns:a16="http://schemas.microsoft.com/office/drawing/2014/main" val="20000"/>
                    </a:ext>
                  </a:extLst>
                </a:gridCol>
                <a:gridCol w="2565400">
                  <a:extLst>
                    <a:ext uri="{9D8B030D-6E8A-4147-A177-3AD203B41FA5}">
                      <a16:colId xmlns:a16="http://schemas.microsoft.com/office/drawing/2014/main" val="20001"/>
                    </a:ext>
                  </a:extLst>
                </a:gridCol>
                <a:gridCol w="2565400">
                  <a:extLst>
                    <a:ext uri="{9D8B030D-6E8A-4147-A177-3AD203B41FA5}">
                      <a16:colId xmlns:a16="http://schemas.microsoft.com/office/drawing/2014/main" val="20002"/>
                    </a:ext>
                  </a:extLst>
                </a:gridCol>
              </a:tblGrid>
              <a:tr h="578908">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3200" b="0" i="1" u="none" strike="noStrike" cap="none" normalizeH="0" baseline="0">
                          <a:ln>
                            <a:noFill/>
                          </a:ln>
                          <a:solidFill>
                            <a:schemeClr val="tx1"/>
                          </a:solidFill>
                          <a:effectLst/>
                          <a:latin typeface="Arial" charset="0"/>
                        </a:rPr>
                        <a:t>Test</a:t>
                      </a:r>
                    </a:p>
                  </a:txBody>
                  <a:tcPr marT="45703" marB="45703" horzOverflow="overflow">
                    <a:lnL cap="flat">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3200" b="0" i="1" u="none" strike="noStrike" cap="none" normalizeH="0" baseline="0">
                          <a:ln>
                            <a:noFill/>
                          </a:ln>
                          <a:solidFill>
                            <a:schemeClr val="tx1"/>
                          </a:solidFill>
                          <a:effectLst/>
                          <a:latin typeface="Arial" charset="0"/>
                        </a:rPr>
                        <a:t>Sensitivity</a:t>
                      </a:r>
                    </a:p>
                  </a:txBody>
                  <a:tcPr marT="45703" marB="45703"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3200" b="0" i="1" u="none" strike="noStrike" cap="none" normalizeH="0" baseline="0">
                          <a:ln>
                            <a:noFill/>
                          </a:ln>
                          <a:solidFill>
                            <a:schemeClr val="tx1"/>
                          </a:solidFill>
                          <a:effectLst/>
                          <a:latin typeface="Arial" charset="0"/>
                        </a:rPr>
                        <a:t>Specificity</a:t>
                      </a:r>
                    </a:p>
                  </a:txBody>
                  <a:tcPr marT="45703" marB="45703" horzOverflow="overflow">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8908">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3200" b="0" i="0" u="none" strike="noStrike" cap="none" normalizeH="0" baseline="0">
                          <a:ln>
                            <a:noFill/>
                          </a:ln>
                          <a:solidFill>
                            <a:schemeClr val="tx1"/>
                          </a:solidFill>
                          <a:effectLst/>
                          <a:latin typeface="Arial" charset="0"/>
                        </a:rPr>
                        <a:t>Test 1</a:t>
                      </a:r>
                    </a:p>
                  </a:txBody>
                  <a:tcPr marT="45703" marB="45703" horzOverflow="overflow">
                    <a:lnL cap="flat">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tab pos="857250" algn="ctr"/>
                        </a:tabLst>
                      </a:pPr>
                      <a:r>
                        <a:rPr kumimoji="0" lang="en-US" sz="3200" b="0" i="0" u="none" strike="noStrike" cap="none" normalizeH="0" baseline="0">
                          <a:ln>
                            <a:noFill/>
                          </a:ln>
                          <a:solidFill>
                            <a:schemeClr val="tx1"/>
                          </a:solidFill>
                          <a:effectLst/>
                          <a:latin typeface="Arial" charset="0"/>
                        </a:rPr>
                        <a:t>    0.90</a:t>
                      </a:r>
                    </a:p>
                  </a:txBody>
                  <a:tcPr marT="45703" marB="45703"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3200" b="0" i="0" u="none" strike="noStrike" cap="none" normalizeH="0" baseline="0">
                          <a:ln>
                            <a:noFill/>
                          </a:ln>
                          <a:solidFill>
                            <a:schemeClr val="tx1"/>
                          </a:solidFill>
                          <a:effectLst/>
                          <a:latin typeface="Arial" charset="0"/>
                        </a:rPr>
                        <a:t>     0.95</a:t>
                      </a:r>
                    </a:p>
                  </a:txBody>
                  <a:tcPr marT="45703" marB="45703" horzOverflow="overflow">
                    <a:lnL>
                      <a:noFill/>
                    </a:lnL>
                    <a:lnR cap="flat">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578908">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3200" b="0" i="0" u="none" strike="noStrike" cap="none" normalizeH="0" baseline="0">
                          <a:ln>
                            <a:noFill/>
                          </a:ln>
                          <a:solidFill>
                            <a:schemeClr val="tx1"/>
                          </a:solidFill>
                          <a:effectLst/>
                          <a:latin typeface="Arial" charset="0"/>
                        </a:rPr>
                        <a:t>Test 2</a:t>
                      </a:r>
                    </a:p>
                  </a:txBody>
                  <a:tcPr marT="45703" marB="45703" horzOverflow="overflow">
                    <a:lnL cap="flat">
                      <a:noFill/>
                    </a:lnL>
                    <a:lnR>
                      <a:noFill/>
                    </a:lnR>
                    <a:lnT>
                      <a:noFill/>
                    </a:lnT>
                    <a:lnB cap="flat">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3200" b="0" i="0" u="none" strike="noStrike" cap="none" normalizeH="0" baseline="0">
                          <a:ln>
                            <a:noFill/>
                          </a:ln>
                          <a:solidFill>
                            <a:schemeClr val="tx1"/>
                          </a:solidFill>
                          <a:effectLst/>
                          <a:latin typeface="Arial" charset="0"/>
                        </a:rPr>
                        <a:t>     1.0</a:t>
                      </a:r>
                    </a:p>
                  </a:txBody>
                  <a:tcPr marT="45703" marB="45703" horzOverflow="overflow">
                    <a:lnL>
                      <a:noFill/>
                    </a:lnL>
                    <a:lnR>
                      <a:noFill/>
                    </a:lnR>
                    <a:lnT>
                      <a:noFill/>
                    </a:lnT>
                    <a:lnB cap="flat">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3200" b="0" i="0" u="none" strike="noStrike" cap="none" normalizeH="0" baseline="0">
                          <a:ln>
                            <a:noFill/>
                          </a:ln>
                          <a:solidFill>
                            <a:schemeClr val="tx1"/>
                          </a:solidFill>
                          <a:effectLst/>
                          <a:latin typeface="Arial" charset="0"/>
                        </a:rPr>
                        <a:t>      1.0</a:t>
                      </a:r>
                    </a:p>
                  </a:txBody>
                  <a:tcPr marT="45703" marB="45703"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2"/>
                  </a:ext>
                </a:extLst>
              </a:tr>
            </a:tbl>
          </a:graphicData>
        </a:graphic>
      </p:graphicFrame>
      <p:sp>
        <p:nvSpPr>
          <p:cNvPr id="31771" name="Line 53">
            <a:extLst>
              <a:ext uri="{FF2B5EF4-FFF2-40B4-BE49-F238E27FC236}">
                <a16:creationId xmlns:a16="http://schemas.microsoft.com/office/drawing/2014/main" id="{1BBE0752-DC7D-8F41-8B06-4B4913565322}"/>
              </a:ext>
            </a:extLst>
          </p:cNvPr>
          <p:cNvSpPr>
            <a:spLocks noChangeShapeType="1"/>
          </p:cNvSpPr>
          <p:nvPr/>
        </p:nvSpPr>
        <p:spPr bwMode="auto">
          <a:xfrm flipV="1">
            <a:off x="2209800" y="4572000"/>
            <a:ext cx="7696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1772" name="Text Box 54">
            <a:extLst>
              <a:ext uri="{FF2B5EF4-FFF2-40B4-BE49-F238E27FC236}">
                <a16:creationId xmlns:a16="http://schemas.microsoft.com/office/drawing/2014/main" id="{97A3B85E-CE29-EF4D-8B33-EEE6B4C4E873}"/>
              </a:ext>
            </a:extLst>
          </p:cNvPr>
          <p:cNvSpPr txBox="1">
            <a:spLocks noChangeArrowheads="1"/>
          </p:cNvSpPr>
          <p:nvPr/>
        </p:nvSpPr>
        <p:spPr bwMode="auto">
          <a:xfrm>
            <a:off x="6172200" y="6248400"/>
            <a:ext cx="312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2400" b="0"/>
              <a:t>Prevalence = 0.01</a:t>
            </a:r>
          </a:p>
        </p:txBody>
      </p:sp>
    </p:spTree>
    <p:extLst>
      <p:ext uri="{BB962C8B-B14F-4D97-AF65-F5344CB8AC3E}">
        <p14:creationId xmlns:p14="http://schemas.microsoft.com/office/powerpoint/2010/main" val="2043979677"/>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Line 2">
            <a:extLst>
              <a:ext uri="{FF2B5EF4-FFF2-40B4-BE49-F238E27FC236}">
                <a16:creationId xmlns:a16="http://schemas.microsoft.com/office/drawing/2014/main" id="{ED20FAC1-E9B3-9F4A-BE81-E36E717F5AA3}"/>
              </a:ext>
            </a:extLst>
          </p:cNvPr>
          <p:cNvSpPr>
            <a:spLocks noChangeShapeType="1"/>
          </p:cNvSpPr>
          <p:nvPr/>
        </p:nvSpPr>
        <p:spPr bwMode="auto">
          <a:xfrm>
            <a:off x="4038600" y="1749425"/>
            <a:ext cx="408463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2771" name="Freeform 3">
            <a:extLst>
              <a:ext uri="{FF2B5EF4-FFF2-40B4-BE49-F238E27FC236}">
                <a16:creationId xmlns:a16="http://schemas.microsoft.com/office/drawing/2014/main" id="{BAA7FAFB-A38D-344D-B15D-20EFEA56CFBB}"/>
              </a:ext>
            </a:extLst>
          </p:cNvPr>
          <p:cNvSpPr>
            <a:spLocks/>
          </p:cNvSpPr>
          <p:nvPr/>
        </p:nvSpPr>
        <p:spPr bwMode="auto">
          <a:xfrm>
            <a:off x="8123238" y="1643064"/>
            <a:ext cx="203200" cy="212725"/>
          </a:xfrm>
          <a:custGeom>
            <a:avLst/>
            <a:gdLst>
              <a:gd name="T0" fmla="*/ 0 w 128"/>
              <a:gd name="T1" fmla="*/ 168851235 h 134"/>
              <a:gd name="T2" fmla="*/ 322579945 w 128"/>
              <a:gd name="T3" fmla="*/ 0 h 134"/>
              <a:gd name="T4" fmla="*/ 322579945 w 128"/>
              <a:gd name="T5" fmla="*/ 337700883 h 134"/>
              <a:gd name="T6" fmla="*/ 0 w 128"/>
              <a:gd name="T7" fmla="*/ 168851235 h 134"/>
              <a:gd name="T8" fmla="*/ 0 60000 65536"/>
              <a:gd name="T9" fmla="*/ 0 60000 65536"/>
              <a:gd name="T10" fmla="*/ 0 60000 65536"/>
              <a:gd name="T11" fmla="*/ 0 60000 65536"/>
              <a:gd name="T12" fmla="*/ 0 w 128"/>
              <a:gd name="T13" fmla="*/ 0 h 134"/>
              <a:gd name="T14" fmla="*/ 128 w 128"/>
              <a:gd name="T15" fmla="*/ 134 h 134"/>
            </a:gdLst>
            <a:ahLst/>
            <a:cxnLst>
              <a:cxn ang="T8">
                <a:pos x="T0" y="T1"/>
              </a:cxn>
              <a:cxn ang="T9">
                <a:pos x="T2" y="T3"/>
              </a:cxn>
              <a:cxn ang="T10">
                <a:pos x="T4" y="T5"/>
              </a:cxn>
              <a:cxn ang="T11">
                <a:pos x="T6" y="T7"/>
              </a:cxn>
            </a:cxnLst>
            <a:rect l="T12" t="T13" r="T14" b="T15"/>
            <a:pathLst>
              <a:path w="128" h="134">
                <a:moveTo>
                  <a:pt x="0" y="67"/>
                </a:moveTo>
                <a:lnTo>
                  <a:pt x="128" y="0"/>
                </a:lnTo>
                <a:lnTo>
                  <a:pt x="128" y="134"/>
                </a:lnTo>
                <a:lnTo>
                  <a:pt x="0" y="67"/>
                </a:lnTo>
                <a:close/>
              </a:path>
            </a:pathLst>
          </a:custGeom>
          <a:solidFill>
            <a:srgbClr val="FFFFFF"/>
          </a:solidFill>
          <a:ln w="25400">
            <a:solidFill>
              <a:srgbClr val="FF0000"/>
            </a:solidFill>
            <a:prstDash val="solid"/>
            <a:round/>
            <a:headEnd/>
            <a:tailEnd/>
          </a:ln>
        </p:spPr>
        <p:txBody>
          <a:bodyPr/>
          <a:lstStyle/>
          <a:p>
            <a:endParaRPr lang="en-MX"/>
          </a:p>
        </p:txBody>
      </p:sp>
      <p:sp>
        <p:nvSpPr>
          <p:cNvPr id="32772" name="Rectangle 4">
            <a:extLst>
              <a:ext uri="{FF2B5EF4-FFF2-40B4-BE49-F238E27FC236}">
                <a16:creationId xmlns:a16="http://schemas.microsoft.com/office/drawing/2014/main" id="{9083CABE-21CF-CF4F-8C92-AB7B10F3037B}"/>
              </a:ext>
            </a:extLst>
          </p:cNvPr>
          <p:cNvSpPr>
            <a:spLocks noChangeArrowheads="1"/>
          </p:cNvSpPr>
          <p:nvPr/>
        </p:nvSpPr>
        <p:spPr bwMode="auto">
          <a:xfrm>
            <a:off x="4038601" y="1371600"/>
            <a:ext cx="11588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b="0">
                <a:solidFill>
                  <a:srgbClr val="000000"/>
                </a:solidFill>
              </a:rPr>
              <a:t>Disease Y</a:t>
            </a:r>
            <a:endParaRPr lang="en-US" altLang="en-MX" sz="3200" b="0">
              <a:solidFill>
                <a:srgbClr val="000000"/>
              </a:solidFill>
            </a:endParaRPr>
          </a:p>
        </p:txBody>
      </p:sp>
      <p:sp>
        <p:nvSpPr>
          <p:cNvPr id="32773" name="Rectangle 5">
            <a:extLst>
              <a:ext uri="{FF2B5EF4-FFF2-40B4-BE49-F238E27FC236}">
                <a16:creationId xmlns:a16="http://schemas.microsoft.com/office/drawing/2014/main" id="{89B97168-2DA2-5F49-ACB2-1339EEEF2F82}"/>
              </a:ext>
            </a:extLst>
          </p:cNvPr>
          <p:cNvSpPr>
            <a:spLocks noChangeArrowheads="1"/>
          </p:cNvSpPr>
          <p:nvPr/>
        </p:nvSpPr>
        <p:spPr bwMode="auto">
          <a:xfrm>
            <a:off x="4999038" y="1820864"/>
            <a:ext cx="4445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1800" b="0">
                <a:solidFill>
                  <a:srgbClr val="000000"/>
                </a:solidFill>
              </a:rPr>
              <a:t>0.01</a:t>
            </a:r>
          </a:p>
        </p:txBody>
      </p:sp>
      <p:sp>
        <p:nvSpPr>
          <p:cNvPr id="32774" name="Line 6">
            <a:extLst>
              <a:ext uri="{FF2B5EF4-FFF2-40B4-BE49-F238E27FC236}">
                <a16:creationId xmlns:a16="http://schemas.microsoft.com/office/drawing/2014/main" id="{6716AAE0-B0F1-1543-859F-05199BC6E1E4}"/>
              </a:ext>
            </a:extLst>
          </p:cNvPr>
          <p:cNvSpPr>
            <a:spLocks noChangeShapeType="1"/>
          </p:cNvSpPr>
          <p:nvPr/>
        </p:nvSpPr>
        <p:spPr bwMode="auto">
          <a:xfrm>
            <a:off x="4038600" y="2387600"/>
            <a:ext cx="408463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2775" name="Freeform 7">
            <a:extLst>
              <a:ext uri="{FF2B5EF4-FFF2-40B4-BE49-F238E27FC236}">
                <a16:creationId xmlns:a16="http://schemas.microsoft.com/office/drawing/2014/main" id="{C5EBE95F-5557-7342-98CD-DDB33C904D13}"/>
              </a:ext>
            </a:extLst>
          </p:cNvPr>
          <p:cNvSpPr>
            <a:spLocks/>
          </p:cNvSpPr>
          <p:nvPr/>
        </p:nvSpPr>
        <p:spPr bwMode="auto">
          <a:xfrm>
            <a:off x="8123238" y="2281239"/>
            <a:ext cx="203200" cy="212725"/>
          </a:xfrm>
          <a:custGeom>
            <a:avLst/>
            <a:gdLst>
              <a:gd name="T0" fmla="*/ 0 w 128"/>
              <a:gd name="T1" fmla="*/ 168851235 h 134"/>
              <a:gd name="T2" fmla="*/ 322579945 w 128"/>
              <a:gd name="T3" fmla="*/ 0 h 134"/>
              <a:gd name="T4" fmla="*/ 322579945 w 128"/>
              <a:gd name="T5" fmla="*/ 337700883 h 134"/>
              <a:gd name="T6" fmla="*/ 0 w 128"/>
              <a:gd name="T7" fmla="*/ 168851235 h 134"/>
              <a:gd name="T8" fmla="*/ 0 60000 65536"/>
              <a:gd name="T9" fmla="*/ 0 60000 65536"/>
              <a:gd name="T10" fmla="*/ 0 60000 65536"/>
              <a:gd name="T11" fmla="*/ 0 60000 65536"/>
              <a:gd name="T12" fmla="*/ 0 w 128"/>
              <a:gd name="T13" fmla="*/ 0 h 134"/>
              <a:gd name="T14" fmla="*/ 128 w 128"/>
              <a:gd name="T15" fmla="*/ 134 h 134"/>
            </a:gdLst>
            <a:ahLst/>
            <a:cxnLst>
              <a:cxn ang="T8">
                <a:pos x="T0" y="T1"/>
              </a:cxn>
              <a:cxn ang="T9">
                <a:pos x="T2" y="T3"/>
              </a:cxn>
              <a:cxn ang="T10">
                <a:pos x="T4" y="T5"/>
              </a:cxn>
              <a:cxn ang="T11">
                <a:pos x="T6" y="T7"/>
              </a:cxn>
            </a:cxnLst>
            <a:rect l="T12" t="T13" r="T14" b="T15"/>
            <a:pathLst>
              <a:path w="128" h="134">
                <a:moveTo>
                  <a:pt x="0" y="67"/>
                </a:moveTo>
                <a:lnTo>
                  <a:pt x="128" y="0"/>
                </a:lnTo>
                <a:lnTo>
                  <a:pt x="128" y="134"/>
                </a:lnTo>
                <a:lnTo>
                  <a:pt x="0" y="67"/>
                </a:lnTo>
                <a:close/>
              </a:path>
            </a:pathLst>
          </a:custGeom>
          <a:solidFill>
            <a:srgbClr val="FFFFFF"/>
          </a:solidFill>
          <a:ln w="25400">
            <a:solidFill>
              <a:srgbClr val="FF0000"/>
            </a:solidFill>
            <a:prstDash val="solid"/>
            <a:round/>
            <a:headEnd/>
            <a:tailEnd/>
          </a:ln>
        </p:spPr>
        <p:txBody>
          <a:bodyPr/>
          <a:lstStyle/>
          <a:p>
            <a:endParaRPr lang="en-MX"/>
          </a:p>
        </p:txBody>
      </p:sp>
      <p:sp>
        <p:nvSpPr>
          <p:cNvPr id="32776" name="Rectangle 8">
            <a:extLst>
              <a:ext uri="{FF2B5EF4-FFF2-40B4-BE49-F238E27FC236}">
                <a16:creationId xmlns:a16="http://schemas.microsoft.com/office/drawing/2014/main" id="{27DB909B-B890-954E-A780-E15B27D891F4}"/>
              </a:ext>
            </a:extLst>
          </p:cNvPr>
          <p:cNvSpPr>
            <a:spLocks noChangeArrowheads="1"/>
          </p:cNvSpPr>
          <p:nvPr/>
        </p:nvSpPr>
        <p:spPr bwMode="auto">
          <a:xfrm>
            <a:off x="4038601" y="1992313"/>
            <a:ext cx="15541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b="0">
                <a:solidFill>
                  <a:srgbClr val="000000"/>
                </a:solidFill>
              </a:rPr>
              <a:t>No Disease Y</a:t>
            </a:r>
            <a:endParaRPr lang="en-US" altLang="en-MX" sz="3200" b="0">
              <a:solidFill>
                <a:srgbClr val="000000"/>
              </a:solidFill>
            </a:endParaRPr>
          </a:p>
        </p:txBody>
      </p:sp>
      <p:sp>
        <p:nvSpPr>
          <p:cNvPr id="32777" name="Rectangle 9">
            <a:extLst>
              <a:ext uri="{FF2B5EF4-FFF2-40B4-BE49-F238E27FC236}">
                <a16:creationId xmlns:a16="http://schemas.microsoft.com/office/drawing/2014/main" id="{EE9F4B53-75E8-1849-A14A-43FD607A050C}"/>
              </a:ext>
            </a:extLst>
          </p:cNvPr>
          <p:cNvSpPr>
            <a:spLocks noChangeArrowheads="1"/>
          </p:cNvSpPr>
          <p:nvPr/>
        </p:nvSpPr>
        <p:spPr bwMode="auto">
          <a:xfrm>
            <a:off x="4999038" y="2459039"/>
            <a:ext cx="4445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1800" b="0">
                <a:solidFill>
                  <a:srgbClr val="000000"/>
                </a:solidFill>
              </a:rPr>
              <a:t>0.99</a:t>
            </a:r>
          </a:p>
        </p:txBody>
      </p:sp>
      <p:sp>
        <p:nvSpPr>
          <p:cNvPr id="32778" name="Freeform 10">
            <a:extLst>
              <a:ext uri="{FF2B5EF4-FFF2-40B4-BE49-F238E27FC236}">
                <a16:creationId xmlns:a16="http://schemas.microsoft.com/office/drawing/2014/main" id="{C663B2E2-0DE7-F842-A4DD-96316072B1E9}"/>
              </a:ext>
            </a:extLst>
          </p:cNvPr>
          <p:cNvSpPr>
            <a:spLocks/>
          </p:cNvSpPr>
          <p:nvPr/>
        </p:nvSpPr>
        <p:spPr bwMode="auto">
          <a:xfrm>
            <a:off x="3779838" y="1749425"/>
            <a:ext cx="258762" cy="319088"/>
          </a:xfrm>
          <a:custGeom>
            <a:avLst/>
            <a:gdLst>
              <a:gd name="T0" fmla="*/ 0 w 14"/>
              <a:gd name="T1" fmla="*/ 2147483647 h 18"/>
              <a:gd name="T2" fmla="*/ 0 w 14"/>
              <a:gd name="T3" fmla="*/ 0 h 18"/>
              <a:gd name="T4" fmla="*/ 2147483647 w 14"/>
              <a:gd name="T5" fmla="*/ 0 h 18"/>
              <a:gd name="T6" fmla="*/ 0 60000 65536"/>
              <a:gd name="T7" fmla="*/ 0 60000 65536"/>
              <a:gd name="T8" fmla="*/ 0 60000 65536"/>
              <a:gd name="T9" fmla="*/ 0 w 14"/>
              <a:gd name="T10" fmla="*/ 0 h 18"/>
              <a:gd name="T11" fmla="*/ 14 w 14"/>
              <a:gd name="T12" fmla="*/ 18 h 18"/>
            </a:gdLst>
            <a:ahLst/>
            <a:cxnLst>
              <a:cxn ang="T6">
                <a:pos x="T0" y="T1"/>
              </a:cxn>
              <a:cxn ang="T7">
                <a:pos x="T2" y="T3"/>
              </a:cxn>
              <a:cxn ang="T8">
                <a:pos x="T4" y="T5"/>
              </a:cxn>
            </a:cxnLst>
            <a:rect l="T9" t="T10" r="T11" b="T12"/>
            <a:pathLst>
              <a:path w="14" h="18">
                <a:moveTo>
                  <a:pt x="0" y="18"/>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32779" name="Freeform 11">
            <a:extLst>
              <a:ext uri="{FF2B5EF4-FFF2-40B4-BE49-F238E27FC236}">
                <a16:creationId xmlns:a16="http://schemas.microsoft.com/office/drawing/2014/main" id="{2ECDDC72-6229-E444-B630-55881FC3BFC3}"/>
              </a:ext>
            </a:extLst>
          </p:cNvPr>
          <p:cNvSpPr>
            <a:spLocks/>
          </p:cNvSpPr>
          <p:nvPr/>
        </p:nvSpPr>
        <p:spPr bwMode="auto">
          <a:xfrm>
            <a:off x="3779838" y="2068514"/>
            <a:ext cx="258762" cy="319087"/>
          </a:xfrm>
          <a:custGeom>
            <a:avLst/>
            <a:gdLst>
              <a:gd name="T0" fmla="*/ 0 w 14"/>
              <a:gd name="T1" fmla="*/ 0 h 18"/>
              <a:gd name="T2" fmla="*/ 0 w 14"/>
              <a:gd name="T3" fmla="*/ 2147483647 h 18"/>
              <a:gd name="T4" fmla="*/ 2147483647 w 14"/>
              <a:gd name="T5" fmla="*/ 2147483647 h 18"/>
              <a:gd name="T6" fmla="*/ 0 60000 65536"/>
              <a:gd name="T7" fmla="*/ 0 60000 65536"/>
              <a:gd name="T8" fmla="*/ 0 60000 65536"/>
              <a:gd name="T9" fmla="*/ 0 w 14"/>
              <a:gd name="T10" fmla="*/ 0 h 18"/>
              <a:gd name="T11" fmla="*/ 14 w 14"/>
              <a:gd name="T12" fmla="*/ 18 h 18"/>
            </a:gdLst>
            <a:ahLst/>
            <a:cxnLst>
              <a:cxn ang="T6">
                <a:pos x="T0" y="T1"/>
              </a:cxn>
              <a:cxn ang="T7">
                <a:pos x="T2" y="T3"/>
              </a:cxn>
              <a:cxn ang="T8">
                <a:pos x="T4" y="T5"/>
              </a:cxn>
            </a:cxnLst>
            <a:rect l="T9" t="T10" r="T11" b="T12"/>
            <a:pathLst>
              <a:path w="14" h="18">
                <a:moveTo>
                  <a:pt x="0" y="0"/>
                </a:moveTo>
                <a:lnTo>
                  <a:pt x="0" y="18"/>
                </a:lnTo>
                <a:lnTo>
                  <a:pt x="14" y="18"/>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32780" name="Line 12">
            <a:extLst>
              <a:ext uri="{FF2B5EF4-FFF2-40B4-BE49-F238E27FC236}">
                <a16:creationId xmlns:a16="http://schemas.microsoft.com/office/drawing/2014/main" id="{7A58F17A-53E2-C946-9B0E-E724D7BFED74}"/>
              </a:ext>
            </a:extLst>
          </p:cNvPr>
          <p:cNvSpPr>
            <a:spLocks noChangeShapeType="1"/>
          </p:cNvSpPr>
          <p:nvPr/>
        </p:nvSpPr>
        <p:spPr bwMode="auto">
          <a:xfrm>
            <a:off x="2449513" y="2068514"/>
            <a:ext cx="121920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2781" name="Oval 13">
            <a:extLst>
              <a:ext uri="{FF2B5EF4-FFF2-40B4-BE49-F238E27FC236}">
                <a16:creationId xmlns:a16="http://schemas.microsoft.com/office/drawing/2014/main" id="{84DEDE3D-DB08-9A4B-8658-BE3E4C0DEE95}"/>
              </a:ext>
            </a:extLst>
          </p:cNvPr>
          <p:cNvSpPr>
            <a:spLocks noChangeArrowheads="1"/>
          </p:cNvSpPr>
          <p:nvPr/>
        </p:nvSpPr>
        <p:spPr bwMode="auto">
          <a:xfrm>
            <a:off x="3668713" y="1962151"/>
            <a:ext cx="203200" cy="212725"/>
          </a:xfrm>
          <a:prstGeom prst="ellipse">
            <a:avLst/>
          </a:prstGeom>
          <a:solidFill>
            <a:schemeClr val="bg1"/>
          </a:solidFill>
          <a:ln w="25400">
            <a:solidFill>
              <a:srgbClr val="008000"/>
            </a:solidFill>
            <a:round/>
            <a:headEnd/>
            <a:tailEnd/>
          </a:ln>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32782" name="Rectangle 14">
            <a:extLst>
              <a:ext uri="{FF2B5EF4-FFF2-40B4-BE49-F238E27FC236}">
                <a16:creationId xmlns:a16="http://schemas.microsoft.com/office/drawing/2014/main" id="{E022C040-83E0-B841-9418-CD74AD6BF657}"/>
              </a:ext>
            </a:extLst>
          </p:cNvPr>
          <p:cNvSpPr>
            <a:spLocks noChangeArrowheads="1"/>
          </p:cNvSpPr>
          <p:nvPr/>
        </p:nvSpPr>
        <p:spPr bwMode="auto">
          <a:xfrm>
            <a:off x="2362200" y="1676400"/>
            <a:ext cx="946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b="0">
                <a:solidFill>
                  <a:srgbClr val="000000"/>
                </a:solidFill>
              </a:rPr>
              <a:t>Treat All</a:t>
            </a:r>
            <a:endParaRPr lang="en-US" altLang="en-MX" sz="3200" b="0">
              <a:solidFill>
                <a:srgbClr val="000000"/>
              </a:solidFill>
            </a:endParaRPr>
          </a:p>
        </p:txBody>
      </p:sp>
      <p:sp>
        <p:nvSpPr>
          <p:cNvPr id="32783" name="Freeform 15">
            <a:extLst>
              <a:ext uri="{FF2B5EF4-FFF2-40B4-BE49-F238E27FC236}">
                <a16:creationId xmlns:a16="http://schemas.microsoft.com/office/drawing/2014/main" id="{FB4CF0E8-2159-2C42-8F10-5BE3EE437E6B}"/>
              </a:ext>
            </a:extLst>
          </p:cNvPr>
          <p:cNvSpPr>
            <a:spLocks/>
          </p:cNvSpPr>
          <p:nvPr/>
        </p:nvSpPr>
        <p:spPr bwMode="auto">
          <a:xfrm>
            <a:off x="8123238" y="3840164"/>
            <a:ext cx="203200" cy="212725"/>
          </a:xfrm>
          <a:custGeom>
            <a:avLst/>
            <a:gdLst>
              <a:gd name="T0" fmla="*/ 0 w 128"/>
              <a:gd name="T1" fmla="*/ 168851235 h 134"/>
              <a:gd name="T2" fmla="*/ 322579945 w 128"/>
              <a:gd name="T3" fmla="*/ 0 h 134"/>
              <a:gd name="T4" fmla="*/ 322579945 w 128"/>
              <a:gd name="T5" fmla="*/ 337700883 h 134"/>
              <a:gd name="T6" fmla="*/ 0 w 128"/>
              <a:gd name="T7" fmla="*/ 168851235 h 134"/>
              <a:gd name="T8" fmla="*/ 0 60000 65536"/>
              <a:gd name="T9" fmla="*/ 0 60000 65536"/>
              <a:gd name="T10" fmla="*/ 0 60000 65536"/>
              <a:gd name="T11" fmla="*/ 0 60000 65536"/>
              <a:gd name="T12" fmla="*/ 0 w 128"/>
              <a:gd name="T13" fmla="*/ 0 h 134"/>
              <a:gd name="T14" fmla="*/ 128 w 128"/>
              <a:gd name="T15" fmla="*/ 134 h 134"/>
            </a:gdLst>
            <a:ahLst/>
            <a:cxnLst>
              <a:cxn ang="T8">
                <a:pos x="T0" y="T1"/>
              </a:cxn>
              <a:cxn ang="T9">
                <a:pos x="T2" y="T3"/>
              </a:cxn>
              <a:cxn ang="T10">
                <a:pos x="T4" y="T5"/>
              </a:cxn>
              <a:cxn ang="T11">
                <a:pos x="T6" y="T7"/>
              </a:cxn>
            </a:cxnLst>
            <a:rect l="T12" t="T13" r="T14" b="T15"/>
            <a:pathLst>
              <a:path w="128" h="134">
                <a:moveTo>
                  <a:pt x="0" y="67"/>
                </a:moveTo>
                <a:lnTo>
                  <a:pt x="128" y="0"/>
                </a:lnTo>
                <a:lnTo>
                  <a:pt x="128" y="134"/>
                </a:lnTo>
                <a:lnTo>
                  <a:pt x="0" y="67"/>
                </a:lnTo>
                <a:close/>
              </a:path>
            </a:pathLst>
          </a:custGeom>
          <a:solidFill>
            <a:srgbClr val="FFFFFF"/>
          </a:solidFill>
          <a:ln w="25400">
            <a:solidFill>
              <a:srgbClr val="FF0000"/>
            </a:solidFill>
            <a:prstDash val="solid"/>
            <a:round/>
            <a:headEnd/>
            <a:tailEnd/>
          </a:ln>
        </p:spPr>
        <p:txBody>
          <a:bodyPr/>
          <a:lstStyle/>
          <a:p>
            <a:endParaRPr lang="en-MX"/>
          </a:p>
        </p:txBody>
      </p:sp>
      <p:sp>
        <p:nvSpPr>
          <p:cNvPr id="32784" name="Rectangle 16">
            <a:extLst>
              <a:ext uri="{FF2B5EF4-FFF2-40B4-BE49-F238E27FC236}">
                <a16:creationId xmlns:a16="http://schemas.microsoft.com/office/drawing/2014/main" id="{F69AE7A3-A07F-7D4F-92B5-A34A3263C1D9}"/>
              </a:ext>
            </a:extLst>
          </p:cNvPr>
          <p:cNvSpPr>
            <a:spLocks noChangeArrowheads="1"/>
          </p:cNvSpPr>
          <p:nvPr/>
        </p:nvSpPr>
        <p:spPr bwMode="auto">
          <a:xfrm>
            <a:off x="6383339" y="3581400"/>
            <a:ext cx="11588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b="0">
                <a:solidFill>
                  <a:srgbClr val="000000"/>
                </a:solidFill>
              </a:rPr>
              <a:t>Disease Y</a:t>
            </a:r>
            <a:endParaRPr lang="en-US" altLang="en-MX" sz="3200" b="0">
              <a:solidFill>
                <a:srgbClr val="000000"/>
              </a:solidFill>
            </a:endParaRPr>
          </a:p>
        </p:txBody>
      </p:sp>
      <p:sp>
        <p:nvSpPr>
          <p:cNvPr id="32785" name="Freeform 17">
            <a:extLst>
              <a:ext uri="{FF2B5EF4-FFF2-40B4-BE49-F238E27FC236}">
                <a16:creationId xmlns:a16="http://schemas.microsoft.com/office/drawing/2014/main" id="{2C07AA24-63BD-FA4E-8081-110E8C8A8A21}"/>
              </a:ext>
            </a:extLst>
          </p:cNvPr>
          <p:cNvSpPr>
            <a:spLocks/>
          </p:cNvSpPr>
          <p:nvPr/>
        </p:nvSpPr>
        <p:spPr bwMode="auto">
          <a:xfrm>
            <a:off x="8097838" y="4572001"/>
            <a:ext cx="203200" cy="212725"/>
          </a:xfrm>
          <a:custGeom>
            <a:avLst/>
            <a:gdLst>
              <a:gd name="T0" fmla="*/ 0 w 128"/>
              <a:gd name="T1" fmla="*/ 168851235 h 134"/>
              <a:gd name="T2" fmla="*/ 322579945 w 128"/>
              <a:gd name="T3" fmla="*/ 0 h 134"/>
              <a:gd name="T4" fmla="*/ 322579945 w 128"/>
              <a:gd name="T5" fmla="*/ 337700883 h 134"/>
              <a:gd name="T6" fmla="*/ 0 w 128"/>
              <a:gd name="T7" fmla="*/ 168851235 h 134"/>
              <a:gd name="T8" fmla="*/ 0 60000 65536"/>
              <a:gd name="T9" fmla="*/ 0 60000 65536"/>
              <a:gd name="T10" fmla="*/ 0 60000 65536"/>
              <a:gd name="T11" fmla="*/ 0 60000 65536"/>
              <a:gd name="T12" fmla="*/ 0 w 128"/>
              <a:gd name="T13" fmla="*/ 0 h 134"/>
              <a:gd name="T14" fmla="*/ 128 w 128"/>
              <a:gd name="T15" fmla="*/ 134 h 134"/>
            </a:gdLst>
            <a:ahLst/>
            <a:cxnLst>
              <a:cxn ang="T8">
                <a:pos x="T0" y="T1"/>
              </a:cxn>
              <a:cxn ang="T9">
                <a:pos x="T2" y="T3"/>
              </a:cxn>
              <a:cxn ang="T10">
                <a:pos x="T4" y="T5"/>
              </a:cxn>
              <a:cxn ang="T11">
                <a:pos x="T6" y="T7"/>
              </a:cxn>
            </a:cxnLst>
            <a:rect l="T12" t="T13" r="T14" b="T15"/>
            <a:pathLst>
              <a:path w="128" h="134">
                <a:moveTo>
                  <a:pt x="0" y="67"/>
                </a:moveTo>
                <a:lnTo>
                  <a:pt x="128" y="0"/>
                </a:lnTo>
                <a:lnTo>
                  <a:pt x="128" y="134"/>
                </a:lnTo>
                <a:lnTo>
                  <a:pt x="0" y="67"/>
                </a:lnTo>
                <a:close/>
              </a:path>
            </a:pathLst>
          </a:custGeom>
          <a:solidFill>
            <a:srgbClr val="FFFFFF"/>
          </a:solidFill>
          <a:ln w="25400">
            <a:solidFill>
              <a:srgbClr val="FF0000"/>
            </a:solidFill>
            <a:prstDash val="solid"/>
            <a:round/>
            <a:headEnd/>
            <a:tailEnd/>
          </a:ln>
        </p:spPr>
        <p:txBody>
          <a:bodyPr/>
          <a:lstStyle/>
          <a:p>
            <a:endParaRPr lang="en-MX"/>
          </a:p>
        </p:txBody>
      </p:sp>
      <p:sp>
        <p:nvSpPr>
          <p:cNvPr id="32786" name="Rectangle 18">
            <a:extLst>
              <a:ext uri="{FF2B5EF4-FFF2-40B4-BE49-F238E27FC236}">
                <a16:creationId xmlns:a16="http://schemas.microsoft.com/office/drawing/2014/main" id="{37EB843E-D4A2-DE4A-99A8-2A0D418677E5}"/>
              </a:ext>
            </a:extLst>
          </p:cNvPr>
          <p:cNvSpPr>
            <a:spLocks noChangeArrowheads="1"/>
          </p:cNvSpPr>
          <p:nvPr/>
        </p:nvSpPr>
        <p:spPr bwMode="auto">
          <a:xfrm>
            <a:off x="6400801" y="4267200"/>
            <a:ext cx="15541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b="0">
                <a:solidFill>
                  <a:srgbClr val="000000"/>
                </a:solidFill>
              </a:rPr>
              <a:t>No Disease Y</a:t>
            </a:r>
            <a:endParaRPr lang="en-US" altLang="en-MX" sz="3200" b="0">
              <a:solidFill>
                <a:srgbClr val="000000"/>
              </a:solidFill>
            </a:endParaRPr>
          </a:p>
        </p:txBody>
      </p:sp>
      <p:sp>
        <p:nvSpPr>
          <p:cNvPr id="32787" name="Freeform 19">
            <a:extLst>
              <a:ext uri="{FF2B5EF4-FFF2-40B4-BE49-F238E27FC236}">
                <a16:creationId xmlns:a16="http://schemas.microsoft.com/office/drawing/2014/main" id="{958CA675-234A-A94A-8F42-3BEA59CB0195}"/>
              </a:ext>
            </a:extLst>
          </p:cNvPr>
          <p:cNvSpPr>
            <a:spLocks/>
          </p:cNvSpPr>
          <p:nvPr/>
        </p:nvSpPr>
        <p:spPr bwMode="auto">
          <a:xfrm>
            <a:off x="6269038" y="3962400"/>
            <a:ext cx="228600" cy="304800"/>
          </a:xfrm>
          <a:custGeom>
            <a:avLst/>
            <a:gdLst>
              <a:gd name="T0" fmla="*/ 0 w 14"/>
              <a:gd name="T1" fmla="*/ 2147483647 h 18"/>
              <a:gd name="T2" fmla="*/ 0 w 14"/>
              <a:gd name="T3" fmla="*/ 0 h 18"/>
              <a:gd name="T4" fmla="*/ 2147483647 w 14"/>
              <a:gd name="T5" fmla="*/ 0 h 18"/>
              <a:gd name="T6" fmla="*/ 0 60000 65536"/>
              <a:gd name="T7" fmla="*/ 0 60000 65536"/>
              <a:gd name="T8" fmla="*/ 0 60000 65536"/>
              <a:gd name="T9" fmla="*/ 0 w 14"/>
              <a:gd name="T10" fmla="*/ 0 h 18"/>
              <a:gd name="T11" fmla="*/ 14 w 14"/>
              <a:gd name="T12" fmla="*/ 18 h 18"/>
            </a:gdLst>
            <a:ahLst/>
            <a:cxnLst>
              <a:cxn ang="T6">
                <a:pos x="T0" y="T1"/>
              </a:cxn>
              <a:cxn ang="T7">
                <a:pos x="T2" y="T3"/>
              </a:cxn>
              <a:cxn ang="T8">
                <a:pos x="T4" y="T5"/>
              </a:cxn>
            </a:cxnLst>
            <a:rect l="T9" t="T10" r="T11" b="T12"/>
            <a:pathLst>
              <a:path w="14" h="18">
                <a:moveTo>
                  <a:pt x="0" y="18"/>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32788" name="Freeform 20">
            <a:extLst>
              <a:ext uri="{FF2B5EF4-FFF2-40B4-BE49-F238E27FC236}">
                <a16:creationId xmlns:a16="http://schemas.microsoft.com/office/drawing/2014/main" id="{1B68CF0C-2DF2-884E-8955-D647764FA75E}"/>
              </a:ext>
            </a:extLst>
          </p:cNvPr>
          <p:cNvSpPr>
            <a:spLocks/>
          </p:cNvSpPr>
          <p:nvPr/>
        </p:nvSpPr>
        <p:spPr bwMode="auto">
          <a:xfrm>
            <a:off x="6269038" y="4267200"/>
            <a:ext cx="228600" cy="381000"/>
          </a:xfrm>
          <a:custGeom>
            <a:avLst/>
            <a:gdLst>
              <a:gd name="T0" fmla="*/ 0 w 14"/>
              <a:gd name="T1" fmla="*/ 0 h 18"/>
              <a:gd name="T2" fmla="*/ 0 w 14"/>
              <a:gd name="T3" fmla="*/ 2147483647 h 18"/>
              <a:gd name="T4" fmla="*/ 2147483647 w 14"/>
              <a:gd name="T5" fmla="*/ 2147483647 h 18"/>
              <a:gd name="T6" fmla="*/ 0 60000 65536"/>
              <a:gd name="T7" fmla="*/ 0 60000 65536"/>
              <a:gd name="T8" fmla="*/ 0 60000 65536"/>
              <a:gd name="T9" fmla="*/ 0 w 14"/>
              <a:gd name="T10" fmla="*/ 0 h 18"/>
              <a:gd name="T11" fmla="*/ 14 w 14"/>
              <a:gd name="T12" fmla="*/ 18 h 18"/>
            </a:gdLst>
            <a:ahLst/>
            <a:cxnLst>
              <a:cxn ang="T6">
                <a:pos x="T0" y="T1"/>
              </a:cxn>
              <a:cxn ang="T7">
                <a:pos x="T2" y="T3"/>
              </a:cxn>
              <a:cxn ang="T8">
                <a:pos x="T4" y="T5"/>
              </a:cxn>
            </a:cxnLst>
            <a:rect l="T9" t="T10" r="T11" b="T12"/>
            <a:pathLst>
              <a:path w="14" h="18">
                <a:moveTo>
                  <a:pt x="0" y="0"/>
                </a:moveTo>
                <a:lnTo>
                  <a:pt x="0" y="18"/>
                </a:lnTo>
                <a:lnTo>
                  <a:pt x="14" y="18"/>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32789" name="Oval 21">
            <a:extLst>
              <a:ext uri="{FF2B5EF4-FFF2-40B4-BE49-F238E27FC236}">
                <a16:creationId xmlns:a16="http://schemas.microsoft.com/office/drawing/2014/main" id="{7E59AAB3-DBDB-474B-9159-CF95FDAA2E27}"/>
              </a:ext>
            </a:extLst>
          </p:cNvPr>
          <p:cNvSpPr>
            <a:spLocks noChangeArrowheads="1"/>
          </p:cNvSpPr>
          <p:nvPr/>
        </p:nvSpPr>
        <p:spPr bwMode="auto">
          <a:xfrm>
            <a:off x="6116638" y="4191001"/>
            <a:ext cx="203200" cy="212725"/>
          </a:xfrm>
          <a:prstGeom prst="ellipse">
            <a:avLst/>
          </a:prstGeom>
          <a:solidFill>
            <a:schemeClr val="bg1"/>
          </a:solidFill>
          <a:ln w="25400">
            <a:solidFill>
              <a:srgbClr val="008000"/>
            </a:solidFill>
            <a:round/>
            <a:headEnd/>
            <a:tailEnd/>
          </a:ln>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32790" name="Rectangle 22">
            <a:extLst>
              <a:ext uri="{FF2B5EF4-FFF2-40B4-BE49-F238E27FC236}">
                <a16:creationId xmlns:a16="http://schemas.microsoft.com/office/drawing/2014/main" id="{0722A724-8420-4C49-A0C3-899829E139C3}"/>
              </a:ext>
            </a:extLst>
          </p:cNvPr>
          <p:cNvSpPr>
            <a:spLocks noChangeArrowheads="1"/>
          </p:cNvSpPr>
          <p:nvPr/>
        </p:nvSpPr>
        <p:spPr bwMode="auto">
          <a:xfrm>
            <a:off x="3983038" y="3886200"/>
            <a:ext cx="1758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b="0">
                <a:solidFill>
                  <a:srgbClr val="000000"/>
                </a:solidFill>
              </a:rPr>
              <a:t>Test  -/ No treat</a:t>
            </a:r>
            <a:endParaRPr lang="en-US" altLang="en-MX" sz="3200" b="0">
              <a:solidFill>
                <a:srgbClr val="000000"/>
              </a:solidFill>
            </a:endParaRPr>
          </a:p>
        </p:txBody>
      </p:sp>
      <p:sp>
        <p:nvSpPr>
          <p:cNvPr id="32791" name="Freeform 23">
            <a:extLst>
              <a:ext uri="{FF2B5EF4-FFF2-40B4-BE49-F238E27FC236}">
                <a16:creationId xmlns:a16="http://schemas.microsoft.com/office/drawing/2014/main" id="{05F55DCC-DCF9-3944-B2BD-D8FDC9920DCE}"/>
              </a:ext>
            </a:extLst>
          </p:cNvPr>
          <p:cNvSpPr>
            <a:spLocks/>
          </p:cNvSpPr>
          <p:nvPr/>
        </p:nvSpPr>
        <p:spPr bwMode="auto">
          <a:xfrm>
            <a:off x="3830638" y="3200400"/>
            <a:ext cx="207962" cy="554038"/>
          </a:xfrm>
          <a:custGeom>
            <a:avLst/>
            <a:gdLst>
              <a:gd name="T0" fmla="*/ 0 w 14"/>
              <a:gd name="T1" fmla="*/ 2147483647 h 26"/>
              <a:gd name="T2" fmla="*/ 0 w 14"/>
              <a:gd name="T3" fmla="*/ 0 h 26"/>
              <a:gd name="T4" fmla="*/ 2147483647 w 14"/>
              <a:gd name="T5" fmla="*/ 0 h 26"/>
              <a:gd name="T6" fmla="*/ 0 60000 65536"/>
              <a:gd name="T7" fmla="*/ 0 60000 65536"/>
              <a:gd name="T8" fmla="*/ 0 60000 65536"/>
              <a:gd name="T9" fmla="*/ 0 w 14"/>
              <a:gd name="T10" fmla="*/ 0 h 26"/>
              <a:gd name="T11" fmla="*/ 14 w 14"/>
              <a:gd name="T12" fmla="*/ 26 h 26"/>
            </a:gdLst>
            <a:ahLst/>
            <a:cxnLst>
              <a:cxn ang="T6">
                <a:pos x="T0" y="T1"/>
              </a:cxn>
              <a:cxn ang="T7">
                <a:pos x="T2" y="T3"/>
              </a:cxn>
              <a:cxn ang="T8">
                <a:pos x="T4" y="T5"/>
              </a:cxn>
            </a:cxnLst>
            <a:rect l="T9" t="T10" r="T11" b="T12"/>
            <a:pathLst>
              <a:path w="14" h="26">
                <a:moveTo>
                  <a:pt x="0" y="26"/>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32792" name="Freeform 24">
            <a:extLst>
              <a:ext uri="{FF2B5EF4-FFF2-40B4-BE49-F238E27FC236}">
                <a16:creationId xmlns:a16="http://schemas.microsoft.com/office/drawing/2014/main" id="{8277F8A1-E246-A248-924C-29EB835098FB}"/>
              </a:ext>
            </a:extLst>
          </p:cNvPr>
          <p:cNvSpPr>
            <a:spLocks/>
          </p:cNvSpPr>
          <p:nvPr/>
        </p:nvSpPr>
        <p:spPr bwMode="auto">
          <a:xfrm>
            <a:off x="3830638" y="3754438"/>
            <a:ext cx="207962" cy="512762"/>
          </a:xfrm>
          <a:custGeom>
            <a:avLst/>
            <a:gdLst>
              <a:gd name="T0" fmla="*/ 0 w 14"/>
              <a:gd name="T1" fmla="*/ 0 h 27"/>
              <a:gd name="T2" fmla="*/ 0 w 14"/>
              <a:gd name="T3" fmla="*/ 2147483647 h 27"/>
              <a:gd name="T4" fmla="*/ 2147483647 w 14"/>
              <a:gd name="T5" fmla="*/ 2147483647 h 27"/>
              <a:gd name="T6" fmla="*/ 0 60000 65536"/>
              <a:gd name="T7" fmla="*/ 0 60000 65536"/>
              <a:gd name="T8" fmla="*/ 0 60000 65536"/>
              <a:gd name="T9" fmla="*/ 0 w 14"/>
              <a:gd name="T10" fmla="*/ 0 h 27"/>
              <a:gd name="T11" fmla="*/ 14 w 14"/>
              <a:gd name="T12" fmla="*/ 27 h 27"/>
            </a:gdLst>
            <a:ahLst/>
            <a:cxnLst>
              <a:cxn ang="T6">
                <a:pos x="T0" y="T1"/>
              </a:cxn>
              <a:cxn ang="T7">
                <a:pos x="T2" y="T3"/>
              </a:cxn>
              <a:cxn ang="T8">
                <a:pos x="T4" y="T5"/>
              </a:cxn>
            </a:cxnLst>
            <a:rect l="T9" t="T10" r="T11" b="T12"/>
            <a:pathLst>
              <a:path w="14" h="27">
                <a:moveTo>
                  <a:pt x="0" y="0"/>
                </a:moveTo>
                <a:lnTo>
                  <a:pt x="0" y="27"/>
                </a:lnTo>
                <a:lnTo>
                  <a:pt x="14" y="27"/>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32793" name="Line 25">
            <a:extLst>
              <a:ext uri="{FF2B5EF4-FFF2-40B4-BE49-F238E27FC236}">
                <a16:creationId xmlns:a16="http://schemas.microsoft.com/office/drawing/2014/main" id="{EB9F4957-FFDC-F449-AA00-1DF18F7BB354}"/>
              </a:ext>
            </a:extLst>
          </p:cNvPr>
          <p:cNvSpPr>
            <a:spLocks noChangeShapeType="1"/>
          </p:cNvSpPr>
          <p:nvPr/>
        </p:nvSpPr>
        <p:spPr bwMode="auto">
          <a:xfrm>
            <a:off x="2449513" y="3754439"/>
            <a:ext cx="121920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2794" name="Oval 26">
            <a:extLst>
              <a:ext uri="{FF2B5EF4-FFF2-40B4-BE49-F238E27FC236}">
                <a16:creationId xmlns:a16="http://schemas.microsoft.com/office/drawing/2014/main" id="{59A197AE-7AA9-5E49-BD95-73AFC57AAA76}"/>
              </a:ext>
            </a:extLst>
          </p:cNvPr>
          <p:cNvSpPr>
            <a:spLocks noChangeArrowheads="1"/>
          </p:cNvSpPr>
          <p:nvPr/>
        </p:nvSpPr>
        <p:spPr bwMode="auto">
          <a:xfrm>
            <a:off x="3668713" y="3648076"/>
            <a:ext cx="203200" cy="212725"/>
          </a:xfrm>
          <a:prstGeom prst="ellipse">
            <a:avLst/>
          </a:prstGeom>
          <a:solidFill>
            <a:schemeClr val="bg1"/>
          </a:solidFill>
          <a:ln w="25400">
            <a:solidFill>
              <a:srgbClr val="008000"/>
            </a:solidFill>
            <a:round/>
            <a:headEnd/>
            <a:tailEnd/>
          </a:ln>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32795" name="Rectangle 27">
            <a:extLst>
              <a:ext uri="{FF2B5EF4-FFF2-40B4-BE49-F238E27FC236}">
                <a16:creationId xmlns:a16="http://schemas.microsoft.com/office/drawing/2014/main" id="{4C8D150E-98C1-FC4A-ADF3-9C03456DCC9F}"/>
              </a:ext>
            </a:extLst>
          </p:cNvPr>
          <p:cNvSpPr>
            <a:spLocks noChangeArrowheads="1"/>
          </p:cNvSpPr>
          <p:nvPr/>
        </p:nvSpPr>
        <p:spPr bwMode="auto">
          <a:xfrm>
            <a:off x="2438400" y="3352800"/>
            <a:ext cx="704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b="0">
                <a:solidFill>
                  <a:srgbClr val="000000"/>
                </a:solidFill>
              </a:rPr>
              <a:t>Test 1</a:t>
            </a:r>
            <a:endParaRPr lang="en-US" altLang="en-MX" sz="3200" b="0">
              <a:solidFill>
                <a:srgbClr val="000000"/>
              </a:solidFill>
            </a:endParaRPr>
          </a:p>
        </p:txBody>
      </p:sp>
      <p:sp>
        <p:nvSpPr>
          <p:cNvPr id="32796" name="Line 28">
            <a:extLst>
              <a:ext uri="{FF2B5EF4-FFF2-40B4-BE49-F238E27FC236}">
                <a16:creationId xmlns:a16="http://schemas.microsoft.com/office/drawing/2014/main" id="{F715FC68-CDA5-1547-96DF-24FA819F7278}"/>
              </a:ext>
            </a:extLst>
          </p:cNvPr>
          <p:cNvSpPr>
            <a:spLocks noChangeShapeType="1"/>
          </p:cNvSpPr>
          <p:nvPr/>
        </p:nvSpPr>
        <p:spPr bwMode="auto">
          <a:xfrm>
            <a:off x="4038600" y="5191125"/>
            <a:ext cx="408463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2797" name="Freeform 29">
            <a:extLst>
              <a:ext uri="{FF2B5EF4-FFF2-40B4-BE49-F238E27FC236}">
                <a16:creationId xmlns:a16="http://schemas.microsoft.com/office/drawing/2014/main" id="{5ACAAFB0-D010-684F-B819-9E714BE3DE3D}"/>
              </a:ext>
            </a:extLst>
          </p:cNvPr>
          <p:cNvSpPr>
            <a:spLocks/>
          </p:cNvSpPr>
          <p:nvPr/>
        </p:nvSpPr>
        <p:spPr bwMode="auto">
          <a:xfrm>
            <a:off x="8123238" y="5084764"/>
            <a:ext cx="203200" cy="212725"/>
          </a:xfrm>
          <a:custGeom>
            <a:avLst/>
            <a:gdLst>
              <a:gd name="T0" fmla="*/ 0 w 128"/>
              <a:gd name="T1" fmla="*/ 168851235 h 134"/>
              <a:gd name="T2" fmla="*/ 322579945 w 128"/>
              <a:gd name="T3" fmla="*/ 0 h 134"/>
              <a:gd name="T4" fmla="*/ 322579945 w 128"/>
              <a:gd name="T5" fmla="*/ 337700883 h 134"/>
              <a:gd name="T6" fmla="*/ 0 w 128"/>
              <a:gd name="T7" fmla="*/ 168851235 h 134"/>
              <a:gd name="T8" fmla="*/ 0 60000 65536"/>
              <a:gd name="T9" fmla="*/ 0 60000 65536"/>
              <a:gd name="T10" fmla="*/ 0 60000 65536"/>
              <a:gd name="T11" fmla="*/ 0 60000 65536"/>
              <a:gd name="T12" fmla="*/ 0 w 128"/>
              <a:gd name="T13" fmla="*/ 0 h 134"/>
              <a:gd name="T14" fmla="*/ 128 w 128"/>
              <a:gd name="T15" fmla="*/ 134 h 134"/>
            </a:gdLst>
            <a:ahLst/>
            <a:cxnLst>
              <a:cxn ang="T8">
                <a:pos x="T0" y="T1"/>
              </a:cxn>
              <a:cxn ang="T9">
                <a:pos x="T2" y="T3"/>
              </a:cxn>
              <a:cxn ang="T10">
                <a:pos x="T4" y="T5"/>
              </a:cxn>
              <a:cxn ang="T11">
                <a:pos x="T6" y="T7"/>
              </a:cxn>
            </a:cxnLst>
            <a:rect l="T12" t="T13" r="T14" b="T15"/>
            <a:pathLst>
              <a:path w="128" h="134">
                <a:moveTo>
                  <a:pt x="0" y="67"/>
                </a:moveTo>
                <a:lnTo>
                  <a:pt x="128" y="0"/>
                </a:lnTo>
                <a:lnTo>
                  <a:pt x="128" y="134"/>
                </a:lnTo>
                <a:lnTo>
                  <a:pt x="0" y="67"/>
                </a:lnTo>
                <a:close/>
              </a:path>
            </a:pathLst>
          </a:custGeom>
          <a:solidFill>
            <a:srgbClr val="FFFFFF"/>
          </a:solidFill>
          <a:ln w="25400">
            <a:solidFill>
              <a:srgbClr val="FF0000"/>
            </a:solidFill>
            <a:prstDash val="solid"/>
            <a:round/>
            <a:headEnd/>
            <a:tailEnd/>
          </a:ln>
        </p:spPr>
        <p:txBody>
          <a:bodyPr/>
          <a:lstStyle/>
          <a:p>
            <a:endParaRPr lang="en-MX"/>
          </a:p>
        </p:txBody>
      </p:sp>
      <p:sp>
        <p:nvSpPr>
          <p:cNvPr id="32798" name="Rectangle 30">
            <a:extLst>
              <a:ext uri="{FF2B5EF4-FFF2-40B4-BE49-F238E27FC236}">
                <a16:creationId xmlns:a16="http://schemas.microsoft.com/office/drawing/2014/main" id="{B8737F4C-E52C-7447-8FA4-13A8907CF935}"/>
              </a:ext>
            </a:extLst>
          </p:cNvPr>
          <p:cNvSpPr>
            <a:spLocks noChangeArrowheads="1"/>
          </p:cNvSpPr>
          <p:nvPr/>
        </p:nvSpPr>
        <p:spPr bwMode="auto">
          <a:xfrm>
            <a:off x="4038601" y="4800600"/>
            <a:ext cx="11588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b="0">
                <a:solidFill>
                  <a:srgbClr val="000000"/>
                </a:solidFill>
              </a:rPr>
              <a:t>Disease Y</a:t>
            </a:r>
            <a:endParaRPr lang="en-US" altLang="en-MX" sz="3200" b="0">
              <a:solidFill>
                <a:srgbClr val="000000"/>
              </a:solidFill>
            </a:endParaRPr>
          </a:p>
        </p:txBody>
      </p:sp>
      <p:sp>
        <p:nvSpPr>
          <p:cNvPr id="32799" name="Rectangle 31">
            <a:extLst>
              <a:ext uri="{FF2B5EF4-FFF2-40B4-BE49-F238E27FC236}">
                <a16:creationId xmlns:a16="http://schemas.microsoft.com/office/drawing/2014/main" id="{0C1946AF-08F2-AF4E-AA25-77186EB012C4}"/>
              </a:ext>
            </a:extLst>
          </p:cNvPr>
          <p:cNvSpPr>
            <a:spLocks noChangeArrowheads="1"/>
          </p:cNvSpPr>
          <p:nvPr/>
        </p:nvSpPr>
        <p:spPr bwMode="auto">
          <a:xfrm>
            <a:off x="4999038" y="5245100"/>
            <a:ext cx="444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1800" b="0">
                <a:solidFill>
                  <a:srgbClr val="000000"/>
                </a:solidFill>
              </a:rPr>
              <a:t>0.01</a:t>
            </a:r>
          </a:p>
        </p:txBody>
      </p:sp>
      <p:sp>
        <p:nvSpPr>
          <p:cNvPr id="32800" name="Line 32">
            <a:extLst>
              <a:ext uri="{FF2B5EF4-FFF2-40B4-BE49-F238E27FC236}">
                <a16:creationId xmlns:a16="http://schemas.microsoft.com/office/drawing/2014/main" id="{B44178B1-24A2-7648-B573-00EF5A10E431}"/>
              </a:ext>
            </a:extLst>
          </p:cNvPr>
          <p:cNvSpPr>
            <a:spLocks noChangeShapeType="1"/>
          </p:cNvSpPr>
          <p:nvPr/>
        </p:nvSpPr>
        <p:spPr bwMode="auto">
          <a:xfrm>
            <a:off x="4038600" y="5811839"/>
            <a:ext cx="4084638"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2801" name="Freeform 33">
            <a:extLst>
              <a:ext uri="{FF2B5EF4-FFF2-40B4-BE49-F238E27FC236}">
                <a16:creationId xmlns:a16="http://schemas.microsoft.com/office/drawing/2014/main" id="{5EA9174B-B214-AC44-81BF-D7A7D3E82EC8}"/>
              </a:ext>
            </a:extLst>
          </p:cNvPr>
          <p:cNvSpPr>
            <a:spLocks/>
          </p:cNvSpPr>
          <p:nvPr/>
        </p:nvSpPr>
        <p:spPr bwMode="auto">
          <a:xfrm>
            <a:off x="8123238" y="5705476"/>
            <a:ext cx="203200" cy="212725"/>
          </a:xfrm>
          <a:custGeom>
            <a:avLst/>
            <a:gdLst>
              <a:gd name="T0" fmla="*/ 0 w 128"/>
              <a:gd name="T1" fmla="*/ 168851235 h 134"/>
              <a:gd name="T2" fmla="*/ 322579945 w 128"/>
              <a:gd name="T3" fmla="*/ 0 h 134"/>
              <a:gd name="T4" fmla="*/ 322579945 w 128"/>
              <a:gd name="T5" fmla="*/ 337700883 h 134"/>
              <a:gd name="T6" fmla="*/ 0 w 128"/>
              <a:gd name="T7" fmla="*/ 168851235 h 134"/>
              <a:gd name="T8" fmla="*/ 0 60000 65536"/>
              <a:gd name="T9" fmla="*/ 0 60000 65536"/>
              <a:gd name="T10" fmla="*/ 0 60000 65536"/>
              <a:gd name="T11" fmla="*/ 0 60000 65536"/>
              <a:gd name="T12" fmla="*/ 0 w 128"/>
              <a:gd name="T13" fmla="*/ 0 h 134"/>
              <a:gd name="T14" fmla="*/ 128 w 128"/>
              <a:gd name="T15" fmla="*/ 134 h 134"/>
            </a:gdLst>
            <a:ahLst/>
            <a:cxnLst>
              <a:cxn ang="T8">
                <a:pos x="T0" y="T1"/>
              </a:cxn>
              <a:cxn ang="T9">
                <a:pos x="T2" y="T3"/>
              </a:cxn>
              <a:cxn ang="T10">
                <a:pos x="T4" y="T5"/>
              </a:cxn>
              <a:cxn ang="T11">
                <a:pos x="T6" y="T7"/>
              </a:cxn>
            </a:cxnLst>
            <a:rect l="T12" t="T13" r="T14" b="T15"/>
            <a:pathLst>
              <a:path w="128" h="134">
                <a:moveTo>
                  <a:pt x="0" y="67"/>
                </a:moveTo>
                <a:lnTo>
                  <a:pt x="128" y="0"/>
                </a:lnTo>
                <a:lnTo>
                  <a:pt x="128" y="134"/>
                </a:lnTo>
                <a:lnTo>
                  <a:pt x="0" y="67"/>
                </a:lnTo>
                <a:close/>
              </a:path>
            </a:pathLst>
          </a:custGeom>
          <a:solidFill>
            <a:srgbClr val="FFFFFF"/>
          </a:solidFill>
          <a:ln w="25400">
            <a:solidFill>
              <a:srgbClr val="FF0000"/>
            </a:solidFill>
            <a:prstDash val="solid"/>
            <a:round/>
            <a:headEnd/>
            <a:tailEnd/>
          </a:ln>
        </p:spPr>
        <p:txBody>
          <a:bodyPr/>
          <a:lstStyle/>
          <a:p>
            <a:endParaRPr lang="en-MX"/>
          </a:p>
        </p:txBody>
      </p:sp>
      <p:sp>
        <p:nvSpPr>
          <p:cNvPr id="32802" name="Rectangle 34">
            <a:extLst>
              <a:ext uri="{FF2B5EF4-FFF2-40B4-BE49-F238E27FC236}">
                <a16:creationId xmlns:a16="http://schemas.microsoft.com/office/drawing/2014/main" id="{53C827E5-5DED-6147-85ED-89E154421D52}"/>
              </a:ext>
            </a:extLst>
          </p:cNvPr>
          <p:cNvSpPr>
            <a:spLocks noChangeArrowheads="1"/>
          </p:cNvSpPr>
          <p:nvPr/>
        </p:nvSpPr>
        <p:spPr bwMode="auto">
          <a:xfrm>
            <a:off x="4038601" y="5421313"/>
            <a:ext cx="15541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b="0">
                <a:solidFill>
                  <a:srgbClr val="000000"/>
                </a:solidFill>
              </a:rPr>
              <a:t>No Disease Y</a:t>
            </a:r>
            <a:endParaRPr lang="en-US" altLang="en-MX" sz="3200" b="0">
              <a:solidFill>
                <a:srgbClr val="000000"/>
              </a:solidFill>
            </a:endParaRPr>
          </a:p>
        </p:txBody>
      </p:sp>
      <p:sp>
        <p:nvSpPr>
          <p:cNvPr id="32803" name="Rectangle 35">
            <a:extLst>
              <a:ext uri="{FF2B5EF4-FFF2-40B4-BE49-F238E27FC236}">
                <a16:creationId xmlns:a16="http://schemas.microsoft.com/office/drawing/2014/main" id="{F63BC118-49D5-3046-B0CA-D9567AB03ACB}"/>
              </a:ext>
            </a:extLst>
          </p:cNvPr>
          <p:cNvSpPr>
            <a:spLocks noChangeArrowheads="1"/>
          </p:cNvSpPr>
          <p:nvPr/>
        </p:nvSpPr>
        <p:spPr bwMode="auto">
          <a:xfrm>
            <a:off x="4999038" y="5883275"/>
            <a:ext cx="444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1800" b="0">
                <a:solidFill>
                  <a:srgbClr val="000000"/>
                </a:solidFill>
              </a:rPr>
              <a:t>0.99</a:t>
            </a:r>
          </a:p>
        </p:txBody>
      </p:sp>
      <p:sp>
        <p:nvSpPr>
          <p:cNvPr id="32804" name="Freeform 36">
            <a:extLst>
              <a:ext uri="{FF2B5EF4-FFF2-40B4-BE49-F238E27FC236}">
                <a16:creationId xmlns:a16="http://schemas.microsoft.com/office/drawing/2014/main" id="{9B29A6D5-A52C-3D4F-AE14-6F5AB6139D67}"/>
              </a:ext>
            </a:extLst>
          </p:cNvPr>
          <p:cNvSpPr>
            <a:spLocks/>
          </p:cNvSpPr>
          <p:nvPr/>
        </p:nvSpPr>
        <p:spPr bwMode="auto">
          <a:xfrm>
            <a:off x="3779838" y="5191126"/>
            <a:ext cx="258762" cy="301625"/>
          </a:xfrm>
          <a:custGeom>
            <a:avLst/>
            <a:gdLst>
              <a:gd name="T0" fmla="*/ 0 w 14"/>
              <a:gd name="T1" fmla="*/ 2147483647 h 17"/>
              <a:gd name="T2" fmla="*/ 0 w 14"/>
              <a:gd name="T3" fmla="*/ 0 h 17"/>
              <a:gd name="T4" fmla="*/ 2147483647 w 14"/>
              <a:gd name="T5" fmla="*/ 0 h 17"/>
              <a:gd name="T6" fmla="*/ 0 60000 65536"/>
              <a:gd name="T7" fmla="*/ 0 60000 65536"/>
              <a:gd name="T8" fmla="*/ 0 60000 65536"/>
              <a:gd name="T9" fmla="*/ 0 w 14"/>
              <a:gd name="T10" fmla="*/ 0 h 17"/>
              <a:gd name="T11" fmla="*/ 14 w 14"/>
              <a:gd name="T12" fmla="*/ 17 h 17"/>
            </a:gdLst>
            <a:ahLst/>
            <a:cxnLst>
              <a:cxn ang="T6">
                <a:pos x="T0" y="T1"/>
              </a:cxn>
              <a:cxn ang="T7">
                <a:pos x="T2" y="T3"/>
              </a:cxn>
              <a:cxn ang="T8">
                <a:pos x="T4" y="T5"/>
              </a:cxn>
            </a:cxnLst>
            <a:rect l="T9" t="T10" r="T11" b="T12"/>
            <a:pathLst>
              <a:path w="14" h="17">
                <a:moveTo>
                  <a:pt x="0" y="1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32805" name="Freeform 37">
            <a:extLst>
              <a:ext uri="{FF2B5EF4-FFF2-40B4-BE49-F238E27FC236}">
                <a16:creationId xmlns:a16="http://schemas.microsoft.com/office/drawing/2014/main" id="{D0847CAC-E2AC-DB4E-9494-8AC971B9BE11}"/>
              </a:ext>
            </a:extLst>
          </p:cNvPr>
          <p:cNvSpPr>
            <a:spLocks/>
          </p:cNvSpPr>
          <p:nvPr/>
        </p:nvSpPr>
        <p:spPr bwMode="auto">
          <a:xfrm>
            <a:off x="3779838" y="5492750"/>
            <a:ext cx="258762" cy="319088"/>
          </a:xfrm>
          <a:custGeom>
            <a:avLst/>
            <a:gdLst>
              <a:gd name="T0" fmla="*/ 0 w 14"/>
              <a:gd name="T1" fmla="*/ 0 h 18"/>
              <a:gd name="T2" fmla="*/ 0 w 14"/>
              <a:gd name="T3" fmla="*/ 2147483647 h 18"/>
              <a:gd name="T4" fmla="*/ 2147483647 w 14"/>
              <a:gd name="T5" fmla="*/ 2147483647 h 18"/>
              <a:gd name="T6" fmla="*/ 0 60000 65536"/>
              <a:gd name="T7" fmla="*/ 0 60000 65536"/>
              <a:gd name="T8" fmla="*/ 0 60000 65536"/>
              <a:gd name="T9" fmla="*/ 0 w 14"/>
              <a:gd name="T10" fmla="*/ 0 h 18"/>
              <a:gd name="T11" fmla="*/ 14 w 14"/>
              <a:gd name="T12" fmla="*/ 18 h 18"/>
            </a:gdLst>
            <a:ahLst/>
            <a:cxnLst>
              <a:cxn ang="T6">
                <a:pos x="T0" y="T1"/>
              </a:cxn>
              <a:cxn ang="T7">
                <a:pos x="T2" y="T3"/>
              </a:cxn>
              <a:cxn ang="T8">
                <a:pos x="T4" y="T5"/>
              </a:cxn>
            </a:cxnLst>
            <a:rect l="T9" t="T10" r="T11" b="T12"/>
            <a:pathLst>
              <a:path w="14" h="18">
                <a:moveTo>
                  <a:pt x="0" y="0"/>
                </a:moveTo>
                <a:lnTo>
                  <a:pt x="0" y="18"/>
                </a:lnTo>
                <a:lnTo>
                  <a:pt x="14" y="18"/>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32806" name="Line 38">
            <a:extLst>
              <a:ext uri="{FF2B5EF4-FFF2-40B4-BE49-F238E27FC236}">
                <a16:creationId xmlns:a16="http://schemas.microsoft.com/office/drawing/2014/main" id="{42D6257E-17C7-6F4F-B613-35704BB6E97D}"/>
              </a:ext>
            </a:extLst>
          </p:cNvPr>
          <p:cNvSpPr>
            <a:spLocks noChangeShapeType="1"/>
          </p:cNvSpPr>
          <p:nvPr/>
        </p:nvSpPr>
        <p:spPr bwMode="auto">
          <a:xfrm>
            <a:off x="2449513" y="5492750"/>
            <a:ext cx="12192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2807" name="Oval 39">
            <a:extLst>
              <a:ext uri="{FF2B5EF4-FFF2-40B4-BE49-F238E27FC236}">
                <a16:creationId xmlns:a16="http://schemas.microsoft.com/office/drawing/2014/main" id="{4C44A1EF-3EDC-2347-B0FF-B4120E67AE16}"/>
              </a:ext>
            </a:extLst>
          </p:cNvPr>
          <p:cNvSpPr>
            <a:spLocks noChangeArrowheads="1"/>
          </p:cNvSpPr>
          <p:nvPr/>
        </p:nvSpPr>
        <p:spPr bwMode="auto">
          <a:xfrm>
            <a:off x="3668713" y="5386389"/>
            <a:ext cx="203200" cy="212725"/>
          </a:xfrm>
          <a:prstGeom prst="ellipse">
            <a:avLst/>
          </a:prstGeom>
          <a:solidFill>
            <a:schemeClr val="bg1"/>
          </a:solidFill>
          <a:ln w="25400">
            <a:solidFill>
              <a:srgbClr val="008000"/>
            </a:solidFill>
            <a:round/>
            <a:headEnd/>
            <a:tailEnd/>
          </a:ln>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32808" name="Rectangle 40">
            <a:extLst>
              <a:ext uri="{FF2B5EF4-FFF2-40B4-BE49-F238E27FC236}">
                <a16:creationId xmlns:a16="http://schemas.microsoft.com/office/drawing/2014/main" id="{353C10B6-02A3-3D4E-AEC6-EF582EFE5CAD}"/>
              </a:ext>
            </a:extLst>
          </p:cNvPr>
          <p:cNvSpPr>
            <a:spLocks noChangeArrowheads="1"/>
          </p:cNvSpPr>
          <p:nvPr/>
        </p:nvSpPr>
        <p:spPr bwMode="auto">
          <a:xfrm>
            <a:off x="2209800" y="5105400"/>
            <a:ext cx="1270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b="0">
                <a:solidFill>
                  <a:srgbClr val="000000"/>
                </a:solidFill>
              </a:rPr>
              <a:t>Treat None</a:t>
            </a:r>
            <a:endParaRPr lang="en-US" altLang="en-MX" sz="3200" b="0">
              <a:solidFill>
                <a:srgbClr val="000000"/>
              </a:solidFill>
            </a:endParaRPr>
          </a:p>
        </p:txBody>
      </p:sp>
      <p:sp>
        <p:nvSpPr>
          <p:cNvPr id="32809" name="Freeform 41">
            <a:extLst>
              <a:ext uri="{FF2B5EF4-FFF2-40B4-BE49-F238E27FC236}">
                <a16:creationId xmlns:a16="http://schemas.microsoft.com/office/drawing/2014/main" id="{4D8F2075-C181-8149-B170-C444D87E4AB0}"/>
              </a:ext>
            </a:extLst>
          </p:cNvPr>
          <p:cNvSpPr>
            <a:spLocks/>
          </p:cNvSpPr>
          <p:nvPr/>
        </p:nvSpPr>
        <p:spPr bwMode="auto">
          <a:xfrm>
            <a:off x="2189163" y="2068513"/>
            <a:ext cx="260350" cy="1720850"/>
          </a:xfrm>
          <a:custGeom>
            <a:avLst/>
            <a:gdLst>
              <a:gd name="T0" fmla="*/ 0 w 14"/>
              <a:gd name="T1" fmla="*/ 2147483647 h 97"/>
              <a:gd name="T2" fmla="*/ 0 w 14"/>
              <a:gd name="T3" fmla="*/ 0 h 97"/>
              <a:gd name="T4" fmla="*/ 2147483647 w 14"/>
              <a:gd name="T5" fmla="*/ 0 h 97"/>
              <a:gd name="T6" fmla="*/ 0 60000 65536"/>
              <a:gd name="T7" fmla="*/ 0 60000 65536"/>
              <a:gd name="T8" fmla="*/ 0 60000 65536"/>
              <a:gd name="T9" fmla="*/ 0 w 14"/>
              <a:gd name="T10" fmla="*/ 0 h 97"/>
              <a:gd name="T11" fmla="*/ 14 w 14"/>
              <a:gd name="T12" fmla="*/ 97 h 97"/>
            </a:gdLst>
            <a:ahLst/>
            <a:cxnLst>
              <a:cxn ang="T6">
                <a:pos x="T0" y="T1"/>
              </a:cxn>
              <a:cxn ang="T7">
                <a:pos x="T2" y="T3"/>
              </a:cxn>
              <a:cxn ang="T8">
                <a:pos x="T4" y="T5"/>
              </a:cxn>
            </a:cxnLst>
            <a:rect l="T9" t="T10" r="T11" b="T12"/>
            <a:pathLst>
              <a:path w="14" h="97">
                <a:moveTo>
                  <a:pt x="0" y="97"/>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32810" name="Freeform 42">
            <a:extLst>
              <a:ext uri="{FF2B5EF4-FFF2-40B4-BE49-F238E27FC236}">
                <a16:creationId xmlns:a16="http://schemas.microsoft.com/office/drawing/2014/main" id="{495169FF-3E4A-A742-8371-CE900BB91D26}"/>
              </a:ext>
            </a:extLst>
          </p:cNvPr>
          <p:cNvSpPr>
            <a:spLocks/>
          </p:cNvSpPr>
          <p:nvPr/>
        </p:nvSpPr>
        <p:spPr bwMode="auto">
          <a:xfrm>
            <a:off x="2189163" y="3754439"/>
            <a:ext cx="260350" cy="34925"/>
          </a:xfrm>
          <a:custGeom>
            <a:avLst/>
            <a:gdLst>
              <a:gd name="T0" fmla="*/ 0 w 14"/>
              <a:gd name="T1" fmla="*/ 609877795 h 2"/>
              <a:gd name="T2" fmla="*/ 0 w 14"/>
              <a:gd name="T3" fmla="*/ 0 h 2"/>
              <a:gd name="T4" fmla="*/ 2147483647 w 14"/>
              <a:gd name="T5" fmla="*/ 0 h 2"/>
              <a:gd name="T6" fmla="*/ 0 60000 65536"/>
              <a:gd name="T7" fmla="*/ 0 60000 65536"/>
              <a:gd name="T8" fmla="*/ 0 60000 65536"/>
              <a:gd name="T9" fmla="*/ 0 w 14"/>
              <a:gd name="T10" fmla="*/ 0 h 2"/>
              <a:gd name="T11" fmla="*/ 14 w 14"/>
              <a:gd name="T12" fmla="*/ 2 h 2"/>
            </a:gdLst>
            <a:ahLst/>
            <a:cxnLst>
              <a:cxn ang="T6">
                <a:pos x="T0" y="T1"/>
              </a:cxn>
              <a:cxn ang="T7">
                <a:pos x="T2" y="T3"/>
              </a:cxn>
              <a:cxn ang="T8">
                <a:pos x="T4" y="T5"/>
              </a:cxn>
            </a:cxnLst>
            <a:rect l="T9" t="T10" r="T11" b="T12"/>
            <a:pathLst>
              <a:path w="14" h="2">
                <a:moveTo>
                  <a:pt x="0" y="2"/>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32811" name="Freeform 43">
            <a:extLst>
              <a:ext uri="{FF2B5EF4-FFF2-40B4-BE49-F238E27FC236}">
                <a16:creationId xmlns:a16="http://schemas.microsoft.com/office/drawing/2014/main" id="{ECD5641D-2E47-AA4A-AFA2-92FF931EA39C}"/>
              </a:ext>
            </a:extLst>
          </p:cNvPr>
          <p:cNvSpPr>
            <a:spLocks/>
          </p:cNvSpPr>
          <p:nvPr/>
        </p:nvSpPr>
        <p:spPr bwMode="auto">
          <a:xfrm>
            <a:off x="2189163" y="3789364"/>
            <a:ext cx="260350" cy="1703387"/>
          </a:xfrm>
          <a:custGeom>
            <a:avLst/>
            <a:gdLst>
              <a:gd name="T0" fmla="*/ 0 w 14"/>
              <a:gd name="T1" fmla="*/ 0 h 96"/>
              <a:gd name="T2" fmla="*/ 0 w 14"/>
              <a:gd name="T3" fmla="*/ 2147483647 h 96"/>
              <a:gd name="T4" fmla="*/ 2147483647 w 14"/>
              <a:gd name="T5" fmla="*/ 2147483647 h 96"/>
              <a:gd name="T6" fmla="*/ 0 60000 65536"/>
              <a:gd name="T7" fmla="*/ 0 60000 65536"/>
              <a:gd name="T8" fmla="*/ 0 60000 65536"/>
              <a:gd name="T9" fmla="*/ 0 w 14"/>
              <a:gd name="T10" fmla="*/ 0 h 96"/>
              <a:gd name="T11" fmla="*/ 14 w 14"/>
              <a:gd name="T12" fmla="*/ 96 h 96"/>
            </a:gdLst>
            <a:ahLst/>
            <a:cxnLst>
              <a:cxn ang="T6">
                <a:pos x="T0" y="T1"/>
              </a:cxn>
              <a:cxn ang="T7">
                <a:pos x="T2" y="T3"/>
              </a:cxn>
              <a:cxn ang="T8">
                <a:pos x="T4" y="T5"/>
              </a:cxn>
            </a:cxnLst>
            <a:rect l="T9" t="T10" r="T11" b="T12"/>
            <a:pathLst>
              <a:path w="14" h="96">
                <a:moveTo>
                  <a:pt x="0" y="0"/>
                </a:moveTo>
                <a:lnTo>
                  <a:pt x="0" y="96"/>
                </a:lnTo>
                <a:lnTo>
                  <a:pt x="14" y="9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32812" name="Rectangle 44">
            <a:extLst>
              <a:ext uri="{FF2B5EF4-FFF2-40B4-BE49-F238E27FC236}">
                <a16:creationId xmlns:a16="http://schemas.microsoft.com/office/drawing/2014/main" id="{6045E9F8-3B26-3E4E-B9F0-3435FE5589EE}"/>
              </a:ext>
            </a:extLst>
          </p:cNvPr>
          <p:cNvSpPr>
            <a:spLocks noChangeArrowheads="1"/>
          </p:cNvSpPr>
          <p:nvPr/>
        </p:nvSpPr>
        <p:spPr bwMode="auto">
          <a:xfrm>
            <a:off x="2062163" y="3683001"/>
            <a:ext cx="203200" cy="212725"/>
          </a:xfrm>
          <a:prstGeom prst="rect">
            <a:avLst/>
          </a:prstGeom>
          <a:solidFill>
            <a:srgbClr val="FFFFFF"/>
          </a:solidFill>
          <a:ln w="25400">
            <a:solidFill>
              <a:srgbClr val="0000FF"/>
            </a:solidFill>
            <a:miter lim="800000"/>
            <a:headEnd/>
            <a:tailEnd/>
          </a:ln>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32813" name="Line 45">
            <a:extLst>
              <a:ext uri="{FF2B5EF4-FFF2-40B4-BE49-F238E27FC236}">
                <a16:creationId xmlns:a16="http://schemas.microsoft.com/office/drawing/2014/main" id="{37AB0CCF-A5EE-2D4C-A430-47A24384CFEE}"/>
              </a:ext>
            </a:extLst>
          </p:cNvPr>
          <p:cNvSpPr>
            <a:spLocks noChangeShapeType="1"/>
          </p:cNvSpPr>
          <p:nvPr/>
        </p:nvSpPr>
        <p:spPr bwMode="auto">
          <a:xfrm>
            <a:off x="3983038" y="4267200"/>
            <a:ext cx="2133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2814" name="Freeform 46">
            <a:extLst>
              <a:ext uri="{FF2B5EF4-FFF2-40B4-BE49-F238E27FC236}">
                <a16:creationId xmlns:a16="http://schemas.microsoft.com/office/drawing/2014/main" id="{A503AAD8-8905-E647-A9BC-2CCF73B4F693}"/>
              </a:ext>
            </a:extLst>
          </p:cNvPr>
          <p:cNvSpPr>
            <a:spLocks/>
          </p:cNvSpPr>
          <p:nvPr/>
        </p:nvSpPr>
        <p:spPr bwMode="auto">
          <a:xfrm>
            <a:off x="8123238" y="2773364"/>
            <a:ext cx="203200" cy="212725"/>
          </a:xfrm>
          <a:custGeom>
            <a:avLst/>
            <a:gdLst>
              <a:gd name="T0" fmla="*/ 0 w 128"/>
              <a:gd name="T1" fmla="*/ 168851235 h 134"/>
              <a:gd name="T2" fmla="*/ 322579945 w 128"/>
              <a:gd name="T3" fmla="*/ 0 h 134"/>
              <a:gd name="T4" fmla="*/ 322579945 w 128"/>
              <a:gd name="T5" fmla="*/ 337700883 h 134"/>
              <a:gd name="T6" fmla="*/ 0 w 128"/>
              <a:gd name="T7" fmla="*/ 168851235 h 134"/>
              <a:gd name="T8" fmla="*/ 0 60000 65536"/>
              <a:gd name="T9" fmla="*/ 0 60000 65536"/>
              <a:gd name="T10" fmla="*/ 0 60000 65536"/>
              <a:gd name="T11" fmla="*/ 0 60000 65536"/>
              <a:gd name="T12" fmla="*/ 0 w 128"/>
              <a:gd name="T13" fmla="*/ 0 h 134"/>
              <a:gd name="T14" fmla="*/ 128 w 128"/>
              <a:gd name="T15" fmla="*/ 134 h 134"/>
            </a:gdLst>
            <a:ahLst/>
            <a:cxnLst>
              <a:cxn ang="T8">
                <a:pos x="T0" y="T1"/>
              </a:cxn>
              <a:cxn ang="T9">
                <a:pos x="T2" y="T3"/>
              </a:cxn>
              <a:cxn ang="T10">
                <a:pos x="T4" y="T5"/>
              </a:cxn>
              <a:cxn ang="T11">
                <a:pos x="T6" y="T7"/>
              </a:cxn>
            </a:cxnLst>
            <a:rect l="T12" t="T13" r="T14" b="T15"/>
            <a:pathLst>
              <a:path w="128" h="134">
                <a:moveTo>
                  <a:pt x="0" y="67"/>
                </a:moveTo>
                <a:lnTo>
                  <a:pt x="128" y="0"/>
                </a:lnTo>
                <a:lnTo>
                  <a:pt x="128" y="134"/>
                </a:lnTo>
                <a:lnTo>
                  <a:pt x="0" y="67"/>
                </a:lnTo>
                <a:close/>
              </a:path>
            </a:pathLst>
          </a:custGeom>
          <a:solidFill>
            <a:srgbClr val="FFFFFF"/>
          </a:solidFill>
          <a:ln w="25400">
            <a:solidFill>
              <a:srgbClr val="FF0000"/>
            </a:solidFill>
            <a:prstDash val="solid"/>
            <a:round/>
            <a:headEnd/>
            <a:tailEnd/>
          </a:ln>
        </p:spPr>
        <p:txBody>
          <a:bodyPr/>
          <a:lstStyle/>
          <a:p>
            <a:endParaRPr lang="en-MX"/>
          </a:p>
        </p:txBody>
      </p:sp>
      <p:sp>
        <p:nvSpPr>
          <p:cNvPr id="32815" name="Rectangle 47">
            <a:extLst>
              <a:ext uri="{FF2B5EF4-FFF2-40B4-BE49-F238E27FC236}">
                <a16:creationId xmlns:a16="http://schemas.microsoft.com/office/drawing/2014/main" id="{C204993B-A746-7E42-9DB0-C9F766063BBE}"/>
              </a:ext>
            </a:extLst>
          </p:cNvPr>
          <p:cNvSpPr>
            <a:spLocks noChangeArrowheads="1"/>
          </p:cNvSpPr>
          <p:nvPr/>
        </p:nvSpPr>
        <p:spPr bwMode="auto">
          <a:xfrm>
            <a:off x="6383339" y="2514600"/>
            <a:ext cx="11588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b="0">
                <a:solidFill>
                  <a:srgbClr val="000000"/>
                </a:solidFill>
              </a:rPr>
              <a:t>Disease Y</a:t>
            </a:r>
            <a:endParaRPr lang="en-US" altLang="en-MX" sz="3200" b="0">
              <a:solidFill>
                <a:srgbClr val="000000"/>
              </a:solidFill>
            </a:endParaRPr>
          </a:p>
        </p:txBody>
      </p:sp>
      <p:sp>
        <p:nvSpPr>
          <p:cNvPr id="32816" name="Freeform 48">
            <a:extLst>
              <a:ext uri="{FF2B5EF4-FFF2-40B4-BE49-F238E27FC236}">
                <a16:creationId xmlns:a16="http://schemas.microsoft.com/office/drawing/2014/main" id="{1782A5C4-CB6E-1346-BA6C-57455DA9BB1A}"/>
              </a:ext>
            </a:extLst>
          </p:cNvPr>
          <p:cNvSpPr>
            <a:spLocks/>
          </p:cNvSpPr>
          <p:nvPr/>
        </p:nvSpPr>
        <p:spPr bwMode="auto">
          <a:xfrm>
            <a:off x="8123238" y="3413126"/>
            <a:ext cx="203200" cy="212725"/>
          </a:xfrm>
          <a:custGeom>
            <a:avLst/>
            <a:gdLst>
              <a:gd name="T0" fmla="*/ 0 w 128"/>
              <a:gd name="T1" fmla="*/ 168851235 h 134"/>
              <a:gd name="T2" fmla="*/ 322579945 w 128"/>
              <a:gd name="T3" fmla="*/ 0 h 134"/>
              <a:gd name="T4" fmla="*/ 322579945 w 128"/>
              <a:gd name="T5" fmla="*/ 337700883 h 134"/>
              <a:gd name="T6" fmla="*/ 0 w 128"/>
              <a:gd name="T7" fmla="*/ 168851235 h 134"/>
              <a:gd name="T8" fmla="*/ 0 60000 65536"/>
              <a:gd name="T9" fmla="*/ 0 60000 65536"/>
              <a:gd name="T10" fmla="*/ 0 60000 65536"/>
              <a:gd name="T11" fmla="*/ 0 60000 65536"/>
              <a:gd name="T12" fmla="*/ 0 w 128"/>
              <a:gd name="T13" fmla="*/ 0 h 134"/>
              <a:gd name="T14" fmla="*/ 128 w 128"/>
              <a:gd name="T15" fmla="*/ 134 h 134"/>
            </a:gdLst>
            <a:ahLst/>
            <a:cxnLst>
              <a:cxn ang="T8">
                <a:pos x="T0" y="T1"/>
              </a:cxn>
              <a:cxn ang="T9">
                <a:pos x="T2" y="T3"/>
              </a:cxn>
              <a:cxn ang="T10">
                <a:pos x="T4" y="T5"/>
              </a:cxn>
              <a:cxn ang="T11">
                <a:pos x="T6" y="T7"/>
              </a:cxn>
            </a:cxnLst>
            <a:rect l="T12" t="T13" r="T14" b="T15"/>
            <a:pathLst>
              <a:path w="128" h="134">
                <a:moveTo>
                  <a:pt x="0" y="67"/>
                </a:moveTo>
                <a:lnTo>
                  <a:pt x="128" y="0"/>
                </a:lnTo>
                <a:lnTo>
                  <a:pt x="128" y="134"/>
                </a:lnTo>
                <a:lnTo>
                  <a:pt x="0" y="67"/>
                </a:lnTo>
                <a:close/>
              </a:path>
            </a:pathLst>
          </a:custGeom>
          <a:solidFill>
            <a:srgbClr val="FFFFFF"/>
          </a:solidFill>
          <a:ln w="25400">
            <a:solidFill>
              <a:srgbClr val="FF0000"/>
            </a:solidFill>
            <a:prstDash val="solid"/>
            <a:round/>
            <a:headEnd/>
            <a:tailEnd/>
          </a:ln>
        </p:spPr>
        <p:txBody>
          <a:bodyPr/>
          <a:lstStyle/>
          <a:p>
            <a:endParaRPr lang="en-MX"/>
          </a:p>
        </p:txBody>
      </p:sp>
      <p:sp>
        <p:nvSpPr>
          <p:cNvPr id="32817" name="Rectangle 49">
            <a:extLst>
              <a:ext uri="{FF2B5EF4-FFF2-40B4-BE49-F238E27FC236}">
                <a16:creationId xmlns:a16="http://schemas.microsoft.com/office/drawing/2014/main" id="{A125DED1-275E-3E4F-96DE-17C068BEE5AD}"/>
              </a:ext>
            </a:extLst>
          </p:cNvPr>
          <p:cNvSpPr>
            <a:spLocks noChangeArrowheads="1"/>
          </p:cNvSpPr>
          <p:nvPr/>
        </p:nvSpPr>
        <p:spPr bwMode="auto">
          <a:xfrm>
            <a:off x="6383338" y="3154363"/>
            <a:ext cx="15541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b="0">
                <a:solidFill>
                  <a:srgbClr val="000000"/>
                </a:solidFill>
              </a:rPr>
              <a:t>No Disease Y</a:t>
            </a:r>
            <a:endParaRPr lang="en-US" altLang="en-MX" sz="3200" b="0">
              <a:solidFill>
                <a:srgbClr val="000000"/>
              </a:solidFill>
            </a:endParaRPr>
          </a:p>
        </p:txBody>
      </p:sp>
      <p:sp>
        <p:nvSpPr>
          <p:cNvPr id="32818" name="Freeform 50">
            <a:extLst>
              <a:ext uri="{FF2B5EF4-FFF2-40B4-BE49-F238E27FC236}">
                <a16:creationId xmlns:a16="http://schemas.microsoft.com/office/drawing/2014/main" id="{278ECB6B-9BEA-F444-9746-BAE73B742B36}"/>
              </a:ext>
            </a:extLst>
          </p:cNvPr>
          <p:cNvSpPr>
            <a:spLocks/>
          </p:cNvSpPr>
          <p:nvPr/>
        </p:nvSpPr>
        <p:spPr bwMode="auto">
          <a:xfrm>
            <a:off x="6192838" y="2895600"/>
            <a:ext cx="304800" cy="304800"/>
          </a:xfrm>
          <a:custGeom>
            <a:avLst/>
            <a:gdLst>
              <a:gd name="T0" fmla="*/ 0 w 14"/>
              <a:gd name="T1" fmla="*/ 2147483647 h 18"/>
              <a:gd name="T2" fmla="*/ 0 w 14"/>
              <a:gd name="T3" fmla="*/ 0 h 18"/>
              <a:gd name="T4" fmla="*/ 2147483647 w 14"/>
              <a:gd name="T5" fmla="*/ 0 h 18"/>
              <a:gd name="T6" fmla="*/ 0 60000 65536"/>
              <a:gd name="T7" fmla="*/ 0 60000 65536"/>
              <a:gd name="T8" fmla="*/ 0 60000 65536"/>
              <a:gd name="T9" fmla="*/ 0 w 14"/>
              <a:gd name="T10" fmla="*/ 0 h 18"/>
              <a:gd name="T11" fmla="*/ 14 w 14"/>
              <a:gd name="T12" fmla="*/ 18 h 18"/>
            </a:gdLst>
            <a:ahLst/>
            <a:cxnLst>
              <a:cxn ang="T6">
                <a:pos x="T0" y="T1"/>
              </a:cxn>
              <a:cxn ang="T7">
                <a:pos x="T2" y="T3"/>
              </a:cxn>
              <a:cxn ang="T8">
                <a:pos x="T4" y="T5"/>
              </a:cxn>
            </a:cxnLst>
            <a:rect l="T9" t="T10" r="T11" b="T12"/>
            <a:pathLst>
              <a:path w="14" h="18">
                <a:moveTo>
                  <a:pt x="0" y="18"/>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32819" name="Freeform 51">
            <a:extLst>
              <a:ext uri="{FF2B5EF4-FFF2-40B4-BE49-F238E27FC236}">
                <a16:creationId xmlns:a16="http://schemas.microsoft.com/office/drawing/2014/main" id="{D77771D5-8BBB-684F-AEE9-86A4D4BD3CEA}"/>
              </a:ext>
            </a:extLst>
          </p:cNvPr>
          <p:cNvSpPr>
            <a:spLocks/>
          </p:cNvSpPr>
          <p:nvPr/>
        </p:nvSpPr>
        <p:spPr bwMode="auto">
          <a:xfrm>
            <a:off x="6192838" y="3200400"/>
            <a:ext cx="304800" cy="304800"/>
          </a:xfrm>
          <a:custGeom>
            <a:avLst/>
            <a:gdLst>
              <a:gd name="T0" fmla="*/ 0 w 14"/>
              <a:gd name="T1" fmla="*/ 0 h 18"/>
              <a:gd name="T2" fmla="*/ 0 w 14"/>
              <a:gd name="T3" fmla="*/ 2147483647 h 18"/>
              <a:gd name="T4" fmla="*/ 2147483647 w 14"/>
              <a:gd name="T5" fmla="*/ 2147483647 h 18"/>
              <a:gd name="T6" fmla="*/ 0 60000 65536"/>
              <a:gd name="T7" fmla="*/ 0 60000 65536"/>
              <a:gd name="T8" fmla="*/ 0 60000 65536"/>
              <a:gd name="T9" fmla="*/ 0 w 14"/>
              <a:gd name="T10" fmla="*/ 0 h 18"/>
              <a:gd name="T11" fmla="*/ 14 w 14"/>
              <a:gd name="T12" fmla="*/ 18 h 18"/>
            </a:gdLst>
            <a:ahLst/>
            <a:cxnLst>
              <a:cxn ang="T6">
                <a:pos x="T0" y="T1"/>
              </a:cxn>
              <a:cxn ang="T7">
                <a:pos x="T2" y="T3"/>
              </a:cxn>
              <a:cxn ang="T8">
                <a:pos x="T4" y="T5"/>
              </a:cxn>
            </a:cxnLst>
            <a:rect l="T9" t="T10" r="T11" b="T12"/>
            <a:pathLst>
              <a:path w="14" h="18">
                <a:moveTo>
                  <a:pt x="0" y="0"/>
                </a:moveTo>
                <a:lnTo>
                  <a:pt x="0" y="18"/>
                </a:lnTo>
                <a:lnTo>
                  <a:pt x="14" y="18"/>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32820" name="Oval 52">
            <a:extLst>
              <a:ext uri="{FF2B5EF4-FFF2-40B4-BE49-F238E27FC236}">
                <a16:creationId xmlns:a16="http://schemas.microsoft.com/office/drawing/2014/main" id="{4914D5D4-BA97-E840-9189-CA5F8C83B746}"/>
              </a:ext>
            </a:extLst>
          </p:cNvPr>
          <p:cNvSpPr>
            <a:spLocks noChangeArrowheads="1"/>
          </p:cNvSpPr>
          <p:nvPr/>
        </p:nvSpPr>
        <p:spPr bwMode="auto">
          <a:xfrm>
            <a:off x="6116638" y="3124201"/>
            <a:ext cx="203200" cy="212725"/>
          </a:xfrm>
          <a:prstGeom prst="ellipse">
            <a:avLst/>
          </a:prstGeom>
          <a:solidFill>
            <a:schemeClr val="bg1"/>
          </a:solidFill>
          <a:ln w="25400">
            <a:solidFill>
              <a:srgbClr val="008000"/>
            </a:solidFill>
            <a:round/>
            <a:headEnd/>
            <a:tailEnd/>
          </a:ln>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32821" name="Rectangle 53">
            <a:extLst>
              <a:ext uri="{FF2B5EF4-FFF2-40B4-BE49-F238E27FC236}">
                <a16:creationId xmlns:a16="http://schemas.microsoft.com/office/drawing/2014/main" id="{724180D1-5139-474F-BC92-3F6DC044C1B6}"/>
              </a:ext>
            </a:extLst>
          </p:cNvPr>
          <p:cNvSpPr>
            <a:spLocks noChangeArrowheads="1"/>
          </p:cNvSpPr>
          <p:nvPr/>
        </p:nvSpPr>
        <p:spPr bwMode="auto">
          <a:xfrm>
            <a:off x="3983039" y="2819400"/>
            <a:ext cx="13731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b="0">
                <a:solidFill>
                  <a:srgbClr val="000000"/>
                </a:solidFill>
              </a:rPr>
              <a:t>Test +/Treat</a:t>
            </a:r>
            <a:endParaRPr lang="en-US" altLang="en-MX" sz="3200" b="0">
              <a:solidFill>
                <a:srgbClr val="000000"/>
              </a:solidFill>
            </a:endParaRPr>
          </a:p>
        </p:txBody>
      </p:sp>
      <p:sp>
        <p:nvSpPr>
          <p:cNvPr id="32822" name="Line 54">
            <a:extLst>
              <a:ext uri="{FF2B5EF4-FFF2-40B4-BE49-F238E27FC236}">
                <a16:creationId xmlns:a16="http://schemas.microsoft.com/office/drawing/2014/main" id="{F08DAB5A-B2BD-6D46-AB8A-ECCA78C9B33C}"/>
              </a:ext>
            </a:extLst>
          </p:cNvPr>
          <p:cNvSpPr>
            <a:spLocks noChangeShapeType="1"/>
          </p:cNvSpPr>
          <p:nvPr/>
        </p:nvSpPr>
        <p:spPr bwMode="auto">
          <a:xfrm>
            <a:off x="3983038" y="3200400"/>
            <a:ext cx="2133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2823" name="Line 55">
            <a:extLst>
              <a:ext uri="{FF2B5EF4-FFF2-40B4-BE49-F238E27FC236}">
                <a16:creationId xmlns:a16="http://schemas.microsoft.com/office/drawing/2014/main" id="{9DA5DB2C-CC63-894D-8A4D-50ECC0C46210}"/>
              </a:ext>
            </a:extLst>
          </p:cNvPr>
          <p:cNvSpPr>
            <a:spLocks noChangeShapeType="1"/>
          </p:cNvSpPr>
          <p:nvPr/>
        </p:nvSpPr>
        <p:spPr bwMode="auto">
          <a:xfrm>
            <a:off x="6421438" y="2895600"/>
            <a:ext cx="1676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2824" name="Line 56">
            <a:extLst>
              <a:ext uri="{FF2B5EF4-FFF2-40B4-BE49-F238E27FC236}">
                <a16:creationId xmlns:a16="http://schemas.microsoft.com/office/drawing/2014/main" id="{2FD5D8AB-EC29-3140-A006-E1B94E1D8212}"/>
              </a:ext>
            </a:extLst>
          </p:cNvPr>
          <p:cNvSpPr>
            <a:spLocks noChangeShapeType="1"/>
          </p:cNvSpPr>
          <p:nvPr/>
        </p:nvSpPr>
        <p:spPr bwMode="auto">
          <a:xfrm>
            <a:off x="6497638" y="3505200"/>
            <a:ext cx="1676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2825" name="Line 57">
            <a:extLst>
              <a:ext uri="{FF2B5EF4-FFF2-40B4-BE49-F238E27FC236}">
                <a16:creationId xmlns:a16="http://schemas.microsoft.com/office/drawing/2014/main" id="{D7214D83-7D35-D042-8C17-5F0B9F758C29}"/>
              </a:ext>
            </a:extLst>
          </p:cNvPr>
          <p:cNvSpPr>
            <a:spLocks noChangeShapeType="1"/>
          </p:cNvSpPr>
          <p:nvPr/>
        </p:nvSpPr>
        <p:spPr bwMode="auto">
          <a:xfrm>
            <a:off x="6497638" y="3962400"/>
            <a:ext cx="1676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2826" name="Line 58">
            <a:extLst>
              <a:ext uri="{FF2B5EF4-FFF2-40B4-BE49-F238E27FC236}">
                <a16:creationId xmlns:a16="http://schemas.microsoft.com/office/drawing/2014/main" id="{9605387E-40CA-1946-AB22-E375551BE247}"/>
              </a:ext>
            </a:extLst>
          </p:cNvPr>
          <p:cNvSpPr>
            <a:spLocks noChangeShapeType="1"/>
          </p:cNvSpPr>
          <p:nvPr/>
        </p:nvSpPr>
        <p:spPr bwMode="auto">
          <a:xfrm>
            <a:off x="6421438" y="4648200"/>
            <a:ext cx="1676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1071163" name="Text Box 59">
            <a:extLst>
              <a:ext uri="{FF2B5EF4-FFF2-40B4-BE49-F238E27FC236}">
                <a16:creationId xmlns:a16="http://schemas.microsoft.com/office/drawing/2014/main" id="{0E766CBE-7AF3-634F-98B7-1496ACE5CDD2}"/>
              </a:ext>
            </a:extLst>
          </p:cNvPr>
          <p:cNvSpPr txBox="1">
            <a:spLocks noChangeArrowheads="1"/>
          </p:cNvSpPr>
          <p:nvPr/>
        </p:nvSpPr>
        <p:spPr bwMode="auto">
          <a:xfrm>
            <a:off x="819509" y="328613"/>
            <a:ext cx="10377578" cy="769441"/>
          </a:xfrm>
          <a:prstGeom prst="rect">
            <a:avLst/>
          </a:prstGeom>
          <a:noFill/>
          <a:ln w="9525">
            <a:noFill/>
            <a:miter lim="800000"/>
            <a:headEnd/>
            <a:tailEnd/>
          </a:ln>
          <a:effectLst/>
        </p:spPr>
        <p:txBody>
          <a:bodyPr wrap="square">
            <a:spAutoFit/>
          </a:bodyPr>
          <a:lstStyle/>
          <a:p>
            <a:pPr>
              <a:defRPr/>
            </a:pPr>
            <a:r>
              <a:rPr lang="en-US" sz="4400" dirty="0">
                <a:solidFill>
                  <a:srgbClr val="990033"/>
                </a:solidFill>
                <a:effectLst>
                  <a:outerShdw blurRad="38100" dist="38100" dir="2700000" algn="tl">
                    <a:srgbClr val="C0C0C0"/>
                  </a:outerShdw>
                </a:effectLst>
                <a:latin typeface="Arial" charset="0"/>
              </a:rPr>
              <a:t>CEA of Test 1</a:t>
            </a:r>
          </a:p>
        </p:txBody>
      </p:sp>
      <p:sp>
        <p:nvSpPr>
          <p:cNvPr id="32828" name="Text Box 60">
            <a:extLst>
              <a:ext uri="{FF2B5EF4-FFF2-40B4-BE49-F238E27FC236}">
                <a16:creationId xmlns:a16="http://schemas.microsoft.com/office/drawing/2014/main" id="{A0E333EE-11CA-514C-A243-914C22570295}"/>
              </a:ext>
            </a:extLst>
          </p:cNvPr>
          <p:cNvSpPr txBox="1">
            <a:spLocks noChangeArrowheads="1"/>
          </p:cNvSpPr>
          <p:nvPr/>
        </p:nvSpPr>
        <p:spPr bwMode="auto">
          <a:xfrm>
            <a:off x="8382000" y="914401"/>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1028700" algn="l"/>
              </a:tabLst>
              <a:defRPr sz="2000" b="1">
                <a:solidFill>
                  <a:schemeClr val="tx1"/>
                </a:solidFill>
                <a:latin typeface="Arial" panose="020B0604020202020204" pitchFamily="34" charset="0"/>
              </a:defRPr>
            </a:lvl1pPr>
            <a:lvl2pPr marL="742950" indent="-285750">
              <a:tabLst>
                <a:tab pos="1028700" algn="l"/>
              </a:tabLst>
              <a:defRPr sz="2000" b="1">
                <a:solidFill>
                  <a:schemeClr val="tx1"/>
                </a:solidFill>
                <a:latin typeface="Arial" panose="020B0604020202020204" pitchFamily="34" charset="0"/>
              </a:defRPr>
            </a:lvl2pPr>
            <a:lvl3pPr marL="1143000" indent="-228600">
              <a:tabLst>
                <a:tab pos="1028700" algn="l"/>
              </a:tabLst>
              <a:defRPr sz="2000" b="1">
                <a:solidFill>
                  <a:schemeClr val="tx1"/>
                </a:solidFill>
                <a:latin typeface="Arial" panose="020B0604020202020204" pitchFamily="34" charset="0"/>
              </a:defRPr>
            </a:lvl3pPr>
            <a:lvl4pPr marL="1600200" indent="-228600">
              <a:tabLst>
                <a:tab pos="1028700" algn="l"/>
              </a:tabLst>
              <a:defRPr sz="2000" b="1">
                <a:solidFill>
                  <a:schemeClr val="tx1"/>
                </a:solidFill>
                <a:latin typeface="Arial" panose="020B0604020202020204" pitchFamily="34" charset="0"/>
              </a:defRPr>
            </a:lvl4pPr>
            <a:lvl5pPr marL="2057400" indent="-228600">
              <a:tabLst>
                <a:tab pos="1028700" algn="l"/>
              </a:tabLst>
              <a:defRPr sz="2000" b="1">
                <a:solidFill>
                  <a:schemeClr val="tx1"/>
                </a:solidFill>
                <a:latin typeface="Arial" panose="020B0604020202020204" pitchFamily="34" charset="0"/>
              </a:defRPr>
            </a:lvl5pPr>
            <a:lvl6pPr marL="2514600" indent="-228600" eaLnBrk="0" fontAlgn="base" hangingPunct="0">
              <a:spcBef>
                <a:spcPct val="0"/>
              </a:spcBef>
              <a:spcAft>
                <a:spcPct val="0"/>
              </a:spcAft>
              <a:tabLst>
                <a:tab pos="1028700" algn="l"/>
              </a:tabLst>
              <a:defRPr sz="2000" b="1">
                <a:solidFill>
                  <a:schemeClr val="tx1"/>
                </a:solidFill>
                <a:latin typeface="Arial" panose="020B0604020202020204" pitchFamily="34" charset="0"/>
              </a:defRPr>
            </a:lvl6pPr>
            <a:lvl7pPr marL="2971800" indent="-228600" eaLnBrk="0" fontAlgn="base" hangingPunct="0">
              <a:spcBef>
                <a:spcPct val="0"/>
              </a:spcBef>
              <a:spcAft>
                <a:spcPct val="0"/>
              </a:spcAft>
              <a:tabLst>
                <a:tab pos="1028700" algn="l"/>
              </a:tabLst>
              <a:defRPr sz="2000" b="1">
                <a:solidFill>
                  <a:schemeClr val="tx1"/>
                </a:solidFill>
                <a:latin typeface="Arial" panose="020B0604020202020204" pitchFamily="34" charset="0"/>
              </a:defRPr>
            </a:lvl7pPr>
            <a:lvl8pPr marL="3429000" indent="-228600" eaLnBrk="0" fontAlgn="base" hangingPunct="0">
              <a:spcBef>
                <a:spcPct val="0"/>
              </a:spcBef>
              <a:spcAft>
                <a:spcPct val="0"/>
              </a:spcAft>
              <a:tabLst>
                <a:tab pos="1028700" algn="l"/>
              </a:tabLst>
              <a:defRPr sz="2000" b="1">
                <a:solidFill>
                  <a:schemeClr val="tx1"/>
                </a:solidFill>
                <a:latin typeface="Arial" panose="020B0604020202020204" pitchFamily="34" charset="0"/>
              </a:defRPr>
            </a:lvl8pPr>
            <a:lvl9pPr marL="3886200" indent="-228600" eaLnBrk="0" fontAlgn="base" hangingPunct="0">
              <a:spcBef>
                <a:spcPct val="0"/>
              </a:spcBef>
              <a:spcAft>
                <a:spcPct val="0"/>
              </a:spcAft>
              <a:tabLst>
                <a:tab pos="1028700" algn="l"/>
              </a:tabLst>
              <a:defRPr sz="2000" b="1">
                <a:solidFill>
                  <a:schemeClr val="tx1"/>
                </a:solidFill>
                <a:latin typeface="Arial" panose="020B0604020202020204" pitchFamily="34" charset="0"/>
              </a:defRPr>
            </a:lvl9pPr>
          </a:lstStyle>
          <a:p>
            <a:r>
              <a:rPr lang="en-US" altLang="en-MX" b="0" u="sng"/>
              <a:t>Costs 	QALYs</a:t>
            </a:r>
          </a:p>
        </p:txBody>
      </p:sp>
      <p:sp>
        <p:nvSpPr>
          <p:cNvPr id="32829" name="Text Box 61">
            <a:extLst>
              <a:ext uri="{FF2B5EF4-FFF2-40B4-BE49-F238E27FC236}">
                <a16:creationId xmlns:a16="http://schemas.microsoft.com/office/drawing/2014/main" id="{509AA32E-5571-144B-BAC5-D6EC840BE6DF}"/>
              </a:ext>
            </a:extLst>
          </p:cNvPr>
          <p:cNvSpPr txBox="1">
            <a:spLocks noChangeArrowheads="1"/>
          </p:cNvSpPr>
          <p:nvPr/>
        </p:nvSpPr>
        <p:spPr bwMode="auto">
          <a:xfrm>
            <a:off x="8561388" y="1524001"/>
            <a:ext cx="1828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1085850" algn="l"/>
              </a:tabLst>
              <a:defRPr sz="2000" b="1">
                <a:solidFill>
                  <a:schemeClr val="tx1"/>
                </a:solidFill>
                <a:latin typeface="Arial" panose="020B0604020202020204" pitchFamily="34" charset="0"/>
              </a:defRPr>
            </a:lvl1pPr>
            <a:lvl2pPr marL="742950" indent="-285750">
              <a:tabLst>
                <a:tab pos="1085850" algn="l"/>
              </a:tabLst>
              <a:defRPr sz="2000" b="1">
                <a:solidFill>
                  <a:schemeClr val="tx1"/>
                </a:solidFill>
                <a:latin typeface="Arial" panose="020B0604020202020204" pitchFamily="34" charset="0"/>
              </a:defRPr>
            </a:lvl2pPr>
            <a:lvl3pPr marL="1143000" indent="-228600">
              <a:tabLst>
                <a:tab pos="1085850" algn="l"/>
              </a:tabLst>
              <a:defRPr sz="2000" b="1">
                <a:solidFill>
                  <a:schemeClr val="tx1"/>
                </a:solidFill>
                <a:latin typeface="Arial" panose="020B0604020202020204" pitchFamily="34" charset="0"/>
              </a:defRPr>
            </a:lvl3pPr>
            <a:lvl4pPr marL="1600200" indent="-228600">
              <a:tabLst>
                <a:tab pos="1085850" algn="l"/>
              </a:tabLst>
              <a:defRPr sz="2000" b="1">
                <a:solidFill>
                  <a:schemeClr val="tx1"/>
                </a:solidFill>
                <a:latin typeface="Arial" panose="020B0604020202020204" pitchFamily="34" charset="0"/>
              </a:defRPr>
            </a:lvl4pPr>
            <a:lvl5pPr marL="2057400" indent="-228600">
              <a:tabLst>
                <a:tab pos="1085850" algn="l"/>
              </a:tabLst>
              <a:defRPr sz="2000" b="1">
                <a:solidFill>
                  <a:schemeClr val="tx1"/>
                </a:solidFill>
                <a:latin typeface="Arial" panose="020B0604020202020204" pitchFamily="34" charset="0"/>
              </a:defRPr>
            </a:lvl5pPr>
            <a:lvl6pPr marL="25146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6pPr>
            <a:lvl7pPr marL="29718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7pPr>
            <a:lvl8pPr marL="34290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8pPr>
            <a:lvl9pPr marL="38862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9pPr>
          </a:lstStyle>
          <a:p>
            <a:pPr>
              <a:spcBef>
                <a:spcPct val="50000"/>
              </a:spcBef>
            </a:pPr>
            <a:r>
              <a:rPr lang="en-US" altLang="en-MX"/>
              <a:t>20,000	9.0</a:t>
            </a:r>
          </a:p>
        </p:txBody>
      </p:sp>
      <p:sp>
        <p:nvSpPr>
          <p:cNvPr id="32830" name="Text Box 62">
            <a:extLst>
              <a:ext uri="{FF2B5EF4-FFF2-40B4-BE49-F238E27FC236}">
                <a16:creationId xmlns:a16="http://schemas.microsoft.com/office/drawing/2014/main" id="{ADFDD19E-9B37-6946-9725-BA77004E5B16}"/>
              </a:ext>
            </a:extLst>
          </p:cNvPr>
          <p:cNvSpPr txBox="1">
            <a:spLocks noChangeArrowheads="1"/>
          </p:cNvSpPr>
          <p:nvPr/>
        </p:nvSpPr>
        <p:spPr bwMode="auto">
          <a:xfrm>
            <a:off x="8534400" y="2743201"/>
            <a:ext cx="1828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1085850" algn="l"/>
              </a:tabLst>
              <a:defRPr sz="2000" b="1">
                <a:solidFill>
                  <a:schemeClr val="tx1"/>
                </a:solidFill>
                <a:latin typeface="Arial" panose="020B0604020202020204" pitchFamily="34" charset="0"/>
              </a:defRPr>
            </a:lvl1pPr>
            <a:lvl2pPr marL="742950" indent="-285750">
              <a:tabLst>
                <a:tab pos="1085850" algn="l"/>
              </a:tabLst>
              <a:defRPr sz="2000" b="1">
                <a:solidFill>
                  <a:schemeClr val="tx1"/>
                </a:solidFill>
                <a:latin typeface="Arial" panose="020B0604020202020204" pitchFamily="34" charset="0"/>
              </a:defRPr>
            </a:lvl2pPr>
            <a:lvl3pPr marL="1143000" indent="-228600">
              <a:tabLst>
                <a:tab pos="1085850" algn="l"/>
              </a:tabLst>
              <a:defRPr sz="2000" b="1">
                <a:solidFill>
                  <a:schemeClr val="tx1"/>
                </a:solidFill>
                <a:latin typeface="Arial" panose="020B0604020202020204" pitchFamily="34" charset="0"/>
              </a:defRPr>
            </a:lvl3pPr>
            <a:lvl4pPr marL="1600200" indent="-228600">
              <a:tabLst>
                <a:tab pos="1085850" algn="l"/>
              </a:tabLst>
              <a:defRPr sz="2000" b="1">
                <a:solidFill>
                  <a:schemeClr val="tx1"/>
                </a:solidFill>
                <a:latin typeface="Arial" panose="020B0604020202020204" pitchFamily="34" charset="0"/>
              </a:defRPr>
            </a:lvl4pPr>
            <a:lvl5pPr marL="2057400" indent="-228600">
              <a:tabLst>
                <a:tab pos="1085850" algn="l"/>
              </a:tabLst>
              <a:defRPr sz="2000" b="1">
                <a:solidFill>
                  <a:schemeClr val="tx1"/>
                </a:solidFill>
                <a:latin typeface="Arial" panose="020B0604020202020204" pitchFamily="34" charset="0"/>
              </a:defRPr>
            </a:lvl5pPr>
            <a:lvl6pPr marL="25146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6pPr>
            <a:lvl7pPr marL="29718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7pPr>
            <a:lvl8pPr marL="34290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8pPr>
            <a:lvl9pPr marL="38862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9pPr>
          </a:lstStyle>
          <a:p>
            <a:pPr>
              <a:spcBef>
                <a:spcPct val="50000"/>
              </a:spcBef>
            </a:pPr>
            <a:r>
              <a:rPr lang="en-US" altLang="en-MX"/>
              <a:t>20,020	9.0</a:t>
            </a:r>
          </a:p>
        </p:txBody>
      </p:sp>
      <p:sp>
        <p:nvSpPr>
          <p:cNvPr id="32831" name="Text Box 63">
            <a:extLst>
              <a:ext uri="{FF2B5EF4-FFF2-40B4-BE49-F238E27FC236}">
                <a16:creationId xmlns:a16="http://schemas.microsoft.com/office/drawing/2014/main" id="{6D7A6C99-2B32-7E4E-8958-8F84413ED15E}"/>
              </a:ext>
            </a:extLst>
          </p:cNvPr>
          <p:cNvSpPr txBox="1">
            <a:spLocks noChangeArrowheads="1"/>
          </p:cNvSpPr>
          <p:nvPr/>
        </p:nvSpPr>
        <p:spPr bwMode="auto">
          <a:xfrm>
            <a:off x="8561388" y="2133601"/>
            <a:ext cx="1828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1085850" algn="l"/>
              </a:tabLst>
              <a:defRPr sz="2000" b="1">
                <a:solidFill>
                  <a:schemeClr val="tx1"/>
                </a:solidFill>
                <a:latin typeface="Arial" panose="020B0604020202020204" pitchFamily="34" charset="0"/>
              </a:defRPr>
            </a:lvl1pPr>
            <a:lvl2pPr marL="742950" indent="-285750">
              <a:tabLst>
                <a:tab pos="1085850" algn="l"/>
              </a:tabLst>
              <a:defRPr sz="2000" b="1">
                <a:solidFill>
                  <a:schemeClr val="tx1"/>
                </a:solidFill>
                <a:latin typeface="Arial" panose="020B0604020202020204" pitchFamily="34" charset="0"/>
              </a:defRPr>
            </a:lvl2pPr>
            <a:lvl3pPr marL="1143000" indent="-228600">
              <a:tabLst>
                <a:tab pos="1085850" algn="l"/>
              </a:tabLst>
              <a:defRPr sz="2000" b="1">
                <a:solidFill>
                  <a:schemeClr val="tx1"/>
                </a:solidFill>
                <a:latin typeface="Arial" panose="020B0604020202020204" pitchFamily="34" charset="0"/>
              </a:defRPr>
            </a:lvl3pPr>
            <a:lvl4pPr marL="1600200" indent="-228600">
              <a:tabLst>
                <a:tab pos="1085850" algn="l"/>
              </a:tabLst>
              <a:defRPr sz="2000" b="1">
                <a:solidFill>
                  <a:schemeClr val="tx1"/>
                </a:solidFill>
                <a:latin typeface="Arial" panose="020B0604020202020204" pitchFamily="34" charset="0"/>
              </a:defRPr>
            </a:lvl4pPr>
            <a:lvl5pPr marL="2057400" indent="-228600">
              <a:tabLst>
                <a:tab pos="1085850" algn="l"/>
              </a:tabLst>
              <a:defRPr sz="2000" b="1">
                <a:solidFill>
                  <a:schemeClr val="tx1"/>
                </a:solidFill>
                <a:latin typeface="Arial" panose="020B0604020202020204" pitchFamily="34" charset="0"/>
              </a:defRPr>
            </a:lvl5pPr>
            <a:lvl6pPr marL="25146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6pPr>
            <a:lvl7pPr marL="29718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7pPr>
            <a:lvl8pPr marL="34290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8pPr>
            <a:lvl9pPr marL="38862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9pPr>
          </a:lstStyle>
          <a:p>
            <a:pPr>
              <a:spcBef>
                <a:spcPct val="50000"/>
              </a:spcBef>
            </a:pPr>
            <a:r>
              <a:rPr lang="en-US" altLang="en-MX"/>
              <a:t>20,000	9.9</a:t>
            </a:r>
          </a:p>
        </p:txBody>
      </p:sp>
      <p:sp>
        <p:nvSpPr>
          <p:cNvPr id="32832" name="Text Box 64">
            <a:extLst>
              <a:ext uri="{FF2B5EF4-FFF2-40B4-BE49-F238E27FC236}">
                <a16:creationId xmlns:a16="http://schemas.microsoft.com/office/drawing/2014/main" id="{CEC7AD37-F4D6-A44B-ACB7-CA53783EA876}"/>
              </a:ext>
            </a:extLst>
          </p:cNvPr>
          <p:cNvSpPr txBox="1">
            <a:spLocks noChangeArrowheads="1"/>
          </p:cNvSpPr>
          <p:nvPr/>
        </p:nvSpPr>
        <p:spPr bwMode="auto">
          <a:xfrm>
            <a:off x="8534400" y="3352801"/>
            <a:ext cx="1828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1085850" algn="l"/>
              </a:tabLst>
              <a:defRPr sz="2000" b="1">
                <a:solidFill>
                  <a:schemeClr val="tx1"/>
                </a:solidFill>
                <a:latin typeface="Arial" panose="020B0604020202020204" pitchFamily="34" charset="0"/>
              </a:defRPr>
            </a:lvl1pPr>
            <a:lvl2pPr marL="742950" indent="-285750">
              <a:tabLst>
                <a:tab pos="1085850" algn="l"/>
              </a:tabLst>
              <a:defRPr sz="2000" b="1">
                <a:solidFill>
                  <a:schemeClr val="tx1"/>
                </a:solidFill>
                <a:latin typeface="Arial" panose="020B0604020202020204" pitchFamily="34" charset="0"/>
              </a:defRPr>
            </a:lvl2pPr>
            <a:lvl3pPr marL="1143000" indent="-228600">
              <a:tabLst>
                <a:tab pos="1085850" algn="l"/>
              </a:tabLst>
              <a:defRPr sz="2000" b="1">
                <a:solidFill>
                  <a:schemeClr val="tx1"/>
                </a:solidFill>
                <a:latin typeface="Arial" panose="020B0604020202020204" pitchFamily="34" charset="0"/>
              </a:defRPr>
            </a:lvl3pPr>
            <a:lvl4pPr marL="1600200" indent="-228600">
              <a:tabLst>
                <a:tab pos="1085850" algn="l"/>
              </a:tabLst>
              <a:defRPr sz="2000" b="1">
                <a:solidFill>
                  <a:schemeClr val="tx1"/>
                </a:solidFill>
                <a:latin typeface="Arial" panose="020B0604020202020204" pitchFamily="34" charset="0"/>
              </a:defRPr>
            </a:lvl4pPr>
            <a:lvl5pPr marL="2057400" indent="-228600">
              <a:tabLst>
                <a:tab pos="1085850" algn="l"/>
              </a:tabLst>
              <a:defRPr sz="2000" b="1">
                <a:solidFill>
                  <a:schemeClr val="tx1"/>
                </a:solidFill>
                <a:latin typeface="Arial" panose="020B0604020202020204" pitchFamily="34" charset="0"/>
              </a:defRPr>
            </a:lvl5pPr>
            <a:lvl6pPr marL="25146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6pPr>
            <a:lvl7pPr marL="29718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7pPr>
            <a:lvl8pPr marL="34290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8pPr>
            <a:lvl9pPr marL="38862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9pPr>
          </a:lstStyle>
          <a:p>
            <a:pPr>
              <a:spcBef>
                <a:spcPct val="50000"/>
              </a:spcBef>
            </a:pPr>
            <a:r>
              <a:rPr lang="en-US" altLang="en-MX"/>
              <a:t>20,020	9.0</a:t>
            </a:r>
          </a:p>
        </p:txBody>
      </p:sp>
      <p:sp>
        <p:nvSpPr>
          <p:cNvPr id="32833" name="Text Box 65">
            <a:extLst>
              <a:ext uri="{FF2B5EF4-FFF2-40B4-BE49-F238E27FC236}">
                <a16:creationId xmlns:a16="http://schemas.microsoft.com/office/drawing/2014/main" id="{FCA564DF-200E-794E-B87B-D202320B6315}"/>
              </a:ext>
            </a:extLst>
          </p:cNvPr>
          <p:cNvSpPr txBox="1">
            <a:spLocks noChangeArrowheads="1"/>
          </p:cNvSpPr>
          <p:nvPr/>
        </p:nvSpPr>
        <p:spPr bwMode="auto">
          <a:xfrm>
            <a:off x="8534400" y="3810001"/>
            <a:ext cx="1828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1085850" algn="l"/>
              </a:tabLst>
              <a:defRPr sz="2000" b="1">
                <a:solidFill>
                  <a:schemeClr val="tx1"/>
                </a:solidFill>
                <a:latin typeface="Arial" panose="020B0604020202020204" pitchFamily="34" charset="0"/>
              </a:defRPr>
            </a:lvl1pPr>
            <a:lvl2pPr marL="742950" indent="-285750">
              <a:tabLst>
                <a:tab pos="1085850" algn="l"/>
              </a:tabLst>
              <a:defRPr sz="2000" b="1">
                <a:solidFill>
                  <a:schemeClr val="tx1"/>
                </a:solidFill>
                <a:latin typeface="Arial" panose="020B0604020202020204" pitchFamily="34" charset="0"/>
              </a:defRPr>
            </a:lvl2pPr>
            <a:lvl3pPr marL="1143000" indent="-228600">
              <a:tabLst>
                <a:tab pos="1085850" algn="l"/>
              </a:tabLst>
              <a:defRPr sz="2000" b="1">
                <a:solidFill>
                  <a:schemeClr val="tx1"/>
                </a:solidFill>
                <a:latin typeface="Arial" panose="020B0604020202020204" pitchFamily="34" charset="0"/>
              </a:defRPr>
            </a:lvl3pPr>
            <a:lvl4pPr marL="1600200" indent="-228600">
              <a:tabLst>
                <a:tab pos="1085850" algn="l"/>
              </a:tabLst>
              <a:defRPr sz="2000" b="1">
                <a:solidFill>
                  <a:schemeClr val="tx1"/>
                </a:solidFill>
                <a:latin typeface="Arial" panose="020B0604020202020204" pitchFamily="34" charset="0"/>
              </a:defRPr>
            </a:lvl4pPr>
            <a:lvl5pPr marL="2057400" indent="-228600">
              <a:tabLst>
                <a:tab pos="1085850" algn="l"/>
              </a:tabLst>
              <a:defRPr sz="2000" b="1">
                <a:solidFill>
                  <a:schemeClr val="tx1"/>
                </a:solidFill>
                <a:latin typeface="Arial" panose="020B0604020202020204" pitchFamily="34" charset="0"/>
              </a:defRPr>
            </a:lvl5pPr>
            <a:lvl6pPr marL="25146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6pPr>
            <a:lvl7pPr marL="29718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7pPr>
            <a:lvl8pPr marL="34290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8pPr>
            <a:lvl9pPr marL="38862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9pPr>
          </a:lstStyle>
          <a:p>
            <a:pPr>
              <a:spcBef>
                <a:spcPct val="50000"/>
              </a:spcBef>
            </a:pPr>
            <a:r>
              <a:rPr lang="en-US" altLang="en-MX"/>
              <a:t>20	8.0</a:t>
            </a:r>
          </a:p>
        </p:txBody>
      </p:sp>
      <p:sp>
        <p:nvSpPr>
          <p:cNvPr id="32834" name="Text Box 66">
            <a:extLst>
              <a:ext uri="{FF2B5EF4-FFF2-40B4-BE49-F238E27FC236}">
                <a16:creationId xmlns:a16="http://schemas.microsoft.com/office/drawing/2014/main" id="{1B4B2C97-0A22-824B-85FD-4D77D0F3A531}"/>
              </a:ext>
            </a:extLst>
          </p:cNvPr>
          <p:cNvSpPr txBox="1">
            <a:spLocks noChangeArrowheads="1"/>
          </p:cNvSpPr>
          <p:nvPr/>
        </p:nvSpPr>
        <p:spPr bwMode="auto">
          <a:xfrm>
            <a:off x="8534400" y="4495801"/>
            <a:ext cx="1828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1085850" algn="l"/>
              </a:tabLst>
              <a:defRPr sz="2000" b="1">
                <a:solidFill>
                  <a:schemeClr val="tx1"/>
                </a:solidFill>
                <a:latin typeface="Arial" panose="020B0604020202020204" pitchFamily="34" charset="0"/>
              </a:defRPr>
            </a:lvl1pPr>
            <a:lvl2pPr marL="742950" indent="-285750">
              <a:tabLst>
                <a:tab pos="1085850" algn="l"/>
              </a:tabLst>
              <a:defRPr sz="2000" b="1">
                <a:solidFill>
                  <a:schemeClr val="tx1"/>
                </a:solidFill>
                <a:latin typeface="Arial" panose="020B0604020202020204" pitchFamily="34" charset="0"/>
              </a:defRPr>
            </a:lvl2pPr>
            <a:lvl3pPr marL="1143000" indent="-228600">
              <a:tabLst>
                <a:tab pos="1085850" algn="l"/>
              </a:tabLst>
              <a:defRPr sz="2000" b="1">
                <a:solidFill>
                  <a:schemeClr val="tx1"/>
                </a:solidFill>
                <a:latin typeface="Arial" panose="020B0604020202020204" pitchFamily="34" charset="0"/>
              </a:defRPr>
            </a:lvl3pPr>
            <a:lvl4pPr marL="1600200" indent="-228600">
              <a:tabLst>
                <a:tab pos="1085850" algn="l"/>
              </a:tabLst>
              <a:defRPr sz="2000" b="1">
                <a:solidFill>
                  <a:schemeClr val="tx1"/>
                </a:solidFill>
                <a:latin typeface="Arial" panose="020B0604020202020204" pitchFamily="34" charset="0"/>
              </a:defRPr>
            </a:lvl4pPr>
            <a:lvl5pPr marL="2057400" indent="-228600">
              <a:tabLst>
                <a:tab pos="1085850" algn="l"/>
              </a:tabLst>
              <a:defRPr sz="2000" b="1">
                <a:solidFill>
                  <a:schemeClr val="tx1"/>
                </a:solidFill>
                <a:latin typeface="Arial" panose="020B0604020202020204" pitchFamily="34" charset="0"/>
              </a:defRPr>
            </a:lvl5pPr>
            <a:lvl6pPr marL="25146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6pPr>
            <a:lvl7pPr marL="29718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7pPr>
            <a:lvl8pPr marL="34290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8pPr>
            <a:lvl9pPr marL="38862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9pPr>
          </a:lstStyle>
          <a:p>
            <a:pPr>
              <a:spcBef>
                <a:spcPct val="50000"/>
              </a:spcBef>
            </a:pPr>
            <a:r>
              <a:rPr lang="en-US" altLang="en-MX"/>
              <a:t>20	10.0</a:t>
            </a:r>
          </a:p>
        </p:txBody>
      </p:sp>
      <p:sp>
        <p:nvSpPr>
          <p:cNvPr id="32835" name="Text Box 67">
            <a:extLst>
              <a:ext uri="{FF2B5EF4-FFF2-40B4-BE49-F238E27FC236}">
                <a16:creationId xmlns:a16="http://schemas.microsoft.com/office/drawing/2014/main" id="{2666CEBC-8FBC-2443-9167-B7616156ECF4}"/>
              </a:ext>
            </a:extLst>
          </p:cNvPr>
          <p:cNvSpPr txBox="1">
            <a:spLocks noChangeArrowheads="1"/>
          </p:cNvSpPr>
          <p:nvPr/>
        </p:nvSpPr>
        <p:spPr bwMode="auto">
          <a:xfrm>
            <a:off x="8561388" y="4953001"/>
            <a:ext cx="1828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1085850" algn="l"/>
              </a:tabLst>
              <a:defRPr sz="2000" b="1">
                <a:solidFill>
                  <a:schemeClr val="tx1"/>
                </a:solidFill>
                <a:latin typeface="Arial" panose="020B0604020202020204" pitchFamily="34" charset="0"/>
              </a:defRPr>
            </a:lvl1pPr>
            <a:lvl2pPr marL="742950" indent="-285750">
              <a:tabLst>
                <a:tab pos="1085850" algn="l"/>
              </a:tabLst>
              <a:defRPr sz="2000" b="1">
                <a:solidFill>
                  <a:schemeClr val="tx1"/>
                </a:solidFill>
                <a:latin typeface="Arial" panose="020B0604020202020204" pitchFamily="34" charset="0"/>
              </a:defRPr>
            </a:lvl2pPr>
            <a:lvl3pPr marL="1143000" indent="-228600">
              <a:tabLst>
                <a:tab pos="1085850" algn="l"/>
              </a:tabLst>
              <a:defRPr sz="2000" b="1">
                <a:solidFill>
                  <a:schemeClr val="tx1"/>
                </a:solidFill>
                <a:latin typeface="Arial" panose="020B0604020202020204" pitchFamily="34" charset="0"/>
              </a:defRPr>
            </a:lvl3pPr>
            <a:lvl4pPr marL="1600200" indent="-228600">
              <a:tabLst>
                <a:tab pos="1085850" algn="l"/>
              </a:tabLst>
              <a:defRPr sz="2000" b="1">
                <a:solidFill>
                  <a:schemeClr val="tx1"/>
                </a:solidFill>
                <a:latin typeface="Arial" panose="020B0604020202020204" pitchFamily="34" charset="0"/>
              </a:defRPr>
            </a:lvl4pPr>
            <a:lvl5pPr marL="2057400" indent="-228600">
              <a:tabLst>
                <a:tab pos="1085850" algn="l"/>
              </a:tabLst>
              <a:defRPr sz="2000" b="1">
                <a:solidFill>
                  <a:schemeClr val="tx1"/>
                </a:solidFill>
                <a:latin typeface="Arial" panose="020B0604020202020204" pitchFamily="34" charset="0"/>
              </a:defRPr>
            </a:lvl5pPr>
            <a:lvl6pPr marL="25146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6pPr>
            <a:lvl7pPr marL="29718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7pPr>
            <a:lvl8pPr marL="34290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8pPr>
            <a:lvl9pPr marL="38862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9pPr>
          </a:lstStyle>
          <a:p>
            <a:pPr>
              <a:spcBef>
                <a:spcPct val="50000"/>
              </a:spcBef>
            </a:pPr>
            <a:r>
              <a:rPr lang="en-US" altLang="en-MX"/>
              <a:t>0	8.0</a:t>
            </a:r>
          </a:p>
        </p:txBody>
      </p:sp>
      <p:sp>
        <p:nvSpPr>
          <p:cNvPr id="32836" name="Text Box 68">
            <a:extLst>
              <a:ext uri="{FF2B5EF4-FFF2-40B4-BE49-F238E27FC236}">
                <a16:creationId xmlns:a16="http://schemas.microsoft.com/office/drawing/2014/main" id="{0200B52C-D0A4-0445-A22B-71BF5D4E491F}"/>
              </a:ext>
            </a:extLst>
          </p:cNvPr>
          <p:cNvSpPr txBox="1">
            <a:spLocks noChangeArrowheads="1"/>
          </p:cNvSpPr>
          <p:nvPr/>
        </p:nvSpPr>
        <p:spPr bwMode="auto">
          <a:xfrm>
            <a:off x="8561388" y="5486401"/>
            <a:ext cx="1828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1085850" algn="l"/>
              </a:tabLst>
              <a:defRPr sz="2000" b="1">
                <a:solidFill>
                  <a:schemeClr val="tx1"/>
                </a:solidFill>
                <a:latin typeface="Arial" panose="020B0604020202020204" pitchFamily="34" charset="0"/>
              </a:defRPr>
            </a:lvl1pPr>
            <a:lvl2pPr marL="742950" indent="-285750">
              <a:tabLst>
                <a:tab pos="1085850" algn="l"/>
              </a:tabLst>
              <a:defRPr sz="2000" b="1">
                <a:solidFill>
                  <a:schemeClr val="tx1"/>
                </a:solidFill>
                <a:latin typeface="Arial" panose="020B0604020202020204" pitchFamily="34" charset="0"/>
              </a:defRPr>
            </a:lvl2pPr>
            <a:lvl3pPr marL="1143000" indent="-228600">
              <a:tabLst>
                <a:tab pos="1085850" algn="l"/>
              </a:tabLst>
              <a:defRPr sz="2000" b="1">
                <a:solidFill>
                  <a:schemeClr val="tx1"/>
                </a:solidFill>
                <a:latin typeface="Arial" panose="020B0604020202020204" pitchFamily="34" charset="0"/>
              </a:defRPr>
            </a:lvl3pPr>
            <a:lvl4pPr marL="1600200" indent="-228600">
              <a:tabLst>
                <a:tab pos="1085850" algn="l"/>
              </a:tabLst>
              <a:defRPr sz="2000" b="1">
                <a:solidFill>
                  <a:schemeClr val="tx1"/>
                </a:solidFill>
                <a:latin typeface="Arial" panose="020B0604020202020204" pitchFamily="34" charset="0"/>
              </a:defRPr>
            </a:lvl4pPr>
            <a:lvl5pPr marL="2057400" indent="-228600">
              <a:tabLst>
                <a:tab pos="1085850" algn="l"/>
              </a:tabLst>
              <a:defRPr sz="2000" b="1">
                <a:solidFill>
                  <a:schemeClr val="tx1"/>
                </a:solidFill>
                <a:latin typeface="Arial" panose="020B0604020202020204" pitchFamily="34" charset="0"/>
              </a:defRPr>
            </a:lvl5pPr>
            <a:lvl6pPr marL="25146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6pPr>
            <a:lvl7pPr marL="29718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7pPr>
            <a:lvl8pPr marL="34290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8pPr>
            <a:lvl9pPr marL="38862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9pPr>
          </a:lstStyle>
          <a:p>
            <a:pPr>
              <a:spcBef>
                <a:spcPct val="50000"/>
              </a:spcBef>
            </a:pPr>
            <a:r>
              <a:rPr lang="en-US" altLang="en-MX"/>
              <a:t>0	10.0</a:t>
            </a:r>
          </a:p>
        </p:txBody>
      </p:sp>
      <p:sp>
        <p:nvSpPr>
          <p:cNvPr id="32837" name="Rectangle 69">
            <a:extLst>
              <a:ext uri="{FF2B5EF4-FFF2-40B4-BE49-F238E27FC236}">
                <a16:creationId xmlns:a16="http://schemas.microsoft.com/office/drawing/2014/main" id="{3B1FDD0E-CA04-6B43-B2C8-E87C5EF4EC24}"/>
              </a:ext>
            </a:extLst>
          </p:cNvPr>
          <p:cNvSpPr>
            <a:spLocks noChangeArrowheads="1"/>
          </p:cNvSpPr>
          <p:nvPr/>
        </p:nvSpPr>
        <p:spPr bwMode="auto">
          <a:xfrm>
            <a:off x="4267200" y="3276600"/>
            <a:ext cx="698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1800" b="0">
                <a:solidFill>
                  <a:srgbClr val="000000"/>
                </a:solidFill>
              </a:rPr>
              <a:t>0.0508</a:t>
            </a:r>
          </a:p>
        </p:txBody>
      </p:sp>
      <p:sp>
        <p:nvSpPr>
          <p:cNvPr id="32838" name="Rectangle 70">
            <a:extLst>
              <a:ext uri="{FF2B5EF4-FFF2-40B4-BE49-F238E27FC236}">
                <a16:creationId xmlns:a16="http://schemas.microsoft.com/office/drawing/2014/main" id="{C16EB5E9-0CBF-B245-92F0-F9FB90952ECF}"/>
              </a:ext>
            </a:extLst>
          </p:cNvPr>
          <p:cNvSpPr>
            <a:spLocks noChangeArrowheads="1"/>
          </p:cNvSpPr>
          <p:nvPr/>
        </p:nvSpPr>
        <p:spPr bwMode="auto">
          <a:xfrm>
            <a:off x="4267200" y="4267200"/>
            <a:ext cx="698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1800" b="0">
                <a:solidFill>
                  <a:srgbClr val="000000"/>
                </a:solidFill>
              </a:rPr>
              <a:t>0.9415</a:t>
            </a:r>
          </a:p>
        </p:txBody>
      </p:sp>
      <p:sp>
        <p:nvSpPr>
          <p:cNvPr id="32839" name="Rectangle 71">
            <a:extLst>
              <a:ext uri="{FF2B5EF4-FFF2-40B4-BE49-F238E27FC236}">
                <a16:creationId xmlns:a16="http://schemas.microsoft.com/office/drawing/2014/main" id="{BEB6B57F-4E2A-7446-9EEB-DD829E1C0CAA}"/>
              </a:ext>
            </a:extLst>
          </p:cNvPr>
          <p:cNvSpPr>
            <a:spLocks noChangeArrowheads="1"/>
          </p:cNvSpPr>
          <p:nvPr/>
        </p:nvSpPr>
        <p:spPr bwMode="auto">
          <a:xfrm>
            <a:off x="6477000" y="2895600"/>
            <a:ext cx="698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1800" b="0">
                <a:solidFill>
                  <a:srgbClr val="000000"/>
                </a:solidFill>
              </a:rPr>
              <a:t>0.1538</a:t>
            </a:r>
          </a:p>
        </p:txBody>
      </p:sp>
      <p:sp>
        <p:nvSpPr>
          <p:cNvPr id="32840" name="Rectangle 72">
            <a:extLst>
              <a:ext uri="{FF2B5EF4-FFF2-40B4-BE49-F238E27FC236}">
                <a16:creationId xmlns:a16="http://schemas.microsoft.com/office/drawing/2014/main" id="{1B2325DC-4DDC-444E-ADCC-ACA85D214F62}"/>
              </a:ext>
            </a:extLst>
          </p:cNvPr>
          <p:cNvSpPr>
            <a:spLocks noChangeArrowheads="1"/>
          </p:cNvSpPr>
          <p:nvPr/>
        </p:nvSpPr>
        <p:spPr bwMode="auto">
          <a:xfrm>
            <a:off x="6553200" y="3962400"/>
            <a:ext cx="698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1800" b="0">
                <a:solidFill>
                  <a:srgbClr val="000000"/>
                </a:solidFill>
              </a:rPr>
              <a:t>0.0011</a:t>
            </a:r>
          </a:p>
        </p:txBody>
      </p:sp>
    </p:spTree>
    <p:extLst>
      <p:ext uri="{BB962C8B-B14F-4D97-AF65-F5344CB8AC3E}">
        <p14:creationId xmlns:p14="http://schemas.microsoft.com/office/powerpoint/2010/main" val="1087125275"/>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61AA0B52-7447-6648-A00A-364358805632}"/>
              </a:ext>
            </a:extLst>
          </p:cNvPr>
          <p:cNvSpPr>
            <a:spLocks noChangeArrowheads="1"/>
          </p:cNvSpPr>
          <p:nvPr/>
        </p:nvSpPr>
        <p:spPr bwMode="auto">
          <a:xfrm>
            <a:off x="2209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1075203" name="Rectangle 3">
            <a:extLst>
              <a:ext uri="{FF2B5EF4-FFF2-40B4-BE49-F238E27FC236}">
                <a16:creationId xmlns:a16="http://schemas.microsoft.com/office/drawing/2014/main" id="{D0BB6500-D6B1-8548-B564-10E22ABC6899}"/>
              </a:ext>
            </a:extLst>
          </p:cNvPr>
          <p:cNvSpPr>
            <a:spLocks noGrp="1" noChangeArrowheads="1"/>
          </p:cNvSpPr>
          <p:nvPr>
            <p:ph type="title"/>
          </p:nvPr>
        </p:nvSpPr>
        <p:spPr>
          <a:xfrm>
            <a:off x="715992" y="457200"/>
            <a:ext cx="10515600" cy="800100"/>
          </a:xfrm>
        </p:spPr>
        <p:txBody>
          <a:bodyPr/>
          <a:lstStyle/>
          <a:p>
            <a:pPr>
              <a:defRPr/>
            </a:pPr>
            <a:r>
              <a:rPr lang="en-US" dirty="0"/>
              <a:t>Results for Test 1</a:t>
            </a:r>
            <a:endParaRPr lang="en-US" sz="3600" dirty="0"/>
          </a:p>
        </p:txBody>
      </p:sp>
      <p:graphicFrame>
        <p:nvGraphicFramePr>
          <p:cNvPr id="1075267" name="Group 67">
            <a:extLst>
              <a:ext uri="{FF2B5EF4-FFF2-40B4-BE49-F238E27FC236}">
                <a16:creationId xmlns:a16="http://schemas.microsoft.com/office/drawing/2014/main" id="{60B0319F-6145-C145-AA41-8C6E2A690ABF}"/>
              </a:ext>
            </a:extLst>
          </p:cNvPr>
          <p:cNvGraphicFramePr>
            <a:graphicFrameLocks noGrp="1"/>
          </p:cNvGraphicFramePr>
          <p:nvPr/>
        </p:nvGraphicFramePr>
        <p:xfrm>
          <a:off x="2057400" y="2743201"/>
          <a:ext cx="8001000" cy="3236914"/>
        </p:xfrm>
        <a:graphic>
          <a:graphicData uri="http://schemas.openxmlformats.org/drawingml/2006/table">
            <a:tbl>
              <a:tblPr/>
              <a:tblGrid>
                <a:gridCol w="1579563">
                  <a:extLst>
                    <a:ext uri="{9D8B030D-6E8A-4147-A177-3AD203B41FA5}">
                      <a16:colId xmlns:a16="http://schemas.microsoft.com/office/drawing/2014/main" val="20000"/>
                    </a:ext>
                  </a:extLst>
                </a:gridCol>
                <a:gridCol w="1481137">
                  <a:extLst>
                    <a:ext uri="{9D8B030D-6E8A-4147-A177-3AD203B41FA5}">
                      <a16:colId xmlns:a16="http://schemas.microsoft.com/office/drawing/2014/main" val="20001"/>
                    </a:ext>
                  </a:extLst>
                </a:gridCol>
                <a:gridCol w="1441450">
                  <a:extLst>
                    <a:ext uri="{9D8B030D-6E8A-4147-A177-3AD203B41FA5}">
                      <a16:colId xmlns:a16="http://schemas.microsoft.com/office/drawing/2014/main" val="20002"/>
                    </a:ext>
                  </a:extLst>
                </a:gridCol>
                <a:gridCol w="1212850">
                  <a:extLst>
                    <a:ext uri="{9D8B030D-6E8A-4147-A177-3AD203B41FA5}">
                      <a16:colId xmlns:a16="http://schemas.microsoft.com/office/drawing/2014/main" val="20003"/>
                    </a:ext>
                  </a:extLst>
                </a:gridCol>
                <a:gridCol w="1179513">
                  <a:extLst>
                    <a:ext uri="{9D8B030D-6E8A-4147-A177-3AD203B41FA5}">
                      <a16:colId xmlns:a16="http://schemas.microsoft.com/office/drawing/2014/main" val="20004"/>
                    </a:ext>
                  </a:extLst>
                </a:gridCol>
                <a:gridCol w="1106487">
                  <a:extLst>
                    <a:ext uri="{9D8B030D-6E8A-4147-A177-3AD203B41FA5}">
                      <a16:colId xmlns:a16="http://schemas.microsoft.com/office/drawing/2014/main" val="20005"/>
                    </a:ext>
                  </a:extLst>
                </a:gridCol>
              </a:tblGrid>
              <a:tr h="914490">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Strategy</a:t>
                      </a:r>
                    </a:p>
                  </a:txBody>
                  <a:tcPr marT="45724" marB="45724"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Cost ($)</a:t>
                      </a:r>
                    </a:p>
                  </a:txBody>
                  <a:tcPr marT="45724" marB="45724"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QALE</a:t>
                      </a:r>
                    </a:p>
                  </a:txBody>
                  <a:tcPr marT="45724" marB="45724"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Symbol" pitchFamily="18" charset="2"/>
                        </a:rPr>
                        <a:t>D</a:t>
                      </a:r>
                      <a:r>
                        <a:rPr kumimoji="0" lang="en-US" sz="2400" b="0" i="0" u="none" strike="noStrike" cap="none" normalizeH="0" baseline="0">
                          <a:ln>
                            <a:noFill/>
                          </a:ln>
                          <a:solidFill>
                            <a:schemeClr val="tx1"/>
                          </a:solidFill>
                          <a:effectLst/>
                          <a:latin typeface="Arial" charset="0"/>
                        </a:rPr>
                        <a:t>C</a:t>
                      </a:r>
                    </a:p>
                  </a:txBody>
                  <a:tcPr marT="45724" marB="45724"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Symbol" pitchFamily="18" charset="2"/>
                        </a:rPr>
                        <a:t>D</a:t>
                      </a:r>
                      <a:r>
                        <a:rPr kumimoji="0" lang="en-US" sz="2400" b="0" i="0" u="none" strike="noStrike" cap="none" normalizeH="0" baseline="0">
                          <a:ln>
                            <a:noFill/>
                          </a:ln>
                          <a:solidFill>
                            <a:schemeClr val="tx1"/>
                          </a:solidFill>
                          <a:effectLst/>
                          <a:latin typeface="Arial" charset="0"/>
                        </a:rPr>
                        <a:t>E</a:t>
                      </a:r>
                    </a:p>
                  </a:txBody>
                  <a:tcPr marT="45724" marB="45724"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24" marB="45724"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708095">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No Treat</a:t>
                      </a:r>
                    </a:p>
                  </a:txBody>
                  <a:tcPr marT="45724" marB="45724"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0</a:t>
                      </a:r>
                    </a:p>
                  </a:txBody>
                  <a:tcPr marT="45724" marB="45724"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9.980</a:t>
                      </a:r>
                    </a:p>
                  </a:txBody>
                  <a:tcPr marT="45724" marB="45724"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24" marB="45724"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24" marB="45724"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marT="45724" marB="45724"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517576">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Test 1</a:t>
                      </a:r>
                    </a:p>
                  </a:txBody>
                  <a:tcPr marT="45724" marB="45724"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1190</a:t>
                      </a:r>
                    </a:p>
                  </a:txBody>
                  <a:tcPr marT="45724" marB="45724"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9.984</a:t>
                      </a:r>
                    </a:p>
                  </a:txBody>
                  <a:tcPr marT="45724" marB="45724"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1190</a:t>
                      </a:r>
                    </a:p>
                  </a:txBody>
                  <a:tcPr marT="45724" marB="45724"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0.004</a:t>
                      </a:r>
                    </a:p>
                  </a:txBody>
                  <a:tcPr marT="45724" marB="45724"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294K</a:t>
                      </a:r>
                    </a:p>
                  </a:txBody>
                  <a:tcPr marT="45724" marB="45724"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517576">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Treat</a:t>
                      </a:r>
                    </a:p>
                  </a:txBody>
                  <a:tcPr marT="45724" marB="45724"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20,000</a:t>
                      </a:r>
                    </a:p>
                  </a:txBody>
                  <a:tcPr marT="45724" marB="45724"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9.891</a:t>
                      </a:r>
                    </a:p>
                  </a:txBody>
                  <a:tcPr marT="45724" marB="45724"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18,810</a:t>
                      </a:r>
                    </a:p>
                  </a:txBody>
                  <a:tcPr marT="45724" marB="45724"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-0.093</a:t>
                      </a:r>
                    </a:p>
                  </a:txBody>
                  <a:tcPr marT="45724" marB="45724"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Dom</a:t>
                      </a:r>
                    </a:p>
                  </a:txBody>
                  <a:tcPr marT="45724" marB="45724"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79177">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endParaRPr kumimoji="0" lang="en-US" sz="3200" b="0" i="0" u="none" strike="noStrike" cap="none" normalizeH="0" baseline="0">
                        <a:ln>
                          <a:noFill/>
                        </a:ln>
                        <a:solidFill>
                          <a:schemeClr val="tx1"/>
                        </a:solidFill>
                        <a:effectLst/>
                        <a:latin typeface="Arial" charset="0"/>
                      </a:endParaRPr>
                    </a:p>
                  </a:txBody>
                  <a:tcPr marT="45724" marB="45724"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3200" b="0" i="0" u="none" strike="noStrike" cap="none" normalizeH="0" baseline="0">
                        <a:ln>
                          <a:noFill/>
                        </a:ln>
                        <a:solidFill>
                          <a:schemeClr val="tx1"/>
                        </a:solidFill>
                        <a:effectLst/>
                        <a:latin typeface="Arial" charset="0"/>
                      </a:endParaRPr>
                    </a:p>
                  </a:txBody>
                  <a:tcPr marT="45724" marB="45724"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3200" b="0" i="0" u="none" strike="noStrike" cap="none" normalizeH="0" baseline="0">
                        <a:ln>
                          <a:noFill/>
                        </a:ln>
                        <a:solidFill>
                          <a:schemeClr val="tx1"/>
                        </a:solidFill>
                        <a:effectLst/>
                        <a:latin typeface="Arial" charset="0"/>
                      </a:endParaRPr>
                    </a:p>
                  </a:txBody>
                  <a:tcPr marT="45724" marB="45724"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3200" b="0" i="0" u="none" strike="noStrike" cap="none" normalizeH="0" baseline="0">
                        <a:ln>
                          <a:noFill/>
                        </a:ln>
                        <a:solidFill>
                          <a:schemeClr val="tx1"/>
                        </a:solidFill>
                        <a:effectLst/>
                        <a:latin typeface="Arial" charset="0"/>
                      </a:endParaRPr>
                    </a:p>
                  </a:txBody>
                  <a:tcPr marT="45724" marB="45724"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3200" b="0" i="0" u="none" strike="noStrike" cap="none" normalizeH="0" baseline="0">
                        <a:ln>
                          <a:noFill/>
                        </a:ln>
                        <a:solidFill>
                          <a:schemeClr val="tx1"/>
                        </a:solidFill>
                        <a:effectLst/>
                        <a:latin typeface="Arial" charset="0"/>
                      </a:endParaRPr>
                    </a:p>
                  </a:txBody>
                  <a:tcPr marT="45724" marB="45724"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3200" b="0" i="0" u="none" strike="noStrike" cap="none" normalizeH="0" baseline="0">
                        <a:ln>
                          <a:noFill/>
                        </a:ln>
                        <a:solidFill>
                          <a:schemeClr val="tx1"/>
                        </a:solidFill>
                        <a:effectLst/>
                        <a:latin typeface="Arial" charset="0"/>
                      </a:endParaRPr>
                    </a:p>
                  </a:txBody>
                  <a:tcPr marT="45724" marB="45724"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3827" name="Line 53">
            <a:extLst>
              <a:ext uri="{FF2B5EF4-FFF2-40B4-BE49-F238E27FC236}">
                <a16:creationId xmlns:a16="http://schemas.microsoft.com/office/drawing/2014/main" id="{AECE8919-F508-F845-88F7-F4679E502CCA}"/>
              </a:ext>
            </a:extLst>
          </p:cNvPr>
          <p:cNvSpPr>
            <a:spLocks noChangeShapeType="1"/>
          </p:cNvSpPr>
          <p:nvPr/>
        </p:nvSpPr>
        <p:spPr bwMode="auto">
          <a:xfrm>
            <a:off x="2057400" y="2438400"/>
            <a:ext cx="80010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33828" name="Text Box 55">
            <a:extLst>
              <a:ext uri="{FF2B5EF4-FFF2-40B4-BE49-F238E27FC236}">
                <a16:creationId xmlns:a16="http://schemas.microsoft.com/office/drawing/2014/main" id="{E309BE8F-062E-3644-94C3-A0D2CBF8F9A1}"/>
              </a:ext>
            </a:extLst>
          </p:cNvPr>
          <p:cNvSpPr txBox="1">
            <a:spLocks noChangeArrowheads="1"/>
          </p:cNvSpPr>
          <p:nvPr/>
        </p:nvSpPr>
        <p:spPr bwMode="auto">
          <a:xfrm>
            <a:off x="2514600" y="1370013"/>
            <a:ext cx="76835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2800" b="0"/>
              <a:t>What is the cost-effectiveness of screening with</a:t>
            </a:r>
          </a:p>
          <a:p>
            <a:r>
              <a:rPr lang="en-US" altLang="en-MX" sz="2800" b="0"/>
              <a:t> Test 1, assuming that Test 2 is not available?</a:t>
            </a:r>
          </a:p>
        </p:txBody>
      </p:sp>
      <p:sp>
        <p:nvSpPr>
          <p:cNvPr id="33829" name="Line 56">
            <a:extLst>
              <a:ext uri="{FF2B5EF4-FFF2-40B4-BE49-F238E27FC236}">
                <a16:creationId xmlns:a16="http://schemas.microsoft.com/office/drawing/2014/main" id="{721D4708-C9D0-DB41-80CD-6BB9F200842F}"/>
              </a:ext>
            </a:extLst>
          </p:cNvPr>
          <p:cNvSpPr>
            <a:spLocks noChangeShapeType="1"/>
          </p:cNvSpPr>
          <p:nvPr/>
        </p:nvSpPr>
        <p:spPr bwMode="auto">
          <a:xfrm>
            <a:off x="2057400" y="3505200"/>
            <a:ext cx="80010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33830" name="Text Box 60">
            <a:extLst>
              <a:ext uri="{FF2B5EF4-FFF2-40B4-BE49-F238E27FC236}">
                <a16:creationId xmlns:a16="http://schemas.microsoft.com/office/drawing/2014/main" id="{129BDDB2-2514-3744-B5A4-5C89CDD20002}"/>
              </a:ext>
            </a:extLst>
          </p:cNvPr>
          <p:cNvSpPr txBox="1">
            <a:spLocks noChangeArrowheads="1"/>
          </p:cNvSpPr>
          <p:nvPr/>
        </p:nvSpPr>
        <p:spPr bwMode="auto">
          <a:xfrm>
            <a:off x="8915400" y="2743200"/>
            <a:ext cx="1371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2400" b="0">
                <a:latin typeface="Symbol" pitchFamily="2" charset="2"/>
              </a:rPr>
              <a:t>D</a:t>
            </a:r>
            <a:r>
              <a:rPr lang="en-US" altLang="en-MX" sz="2400" b="0"/>
              <a:t>C/</a:t>
            </a:r>
            <a:r>
              <a:rPr lang="en-US" altLang="en-MX" sz="2400" b="0">
                <a:latin typeface="Symbol" pitchFamily="2" charset="2"/>
              </a:rPr>
              <a:t>D</a:t>
            </a:r>
            <a:r>
              <a:rPr lang="en-US" altLang="en-MX" sz="2400" b="0"/>
              <a:t>E</a:t>
            </a:r>
          </a:p>
        </p:txBody>
      </p:sp>
    </p:spTree>
    <p:extLst>
      <p:ext uri="{BB962C8B-B14F-4D97-AF65-F5344CB8AC3E}">
        <p14:creationId xmlns:p14="http://schemas.microsoft.com/office/powerpoint/2010/main" val="2166452121"/>
      </p:ext>
    </p:extLst>
  </p:cSld>
  <p:clrMapOvr>
    <a:masterClrMapping/>
  </p:clrMapOvr>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7250" name="Rectangle 2">
            <a:extLst>
              <a:ext uri="{FF2B5EF4-FFF2-40B4-BE49-F238E27FC236}">
                <a16:creationId xmlns:a16="http://schemas.microsoft.com/office/drawing/2014/main" id="{C449EC0B-6B5B-E84E-B9B4-685C2EF99487}"/>
              </a:ext>
            </a:extLst>
          </p:cNvPr>
          <p:cNvSpPr>
            <a:spLocks noGrp="1" noChangeArrowheads="1"/>
          </p:cNvSpPr>
          <p:nvPr>
            <p:ph type="title"/>
          </p:nvPr>
        </p:nvSpPr>
        <p:spPr>
          <a:xfrm>
            <a:off x="828135" y="304800"/>
            <a:ext cx="10291313" cy="1143000"/>
          </a:xfrm>
        </p:spPr>
        <p:txBody>
          <a:bodyPr/>
          <a:lstStyle/>
          <a:p>
            <a:pPr>
              <a:defRPr/>
            </a:pPr>
            <a:r>
              <a:rPr lang="en-US" dirty="0"/>
              <a:t>Test 2 Strategy</a:t>
            </a:r>
          </a:p>
        </p:txBody>
      </p:sp>
      <p:sp>
        <p:nvSpPr>
          <p:cNvPr id="34819" name="Rectangle 3">
            <a:extLst>
              <a:ext uri="{FF2B5EF4-FFF2-40B4-BE49-F238E27FC236}">
                <a16:creationId xmlns:a16="http://schemas.microsoft.com/office/drawing/2014/main" id="{EA23EDCC-31EF-284C-AC72-42CC6790A8CF}"/>
              </a:ext>
            </a:extLst>
          </p:cNvPr>
          <p:cNvSpPr>
            <a:spLocks noGrp="1" noChangeArrowheads="1"/>
          </p:cNvSpPr>
          <p:nvPr>
            <p:ph type="body" idx="1"/>
          </p:nvPr>
        </p:nvSpPr>
        <p:spPr>
          <a:xfrm>
            <a:off x="2743200" y="5791200"/>
            <a:ext cx="6629400" cy="457200"/>
          </a:xfrm>
          <a:ln>
            <a:solidFill>
              <a:schemeClr val="tx1"/>
            </a:solidFill>
            <a:miter lim="800000"/>
            <a:headEnd/>
            <a:tailEnd/>
          </a:ln>
        </p:spPr>
        <p:txBody>
          <a:bodyPr/>
          <a:lstStyle/>
          <a:p>
            <a:pPr>
              <a:buFontTx/>
              <a:buNone/>
            </a:pPr>
            <a:r>
              <a:rPr lang="en-US" altLang="en-MX" sz="2400"/>
              <a:t>Do Test 2, if positive, treat; if negative, no treat</a:t>
            </a:r>
          </a:p>
        </p:txBody>
      </p:sp>
      <p:sp>
        <p:nvSpPr>
          <p:cNvPr id="34820" name="Freeform 5">
            <a:extLst>
              <a:ext uri="{FF2B5EF4-FFF2-40B4-BE49-F238E27FC236}">
                <a16:creationId xmlns:a16="http://schemas.microsoft.com/office/drawing/2014/main" id="{9D908CDD-614B-F540-878F-3AF09E720233}"/>
              </a:ext>
            </a:extLst>
          </p:cNvPr>
          <p:cNvSpPr>
            <a:spLocks/>
          </p:cNvSpPr>
          <p:nvPr/>
        </p:nvSpPr>
        <p:spPr bwMode="auto">
          <a:xfrm>
            <a:off x="7818438" y="3763964"/>
            <a:ext cx="203200" cy="212725"/>
          </a:xfrm>
          <a:custGeom>
            <a:avLst/>
            <a:gdLst>
              <a:gd name="T0" fmla="*/ 0 w 128"/>
              <a:gd name="T1" fmla="*/ 168851235 h 134"/>
              <a:gd name="T2" fmla="*/ 322579945 w 128"/>
              <a:gd name="T3" fmla="*/ 0 h 134"/>
              <a:gd name="T4" fmla="*/ 322579945 w 128"/>
              <a:gd name="T5" fmla="*/ 337700883 h 134"/>
              <a:gd name="T6" fmla="*/ 0 w 128"/>
              <a:gd name="T7" fmla="*/ 168851235 h 134"/>
              <a:gd name="T8" fmla="*/ 0 60000 65536"/>
              <a:gd name="T9" fmla="*/ 0 60000 65536"/>
              <a:gd name="T10" fmla="*/ 0 60000 65536"/>
              <a:gd name="T11" fmla="*/ 0 60000 65536"/>
              <a:gd name="T12" fmla="*/ 0 w 128"/>
              <a:gd name="T13" fmla="*/ 0 h 134"/>
              <a:gd name="T14" fmla="*/ 128 w 128"/>
              <a:gd name="T15" fmla="*/ 134 h 134"/>
            </a:gdLst>
            <a:ahLst/>
            <a:cxnLst>
              <a:cxn ang="T8">
                <a:pos x="T0" y="T1"/>
              </a:cxn>
              <a:cxn ang="T9">
                <a:pos x="T2" y="T3"/>
              </a:cxn>
              <a:cxn ang="T10">
                <a:pos x="T4" y="T5"/>
              </a:cxn>
              <a:cxn ang="T11">
                <a:pos x="T6" y="T7"/>
              </a:cxn>
            </a:cxnLst>
            <a:rect l="T12" t="T13" r="T14" b="T15"/>
            <a:pathLst>
              <a:path w="128" h="134">
                <a:moveTo>
                  <a:pt x="0" y="67"/>
                </a:moveTo>
                <a:lnTo>
                  <a:pt x="128" y="0"/>
                </a:lnTo>
                <a:lnTo>
                  <a:pt x="128" y="134"/>
                </a:lnTo>
                <a:lnTo>
                  <a:pt x="0" y="67"/>
                </a:lnTo>
                <a:close/>
              </a:path>
            </a:pathLst>
          </a:custGeom>
          <a:solidFill>
            <a:srgbClr val="FFFFFF"/>
          </a:solidFill>
          <a:ln w="25400">
            <a:solidFill>
              <a:srgbClr val="FF0000"/>
            </a:solidFill>
            <a:prstDash val="solid"/>
            <a:round/>
            <a:headEnd/>
            <a:tailEnd/>
          </a:ln>
        </p:spPr>
        <p:txBody>
          <a:bodyPr/>
          <a:lstStyle/>
          <a:p>
            <a:endParaRPr lang="en-MX"/>
          </a:p>
        </p:txBody>
      </p:sp>
      <p:sp>
        <p:nvSpPr>
          <p:cNvPr id="34821" name="Rectangle 6">
            <a:extLst>
              <a:ext uri="{FF2B5EF4-FFF2-40B4-BE49-F238E27FC236}">
                <a16:creationId xmlns:a16="http://schemas.microsoft.com/office/drawing/2014/main" id="{EA720BDD-36C2-CF4B-8905-5E037A226AF1}"/>
              </a:ext>
            </a:extLst>
          </p:cNvPr>
          <p:cNvSpPr>
            <a:spLocks noChangeArrowheads="1"/>
          </p:cNvSpPr>
          <p:nvPr/>
        </p:nvSpPr>
        <p:spPr bwMode="auto">
          <a:xfrm>
            <a:off x="6078539" y="3505200"/>
            <a:ext cx="139865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2400" b="0">
                <a:solidFill>
                  <a:srgbClr val="000000"/>
                </a:solidFill>
              </a:rPr>
              <a:t>Disease Y</a:t>
            </a:r>
            <a:endParaRPr lang="en-US" altLang="en-MX" sz="3600" b="0">
              <a:solidFill>
                <a:srgbClr val="000000"/>
              </a:solidFill>
            </a:endParaRPr>
          </a:p>
        </p:txBody>
      </p:sp>
      <p:sp>
        <p:nvSpPr>
          <p:cNvPr id="34822" name="Rectangle 7">
            <a:extLst>
              <a:ext uri="{FF2B5EF4-FFF2-40B4-BE49-F238E27FC236}">
                <a16:creationId xmlns:a16="http://schemas.microsoft.com/office/drawing/2014/main" id="{66E4069B-8ACB-274B-B206-D72F395CB897}"/>
              </a:ext>
            </a:extLst>
          </p:cNvPr>
          <p:cNvSpPr>
            <a:spLocks noChangeArrowheads="1"/>
          </p:cNvSpPr>
          <p:nvPr/>
        </p:nvSpPr>
        <p:spPr bwMode="auto">
          <a:xfrm>
            <a:off x="6096000" y="4191000"/>
            <a:ext cx="18779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2400" b="0">
                <a:solidFill>
                  <a:srgbClr val="000000"/>
                </a:solidFill>
              </a:rPr>
              <a:t>No Disease Y</a:t>
            </a:r>
            <a:endParaRPr lang="en-US" altLang="en-MX" sz="3600" b="0">
              <a:solidFill>
                <a:srgbClr val="000000"/>
              </a:solidFill>
            </a:endParaRPr>
          </a:p>
        </p:txBody>
      </p:sp>
      <p:sp>
        <p:nvSpPr>
          <p:cNvPr id="34823" name="Freeform 8">
            <a:extLst>
              <a:ext uri="{FF2B5EF4-FFF2-40B4-BE49-F238E27FC236}">
                <a16:creationId xmlns:a16="http://schemas.microsoft.com/office/drawing/2014/main" id="{DB22B9A3-8808-EB43-AD50-A820276B1186}"/>
              </a:ext>
            </a:extLst>
          </p:cNvPr>
          <p:cNvSpPr>
            <a:spLocks/>
          </p:cNvSpPr>
          <p:nvPr/>
        </p:nvSpPr>
        <p:spPr bwMode="auto">
          <a:xfrm>
            <a:off x="5964238" y="3886200"/>
            <a:ext cx="228600" cy="304800"/>
          </a:xfrm>
          <a:custGeom>
            <a:avLst/>
            <a:gdLst>
              <a:gd name="T0" fmla="*/ 0 w 14"/>
              <a:gd name="T1" fmla="*/ 2147483647 h 18"/>
              <a:gd name="T2" fmla="*/ 0 w 14"/>
              <a:gd name="T3" fmla="*/ 0 h 18"/>
              <a:gd name="T4" fmla="*/ 2147483647 w 14"/>
              <a:gd name="T5" fmla="*/ 0 h 18"/>
              <a:gd name="T6" fmla="*/ 0 60000 65536"/>
              <a:gd name="T7" fmla="*/ 0 60000 65536"/>
              <a:gd name="T8" fmla="*/ 0 60000 65536"/>
              <a:gd name="T9" fmla="*/ 0 w 14"/>
              <a:gd name="T10" fmla="*/ 0 h 18"/>
              <a:gd name="T11" fmla="*/ 14 w 14"/>
              <a:gd name="T12" fmla="*/ 18 h 18"/>
            </a:gdLst>
            <a:ahLst/>
            <a:cxnLst>
              <a:cxn ang="T6">
                <a:pos x="T0" y="T1"/>
              </a:cxn>
              <a:cxn ang="T7">
                <a:pos x="T2" y="T3"/>
              </a:cxn>
              <a:cxn ang="T8">
                <a:pos x="T4" y="T5"/>
              </a:cxn>
            </a:cxnLst>
            <a:rect l="T9" t="T10" r="T11" b="T12"/>
            <a:pathLst>
              <a:path w="14" h="18">
                <a:moveTo>
                  <a:pt x="0" y="18"/>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34824" name="Freeform 9">
            <a:extLst>
              <a:ext uri="{FF2B5EF4-FFF2-40B4-BE49-F238E27FC236}">
                <a16:creationId xmlns:a16="http://schemas.microsoft.com/office/drawing/2014/main" id="{A6C1A447-C2A9-A647-9082-4D598449DB09}"/>
              </a:ext>
            </a:extLst>
          </p:cNvPr>
          <p:cNvSpPr>
            <a:spLocks/>
          </p:cNvSpPr>
          <p:nvPr/>
        </p:nvSpPr>
        <p:spPr bwMode="auto">
          <a:xfrm>
            <a:off x="5964238" y="4191000"/>
            <a:ext cx="228600" cy="381000"/>
          </a:xfrm>
          <a:custGeom>
            <a:avLst/>
            <a:gdLst>
              <a:gd name="T0" fmla="*/ 0 w 14"/>
              <a:gd name="T1" fmla="*/ 0 h 18"/>
              <a:gd name="T2" fmla="*/ 0 w 14"/>
              <a:gd name="T3" fmla="*/ 2147483647 h 18"/>
              <a:gd name="T4" fmla="*/ 2147483647 w 14"/>
              <a:gd name="T5" fmla="*/ 2147483647 h 18"/>
              <a:gd name="T6" fmla="*/ 0 60000 65536"/>
              <a:gd name="T7" fmla="*/ 0 60000 65536"/>
              <a:gd name="T8" fmla="*/ 0 60000 65536"/>
              <a:gd name="T9" fmla="*/ 0 w 14"/>
              <a:gd name="T10" fmla="*/ 0 h 18"/>
              <a:gd name="T11" fmla="*/ 14 w 14"/>
              <a:gd name="T12" fmla="*/ 18 h 18"/>
            </a:gdLst>
            <a:ahLst/>
            <a:cxnLst>
              <a:cxn ang="T6">
                <a:pos x="T0" y="T1"/>
              </a:cxn>
              <a:cxn ang="T7">
                <a:pos x="T2" y="T3"/>
              </a:cxn>
              <a:cxn ang="T8">
                <a:pos x="T4" y="T5"/>
              </a:cxn>
            </a:cxnLst>
            <a:rect l="T9" t="T10" r="T11" b="T12"/>
            <a:pathLst>
              <a:path w="14" h="18">
                <a:moveTo>
                  <a:pt x="0" y="0"/>
                </a:moveTo>
                <a:lnTo>
                  <a:pt x="0" y="18"/>
                </a:lnTo>
                <a:lnTo>
                  <a:pt x="14" y="18"/>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34825" name="Oval 10">
            <a:extLst>
              <a:ext uri="{FF2B5EF4-FFF2-40B4-BE49-F238E27FC236}">
                <a16:creationId xmlns:a16="http://schemas.microsoft.com/office/drawing/2014/main" id="{8FEB85F5-AC35-0C4B-9370-187A2FADB407}"/>
              </a:ext>
            </a:extLst>
          </p:cNvPr>
          <p:cNvSpPr>
            <a:spLocks noChangeArrowheads="1"/>
          </p:cNvSpPr>
          <p:nvPr/>
        </p:nvSpPr>
        <p:spPr bwMode="auto">
          <a:xfrm>
            <a:off x="5811838" y="4114801"/>
            <a:ext cx="203200" cy="212725"/>
          </a:xfrm>
          <a:prstGeom prst="ellipse">
            <a:avLst/>
          </a:prstGeom>
          <a:solidFill>
            <a:schemeClr val="bg1"/>
          </a:solidFill>
          <a:ln w="25400">
            <a:solidFill>
              <a:srgbClr val="008000"/>
            </a:solidFill>
            <a:round/>
            <a:headEnd/>
            <a:tailEnd/>
          </a:ln>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34826" name="Freeform 11">
            <a:extLst>
              <a:ext uri="{FF2B5EF4-FFF2-40B4-BE49-F238E27FC236}">
                <a16:creationId xmlns:a16="http://schemas.microsoft.com/office/drawing/2014/main" id="{9BB107AE-E3CF-364E-AF32-E2300682B7C4}"/>
              </a:ext>
            </a:extLst>
          </p:cNvPr>
          <p:cNvSpPr>
            <a:spLocks/>
          </p:cNvSpPr>
          <p:nvPr/>
        </p:nvSpPr>
        <p:spPr bwMode="auto">
          <a:xfrm>
            <a:off x="3525838" y="3124200"/>
            <a:ext cx="207962" cy="554038"/>
          </a:xfrm>
          <a:custGeom>
            <a:avLst/>
            <a:gdLst>
              <a:gd name="T0" fmla="*/ 0 w 14"/>
              <a:gd name="T1" fmla="*/ 2147483647 h 26"/>
              <a:gd name="T2" fmla="*/ 0 w 14"/>
              <a:gd name="T3" fmla="*/ 0 h 26"/>
              <a:gd name="T4" fmla="*/ 2147483647 w 14"/>
              <a:gd name="T5" fmla="*/ 0 h 26"/>
              <a:gd name="T6" fmla="*/ 0 60000 65536"/>
              <a:gd name="T7" fmla="*/ 0 60000 65536"/>
              <a:gd name="T8" fmla="*/ 0 60000 65536"/>
              <a:gd name="T9" fmla="*/ 0 w 14"/>
              <a:gd name="T10" fmla="*/ 0 h 26"/>
              <a:gd name="T11" fmla="*/ 14 w 14"/>
              <a:gd name="T12" fmla="*/ 26 h 26"/>
            </a:gdLst>
            <a:ahLst/>
            <a:cxnLst>
              <a:cxn ang="T6">
                <a:pos x="T0" y="T1"/>
              </a:cxn>
              <a:cxn ang="T7">
                <a:pos x="T2" y="T3"/>
              </a:cxn>
              <a:cxn ang="T8">
                <a:pos x="T4" y="T5"/>
              </a:cxn>
            </a:cxnLst>
            <a:rect l="T9" t="T10" r="T11" b="T12"/>
            <a:pathLst>
              <a:path w="14" h="26">
                <a:moveTo>
                  <a:pt x="0" y="26"/>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34827" name="Freeform 12">
            <a:extLst>
              <a:ext uri="{FF2B5EF4-FFF2-40B4-BE49-F238E27FC236}">
                <a16:creationId xmlns:a16="http://schemas.microsoft.com/office/drawing/2014/main" id="{564003F4-ADA2-554A-8C88-335748C530C4}"/>
              </a:ext>
            </a:extLst>
          </p:cNvPr>
          <p:cNvSpPr>
            <a:spLocks/>
          </p:cNvSpPr>
          <p:nvPr/>
        </p:nvSpPr>
        <p:spPr bwMode="auto">
          <a:xfrm>
            <a:off x="3525838" y="3678238"/>
            <a:ext cx="207962" cy="512762"/>
          </a:xfrm>
          <a:custGeom>
            <a:avLst/>
            <a:gdLst>
              <a:gd name="T0" fmla="*/ 0 w 14"/>
              <a:gd name="T1" fmla="*/ 0 h 27"/>
              <a:gd name="T2" fmla="*/ 0 w 14"/>
              <a:gd name="T3" fmla="*/ 2147483647 h 27"/>
              <a:gd name="T4" fmla="*/ 2147483647 w 14"/>
              <a:gd name="T5" fmla="*/ 2147483647 h 27"/>
              <a:gd name="T6" fmla="*/ 0 60000 65536"/>
              <a:gd name="T7" fmla="*/ 0 60000 65536"/>
              <a:gd name="T8" fmla="*/ 0 60000 65536"/>
              <a:gd name="T9" fmla="*/ 0 w 14"/>
              <a:gd name="T10" fmla="*/ 0 h 27"/>
              <a:gd name="T11" fmla="*/ 14 w 14"/>
              <a:gd name="T12" fmla="*/ 27 h 27"/>
            </a:gdLst>
            <a:ahLst/>
            <a:cxnLst>
              <a:cxn ang="T6">
                <a:pos x="T0" y="T1"/>
              </a:cxn>
              <a:cxn ang="T7">
                <a:pos x="T2" y="T3"/>
              </a:cxn>
              <a:cxn ang="T8">
                <a:pos x="T4" y="T5"/>
              </a:cxn>
            </a:cxnLst>
            <a:rect l="T9" t="T10" r="T11" b="T12"/>
            <a:pathLst>
              <a:path w="14" h="27">
                <a:moveTo>
                  <a:pt x="0" y="0"/>
                </a:moveTo>
                <a:lnTo>
                  <a:pt x="0" y="27"/>
                </a:lnTo>
                <a:lnTo>
                  <a:pt x="14" y="27"/>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34828" name="Line 13">
            <a:extLst>
              <a:ext uri="{FF2B5EF4-FFF2-40B4-BE49-F238E27FC236}">
                <a16:creationId xmlns:a16="http://schemas.microsoft.com/office/drawing/2014/main" id="{12ACF6AE-2B4E-8444-A5DA-696DFCF5AEA2}"/>
              </a:ext>
            </a:extLst>
          </p:cNvPr>
          <p:cNvSpPr>
            <a:spLocks noChangeShapeType="1"/>
          </p:cNvSpPr>
          <p:nvPr/>
        </p:nvSpPr>
        <p:spPr bwMode="auto">
          <a:xfrm>
            <a:off x="2144713" y="3678239"/>
            <a:ext cx="121920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4829" name="Oval 14">
            <a:extLst>
              <a:ext uri="{FF2B5EF4-FFF2-40B4-BE49-F238E27FC236}">
                <a16:creationId xmlns:a16="http://schemas.microsoft.com/office/drawing/2014/main" id="{D09E1BEE-3CCB-F946-BC70-7EBB5B5D8875}"/>
              </a:ext>
            </a:extLst>
          </p:cNvPr>
          <p:cNvSpPr>
            <a:spLocks noChangeArrowheads="1"/>
          </p:cNvSpPr>
          <p:nvPr/>
        </p:nvSpPr>
        <p:spPr bwMode="auto">
          <a:xfrm>
            <a:off x="3363913" y="3571876"/>
            <a:ext cx="203200" cy="212725"/>
          </a:xfrm>
          <a:prstGeom prst="ellipse">
            <a:avLst/>
          </a:prstGeom>
          <a:solidFill>
            <a:schemeClr val="bg1"/>
          </a:solidFill>
          <a:ln w="25400">
            <a:solidFill>
              <a:srgbClr val="008000"/>
            </a:solidFill>
            <a:round/>
            <a:headEnd/>
            <a:tailEnd/>
          </a:ln>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34830" name="Rectangle 15">
            <a:extLst>
              <a:ext uri="{FF2B5EF4-FFF2-40B4-BE49-F238E27FC236}">
                <a16:creationId xmlns:a16="http://schemas.microsoft.com/office/drawing/2014/main" id="{8D1CF050-FCEA-7A44-BD94-17C677C2E248}"/>
              </a:ext>
            </a:extLst>
          </p:cNvPr>
          <p:cNvSpPr>
            <a:spLocks noChangeArrowheads="1"/>
          </p:cNvSpPr>
          <p:nvPr/>
        </p:nvSpPr>
        <p:spPr bwMode="auto">
          <a:xfrm>
            <a:off x="2133601" y="3276600"/>
            <a:ext cx="82028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2400" b="0">
                <a:solidFill>
                  <a:srgbClr val="000000"/>
                </a:solidFill>
              </a:rPr>
              <a:t>Test 2</a:t>
            </a:r>
            <a:endParaRPr lang="en-US" altLang="en-MX" sz="3600" b="0">
              <a:solidFill>
                <a:srgbClr val="000000"/>
              </a:solidFill>
            </a:endParaRPr>
          </a:p>
        </p:txBody>
      </p:sp>
      <p:sp>
        <p:nvSpPr>
          <p:cNvPr id="34831" name="Freeform 16">
            <a:extLst>
              <a:ext uri="{FF2B5EF4-FFF2-40B4-BE49-F238E27FC236}">
                <a16:creationId xmlns:a16="http://schemas.microsoft.com/office/drawing/2014/main" id="{A3D8104D-352C-944D-8F70-A47AF747F38A}"/>
              </a:ext>
            </a:extLst>
          </p:cNvPr>
          <p:cNvSpPr>
            <a:spLocks/>
          </p:cNvSpPr>
          <p:nvPr/>
        </p:nvSpPr>
        <p:spPr bwMode="auto">
          <a:xfrm>
            <a:off x="1884363" y="3678239"/>
            <a:ext cx="260350" cy="34925"/>
          </a:xfrm>
          <a:custGeom>
            <a:avLst/>
            <a:gdLst>
              <a:gd name="T0" fmla="*/ 0 w 14"/>
              <a:gd name="T1" fmla="*/ 609877795 h 2"/>
              <a:gd name="T2" fmla="*/ 0 w 14"/>
              <a:gd name="T3" fmla="*/ 0 h 2"/>
              <a:gd name="T4" fmla="*/ 2147483647 w 14"/>
              <a:gd name="T5" fmla="*/ 0 h 2"/>
              <a:gd name="T6" fmla="*/ 0 60000 65536"/>
              <a:gd name="T7" fmla="*/ 0 60000 65536"/>
              <a:gd name="T8" fmla="*/ 0 60000 65536"/>
              <a:gd name="T9" fmla="*/ 0 w 14"/>
              <a:gd name="T10" fmla="*/ 0 h 2"/>
              <a:gd name="T11" fmla="*/ 14 w 14"/>
              <a:gd name="T12" fmla="*/ 2 h 2"/>
            </a:gdLst>
            <a:ahLst/>
            <a:cxnLst>
              <a:cxn ang="T6">
                <a:pos x="T0" y="T1"/>
              </a:cxn>
              <a:cxn ang="T7">
                <a:pos x="T2" y="T3"/>
              </a:cxn>
              <a:cxn ang="T8">
                <a:pos x="T4" y="T5"/>
              </a:cxn>
            </a:cxnLst>
            <a:rect l="T9" t="T10" r="T11" b="T12"/>
            <a:pathLst>
              <a:path w="14" h="2">
                <a:moveTo>
                  <a:pt x="0" y="2"/>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34832" name="Line 17">
            <a:extLst>
              <a:ext uri="{FF2B5EF4-FFF2-40B4-BE49-F238E27FC236}">
                <a16:creationId xmlns:a16="http://schemas.microsoft.com/office/drawing/2014/main" id="{F400E768-1080-E043-AB4C-09E0CB0C7426}"/>
              </a:ext>
            </a:extLst>
          </p:cNvPr>
          <p:cNvSpPr>
            <a:spLocks noChangeShapeType="1"/>
          </p:cNvSpPr>
          <p:nvPr/>
        </p:nvSpPr>
        <p:spPr bwMode="auto">
          <a:xfrm>
            <a:off x="3678238" y="4191000"/>
            <a:ext cx="2133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4833" name="Freeform 18">
            <a:extLst>
              <a:ext uri="{FF2B5EF4-FFF2-40B4-BE49-F238E27FC236}">
                <a16:creationId xmlns:a16="http://schemas.microsoft.com/office/drawing/2014/main" id="{6A8B6251-FDA8-284E-93A0-85BD72A1C9B8}"/>
              </a:ext>
            </a:extLst>
          </p:cNvPr>
          <p:cNvSpPr>
            <a:spLocks/>
          </p:cNvSpPr>
          <p:nvPr/>
        </p:nvSpPr>
        <p:spPr bwMode="auto">
          <a:xfrm>
            <a:off x="7818438" y="2697164"/>
            <a:ext cx="203200" cy="212725"/>
          </a:xfrm>
          <a:custGeom>
            <a:avLst/>
            <a:gdLst>
              <a:gd name="T0" fmla="*/ 0 w 128"/>
              <a:gd name="T1" fmla="*/ 168851235 h 134"/>
              <a:gd name="T2" fmla="*/ 322579945 w 128"/>
              <a:gd name="T3" fmla="*/ 0 h 134"/>
              <a:gd name="T4" fmla="*/ 322579945 w 128"/>
              <a:gd name="T5" fmla="*/ 337700883 h 134"/>
              <a:gd name="T6" fmla="*/ 0 w 128"/>
              <a:gd name="T7" fmla="*/ 168851235 h 134"/>
              <a:gd name="T8" fmla="*/ 0 60000 65536"/>
              <a:gd name="T9" fmla="*/ 0 60000 65536"/>
              <a:gd name="T10" fmla="*/ 0 60000 65536"/>
              <a:gd name="T11" fmla="*/ 0 60000 65536"/>
              <a:gd name="T12" fmla="*/ 0 w 128"/>
              <a:gd name="T13" fmla="*/ 0 h 134"/>
              <a:gd name="T14" fmla="*/ 128 w 128"/>
              <a:gd name="T15" fmla="*/ 134 h 134"/>
            </a:gdLst>
            <a:ahLst/>
            <a:cxnLst>
              <a:cxn ang="T8">
                <a:pos x="T0" y="T1"/>
              </a:cxn>
              <a:cxn ang="T9">
                <a:pos x="T2" y="T3"/>
              </a:cxn>
              <a:cxn ang="T10">
                <a:pos x="T4" y="T5"/>
              </a:cxn>
              <a:cxn ang="T11">
                <a:pos x="T6" y="T7"/>
              </a:cxn>
            </a:cxnLst>
            <a:rect l="T12" t="T13" r="T14" b="T15"/>
            <a:pathLst>
              <a:path w="128" h="134">
                <a:moveTo>
                  <a:pt x="0" y="67"/>
                </a:moveTo>
                <a:lnTo>
                  <a:pt x="128" y="0"/>
                </a:lnTo>
                <a:lnTo>
                  <a:pt x="128" y="134"/>
                </a:lnTo>
                <a:lnTo>
                  <a:pt x="0" y="67"/>
                </a:lnTo>
                <a:close/>
              </a:path>
            </a:pathLst>
          </a:custGeom>
          <a:solidFill>
            <a:srgbClr val="FFFFFF"/>
          </a:solidFill>
          <a:ln w="25400">
            <a:solidFill>
              <a:srgbClr val="FF0000"/>
            </a:solidFill>
            <a:prstDash val="solid"/>
            <a:round/>
            <a:headEnd/>
            <a:tailEnd/>
          </a:ln>
        </p:spPr>
        <p:txBody>
          <a:bodyPr/>
          <a:lstStyle/>
          <a:p>
            <a:endParaRPr lang="en-MX"/>
          </a:p>
        </p:txBody>
      </p:sp>
      <p:sp>
        <p:nvSpPr>
          <p:cNvPr id="34834" name="Rectangle 19">
            <a:extLst>
              <a:ext uri="{FF2B5EF4-FFF2-40B4-BE49-F238E27FC236}">
                <a16:creationId xmlns:a16="http://schemas.microsoft.com/office/drawing/2014/main" id="{AB901DAA-686E-DA40-B85C-04F24191B43F}"/>
              </a:ext>
            </a:extLst>
          </p:cNvPr>
          <p:cNvSpPr>
            <a:spLocks noChangeArrowheads="1"/>
          </p:cNvSpPr>
          <p:nvPr/>
        </p:nvSpPr>
        <p:spPr bwMode="auto">
          <a:xfrm>
            <a:off x="6078539" y="2438400"/>
            <a:ext cx="139865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2400" b="0">
                <a:solidFill>
                  <a:srgbClr val="000000"/>
                </a:solidFill>
              </a:rPr>
              <a:t>Disease Y</a:t>
            </a:r>
            <a:endParaRPr lang="en-US" altLang="en-MX" sz="3600" b="0">
              <a:solidFill>
                <a:srgbClr val="000000"/>
              </a:solidFill>
            </a:endParaRPr>
          </a:p>
        </p:txBody>
      </p:sp>
      <p:sp>
        <p:nvSpPr>
          <p:cNvPr id="34835" name="Freeform 20">
            <a:extLst>
              <a:ext uri="{FF2B5EF4-FFF2-40B4-BE49-F238E27FC236}">
                <a16:creationId xmlns:a16="http://schemas.microsoft.com/office/drawing/2014/main" id="{B925C508-A972-B842-87AF-40521E53E438}"/>
              </a:ext>
            </a:extLst>
          </p:cNvPr>
          <p:cNvSpPr>
            <a:spLocks/>
          </p:cNvSpPr>
          <p:nvPr/>
        </p:nvSpPr>
        <p:spPr bwMode="auto">
          <a:xfrm>
            <a:off x="7818438" y="3336926"/>
            <a:ext cx="203200" cy="212725"/>
          </a:xfrm>
          <a:custGeom>
            <a:avLst/>
            <a:gdLst>
              <a:gd name="T0" fmla="*/ 0 w 128"/>
              <a:gd name="T1" fmla="*/ 168851235 h 134"/>
              <a:gd name="T2" fmla="*/ 322579945 w 128"/>
              <a:gd name="T3" fmla="*/ 0 h 134"/>
              <a:gd name="T4" fmla="*/ 322579945 w 128"/>
              <a:gd name="T5" fmla="*/ 337700883 h 134"/>
              <a:gd name="T6" fmla="*/ 0 w 128"/>
              <a:gd name="T7" fmla="*/ 168851235 h 134"/>
              <a:gd name="T8" fmla="*/ 0 60000 65536"/>
              <a:gd name="T9" fmla="*/ 0 60000 65536"/>
              <a:gd name="T10" fmla="*/ 0 60000 65536"/>
              <a:gd name="T11" fmla="*/ 0 60000 65536"/>
              <a:gd name="T12" fmla="*/ 0 w 128"/>
              <a:gd name="T13" fmla="*/ 0 h 134"/>
              <a:gd name="T14" fmla="*/ 128 w 128"/>
              <a:gd name="T15" fmla="*/ 134 h 134"/>
            </a:gdLst>
            <a:ahLst/>
            <a:cxnLst>
              <a:cxn ang="T8">
                <a:pos x="T0" y="T1"/>
              </a:cxn>
              <a:cxn ang="T9">
                <a:pos x="T2" y="T3"/>
              </a:cxn>
              <a:cxn ang="T10">
                <a:pos x="T4" y="T5"/>
              </a:cxn>
              <a:cxn ang="T11">
                <a:pos x="T6" y="T7"/>
              </a:cxn>
            </a:cxnLst>
            <a:rect l="T12" t="T13" r="T14" b="T15"/>
            <a:pathLst>
              <a:path w="128" h="134">
                <a:moveTo>
                  <a:pt x="0" y="67"/>
                </a:moveTo>
                <a:lnTo>
                  <a:pt x="128" y="0"/>
                </a:lnTo>
                <a:lnTo>
                  <a:pt x="128" y="134"/>
                </a:lnTo>
                <a:lnTo>
                  <a:pt x="0" y="67"/>
                </a:lnTo>
                <a:close/>
              </a:path>
            </a:pathLst>
          </a:custGeom>
          <a:solidFill>
            <a:srgbClr val="FFFFFF"/>
          </a:solidFill>
          <a:ln w="25400">
            <a:solidFill>
              <a:srgbClr val="FF0000"/>
            </a:solidFill>
            <a:prstDash val="solid"/>
            <a:round/>
            <a:headEnd/>
            <a:tailEnd/>
          </a:ln>
        </p:spPr>
        <p:txBody>
          <a:bodyPr/>
          <a:lstStyle/>
          <a:p>
            <a:endParaRPr lang="en-MX"/>
          </a:p>
        </p:txBody>
      </p:sp>
      <p:sp>
        <p:nvSpPr>
          <p:cNvPr id="34836" name="Rectangle 21">
            <a:extLst>
              <a:ext uri="{FF2B5EF4-FFF2-40B4-BE49-F238E27FC236}">
                <a16:creationId xmlns:a16="http://schemas.microsoft.com/office/drawing/2014/main" id="{A9112368-A861-CF4D-8DC3-6900E992DB33}"/>
              </a:ext>
            </a:extLst>
          </p:cNvPr>
          <p:cNvSpPr>
            <a:spLocks noChangeArrowheads="1"/>
          </p:cNvSpPr>
          <p:nvPr/>
        </p:nvSpPr>
        <p:spPr bwMode="auto">
          <a:xfrm>
            <a:off x="6078538" y="3078163"/>
            <a:ext cx="18779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2400" b="0">
                <a:solidFill>
                  <a:srgbClr val="000000"/>
                </a:solidFill>
              </a:rPr>
              <a:t>No Disease Y</a:t>
            </a:r>
            <a:endParaRPr lang="en-US" altLang="en-MX" sz="3600" b="0">
              <a:solidFill>
                <a:srgbClr val="000000"/>
              </a:solidFill>
            </a:endParaRPr>
          </a:p>
        </p:txBody>
      </p:sp>
      <p:sp>
        <p:nvSpPr>
          <p:cNvPr id="34837" name="Freeform 22">
            <a:extLst>
              <a:ext uri="{FF2B5EF4-FFF2-40B4-BE49-F238E27FC236}">
                <a16:creationId xmlns:a16="http://schemas.microsoft.com/office/drawing/2014/main" id="{EB843F38-D9CB-E547-A3EC-B38BDA1678CB}"/>
              </a:ext>
            </a:extLst>
          </p:cNvPr>
          <p:cNvSpPr>
            <a:spLocks/>
          </p:cNvSpPr>
          <p:nvPr/>
        </p:nvSpPr>
        <p:spPr bwMode="auto">
          <a:xfrm>
            <a:off x="5888038" y="2819400"/>
            <a:ext cx="304800" cy="304800"/>
          </a:xfrm>
          <a:custGeom>
            <a:avLst/>
            <a:gdLst>
              <a:gd name="T0" fmla="*/ 0 w 14"/>
              <a:gd name="T1" fmla="*/ 2147483647 h 18"/>
              <a:gd name="T2" fmla="*/ 0 w 14"/>
              <a:gd name="T3" fmla="*/ 0 h 18"/>
              <a:gd name="T4" fmla="*/ 2147483647 w 14"/>
              <a:gd name="T5" fmla="*/ 0 h 18"/>
              <a:gd name="T6" fmla="*/ 0 60000 65536"/>
              <a:gd name="T7" fmla="*/ 0 60000 65536"/>
              <a:gd name="T8" fmla="*/ 0 60000 65536"/>
              <a:gd name="T9" fmla="*/ 0 w 14"/>
              <a:gd name="T10" fmla="*/ 0 h 18"/>
              <a:gd name="T11" fmla="*/ 14 w 14"/>
              <a:gd name="T12" fmla="*/ 18 h 18"/>
            </a:gdLst>
            <a:ahLst/>
            <a:cxnLst>
              <a:cxn ang="T6">
                <a:pos x="T0" y="T1"/>
              </a:cxn>
              <a:cxn ang="T7">
                <a:pos x="T2" y="T3"/>
              </a:cxn>
              <a:cxn ang="T8">
                <a:pos x="T4" y="T5"/>
              </a:cxn>
            </a:cxnLst>
            <a:rect l="T9" t="T10" r="T11" b="T12"/>
            <a:pathLst>
              <a:path w="14" h="18">
                <a:moveTo>
                  <a:pt x="0" y="18"/>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34838" name="Freeform 23">
            <a:extLst>
              <a:ext uri="{FF2B5EF4-FFF2-40B4-BE49-F238E27FC236}">
                <a16:creationId xmlns:a16="http://schemas.microsoft.com/office/drawing/2014/main" id="{E8A82F1F-0990-A349-880C-E1BDE3547615}"/>
              </a:ext>
            </a:extLst>
          </p:cNvPr>
          <p:cNvSpPr>
            <a:spLocks/>
          </p:cNvSpPr>
          <p:nvPr/>
        </p:nvSpPr>
        <p:spPr bwMode="auto">
          <a:xfrm>
            <a:off x="5888038" y="3124200"/>
            <a:ext cx="304800" cy="304800"/>
          </a:xfrm>
          <a:custGeom>
            <a:avLst/>
            <a:gdLst>
              <a:gd name="T0" fmla="*/ 0 w 14"/>
              <a:gd name="T1" fmla="*/ 0 h 18"/>
              <a:gd name="T2" fmla="*/ 0 w 14"/>
              <a:gd name="T3" fmla="*/ 2147483647 h 18"/>
              <a:gd name="T4" fmla="*/ 2147483647 w 14"/>
              <a:gd name="T5" fmla="*/ 2147483647 h 18"/>
              <a:gd name="T6" fmla="*/ 0 60000 65536"/>
              <a:gd name="T7" fmla="*/ 0 60000 65536"/>
              <a:gd name="T8" fmla="*/ 0 60000 65536"/>
              <a:gd name="T9" fmla="*/ 0 w 14"/>
              <a:gd name="T10" fmla="*/ 0 h 18"/>
              <a:gd name="T11" fmla="*/ 14 w 14"/>
              <a:gd name="T12" fmla="*/ 18 h 18"/>
            </a:gdLst>
            <a:ahLst/>
            <a:cxnLst>
              <a:cxn ang="T6">
                <a:pos x="T0" y="T1"/>
              </a:cxn>
              <a:cxn ang="T7">
                <a:pos x="T2" y="T3"/>
              </a:cxn>
              <a:cxn ang="T8">
                <a:pos x="T4" y="T5"/>
              </a:cxn>
            </a:cxnLst>
            <a:rect l="T9" t="T10" r="T11" b="T12"/>
            <a:pathLst>
              <a:path w="14" h="18">
                <a:moveTo>
                  <a:pt x="0" y="0"/>
                </a:moveTo>
                <a:lnTo>
                  <a:pt x="0" y="18"/>
                </a:lnTo>
                <a:lnTo>
                  <a:pt x="14" y="18"/>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34839" name="Oval 24">
            <a:extLst>
              <a:ext uri="{FF2B5EF4-FFF2-40B4-BE49-F238E27FC236}">
                <a16:creationId xmlns:a16="http://schemas.microsoft.com/office/drawing/2014/main" id="{3E804A85-E85E-1947-B697-4953FCE291B8}"/>
              </a:ext>
            </a:extLst>
          </p:cNvPr>
          <p:cNvSpPr>
            <a:spLocks noChangeArrowheads="1"/>
          </p:cNvSpPr>
          <p:nvPr/>
        </p:nvSpPr>
        <p:spPr bwMode="auto">
          <a:xfrm>
            <a:off x="5811838" y="3048001"/>
            <a:ext cx="203200" cy="212725"/>
          </a:xfrm>
          <a:prstGeom prst="ellipse">
            <a:avLst/>
          </a:prstGeom>
          <a:solidFill>
            <a:schemeClr val="bg1"/>
          </a:solidFill>
          <a:ln w="25400">
            <a:solidFill>
              <a:srgbClr val="008000"/>
            </a:solidFill>
            <a:round/>
            <a:headEnd/>
            <a:tailEnd/>
          </a:ln>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34840" name="Line 25">
            <a:extLst>
              <a:ext uri="{FF2B5EF4-FFF2-40B4-BE49-F238E27FC236}">
                <a16:creationId xmlns:a16="http://schemas.microsoft.com/office/drawing/2014/main" id="{B479645A-D201-AA48-9A81-8300D77785AB}"/>
              </a:ext>
            </a:extLst>
          </p:cNvPr>
          <p:cNvSpPr>
            <a:spLocks noChangeShapeType="1"/>
          </p:cNvSpPr>
          <p:nvPr/>
        </p:nvSpPr>
        <p:spPr bwMode="auto">
          <a:xfrm>
            <a:off x="3678238" y="3124200"/>
            <a:ext cx="2133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4841" name="Line 26">
            <a:extLst>
              <a:ext uri="{FF2B5EF4-FFF2-40B4-BE49-F238E27FC236}">
                <a16:creationId xmlns:a16="http://schemas.microsoft.com/office/drawing/2014/main" id="{95361FE3-A691-F940-A2D0-EA1D614897AC}"/>
              </a:ext>
            </a:extLst>
          </p:cNvPr>
          <p:cNvSpPr>
            <a:spLocks noChangeShapeType="1"/>
          </p:cNvSpPr>
          <p:nvPr/>
        </p:nvSpPr>
        <p:spPr bwMode="auto">
          <a:xfrm>
            <a:off x="6116638" y="2819400"/>
            <a:ext cx="1676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4842" name="Line 27">
            <a:extLst>
              <a:ext uri="{FF2B5EF4-FFF2-40B4-BE49-F238E27FC236}">
                <a16:creationId xmlns:a16="http://schemas.microsoft.com/office/drawing/2014/main" id="{797C408D-6DB1-C247-9136-4ABAB03D9DA1}"/>
              </a:ext>
            </a:extLst>
          </p:cNvPr>
          <p:cNvSpPr>
            <a:spLocks noChangeShapeType="1"/>
          </p:cNvSpPr>
          <p:nvPr/>
        </p:nvSpPr>
        <p:spPr bwMode="auto">
          <a:xfrm>
            <a:off x="6192838" y="3429000"/>
            <a:ext cx="1676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4843" name="Line 28">
            <a:extLst>
              <a:ext uri="{FF2B5EF4-FFF2-40B4-BE49-F238E27FC236}">
                <a16:creationId xmlns:a16="http://schemas.microsoft.com/office/drawing/2014/main" id="{EA1AFB64-30C2-F64C-8B14-3E4A5DFD5CB5}"/>
              </a:ext>
            </a:extLst>
          </p:cNvPr>
          <p:cNvSpPr>
            <a:spLocks noChangeShapeType="1"/>
          </p:cNvSpPr>
          <p:nvPr/>
        </p:nvSpPr>
        <p:spPr bwMode="auto">
          <a:xfrm>
            <a:off x="6192838" y="3886200"/>
            <a:ext cx="1676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4844" name="Line 29">
            <a:extLst>
              <a:ext uri="{FF2B5EF4-FFF2-40B4-BE49-F238E27FC236}">
                <a16:creationId xmlns:a16="http://schemas.microsoft.com/office/drawing/2014/main" id="{47452202-1704-7D41-B339-E3DD0F524D21}"/>
              </a:ext>
            </a:extLst>
          </p:cNvPr>
          <p:cNvSpPr>
            <a:spLocks noChangeShapeType="1"/>
          </p:cNvSpPr>
          <p:nvPr/>
        </p:nvSpPr>
        <p:spPr bwMode="auto">
          <a:xfrm>
            <a:off x="6248400" y="4572000"/>
            <a:ext cx="1676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4845" name="Freeform 30">
            <a:extLst>
              <a:ext uri="{FF2B5EF4-FFF2-40B4-BE49-F238E27FC236}">
                <a16:creationId xmlns:a16="http://schemas.microsoft.com/office/drawing/2014/main" id="{3A84CCCE-47B5-8D4E-B8A9-B8D77822B285}"/>
              </a:ext>
            </a:extLst>
          </p:cNvPr>
          <p:cNvSpPr>
            <a:spLocks/>
          </p:cNvSpPr>
          <p:nvPr/>
        </p:nvSpPr>
        <p:spPr bwMode="auto">
          <a:xfrm>
            <a:off x="7848600" y="4419601"/>
            <a:ext cx="203200" cy="212725"/>
          </a:xfrm>
          <a:custGeom>
            <a:avLst/>
            <a:gdLst>
              <a:gd name="T0" fmla="*/ 0 w 128"/>
              <a:gd name="T1" fmla="*/ 168851235 h 134"/>
              <a:gd name="T2" fmla="*/ 322579945 w 128"/>
              <a:gd name="T3" fmla="*/ 0 h 134"/>
              <a:gd name="T4" fmla="*/ 322579945 w 128"/>
              <a:gd name="T5" fmla="*/ 337700883 h 134"/>
              <a:gd name="T6" fmla="*/ 0 w 128"/>
              <a:gd name="T7" fmla="*/ 168851235 h 134"/>
              <a:gd name="T8" fmla="*/ 0 60000 65536"/>
              <a:gd name="T9" fmla="*/ 0 60000 65536"/>
              <a:gd name="T10" fmla="*/ 0 60000 65536"/>
              <a:gd name="T11" fmla="*/ 0 60000 65536"/>
              <a:gd name="T12" fmla="*/ 0 w 128"/>
              <a:gd name="T13" fmla="*/ 0 h 134"/>
              <a:gd name="T14" fmla="*/ 128 w 128"/>
              <a:gd name="T15" fmla="*/ 134 h 134"/>
            </a:gdLst>
            <a:ahLst/>
            <a:cxnLst>
              <a:cxn ang="T8">
                <a:pos x="T0" y="T1"/>
              </a:cxn>
              <a:cxn ang="T9">
                <a:pos x="T2" y="T3"/>
              </a:cxn>
              <a:cxn ang="T10">
                <a:pos x="T4" y="T5"/>
              </a:cxn>
              <a:cxn ang="T11">
                <a:pos x="T6" y="T7"/>
              </a:cxn>
            </a:cxnLst>
            <a:rect l="T12" t="T13" r="T14" b="T15"/>
            <a:pathLst>
              <a:path w="128" h="134">
                <a:moveTo>
                  <a:pt x="0" y="67"/>
                </a:moveTo>
                <a:lnTo>
                  <a:pt x="128" y="0"/>
                </a:lnTo>
                <a:lnTo>
                  <a:pt x="128" y="134"/>
                </a:lnTo>
                <a:lnTo>
                  <a:pt x="0" y="67"/>
                </a:lnTo>
                <a:close/>
              </a:path>
            </a:pathLst>
          </a:custGeom>
          <a:solidFill>
            <a:srgbClr val="FFFFFF"/>
          </a:solidFill>
          <a:ln w="25400">
            <a:solidFill>
              <a:srgbClr val="FF0000"/>
            </a:solidFill>
            <a:prstDash val="solid"/>
            <a:round/>
            <a:headEnd/>
            <a:tailEnd/>
          </a:ln>
        </p:spPr>
        <p:txBody>
          <a:bodyPr/>
          <a:lstStyle/>
          <a:p>
            <a:endParaRPr lang="en-MX"/>
          </a:p>
        </p:txBody>
      </p:sp>
      <p:sp>
        <p:nvSpPr>
          <p:cNvPr id="34846" name="Rectangle 31">
            <a:extLst>
              <a:ext uri="{FF2B5EF4-FFF2-40B4-BE49-F238E27FC236}">
                <a16:creationId xmlns:a16="http://schemas.microsoft.com/office/drawing/2014/main" id="{EA67B030-5A95-7043-96E3-F44CDFEE10A7}"/>
              </a:ext>
            </a:extLst>
          </p:cNvPr>
          <p:cNvSpPr>
            <a:spLocks noChangeArrowheads="1"/>
          </p:cNvSpPr>
          <p:nvPr/>
        </p:nvSpPr>
        <p:spPr bwMode="auto">
          <a:xfrm>
            <a:off x="3505200" y="2589213"/>
            <a:ext cx="1917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2400" b="0">
                <a:solidFill>
                  <a:srgbClr val="000000"/>
                </a:solidFill>
              </a:rPr>
              <a:t>Test + /Treat</a:t>
            </a:r>
          </a:p>
        </p:txBody>
      </p:sp>
      <p:sp>
        <p:nvSpPr>
          <p:cNvPr id="34847" name="Rectangle 32">
            <a:extLst>
              <a:ext uri="{FF2B5EF4-FFF2-40B4-BE49-F238E27FC236}">
                <a16:creationId xmlns:a16="http://schemas.microsoft.com/office/drawing/2014/main" id="{777BDECA-52D9-6140-8A04-3F10809E86F9}"/>
              </a:ext>
            </a:extLst>
          </p:cNvPr>
          <p:cNvSpPr>
            <a:spLocks noChangeArrowheads="1"/>
          </p:cNvSpPr>
          <p:nvPr/>
        </p:nvSpPr>
        <p:spPr bwMode="auto">
          <a:xfrm>
            <a:off x="3581401" y="3732213"/>
            <a:ext cx="2316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2400" b="0">
                <a:solidFill>
                  <a:srgbClr val="000000"/>
                </a:solidFill>
              </a:rPr>
              <a:t>Test - /No Treat</a:t>
            </a:r>
          </a:p>
        </p:txBody>
      </p:sp>
      <p:sp>
        <p:nvSpPr>
          <p:cNvPr id="34848" name="Text Box 34">
            <a:extLst>
              <a:ext uri="{FF2B5EF4-FFF2-40B4-BE49-F238E27FC236}">
                <a16:creationId xmlns:a16="http://schemas.microsoft.com/office/drawing/2014/main" id="{AEF54B00-3822-3E4F-ACBE-EE1DF672EA38}"/>
              </a:ext>
            </a:extLst>
          </p:cNvPr>
          <p:cNvSpPr txBox="1">
            <a:spLocks noChangeArrowheads="1"/>
          </p:cNvSpPr>
          <p:nvPr/>
        </p:nvSpPr>
        <p:spPr bwMode="auto">
          <a:xfrm>
            <a:off x="8001000" y="1981200"/>
            <a:ext cx="228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2400" b="0" u="sng"/>
              <a:t>Costs 	 QALYs</a:t>
            </a:r>
          </a:p>
        </p:txBody>
      </p:sp>
      <p:sp>
        <p:nvSpPr>
          <p:cNvPr id="34849" name="Rectangle 38">
            <a:extLst>
              <a:ext uri="{FF2B5EF4-FFF2-40B4-BE49-F238E27FC236}">
                <a16:creationId xmlns:a16="http://schemas.microsoft.com/office/drawing/2014/main" id="{9ADE8B03-4821-734A-9865-EE2A5A8053E0}"/>
              </a:ext>
            </a:extLst>
          </p:cNvPr>
          <p:cNvSpPr>
            <a:spLocks noChangeArrowheads="1"/>
          </p:cNvSpPr>
          <p:nvPr/>
        </p:nvSpPr>
        <p:spPr bwMode="auto">
          <a:xfrm>
            <a:off x="3886200" y="3124200"/>
            <a:ext cx="444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1800" b="0">
                <a:solidFill>
                  <a:srgbClr val="000000"/>
                </a:solidFill>
              </a:rPr>
              <a:t>0.01</a:t>
            </a:r>
          </a:p>
        </p:txBody>
      </p:sp>
      <p:sp>
        <p:nvSpPr>
          <p:cNvPr id="34850" name="Rectangle 39">
            <a:extLst>
              <a:ext uri="{FF2B5EF4-FFF2-40B4-BE49-F238E27FC236}">
                <a16:creationId xmlns:a16="http://schemas.microsoft.com/office/drawing/2014/main" id="{C50E7531-67C0-C849-BD0F-9DF540530128}"/>
              </a:ext>
            </a:extLst>
          </p:cNvPr>
          <p:cNvSpPr>
            <a:spLocks noChangeArrowheads="1"/>
          </p:cNvSpPr>
          <p:nvPr/>
        </p:nvSpPr>
        <p:spPr bwMode="auto">
          <a:xfrm>
            <a:off x="3810000" y="4191000"/>
            <a:ext cx="444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1800" b="0">
                <a:solidFill>
                  <a:srgbClr val="000000"/>
                </a:solidFill>
              </a:rPr>
              <a:t>0.99</a:t>
            </a:r>
          </a:p>
        </p:txBody>
      </p:sp>
      <p:sp>
        <p:nvSpPr>
          <p:cNvPr id="34851" name="Text Box 40">
            <a:extLst>
              <a:ext uri="{FF2B5EF4-FFF2-40B4-BE49-F238E27FC236}">
                <a16:creationId xmlns:a16="http://schemas.microsoft.com/office/drawing/2014/main" id="{D3C900F2-B2EC-1648-BE72-D27BE6078947}"/>
              </a:ext>
            </a:extLst>
          </p:cNvPr>
          <p:cNvSpPr txBox="1">
            <a:spLocks noChangeArrowheads="1"/>
          </p:cNvSpPr>
          <p:nvPr/>
        </p:nvSpPr>
        <p:spPr bwMode="auto">
          <a:xfrm>
            <a:off x="8153400" y="2590801"/>
            <a:ext cx="1828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1085850" algn="l"/>
              </a:tabLst>
              <a:defRPr sz="2000" b="1">
                <a:solidFill>
                  <a:schemeClr val="tx1"/>
                </a:solidFill>
                <a:latin typeface="Arial" panose="020B0604020202020204" pitchFamily="34" charset="0"/>
              </a:defRPr>
            </a:lvl1pPr>
            <a:lvl2pPr marL="742950" indent="-285750">
              <a:tabLst>
                <a:tab pos="1085850" algn="l"/>
              </a:tabLst>
              <a:defRPr sz="2000" b="1">
                <a:solidFill>
                  <a:schemeClr val="tx1"/>
                </a:solidFill>
                <a:latin typeface="Arial" panose="020B0604020202020204" pitchFamily="34" charset="0"/>
              </a:defRPr>
            </a:lvl2pPr>
            <a:lvl3pPr marL="1143000" indent="-228600">
              <a:tabLst>
                <a:tab pos="1085850" algn="l"/>
              </a:tabLst>
              <a:defRPr sz="2000" b="1">
                <a:solidFill>
                  <a:schemeClr val="tx1"/>
                </a:solidFill>
                <a:latin typeface="Arial" panose="020B0604020202020204" pitchFamily="34" charset="0"/>
              </a:defRPr>
            </a:lvl3pPr>
            <a:lvl4pPr marL="1600200" indent="-228600">
              <a:tabLst>
                <a:tab pos="1085850" algn="l"/>
              </a:tabLst>
              <a:defRPr sz="2000" b="1">
                <a:solidFill>
                  <a:schemeClr val="tx1"/>
                </a:solidFill>
                <a:latin typeface="Arial" panose="020B0604020202020204" pitchFamily="34" charset="0"/>
              </a:defRPr>
            </a:lvl4pPr>
            <a:lvl5pPr marL="2057400" indent="-228600">
              <a:tabLst>
                <a:tab pos="1085850" algn="l"/>
              </a:tabLst>
              <a:defRPr sz="2000" b="1">
                <a:solidFill>
                  <a:schemeClr val="tx1"/>
                </a:solidFill>
                <a:latin typeface="Arial" panose="020B0604020202020204" pitchFamily="34" charset="0"/>
              </a:defRPr>
            </a:lvl5pPr>
            <a:lvl6pPr marL="25146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6pPr>
            <a:lvl7pPr marL="29718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7pPr>
            <a:lvl8pPr marL="34290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8pPr>
            <a:lvl9pPr marL="38862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9pPr>
          </a:lstStyle>
          <a:p>
            <a:pPr>
              <a:spcBef>
                <a:spcPct val="50000"/>
              </a:spcBef>
            </a:pPr>
            <a:r>
              <a:rPr lang="en-US" altLang="en-MX"/>
              <a:t>21,000	9.0</a:t>
            </a:r>
          </a:p>
        </p:txBody>
      </p:sp>
      <p:sp>
        <p:nvSpPr>
          <p:cNvPr id="34852" name="Text Box 41">
            <a:extLst>
              <a:ext uri="{FF2B5EF4-FFF2-40B4-BE49-F238E27FC236}">
                <a16:creationId xmlns:a16="http://schemas.microsoft.com/office/drawing/2014/main" id="{D7936EEE-4156-6D44-8F2C-6A5E464C5C0E}"/>
              </a:ext>
            </a:extLst>
          </p:cNvPr>
          <p:cNvSpPr txBox="1">
            <a:spLocks noChangeArrowheads="1"/>
          </p:cNvSpPr>
          <p:nvPr/>
        </p:nvSpPr>
        <p:spPr bwMode="auto">
          <a:xfrm>
            <a:off x="8153400" y="3200401"/>
            <a:ext cx="1828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1085850" algn="l"/>
              </a:tabLst>
              <a:defRPr sz="2000" b="1">
                <a:solidFill>
                  <a:schemeClr val="tx1"/>
                </a:solidFill>
                <a:latin typeface="Arial" panose="020B0604020202020204" pitchFamily="34" charset="0"/>
              </a:defRPr>
            </a:lvl1pPr>
            <a:lvl2pPr marL="742950" indent="-285750">
              <a:tabLst>
                <a:tab pos="1085850" algn="l"/>
              </a:tabLst>
              <a:defRPr sz="2000" b="1">
                <a:solidFill>
                  <a:schemeClr val="tx1"/>
                </a:solidFill>
                <a:latin typeface="Arial" panose="020B0604020202020204" pitchFamily="34" charset="0"/>
              </a:defRPr>
            </a:lvl2pPr>
            <a:lvl3pPr marL="1143000" indent="-228600">
              <a:tabLst>
                <a:tab pos="1085850" algn="l"/>
              </a:tabLst>
              <a:defRPr sz="2000" b="1">
                <a:solidFill>
                  <a:schemeClr val="tx1"/>
                </a:solidFill>
                <a:latin typeface="Arial" panose="020B0604020202020204" pitchFamily="34" charset="0"/>
              </a:defRPr>
            </a:lvl3pPr>
            <a:lvl4pPr marL="1600200" indent="-228600">
              <a:tabLst>
                <a:tab pos="1085850" algn="l"/>
              </a:tabLst>
              <a:defRPr sz="2000" b="1">
                <a:solidFill>
                  <a:schemeClr val="tx1"/>
                </a:solidFill>
                <a:latin typeface="Arial" panose="020B0604020202020204" pitchFamily="34" charset="0"/>
              </a:defRPr>
            </a:lvl4pPr>
            <a:lvl5pPr marL="2057400" indent="-228600">
              <a:tabLst>
                <a:tab pos="1085850" algn="l"/>
              </a:tabLst>
              <a:defRPr sz="2000" b="1">
                <a:solidFill>
                  <a:schemeClr val="tx1"/>
                </a:solidFill>
                <a:latin typeface="Arial" panose="020B0604020202020204" pitchFamily="34" charset="0"/>
              </a:defRPr>
            </a:lvl5pPr>
            <a:lvl6pPr marL="25146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6pPr>
            <a:lvl7pPr marL="29718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7pPr>
            <a:lvl8pPr marL="34290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8pPr>
            <a:lvl9pPr marL="38862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9pPr>
          </a:lstStyle>
          <a:p>
            <a:pPr>
              <a:spcBef>
                <a:spcPct val="50000"/>
              </a:spcBef>
            </a:pPr>
            <a:r>
              <a:rPr lang="en-US" altLang="en-MX">
                <a:solidFill>
                  <a:schemeClr val="folHlink"/>
                </a:solidFill>
              </a:rPr>
              <a:t>21,000	9.0</a:t>
            </a:r>
          </a:p>
        </p:txBody>
      </p:sp>
      <p:sp>
        <p:nvSpPr>
          <p:cNvPr id="34853" name="Text Box 42">
            <a:extLst>
              <a:ext uri="{FF2B5EF4-FFF2-40B4-BE49-F238E27FC236}">
                <a16:creationId xmlns:a16="http://schemas.microsoft.com/office/drawing/2014/main" id="{D174CB6E-EE2E-7840-985B-063685F665A6}"/>
              </a:ext>
            </a:extLst>
          </p:cNvPr>
          <p:cNvSpPr txBox="1">
            <a:spLocks noChangeArrowheads="1"/>
          </p:cNvSpPr>
          <p:nvPr/>
        </p:nvSpPr>
        <p:spPr bwMode="auto">
          <a:xfrm>
            <a:off x="8153400" y="3657601"/>
            <a:ext cx="1828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1085850" algn="l"/>
              </a:tabLst>
              <a:defRPr sz="2000" b="1">
                <a:solidFill>
                  <a:schemeClr val="tx1"/>
                </a:solidFill>
                <a:latin typeface="Arial" panose="020B0604020202020204" pitchFamily="34" charset="0"/>
              </a:defRPr>
            </a:lvl1pPr>
            <a:lvl2pPr marL="742950" indent="-285750">
              <a:tabLst>
                <a:tab pos="1085850" algn="l"/>
              </a:tabLst>
              <a:defRPr sz="2000" b="1">
                <a:solidFill>
                  <a:schemeClr val="tx1"/>
                </a:solidFill>
                <a:latin typeface="Arial" panose="020B0604020202020204" pitchFamily="34" charset="0"/>
              </a:defRPr>
            </a:lvl2pPr>
            <a:lvl3pPr marL="1143000" indent="-228600">
              <a:tabLst>
                <a:tab pos="1085850" algn="l"/>
              </a:tabLst>
              <a:defRPr sz="2000" b="1">
                <a:solidFill>
                  <a:schemeClr val="tx1"/>
                </a:solidFill>
                <a:latin typeface="Arial" panose="020B0604020202020204" pitchFamily="34" charset="0"/>
              </a:defRPr>
            </a:lvl3pPr>
            <a:lvl4pPr marL="1600200" indent="-228600">
              <a:tabLst>
                <a:tab pos="1085850" algn="l"/>
              </a:tabLst>
              <a:defRPr sz="2000" b="1">
                <a:solidFill>
                  <a:schemeClr val="tx1"/>
                </a:solidFill>
                <a:latin typeface="Arial" panose="020B0604020202020204" pitchFamily="34" charset="0"/>
              </a:defRPr>
            </a:lvl4pPr>
            <a:lvl5pPr marL="2057400" indent="-228600">
              <a:tabLst>
                <a:tab pos="1085850" algn="l"/>
              </a:tabLst>
              <a:defRPr sz="2000" b="1">
                <a:solidFill>
                  <a:schemeClr val="tx1"/>
                </a:solidFill>
                <a:latin typeface="Arial" panose="020B0604020202020204" pitchFamily="34" charset="0"/>
              </a:defRPr>
            </a:lvl5pPr>
            <a:lvl6pPr marL="25146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6pPr>
            <a:lvl7pPr marL="29718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7pPr>
            <a:lvl8pPr marL="34290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8pPr>
            <a:lvl9pPr marL="38862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9pPr>
          </a:lstStyle>
          <a:p>
            <a:pPr>
              <a:spcBef>
                <a:spcPct val="50000"/>
              </a:spcBef>
            </a:pPr>
            <a:r>
              <a:rPr lang="en-US" altLang="en-MX">
                <a:solidFill>
                  <a:schemeClr val="folHlink"/>
                </a:solidFill>
              </a:rPr>
              <a:t>1000	8.0</a:t>
            </a:r>
          </a:p>
        </p:txBody>
      </p:sp>
      <p:sp>
        <p:nvSpPr>
          <p:cNvPr id="34854" name="Text Box 43">
            <a:extLst>
              <a:ext uri="{FF2B5EF4-FFF2-40B4-BE49-F238E27FC236}">
                <a16:creationId xmlns:a16="http://schemas.microsoft.com/office/drawing/2014/main" id="{1829C731-7673-C64F-B4AB-270A3C69ECB4}"/>
              </a:ext>
            </a:extLst>
          </p:cNvPr>
          <p:cNvSpPr txBox="1">
            <a:spLocks noChangeArrowheads="1"/>
          </p:cNvSpPr>
          <p:nvPr/>
        </p:nvSpPr>
        <p:spPr bwMode="auto">
          <a:xfrm>
            <a:off x="8153400" y="4343401"/>
            <a:ext cx="1828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1085850" algn="l"/>
              </a:tabLst>
              <a:defRPr sz="2000" b="1">
                <a:solidFill>
                  <a:schemeClr val="tx1"/>
                </a:solidFill>
                <a:latin typeface="Arial" panose="020B0604020202020204" pitchFamily="34" charset="0"/>
              </a:defRPr>
            </a:lvl1pPr>
            <a:lvl2pPr marL="742950" indent="-285750">
              <a:tabLst>
                <a:tab pos="1085850" algn="l"/>
              </a:tabLst>
              <a:defRPr sz="2000" b="1">
                <a:solidFill>
                  <a:schemeClr val="tx1"/>
                </a:solidFill>
                <a:latin typeface="Arial" panose="020B0604020202020204" pitchFamily="34" charset="0"/>
              </a:defRPr>
            </a:lvl2pPr>
            <a:lvl3pPr marL="1143000" indent="-228600">
              <a:tabLst>
                <a:tab pos="1085850" algn="l"/>
              </a:tabLst>
              <a:defRPr sz="2000" b="1">
                <a:solidFill>
                  <a:schemeClr val="tx1"/>
                </a:solidFill>
                <a:latin typeface="Arial" panose="020B0604020202020204" pitchFamily="34" charset="0"/>
              </a:defRPr>
            </a:lvl3pPr>
            <a:lvl4pPr marL="1600200" indent="-228600">
              <a:tabLst>
                <a:tab pos="1085850" algn="l"/>
              </a:tabLst>
              <a:defRPr sz="2000" b="1">
                <a:solidFill>
                  <a:schemeClr val="tx1"/>
                </a:solidFill>
                <a:latin typeface="Arial" panose="020B0604020202020204" pitchFamily="34" charset="0"/>
              </a:defRPr>
            </a:lvl4pPr>
            <a:lvl5pPr marL="2057400" indent="-228600">
              <a:tabLst>
                <a:tab pos="1085850" algn="l"/>
              </a:tabLst>
              <a:defRPr sz="2000" b="1">
                <a:solidFill>
                  <a:schemeClr val="tx1"/>
                </a:solidFill>
                <a:latin typeface="Arial" panose="020B0604020202020204" pitchFamily="34" charset="0"/>
              </a:defRPr>
            </a:lvl5pPr>
            <a:lvl6pPr marL="25146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6pPr>
            <a:lvl7pPr marL="29718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7pPr>
            <a:lvl8pPr marL="34290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8pPr>
            <a:lvl9pPr marL="38862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9pPr>
          </a:lstStyle>
          <a:p>
            <a:pPr>
              <a:spcBef>
                <a:spcPct val="50000"/>
              </a:spcBef>
            </a:pPr>
            <a:r>
              <a:rPr lang="en-US" altLang="en-MX"/>
              <a:t>1000	10.0</a:t>
            </a:r>
          </a:p>
        </p:txBody>
      </p:sp>
      <p:sp>
        <p:nvSpPr>
          <p:cNvPr id="34855" name="Rectangle 44">
            <a:extLst>
              <a:ext uri="{FF2B5EF4-FFF2-40B4-BE49-F238E27FC236}">
                <a16:creationId xmlns:a16="http://schemas.microsoft.com/office/drawing/2014/main" id="{FFB74984-E8B8-814F-ADDC-F15C54FA8E69}"/>
              </a:ext>
            </a:extLst>
          </p:cNvPr>
          <p:cNvSpPr>
            <a:spLocks noChangeArrowheads="1"/>
          </p:cNvSpPr>
          <p:nvPr/>
        </p:nvSpPr>
        <p:spPr bwMode="auto">
          <a:xfrm>
            <a:off x="6324600" y="2819400"/>
            <a:ext cx="317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1800" b="0">
                <a:solidFill>
                  <a:srgbClr val="000000"/>
                </a:solidFill>
              </a:rPr>
              <a:t>1.0</a:t>
            </a:r>
          </a:p>
        </p:txBody>
      </p:sp>
      <p:sp>
        <p:nvSpPr>
          <p:cNvPr id="34856" name="Rectangle 46">
            <a:extLst>
              <a:ext uri="{FF2B5EF4-FFF2-40B4-BE49-F238E27FC236}">
                <a16:creationId xmlns:a16="http://schemas.microsoft.com/office/drawing/2014/main" id="{0F7EB51F-4D49-CE49-A290-51ADA93A9A9D}"/>
              </a:ext>
            </a:extLst>
          </p:cNvPr>
          <p:cNvSpPr>
            <a:spLocks noChangeArrowheads="1"/>
          </p:cNvSpPr>
          <p:nvPr/>
        </p:nvSpPr>
        <p:spPr bwMode="auto">
          <a:xfrm>
            <a:off x="6324600" y="4572000"/>
            <a:ext cx="317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1800" b="0">
                <a:solidFill>
                  <a:srgbClr val="000000"/>
                </a:solidFill>
              </a:rPr>
              <a:t>1.0</a:t>
            </a:r>
          </a:p>
        </p:txBody>
      </p:sp>
    </p:spTree>
    <p:extLst>
      <p:ext uri="{BB962C8B-B14F-4D97-AF65-F5344CB8AC3E}">
        <p14:creationId xmlns:p14="http://schemas.microsoft.com/office/powerpoint/2010/main" val="3614573020"/>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9298" name="Rectangle 2">
            <a:extLst>
              <a:ext uri="{FF2B5EF4-FFF2-40B4-BE49-F238E27FC236}">
                <a16:creationId xmlns:a16="http://schemas.microsoft.com/office/drawing/2014/main" id="{E69FA20E-5422-E247-AABA-2C73D51DBFC5}"/>
              </a:ext>
            </a:extLst>
          </p:cNvPr>
          <p:cNvSpPr>
            <a:spLocks noGrp="1" noChangeArrowheads="1"/>
          </p:cNvSpPr>
          <p:nvPr>
            <p:ph type="title"/>
          </p:nvPr>
        </p:nvSpPr>
        <p:spPr>
          <a:xfrm>
            <a:off x="785004" y="152400"/>
            <a:ext cx="10265434" cy="1143000"/>
          </a:xfrm>
        </p:spPr>
        <p:txBody>
          <a:bodyPr/>
          <a:lstStyle/>
          <a:p>
            <a:pPr>
              <a:defRPr/>
            </a:pPr>
            <a:r>
              <a:rPr lang="en-US" dirty="0"/>
              <a:t>Test 1/2 Strategy</a:t>
            </a:r>
          </a:p>
        </p:txBody>
      </p:sp>
      <p:sp>
        <p:nvSpPr>
          <p:cNvPr id="35843" name="Rectangle 3">
            <a:extLst>
              <a:ext uri="{FF2B5EF4-FFF2-40B4-BE49-F238E27FC236}">
                <a16:creationId xmlns:a16="http://schemas.microsoft.com/office/drawing/2014/main" id="{79D2ED1D-B517-FC4A-9F3E-DD2B88013F9F}"/>
              </a:ext>
            </a:extLst>
          </p:cNvPr>
          <p:cNvSpPr>
            <a:spLocks noGrp="1" noChangeArrowheads="1"/>
          </p:cNvSpPr>
          <p:nvPr>
            <p:ph type="body" idx="1"/>
          </p:nvPr>
        </p:nvSpPr>
        <p:spPr>
          <a:xfrm>
            <a:off x="1905000" y="5791200"/>
            <a:ext cx="8534400" cy="609600"/>
          </a:xfrm>
          <a:ln>
            <a:solidFill>
              <a:schemeClr val="tx1"/>
            </a:solidFill>
            <a:miter lim="800000"/>
            <a:headEnd/>
            <a:tailEnd/>
          </a:ln>
        </p:spPr>
        <p:txBody>
          <a:bodyPr/>
          <a:lstStyle/>
          <a:p>
            <a:pPr>
              <a:buFontTx/>
              <a:buNone/>
            </a:pPr>
            <a:r>
              <a:rPr lang="en-US" altLang="en-MX"/>
              <a:t>	</a:t>
            </a:r>
            <a:r>
              <a:rPr lang="en-US" altLang="en-MX" sz="2000"/>
              <a:t>Do Test 1, if positive, do Test 2 strategy; if negative, no treat</a:t>
            </a:r>
          </a:p>
        </p:txBody>
      </p:sp>
      <p:sp>
        <p:nvSpPr>
          <p:cNvPr id="35844" name="Freeform 5">
            <a:extLst>
              <a:ext uri="{FF2B5EF4-FFF2-40B4-BE49-F238E27FC236}">
                <a16:creationId xmlns:a16="http://schemas.microsoft.com/office/drawing/2014/main" id="{89D4A861-7D2F-5E4F-89F3-643A49A8A0CB}"/>
              </a:ext>
            </a:extLst>
          </p:cNvPr>
          <p:cNvSpPr>
            <a:spLocks/>
          </p:cNvSpPr>
          <p:nvPr/>
        </p:nvSpPr>
        <p:spPr bwMode="auto">
          <a:xfrm>
            <a:off x="7123113" y="4602164"/>
            <a:ext cx="203200" cy="212725"/>
          </a:xfrm>
          <a:custGeom>
            <a:avLst/>
            <a:gdLst>
              <a:gd name="T0" fmla="*/ 0 w 128"/>
              <a:gd name="T1" fmla="*/ 168851235 h 134"/>
              <a:gd name="T2" fmla="*/ 322579945 w 128"/>
              <a:gd name="T3" fmla="*/ 0 h 134"/>
              <a:gd name="T4" fmla="*/ 322579945 w 128"/>
              <a:gd name="T5" fmla="*/ 337700883 h 134"/>
              <a:gd name="T6" fmla="*/ 0 w 128"/>
              <a:gd name="T7" fmla="*/ 168851235 h 134"/>
              <a:gd name="T8" fmla="*/ 0 60000 65536"/>
              <a:gd name="T9" fmla="*/ 0 60000 65536"/>
              <a:gd name="T10" fmla="*/ 0 60000 65536"/>
              <a:gd name="T11" fmla="*/ 0 60000 65536"/>
              <a:gd name="T12" fmla="*/ 0 w 128"/>
              <a:gd name="T13" fmla="*/ 0 h 134"/>
              <a:gd name="T14" fmla="*/ 128 w 128"/>
              <a:gd name="T15" fmla="*/ 134 h 134"/>
            </a:gdLst>
            <a:ahLst/>
            <a:cxnLst>
              <a:cxn ang="T8">
                <a:pos x="T0" y="T1"/>
              </a:cxn>
              <a:cxn ang="T9">
                <a:pos x="T2" y="T3"/>
              </a:cxn>
              <a:cxn ang="T10">
                <a:pos x="T4" y="T5"/>
              </a:cxn>
              <a:cxn ang="T11">
                <a:pos x="T6" y="T7"/>
              </a:cxn>
            </a:cxnLst>
            <a:rect l="T12" t="T13" r="T14" b="T15"/>
            <a:pathLst>
              <a:path w="128" h="134">
                <a:moveTo>
                  <a:pt x="0" y="67"/>
                </a:moveTo>
                <a:lnTo>
                  <a:pt x="128" y="0"/>
                </a:lnTo>
                <a:lnTo>
                  <a:pt x="128" y="134"/>
                </a:lnTo>
                <a:lnTo>
                  <a:pt x="0" y="67"/>
                </a:lnTo>
                <a:close/>
              </a:path>
            </a:pathLst>
          </a:custGeom>
          <a:solidFill>
            <a:srgbClr val="FFFFFF"/>
          </a:solidFill>
          <a:ln w="25400">
            <a:solidFill>
              <a:srgbClr val="FF0000"/>
            </a:solidFill>
            <a:prstDash val="solid"/>
            <a:round/>
            <a:headEnd/>
            <a:tailEnd/>
          </a:ln>
        </p:spPr>
        <p:txBody>
          <a:bodyPr/>
          <a:lstStyle/>
          <a:p>
            <a:endParaRPr lang="en-MX"/>
          </a:p>
        </p:txBody>
      </p:sp>
      <p:sp>
        <p:nvSpPr>
          <p:cNvPr id="35845" name="Rectangle 6">
            <a:extLst>
              <a:ext uri="{FF2B5EF4-FFF2-40B4-BE49-F238E27FC236}">
                <a16:creationId xmlns:a16="http://schemas.microsoft.com/office/drawing/2014/main" id="{67989D58-916C-D242-A190-8AD47B4EBE2D}"/>
              </a:ext>
            </a:extLst>
          </p:cNvPr>
          <p:cNvSpPr>
            <a:spLocks noChangeArrowheads="1"/>
          </p:cNvSpPr>
          <p:nvPr/>
        </p:nvSpPr>
        <p:spPr bwMode="auto">
          <a:xfrm>
            <a:off x="5383214" y="4343400"/>
            <a:ext cx="139865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2400" b="0">
                <a:solidFill>
                  <a:srgbClr val="000000"/>
                </a:solidFill>
              </a:rPr>
              <a:t>Disease Y</a:t>
            </a:r>
            <a:endParaRPr lang="en-US" altLang="en-MX" sz="3600" b="0">
              <a:solidFill>
                <a:srgbClr val="000000"/>
              </a:solidFill>
            </a:endParaRPr>
          </a:p>
        </p:txBody>
      </p:sp>
      <p:sp>
        <p:nvSpPr>
          <p:cNvPr id="35846" name="Rectangle 7">
            <a:extLst>
              <a:ext uri="{FF2B5EF4-FFF2-40B4-BE49-F238E27FC236}">
                <a16:creationId xmlns:a16="http://schemas.microsoft.com/office/drawing/2014/main" id="{67F57200-E300-1D4F-AD76-116A3D5CBCE7}"/>
              </a:ext>
            </a:extLst>
          </p:cNvPr>
          <p:cNvSpPr>
            <a:spLocks noChangeArrowheads="1"/>
          </p:cNvSpPr>
          <p:nvPr/>
        </p:nvSpPr>
        <p:spPr bwMode="auto">
          <a:xfrm>
            <a:off x="5402263" y="5029200"/>
            <a:ext cx="18779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2400" b="0">
                <a:solidFill>
                  <a:srgbClr val="000000"/>
                </a:solidFill>
              </a:rPr>
              <a:t>No Disease Y</a:t>
            </a:r>
            <a:endParaRPr lang="en-US" altLang="en-MX" sz="3600" b="0">
              <a:solidFill>
                <a:srgbClr val="000000"/>
              </a:solidFill>
            </a:endParaRPr>
          </a:p>
        </p:txBody>
      </p:sp>
      <p:sp>
        <p:nvSpPr>
          <p:cNvPr id="35847" name="Freeform 8">
            <a:extLst>
              <a:ext uri="{FF2B5EF4-FFF2-40B4-BE49-F238E27FC236}">
                <a16:creationId xmlns:a16="http://schemas.microsoft.com/office/drawing/2014/main" id="{9735BEE9-C99A-A54C-A0C2-86C1586957D3}"/>
              </a:ext>
            </a:extLst>
          </p:cNvPr>
          <p:cNvSpPr>
            <a:spLocks/>
          </p:cNvSpPr>
          <p:nvPr/>
        </p:nvSpPr>
        <p:spPr bwMode="auto">
          <a:xfrm>
            <a:off x="5268913" y="4724400"/>
            <a:ext cx="228600" cy="304800"/>
          </a:xfrm>
          <a:custGeom>
            <a:avLst/>
            <a:gdLst>
              <a:gd name="T0" fmla="*/ 0 w 14"/>
              <a:gd name="T1" fmla="*/ 2147483647 h 18"/>
              <a:gd name="T2" fmla="*/ 0 w 14"/>
              <a:gd name="T3" fmla="*/ 0 h 18"/>
              <a:gd name="T4" fmla="*/ 2147483647 w 14"/>
              <a:gd name="T5" fmla="*/ 0 h 18"/>
              <a:gd name="T6" fmla="*/ 0 60000 65536"/>
              <a:gd name="T7" fmla="*/ 0 60000 65536"/>
              <a:gd name="T8" fmla="*/ 0 60000 65536"/>
              <a:gd name="T9" fmla="*/ 0 w 14"/>
              <a:gd name="T10" fmla="*/ 0 h 18"/>
              <a:gd name="T11" fmla="*/ 14 w 14"/>
              <a:gd name="T12" fmla="*/ 18 h 18"/>
            </a:gdLst>
            <a:ahLst/>
            <a:cxnLst>
              <a:cxn ang="T6">
                <a:pos x="T0" y="T1"/>
              </a:cxn>
              <a:cxn ang="T7">
                <a:pos x="T2" y="T3"/>
              </a:cxn>
              <a:cxn ang="T8">
                <a:pos x="T4" y="T5"/>
              </a:cxn>
            </a:cxnLst>
            <a:rect l="T9" t="T10" r="T11" b="T12"/>
            <a:pathLst>
              <a:path w="14" h="18">
                <a:moveTo>
                  <a:pt x="0" y="18"/>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35848" name="Freeform 9">
            <a:extLst>
              <a:ext uri="{FF2B5EF4-FFF2-40B4-BE49-F238E27FC236}">
                <a16:creationId xmlns:a16="http://schemas.microsoft.com/office/drawing/2014/main" id="{4F54B44B-7523-AA42-B41A-B0F2FC0D73AC}"/>
              </a:ext>
            </a:extLst>
          </p:cNvPr>
          <p:cNvSpPr>
            <a:spLocks/>
          </p:cNvSpPr>
          <p:nvPr/>
        </p:nvSpPr>
        <p:spPr bwMode="auto">
          <a:xfrm>
            <a:off x="5268913" y="5029200"/>
            <a:ext cx="228600" cy="381000"/>
          </a:xfrm>
          <a:custGeom>
            <a:avLst/>
            <a:gdLst>
              <a:gd name="T0" fmla="*/ 0 w 14"/>
              <a:gd name="T1" fmla="*/ 0 h 18"/>
              <a:gd name="T2" fmla="*/ 0 w 14"/>
              <a:gd name="T3" fmla="*/ 2147483647 h 18"/>
              <a:gd name="T4" fmla="*/ 2147483647 w 14"/>
              <a:gd name="T5" fmla="*/ 2147483647 h 18"/>
              <a:gd name="T6" fmla="*/ 0 60000 65536"/>
              <a:gd name="T7" fmla="*/ 0 60000 65536"/>
              <a:gd name="T8" fmla="*/ 0 60000 65536"/>
              <a:gd name="T9" fmla="*/ 0 w 14"/>
              <a:gd name="T10" fmla="*/ 0 h 18"/>
              <a:gd name="T11" fmla="*/ 14 w 14"/>
              <a:gd name="T12" fmla="*/ 18 h 18"/>
            </a:gdLst>
            <a:ahLst/>
            <a:cxnLst>
              <a:cxn ang="T6">
                <a:pos x="T0" y="T1"/>
              </a:cxn>
              <a:cxn ang="T7">
                <a:pos x="T2" y="T3"/>
              </a:cxn>
              <a:cxn ang="T8">
                <a:pos x="T4" y="T5"/>
              </a:cxn>
            </a:cxnLst>
            <a:rect l="T9" t="T10" r="T11" b="T12"/>
            <a:pathLst>
              <a:path w="14" h="18">
                <a:moveTo>
                  <a:pt x="0" y="0"/>
                </a:moveTo>
                <a:lnTo>
                  <a:pt x="0" y="18"/>
                </a:lnTo>
                <a:lnTo>
                  <a:pt x="14" y="18"/>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35849" name="Freeform 11">
            <a:extLst>
              <a:ext uri="{FF2B5EF4-FFF2-40B4-BE49-F238E27FC236}">
                <a16:creationId xmlns:a16="http://schemas.microsoft.com/office/drawing/2014/main" id="{8EE19CAD-349D-DA46-885A-7E0F682E3FAB}"/>
              </a:ext>
            </a:extLst>
          </p:cNvPr>
          <p:cNvSpPr>
            <a:spLocks/>
          </p:cNvSpPr>
          <p:nvPr/>
        </p:nvSpPr>
        <p:spPr bwMode="auto">
          <a:xfrm>
            <a:off x="2906713" y="2667000"/>
            <a:ext cx="209550" cy="554038"/>
          </a:xfrm>
          <a:custGeom>
            <a:avLst/>
            <a:gdLst>
              <a:gd name="T0" fmla="*/ 0 w 14"/>
              <a:gd name="T1" fmla="*/ 2147483647 h 26"/>
              <a:gd name="T2" fmla="*/ 0 w 14"/>
              <a:gd name="T3" fmla="*/ 0 h 26"/>
              <a:gd name="T4" fmla="*/ 2147483647 w 14"/>
              <a:gd name="T5" fmla="*/ 0 h 26"/>
              <a:gd name="T6" fmla="*/ 0 60000 65536"/>
              <a:gd name="T7" fmla="*/ 0 60000 65536"/>
              <a:gd name="T8" fmla="*/ 0 60000 65536"/>
              <a:gd name="T9" fmla="*/ 0 w 14"/>
              <a:gd name="T10" fmla="*/ 0 h 26"/>
              <a:gd name="T11" fmla="*/ 14 w 14"/>
              <a:gd name="T12" fmla="*/ 26 h 26"/>
            </a:gdLst>
            <a:ahLst/>
            <a:cxnLst>
              <a:cxn ang="T6">
                <a:pos x="T0" y="T1"/>
              </a:cxn>
              <a:cxn ang="T7">
                <a:pos x="T2" y="T3"/>
              </a:cxn>
              <a:cxn ang="T8">
                <a:pos x="T4" y="T5"/>
              </a:cxn>
            </a:cxnLst>
            <a:rect l="T9" t="T10" r="T11" b="T12"/>
            <a:pathLst>
              <a:path w="14" h="26">
                <a:moveTo>
                  <a:pt x="0" y="26"/>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35850" name="Freeform 12">
            <a:extLst>
              <a:ext uri="{FF2B5EF4-FFF2-40B4-BE49-F238E27FC236}">
                <a16:creationId xmlns:a16="http://schemas.microsoft.com/office/drawing/2014/main" id="{327EB53C-E8A7-D74F-B51D-91C6103EAB32}"/>
              </a:ext>
            </a:extLst>
          </p:cNvPr>
          <p:cNvSpPr>
            <a:spLocks/>
          </p:cNvSpPr>
          <p:nvPr/>
        </p:nvSpPr>
        <p:spPr bwMode="auto">
          <a:xfrm>
            <a:off x="2906713" y="3221038"/>
            <a:ext cx="133350" cy="1808162"/>
          </a:xfrm>
          <a:custGeom>
            <a:avLst/>
            <a:gdLst>
              <a:gd name="T0" fmla="*/ 0 w 14"/>
              <a:gd name="T1" fmla="*/ 0 h 27"/>
              <a:gd name="T2" fmla="*/ 0 w 14"/>
              <a:gd name="T3" fmla="*/ 2147483647 h 27"/>
              <a:gd name="T4" fmla="*/ 1270158999 w 14"/>
              <a:gd name="T5" fmla="*/ 2147483647 h 27"/>
              <a:gd name="T6" fmla="*/ 0 60000 65536"/>
              <a:gd name="T7" fmla="*/ 0 60000 65536"/>
              <a:gd name="T8" fmla="*/ 0 60000 65536"/>
              <a:gd name="T9" fmla="*/ 0 w 14"/>
              <a:gd name="T10" fmla="*/ 0 h 27"/>
              <a:gd name="T11" fmla="*/ 14 w 14"/>
              <a:gd name="T12" fmla="*/ 27 h 27"/>
            </a:gdLst>
            <a:ahLst/>
            <a:cxnLst>
              <a:cxn ang="T6">
                <a:pos x="T0" y="T1"/>
              </a:cxn>
              <a:cxn ang="T7">
                <a:pos x="T2" y="T3"/>
              </a:cxn>
              <a:cxn ang="T8">
                <a:pos x="T4" y="T5"/>
              </a:cxn>
            </a:cxnLst>
            <a:rect l="T9" t="T10" r="T11" b="T12"/>
            <a:pathLst>
              <a:path w="14" h="27">
                <a:moveTo>
                  <a:pt x="0" y="0"/>
                </a:moveTo>
                <a:lnTo>
                  <a:pt x="0" y="27"/>
                </a:lnTo>
                <a:lnTo>
                  <a:pt x="14" y="27"/>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35851" name="Oval 13">
            <a:extLst>
              <a:ext uri="{FF2B5EF4-FFF2-40B4-BE49-F238E27FC236}">
                <a16:creationId xmlns:a16="http://schemas.microsoft.com/office/drawing/2014/main" id="{2A11721B-A7DD-414C-B468-501AA1AE881F}"/>
              </a:ext>
            </a:extLst>
          </p:cNvPr>
          <p:cNvSpPr>
            <a:spLocks noChangeArrowheads="1"/>
          </p:cNvSpPr>
          <p:nvPr/>
        </p:nvSpPr>
        <p:spPr bwMode="auto">
          <a:xfrm>
            <a:off x="2744788" y="3571876"/>
            <a:ext cx="203200" cy="212725"/>
          </a:xfrm>
          <a:prstGeom prst="ellipse">
            <a:avLst/>
          </a:prstGeom>
          <a:solidFill>
            <a:schemeClr val="bg1"/>
          </a:solidFill>
          <a:ln w="25400">
            <a:solidFill>
              <a:srgbClr val="008000"/>
            </a:solidFill>
            <a:round/>
            <a:headEnd/>
            <a:tailEnd/>
          </a:ln>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35852" name="Rectangle 14">
            <a:extLst>
              <a:ext uri="{FF2B5EF4-FFF2-40B4-BE49-F238E27FC236}">
                <a16:creationId xmlns:a16="http://schemas.microsoft.com/office/drawing/2014/main" id="{13AC46F2-9E2B-784C-BA5D-223751F3F1F2}"/>
              </a:ext>
            </a:extLst>
          </p:cNvPr>
          <p:cNvSpPr>
            <a:spLocks noChangeArrowheads="1"/>
          </p:cNvSpPr>
          <p:nvPr/>
        </p:nvSpPr>
        <p:spPr bwMode="auto">
          <a:xfrm>
            <a:off x="1905001" y="3505200"/>
            <a:ext cx="82028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2400" b="0">
                <a:solidFill>
                  <a:srgbClr val="000000"/>
                </a:solidFill>
              </a:rPr>
              <a:t>Test 1</a:t>
            </a:r>
            <a:endParaRPr lang="en-US" altLang="en-MX" sz="3600" b="0">
              <a:solidFill>
                <a:srgbClr val="000000"/>
              </a:solidFill>
            </a:endParaRPr>
          </a:p>
        </p:txBody>
      </p:sp>
      <p:sp>
        <p:nvSpPr>
          <p:cNvPr id="35853" name="Line 15">
            <a:extLst>
              <a:ext uri="{FF2B5EF4-FFF2-40B4-BE49-F238E27FC236}">
                <a16:creationId xmlns:a16="http://schemas.microsoft.com/office/drawing/2014/main" id="{D13B0B0A-7E0B-0442-8407-0009017B742F}"/>
              </a:ext>
            </a:extLst>
          </p:cNvPr>
          <p:cNvSpPr>
            <a:spLocks noChangeShapeType="1"/>
          </p:cNvSpPr>
          <p:nvPr/>
        </p:nvSpPr>
        <p:spPr bwMode="auto">
          <a:xfrm>
            <a:off x="3040063" y="5029200"/>
            <a:ext cx="2133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5854" name="Freeform 16">
            <a:extLst>
              <a:ext uri="{FF2B5EF4-FFF2-40B4-BE49-F238E27FC236}">
                <a16:creationId xmlns:a16="http://schemas.microsoft.com/office/drawing/2014/main" id="{E509FD0D-B1B0-4246-9262-469A0B33D1EB}"/>
              </a:ext>
            </a:extLst>
          </p:cNvPr>
          <p:cNvSpPr>
            <a:spLocks/>
          </p:cNvSpPr>
          <p:nvPr/>
        </p:nvSpPr>
        <p:spPr bwMode="auto">
          <a:xfrm>
            <a:off x="7696200" y="2209801"/>
            <a:ext cx="203200" cy="212725"/>
          </a:xfrm>
          <a:custGeom>
            <a:avLst/>
            <a:gdLst>
              <a:gd name="T0" fmla="*/ 0 w 128"/>
              <a:gd name="T1" fmla="*/ 168851235 h 134"/>
              <a:gd name="T2" fmla="*/ 322579945 w 128"/>
              <a:gd name="T3" fmla="*/ 0 h 134"/>
              <a:gd name="T4" fmla="*/ 322579945 w 128"/>
              <a:gd name="T5" fmla="*/ 337700883 h 134"/>
              <a:gd name="T6" fmla="*/ 0 w 128"/>
              <a:gd name="T7" fmla="*/ 168851235 h 134"/>
              <a:gd name="T8" fmla="*/ 0 60000 65536"/>
              <a:gd name="T9" fmla="*/ 0 60000 65536"/>
              <a:gd name="T10" fmla="*/ 0 60000 65536"/>
              <a:gd name="T11" fmla="*/ 0 60000 65536"/>
              <a:gd name="T12" fmla="*/ 0 w 128"/>
              <a:gd name="T13" fmla="*/ 0 h 134"/>
              <a:gd name="T14" fmla="*/ 128 w 128"/>
              <a:gd name="T15" fmla="*/ 134 h 134"/>
            </a:gdLst>
            <a:ahLst/>
            <a:cxnLst>
              <a:cxn ang="T8">
                <a:pos x="T0" y="T1"/>
              </a:cxn>
              <a:cxn ang="T9">
                <a:pos x="T2" y="T3"/>
              </a:cxn>
              <a:cxn ang="T10">
                <a:pos x="T4" y="T5"/>
              </a:cxn>
              <a:cxn ang="T11">
                <a:pos x="T6" y="T7"/>
              </a:cxn>
            </a:cxnLst>
            <a:rect l="T12" t="T13" r="T14" b="T15"/>
            <a:pathLst>
              <a:path w="128" h="134">
                <a:moveTo>
                  <a:pt x="0" y="67"/>
                </a:moveTo>
                <a:lnTo>
                  <a:pt x="128" y="0"/>
                </a:lnTo>
                <a:lnTo>
                  <a:pt x="128" y="134"/>
                </a:lnTo>
                <a:lnTo>
                  <a:pt x="0" y="67"/>
                </a:lnTo>
                <a:close/>
              </a:path>
            </a:pathLst>
          </a:custGeom>
          <a:solidFill>
            <a:srgbClr val="FFFFFF"/>
          </a:solidFill>
          <a:ln w="25400">
            <a:solidFill>
              <a:srgbClr val="FF0000"/>
            </a:solidFill>
            <a:prstDash val="solid"/>
            <a:round/>
            <a:headEnd/>
            <a:tailEnd/>
          </a:ln>
        </p:spPr>
        <p:txBody>
          <a:bodyPr/>
          <a:lstStyle/>
          <a:p>
            <a:endParaRPr lang="en-MX"/>
          </a:p>
        </p:txBody>
      </p:sp>
      <p:sp>
        <p:nvSpPr>
          <p:cNvPr id="35855" name="Rectangle 17">
            <a:extLst>
              <a:ext uri="{FF2B5EF4-FFF2-40B4-BE49-F238E27FC236}">
                <a16:creationId xmlns:a16="http://schemas.microsoft.com/office/drawing/2014/main" id="{680E3946-6467-724D-BBE2-3E3C5C86EF1A}"/>
              </a:ext>
            </a:extLst>
          </p:cNvPr>
          <p:cNvSpPr>
            <a:spLocks noChangeArrowheads="1"/>
          </p:cNvSpPr>
          <p:nvPr/>
        </p:nvSpPr>
        <p:spPr bwMode="auto">
          <a:xfrm>
            <a:off x="4648201" y="1905000"/>
            <a:ext cx="29892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2400" b="0">
                <a:solidFill>
                  <a:srgbClr val="000000"/>
                </a:solidFill>
              </a:rPr>
              <a:t>Test 2+/Treat/Dis.Y+</a:t>
            </a:r>
            <a:endParaRPr lang="en-US" altLang="en-MX" sz="3600" b="0">
              <a:solidFill>
                <a:srgbClr val="000000"/>
              </a:solidFill>
            </a:endParaRPr>
          </a:p>
        </p:txBody>
      </p:sp>
      <p:sp>
        <p:nvSpPr>
          <p:cNvPr id="35856" name="Freeform 18">
            <a:extLst>
              <a:ext uri="{FF2B5EF4-FFF2-40B4-BE49-F238E27FC236}">
                <a16:creationId xmlns:a16="http://schemas.microsoft.com/office/drawing/2014/main" id="{FD88C8CA-D97F-FB4E-9A3A-5C6B648E479A}"/>
              </a:ext>
            </a:extLst>
          </p:cNvPr>
          <p:cNvSpPr>
            <a:spLocks/>
          </p:cNvSpPr>
          <p:nvPr/>
        </p:nvSpPr>
        <p:spPr bwMode="auto">
          <a:xfrm>
            <a:off x="7772400" y="3124201"/>
            <a:ext cx="203200" cy="212725"/>
          </a:xfrm>
          <a:custGeom>
            <a:avLst/>
            <a:gdLst>
              <a:gd name="T0" fmla="*/ 0 w 128"/>
              <a:gd name="T1" fmla="*/ 168851235 h 134"/>
              <a:gd name="T2" fmla="*/ 322579945 w 128"/>
              <a:gd name="T3" fmla="*/ 0 h 134"/>
              <a:gd name="T4" fmla="*/ 322579945 w 128"/>
              <a:gd name="T5" fmla="*/ 337700883 h 134"/>
              <a:gd name="T6" fmla="*/ 0 w 128"/>
              <a:gd name="T7" fmla="*/ 168851235 h 134"/>
              <a:gd name="T8" fmla="*/ 0 60000 65536"/>
              <a:gd name="T9" fmla="*/ 0 60000 65536"/>
              <a:gd name="T10" fmla="*/ 0 60000 65536"/>
              <a:gd name="T11" fmla="*/ 0 60000 65536"/>
              <a:gd name="T12" fmla="*/ 0 w 128"/>
              <a:gd name="T13" fmla="*/ 0 h 134"/>
              <a:gd name="T14" fmla="*/ 128 w 128"/>
              <a:gd name="T15" fmla="*/ 134 h 134"/>
            </a:gdLst>
            <a:ahLst/>
            <a:cxnLst>
              <a:cxn ang="T8">
                <a:pos x="T0" y="T1"/>
              </a:cxn>
              <a:cxn ang="T9">
                <a:pos x="T2" y="T3"/>
              </a:cxn>
              <a:cxn ang="T10">
                <a:pos x="T4" y="T5"/>
              </a:cxn>
              <a:cxn ang="T11">
                <a:pos x="T6" y="T7"/>
              </a:cxn>
            </a:cxnLst>
            <a:rect l="T12" t="T13" r="T14" b="T15"/>
            <a:pathLst>
              <a:path w="128" h="134">
                <a:moveTo>
                  <a:pt x="0" y="67"/>
                </a:moveTo>
                <a:lnTo>
                  <a:pt x="128" y="0"/>
                </a:lnTo>
                <a:lnTo>
                  <a:pt x="128" y="134"/>
                </a:lnTo>
                <a:lnTo>
                  <a:pt x="0" y="67"/>
                </a:lnTo>
                <a:close/>
              </a:path>
            </a:pathLst>
          </a:custGeom>
          <a:solidFill>
            <a:srgbClr val="FFFFFF"/>
          </a:solidFill>
          <a:ln w="25400">
            <a:solidFill>
              <a:srgbClr val="FF0000"/>
            </a:solidFill>
            <a:prstDash val="solid"/>
            <a:round/>
            <a:headEnd/>
            <a:tailEnd/>
          </a:ln>
        </p:spPr>
        <p:txBody>
          <a:bodyPr/>
          <a:lstStyle/>
          <a:p>
            <a:endParaRPr lang="en-MX"/>
          </a:p>
        </p:txBody>
      </p:sp>
      <p:sp>
        <p:nvSpPr>
          <p:cNvPr id="35857" name="Rectangle 19">
            <a:extLst>
              <a:ext uri="{FF2B5EF4-FFF2-40B4-BE49-F238E27FC236}">
                <a16:creationId xmlns:a16="http://schemas.microsoft.com/office/drawing/2014/main" id="{9B249544-4F5B-E142-9DF8-7E64CDB73E2B}"/>
              </a:ext>
            </a:extLst>
          </p:cNvPr>
          <p:cNvSpPr>
            <a:spLocks noChangeArrowheads="1"/>
          </p:cNvSpPr>
          <p:nvPr/>
        </p:nvSpPr>
        <p:spPr bwMode="auto">
          <a:xfrm>
            <a:off x="4648200" y="2895600"/>
            <a:ext cx="3276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2400" b="0">
                <a:solidFill>
                  <a:srgbClr val="000000"/>
                </a:solidFill>
              </a:rPr>
              <a:t>Test 2-/No Treat/Dis.Y-</a:t>
            </a:r>
            <a:endParaRPr lang="en-US" altLang="en-MX" sz="3600" b="0">
              <a:solidFill>
                <a:srgbClr val="000000"/>
              </a:solidFill>
            </a:endParaRPr>
          </a:p>
        </p:txBody>
      </p:sp>
      <p:sp>
        <p:nvSpPr>
          <p:cNvPr id="35858" name="Freeform 20">
            <a:extLst>
              <a:ext uri="{FF2B5EF4-FFF2-40B4-BE49-F238E27FC236}">
                <a16:creationId xmlns:a16="http://schemas.microsoft.com/office/drawing/2014/main" id="{EA921FA4-D6A8-564B-B3D2-B0ED420F850F}"/>
              </a:ext>
            </a:extLst>
          </p:cNvPr>
          <p:cNvSpPr>
            <a:spLocks/>
          </p:cNvSpPr>
          <p:nvPr/>
        </p:nvSpPr>
        <p:spPr bwMode="auto">
          <a:xfrm>
            <a:off x="4652963" y="2286000"/>
            <a:ext cx="304800" cy="304800"/>
          </a:xfrm>
          <a:custGeom>
            <a:avLst/>
            <a:gdLst>
              <a:gd name="T0" fmla="*/ 0 w 14"/>
              <a:gd name="T1" fmla="*/ 2147483647 h 18"/>
              <a:gd name="T2" fmla="*/ 0 w 14"/>
              <a:gd name="T3" fmla="*/ 0 h 18"/>
              <a:gd name="T4" fmla="*/ 2147483647 w 14"/>
              <a:gd name="T5" fmla="*/ 0 h 18"/>
              <a:gd name="T6" fmla="*/ 0 60000 65536"/>
              <a:gd name="T7" fmla="*/ 0 60000 65536"/>
              <a:gd name="T8" fmla="*/ 0 60000 65536"/>
              <a:gd name="T9" fmla="*/ 0 w 14"/>
              <a:gd name="T10" fmla="*/ 0 h 18"/>
              <a:gd name="T11" fmla="*/ 14 w 14"/>
              <a:gd name="T12" fmla="*/ 18 h 18"/>
            </a:gdLst>
            <a:ahLst/>
            <a:cxnLst>
              <a:cxn ang="T6">
                <a:pos x="T0" y="T1"/>
              </a:cxn>
              <a:cxn ang="T7">
                <a:pos x="T2" y="T3"/>
              </a:cxn>
              <a:cxn ang="T8">
                <a:pos x="T4" y="T5"/>
              </a:cxn>
            </a:cxnLst>
            <a:rect l="T9" t="T10" r="T11" b="T12"/>
            <a:pathLst>
              <a:path w="14" h="18">
                <a:moveTo>
                  <a:pt x="0" y="18"/>
                </a:moveTo>
                <a:lnTo>
                  <a:pt x="0" y="0"/>
                </a:lnTo>
                <a:lnTo>
                  <a:pt x="1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35859" name="Freeform 21">
            <a:extLst>
              <a:ext uri="{FF2B5EF4-FFF2-40B4-BE49-F238E27FC236}">
                <a16:creationId xmlns:a16="http://schemas.microsoft.com/office/drawing/2014/main" id="{919FE836-A054-7F46-988F-3CB080D6A48B}"/>
              </a:ext>
            </a:extLst>
          </p:cNvPr>
          <p:cNvSpPr>
            <a:spLocks/>
          </p:cNvSpPr>
          <p:nvPr/>
        </p:nvSpPr>
        <p:spPr bwMode="auto">
          <a:xfrm>
            <a:off x="4630739" y="2590800"/>
            <a:ext cx="327025" cy="685800"/>
          </a:xfrm>
          <a:custGeom>
            <a:avLst/>
            <a:gdLst>
              <a:gd name="T0" fmla="*/ 0 w 14"/>
              <a:gd name="T1" fmla="*/ 0 h 18"/>
              <a:gd name="T2" fmla="*/ 0 w 14"/>
              <a:gd name="T3" fmla="*/ 2147483647 h 18"/>
              <a:gd name="T4" fmla="*/ 2147483647 w 14"/>
              <a:gd name="T5" fmla="*/ 2147483647 h 18"/>
              <a:gd name="T6" fmla="*/ 0 60000 65536"/>
              <a:gd name="T7" fmla="*/ 0 60000 65536"/>
              <a:gd name="T8" fmla="*/ 0 60000 65536"/>
              <a:gd name="T9" fmla="*/ 0 w 14"/>
              <a:gd name="T10" fmla="*/ 0 h 18"/>
              <a:gd name="T11" fmla="*/ 14 w 14"/>
              <a:gd name="T12" fmla="*/ 18 h 18"/>
            </a:gdLst>
            <a:ahLst/>
            <a:cxnLst>
              <a:cxn ang="T6">
                <a:pos x="T0" y="T1"/>
              </a:cxn>
              <a:cxn ang="T7">
                <a:pos x="T2" y="T3"/>
              </a:cxn>
              <a:cxn ang="T8">
                <a:pos x="T4" y="T5"/>
              </a:cxn>
            </a:cxnLst>
            <a:rect l="T9" t="T10" r="T11" b="T12"/>
            <a:pathLst>
              <a:path w="14" h="18">
                <a:moveTo>
                  <a:pt x="0" y="0"/>
                </a:moveTo>
                <a:lnTo>
                  <a:pt x="0" y="18"/>
                </a:lnTo>
                <a:lnTo>
                  <a:pt x="14" y="18"/>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X"/>
          </a:p>
        </p:txBody>
      </p:sp>
      <p:sp>
        <p:nvSpPr>
          <p:cNvPr id="35860" name="Oval 22">
            <a:extLst>
              <a:ext uri="{FF2B5EF4-FFF2-40B4-BE49-F238E27FC236}">
                <a16:creationId xmlns:a16="http://schemas.microsoft.com/office/drawing/2014/main" id="{B6CD3BD3-D1A7-0E4C-9561-7640E3D54ECE}"/>
              </a:ext>
            </a:extLst>
          </p:cNvPr>
          <p:cNvSpPr>
            <a:spLocks noChangeArrowheads="1"/>
          </p:cNvSpPr>
          <p:nvPr/>
        </p:nvSpPr>
        <p:spPr bwMode="auto">
          <a:xfrm>
            <a:off x="4576763" y="2514601"/>
            <a:ext cx="203200" cy="212725"/>
          </a:xfrm>
          <a:prstGeom prst="ellipse">
            <a:avLst/>
          </a:prstGeom>
          <a:solidFill>
            <a:schemeClr val="bg1"/>
          </a:solidFill>
          <a:ln w="25400">
            <a:solidFill>
              <a:srgbClr val="008000"/>
            </a:solidFill>
            <a:round/>
            <a:headEnd/>
            <a:tailEnd/>
          </a:ln>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35861" name="Line 23">
            <a:extLst>
              <a:ext uri="{FF2B5EF4-FFF2-40B4-BE49-F238E27FC236}">
                <a16:creationId xmlns:a16="http://schemas.microsoft.com/office/drawing/2014/main" id="{1EB9F1FA-F8BF-3A4E-9A44-219DE290FCFD}"/>
              </a:ext>
            </a:extLst>
          </p:cNvPr>
          <p:cNvSpPr>
            <a:spLocks noChangeShapeType="1"/>
          </p:cNvSpPr>
          <p:nvPr/>
        </p:nvSpPr>
        <p:spPr bwMode="auto">
          <a:xfrm>
            <a:off x="3059114" y="2667000"/>
            <a:ext cx="151288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5862" name="Line 24">
            <a:extLst>
              <a:ext uri="{FF2B5EF4-FFF2-40B4-BE49-F238E27FC236}">
                <a16:creationId xmlns:a16="http://schemas.microsoft.com/office/drawing/2014/main" id="{A3E42F17-5C2F-4446-BF06-6015CCACB82B}"/>
              </a:ext>
            </a:extLst>
          </p:cNvPr>
          <p:cNvSpPr>
            <a:spLocks noChangeShapeType="1"/>
          </p:cNvSpPr>
          <p:nvPr/>
        </p:nvSpPr>
        <p:spPr bwMode="auto">
          <a:xfrm>
            <a:off x="4881564" y="2286000"/>
            <a:ext cx="28146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5863" name="Line 25">
            <a:extLst>
              <a:ext uri="{FF2B5EF4-FFF2-40B4-BE49-F238E27FC236}">
                <a16:creationId xmlns:a16="http://schemas.microsoft.com/office/drawing/2014/main" id="{0DD0EC65-6FDB-224E-9011-786EB0F1799C}"/>
              </a:ext>
            </a:extLst>
          </p:cNvPr>
          <p:cNvSpPr>
            <a:spLocks noChangeShapeType="1"/>
          </p:cNvSpPr>
          <p:nvPr/>
        </p:nvSpPr>
        <p:spPr bwMode="auto">
          <a:xfrm>
            <a:off x="4935538" y="3276600"/>
            <a:ext cx="28368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5864" name="Line 26">
            <a:extLst>
              <a:ext uri="{FF2B5EF4-FFF2-40B4-BE49-F238E27FC236}">
                <a16:creationId xmlns:a16="http://schemas.microsoft.com/office/drawing/2014/main" id="{C68047BE-3DFB-6646-92AE-7CF76B5B50EA}"/>
              </a:ext>
            </a:extLst>
          </p:cNvPr>
          <p:cNvSpPr>
            <a:spLocks noChangeShapeType="1"/>
          </p:cNvSpPr>
          <p:nvPr/>
        </p:nvSpPr>
        <p:spPr bwMode="auto">
          <a:xfrm>
            <a:off x="5497513" y="4724400"/>
            <a:ext cx="1676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5865" name="Line 27">
            <a:extLst>
              <a:ext uri="{FF2B5EF4-FFF2-40B4-BE49-F238E27FC236}">
                <a16:creationId xmlns:a16="http://schemas.microsoft.com/office/drawing/2014/main" id="{607A12BB-503D-204D-8EF8-6E633054561B}"/>
              </a:ext>
            </a:extLst>
          </p:cNvPr>
          <p:cNvSpPr>
            <a:spLocks noChangeShapeType="1"/>
          </p:cNvSpPr>
          <p:nvPr/>
        </p:nvSpPr>
        <p:spPr bwMode="auto">
          <a:xfrm>
            <a:off x="5554663" y="5410200"/>
            <a:ext cx="1676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MX"/>
          </a:p>
        </p:txBody>
      </p:sp>
      <p:sp>
        <p:nvSpPr>
          <p:cNvPr id="35866" name="Freeform 28">
            <a:extLst>
              <a:ext uri="{FF2B5EF4-FFF2-40B4-BE49-F238E27FC236}">
                <a16:creationId xmlns:a16="http://schemas.microsoft.com/office/drawing/2014/main" id="{92976A2E-66C9-B440-B3CD-851C10D7688D}"/>
              </a:ext>
            </a:extLst>
          </p:cNvPr>
          <p:cNvSpPr>
            <a:spLocks/>
          </p:cNvSpPr>
          <p:nvPr/>
        </p:nvSpPr>
        <p:spPr bwMode="auto">
          <a:xfrm>
            <a:off x="7154863" y="5257801"/>
            <a:ext cx="203200" cy="212725"/>
          </a:xfrm>
          <a:custGeom>
            <a:avLst/>
            <a:gdLst>
              <a:gd name="T0" fmla="*/ 0 w 128"/>
              <a:gd name="T1" fmla="*/ 168851235 h 134"/>
              <a:gd name="T2" fmla="*/ 322579945 w 128"/>
              <a:gd name="T3" fmla="*/ 0 h 134"/>
              <a:gd name="T4" fmla="*/ 322579945 w 128"/>
              <a:gd name="T5" fmla="*/ 337700883 h 134"/>
              <a:gd name="T6" fmla="*/ 0 w 128"/>
              <a:gd name="T7" fmla="*/ 168851235 h 134"/>
              <a:gd name="T8" fmla="*/ 0 60000 65536"/>
              <a:gd name="T9" fmla="*/ 0 60000 65536"/>
              <a:gd name="T10" fmla="*/ 0 60000 65536"/>
              <a:gd name="T11" fmla="*/ 0 60000 65536"/>
              <a:gd name="T12" fmla="*/ 0 w 128"/>
              <a:gd name="T13" fmla="*/ 0 h 134"/>
              <a:gd name="T14" fmla="*/ 128 w 128"/>
              <a:gd name="T15" fmla="*/ 134 h 134"/>
            </a:gdLst>
            <a:ahLst/>
            <a:cxnLst>
              <a:cxn ang="T8">
                <a:pos x="T0" y="T1"/>
              </a:cxn>
              <a:cxn ang="T9">
                <a:pos x="T2" y="T3"/>
              </a:cxn>
              <a:cxn ang="T10">
                <a:pos x="T4" y="T5"/>
              </a:cxn>
              <a:cxn ang="T11">
                <a:pos x="T6" y="T7"/>
              </a:cxn>
            </a:cxnLst>
            <a:rect l="T12" t="T13" r="T14" b="T15"/>
            <a:pathLst>
              <a:path w="128" h="134">
                <a:moveTo>
                  <a:pt x="0" y="67"/>
                </a:moveTo>
                <a:lnTo>
                  <a:pt x="128" y="0"/>
                </a:lnTo>
                <a:lnTo>
                  <a:pt x="128" y="134"/>
                </a:lnTo>
                <a:lnTo>
                  <a:pt x="0" y="67"/>
                </a:lnTo>
                <a:close/>
              </a:path>
            </a:pathLst>
          </a:custGeom>
          <a:solidFill>
            <a:srgbClr val="FFFFFF"/>
          </a:solidFill>
          <a:ln w="25400">
            <a:solidFill>
              <a:srgbClr val="FF0000"/>
            </a:solidFill>
            <a:prstDash val="solid"/>
            <a:round/>
            <a:headEnd/>
            <a:tailEnd/>
          </a:ln>
        </p:spPr>
        <p:txBody>
          <a:bodyPr/>
          <a:lstStyle/>
          <a:p>
            <a:endParaRPr lang="en-MX"/>
          </a:p>
        </p:txBody>
      </p:sp>
      <p:sp>
        <p:nvSpPr>
          <p:cNvPr id="35867" name="Rectangle 29">
            <a:extLst>
              <a:ext uri="{FF2B5EF4-FFF2-40B4-BE49-F238E27FC236}">
                <a16:creationId xmlns:a16="http://schemas.microsoft.com/office/drawing/2014/main" id="{E9202AAB-9055-9A49-8CFC-2F6A460759EB}"/>
              </a:ext>
            </a:extLst>
          </p:cNvPr>
          <p:cNvSpPr>
            <a:spLocks noChangeArrowheads="1"/>
          </p:cNvSpPr>
          <p:nvPr/>
        </p:nvSpPr>
        <p:spPr bwMode="auto">
          <a:xfrm>
            <a:off x="2895601" y="1843089"/>
            <a:ext cx="14786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2400" b="0">
                <a:solidFill>
                  <a:srgbClr val="000000"/>
                </a:solidFill>
              </a:rPr>
              <a:t>Test 1+</a:t>
            </a:r>
          </a:p>
          <a:p>
            <a:r>
              <a:rPr lang="en-US" altLang="en-MX" sz="2400" b="0">
                <a:solidFill>
                  <a:srgbClr val="000000"/>
                </a:solidFill>
              </a:rPr>
              <a:t>Do Test 2</a:t>
            </a:r>
          </a:p>
        </p:txBody>
      </p:sp>
      <p:sp>
        <p:nvSpPr>
          <p:cNvPr id="35868" name="Rectangle 30">
            <a:extLst>
              <a:ext uri="{FF2B5EF4-FFF2-40B4-BE49-F238E27FC236}">
                <a16:creationId xmlns:a16="http://schemas.microsoft.com/office/drawing/2014/main" id="{87044234-1944-5C48-9018-DCA4487665C6}"/>
              </a:ext>
            </a:extLst>
          </p:cNvPr>
          <p:cNvSpPr>
            <a:spLocks noChangeArrowheads="1"/>
          </p:cNvSpPr>
          <p:nvPr/>
        </p:nvSpPr>
        <p:spPr bwMode="auto">
          <a:xfrm>
            <a:off x="2971801" y="4205289"/>
            <a:ext cx="136511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2400" b="0">
                <a:solidFill>
                  <a:srgbClr val="000000"/>
                </a:solidFill>
              </a:rPr>
              <a:t>Test 1-</a:t>
            </a:r>
          </a:p>
          <a:p>
            <a:r>
              <a:rPr lang="en-US" altLang="en-MX" sz="2400" b="0">
                <a:solidFill>
                  <a:srgbClr val="000000"/>
                </a:solidFill>
              </a:rPr>
              <a:t>No Treat</a:t>
            </a:r>
          </a:p>
        </p:txBody>
      </p:sp>
      <p:sp>
        <p:nvSpPr>
          <p:cNvPr id="35869" name="Text Box 32">
            <a:extLst>
              <a:ext uri="{FF2B5EF4-FFF2-40B4-BE49-F238E27FC236}">
                <a16:creationId xmlns:a16="http://schemas.microsoft.com/office/drawing/2014/main" id="{F3A1DE46-C5CD-D944-A8F3-6F787B1B8952}"/>
              </a:ext>
            </a:extLst>
          </p:cNvPr>
          <p:cNvSpPr txBox="1">
            <a:spLocks noChangeArrowheads="1"/>
          </p:cNvSpPr>
          <p:nvPr/>
        </p:nvSpPr>
        <p:spPr bwMode="auto">
          <a:xfrm>
            <a:off x="8001000" y="1600200"/>
            <a:ext cx="228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2400" b="0" u="sng"/>
              <a:t>Costs 	 QALYs</a:t>
            </a:r>
          </a:p>
        </p:txBody>
      </p:sp>
      <p:sp>
        <p:nvSpPr>
          <p:cNvPr id="35870" name="Rectangle 36">
            <a:extLst>
              <a:ext uri="{FF2B5EF4-FFF2-40B4-BE49-F238E27FC236}">
                <a16:creationId xmlns:a16="http://schemas.microsoft.com/office/drawing/2014/main" id="{96010B41-AE94-2F4C-9532-F06D845060C2}"/>
              </a:ext>
            </a:extLst>
          </p:cNvPr>
          <p:cNvSpPr>
            <a:spLocks noChangeArrowheads="1"/>
          </p:cNvSpPr>
          <p:nvPr/>
        </p:nvSpPr>
        <p:spPr bwMode="auto">
          <a:xfrm>
            <a:off x="3124200" y="2743200"/>
            <a:ext cx="698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1800" b="0">
                <a:solidFill>
                  <a:srgbClr val="000000"/>
                </a:solidFill>
              </a:rPr>
              <a:t>0.0508</a:t>
            </a:r>
          </a:p>
        </p:txBody>
      </p:sp>
      <p:sp>
        <p:nvSpPr>
          <p:cNvPr id="35871" name="Rectangle 37">
            <a:extLst>
              <a:ext uri="{FF2B5EF4-FFF2-40B4-BE49-F238E27FC236}">
                <a16:creationId xmlns:a16="http://schemas.microsoft.com/office/drawing/2014/main" id="{DA21265C-3E3F-1C4A-A8DC-2949DA0CC8CD}"/>
              </a:ext>
            </a:extLst>
          </p:cNvPr>
          <p:cNvSpPr>
            <a:spLocks noChangeArrowheads="1"/>
          </p:cNvSpPr>
          <p:nvPr/>
        </p:nvSpPr>
        <p:spPr bwMode="auto">
          <a:xfrm>
            <a:off x="3124200" y="5105400"/>
            <a:ext cx="698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1800" b="0">
                <a:solidFill>
                  <a:srgbClr val="000000"/>
                </a:solidFill>
              </a:rPr>
              <a:t>0.9415</a:t>
            </a:r>
          </a:p>
        </p:txBody>
      </p:sp>
      <p:sp>
        <p:nvSpPr>
          <p:cNvPr id="35872" name="Rectangle 38">
            <a:extLst>
              <a:ext uri="{FF2B5EF4-FFF2-40B4-BE49-F238E27FC236}">
                <a16:creationId xmlns:a16="http://schemas.microsoft.com/office/drawing/2014/main" id="{1902B6BA-BAA5-FD41-8883-1395F2F1566A}"/>
              </a:ext>
            </a:extLst>
          </p:cNvPr>
          <p:cNvSpPr>
            <a:spLocks noChangeArrowheads="1"/>
          </p:cNvSpPr>
          <p:nvPr/>
        </p:nvSpPr>
        <p:spPr bwMode="auto">
          <a:xfrm>
            <a:off x="5029200" y="2362200"/>
            <a:ext cx="698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1800" b="0">
                <a:solidFill>
                  <a:srgbClr val="000000"/>
                </a:solidFill>
              </a:rPr>
              <a:t>0.1538</a:t>
            </a:r>
          </a:p>
        </p:txBody>
      </p:sp>
      <p:sp>
        <p:nvSpPr>
          <p:cNvPr id="35873" name="Rectangle 39">
            <a:extLst>
              <a:ext uri="{FF2B5EF4-FFF2-40B4-BE49-F238E27FC236}">
                <a16:creationId xmlns:a16="http://schemas.microsoft.com/office/drawing/2014/main" id="{D7473AF4-8A66-234A-889A-C323B000C8BB}"/>
              </a:ext>
            </a:extLst>
          </p:cNvPr>
          <p:cNvSpPr>
            <a:spLocks noChangeArrowheads="1"/>
          </p:cNvSpPr>
          <p:nvPr/>
        </p:nvSpPr>
        <p:spPr bwMode="auto">
          <a:xfrm>
            <a:off x="5486400" y="4724400"/>
            <a:ext cx="698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1800" b="0">
                <a:solidFill>
                  <a:srgbClr val="000000"/>
                </a:solidFill>
              </a:rPr>
              <a:t>0.0011</a:t>
            </a:r>
          </a:p>
        </p:txBody>
      </p:sp>
      <p:sp>
        <p:nvSpPr>
          <p:cNvPr id="35874" name="Text Box 40">
            <a:extLst>
              <a:ext uri="{FF2B5EF4-FFF2-40B4-BE49-F238E27FC236}">
                <a16:creationId xmlns:a16="http://schemas.microsoft.com/office/drawing/2014/main" id="{AB194B07-226A-2642-B923-95C9D1F891C6}"/>
              </a:ext>
            </a:extLst>
          </p:cNvPr>
          <p:cNvSpPr txBox="1">
            <a:spLocks noChangeArrowheads="1"/>
          </p:cNvSpPr>
          <p:nvPr/>
        </p:nvSpPr>
        <p:spPr bwMode="auto">
          <a:xfrm>
            <a:off x="8001000" y="2133601"/>
            <a:ext cx="1828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1085850" algn="l"/>
              </a:tabLst>
              <a:defRPr sz="2000" b="1">
                <a:solidFill>
                  <a:schemeClr val="tx1"/>
                </a:solidFill>
                <a:latin typeface="Arial" panose="020B0604020202020204" pitchFamily="34" charset="0"/>
              </a:defRPr>
            </a:lvl1pPr>
            <a:lvl2pPr marL="742950" indent="-285750">
              <a:tabLst>
                <a:tab pos="1085850" algn="l"/>
              </a:tabLst>
              <a:defRPr sz="2000" b="1">
                <a:solidFill>
                  <a:schemeClr val="tx1"/>
                </a:solidFill>
                <a:latin typeface="Arial" panose="020B0604020202020204" pitchFamily="34" charset="0"/>
              </a:defRPr>
            </a:lvl2pPr>
            <a:lvl3pPr marL="1143000" indent="-228600">
              <a:tabLst>
                <a:tab pos="1085850" algn="l"/>
              </a:tabLst>
              <a:defRPr sz="2000" b="1">
                <a:solidFill>
                  <a:schemeClr val="tx1"/>
                </a:solidFill>
                <a:latin typeface="Arial" panose="020B0604020202020204" pitchFamily="34" charset="0"/>
              </a:defRPr>
            </a:lvl3pPr>
            <a:lvl4pPr marL="1600200" indent="-228600">
              <a:tabLst>
                <a:tab pos="1085850" algn="l"/>
              </a:tabLst>
              <a:defRPr sz="2000" b="1">
                <a:solidFill>
                  <a:schemeClr val="tx1"/>
                </a:solidFill>
                <a:latin typeface="Arial" panose="020B0604020202020204" pitchFamily="34" charset="0"/>
              </a:defRPr>
            </a:lvl4pPr>
            <a:lvl5pPr marL="2057400" indent="-228600">
              <a:tabLst>
                <a:tab pos="1085850" algn="l"/>
              </a:tabLst>
              <a:defRPr sz="2000" b="1">
                <a:solidFill>
                  <a:schemeClr val="tx1"/>
                </a:solidFill>
                <a:latin typeface="Arial" panose="020B0604020202020204" pitchFamily="34" charset="0"/>
              </a:defRPr>
            </a:lvl5pPr>
            <a:lvl6pPr marL="25146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6pPr>
            <a:lvl7pPr marL="29718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7pPr>
            <a:lvl8pPr marL="34290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8pPr>
            <a:lvl9pPr marL="38862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9pPr>
          </a:lstStyle>
          <a:p>
            <a:pPr>
              <a:spcBef>
                <a:spcPct val="50000"/>
              </a:spcBef>
            </a:pPr>
            <a:r>
              <a:rPr lang="en-US" altLang="en-MX"/>
              <a:t>21,020	9.0</a:t>
            </a:r>
          </a:p>
        </p:txBody>
      </p:sp>
      <p:sp>
        <p:nvSpPr>
          <p:cNvPr id="35875" name="Text Box 41">
            <a:extLst>
              <a:ext uri="{FF2B5EF4-FFF2-40B4-BE49-F238E27FC236}">
                <a16:creationId xmlns:a16="http://schemas.microsoft.com/office/drawing/2014/main" id="{2B033298-2FFC-3F4E-A341-280349AEFE70}"/>
              </a:ext>
            </a:extLst>
          </p:cNvPr>
          <p:cNvSpPr txBox="1">
            <a:spLocks noChangeArrowheads="1"/>
          </p:cNvSpPr>
          <p:nvPr/>
        </p:nvSpPr>
        <p:spPr bwMode="auto">
          <a:xfrm>
            <a:off x="8077200" y="3048001"/>
            <a:ext cx="1828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1085850" algn="l"/>
              </a:tabLst>
              <a:defRPr sz="2000" b="1">
                <a:solidFill>
                  <a:schemeClr val="tx1"/>
                </a:solidFill>
                <a:latin typeface="Arial" panose="020B0604020202020204" pitchFamily="34" charset="0"/>
              </a:defRPr>
            </a:lvl1pPr>
            <a:lvl2pPr marL="742950" indent="-285750">
              <a:tabLst>
                <a:tab pos="1085850" algn="l"/>
              </a:tabLst>
              <a:defRPr sz="2000" b="1">
                <a:solidFill>
                  <a:schemeClr val="tx1"/>
                </a:solidFill>
                <a:latin typeface="Arial" panose="020B0604020202020204" pitchFamily="34" charset="0"/>
              </a:defRPr>
            </a:lvl2pPr>
            <a:lvl3pPr marL="1143000" indent="-228600">
              <a:tabLst>
                <a:tab pos="1085850" algn="l"/>
              </a:tabLst>
              <a:defRPr sz="2000" b="1">
                <a:solidFill>
                  <a:schemeClr val="tx1"/>
                </a:solidFill>
                <a:latin typeface="Arial" panose="020B0604020202020204" pitchFamily="34" charset="0"/>
              </a:defRPr>
            </a:lvl3pPr>
            <a:lvl4pPr marL="1600200" indent="-228600">
              <a:tabLst>
                <a:tab pos="1085850" algn="l"/>
              </a:tabLst>
              <a:defRPr sz="2000" b="1">
                <a:solidFill>
                  <a:schemeClr val="tx1"/>
                </a:solidFill>
                <a:latin typeface="Arial" panose="020B0604020202020204" pitchFamily="34" charset="0"/>
              </a:defRPr>
            </a:lvl4pPr>
            <a:lvl5pPr marL="2057400" indent="-228600">
              <a:tabLst>
                <a:tab pos="1085850" algn="l"/>
              </a:tabLst>
              <a:defRPr sz="2000" b="1">
                <a:solidFill>
                  <a:schemeClr val="tx1"/>
                </a:solidFill>
                <a:latin typeface="Arial" panose="020B0604020202020204" pitchFamily="34" charset="0"/>
              </a:defRPr>
            </a:lvl5pPr>
            <a:lvl6pPr marL="25146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6pPr>
            <a:lvl7pPr marL="29718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7pPr>
            <a:lvl8pPr marL="34290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8pPr>
            <a:lvl9pPr marL="38862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9pPr>
          </a:lstStyle>
          <a:p>
            <a:pPr>
              <a:spcBef>
                <a:spcPct val="50000"/>
              </a:spcBef>
            </a:pPr>
            <a:r>
              <a:rPr lang="en-US" altLang="en-MX"/>
              <a:t>1,020	10.0</a:t>
            </a:r>
          </a:p>
        </p:txBody>
      </p:sp>
      <p:sp>
        <p:nvSpPr>
          <p:cNvPr id="35876" name="Text Box 42">
            <a:extLst>
              <a:ext uri="{FF2B5EF4-FFF2-40B4-BE49-F238E27FC236}">
                <a16:creationId xmlns:a16="http://schemas.microsoft.com/office/drawing/2014/main" id="{B964F20A-7A38-DB4B-BCA8-B0012194A959}"/>
              </a:ext>
            </a:extLst>
          </p:cNvPr>
          <p:cNvSpPr txBox="1">
            <a:spLocks noChangeArrowheads="1"/>
          </p:cNvSpPr>
          <p:nvPr/>
        </p:nvSpPr>
        <p:spPr bwMode="auto">
          <a:xfrm>
            <a:off x="8153400" y="4495801"/>
            <a:ext cx="1828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1085850" algn="l"/>
              </a:tabLst>
              <a:defRPr sz="2000" b="1">
                <a:solidFill>
                  <a:schemeClr val="tx1"/>
                </a:solidFill>
                <a:latin typeface="Arial" panose="020B0604020202020204" pitchFamily="34" charset="0"/>
              </a:defRPr>
            </a:lvl1pPr>
            <a:lvl2pPr marL="742950" indent="-285750">
              <a:tabLst>
                <a:tab pos="1085850" algn="l"/>
              </a:tabLst>
              <a:defRPr sz="2000" b="1">
                <a:solidFill>
                  <a:schemeClr val="tx1"/>
                </a:solidFill>
                <a:latin typeface="Arial" panose="020B0604020202020204" pitchFamily="34" charset="0"/>
              </a:defRPr>
            </a:lvl2pPr>
            <a:lvl3pPr marL="1143000" indent="-228600">
              <a:tabLst>
                <a:tab pos="1085850" algn="l"/>
              </a:tabLst>
              <a:defRPr sz="2000" b="1">
                <a:solidFill>
                  <a:schemeClr val="tx1"/>
                </a:solidFill>
                <a:latin typeface="Arial" panose="020B0604020202020204" pitchFamily="34" charset="0"/>
              </a:defRPr>
            </a:lvl3pPr>
            <a:lvl4pPr marL="1600200" indent="-228600">
              <a:tabLst>
                <a:tab pos="1085850" algn="l"/>
              </a:tabLst>
              <a:defRPr sz="2000" b="1">
                <a:solidFill>
                  <a:schemeClr val="tx1"/>
                </a:solidFill>
                <a:latin typeface="Arial" panose="020B0604020202020204" pitchFamily="34" charset="0"/>
              </a:defRPr>
            </a:lvl4pPr>
            <a:lvl5pPr marL="2057400" indent="-228600">
              <a:tabLst>
                <a:tab pos="1085850" algn="l"/>
              </a:tabLst>
              <a:defRPr sz="2000" b="1">
                <a:solidFill>
                  <a:schemeClr val="tx1"/>
                </a:solidFill>
                <a:latin typeface="Arial" panose="020B0604020202020204" pitchFamily="34" charset="0"/>
              </a:defRPr>
            </a:lvl5pPr>
            <a:lvl6pPr marL="25146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6pPr>
            <a:lvl7pPr marL="29718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7pPr>
            <a:lvl8pPr marL="34290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8pPr>
            <a:lvl9pPr marL="38862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9pPr>
          </a:lstStyle>
          <a:p>
            <a:pPr>
              <a:spcBef>
                <a:spcPct val="50000"/>
              </a:spcBef>
            </a:pPr>
            <a:r>
              <a:rPr lang="en-US" altLang="en-MX"/>
              <a:t>20	8.0</a:t>
            </a:r>
          </a:p>
        </p:txBody>
      </p:sp>
      <p:sp>
        <p:nvSpPr>
          <p:cNvPr id="35877" name="Text Box 43">
            <a:extLst>
              <a:ext uri="{FF2B5EF4-FFF2-40B4-BE49-F238E27FC236}">
                <a16:creationId xmlns:a16="http://schemas.microsoft.com/office/drawing/2014/main" id="{818BCBC6-0947-CD44-849B-C1C2852AD3CA}"/>
              </a:ext>
            </a:extLst>
          </p:cNvPr>
          <p:cNvSpPr txBox="1">
            <a:spLocks noChangeArrowheads="1"/>
          </p:cNvSpPr>
          <p:nvPr/>
        </p:nvSpPr>
        <p:spPr bwMode="auto">
          <a:xfrm>
            <a:off x="8153400" y="5181601"/>
            <a:ext cx="1828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1085850" algn="l"/>
              </a:tabLst>
              <a:defRPr sz="2000" b="1">
                <a:solidFill>
                  <a:schemeClr val="tx1"/>
                </a:solidFill>
                <a:latin typeface="Arial" panose="020B0604020202020204" pitchFamily="34" charset="0"/>
              </a:defRPr>
            </a:lvl1pPr>
            <a:lvl2pPr marL="742950" indent="-285750">
              <a:tabLst>
                <a:tab pos="1085850" algn="l"/>
              </a:tabLst>
              <a:defRPr sz="2000" b="1">
                <a:solidFill>
                  <a:schemeClr val="tx1"/>
                </a:solidFill>
                <a:latin typeface="Arial" panose="020B0604020202020204" pitchFamily="34" charset="0"/>
              </a:defRPr>
            </a:lvl2pPr>
            <a:lvl3pPr marL="1143000" indent="-228600">
              <a:tabLst>
                <a:tab pos="1085850" algn="l"/>
              </a:tabLst>
              <a:defRPr sz="2000" b="1">
                <a:solidFill>
                  <a:schemeClr val="tx1"/>
                </a:solidFill>
                <a:latin typeface="Arial" panose="020B0604020202020204" pitchFamily="34" charset="0"/>
              </a:defRPr>
            </a:lvl3pPr>
            <a:lvl4pPr marL="1600200" indent="-228600">
              <a:tabLst>
                <a:tab pos="1085850" algn="l"/>
              </a:tabLst>
              <a:defRPr sz="2000" b="1">
                <a:solidFill>
                  <a:schemeClr val="tx1"/>
                </a:solidFill>
                <a:latin typeface="Arial" panose="020B0604020202020204" pitchFamily="34" charset="0"/>
              </a:defRPr>
            </a:lvl4pPr>
            <a:lvl5pPr marL="2057400" indent="-228600">
              <a:tabLst>
                <a:tab pos="1085850" algn="l"/>
              </a:tabLst>
              <a:defRPr sz="2000" b="1">
                <a:solidFill>
                  <a:schemeClr val="tx1"/>
                </a:solidFill>
                <a:latin typeface="Arial" panose="020B0604020202020204" pitchFamily="34" charset="0"/>
              </a:defRPr>
            </a:lvl5pPr>
            <a:lvl6pPr marL="25146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6pPr>
            <a:lvl7pPr marL="29718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7pPr>
            <a:lvl8pPr marL="34290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8pPr>
            <a:lvl9pPr marL="3886200" indent="-228600" eaLnBrk="0" fontAlgn="base" hangingPunct="0">
              <a:spcBef>
                <a:spcPct val="0"/>
              </a:spcBef>
              <a:spcAft>
                <a:spcPct val="0"/>
              </a:spcAft>
              <a:tabLst>
                <a:tab pos="1085850" algn="l"/>
              </a:tabLst>
              <a:defRPr sz="2000" b="1">
                <a:solidFill>
                  <a:schemeClr val="tx1"/>
                </a:solidFill>
                <a:latin typeface="Arial" panose="020B0604020202020204" pitchFamily="34" charset="0"/>
              </a:defRPr>
            </a:lvl9pPr>
          </a:lstStyle>
          <a:p>
            <a:pPr>
              <a:spcBef>
                <a:spcPct val="50000"/>
              </a:spcBef>
            </a:pPr>
            <a:r>
              <a:rPr lang="en-US" altLang="en-MX"/>
              <a:t>0	10.0</a:t>
            </a:r>
          </a:p>
        </p:txBody>
      </p:sp>
      <p:sp>
        <p:nvSpPr>
          <p:cNvPr id="35878" name="Oval 10">
            <a:extLst>
              <a:ext uri="{FF2B5EF4-FFF2-40B4-BE49-F238E27FC236}">
                <a16:creationId xmlns:a16="http://schemas.microsoft.com/office/drawing/2014/main" id="{A48517E7-F4BC-1A41-958D-A03C5C98AC1A}"/>
              </a:ext>
            </a:extLst>
          </p:cNvPr>
          <p:cNvSpPr>
            <a:spLocks noChangeArrowheads="1"/>
          </p:cNvSpPr>
          <p:nvPr/>
        </p:nvSpPr>
        <p:spPr bwMode="auto">
          <a:xfrm>
            <a:off x="5116513" y="4953001"/>
            <a:ext cx="203200" cy="212725"/>
          </a:xfrm>
          <a:prstGeom prst="ellipse">
            <a:avLst/>
          </a:prstGeom>
          <a:solidFill>
            <a:schemeClr val="bg1"/>
          </a:solidFill>
          <a:ln w="25400">
            <a:solidFill>
              <a:srgbClr val="008000"/>
            </a:solidFill>
            <a:round/>
            <a:headEnd/>
            <a:tailEnd/>
          </a:ln>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Tree>
    <p:extLst>
      <p:ext uri="{BB962C8B-B14F-4D97-AF65-F5344CB8AC3E}">
        <p14:creationId xmlns:p14="http://schemas.microsoft.com/office/powerpoint/2010/main" val="383041012"/>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595AE158-E9EB-0447-9434-1446233F37C7}"/>
              </a:ext>
            </a:extLst>
          </p:cNvPr>
          <p:cNvSpPr>
            <a:spLocks noChangeArrowheads="1"/>
          </p:cNvSpPr>
          <p:nvPr/>
        </p:nvSpPr>
        <p:spPr bwMode="auto">
          <a:xfrm>
            <a:off x="2209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endParaRPr lang="en-MX" altLang="en-MX"/>
          </a:p>
        </p:txBody>
      </p:sp>
      <p:sp>
        <p:nvSpPr>
          <p:cNvPr id="1082371" name="Rectangle 3">
            <a:extLst>
              <a:ext uri="{FF2B5EF4-FFF2-40B4-BE49-F238E27FC236}">
                <a16:creationId xmlns:a16="http://schemas.microsoft.com/office/drawing/2014/main" id="{6860EC78-CE77-7E4C-A4C1-325FA745187C}"/>
              </a:ext>
            </a:extLst>
          </p:cNvPr>
          <p:cNvSpPr>
            <a:spLocks noGrp="1" noChangeArrowheads="1"/>
          </p:cNvSpPr>
          <p:nvPr>
            <p:ph type="title"/>
          </p:nvPr>
        </p:nvSpPr>
        <p:spPr>
          <a:xfrm>
            <a:off x="776377" y="457200"/>
            <a:ext cx="10343072" cy="800100"/>
          </a:xfrm>
        </p:spPr>
        <p:txBody>
          <a:bodyPr/>
          <a:lstStyle/>
          <a:p>
            <a:pPr>
              <a:defRPr/>
            </a:pPr>
            <a:r>
              <a:rPr lang="en-US" dirty="0"/>
              <a:t>Practice Problem-CEA Results</a:t>
            </a:r>
            <a:endParaRPr lang="en-US" sz="3600" dirty="0"/>
          </a:p>
        </p:txBody>
      </p:sp>
      <p:graphicFrame>
        <p:nvGraphicFramePr>
          <p:cNvPr id="1082441" name="Group 73">
            <a:extLst>
              <a:ext uri="{FF2B5EF4-FFF2-40B4-BE49-F238E27FC236}">
                <a16:creationId xmlns:a16="http://schemas.microsoft.com/office/drawing/2014/main" id="{A95EE9D3-0463-B745-A8A8-4DA3BE447FA7}"/>
              </a:ext>
            </a:extLst>
          </p:cNvPr>
          <p:cNvGraphicFramePr>
            <a:graphicFrameLocks noGrp="1"/>
          </p:cNvGraphicFramePr>
          <p:nvPr/>
        </p:nvGraphicFramePr>
        <p:xfrm>
          <a:off x="1828800" y="2286001"/>
          <a:ext cx="8610600" cy="3935414"/>
        </p:xfrm>
        <a:graphic>
          <a:graphicData uri="http://schemas.openxmlformats.org/drawingml/2006/table">
            <a:tbl>
              <a:tblPr/>
              <a:tblGrid>
                <a:gridCol w="1698625">
                  <a:extLst>
                    <a:ext uri="{9D8B030D-6E8A-4147-A177-3AD203B41FA5}">
                      <a16:colId xmlns:a16="http://schemas.microsoft.com/office/drawing/2014/main" val="20000"/>
                    </a:ext>
                  </a:extLst>
                </a:gridCol>
                <a:gridCol w="1595438">
                  <a:extLst>
                    <a:ext uri="{9D8B030D-6E8A-4147-A177-3AD203B41FA5}">
                      <a16:colId xmlns:a16="http://schemas.microsoft.com/office/drawing/2014/main" val="20001"/>
                    </a:ext>
                  </a:extLst>
                </a:gridCol>
                <a:gridCol w="1550987">
                  <a:extLst>
                    <a:ext uri="{9D8B030D-6E8A-4147-A177-3AD203B41FA5}">
                      <a16:colId xmlns:a16="http://schemas.microsoft.com/office/drawing/2014/main" val="20002"/>
                    </a:ext>
                  </a:extLst>
                </a:gridCol>
                <a:gridCol w="1054100">
                  <a:extLst>
                    <a:ext uri="{9D8B030D-6E8A-4147-A177-3AD203B41FA5}">
                      <a16:colId xmlns:a16="http://schemas.microsoft.com/office/drawing/2014/main" val="20003"/>
                    </a:ext>
                  </a:extLst>
                </a:gridCol>
                <a:gridCol w="1228725">
                  <a:extLst>
                    <a:ext uri="{9D8B030D-6E8A-4147-A177-3AD203B41FA5}">
                      <a16:colId xmlns:a16="http://schemas.microsoft.com/office/drawing/2014/main" val="20004"/>
                    </a:ext>
                  </a:extLst>
                </a:gridCol>
                <a:gridCol w="339725">
                  <a:extLst>
                    <a:ext uri="{9D8B030D-6E8A-4147-A177-3AD203B41FA5}">
                      <a16:colId xmlns:a16="http://schemas.microsoft.com/office/drawing/2014/main" val="20005"/>
                    </a:ext>
                  </a:extLst>
                </a:gridCol>
                <a:gridCol w="1143000">
                  <a:extLst>
                    <a:ext uri="{9D8B030D-6E8A-4147-A177-3AD203B41FA5}">
                      <a16:colId xmlns:a16="http://schemas.microsoft.com/office/drawing/2014/main" val="20006"/>
                    </a:ext>
                  </a:extLst>
                </a:gridCol>
              </a:tblGrid>
              <a:tr h="762000">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Strategy</a:t>
                      </a:r>
                    </a:p>
                  </a:txBody>
                  <a:tcPr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Cost ($)</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QALE</a:t>
                      </a: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Symbol" pitchFamily="18" charset="2"/>
                        </a:rPr>
                        <a:t>D</a:t>
                      </a:r>
                      <a:r>
                        <a:rPr kumimoji="0" lang="en-US" sz="2400" b="0" i="0" u="none" strike="noStrike" cap="none" normalizeH="0" baseline="0">
                          <a:ln>
                            <a:noFill/>
                          </a:ln>
                          <a:solidFill>
                            <a:schemeClr val="tx1"/>
                          </a:solidFill>
                          <a:effectLst/>
                          <a:latin typeface="Arial" charset="0"/>
                        </a:rPr>
                        <a:t>C</a:t>
                      </a:r>
                    </a:p>
                  </a:txBody>
                  <a:tcPr horzOverflow="overflow">
                    <a:lnL>
                      <a:noFill/>
                    </a:lnL>
                    <a:lnR>
                      <a:noFill/>
                    </a:lnR>
                    <a:lnT cap="flat">
                      <a:noFill/>
                    </a:lnT>
                    <a:lnB>
                      <a:noFill/>
                    </a:lnB>
                    <a:lnTlToBr>
                      <a:noFill/>
                    </a:lnTlToBr>
                    <a:lnBlToTr>
                      <a:noFill/>
                    </a:lnBlToTr>
                    <a:noFill/>
                  </a:tcPr>
                </a:tc>
                <a:tc gridSpan="2">
                  <a:txBody>
                    <a:bodyPr/>
                    <a:lstStyle/>
                    <a:p>
                      <a:pPr marL="0" marR="0" lvl="0" indent="0" algn="l" defTabSz="914400" rtl="0" eaLnBrk="0" fontAlgn="base" latinLnBrk="0" hangingPunct="0">
                        <a:lnSpc>
                          <a:spcPct val="100000"/>
                        </a:lnSpc>
                        <a:spcBef>
                          <a:spcPct val="3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  </a:t>
                      </a:r>
                      <a:r>
                        <a:rPr kumimoji="0" lang="en-US" sz="2400" b="0" i="0" u="none" strike="noStrike" cap="none" normalizeH="0" baseline="0">
                          <a:ln>
                            <a:noFill/>
                          </a:ln>
                          <a:solidFill>
                            <a:schemeClr val="tx1"/>
                          </a:solidFill>
                          <a:effectLst/>
                          <a:latin typeface="Symbol" pitchFamily="18" charset="2"/>
                        </a:rPr>
                        <a:t>D</a:t>
                      </a:r>
                      <a:r>
                        <a:rPr kumimoji="0" lang="en-US" sz="2400" b="0" i="0" u="none" strike="noStrike" cap="none" normalizeH="0" baseline="0">
                          <a:ln>
                            <a:noFill/>
                          </a:ln>
                          <a:solidFill>
                            <a:schemeClr val="tx1"/>
                          </a:solidFill>
                          <a:effectLst/>
                          <a:latin typeface="Arial" charset="0"/>
                        </a:rPr>
                        <a:t>E</a:t>
                      </a:r>
                    </a:p>
                  </a:txBody>
                  <a:tcPr horzOverflow="overflow">
                    <a:lnL>
                      <a:noFill/>
                    </a:lnL>
                    <a:lnR>
                      <a:noFill/>
                    </a:lnR>
                    <a:lnT cap="fla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609600">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No Treat</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9.980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a:noFill/>
                    </a:lnL>
                    <a:lnR cap="flat">
                      <a:noFill/>
                    </a:lnR>
                    <a:lnT>
                      <a:noFill/>
                    </a:lnT>
                    <a:lnB>
                      <a:noFill/>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642938">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Test 1/2</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259</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9.989</a:t>
                      </a: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259</a:t>
                      </a: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0.009</a:t>
                      </a:r>
                    </a:p>
                  </a:txBody>
                  <a:tcPr horzOverflow="overflow">
                    <a:lnL>
                      <a:noFill/>
                    </a:lnL>
                    <a:lnR>
                      <a:noFill/>
                    </a:lnR>
                    <a:lnT>
                      <a:noFill/>
                    </a:lnT>
                    <a:lnB>
                      <a:noFill/>
                    </a:lnB>
                    <a:lnTlToBr>
                      <a:noFill/>
                    </a:lnTlToBr>
                    <a:lnBlToTr>
                      <a:noFill/>
                    </a:lnBlToTr>
                    <a:noFill/>
                  </a:tcPr>
                </a:tc>
                <a:tc gridSpan="2">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  28,700</a:t>
                      </a:r>
                    </a:p>
                  </a:txBody>
                  <a:tcPr horzOverflow="overflow">
                    <a:lnL>
                      <a:noFill/>
                    </a:lnL>
                    <a:lnR cap="flat">
                      <a:noFill/>
                    </a:lnR>
                    <a:lnT>
                      <a:noFill/>
                    </a:lnT>
                    <a:lnB>
                      <a:noFill/>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r h="63976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Test 1</a:t>
                      </a:r>
                    </a:p>
                  </a:txBody>
                  <a:tcPr horzOverflow="overflow">
                    <a:lnL cap="flat">
                      <a:noFill/>
                    </a:lnL>
                    <a:lnR>
                      <a:noFill/>
                    </a:lnR>
                    <a:lnT>
                      <a:noFill/>
                    </a:lnT>
                    <a:lnB>
                      <a:noFill/>
                    </a:lnB>
                    <a:lnTlToBr>
                      <a:noFill/>
                    </a:lnTlToBr>
                    <a:lnBlToTr>
                      <a:noFill/>
                    </a:lnBlToTr>
                    <a:pattFill prst="ltHorz">
                      <a:fgClr>
                        <a:schemeClr val="folHlink"/>
                      </a:fgClr>
                      <a:bgClr>
                        <a:srgbClr val="FFFFFF"/>
                      </a:bgClr>
                    </a:patt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1,190</a:t>
                      </a:r>
                    </a:p>
                  </a:txBody>
                  <a:tcPr horzOverflow="overflow">
                    <a:lnL>
                      <a:noFill/>
                    </a:lnL>
                    <a:lnR>
                      <a:noFill/>
                    </a:lnR>
                    <a:lnT>
                      <a:noFill/>
                    </a:lnT>
                    <a:lnB>
                      <a:noFill/>
                    </a:lnB>
                    <a:lnTlToBr>
                      <a:noFill/>
                    </a:lnTlToBr>
                    <a:lnBlToTr>
                      <a:noFill/>
                    </a:lnBlToTr>
                    <a:pattFill prst="ltHorz">
                      <a:fgClr>
                        <a:schemeClr val="folHlink"/>
                      </a:fgClr>
                      <a:bgClr>
                        <a:srgbClr val="FFFFFF"/>
                      </a:bgClr>
                    </a:patt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9.984</a:t>
                      </a:r>
                    </a:p>
                  </a:txBody>
                  <a:tcPr horzOverflow="overflow">
                    <a:lnL>
                      <a:noFill/>
                    </a:lnL>
                    <a:lnR>
                      <a:noFill/>
                    </a:lnR>
                    <a:lnT>
                      <a:noFill/>
                    </a:lnT>
                    <a:lnB>
                      <a:noFill/>
                    </a:lnB>
                    <a:lnTlToBr>
                      <a:noFill/>
                    </a:lnTlToBr>
                    <a:lnBlToTr>
                      <a:noFill/>
                    </a:lnBlToTr>
                    <a:pattFill prst="ltHorz">
                      <a:fgClr>
                        <a:schemeClr val="folHlink"/>
                      </a:fgClr>
                      <a:bgClr>
                        <a:srgbClr val="FFFFFF"/>
                      </a:bgClr>
                    </a:pattFill>
                  </a:tcPr>
                </a:tc>
                <a:tc gridSpan="2">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1" u="none" strike="noStrike" cap="none" normalizeH="0" baseline="0">
                          <a:ln>
                            <a:noFill/>
                          </a:ln>
                          <a:solidFill>
                            <a:schemeClr val="tx1"/>
                          </a:solidFill>
                          <a:effectLst/>
                          <a:latin typeface="Arial" charset="0"/>
                        </a:rPr>
                        <a:t>Dominated</a:t>
                      </a:r>
                    </a:p>
                  </a:txBody>
                  <a:tcPr horzOverflow="overflow">
                    <a:lnL>
                      <a:noFill/>
                    </a:lnL>
                    <a:lnR>
                      <a:noFill/>
                    </a:lnR>
                    <a:lnT>
                      <a:noFill/>
                    </a:lnT>
                    <a:lnB>
                      <a:noFill/>
                    </a:lnB>
                    <a:lnTlToBr>
                      <a:noFill/>
                    </a:lnTlToBr>
                    <a:lnBlToTr>
                      <a:noFill/>
                    </a:lnBlToTr>
                    <a:pattFill prst="ltHorz">
                      <a:fgClr>
                        <a:schemeClr val="folHlink"/>
                      </a:fgClr>
                      <a:bgClr>
                        <a:srgbClr val="FFFFFF"/>
                      </a:bgClr>
                    </a:patt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a:noFill/>
                    </a:lnL>
                    <a:lnR cap="flat">
                      <a:noFill/>
                    </a:lnR>
                    <a:lnT>
                      <a:noFill/>
                    </a:lnT>
                    <a:lnB>
                      <a:noFill/>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3"/>
                  </a:ext>
                </a:extLst>
              </a:tr>
              <a:tr h="641350">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Test 2</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1,200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9.990</a:t>
                      </a: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942</a:t>
                      </a: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0.001</a:t>
                      </a:r>
                    </a:p>
                  </a:txBody>
                  <a:tcPr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941,500</a:t>
                      </a:r>
                    </a:p>
                  </a:txBody>
                  <a:tcPr horzOverflow="overflow">
                    <a:lnL>
                      <a:noFill/>
                    </a:lnL>
                    <a:lnR cap="flat">
                      <a:noFill/>
                    </a:lnR>
                    <a:lnT>
                      <a:noFill/>
                    </a:lnT>
                    <a:lnB>
                      <a:noFill/>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4"/>
                  </a:ext>
                </a:extLst>
              </a:tr>
              <a:tr h="639763">
                <a:tc>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Treat</a:t>
                      </a:r>
                    </a:p>
                  </a:txBody>
                  <a:tcPr horzOverflow="overflow">
                    <a:lnL cap="flat">
                      <a:noFill/>
                    </a:lnL>
                    <a:lnR>
                      <a:noFill/>
                    </a:lnR>
                    <a:lnT>
                      <a:noFill/>
                    </a:lnT>
                    <a:lnB cap="flat">
                      <a:noFill/>
                    </a:lnB>
                    <a:lnTlToBr>
                      <a:noFill/>
                    </a:lnTlToBr>
                    <a:lnBlToTr>
                      <a:noFill/>
                    </a:lnBlToTr>
                    <a:pattFill prst="ltHorz">
                      <a:fgClr>
                        <a:schemeClr val="folHlink"/>
                      </a:fgClr>
                      <a:bgClr>
                        <a:schemeClr val="bg1"/>
                      </a:bgClr>
                    </a:patt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20,000</a:t>
                      </a:r>
                    </a:p>
                  </a:txBody>
                  <a:tcPr horzOverflow="overflow">
                    <a:lnL>
                      <a:noFill/>
                    </a:lnL>
                    <a:lnR>
                      <a:noFill/>
                    </a:lnR>
                    <a:lnT>
                      <a:noFill/>
                    </a:lnT>
                    <a:lnB cap="flat">
                      <a:noFill/>
                    </a:lnB>
                    <a:lnTlToBr>
                      <a:noFill/>
                    </a:lnTlToBr>
                    <a:lnBlToTr>
                      <a:noFill/>
                    </a:lnBlToTr>
                    <a:pattFill prst="ltHorz">
                      <a:fgClr>
                        <a:schemeClr val="folHlink"/>
                      </a:fgClr>
                      <a:bgClr>
                        <a:schemeClr val="bg1"/>
                      </a:bgClr>
                    </a:pattFill>
                  </a:tcPr>
                </a:tc>
                <a:tc>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r>
                        <a:rPr kumimoji="0" lang="en-US" sz="2400" b="0" i="0" u="none" strike="noStrike" cap="none" normalizeH="0" baseline="0">
                          <a:ln>
                            <a:noFill/>
                          </a:ln>
                          <a:solidFill>
                            <a:schemeClr val="tx1"/>
                          </a:solidFill>
                          <a:effectLst/>
                          <a:latin typeface="Arial" charset="0"/>
                        </a:rPr>
                        <a:t>9.891</a:t>
                      </a:r>
                    </a:p>
                  </a:txBody>
                  <a:tcPr horzOverflow="overflow">
                    <a:lnL>
                      <a:noFill/>
                    </a:lnL>
                    <a:lnR>
                      <a:noFill/>
                    </a:lnR>
                    <a:lnT>
                      <a:noFill/>
                    </a:lnT>
                    <a:lnB cap="flat">
                      <a:noFill/>
                    </a:lnB>
                    <a:lnTlToBr>
                      <a:noFill/>
                    </a:lnTlToBr>
                    <a:lnBlToTr>
                      <a:noFill/>
                    </a:lnBlToTr>
                    <a:pattFill prst="ltHorz">
                      <a:fgClr>
                        <a:schemeClr val="folHlink"/>
                      </a:fgClr>
                      <a:bgClr>
                        <a:schemeClr val="bg1"/>
                      </a:bgClr>
                    </a:pattFill>
                  </a:tcPr>
                </a:tc>
                <a:tc gridSpan="2">
                  <a:txBody>
                    <a:bodyPr/>
                    <a:lstStyle/>
                    <a:p>
                      <a:pPr marL="0" marR="0" lvl="0" indent="0" algn="l" defTabSz="914400" rtl="0" eaLnBrk="0" fontAlgn="base" latinLnBrk="0" hangingPunct="0">
                        <a:lnSpc>
                          <a:spcPct val="100000"/>
                        </a:lnSpc>
                        <a:spcBef>
                          <a:spcPct val="20000"/>
                        </a:spcBef>
                        <a:spcAft>
                          <a:spcPct val="0"/>
                        </a:spcAft>
                        <a:buClr>
                          <a:srgbClr val="990033"/>
                        </a:buClr>
                        <a:buSzTx/>
                        <a:buFontTx/>
                        <a:buNone/>
                        <a:tabLst/>
                      </a:pPr>
                      <a:r>
                        <a:rPr kumimoji="0" lang="en-US" sz="2400" b="0" i="1" u="none" strike="noStrike" cap="none" normalizeH="0" baseline="0">
                          <a:ln>
                            <a:noFill/>
                          </a:ln>
                          <a:solidFill>
                            <a:schemeClr val="tx1"/>
                          </a:solidFill>
                          <a:effectLst/>
                          <a:latin typeface="Arial" charset="0"/>
                        </a:rPr>
                        <a:t>Dominated</a:t>
                      </a:r>
                    </a:p>
                  </a:txBody>
                  <a:tcPr horzOverflow="overflow">
                    <a:lnL>
                      <a:noFill/>
                    </a:lnL>
                    <a:lnR>
                      <a:noFill/>
                    </a:lnR>
                    <a:lnT>
                      <a:noFill/>
                    </a:lnT>
                    <a:lnB cap="flat">
                      <a:noFill/>
                    </a:lnB>
                    <a:lnTlToBr>
                      <a:noFill/>
                    </a:lnTlToBr>
                    <a:lnBlToTr>
                      <a:noFill/>
                    </a:lnBlToTr>
                    <a:pattFill prst="ltHorz">
                      <a:fgClr>
                        <a:schemeClr val="folHlink"/>
                      </a:fgClr>
                      <a:bgClr>
                        <a:schemeClr val="bg1"/>
                      </a:bgClr>
                    </a:patt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
                          <a:srgbClr val="990033"/>
                        </a:buClr>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a:noFill/>
                    </a:lnL>
                    <a:lnR cap="flat">
                      <a:noFill/>
                    </a:lnR>
                    <a:lnT>
                      <a:noFill/>
                    </a:lnT>
                    <a:lnB cap="flat">
                      <a:noFill/>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5"/>
                  </a:ext>
                </a:extLst>
              </a:tr>
            </a:tbl>
          </a:graphicData>
        </a:graphic>
      </p:graphicFrame>
      <p:sp>
        <p:nvSpPr>
          <p:cNvPr id="36903" name="Text Box 61">
            <a:extLst>
              <a:ext uri="{FF2B5EF4-FFF2-40B4-BE49-F238E27FC236}">
                <a16:creationId xmlns:a16="http://schemas.microsoft.com/office/drawing/2014/main" id="{6C11D9C1-FEC9-054D-A3C4-28AD2A8F361D}"/>
              </a:ext>
            </a:extLst>
          </p:cNvPr>
          <p:cNvSpPr txBox="1">
            <a:spLocks noChangeArrowheads="1"/>
          </p:cNvSpPr>
          <p:nvPr/>
        </p:nvSpPr>
        <p:spPr bwMode="auto">
          <a:xfrm>
            <a:off x="2133601" y="1447800"/>
            <a:ext cx="79597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a:r>
              <a:rPr lang="en-US" altLang="en-MX" sz="3200" b="0">
                <a:solidFill>
                  <a:srgbClr val="3333FF"/>
                </a:solidFill>
              </a:rPr>
              <a:t>Incremental Cost-Effectiveness Analysis</a:t>
            </a:r>
          </a:p>
        </p:txBody>
      </p:sp>
      <p:sp>
        <p:nvSpPr>
          <p:cNvPr id="36904" name="Line 62">
            <a:extLst>
              <a:ext uri="{FF2B5EF4-FFF2-40B4-BE49-F238E27FC236}">
                <a16:creationId xmlns:a16="http://schemas.microsoft.com/office/drawing/2014/main" id="{814BFCC6-AD8A-D146-9D15-6A64A0619B27}"/>
              </a:ext>
            </a:extLst>
          </p:cNvPr>
          <p:cNvSpPr>
            <a:spLocks noChangeShapeType="1"/>
          </p:cNvSpPr>
          <p:nvPr/>
        </p:nvSpPr>
        <p:spPr bwMode="auto">
          <a:xfrm>
            <a:off x="1828800" y="3048000"/>
            <a:ext cx="82296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MX"/>
          </a:p>
        </p:txBody>
      </p:sp>
      <p:sp>
        <p:nvSpPr>
          <p:cNvPr id="36905" name="Text Box 66">
            <a:extLst>
              <a:ext uri="{FF2B5EF4-FFF2-40B4-BE49-F238E27FC236}">
                <a16:creationId xmlns:a16="http://schemas.microsoft.com/office/drawing/2014/main" id="{9D3742CD-CC86-F945-ABE4-4C519F7FD9B6}"/>
              </a:ext>
            </a:extLst>
          </p:cNvPr>
          <p:cNvSpPr txBox="1">
            <a:spLocks noChangeArrowheads="1"/>
          </p:cNvSpPr>
          <p:nvPr/>
        </p:nvSpPr>
        <p:spPr bwMode="auto">
          <a:xfrm>
            <a:off x="8839200" y="2286000"/>
            <a:ext cx="129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sz="2400" b="0">
                <a:latin typeface="Symbol" pitchFamily="2" charset="2"/>
              </a:rPr>
              <a:t>D</a:t>
            </a:r>
            <a:r>
              <a:rPr lang="en-US" altLang="en-MX" sz="2400" b="0"/>
              <a:t>C/</a:t>
            </a:r>
            <a:r>
              <a:rPr lang="en-US" altLang="en-MX" sz="2400" b="0">
                <a:latin typeface="Symbol" pitchFamily="2" charset="2"/>
              </a:rPr>
              <a:t>D</a:t>
            </a:r>
            <a:r>
              <a:rPr lang="en-US" altLang="en-MX" sz="2400" b="0"/>
              <a:t>E</a:t>
            </a:r>
            <a:endParaRPr lang="en-US" altLang="en-MX" sz="2400" b="0">
              <a:latin typeface="Times New Roman" panose="02020603050405020304" pitchFamily="18" charset="0"/>
            </a:endParaRPr>
          </a:p>
        </p:txBody>
      </p:sp>
      <p:sp>
        <p:nvSpPr>
          <p:cNvPr id="36906" name="Text Box 70">
            <a:extLst>
              <a:ext uri="{FF2B5EF4-FFF2-40B4-BE49-F238E27FC236}">
                <a16:creationId xmlns:a16="http://schemas.microsoft.com/office/drawing/2014/main" id="{BD693CD5-6B52-6349-A1F8-0EDBDD15C831}"/>
              </a:ext>
            </a:extLst>
          </p:cNvPr>
          <p:cNvSpPr txBox="1">
            <a:spLocks noChangeArrowheads="1"/>
          </p:cNvSpPr>
          <p:nvPr/>
        </p:nvSpPr>
        <p:spPr bwMode="auto">
          <a:xfrm>
            <a:off x="8077200" y="6245226"/>
            <a:ext cx="17351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altLang="en-MX" b="0">
                <a:cs typeface="Times New Roman" panose="02020603050405020304" pitchFamily="18" charset="0"/>
              </a:rPr>
              <a:t>*cost per LYS</a:t>
            </a:r>
          </a:p>
        </p:txBody>
      </p:sp>
    </p:spTree>
    <p:extLst>
      <p:ext uri="{BB962C8B-B14F-4D97-AF65-F5344CB8AC3E}">
        <p14:creationId xmlns:p14="http://schemas.microsoft.com/office/powerpoint/2010/main" val="1333729775"/>
      </p:ext>
    </p:extLst>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12020</TotalTime>
  <Words>11861</Words>
  <Application>Microsoft Macintosh PowerPoint</Application>
  <PresentationFormat>Widescreen</PresentationFormat>
  <Paragraphs>3173</Paragraphs>
  <Slides>162</Slides>
  <Notes>112</Notes>
  <HiddenSlides>1</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3</vt:i4>
      </vt:variant>
      <vt:variant>
        <vt:lpstr>Slide Titles</vt:lpstr>
      </vt:variant>
      <vt:variant>
        <vt:i4>162</vt:i4>
      </vt:variant>
    </vt:vector>
  </HeadingPairs>
  <TitlesOfParts>
    <vt:vector size="176" baseType="lpstr">
      <vt:lpstr>ＭＳ Ｐゴシック</vt:lpstr>
      <vt:lpstr>Arial</vt:lpstr>
      <vt:lpstr>Calibri</vt:lpstr>
      <vt:lpstr>Calibri Light</vt:lpstr>
      <vt:lpstr>Cambria Math</vt:lpstr>
      <vt:lpstr>Constantia</vt:lpstr>
      <vt:lpstr>Courier New</vt:lpstr>
      <vt:lpstr>Garamond</vt:lpstr>
      <vt:lpstr>Symbol</vt:lpstr>
      <vt:lpstr>Times New Roman</vt:lpstr>
      <vt:lpstr>Office Theme</vt:lpstr>
      <vt:lpstr>Equation</vt:lpstr>
      <vt:lpstr>Photo Editor Photo</vt:lpstr>
      <vt:lpstr>Worksheet</vt:lpstr>
      <vt:lpstr>Decision Analysis &amp;  Cost-Effectiveness Analysis</vt:lpstr>
      <vt:lpstr>Decision analysis</vt:lpstr>
      <vt:lpstr>Overview</vt:lpstr>
      <vt:lpstr>HPV vaccination</vt:lpstr>
      <vt:lpstr>HPV vaccination</vt:lpstr>
      <vt:lpstr>PSA screening</vt:lpstr>
      <vt:lpstr>Premarital HIV testing </vt:lpstr>
      <vt:lpstr>Premarital HIV testing </vt:lpstr>
      <vt:lpstr>Game Show Decision</vt:lpstr>
      <vt:lpstr>Do you choose Game A or Game B?</vt:lpstr>
      <vt:lpstr>Decision Tree for Game Show</vt:lpstr>
      <vt:lpstr>Expected Winnings</vt:lpstr>
      <vt:lpstr>Investment Decision</vt:lpstr>
      <vt:lpstr>Evacuation Decision</vt:lpstr>
      <vt:lpstr>Sheltering-In-Place Decision</vt:lpstr>
      <vt:lpstr>Malpractice</vt:lpstr>
      <vt:lpstr> Elements of Complex Decisions</vt:lpstr>
      <vt:lpstr>What is Decision Analysis?</vt:lpstr>
      <vt:lpstr>Models of Decision Making</vt:lpstr>
      <vt:lpstr>Steps in a Decision Analysis</vt:lpstr>
      <vt:lpstr>1. Key Components</vt:lpstr>
      <vt:lpstr>2. Structure Problem into Logical Framework</vt:lpstr>
      <vt:lpstr>3. Synthesize and Integrate Data </vt:lpstr>
      <vt:lpstr>4. Conduct a Base-case Analysis</vt:lpstr>
      <vt:lpstr>5. Evaluate Uncertainty</vt:lpstr>
      <vt:lpstr>Considerations</vt:lpstr>
      <vt:lpstr>Game Show Revisited</vt:lpstr>
      <vt:lpstr>Rationale for Decision Scientific Approach</vt:lpstr>
      <vt:lpstr>Probability</vt:lpstr>
      <vt:lpstr>Mutually Exclusive Events</vt:lpstr>
      <vt:lpstr>Venn Diagram</vt:lpstr>
      <vt:lpstr>Conditional Probability</vt:lpstr>
      <vt:lpstr>Conditional and Joint Probabilities</vt:lpstr>
      <vt:lpstr>Independence</vt:lpstr>
      <vt:lpstr>Probability Rules</vt:lpstr>
      <vt:lpstr>Expected Value</vt:lpstr>
      <vt:lpstr>Expected Value</vt:lpstr>
      <vt:lpstr>Example</vt:lpstr>
      <vt:lpstr>Treatment Choice</vt:lpstr>
      <vt:lpstr>Expected Survival</vt:lpstr>
      <vt:lpstr>Expected Value Decision Making</vt:lpstr>
      <vt:lpstr>   </vt:lpstr>
      <vt:lpstr>   </vt:lpstr>
      <vt:lpstr>   </vt:lpstr>
      <vt:lpstr>Decision Making Without Analysis</vt:lpstr>
      <vt:lpstr>Steps</vt:lpstr>
      <vt:lpstr>Step 1: Structure the Problem</vt:lpstr>
      <vt:lpstr>Starting Point and Time Horizon</vt:lpstr>
      <vt:lpstr>Decision Alternatives</vt:lpstr>
      <vt:lpstr>Probabilities</vt:lpstr>
      <vt:lpstr>More Probabilities</vt:lpstr>
      <vt:lpstr>Outcomes and Values</vt:lpstr>
      <vt:lpstr>Step 2: Build the Tree</vt:lpstr>
      <vt:lpstr>Alternatives: branches off decision node  (strategic form)</vt:lpstr>
      <vt:lpstr>Alternative Structure (extensive form)</vt:lpstr>
      <vt:lpstr>What can happen if we spray?</vt:lpstr>
      <vt:lpstr>If we don’t spray…</vt:lpstr>
      <vt:lpstr>The Test Strategy</vt:lpstr>
      <vt:lpstr>Pruning the Tree</vt:lpstr>
      <vt:lpstr>The Final Tree Structure</vt:lpstr>
      <vt:lpstr>Estimate Probabilities</vt:lpstr>
      <vt:lpstr>Assign Outcomes</vt:lpstr>
      <vt:lpstr>Assign Outcomes</vt:lpstr>
      <vt:lpstr>Average Out &amp; Fold Back</vt:lpstr>
      <vt:lpstr>Step 3: Base-Case Analysis</vt:lpstr>
      <vt:lpstr>Step 4: Conduct Sensitivity Analysis</vt:lpstr>
      <vt:lpstr>Toxicity of Spraying</vt:lpstr>
      <vt:lpstr>Sensitivity Analysis</vt:lpstr>
      <vt:lpstr>Threshold Analysis</vt:lpstr>
      <vt:lpstr>Compare Test with Spray</vt:lpstr>
      <vt:lpstr>Test – Spray Threshold</vt:lpstr>
      <vt:lpstr>Compare Spray with Don’t Spray</vt:lpstr>
      <vt:lpstr>Spray – Don’t Spray Threshold</vt:lpstr>
      <vt:lpstr>Compare Test with Don’t Spray</vt:lpstr>
      <vt:lpstr>Test – Don’t Spray Threshold</vt:lpstr>
      <vt:lpstr>Interpret the Thresholds p = risk of death due to pesticide toxicity</vt:lpstr>
      <vt:lpstr>Graphical Representation of  Sensitivity/Threshold Analyses</vt:lpstr>
      <vt:lpstr>Expected Value of Information (about a true state of nature)</vt:lpstr>
      <vt:lpstr>Structure for Perfect Information</vt:lpstr>
      <vt:lpstr>Structure for Imperfect Information</vt:lpstr>
      <vt:lpstr>Expected Value of Perfect Information (EVPI)</vt:lpstr>
      <vt:lpstr>EVPI (cont.)</vt:lpstr>
      <vt:lpstr>Toll-free Test</vt:lpstr>
      <vt:lpstr>Expected Value of Perfect Information (EVPI)</vt:lpstr>
      <vt:lpstr>Back to the Game Show (Session 1)</vt:lpstr>
      <vt:lpstr>How much would you pay to get perfect information on which wheel it is (pRed)?</vt:lpstr>
      <vt:lpstr>Cost-Effectiveness Analysis</vt:lpstr>
      <vt:lpstr>Cost-Effectiveness Analysis</vt:lpstr>
      <vt:lpstr>Cost-Effectiveness Ratio</vt:lpstr>
      <vt:lpstr>A Special Case</vt:lpstr>
      <vt:lpstr>Two Types of Policy Decisions</vt:lpstr>
      <vt:lpstr>Two Types of Policy Decisions</vt:lpstr>
      <vt:lpstr>Introduction to Resource Allocation</vt:lpstr>
      <vt:lpstr>Two Types of Policy Decisions</vt:lpstr>
      <vt:lpstr>Assumptions for Shopping Spree (1)</vt:lpstr>
      <vt:lpstr>Assumptions for Shopping Spree (2)</vt:lpstr>
      <vt:lpstr>Shopping Spree Problem</vt:lpstr>
      <vt:lpstr>Example</vt:lpstr>
      <vt:lpstr>Divide Net Cost by Net Effect</vt:lpstr>
      <vt:lpstr>Order from lowest to highest ratio</vt:lpstr>
      <vt:lpstr>Accumulate costs &amp; effects</vt:lpstr>
      <vt:lpstr>Spend the budget</vt:lpstr>
      <vt:lpstr>Spend the budget</vt:lpstr>
      <vt:lpstr>Spend the budget</vt:lpstr>
      <vt:lpstr>Solution for Shopping Spree Problem </vt:lpstr>
      <vt:lpstr>Should Program H be Funded?</vt:lpstr>
      <vt:lpstr>Should New Program H be Included?</vt:lpstr>
      <vt:lpstr>Threshold Cost-Effectiveness Ratio</vt:lpstr>
      <vt:lpstr>Competing Choice Problem</vt:lpstr>
      <vt:lpstr>General Assumptions</vt:lpstr>
      <vt:lpstr>Example 1: Budget $180</vt:lpstr>
      <vt:lpstr>Which H Program should we fund, if any (Budget = $180)?</vt:lpstr>
      <vt:lpstr>Do C/E Ratios Help?</vt:lpstr>
      <vt:lpstr>Add H4 (lowest C/E ratio)</vt:lpstr>
      <vt:lpstr>Add H3 (closest to threshold)</vt:lpstr>
      <vt:lpstr>Let’s try adding H2</vt:lpstr>
      <vt:lpstr>Incremental Cost-Effectiveness Analysis</vt:lpstr>
      <vt:lpstr>Order in terms of increasing costs and effectiveness</vt:lpstr>
      <vt:lpstr>Are incremental CE ratios increasing?</vt:lpstr>
      <vt:lpstr>Recalculate ICERs</vt:lpstr>
      <vt:lpstr>Recalculate ICERs</vt:lpstr>
      <vt:lpstr>Back to the Example</vt:lpstr>
      <vt:lpstr>Results of Competing Choice (1)</vt:lpstr>
      <vt:lpstr>Results of Competing Choice (2)</vt:lpstr>
      <vt:lpstr>Competing Choice Solution</vt:lpstr>
      <vt:lpstr>Net (Health or Monetary) Benefit</vt:lpstr>
      <vt:lpstr>NHB Methods Budget = $180 (Threshold = 0.9)</vt:lpstr>
      <vt:lpstr>Net Health or Monetary Benefit</vt:lpstr>
      <vt:lpstr>Review: Competing Choice Problem</vt:lpstr>
      <vt:lpstr>General Algorithm Assumptions (1)</vt:lpstr>
      <vt:lpstr>General Algorithm Assumptions (2)</vt:lpstr>
      <vt:lpstr>Review: Shopping Spree Budget $180</vt:lpstr>
      <vt:lpstr>Review: Competing Choice</vt:lpstr>
      <vt:lpstr>Review: The Wrong Way</vt:lpstr>
      <vt:lpstr>Competing Choice Solution</vt:lpstr>
      <vt:lpstr>Review: Competing Choice  Incremental Cost-Effectiveness Analysis</vt:lpstr>
      <vt:lpstr>Review: Competing Choice  Incremental Cost-Effectiveness Analysis</vt:lpstr>
      <vt:lpstr>Review: Competing Choice  Incremental Cost-Effectiveness Analysis</vt:lpstr>
      <vt:lpstr>Review: Competing Choice  Incremental Cost-Effectiveness Analysis</vt:lpstr>
      <vt:lpstr>Review: Competing Choice  Incremental Cost-Effectiveness Analysis</vt:lpstr>
      <vt:lpstr>Review: The Right Way</vt:lpstr>
      <vt:lpstr>Review: The Right Way</vt:lpstr>
      <vt:lpstr>Review: Results of Competing Choice</vt:lpstr>
      <vt:lpstr>Another Example: Program A Incremental Cost-Effectiveness</vt:lpstr>
      <vt:lpstr>Another Example: Program A Incremental Cost-Effectiveness</vt:lpstr>
      <vt:lpstr>Another Example: Program A Incremental Cost-Effectiveness</vt:lpstr>
      <vt:lpstr>Another Example: Program B Incremental Cost-Effectiveness</vt:lpstr>
      <vt:lpstr>Programs A &amp; B</vt:lpstr>
      <vt:lpstr>Concept: Marginal Return</vt:lpstr>
      <vt:lpstr>Equal Marginal Returns-1</vt:lpstr>
      <vt:lpstr>Equal Marginal Returns-2</vt:lpstr>
      <vt:lpstr>Review: General Solution</vt:lpstr>
      <vt:lpstr>CEA of Testing</vt:lpstr>
      <vt:lpstr>Two Tests for Disease Y</vt:lpstr>
      <vt:lpstr>Testing Strategies</vt:lpstr>
      <vt:lpstr>Outcomes</vt:lpstr>
      <vt:lpstr>Other Information</vt:lpstr>
      <vt:lpstr>PowerPoint Presentation</vt:lpstr>
      <vt:lpstr>Results for Test 1</vt:lpstr>
      <vt:lpstr>Test 2 Strategy</vt:lpstr>
      <vt:lpstr>Test 1/2 Strategy</vt:lpstr>
      <vt:lpstr>Practice Problem-CEA Results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Fernando Alarid Escudero</dc:creator>
  <cp:lastModifiedBy>Fernando Alarid Escudero</cp:lastModifiedBy>
  <cp:revision>43</cp:revision>
  <dcterms:created xsi:type="dcterms:W3CDTF">2020-08-17T04:19:57Z</dcterms:created>
  <dcterms:modified xsi:type="dcterms:W3CDTF">2025-11-06T17:49:46Z</dcterms:modified>
</cp:coreProperties>
</file>